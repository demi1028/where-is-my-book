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347" r:id="rId2"/>
    <p:sldId id="348" r:id="rId3"/>
    <p:sldId id="349" r:id="rId4"/>
    <p:sldId id="343" r:id="rId5"/>
    <p:sldId id="342" r:id="rId6"/>
    <p:sldId id="321" r:id="rId7"/>
    <p:sldId id="350" r:id="rId8"/>
    <p:sldId id="352" r:id="rId9"/>
    <p:sldId id="351" r:id="rId10"/>
    <p:sldId id="353" r:id="rId11"/>
    <p:sldId id="323" r:id="rId12"/>
    <p:sldId id="344" r:id="rId13"/>
    <p:sldId id="32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wmf"/><Relationship Id="rId1" Type="http://schemas.openxmlformats.org/officeDocument/2006/relationships/image" Target="../media/image8.emf"/><Relationship Id="rId5" Type="http://schemas.openxmlformats.org/officeDocument/2006/relationships/image" Target="../media/image12.emf"/><Relationship Id="rId4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e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5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e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3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058FF-8803-41B6-8250-B0AAA5482101}" type="datetimeFigureOut">
              <a:rPr lang="zh-CN" altLang="en-US" smtClean="0"/>
              <a:t>2021/10/31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4C1-775B-4727-B9BE-6E8AEA61F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5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3B5114-5ACE-4C89-BAC3-5D57885C982B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3919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B69D0-3BF3-4C26-83B8-3A780F644D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9692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D262B-07AE-4E3F-B480-0A3FB646DD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37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C77BC-BB16-4754-AEF2-51D427CD29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153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2AC54-5E15-4CA5-9D13-83B0D8568A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74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5FB2D-7BB9-42E8-AFCD-36341F1AB2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49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F6534-B473-4017-9024-713DD81483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350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D0861-1349-410C-8B12-9EF63F476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51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495936-99AE-47A2-A696-4BD073E35E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64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0931A-B180-4FC2-B1F1-B0DB9EA168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1291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C0315-42CF-421E-BD1F-92D471BBD0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93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09BC5-EC44-4F48-A539-2FB2C36F35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231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770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altLang="zh-CN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77000"/>
            <a:ext cx="4978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66CC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endParaRPr lang="zh-CN" altLang="zh-CN"/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4F0BF5-7760-4DED-9C8C-1EB1FB5049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46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6.w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16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32.e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36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4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436914" y="22729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359893"/>
              </p:ext>
            </p:extLst>
          </p:nvPr>
        </p:nvGraphicFramePr>
        <p:xfrm>
          <a:off x="914400" y="1982062"/>
          <a:ext cx="5260975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3" name="Equation" r:id="rId3" imgW="1447560" imgH="355320" progId="Equation.DSMT4">
                  <p:embed/>
                </p:oleObj>
              </mc:Choice>
              <mc:Fallback>
                <p:oleObj name="Equation" r:id="rId3" imgW="1447560" imgH="35532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82062"/>
                        <a:ext cx="5260975" cy="1292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1"/>
          <p:cNvSpPr txBox="1">
            <a:spLocks/>
          </p:cNvSpPr>
          <p:nvPr/>
        </p:nvSpPr>
        <p:spPr bwMode="auto">
          <a:xfrm>
            <a:off x="914400" y="3274287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 smtClean="0"/>
              <a:t>第</a:t>
            </a:r>
            <a:r>
              <a:rPr lang="en-US" altLang="zh-CN" dirty="0" smtClean="0"/>
              <a:t>7</a:t>
            </a:r>
            <a:r>
              <a:rPr lang="zh-CN" altLang="en-US" dirty="0" smtClean="0"/>
              <a:t>题（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60299"/>
              </p:ext>
            </p:extLst>
          </p:nvPr>
        </p:nvGraphicFramePr>
        <p:xfrm>
          <a:off x="900113" y="4346575"/>
          <a:ext cx="5307012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4" name="Equation" r:id="rId5" imgW="1460160" imgH="368280" progId="Equation.DSMT4">
                  <p:embed/>
                </p:oleObj>
              </mc:Choice>
              <mc:Fallback>
                <p:oleObj name="Equation" r:id="rId5" imgW="1460160" imgH="3682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346575"/>
                        <a:ext cx="5307012" cy="1338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8954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15</a:t>
            </a:r>
            <a:r>
              <a:rPr lang="zh-CN" altLang="en-US" dirty="0" smtClean="0"/>
              <a:t>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4715690"/>
            <a:ext cx="10363200" cy="1380309"/>
          </a:xfrm>
        </p:spPr>
        <p:txBody>
          <a:bodyPr/>
          <a:lstStyle/>
          <a:p>
            <a:r>
              <a:rPr lang="zh-CN" altLang="en-US" dirty="0" smtClean="0"/>
              <a:t>稳定非因果单位脉冲响应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889529"/>
              </p:ext>
            </p:extLst>
          </p:nvPr>
        </p:nvGraphicFramePr>
        <p:xfrm>
          <a:off x="1628775" y="1982788"/>
          <a:ext cx="3830638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5" name="Equation" r:id="rId3" imgW="1054080" imgH="355320" progId="Equation.DSMT4">
                  <p:embed/>
                </p:oleObj>
              </mc:Choice>
              <mc:Fallback>
                <p:oleObj name="Equation" r:id="rId3" imgW="1054080" imgH="35532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1982788"/>
                        <a:ext cx="3830638" cy="1292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483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 smtClean="0"/>
              <a:t>16</a:t>
            </a:r>
            <a:r>
              <a:rPr lang="zh-CN" altLang="en-US" smtClean="0"/>
              <a:t>题（因果）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759612"/>
              </p:ext>
            </p:extLst>
          </p:nvPr>
        </p:nvGraphicFramePr>
        <p:xfrm>
          <a:off x="914400" y="2041434"/>
          <a:ext cx="5721351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" name="Equation" r:id="rId3" imgW="1574640" imgH="215640" progId="Equation.DSMT4">
                  <p:embed/>
                </p:oleObj>
              </mc:Choice>
              <mc:Fallback>
                <p:oleObj name="Equation" r:id="rId3" imgW="1574640" imgH="21564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41434"/>
                        <a:ext cx="5721351" cy="784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925017"/>
              </p:ext>
            </p:extLst>
          </p:nvPr>
        </p:nvGraphicFramePr>
        <p:xfrm>
          <a:off x="914400" y="3114493"/>
          <a:ext cx="6643688" cy="336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7" name="Equation" r:id="rId5" imgW="1828800" imgH="927000" progId="Equation.DSMT4">
                  <p:embed/>
                </p:oleObj>
              </mc:Choice>
              <mc:Fallback>
                <p:oleObj name="Equation" r:id="rId5" imgW="1828800" imgH="9270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114493"/>
                        <a:ext cx="6643688" cy="3368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400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962400" y="304800"/>
            <a:ext cx="3962400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序列的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定义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3000375" y="3141663"/>
            <a:ext cx="60785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(e </a:t>
            </a:r>
            <a:r>
              <a:rPr kumimoji="1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2800" b="0" i="1" u="none" strike="noStrike" kern="1200" cap="none" spc="0" normalizeH="0" baseline="30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W</a:t>
            </a:r>
            <a:r>
              <a:rPr kumimoji="1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W 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的连续函数</a:t>
            </a: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(e </a:t>
            </a:r>
            <a:r>
              <a:rPr kumimoji="1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2800" b="0" i="1" u="none" strike="noStrike" kern="1200" cap="none" spc="0" normalizeH="0" baseline="3000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W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是周期为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p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的周期函数</a:t>
            </a: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2135188" y="4292601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IDTFT:</a:t>
            </a: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4095750" y="4941888"/>
          <a:ext cx="416718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0" name="公式" r:id="rId4" imgW="1663560" imgH="330120" progId="Equation.3">
                  <p:embed/>
                </p:oleObj>
              </mc:Choice>
              <mc:Fallback>
                <p:oleObj name="公式" r:id="rId4" imgW="1663560" imgH="330120" progId="Equation.3">
                  <p:embed/>
                  <p:pic>
                    <p:nvPicPr>
                      <p:cNvPr id="378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0" y="4941888"/>
                        <a:ext cx="4167188" cy="82391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4151314" y="1916113"/>
          <a:ext cx="336708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1" name="公式" r:id="rId6" imgW="1346040" imgH="368280" progId="Equation.3">
                  <p:embed/>
                </p:oleObj>
              </mc:Choice>
              <mc:Fallback>
                <p:oleObj name="公式" r:id="rId6" imgW="1346040" imgH="368280" progId="Equation.3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1916113"/>
                        <a:ext cx="3367087" cy="92075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1992313" y="1412876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DTFT:</a:t>
            </a:r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86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 autoUpdateAnimBg="0"/>
      <p:bldP spid="37895" grpId="0" autoUpdateAnimBg="0"/>
      <p:bldP spid="3790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4367213" y="246063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的收敛性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135188" y="141287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定义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(e</a:t>
            </a:r>
            <a:r>
              <a:rPr kumimoji="1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24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W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的部分和</a:t>
            </a:r>
          </a:p>
        </p:txBody>
      </p:sp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5016501" y="1196975"/>
          <a:ext cx="35274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7" name="公式" r:id="rId3" imgW="1409400" imgH="380880" progId="Equation.3">
                  <p:embed/>
                </p:oleObj>
              </mc:Choice>
              <mc:Fallback>
                <p:oleObj name="公式" r:id="rId3" imgW="1409400" imgH="380880" progId="Equation.3">
                  <p:embed/>
                  <p:pic>
                    <p:nvPicPr>
                      <p:cNvPr id="419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1196975"/>
                        <a:ext cx="35274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674297"/>
              </p:ext>
            </p:extLst>
          </p:nvPr>
        </p:nvGraphicFramePr>
        <p:xfrm>
          <a:off x="2424114" y="2060576"/>
          <a:ext cx="254158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8" name="Equation" r:id="rId5" imgW="1015920" imgH="393480" progId="Equation.DSMT4">
                  <p:embed/>
                </p:oleObj>
              </mc:Choice>
              <mc:Fallback>
                <p:oleObj name="Equation" r:id="rId5" imgW="1015920" imgH="393480" progId="Equation.DSMT4">
                  <p:embed/>
                  <p:pic>
                    <p:nvPicPr>
                      <p:cNvPr id="419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2060576"/>
                        <a:ext cx="254158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2495550" y="3140075"/>
          <a:ext cx="44132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9" name="Equation" r:id="rId7" imgW="1765080" imgH="279360" progId="Equation.DSMT4">
                  <p:embed/>
                </p:oleObj>
              </mc:Choice>
              <mc:Fallback>
                <p:oleObj name="Equation" r:id="rId7" imgW="1765080" imgH="279360" progId="Equation.DSMT4">
                  <p:embed/>
                  <p:pic>
                    <p:nvPicPr>
                      <p:cNvPr id="419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3140075"/>
                        <a:ext cx="441325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2495550" y="3933825"/>
          <a:ext cx="26987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0" name="公式" r:id="rId9" imgW="1079280" imgH="393480" progId="Equation.3">
                  <p:embed/>
                </p:oleObj>
              </mc:Choice>
              <mc:Fallback>
                <p:oleObj name="公式" r:id="rId9" imgW="1079280" imgH="393480" progId="Equation.3">
                  <p:embed/>
                  <p:pic>
                    <p:nvPicPr>
                      <p:cNvPr id="419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3933825"/>
                        <a:ext cx="269875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/>
        </p:nvGraphicFramePr>
        <p:xfrm>
          <a:off x="2566989" y="4797425"/>
          <a:ext cx="5399087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1" name="公式" r:id="rId11" imgW="2361960" imgH="304560" progId="Equation.3">
                  <p:embed/>
                </p:oleObj>
              </mc:Choice>
              <mc:Fallback>
                <p:oleObj name="公式" r:id="rId11" imgW="2361960" imgH="304560" progId="Equation.3">
                  <p:embed/>
                  <p:pic>
                    <p:nvPicPr>
                      <p:cNvPr id="419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4797425"/>
                        <a:ext cx="5399087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1676400" y="8318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5159375" y="227647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绝对可和</a:t>
            </a:r>
          </a:p>
        </p:txBody>
      </p:sp>
      <p:sp>
        <p:nvSpPr>
          <p:cNvPr id="41999" name="Text Box 15"/>
          <p:cNvSpPr txBox="1">
            <a:spLocks noChangeArrowheads="1"/>
          </p:cNvSpPr>
          <p:nvPr/>
        </p:nvSpPr>
        <p:spPr bwMode="auto">
          <a:xfrm>
            <a:off x="7319963" y="314007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一致收敛</a:t>
            </a:r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5303838" y="414972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能量有限</a:t>
            </a:r>
          </a:p>
        </p:txBody>
      </p:sp>
      <p:sp>
        <p:nvSpPr>
          <p:cNvPr id="42001" name="Text Box 17"/>
          <p:cNvSpPr txBox="1">
            <a:spLocks noChangeArrowheads="1"/>
          </p:cNvSpPr>
          <p:nvPr/>
        </p:nvSpPr>
        <p:spPr bwMode="auto">
          <a:xfrm>
            <a:off x="8256588" y="4870450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均方收敛</a:t>
            </a:r>
          </a:p>
        </p:txBody>
      </p: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2424114" y="5661026"/>
            <a:ext cx="7705725" cy="90486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若序列满足绝对可和，则序列存在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（充分条件）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但某些满足能量有限的序列，也存在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5476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1847851" y="1471613"/>
            <a:ext cx="96160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 </a:t>
            </a:r>
            <a:r>
              <a:rPr kumimoji="1"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是实序列时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，由于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，所以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有（</a:t>
            </a:r>
            <a:r>
              <a:rPr lang="zh-CN" altLang="en-US" sz="2800" b="1" dirty="0"/>
              <a:t>共轭</a:t>
            </a:r>
            <a:r>
              <a:rPr lang="zh-CN" altLang="en-US" sz="2800" b="1" dirty="0" smtClean="0"/>
              <a:t>对称</a:t>
            </a:r>
            <a:r>
              <a:rPr kumimoji="1"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96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868675"/>
              </p:ext>
            </p:extLst>
          </p:nvPr>
        </p:nvGraphicFramePr>
        <p:xfrm>
          <a:off x="4656139" y="2276475"/>
          <a:ext cx="28860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1" name="Equation" r:id="rId3" imgW="1155600" imgH="215640" progId="Equation.DSMT4">
                  <p:embed/>
                </p:oleObj>
              </mc:Choice>
              <mc:Fallback>
                <p:oleObj name="Equation" r:id="rId3" imgW="1155600" imgH="215640" progId="Equation.DSMT4">
                  <p:embed/>
                  <p:pic>
                    <p:nvPicPr>
                      <p:cNvPr id="696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9" y="2276475"/>
                        <a:ext cx="288607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/>
        </p:nvGraphicFramePr>
        <p:xfrm>
          <a:off x="3575050" y="3141664"/>
          <a:ext cx="488315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2" name="公式" r:id="rId5" imgW="1955520" imgH="253800" progId="Equation.3">
                  <p:embed/>
                </p:oleObj>
              </mc:Choice>
              <mc:Fallback>
                <p:oleObj name="公式" r:id="rId5" imgW="1955520" imgH="253800" progId="Equation.3">
                  <p:embed/>
                  <p:pic>
                    <p:nvPicPr>
                      <p:cNvPr id="69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3141664"/>
                        <a:ext cx="4883150" cy="630237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9"/>
          <p:cNvGraphicFramePr>
            <a:graphicFrameLocks noChangeAspect="1"/>
          </p:cNvGraphicFramePr>
          <p:nvPr/>
        </p:nvGraphicFramePr>
        <p:xfrm>
          <a:off x="3503614" y="3933826"/>
          <a:ext cx="26257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3" name="公式" r:id="rId7" imgW="1193760" imgH="253800" progId="Equation.3">
                  <p:embed/>
                </p:oleObj>
              </mc:Choice>
              <mc:Fallback>
                <p:oleObj name="公式" r:id="rId7" imgW="1193760" imgH="253800" progId="Equation.3">
                  <p:embed/>
                  <p:pic>
                    <p:nvPicPr>
                      <p:cNvPr id="696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3933826"/>
                        <a:ext cx="26257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"/>
          <p:cNvGraphicFramePr>
            <a:graphicFrameLocks noChangeAspect="1"/>
          </p:cNvGraphicFramePr>
          <p:nvPr/>
        </p:nvGraphicFramePr>
        <p:xfrm>
          <a:off x="6672263" y="4005264"/>
          <a:ext cx="1884362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4" name="公式" r:id="rId9" imgW="939600" imgH="190440" progId="Equation.3">
                  <p:embed/>
                </p:oleObj>
              </mc:Choice>
              <mc:Fallback>
                <p:oleObj name="公式" r:id="rId9" imgW="939600" imgH="190440" progId="Equation.3">
                  <p:embed/>
                  <p:pic>
                    <p:nvPicPr>
                      <p:cNvPr id="696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4005264"/>
                        <a:ext cx="1884362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11"/>
          <p:cNvGraphicFramePr>
            <a:graphicFrameLocks noChangeAspect="1"/>
          </p:cNvGraphicFramePr>
          <p:nvPr/>
        </p:nvGraphicFramePr>
        <p:xfrm>
          <a:off x="3000376" y="4797426"/>
          <a:ext cx="64801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5" name="公式" r:id="rId11" imgW="2590560" imgH="215640" progId="Equation.3">
                  <p:embed/>
                </p:oleObj>
              </mc:Choice>
              <mc:Fallback>
                <p:oleObj name="公式" r:id="rId11" imgW="2590560" imgH="215640" progId="Equation.3">
                  <p:embed/>
                  <p:pic>
                    <p:nvPicPr>
                      <p:cNvPr id="696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797426"/>
                        <a:ext cx="6480175" cy="536575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12"/>
          <p:cNvGraphicFramePr>
            <a:graphicFrameLocks noChangeAspect="1"/>
          </p:cNvGraphicFramePr>
          <p:nvPr/>
        </p:nvGraphicFramePr>
        <p:xfrm>
          <a:off x="2927350" y="5661025"/>
          <a:ext cx="31051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6" name="公式" r:id="rId13" imgW="1244520" imgH="215640" progId="Equation.3">
                  <p:embed/>
                </p:oleObj>
              </mc:Choice>
              <mc:Fallback>
                <p:oleObj name="公式" r:id="rId13" imgW="1244520" imgH="215640" progId="Equation.3">
                  <p:embed/>
                  <p:pic>
                    <p:nvPicPr>
                      <p:cNvPr id="696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5661025"/>
                        <a:ext cx="31051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13"/>
          <p:cNvGraphicFramePr>
            <a:graphicFrameLocks noChangeAspect="1"/>
          </p:cNvGraphicFramePr>
          <p:nvPr/>
        </p:nvGraphicFramePr>
        <p:xfrm>
          <a:off x="6527800" y="5661025"/>
          <a:ext cx="31702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7" name="公式" r:id="rId15" imgW="1269720" imgH="215640" progId="Equation.3">
                  <p:embed/>
                </p:oleObj>
              </mc:Choice>
              <mc:Fallback>
                <p:oleObj name="公式" r:id="rId15" imgW="1269720" imgH="215640" progId="Equation.3">
                  <p:embed/>
                  <p:pic>
                    <p:nvPicPr>
                      <p:cNvPr id="696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5661025"/>
                        <a:ext cx="31702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6" name="Text Box 14"/>
          <p:cNvSpPr txBox="1">
            <a:spLocks noChangeArrowheads="1"/>
          </p:cNvSpPr>
          <p:nvPr/>
        </p:nvSpPr>
        <p:spPr bwMode="auto">
          <a:xfrm>
            <a:off x="3732214" y="230716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47" name="Rectangle 15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546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487487" y="2347913"/>
            <a:ext cx="9023879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、如果时域是实序列，则频谱（频率响应函数）为共轭对称的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、共轭性质：第一，实部或幅度是偶对称函数；第二，虚部或相位是奇对称函数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、如果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时域是共轭对称的，则频谱（频率响应函数）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为实数</a:t>
            </a:r>
            <a:endParaRPr kumimoji="1"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732214" y="230716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共轭对称总结</a:t>
            </a: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247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1847851" y="1471613"/>
            <a:ext cx="96160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  <a:r>
              <a:rPr kumimoji="1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是纯虚序列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由于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</a:t>
            </a:r>
            <a:r>
              <a:rPr kumimoji="1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*[</a:t>
            </a:r>
            <a:r>
              <a:rPr kumimoji="1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，所以</a:t>
            </a:r>
            <a:r>
              <a:rPr kumimoji="1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有（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共轭反对称</a:t>
            </a:r>
            <a:r>
              <a:rPr kumimoji="1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96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810419"/>
              </p:ext>
            </p:extLst>
          </p:nvPr>
        </p:nvGraphicFramePr>
        <p:xfrm>
          <a:off x="4765675" y="2279650"/>
          <a:ext cx="26654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2" name="Equation" r:id="rId3" imgW="1066680" imgH="203040" progId="Equation.DSMT4">
                  <p:embed/>
                </p:oleObj>
              </mc:Choice>
              <mc:Fallback>
                <p:oleObj name="Equation" r:id="rId3" imgW="1066680" imgH="203040" progId="Equation.DSMT4">
                  <p:embed/>
                  <p:pic>
                    <p:nvPicPr>
                      <p:cNvPr id="696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675" y="2279650"/>
                        <a:ext cx="26654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380834"/>
              </p:ext>
            </p:extLst>
          </p:nvPr>
        </p:nvGraphicFramePr>
        <p:xfrm>
          <a:off x="3795713" y="3157538"/>
          <a:ext cx="4440237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3" name="Equation" r:id="rId5" imgW="1777680" imgH="241200" progId="Equation.DSMT4">
                  <p:embed/>
                </p:oleObj>
              </mc:Choice>
              <mc:Fallback>
                <p:oleObj name="Equation" r:id="rId5" imgW="1777680" imgH="241200" progId="Equation.DSMT4">
                  <p:embed/>
                  <p:pic>
                    <p:nvPicPr>
                      <p:cNvPr id="69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3157538"/>
                        <a:ext cx="4440237" cy="598487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468301"/>
              </p:ext>
            </p:extLst>
          </p:nvPr>
        </p:nvGraphicFramePr>
        <p:xfrm>
          <a:off x="3586163" y="3946525"/>
          <a:ext cx="24590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4" name="Equation" r:id="rId7" imgW="1117440" imgH="241200" progId="Equation.DSMT4">
                  <p:embed/>
                </p:oleObj>
              </mc:Choice>
              <mc:Fallback>
                <p:oleObj name="Equation" r:id="rId7" imgW="1117440" imgH="241200" progId="Equation.DSMT4">
                  <p:embed/>
                  <p:pic>
                    <p:nvPicPr>
                      <p:cNvPr id="696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3946525"/>
                        <a:ext cx="24590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"/>
          <p:cNvGraphicFramePr>
            <a:graphicFrameLocks noChangeAspect="1"/>
          </p:cNvGraphicFramePr>
          <p:nvPr/>
        </p:nvGraphicFramePr>
        <p:xfrm>
          <a:off x="6672263" y="4005264"/>
          <a:ext cx="1884362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5" name="公式" r:id="rId9" imgW="939600" imgH="190440" progId="Equation.3">
                  <p:embed/>
                </p:oleObj>
              </mc:Choice>
              <mc:Fallback>
                <p:oleObj name="公式" r:id="rId9" imgW="939600" imgH="190440" progId="Equation.3">
                  <p:embed/>
                  <p:pic>
                    <p:nvPicPr>
                      <p:cNvPr id="696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4005264"/>
                        <a:ext cx="1884362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30743"/>
              </p:ext>
            </p:extLst>
          </p:nvPr>
        </p:nvGraphicFramePr>
        <p:xfrm>
          <a:off x="3397250" y="4813300"/>
          <a:ext cx="56864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6" name="Equation" r:id="rId11" imgW="2273040" imgH="203040" progId="Equation.DSMT4">
                  <p:embed/>
                </p:oleObj>
              </mc:Choice>
              <mc:Fallback>
                <p:oleObj name="Equation" r:id="rId11" imgW="2273040" imgH="203040" progId="Equation.DSMT4">
                  <p:embed/>
                  <p:pic>
                    <p:nvPicPr>
                      <p:cNvPr id="696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0" y="4813300"/>
                        <a:ext cx="5686425" cy="504825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978688"/>
              </p:ext>
            </p:extLst>
          </p:nvPr>
        </p:nvGraphicFramePr>
        <p:xfrm>
          <a:off x="3052763" y="5676900"/>
          <a:ext cx="28527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7" name="Equation" r:id="rId13" imgW="1143000" imgH="203040" progId="Equation.DSMT4">
                  <p:embed/>
                </p:oleObj>
              </mc:Choice>
              <mc:Fallback>
                <p:oleObj name="Equation" r:id="rId13" imgW="1143000" imgH="203040" progId="Equation.DSMT4">
                  <p:embed/>
                  <p:pic>
                    <p:nvPicPr>
                      <p:cNvPr id="696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5676900"/>
                        <a:ext cx="285273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805951"/>
              </p:ext>
            </p:extLst>
          </p:nvPr>
        </p:nvGraphicFramePr>
        <p:xfrm>
          <a:off x="6845300" y="5676900"/>
          <a:ext cx="25352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8" name="Equation" r:id="rId15" imgW="1015920" imgH="203040" progId="Equation.DSMT4">
                  <p:embed/>
                </p:oleObj>
              </mc:Choice>
              <mc:Fallback>
                <p:oleObj name="Equation" r:id="rId15" imgW="1015920" imgH="203040" progId="Equation.DSMT4">
                  <p:embed/>
                  <p:pic>
                    <p:nvPicPr>
                      <p:cNvPr id="696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5676900"/>
                        <a:ext cx="25352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6" name="Text Box 14"/>
          <p:cNvSpPr txBox="1">
            <a:spLocks noChangeArrowheads="1"/>
          </p:cNvSpPr>
          <p:nvPr/>
        </p:nvSpPr>
        <p:spPr bwMode="auto">
          <a:xfrm>
            <a:off x="3732214" y="230716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序列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的性质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7" name="Rectangle 15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37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3732214" y="230716"/>
            <a:ext cx="4194175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扩展</a:t>
            </a:r>
            <a:endParaRPr kumimoji="1"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525459"/>
              </p:ext>
            </p:extLst>
          </p:nvPr>
        </p:nvGraphicFramePr>
        <p:xfrm>
          <a:off x="914400" y="4188883"/>
          <a:ext cx="55245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1" name="Equation" r:id="rId3" imgW="2209680" imgH="342720" progId="Equation.DSMT4">
                  <p:embed/>
                </p:oleObj>
              </mc:Choice>
              <mc:Fallback>
                <p:oleObj name="Equation" r:id="rId3" imgW="2209680" imgH="342720" progId="Equation.DSMT4">
                  <p:embed/>
                  <p:pic>
                    <p:nvPicPr>
                      <p:cNvPr id="419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188883"/>
                        <a:ext cx="5524500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914400" y="1395413"/>
            <a:ext cx="902387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、如果时域是纯虚序列，则频谱（频率响应函数）为共轭反对称的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、共轭反对称性质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：第一，实部是奇对称函数；第二，虚部是偶对称函数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、如果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时域是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共轭反对称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的，则频谱（频率响应函数）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为纯虚</a:t>
            </a:r>
            <a:endParaRPr kumimoji="1"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34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DTFT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66" y="1301750"/>
            <a:ext cx="5334000" cy="4000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34" y="1373717"/>
            <a:ext cx="5334000" cy="4000500"/>
          </a:xfrm>
          <a:prstGeom prst="rect">
            <a:avLst/>
          </a:prstGeom>
        </p:spPr>
      </p:pic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4201054" y="5560484"/>
            <a:ext cx="33681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纯虚函数傅里叶变换</a:t>
            </a:r>
            <a:endParaRPr kumimoji="1" lang="zh-CN" altLang="en-US" sz="2400" b="1" dirty="0">
              <a:solidFill>
                <a:srgbClr val="33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8514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7032625" y="908050"/>
          <a:ext cx="18732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9" name="公式" r:id="rId3" imgW="749160" imgH="203040" progId="Equation.3">
                  <p:embed/>
                </p:oleObj>
              </mc:Choice>
              <mc:Fallback>
                <p:oleObj name="公式" r:id="rId3" imgW="749160" imgH="203040" progId="Equation.3">
                  <p:embed/>
                  <p:pic>
                    <p:nvPicPr>
                      <p:cNvPr id="471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908050"/>
                        <a:ext cx="18732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1992313" y="908051"/>
            <a:ext cx="8424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为实偶对称序列时，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由于                      ，所以</a:t>
            </a: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4656139" y="1557339"/>
          <a:ext cx="27654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0" name="公式" r:id="rId5" imgW="1104840" imgH="215640" progId="Equation.3">
                  <p:embed/>
                </p:oleObj>
              </mc:Choice>
              <mc:Fallback>
                <p:oleObj name="公式" r:id="rId5" imgW="1104840" imgH="215640" progId="Equation.3">
                  <p:embed/>
                  <p:pic>
                    <p:nvPicPr>
                      <p:cNvPr id="47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9" y="1557339"/>
                        <a:ext cx="27654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2863851" y="2189164"/>
          <a:ext cx="622776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1" name="公式" r:id="rId7" imgW="2489040" imgH="215640" progId="Equation.3">
                  <p:embed/>
                </p:oleObj>
              </mc:Choice>
              <mc:Fallback>
                <p:oleObj name="公式" r:id="rId7" imgW="2489040" imgH="215640" progId="Equation.3">
                  <p:embed/>
                  <p:pic>
                    <p:nvPicPr>
                      <p:cNvPr id="471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1" y="2189164"/>
                        <a:ext cx="6227763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3135314" y="2997200"/>
          <a:ext cx="532288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2" name="公式" r:id="rId9" imgW="2133360" imgH="215640" progId="Equation.3">
                  <p:embed/>
                </p:oleObj>
              </mc:Choice>
              <mc:Fallback>
                <p:oleObj name="公式" r:id="rId9" imgW="2133360" imgH="215640" progId="Equation.3">
                  <p:embed/>
                  <p:pic>
                    <p:nvPicPr>
                      <p:cNvPr id="471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4" y="2997200"/>
                        <a:ext cx="5322887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8"/>
          <p:cNvGraphicFramePr>
            <a:graphicFrameLocks noChangeAspect="1"/>
          </p:cNvGraphicFramePr>
          <p:nvPr/>
        </p:nvGraphicFramePr>
        <p:xfrm>
          <a:off x="4238626" y="4208464"/>
          <a:ext cx="29813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3" name="公式" r:id="rId11" imgW="1193760" imgH="215640" progId="Equation.3">
                  <p:embed/>
                </p:oleObj>
              </mc:Choice>
              <mc:Fallback>
                <p:oleObj name="公式" r:id="rId11" imgW="1193760" imgH="215640" progId="Equation.3">
                  <p:embed/>
                  <p:pic>
                    <p:nvPicPr>
                      <p:cNvPr id="471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26" y="4208464"/>
                        <a:ext cx="29813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Object 9"/>
          <p:cNvGraphicFramePr>
            <a:graphicFrameLocks noChangeAspect="1"/>
          </p:cNvGraphicFramePr>
          <p:nvPr/>
        </p:nvGraphicFramePr>
        <p:xfrm>
          <a:off x="2863851" y="4932364"/>
          <a:ext cx="644366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4" name="公式" r:id="rId13" imgW="2577960" imgH="215640" progId="Equation.3">
                  <p:embed/>
                </p:oleObj>
              </mc:Choice>
              <mc:Fallback>
                <p:oleObj name="公式" r:id="rId13" imgW="2577960" imgH="215640" progId="Equation.3">
                  <p:embed/>
                  <p:pic>
                    <p:nvPicPr>
                      <p:cNvPr id="471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1" y="4932364"/>
                        <a:ext cx="6443663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4" name="Text Box 10"/>
          <p:cNvSpPr txBox="1">
            <a:spLocks noChangeArrowheads="1"/>
          </p:cNvSpPr>
          <p:nvPr/>
        </p:nvSpPr>
        <p:spPr bwMode="auto">
          <a:xfrm>
            <a:off x="4727575" y="5661026"/>
            <a:ext cx="5327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(e</a:t>
            </a:r>
            <a:r>
              <a:rPr kumimoji="1" lang="en-US" altLang="zh-CN" sz="2800" baseline="30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800" i="1" baseline="3000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2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kumimoji="1" lang="en-US" altLang="zh-CN" sz="2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纯虚函数</a:t>
            </a:r>
            <a:r>
              <a:rPr kumimoji="1" lang="en-US" altLang="zh-CN" sz="2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且为奇对称</a:t>
            </a: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3795714" y="112714"/>
            <a:ext cx="419417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</a:t>
            </a: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的性质</a:t>
            </a:r>
            <a:endParaRPr kumimoji="1" lang="zh-CN" altLang="en-US" sz="3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6" name="Rectangle 12"/>
          <p:cNvSpPr>
            <a:spLocks noChangeArrowheads="1"/>
          </p:cNvSpPr>
          <p:nvPr/>
        </p:nvSpPr>
        <p:spPr bwMode="auto">
          <a:xfrm>
            <a:off x="1752600" y="8064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7" name="Text Box 13"/>
          <p:cNvSpPr txBox="1">
            <a:spLocks noChangeArrowheads="1"/>
          </p:cNvSpPr>
          <p:nvPr/>
        </p:nvSpPr>
        <p:spPr bwMode="auto">
          <a:xfrm>
            <a:off x="1919288" y="3644901"/>
            <a:ext cx="8424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800" i="1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为实奇对称序列时，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由于                      ，所以</a:t>
            </a:r>
          </a:p>
        </p:txBody>
      </p:sp>
      <p:graphicFrame>
        <p:nvGraphicFramePr>
          <p:cNvPr id="47118" name="Object 14"/>
          <p:cNvGraphicFramePr>
            <a:graphicFrameLocks noChangeAspect="1"/>
          </p:cNvGraphicFramePr>
          <p:nvPr/>
        </p:nvGraphicFramePr>
        <p:xfrm>
          <a:off x="6864350" y="3644900"/>
          <a:ext cx="20637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35" name="公式" r:id="rId15" imgW="825480" imgH="203040" progId="Equation.3">
                  <p:embed/>
                </p:oleObj>
              </mc:Choice>
              <mc:Fallback>
                <p:oleObj name="公式" r:id="rId15" imgW="825480" imgH="203040" progId="Equation.3">
                  <p:embed/>
                  <p:pic>
                    <p:nvPicPr>
                      <p:cNvPr id="471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3644900"/>
                        <a:ext cx="20637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9" name="Rectangle 15"/>
          <p:cNvSpPr>
            <a:spLocks noChangeArrowheads="1"/>
          </p:cNvSpPr>
          <p:nvPr/>
        </p:nvSpPr>
        <p:spPr bwMode="auto">
          <a:xfrm>
            <a:off x="2855914" y="5661026"/>
            <a:ext cx="1944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aseline="-25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1" lang="en-US" altLang="zh-CN" sz="2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(e</a:t>
            </a:r>
            <a:r>
              <a:rPr kumimoji="1" lang="en-US" altLang="zh-CN" sz="2800" baseline="30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800" i="1" baseline="3000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2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)=0;</a:t>
            </a:r>
          </a:p>
        </p:txBody>
      </p:sp>
    </p:spTree>
    <p:extLst>
      <p:ext uri="{BB962C8B-B14F-4D97-AF65-F5344CB8AC3E}">
        <p14:creationId xmlns:p14="http://schemas.microsoft.com/office/powerpoint/2010/main" val="407375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/>
      <p:bldP spid="47114" grpId="0" autoUpdateAnimBg="0"/>
      <p:bldP spid="4711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DTFT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1905000" y="1524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例：试求序列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zh-CN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]的DTFT。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4819651" y="574675"/>
          <a:ext cx="2551113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6" name="公式" r:id="rId3" imgW="1218960" imgH="647640" progId="Equation.3">
                  <p:embed/>
                </p:oleObj>
              </mc:Choice>
              <mc:Fallback>
                <p:oleObj name="公式" r:id="rId3" imgW="1218960" imgH="647640" progId="Equation.3">
                  <p:embed/>
                  <p:pic>
                    <p:nvPicPr>
                      <p:cNvPr id="481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51" y="574675"/>
                        <a:ext cx="2551113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992568"/>
              </p:ext>
            </p:extLst>
          </p:nvPr>
        </p:nvGraphicFramePr>
        <p:xfrm>
          <a:off x="2720507" y="2054225"/>
          <a:ext cx="5453062" cy="465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7" name="Equation" r:id="rId5" imgW="1739880" imgH="1485720" progId="Equation.DSMT4">
                  <p:embed/>
                </p:oleObj>
              </mc:Choice>
              <mc:Fallback>
                <p:oleObj name="Equation" r:id="rId5" imgW="1739880" imgH="1485720" progId="Equation.DSMT4">
                  <p:embed/>
                  <p:pic>
                    <p:nvPicPr>
                      <p:cNvPr id="481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507" y="2054225"/>
                        <a:ext cx="5453062" cy="465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4" name="Rectangle 16"/>
          <p:cNvSpPr>
            <a:spLocks noChangeArrowheads="1"/>
          </p:cNvSpPr>
          <p:nvPr/>
        </p:nvSpPr>
        <p:spPr bwMode="auto">
          <a:xfrm>
            <a:off x="1717675" y="2128838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650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DTFT</a:t>
            </a:r>
            <a:endParaRPr kumimoji="1" lang="en-US" altLang="zh-CN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1905000" y="1524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例：试求序列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zh-CN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]的DTFT。</a:t>
            </a:r>
            <a:endParaRPr kumimoji="1"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2336801" y="4352925"/>
          <a:ext cx="20304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3" name="公式" r:id="rId3" imgW="812520" imgH="177480" progId="Equation.3">
                  <p:embed/>
                </p:oleObj>
              </mc:Choice>
              <mc:Fallback>
                <p:oleObj name="公式" r:id="rId3" imgW="812520" imgH="177480" progId="Equation.3">
                  <p:embed/>
                  <p:pic>
                    <p:nvPicPr>
                      <p:cNvPr id="481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1" y="4352925"/>
                        <a:ext cx="20304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4375150" y="4265614"/>
          <a:ext cx="301625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4" name="公式" r:id="rId5" imgW="1206360" imgH="215640" progId="Equation.3">
                  <p:embed/>
                </p:oleObj>
              </mc:Choice>
              <mc:Fallback>
                <p:oleObj name="公式" r:id="rId5" imgW="1206360" imgH="215640" progId="Equation.3">
                  <p:embed/>
                  <p:pic>
                    <p:nvPicPr>
                      <p:cNvPr id="481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150" y="4265614"/>
                        <a:ext cx="301625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7531100" y="4267200"/>
          <a:ext cx="19685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5" name="公式" r:id="rId7" imgW="787320" imgH="215640" progId="Equation.3">
                  <p:embed/>
                </p:oleObj>
              </mc:Choice>
              <mc:Fallback>
                <p:oleObj name="公式" r:id="rId7" imgW="787320" imgH="215640" progId="Equation.3">
                  <p:embed/>
                  <p:pic>
                    <p:nvPicPr>
                      <p:cNvPr id="481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100" y="4267200"/>
                        <a:ext cx="19685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4819651" y="574675"/>
          <a:ext cx="2551113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6" name="公式" r:id="rId9" imgW="1218960" imgH="647640" progId="Equation.3">
                  <p:embed/>
                </p:oleObj>
              </mc:Choice>
              <mc:Fallback>
                <p:oleObj name="公式" r:id="rId9" imgW="1218960" imgH="647640" progId="Equation.3">
                  <p:embed/>
                  <p:pic>
                    <p:nvPicPr>
                      <p:cNvPr id="481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51" y="574675"/>
                        <a:ext cx="2551113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/>
        </p:nvGraphicFramePr>
        <p:xfrm>
          <a:off x="1992314" y="2276476"/>
          <a:ext cx="670083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7" name="公式" r:id="rId11" imgW="2679480" imgH="431640" progId="Equation.3">
                  <p:embed/>
                </p:oleObj>
              </mc:Choice>
              <mc:Fallback>
                <p:oleObj name="公式" r:id="rId11" imgW="2679480" imgH="431640" progId="Equation.3">
                  <p:embed/>
                  <p:pic>
                    <p:nvPicPr>
                      <p:cNvPr id="481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2276476"/>
                        <a:ext cx="670083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9"/>
          <p:cNvGraphicFramePr>
            <a:graphicFrameLocks noChangeAspect="1"/>
          </p:cNvGraphicFramePr>
          <p:nvPr/>
        </p:nvGraphicFramePr>
        <p:xfrm>
          <a:off x="4486276" y="3352800"/>
          <a:ext cx="272891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8" name="Equation" r:id="rId13" imgW="1091880" imgH="215640" progId="Equation.DSMT4">
                  <p:embed/>
                </p:oleObj>
              </mc:Choice>
              <mc:Fallback>
                <p:oleObj name="Equation" r:id="rId13" imgW="1091880" imgH="215640" progId="Equation.DSMT4">
                  <p:embed/>
                  <p:pic>
                    <p:nvPicPr>
                      <p:cNvPr id="481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6276" y="3352800"/>
                        <a:ext cx="2728913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0" name="Object 12"/>
          <p:cNvGraphicFramePr>
            <a:graphicFrameLocks noChangeAspect="1"/>
          </p:cNvGraphicFramePr>
          <p:nvPr/>
        </p:nvGraphicFramePr>
        <p:xfrm>
          <a:off x="4114801" y="5257801"/>
          <a:ext cx="288766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9" name="公式" r:id="rId15" imgW="1155600" imgH="393480" progId="Equation.3">
                  <p:embed/>
                </p:oleObj>
              </mc:Choice>
              <mc:Fallback>
                <p:oleObj name="公式" r:id="rId15" imgW="1155600" imgH="393480" progId="Equation.3">
                  <p:embed/>
                  <p:pic>
                    <p:nvPicPr>
                      <p:cNvPr id="481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5257801"/>
                        <a:ext cx="2887663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4" name="Rectangle 16"/>
          <p:cNvSpPr>
            <a:spLocks noChangeArrowheads="1"/>
          </p:cNvSpPr>
          <p:nvPr/>
        </p:nvSpPr>
        <p:spPr bwMode="auto">
          <a:xfrm>
            <a:off x="1717675" y="2128838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970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SP">
  <a:themeElements>
    <a:clrScheme name="DSP.po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SP.pot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SP.po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P.po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P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352</Words>
  <Application>Microsoft Office PowerPoint</Application>
  <PresentationFormat>宽屏</PresentationFormat>
  <Paragraphs>52</Paragraphs>
  <Slides>13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等线</vt:lpstr>
      <vt:lpstr>宋体</vt:lpstr>
      <vt:lpstr>华文仿宋</vt:lpstr>
      <vt:lpstr>Arial</vt:lpstr>
      <vt:lpstr>Symbol</vt:lpstr>
      <vt:lpstr>Times New Roman</vt:lpstr>
      <vt:lpstr>Wingdings</vt:lpstr>
      <vt:lpstr>DSP</vt:lpstr>
      <vt:lpstr>Equation</vt:lpstr>
      <vt:lpstr>公式</vt:lpstr>
      <vt:lpstr>第4题</vt:lpstr>
      <vt:lpstr>第15题</vt:lpstr>
      <vt:lpstr>第16题（因果）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离散时间系统的频域分析—傅立叶变换</dc:title>
  <dc:creator>Administrator</dc:creator>
  <cp:lastModifiedBy>CHAO WU</cp:lastModifiedBy>
  <cp:revision>32</cp:revision>
  <dcterms:created xsi:type="dcterms:W3CDTF">2020-08-06T07:31:11Z</dcterms:created>
  <dcterms:modified xsi:type="dcterms:W3CDTF">2021-10-31T04:57:54Z</dcterms:modified>
</cp:coreProperties>
</file>