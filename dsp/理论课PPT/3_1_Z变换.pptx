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00" r:id="rId2"/>
    <p:sldId id="301" r:id="rId3"/>
    <p:sldId id="302" r:id="rId4"/>
    <p:sldId id="291" r:id="rId5"/>
    <p:sldId id="297" r:id="rId6"/>
    <p:sldId id="292" r:id="rId7"/>
    <p:sldId id="298" r:id="rId8"/>
    <p:sldId id="293" r:id="rId9"/>
    <p:sldId id="299" r:id="rId10"/>
    <p:sldId id="294" r:id="rId11"/>
    <p:sldId id="29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4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B99D7-9870-43E7-878E-5BB0F9D871EE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04442-28C1-41EF-8780-A19FF9896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DB500A-CE7B-4018-8788-3479172D62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68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B8B271-3F2F-4134-90E5-79363869A48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89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4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4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82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6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85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6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2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62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28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0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4742120"/>
            <a:ext cx="11074400" cy="127767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3" y="1371601"/>
            <a:ext cx="10805267" cy="464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0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447800"/>
            <a:ext cx="11010900" cy="453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4067704" y="300037"/>
            <a:ext cx="43904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Z</a:t>
            </a:r>
            <a:r>
              <a:rPr lang="zh-CN" altLang="en-US" sz="2800" dirty="0" smtClean="0">
                <a:ea typeface="宋体" panose="02010600030101010101" pitchFamily="2" charset="-122"/>
              </a:rPr>
              <a:t>逆变换</a:t>
            </a:r>
            <a:r>
              <a:rPr lang="en-US" altLang="zh-CN" sz="2800" dirty="0" smtClean="0">
                <a:ea typeface="宋体" panose="02010600030101010101" pitchFamily="2" charset="-122"/>
              </a:rPr>
              <a:t>-</a:t>
            </a:r>
            <a:r>
              <a:rPr lang="zh-CN" altLang="en-US" sz="2800" b="1" dirty="0" smtClean="0"/>
              <a:t>双边</a:t>
            </a:r>
            <a:r>
              <a:rPr lang="en-US" altLang="zh-CN" sz="2800" b="1" i="1" dirty="0"/>
              <a:t>Z</a:t>
            </a:r>
            <a:r>
              <a:rPr lang="zh-CN" altLang="en-US" sz="2800" b="1" dirty="0"/>
              <a:t>反变换</a:t>
            </a: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 flipV="1">
            <a:off x="1739900" y="908050"/>
            <a:ext cx="882015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83" name="Object 15"/>
          <p:cNvGraphicFramePr>
            <a:graphicFrameLocks noChangeAspect="1"/>
          </p:cNvGraphicFramePr>
          <p:nvPr>
            <p:extLst/>
          </p:nvPr>
        </p:nvGraphicFramePr>
        <p:xfrm>
          <a:off x="1231900" y="2405326"/>
          <a:ext cx="38814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Equation" r:id="rId3" imgW="1333440" imgH="380880" progId="Equation.DSMT4">
                  <p:embed/>
                </p:oleObj>
              </mc:Choice>
              <mc:Fallback>
                <p:oleObj name="Equation" r:id="rId3" imgW="1333440" imgH="380880" progId="Equation.DSMT4">
                  <p:embed/>
                  <p:pic>
                    <p:nvPicPr>
                      <p:cNvPr id="71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2405326"/>
                        <a:ext cx="388143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5422900" y="2698220"/>
            <a:ext cx="5437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</a:rPr>
              <a:t>C</a:t>
            </a:r>
            <a:r>
              <a:rPr lang="zh-CN" altLang="en-US" sz="2800" dirty="0">
                <a:solidFill>
                  <a:schemeClr val="accent2"/>
                </a:solidFill>
              </a:rPr>
              <a:t>为</a:t>
            </a:r>
            <a:r>
              <a:rPr lang="en-US" altLang="zh-CN" sz="2800" i="1" dirty="0">
                <a:solidFill>
                  <a:schemeClr val="accent2"/>
                </a:solidFill>
              </a:rPr>
              <a:t>X</a:t>
            </a:r>
            <a:r>
              <a:rPr lang="en-US" altLang="zh-CN" sz="2800" dirty="0">
                <a:solidFill>
                  <a:schemeClr val="accent2"/>
                </a:solidFill>
              </a:rPr>
              <a:t>(z) </a:t>
            </a:r>
            <a:r>
              <a:rPr lang="zh-CN" altLang="en-US" sz="2800" dirty="0">
                <a:solidFill>
                  <a:schemeClr val="accent2"/>
                </a:solidFill>
              </a:rPr>
              <a:t>的</a:t>
            </a:r>
            <a:r>
              <a:rPr lang="en-US" altLang="zh-CN" sz="2800" dirty="0">
                <a:solidFill>
                  <a:schemeClr val="accent2"/>
                </a:solidFill>
              </a:rPr>
              <a:t>ROC</a:t>
            </a:r>
            <a:r>
              <a:rPr lang="zh-CN" altLang="en-US" sz="2800" dirty="0">
                <a:solidFill>
                  <a:schemeClr val="accent2"/>
                </a:solidFill>
              </a:rPr>
              <a:t>中的一闭合曲线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2696633" y="4124728"/>
            <a:ext cx="6084888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/>
              <a:t>部分分式法</a:t>
            </a:r>
          </a:p>
          <a:p>
            <a:pPr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/>
              <a:t>留数法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816" y="1049617"/>
            <a:ext cx="2947359" cy="891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76300" y="1239573"/>
            <a:ext cx="40640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kern="0" smtClean="0">
                <a:ea typeface="宋体" panose="02010600030101010101" pitchFamily="2" charset="-122"/>
              </a:rPr>
              <a:t>定义</a:t>
            </a:r>
            <a:r>
              <a:rPr lang="en-US" altLang="zh-CN" kern="0" smtClean="0">
                <a:ea typeface="宋体" panose="02010600030101010101" pitchFamily="2" charset="-122"/>
              </a:rPr>
              <a:t>:</a:t>
            </a:r>
          </a:p>
          <a:p>
            <a:pPr>
              <a:lnSpc>
                <a:spcPct val="120000"/>
              </a:lnSpc>
            </a:pPr>
            <a:endParaRPr lang="en-US" altLang="zh-CN" kern="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kern="0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849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648075" y="260351"/>
            <a:ext cx="4248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/>
              <a:t>部分分式法求</a:t>
            </a:r>
            <a:r>
              <a:rPr lang="en-US" altLang="zh-CN" sz="2800" b="1"/>
              <a:t>Z</a:t>
            </a:r>
            <a:r>
              <a:rPr lang="zh-CN" altLang="en-US" sz="2800" b="1"/>
              <a:t>反变换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 flipV="1">
            <a:off x="1739900" y="908050"/>
            <a:ext cx="882015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601381"/>
              </p:ext>
            </p:extLst>
          </p:nvPr>
        </p:nvGraphicFramePr>
        <p:xfrm>
          <a:off x="2536825" y="3176588"/>
          <a:ext cx="6657975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6" name="Equation" r:id="rId3" imgW="2286000" imgH="393480" progId="Equation.DSMT4">
                  <p:embed/>
                </p:oleObj>
              </mc:Choice>
              <mc:Fallback>
                <p:oleObj name="Equation" r:id="rId3" imgW="2286000" imgH="393480" progId="Equation.DSMT4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3176588"/>
                        <a:ext cx="6657975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808427"/>
              </p:ext>
            </p:extLst>
          </p:nvPr>
        </p:nvGraphicFramePr>
        <p:xfrm>
          <a:off x="2284413" y="4616450"/>
          <a:ext cx="69913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7" name="Equation" r:id="rId5" imgW="2400120" imgH="393480" progId="Equation.DSMT4">
                  <p:embed/>
                </p:oleObj>
              </mc:Choice>
              <mc:Fallback>
                <p:oleObj name="Equation" r:id="rId5" imgW="2400120" imgH="393480" progId="Equation.DSMT4">
                  <p:embed/>
                  <p:pic>
                    <p:nvPicPr>
                      <p:cNvPr id="174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4616450"/>
                        <a:ext cx="699135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2711451" y="1412876"/>
            <a:ext cx="6659563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将序列</a:t>
            </a:r>
            <a:r>
              <a:rPr lang="en-US" altLang="zh-CN" sz="2800" b="1"/>
              <a:t>z</a:t>
            </a:r>
            <a:r>
              <a:rPr lang="zh-CN" altLang="en-US" sz="2800" b="1"/>
              <a:t>变换分解为部分分式之和，</a:t>
            </a:r>
          </a:p>
          <a:p>
            <a:pPr>
              <a:spcBef>
                <a:spcPct val="50000"/>
              </a:spcBef>
            </a:pPr>
            <a:r>
              <a:rPr lang="zh-CN" altLang="en-US" sz="2800" b="1"/>
              <a:t>然后求解各部分份式对应的</a:t>
            </a:r>
            <a:r>
              <a:rPr lang="en-US" altLang="zh-CN" sz="2800" b="1"/>
              <a:t>z</a:t>
            </a:r>
            <a:r>
              <a:rPr lang="zh-CN" altLang="en-US" sz="2800" b="1"/>
              <a:t>反变换</a:t>
            </a:r>
          </a:p>
        </p:txBody>
      </p:sp>
    </p:spTree>
    <p:extLst>
      <p:ext uri="{BB962C8B-B14F-4D97-AF65-F5344CB8AC3E}">
        <p14:creationId xmlns:p14="http://schemas.microsoft.com/office/powerpoint/2010/main" val="114388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7C307C3-3557-40C7-B213-DF5B6371F4C7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304800"/>
            <a:ext cx="67818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部分分式展开法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1748" name="对象 4"/>
          <p:cNvGraphicFramePr>
            <a:graphicFrameLocks noChangeAspect="1"/>
          </p:cNvGraphicFramePr>
          <p:nvPr>
            <p:extLst/>
          </p:nvPr>
        </p:nvGraphicFramePr>
        <p:xfrm>
          <a:off x="2309814" y="1676400"/>
          <a:ext cx="7572375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0" name="Equation" r:id="rId4" imgW="2654300" imgH="723900" progId="Equation.DSMT4">
                  <p:embed/>
                </p:oleObj>
              </mc:Choice>
              <mc:Fallback>
                <p:oleObj name="Equation" r:id="rId4" imgW="2654300" imgH="723900" progId="Equation.DSMT4">
                  <p:embed/>
                  <p:pic>
                    <p:nvPicPr>
                      <p:cNvPr id="3174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4" y="1676400"/>
                        <a:ext cx="7572375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对象 5"/>
          <p:cNvGraphicFramePr>
            <a:graphicFrameLocks noChangeAspect="1"/>
          </p:cNvGraphicFramePr>
          <p:nvPr/>
        </p:nvGraphicFramePr>
        <p:xfrm>
          <a:off x="2798764" y="4114800"/>
          <a:ext cx="65944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1" name="Equation" r:id="rId6" imgW="2311400" imgH="342900" progId="Equation.DSMT4">
                  <p:embed/>
                </p:oleObj>
              </mc:Choice>
              <mc:Fallback>
                <p:oleObj name="Equation" r:id="rId6" imgW="2311400" imgH="342900" progId="Equation.DSMT4">
                  <p:embed/>
                  <p:pic>
                    <p:nvPicPr>
                      <p:cNvPr id="31749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4" y="4114800"/>
                        <a:ext cx="65944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24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882775" y="260351"/>
          <a:ext cx="84978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3" name="公式" r:id="rId3" imgW="3568680" imgH="368280" progId="Equation.3">
                  <p:embed/>
                </p:oleObj>
              </mc:Choice>
              <mc:Fallback>
                <p:oleObj name="公式" r:id="rId3" imgW="3568680" imgH="368280" progId="Equation.3">
                  <p:embed/>
                  <p:pic>
                    <p:nvPicPr>
                      <p:cNvPr id="184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260351"/>
                        <a:ext cx="8497888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4332289" y="1665289"/>
          <a:ext cx="33035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4" name="公式" r:id="rId5" imgW="1650960" imgH="406080" progId="Equation.3">
                  <p:embed/>
                </p:oleObj>
              </mc:Choice>
              <mc:Fallback>
                <p:oleObj name="公式" r:id="rId5" imgW="1650960" imgH="406080" progId="Equation.3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9" y="1665289"/>
                        <a:ext cx="330358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992314" y="2565400"/>
            <a:ext cx="52911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(1)  |z|</a:t>
            </a:r>
            <a:r>
              <a:rPr lang="en-US" altLang="zh-CN">
                <a:latin typeface="Symbol" panose="05050102010706020507" pitchFamily="18" charset="2"/>
              </a:rPr>
              <a:t>&gt;</a:t>
            </a:r>
            <a:r>
              <a:rPr lang="en-US" altLang="zh-CN"/>
              <a:t>3        </a:t>
            </a:r>
            <a:r>
              <a:rPr lang="zh-CN" altLang="en-US"/>
              <a:t>系统非稳定、因果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4187826" y="3105151"/>
          <a:ext cx="38782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5" name="公式" r:id="rId7" imgW="1549080" imgH="241200" progId="Equation.3">
                  <p:embed/>
                </p:oleObj>
              </mc:Choice>
              <mc:Fallback>
                <p:oleObj name="公式" r:id="rId7" imgW="1549080" imgH="241200" progId="Equation.3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6" y="3105151"/>
                        <a:ext cx="38782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2063750" y="3933825"/>
            <a:ext cx="521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(2)   2</a:t>
            </a:r>
            <a:r>
              <a:rPr lang="en-US" altLang="zh-CN">
                <a:latin typeface="Symbol" panose="05050102010706020507" pitchFamily="18" charset="2"/>
              </a:rPr>
              <a:t>&lt;</a:t>
            </a:r>
            <a:r>
              <a:rPr lang="en-US" altLang="zh-CN"/>
              <a:t>|z|</a:t>
            </a:r>
            <a:r>
              <a:rPr lang="en-US" altLang="zh-CN">
                <a:latin typeface="Symbol" panose="05050102010706020507" pitchFamily="18" charset="2"/>
              </a:rPr>
              <a:t>&lt;</a:t>
            </a:r>
            <a:r>
              <a:rPr lang="en-US" altLang="zh-CN"/>
              <a:t>3    </a:t>
            </a:r>
            <a:r>
              <a:rPr lang="zh-CN" altLang="en-US"/>
              <a:t>系统非稳定， 非因果</a:t>
            </a: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4187825" y="4437064"/>
          <a:ext cx="49593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6" name="公式" r:id="rId9" imgW="1981080" imgH="241200" progId="Equation.3">
                  <p:embed/>
                </p:oleObj>
              </mc:Choice>
              <mc:Fallback>
                <p:oleObj name="公式" r:id="rId9" imgW="1981080" imgH="241200" progId="Equation.3">
                  <p:embed/>
                  <p:pic>
                    <p:nvPicPr>
                      <p:cNvPr id="18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4437064"/>
                        <a:ext cx="49593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2063750" y="5229225"/>
            <a:ext cx="541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(3)  |z|</a:t>
            </a:r>
            <a:r>
              <a:rPr lang="en-US" altLang="zh-CN">
                <a:latin typeface="Symbol" panose="05050102010706020507" pitchFamily="18" charset="2"/>
              </a:rPr>
              <a:t>&lt;</a:t>
            </a:r>
            <a:r>
              <a:rPr lang="en-US" altLang="zh-CN"/>
              <a:t>2         </a:t>
            </a:r>
            <a:r>
              <a:rPr lang="zh-CN" altLang="en-US"/>
              <a:t>系统稳定、非因果</a:t>
            </a:r>
          </a:p>
        </p:txBody>
      </p:sp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4187825" y="5768975"/>
          <a:ext cx="542448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7" name="公式" r:id="rId11" imgW="2171520" imgH="241200" progId="Equation.3">
                  <p:embed/>
                </p:oleObj>
              </mc:Choice>
              <mc:Fallback>
                <p:oleObj name="公式" r:id="rId11" imgW="2171520" imgH="241200" progId="Equation.3">
                  <p:embed/>
                  <p:pic>
                    <p:nvPicPr>
                      <p:cNvPr id="184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5768975"/>
                        <a:ext cx="5424488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1811338" y="1520825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解：</a:t>
            </a: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 flipV="1">
            <a:off x="1739900" y="1265238"/>
            <a:ext cx="882015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73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38" grpId="0" autoUpdateAnimBg="0"/>
      <p:bldP spid="1844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7006F23-A6C2-481F-B013-AA7360691F8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81000"/>
            <a:ext cx="66294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2772" name="对象 1"/>
          <p:cNvGraphicFramePr>
            <a:graphicFrameLocks noChangeAspect="1"/>
          </p:cNvGraphicFramePr>
          <p:nvPr/>
        </p:nvGraphicFramePr>
        <p:xfrm>
          <a:off x="2776538" y="1735139"/>
          <a:ext cx="525780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2" name="Equation" r:id="rId4" imgW="2438400" imgH="457200" progId="Equation.3">
                  <p:embed/>
                </p:oleObj>
              </mc:Choice>
              <mc:Fallback>
                <p:oleObj name="Equation" r:id="rId4" imgW="2438400" imgH="457200" progId="Equation.3">
                  <p:embed/>
                  <p:pic>
                    <p:nvPicPr>
                      <p:cNvPr id="3277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538" y="1735139"/>
                        <a:ext cx="5257800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Box 2"/>
          <p:cNvSpPr txBox="1">
            <a:spLocks noChangeArrowheads="1"/>
          </p:cNvSpPr>
          <p:nvPr/>
        </p:nvSpPr>
        <p:spPr bwMode="auto">
          <a:xfrm>
            <a:off x="2300288" y="1981201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</a:rPr>
              <a:t>设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2362200" y="3048001"/>
            <a:ext cx="4471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试利用部分分式法求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反变换。 </a:t>
            </a:r>
          </a:p>
        </p:txBody>
      </p:sp>
    </p:spTree>
    <p:extLst>
      <p:ext uri="{BB962C8B-B14F-4D97-AF65-F5344CB8AC3E}">
        <p14:creationId xmlns:p14="http://schemas.microsoft.com/office/powerpoint/2010/main" val="166316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962400" y="166688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/>
              <a:t>留数法求</a:t>
            </a:r>
            <a:r>
              <a:rPr lang="en-US" altLang="zh-CN" sz="2800" b="1"/>
              <a:t>Z</a:t>
            </a:r>
            <a:r>
              <a:rPr lang="zh-CN" altLang="en-US" sz="2800" b="1"/>
              <a:t>反变换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698926"/>
              </p:ext>
            </p:extLst>
          </p:nvPr>
        </p:nvGraphicFramePr>
        <p:xfrm>
          <a:off x="2640014" y="2457451"/>
          <a:ext cx="34448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4" name="Equation" r:id="rId3" imgW="1434960" imgH="431640" progId="Equation.DSMT4">
                  <p:embed/>
                </p:oleObj>
              </mc:Choice>
              <mc:Fallback>
                <p:oleObj name="Equation" r:id="rId3" imgW="1434960" imgH="431640" progId="Equation.DSMT4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2457451"/>
                        <a:ext cx="34448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108325" y="5337175"/>
            <a:ext cx="441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C</a:t>
            </a:r>
            <a:r>
              <a:rPr lang="zh-CN" altLang="en-US"/>
              <a:t>为</a:t>
            </a:r>
            <a:r>
              <a:rPr lang="en-US" altLang="zh-CN" i="1"/>
              <a:t>X</a:t>
            </a:r>
            <a:r>
              <a:rPr lang="en-US" altLang="zh-CN"/>
              <a:t>(z) </a:t>
            </a:r>
            <a:r>
              <a:rPr lang="zh-CN" altLang="en-US"/>
              <a:t>的</a:t>
            </a:r>
            <a:r>
              <a:rPr lang="en-US" altLang="zh-CN"/>
              <a:t>ROC</a:t>
            </a:r>
            <a:r>
              <a:rPr lang="zh-CN" altLang="en-US"/>
              <a:t>中的一闭合曲线</a:t>
            </a: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3503613" y="3860801"/>
          <a:ext cx="316706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5" name="公式" r:id="rId5" imgW="1320480" imgH="317160" progId="Equation.3">
                  <p:embed/>
                </p:oleObj>
              </mc:Choice>
              <mc:Fallback>
                <p:oleObj name="公式" r:id="rId5" imgW="1320480" imgH="317160" progId="Equation.3">
                  <p:embed/>
                  <p:pic>
                    <p:nvPicPr>
                      <p:cNvPr id="9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3860801"/>
                        <a:ext cx="316706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2459038" y="1449388"/>
            <a:ext cx="4356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根据复变函数积分理论</a:t>
            </a:r>
          </a:p>
        </p:txBody>
      </p:sp>
    </p:spTree>
    <p:extLst>
      <p:ext uri="{BB962C8B-B14F-4D97-AF65-F5344CB8AC3E}">
        <p14:creationId xmlns:p14="http://schemas.microsoft.com/office/powerpoint/2010/main" val="52304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461027"/>
              </p:ext>
            </p:extLst>
          </p:nvPr>
        </p:nvGraphicFramePr>
        <p:xfrm>
          <a:off x="1454150" y="1474788"/>
          <a:ext cx="7289800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1" name="Equation" r:id="rId3" imgW="3403440" imgH="1206360" progId="Equation.DSMT4">
                  <p:embed/>
                </p:oleObj>
              </mc:Choice>
              <mc:Fallback>
                <p:oleObj name="Equation" r:id="rId3" imgW="340344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54150" y="1474788"/>
                        <a:ext cx="7289800" cy="2584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321165"/>
              </p:ext>
            </p:extLst>
          </p:nvPr>
        </p:nvGraphicFramePr>
        <p:xfrm>
          <a:off x="575928" y="4678363"/>
          <a:ext cx="4732337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2" name="Equation" r:id="rId5" imgW="2209680" imgH="672840" progId="Equation.DSMT4">
                  <p:embed/>
                </p:oleObj>
              </mc:Choice>
              <mc:Fallback>
                <p:oleObj name="Equation" r:id="rId5" imgW="2209680" imgH="6728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5928" y="4678363"/>
                        <a:ext cx="4732337" cy="1438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875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1847851" y="0"/>
          <a:ext cx="37814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6" name="公式" r:id="rId3" imgW="1574640" imgH="419040" progId="Equation.3">
                  <p:embed/>
                </p:oleObj>
              </mc:Choice>
              <mc:Fallback>
                <p:oleObj name="公式" r:id="rId3" imgW="1574640" imgH="419040" progId="Equation.3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0"/>
                        <a:ext cx="37814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5916614" y="188914"/>
            <a:ext cx="41751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/>
              <a:t>求：</a:t>
            </a:r>
            <a:r>
              <a:rPr lang="en-US" altLang="zh-CN"/>
              <a:t>(1)ROC</a:t>
            </a:r>
            <a:r>
              <a:rPr lang="zh-CN" altLang="en-US"/>
              <a:t>为</a:t>
            </a:r>
            <a:r>
              <a:rPr lang="en-US" altLang="zh-CN"/>
              <a:t>|</a:t>
            </a:r>
            <a:r>
              <a:rPr lang="en-US" altLang="zh-CN" i="1"/>
              <a:t>z</a:t>
            </a:r>
            <a:r>
              <a:rPr lang="en-US" altLang="zh-CN"/>
              <a:t>|</a:t>
            </a:r>
            <a:r>
              <a:rPr lang="en-US" altLang="zh-CN">
                <a:latin typeface="Symbol" panose="05050102010706020507" pitchFamily="18" charset="2"/>
              </a:rPr>
              <a:t>&gt;</a:t>
            </a:r>
            <a:r>
              <a:rPr lang="en-US" altLang="zh-CN"/>
              <a:t>|</a:t>
            </a:r>
            <a:r>
              <a:rPr lang="en-US" altLang="zh-CN" i="1"/>
              <a:t>a</a:t>
            </a:r>
            <a:r>
              <a:rPr lang="en-US" altLang="zh-CN"/>
              <a:t>|</a:t>
            </a:r>
            <a:r>
              <a:rPr lang="zh-CN" altLang="en-US"/>
              <a:t>时的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</a:p>
          <a:p>
            <a:pPr algn="just"/>
            <a:r>
              <a:rPr lang="en-US" altLang="zh-CN"/>
              <a:t>        (2)ROC </a:t>
            </a:r>
            <a:r>
              <a:rPr lang="zh-CN" altLang="en-US"/>
              <a:t>为</a:t>
            </a:r>
            <a:r>
              <a:rPr lang="en-US" altLang="zh-CN"/>
              <a:t>|</a:t>
            </a:r>
            <a:r>
              <a:rPr lang="en-US" altLang="zh-CN" i="1"/>
              <a:t>z</a:t>
            </a:r>
            <a:r>
              <a:rPr lang="en-US" altLang="zh-CN"/>
              <a:t>|</a:t>
            </a:r>
            <a:r>
              <a:rPr lang="en-US" altLang="zh-CN">
                <a:latin typeface="Symbol" panose="05050102010706020507" pitchFamily="18" charset="2"/>
              </a:rPr>
              <a:t>&lt;</a:t>
            </a:r>
            <a:r>
              <a:rPr lang="en-US" altLang="zh-CN"/>
              <a:t>|</a:t>
            </a:r>
            <a:r>
              <a:rPr lang="en-US" altLang="zh-CN" i="1"/>
              <a:t>a</a:t>
            </a:r>
            <a:r>
              <a:rPr lang="en-US" altLang="zh-CN"/>
              <a:t>|</a:t>
            </a:r>
            <a:r>
              <a:rPr lang="zh-CN" altLang="en-US"/>
              <a:t>时的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2063751" y="1484314"/>
          <a:ext cx="4538663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7" name="公式" r:id="rId5" imgW="1892160" imgH="393480" progId="Equation.3">
                  <p:embed/>
                </p:oleObj>
              </mc:Choice>
              <mc:Fallback>
                <p:oleObj name="公式" r:id="rId5" imgW="1892160" imgH="393480" progId="Equation.3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484314"/>
                        <a:ext cx="4538663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6780214" y="1403351"/>
          <a:ext cx="2503487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8" name="公式" r:id="rId7" imgW="1041120" imgH="444240" progId="Equation.3">
                  <p:embed/>
                </p:oleObj>
              </mc:Choice>
              <mc:Fallback>
                <p:oleObj name="公式" r:id="rId7" imgW="1041120" imgH="444240" progId="Equation.3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214" y="1403351"/>
                        <a:ext cx="2503487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5267325" y="4221164"/>
          <a:ext cx="2287588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9" name="公式" r:id="rId9" imgW="952200" imgH="482400" progId="Equation.3">
                  <p:embed/>
                </p:oleObj>
              </mc:Choice>
              <mc:Fallback>
                <p:oleObj name="公式" r:id="rId9" imgW="952200" imgH="482400" progId="Equation.3">
                  <p:embed/>
                  <p:pic>
                    <p:nvPicPr>
                      <p:cNvPr id="14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4221164"/>
                        <a:ext cx="2287588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5195888" y="3573463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]=0</a:t>
            </a:r>
          </a:p>
        </p:txBody>
      </p:sp>
      <p:graphicFrame>
        <p:nvGraphicFramePr>
          <p:cNvPr id="14348" name="Object 12"/>
          <p:cNvGraphicFramePr>
            <a:graphicFrameLocks noChangeAspect="1"/>
          </p:cNvGraphicFramePr>
          <p:nvPr/>
        </p:nvGraphicFramePr>
        <p:xfrm>
          <a:off x="7356475" y="4545014"/>
          <a:ext cx="1676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0" name="公式" r:id="rId11" imgW="698400" imgH="241200" progId="Equation.3">
                  <p:embed/>
                </p:oleObj>
              </mc:Choice>
              <mc:Fallback>
                <p:oleObj name="公式" r:id="rId11" imgW="698400" imgH="241200" progId="Equation.3">
                  <p:embed/>
                  <p:pic>
                    <p:nvPicPr>
                      <p:cNvPr id="143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75" y="4545014"/>
                        <a:ext cx="16764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1676400" y="11922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2855914" y="2781300"/>
            <a:ext cx="27590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由于</a:t>
            </a:r>
            <a:r>
              <a:rPr lang="en-US" altLang="zh-CN" dirty="0"/>
              <a:t>ROC</a:t>
            </a:r>
            <a:r>
              <a:rPr lang="zh-CN" altLang="en-US" dirty="0"/>
              <a:t>为</a:t>
            </a:r>
            <a:r>
              <a:rPr lang="en-US" altLang="zh-CN" dirty="0"/>
              <a:t>|</a:t>
            </a:r>
            <a:r>
              <a:rPr lang="en-US" altLang="zh-CN" i="1" dirty="0"/>
              <a:t>z</a:t>
            </a:r>
            <a:r>
              <a:rPr lang="en-US" altLang="zh-CN" dirty="0"/>
              <a:t>|&gt;|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  <a:r>
              <a:rPr lang="zh-CN" altLang="en-US" dirty="0"/>
              <a:t>，所以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521140"/>
              </p:ext>
            </p:extLst>
          </p:nvPr>
        </p:nvGraphicFramePr>
        <p:xfrm>
          <a:off x="5629276" y="2756904"/>
          <a:ext cx="20399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1" name="Equation" r:id="rId13" imgW="952200" imgH="241200" progId="Equation.DSMT4">
                  <p:embed/>
                </p:oleObj>
              </mc:Choice>
              <mc:Fallback>
                <p:oleObj name="Equation" r:id="rId13" imgW="952200" imgH="241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29276" y="2756904"/>
                        <a:ext cx="2039937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981339"/>
              </p:ext>
            </p:extLst>
          </p:nvPr>
        </p:nvGraphicFramePr>
        <p:xfrm>
          <a:off x="3201903" y="3602038"/>
          <a:ext cx="106203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2" name="Equation" r:id="rId15" imgW="495000" imgH="177480" progId="Equation.DSMT4">
                  <p:embed/>
                </p:oleObj>
              </mc:Choice>
              <mc:Fallback>
                <p:oleObj name="Equation" r:id="rId15" imgW="495000" imgH="1774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01903" y="3602038"/>
                        <a:ext cx="1062038" cy="379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341202"/>
              </p:ext>
            </p:extLst>
          </p:nvPr>
        </p:nvGraphicFramePr>
        <p:xfrm>
          <a:off x="3163094" y="4595813"/>
          <a:ext cx="11699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3" name="Equation" r:id="rId17" imgW="545760" imgH="177480" progId="Equation.DSMT4">
                  <p:embed/>
                </p:oleObj>
              </mc:Choice>
              <mc:Fallback>
                <p:oleObj name="Equation" r:id="rId17" imgW="545760" imgH="17748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63094" y="4595813"/>
                        <a:ext cx="1169988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087723"/>
              </p:ext>
            </p:extLst>
          </p:nvPr>
        </p:nvGraphicFramePr>
        <p:xfrm>
          <a:off x="3231982" y="5562768"/>
          <a:ext cx="2422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4" name="Equation" r:id="rId19" imgW="1130040" imgH="215640" progId="Equation.DSMT4">
                  <p:embed/>
                </p:oleObj>
              </mc:Choice>
              <mc:Fallback>
                <p:oleObj name="Equation" r:id="rId19" imgW="1130040" imgH="21564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31982" y="5562768"/>
                        <a:ext cx="2422525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517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135188" y="1341438"/>
          <a:ext cx="3505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7" name="公式" r:id="rId3" imgW="1460160" imgH="393480" progId="Equation.3">
                  <p:embed/>
                </p:oleObj>
              </mc:Choice>
              <mc:Fallback>
                <p:oleObj name="公式" r:id="rId3" imgW="1460160" imgH="393480" progId="Equation.3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341438"/>
                        <a:ext cx="3505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5448300" y="2420938"/>
          <a:ext cx="12461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8" name="公式" r:id="rId5" imgW="520560" imgH="203040" progId="Equation.3">
                  <p:embed/>
                </p:oleObj>
              </mc:Choice>
              <mc:Fallback>
                <p:oleObj name="公式" r:id="rId5" imgW="520560" imgH="203040" progId="Equation.3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2420938"/>
                        <a:ext cx="12461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3657600" y="6119814"/>
          <a:ext cx="377983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9" name="公式" r:id="rId7" imgW="1574640" imgH="228600" progId="Equation.3">
                  <p:embed/>
                </p:oleObj>
              </mc:Choice>
              <mc:Fallback>
                <p:oleObj name="公式" r:id="rId7" imgW="1574640" imgH="228600" progId="Equation.3">
                  <p:embed/>
                  <p:pic>
                    <p:nvPicPr>
                      <p:cNvPr id="102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6119814"/>
                        <a:ext cx="377983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/>
        </p:nvGraphicFramePr>
        <p:xfrm>
          <a:off x="1847851" y="0"/>
          <a:ext cx="37814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0" name="公式" r:id="rId9" imgW="1574640" imgH="419040" progId="Equation.3">
                  <p:embed/>
                </p:oleObj>
              </mc:Choice>
              <mc:Fallback>
                <p:oleObj name="公式" r:id="rId9" imgW="1574640" imgH="419040" progId="Equation.3">
                  <p:embed/>
                  <p:pic>
                    <p:nvPicPr>
                      <p:cNvPr id="102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0"/>
                        <a:ext cx="37814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5916614" y="188914"/>
            <a:ext cx="41751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/>
              <a:t>求：</a:t>
            </a:r>
            <a:r>
              <a:rPr lang="en-US" altLang="zh-CN"/>
              <a:t>(1)ROC</a:t>
            </a:r>
            <a:r>
              <a:rPr lang="zh-CN" altLang="en-US"/>
              <a:t>为</a:t>
            </a:r>
            <a:r>
              <a:rPr lang="en-US" altLang="zh-CN"/>
              <a:t>|</a:t>
            </a:r>
            <a:r>
              <a:rPr lang="en-US" altLang="zh-CN" i="1"/>
              <a:t>z</a:t>
            </a:r>
            <a:r>
              <a:rPr lang="en-US" altLang="zh-CN"/>
              <a:t>|</a:t>
            </a:r>
            <a:r>
              <a:rPr lang="en-US" altLang="zh-CN">
                <a:latin typeface="Symbol" panose="05050102010706020507" pitchFamily="18" charset="2"/>
              </a:rPr>
              <a:t>&gt;</a:t>
            </a:r>
            <a:r>
              <a:rPr lang="en-US" altLang="zh-CN"/>
              <a:t>|</a:t>
            </a:r>
            <a:r>
              <a:rPr lang="en-US" altLang="zh-CN" i="1"/>
              <a:t>a</a:t>
            </a:r>
            <a:r>
              <a:rPr lang="en-US" altLang="zh-CN"/>
              <a:t>|</a:t>
            </a:r>
            <a:r>
              <a:rPr lang="zh-CN" altLang="en-US"/>
              <a:t>时的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</a:p>
          <a:p>
            <a:pPr algn="just"/>
            <a:r>
              <a:rPr lang="en-US" altLang="zh-CN"/>
              <a:t>        (2)ROC </a:t>
            </a:r>
            <a:r>
              <a:rPr lang="zh-CN" altLang="en-US"/>
              <a:t>为</a:t>
            </a:r>
            <a:r>
              <a:rPr lang="en-US" altLang="zh-CN"/>
              <a:t>|</a:t>
            </a:r>
            <a:r>
              <a:rPr lang="en-US" altLang="zh-CN" i="1"/>
              <a:t>z</a:t>
            </a:r>
            <a:r>
              <a:rPr lang="en-US" altLang="zh-CN"/>
              <a:t>|</a:t>
            </a:r>
            <a:r>
              <a:rPr lang="en-US" altLang="zh-CN">
                <a:latin typeface="Symbol" panose="05050102010706020507" pitchFamily="18" charset="2"/>
              </a:rPr>
              <a:t>&lt;</a:t>
            </a:r>
            <a:r>
              <a:rPr lang="en-US" altLang="zh-CN"/>
              <a:t>|</a:t>
            </a:r>
            <a:r>
              <a:rPr lang="en-US" altLang="zh-CN" i="1"/>
              <a:t>a</a:t>
            </a:r>
            <a:r>
              <a:rPr lang="en-US" altLang="zh-CN"/>
              <a:t>|</a:t>
            </a:r>
            <a:r>
              <a:rPr lang="zh-CN" altLang="en-US"/>
              <a:t>时的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1676400" y="11922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6167439" y="1592263"/>
            <a:ext cx="27590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由于</a:t>
            </a:r>
            <a:r>
              <a:rPr lang="en-US" altLang="zh-CN"/>
              <a:t>ROC</a:t>
            </a:r>
            <a:r>
              <a:rPr lang="zh-CN" altLang="en-US"/>
              <a:t>为</a:t>
            </a:r>
            <a:r>
              <a:rPr lang="en-US" altLang="zh-CN"/>
              <a:t>|</a:t>
            </a:r>
            <a:r>
              <a:rPr lang="en-US" altLang="zh-CN" i="1"/>
              <a:t>z</a:t>
            </a:r>
            <a:r>
              <a:rPr lang="en-US" altLang="zh-CN"/>
              <a:t>|&lt;|</a:t>
            </a:r>
            <a:r>
              <a:rPr lang="en-US" altLang="zh-CN" i="1"/>
              <a:t>a</a:t>
            </a:r>
            <a:r>
              <a:rPr lang="en-US" altLang="zh-CN"/>
              <a:t>|</a:t>
            </a:r>
            <a:r>
              <a:rPr lang="zh-CN" altLang="en-US"/>
              <a:t>，所以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305396"/>
              </p:ext>
            </p:extLst>
          </p:nvPr>
        </p:nvGraphicFramePr>
        <p:xfrm>
          <a:off x="2977314" y="2429668"/>
          <a:ext cx="11699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1" name="Equation" r:id="rId11" imgW="545760" imgH="177480" progId="Equation.DSMT4">
                  <p:embed/>
                </p:oleObj>
              </mc:Choice>
              <mc:Fallback>
                <p:oleObj name="Equation" r:id="rId11" imgW="545760" imgH="17748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77314" y="2429668"/>
                        <a:ext cx="1169988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530426"/>
              </p:ext>
            </p:extLst>
          </p:nvPr>
        </p:nvGraphicFramePr>
        <p:xfrm>
          <a:off x="3031289" y="3108994"/>
          <a:ext cx="106203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" name="Equation" r:id="rId13" imgW="495000" imgH="177480" progId="Equation.DSMT4">
                  <p:embed/>
                </p:oleObj>
              </mc:Choice>
              <mc:Fallback>
                <p:oleObj name="Equation" r:id="rId13" imgW="495000" imgH="17748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31289" y="3108994"/>
                        <a:ext cx="1062038" cy="379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2820"/>
              </p:ext>
            </p:extLst>
          </p:nvPr>
        </p:nvGraphicFramePr>
        <p:xfrm>
          <a:off x="1548641" y="3907397"/>
          <a:ext cx="7624763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3" name="Equation" r:id="rId15" imgW="3555720" imgH="723600" progId="Equation.DSMT4">
                  <p:embed/>
                </p:oleObj>
              </mc:Choice>
              <mc:Fallback>
                <p:oleObj name="Equation" r:id="rId15" imgW="3555720" imgH="72360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48641" y="3907397"/>
                        <a:ext cx="7624763" cy="154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701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222</Words>
  <Application>Microsoft Office PowerPoint</Application>
  <PresentationFormat>宽屏</PresentationFormat>
  <Paragraphs>39</Paragraphs>
  <Slides>11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等线</vt:lpstr>
      <vt:lpstr>隶书</vt:lpstr>
      <vt:lpstr>宋体</vt:lpstr>
      <vt:lpstr>Comic Sans MS</vt:lpstr>
      <vt:lpstr>Symbol</vt:lpstr>
      <vt:lpstr>Times New Roman</vt:lpstr>
      <vt:lpstr>Wingdings</vt:lpstr>
      <vt:lpstr>icfp99</vt:lpstr>
      <vt:lpstr>Equation</vt:lpstr>
      <vt:lpstr>公式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部分分式展开法</vt:lpstr>
      <vt:lpstr>PowerPoint 演示文稿</vt:lpstr>
      <vt:lpstr>例题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离散时间系统的变换域分析——Z变换</dc:title>
  <dc:creator>Administrator</dc:creator>
  <cp:lastModifiedBy>CHAO WU</cp:lastModifiedBy>
  <cp:revision>68</cp:revision>
  <dcterms:created xsi:type="dcterms:W3CDTF">2020-08-06T07:26:29Z</dcterms:created>
  <dcterms:modified xsi:type="dcterms:W3CDTF">2023-10-12T10:20:55Z</dcterms:modified>
</cp:coreProperties>
</file>