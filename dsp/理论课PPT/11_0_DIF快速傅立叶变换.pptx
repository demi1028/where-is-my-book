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95" r:id="rId2"/>
    <p:sldId id="296" r:id="rId3"/>
    <p:sldId id="297" r:id="rId4"/>
    <p:sldId id="277" r:id="rId5"/>
    <p:sldId id="278" r:id="rId6"/>
    <p:sldId id="304" r:id="rId7"/>
    <p:sldId id="298" r:id="rId8"/>
    <p:sldId id="299" r:id="rId9"/>
    <p:sldId id="300" r:id="rId10"/>
    <p:sldId id="301" r:id="rId11"/>
    <p:sldId id="302" r:id="rId12"/>
    <p:sldId id="303" r:id="rId13"/>
    <p:sldId id="270" r:id="rId14"/>
    <p:sldId id="271" r:id="rId15"/>
    <p:sldId id="272" r:id="rId16"/>
    <p:sldId id="273" r:id="rId17"/>
    <p:sldId id="274" r:id="rId18"/>
    <p:sldId id="275" r:id="rId19"/>
    <p:sldId id="280" r:id="rId20"/>
    <p:sldId id="276" r:id="rId21"/>
    <p:sldId id="293" r:id="rId22"/>
    <p:sldId id="294" r:id="rId23"/>
    <p:sldId id="292" r:id="rId24"/>
    <p:sldId id="281" r:id="rId25"/>
    <p:sldId id="305" r:id="rId26"/>
    <p:sldId id="306" r:id="rId27"/>
    <p:sldId id="307" r:id="rId28"/>
    <p:sldId id="308" r:id="rId29"/>
    <p:sldId id="287" r:id="rId30"/>
    <p:sldId id="288"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304" y="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0.wmf"/><Relationship Id="rId7" Type="http://schemas.openxmlformats.org/officeDocument/2006/relationships/image" Target="../media/image14.e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A2064D-F15F-4CF1-904E-4DE66A21A36E}" type="datetimeFigureOut">
              <a:rPr lang="zh-CN" altLang="en-US" smtClean="0"/>
              <a:t>2022/11/6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68F6D-5E80-4552-8D71-F9EDCC2057AA}" type="slidenum">
              <a:rPr lang="zh-CN" altLang="en-US" smtClean="0"/>
              <a:t>‹#›</a:t>
            </a:fld>
            <a:endParaRPr lang="zh-CN" altLang="en-US"/>
          </a:p>
        </p:txBody>
      </p:sp>
    </p:spTree>
    <p:extLst>
      <p:ext uri="{BB962C8B-B14F-4D97-AF65-F5344CB8AC3E}">
        <p14:creationId xmlns:p14="http://schemas.microsoft.com/office/powerpoint/2010/main" val="2229870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smtClean="0"/>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8799D9AA-3580-411E-BAF4-C34818F8FEA3}" type="slidenum">
              <a:rPr lang="zh-CN" altLang="en-US" sz="1200">
                <a:solidFill>
                  <a:srgbClr val="000000"/>
                </a:solidFill>
                <a:latin typeface="等线" panose="02010600030101010101" pitchFamily="2" charset="-122"/>
                <a:ea typeface="等线" panose="02010600030101010101" pitchFamily="2" charset="-122"/>
              </a:rPr>
              <a:pPr/>
              <a:t>1</a:t>
            </a:fld>
            <a:endParaRPr lang="zh-CN" altLang="en-US" sz="1200">
              <a:solidFill>
                <a:srgbClr val="00000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145925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b="1" smtClean="0">
              <a:latin typeface="微软雅黑" panose="020B0503020204020204" pitchFamily="34" charset="-122"/>
              <a:ea typeface="微软雅黑" panose="020B0503020204020204" pitchFamily="34" charset="-122"/>
            </a:endParaRPr>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D2E08E4-B8BF-4D3A-9C4F-54A4CEC7D2F3}" type="slidenum">
              <a:rPr kumimoji="0" lang="zh-CN" altLang="en-US" sz="1200">
                <a:solidFill>
                  <a:srgbClr val="000000"/>
                </a:solidFill>
                <a:latin typeface="Calibri" panose="020F0502020204030204" pitchFamily="34" charset="0"/>
              </a:rPr>
              <a:pPr eaLnBrk="1" hangingPunct="1"/>
              <a:t>2</a:t>
            </a:fld>
            <a:endParaRPr kumimoji="0" lang="zh-CN"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2301250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162465-FF09-4ED7-A326-0680947508FA}" type="slidenum">
              <a:rPr lang="zh-CN" altLang="en-US" smtClean="0"/>
              <a:t>6</a:t>
            </a:fld>
            <a:endParaRPr lang="zh-CN" altLang="en-US"/>
          </a:p>
        </p:txBody>
      </p:sp>
    </p:spTree>
    <p:extLst>
      <p:ext uri="{BB962C8B-B14F-4D97-AF65-F5344CB8AC3E}">
        <p14:creationId xmlns:p14="http://schemas.microsoft.com/office/powerpoint/2010/main" val="17772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0508E9A-2D1C-4BA3-B781-E3C07CEC8957}"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New Roman" panose="02020603050405020304" pitchFamily="18" charset="0"/>
            </a:endParaRPr>
          </a:p>
        </p:txBody>
      </p:sp>
    </p:spTree>
    <p:extLst>
      <p:ext uri="{BB962C8B-B14F-4D97-AF65-F5344CB8AC3E}">
        <p14:creationId xmlns:p14="http://schemas.microsoft.com/office/powerpoint/2010/main" val="2889136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098" name="Rectangle 1026"/>
          <p:cNvSpPr>
            <a:spLocks noGrp="1" noChangeArrowheads="1"/>
          </p:cNvSpPr>
          <p:nvPr>
            <p:ph type="ctrTitle"/>
          </p:nvPr>
        </p:nvSpPr>
        <p:spPr>
          <a:xfrm>
            <a:off x="914400" y="2286000"/>
            <a:ext cx="10363200" cy="1143000"/>
          </a:xfrm>
        </p:spPr>
        <p:txBody>
          <a:bodyPr/>
          <a:lstStyle>
            <a:lvl1pPr algn="ctr">
              <a:defRPr/>
            </a:lvl1pPr>
          </a:lstStyle>
          <a:p>
            <a:r>
              <a:rPr lang="en-US" altLang="zh-CN"/>
              <a:t>Click to edit Master title style</a:t>
            </a:r>
          </a:p>
        </p:txBody>
      </p:sp>
      <p:sp>
        <p:nvSpPr>
          <p:cNvPr id="4099" name="Rectangle 1027"/>
          <p:cNvSpPr>
            <a:spLocks noGrp="1" noChangeArrowheads="1"/>
          </p:cNvSpPr>
          <p:nvPr>
            <p:ph type="subTitle" idx="1"/>
          </p:nvPr>
        </p:nvSpPr>
        <p:spPr>
          <a:xfrm>
            <a:off x="1828800" y="3886200"/>
            <a:ext cx="8534400" cy="1752600"/>
          </a:xfrm>
        </p:spPr>
        <p:txBody>
          <a:bodyPr/>
          <a:lstStyle>
            <a:lvl1pPr marL="0" indent="0" algn="ctr">
              <a:buFontTx/>
              <a:buNone/>
              <a:defRPr/>
            </a:lvl1pPr>
          </a:lstStyle>
          <a:p>
            <a:r>
              <a:rPr lang="en-US" altLang="zh-CN"/>
              <a:t>Click to edit Master subtitle style</a:t>
            </a:r>
          </a:p>
        </p:txBody>
      </p:sp>
      <p:sp>
        <p:nvSpPr>
          <p:cNvPr id="4" name="Rectangle 1028"/>
          <p:cNvSpPr>
            <a:spLocks noGrp="1" noChangeArrowheads="1"/>
          </p:cNvSpPr>
          <p:nvPr>
            <p:ph type="dt" sz="half" idx="10"/>
          </p:nvPr>
        </p:nvSpPr>
        <p:spPr>
          <a:xfrm>
            <a:off x="711200" y="6248400"/>
            <a:ext cx="2540000" cy="457200"/>
          </a:xfrm>
        </p:spPr>
        <p:txBody>
          <a:bodyPr/>
          <a:lstStyle>
            <a:lvl1pPr>
              <a:defRPr/>
            </a:lvl1pPr>
          </a:lstStyle>
          <a:p>
            <a:pPr eaLnBrk="0" fontAlgn="base" hangingPunct="0">
              <a:spcBef>
                <a:spcPct val="0"/>
              </a:spcBef>
              <a:spcAft>
                <a:spcPct val="0"/>
              </a:spcAft>
              <a:defRPr/>
            </a:pPr>
            <a:fld id="{9EB89419-C344-40C6-B4AF-B64360F5EC64}"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5" name="Rectangle 1029"/>
          <p:cNvSpPr>
            <a:spLocks noGrp="1" noChangeArrowheads="1"/>
          </p:cNvSpPr>
          <p:nvPr>
            <p:ph type="ftr" sz="quarter" idx="11"/>
          </p:nvPr>
        </p:nvSpPr>
        <p:spPr>
          <a:xfrm>
            <a:off x="3352800" y="6248400"/>
            <a:ext cx="5486400" cy="457200"/>
          </a:xfrm>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1030"/>
          <p:cNvSpPr>
            <a:spLocks noGrp="1" noChangeArrowheads="1"/>
          </p:cNvSpPr>
          <p:nvPr>
            <p:ph type="sldNum" sz="quarter" idx="12"/>
          </p:nvPr>
        </p:nvSpPr>
        <p:spPr>
          <a:xfrm>
            <a:off x="8940800" y="6248400"/>
            <a:ext cx="2540000" cy="457200"/>
          </a:xfrm>
        </p:spPr>
        <p:txBody>
          <a:bodyPr/>
          <a:lstStyle>
            <a:lvl1pPr>
              <a:defRPr/>
            </a:lvl1pPr>
          </a:lstStyle>
          <a:p>
            <a:pPr eaLnBrk="0" fontAlgn="base" hangingPunct="0">
              <a:spcBef>
                <a:spcPct val="0"/>
              </a:spcBef>
              <a:spcAft>
                <a:spcPct val="0"/>
              </a:spcAft>
            </a:pPr>
            <a:fld id="{AD0EC15D-9C77-4188-80FD-534CB4D62597}"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2049730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图片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5167" y="165100"/>
            <a:ext cx="1405467"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fld id="{61009DD4-B744-4A5A-9BCF-2BE1219C8786}"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pPr>
            <a:fld id="{8E25163F-56F0-4728-A241-57C30AA276FE}"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928546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ADB5375B-8E09-4DD8-A950-D279B55D1AF6}"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684607E7-4DB9-45E5-BF73-16A5A03CEE1A}"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2801711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35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48400" y="1600200"/>
            <a:ext cx="54356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FEA3D01B-CED5-4F8A-B6C8-7E3E79320ED9}"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BD40AEE6-7319-4B5B-93D0-3548900E185A}"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533021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ED440ECF-C06C-4365-A82F-7FCF58AB175D}"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E1916CC5-3ED3-4E00-85B5-005DC67C0A92}"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3586740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D1AF378D-529B-499C-888D-96616A7FD7B3}"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247B3999-57F6-416E-A1A2-5253D300C464}"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153132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09C2F7E0-74B7-4DF6-835D-211E54381D8A}"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8E688483-54E8-444F-A583-0A553B1CE948}"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4067106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1221B5CF-6445-489A-A45C-4EC7F4623F90}"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D1114EFF-8E6F-4E42-8213-F37E8D3AB8CE}"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230957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34BE24FC-2A45-4A55-B139-5F9494B1CB54}"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D8908285-CA4E-423B-8642-8726C1B3382C}"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3436032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61BEAA45-778A-4741-845A-F018261E7A96}"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413AA134-3FB7-4864-BDD9-113D7FC3B5CA}"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3409698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15400" y="457200"/>
            <a:ext cx="2768600" cy="5562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457200"/>
            <a:ext cx="8102600" cy="55626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0BDC5DBC-5A12-4956-B0A7-3CBFEBC2F06C}"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FF6064C9-616C-418B-B0ED-83E8E1DAAE91}"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3694436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769600" cy="914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600200"/>
            <a:ext cx="5435600" cy="4419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48400" y="1600200"/>
            <a:ext cx="5435600" cy="4419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fld id="{F603FB61-C213-45FB-A763-B77CDEFEA231}"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pPr>
            <a:fld id="{BCD01B68-6309-4BDA-8324-A2F95C8B9363}"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182615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457200"/>
            <a:ext cx="1076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
        <p:nvSpPr>
          <p:cNvPr id="1027" name="Rectangle 3"/>
          <p:cNvSpPr>
            <a:spLocks noGrp="1" noChangeArrowheads="1"/>
          </p:cNvSpPr>
          <p:nvPr>
            <p:ph type="body" idx="1"/>
          </p:nvPr>
        </p:nvSpPr>
        <p:spPr bwMode="auto">
          <a:xfrm>
            <a:off x="609600" y="1600200"/>
            <a:ext cx="11074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3076" name="Rectangle 4"/>
          <p:cNvSpPr>
            <a:spLocks noGrp="1" noChangeArrowheads="1"/>
          </p:cNvSpPr>
          <p:nvPr>
            <p:ph type="dt" sz="half" idx="2"/>
          </p:nvPr>
        </p:nvSpPr>
        <p:spPr bwMode="auto">
          <a:xfrm>
            <a:off x="1117600" y="6172200"/>
            <a:ext cx="2032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Times New Roman" charset="0"/>
                <a:ea typeface="宋体" panose="02010600030101010101" pitchFamily="2" charset="-122"/>
              </a:defRPr>
            </a:lvl1pPr>
          </a:lstStyle>
          <a:p>
            <a:pPr eaLnBrk="0" fontAlgn="base" hangingPunct="0">
              <a:spcBef>
                <a:spcPct val="0"/>
              </a:spcBef>
              <a:spcAft>
                <a:spcPct val="0"/>
              </a:spcAft>
              <a:defRPr/>
            </a:pPr>
            <a:fld id="{05F930D0-305E-4488-9A18-18976C29D3CE}" type="datetime1">
              <a:rPr lang="zh-CN" altLang="en-US" smtClean="0">
                <a:solidFill>
                  <a:srgbClr val="000000"/>
                </a:solidFill>
              </a:rPr>
              <a:pPr eaLnBrk="0" fontAlgn="base" hangingPunct="0">
                <a:spcBef>
                  <a:spcPct val="0"/>
                </a:spcBef>
                <a:spcAft>
                  <a:spcPct val="0"/>
                </a:spcAft>
                <a:defRPr/>
              </a:pPr>
              <a:t>2022/11/6</a:t>
            </a:fld>
            <a:endParaRPr lang="en-US" altLang="zh-CN">
              <a:solidFill>
                <a:srgbClr val="000000"/>
              </a:solidFill>
            </a:endParaRPr>
          </a:p>
        </p:txBody>
      </p:sp>
      <p:sp>
        <p:nvSpPr>
          <p:cNvPr id="3077" name="Rectangle 5"/>
          <p:cNvSpPr>
            <a:spLocks noGrp="1" noChangeArrowheads="1"/>
          </p:cNvSpPr>
          <p:nvPr>
            <p:ph type="ftr" sz="quarter" idx="3"/>
          </p:nvPr>
        </p:nvSpPr>
        <p:spPr bwMode="auto">
          <a:xfrm>
            <a:off x="3454400" y="61722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Times New Roman" charset="0"/>
                <a:ea typeface="宋体" panose="02010600030101010101" pitchFamily="2" charset="-122"/>
              </a:defRPr>
            </a:lvl1pPr>
          </a:lstStyle>
          <a:p>
            <a:pPr eaLnBrk="0" fontAlgn="base" hangingPunct="0">
              <a:spcBef>
                <a:spcPct val="0"/>
              </a:spcBef>
              <a:spcAft>
                <a:spcPct val="0"/>
              </a:spcAft>
              <a:defRPr/>
            </a:pPr>
            <a:r>
              <a:rPr lang="zh-CN" altLang="en-US" smtClean="0">
                <a:solidFill>
                  <a:srgbClr val="000000"/>
                </a:solidFill>
              </a:rPr>
              <a:t>Compilers Autumn 2002</a:t>
            </a:r>
            <a:endParaRPr lang="en-US" altLang="zh-CN">
              <a:solidFill>
                <a:srgbClr val="000000"/>
              </a:solidFill>
            </a:endParaRPr>
          </a:p>
        </p:txBody>
      </p:sp>
      <p:sp>
        <p:nvSpPr>
          <p:cNvPr id="3078" name="Rectangle 6"/>
          <p:cNvSpPr>
            <a:spLocks noGrp="1" noChangeArrowheads="1"/>
          </p:cNvSpPr>
          <p:nvPr>
            <p:ph type="sldNum" sz="quarter" idx="4"/>
          </p:nvPr>
        </p:nvSpPr>
        <p:spPr bwMode="auto">
          <a:xfrm>
            <a:off x="9245600" y="6172200"/>
            <a:ext cx="1727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pPr eaLnBrk="0" fontAlgn="base" hangingPunct="0">
              <a:spcBef>
                <a:spcPct val="0"/>
              </a:spcBef>
              <a:spcAft>
                <a:spcPct val="0"/>
              </a:spcAft>
            </a:pPr>
            <a:fld id="{84FF258E-67CD-4D95-B960-4634DDA92658}" type="slidenum">
              <a:rPr lang="zh-CN" altLang="en-US" smtClean="0">
                <a:solidFill>
                  <a:srgbClr val="000000"/>
                </a:solidFill>
                <a:ea typeface="宋体" panose="02010600030101010101" pitchFamily="2" charset="-122"/>
              </a:rPr>
              <a:pPr eaLnBrk="0" fontAlgn="base" hangingPunct="0">
                <a:spcBef>
                  <a:spcPct val="0"/>
                </a:spcBef>
                <a:spcAft>
                  <a:spcPct val="0"/>
                </a:spcAft>
              </a:pPr>
              <a:t>‹#›</a:t>
            </a:fld>
            <a:endParaRPr lang="en-US" altLang="zh-CN">
              <a:solidFill>
                <a:srgbClr val="000000"/>
              </a:solidFill>
              <a:ea typeface="宋体" panose="02010600030101010101" pitchFamily="2" charset="-122"/>
            </a:endParaRPr>
          </a:p>
        </p:txBody>
      </p:sp>
      <p:sp>
        <p:nvSpPr>
          <p:cNvPr id="1031" name="Line 7"/>
          <p:cNvSpPr>
            <a:spLocks noChangeShapeType="1"/>
          </p:cNvSpPr>
          <p:nvPr/>
        </p:nvSpPr>
        <p:spPr bwMode="auto">
          <a:xfrm>
            <a:off x="609600" y="1371600"/>
            <a:ext cx="107696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smtClean="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spTree>
    <p:extLst>
      <p:ext uri="{BB962C8B-B14F-4D97-AF65-F5344CB8AC3E}">
        <p14:creationId xmlns:p14="http://schemas.microsoft.com/office/powerpoint/2010/main" val="16358723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8.bin"/><Relationship Id="rId18" Type="http://schemas.openxmlformats.org/officeDocument/2006/relationships/image" Target="../media/image15.e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12.emf"/><Relationship Id="rId17" Type="http://schemas.openxmlformats.org/officeDocument/2006/relationships/oleObject" Target="../embeddings/oleObject10.bin"/><Relationship Id="rId2" Type="http://schemas.openxmlformats.org/officeDocument/2006/relationships/slideLayout" Target="../slideLayouts/slideLayout7.xml"/><Relationship Id="rId16" Type="http://schemas.openxmlformats.org/officeDocument/2006/relationships/image" Target="../media/image14.emf"/><Relationship Id="rId1" Type="http://schemas.openxmlformats.org/officeDocument/2006/relationships/vmlDrawing" Target="../drawings/vmlDrawing2.vml"/><Relationship Id="rId6" Type="http://schemas.openxmlformats.org/officeDocument/2006/relationships/image" Target="../media/image9.wmf"/><Relationship Id="rId11" Type="http://schemas.openxmlformats.org/officeDocument/2006/relationships/oleObject" Target="../embeddings/oleObject7.bin"/><Relationship Id="rId5" Type="http://schemas.openxmlformats.org/officeDocument/2006/relationships/oleObject" Target="../embeddings/oleObject4.bin"/><Relationship Id="rId15" Type="http://schemas.openxmlformats.org/officeDocument/2006/relationships/oleObject" Target="../embeddings/oleObject9.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6.bin"/><Relationship Id="rId14" Type="http://schemas.openxmlformats.org/officeDocument/2006/relationships/image" Target="../media/image13.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vmlDrawing" Target="../drawings/vmlDrawing3.vml"/><Relationship Id="rId4" Type="http://schemas.openxmlformats.org/officeDocument/2006/relationships/image" Target="../media/image16.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8.jpeg"/><Relationship Id="rId5" Type="http://schemas.openxmlformats.org/officeDocument/2006/relationships/image" Target="../media/image17.wmf"/><Relationship Id="rId4"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1.wmf"/></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4.wmf"/><Relationship Id="rId5" Type="http://schemas.openxmlformats.org/officeDocument/2006/relationships/oleObject" Target="../embeddings/oleObject15.bin"/><Relationship Id="rId4" Type="http://schemas.openxmlformats.org/officeDocument/2006/relationships/image" Target="../media/image23.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6.wmf"/><Relationship Id="rId5" Type="http://schemas.openxmlformats.org/officeDocument/2006/relationships/oleObject" Target="../embeddings/oleObject17.bin"/><Relationship Id="rId4" Type="http://schemas.openxmlformats.org/officeDocument/2006/relationships/image" Target="../media/image25.wmf"/></Relationships>
</file>

<file path=ppt/slides/_rels/slide14.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8.wmf"/><Relationship Id="rId5" Type="http://schemas.openxmlformats.org/officeDocument/2006/relationships/oleObject" Target="../embeddings/oleObject19.bin"/><Relationship Id="rId4" Type="http://schemas.openxmlformats.org/officeDocument/2006/relationships/image" Target="../media/image27.wmf"/><Relationship Id="rId9" Type="http://schemas.openxmlformats.org/officeDocument/2006/relationships/oleObject" Target="../embeddings/oleObject21.bin"/></Relationships>
</file>

<file path=ppt/slides/_rels/slide15.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30.jpeg"/><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7.wmf"/><Relationship Id="rId5" Type="http://schemas.openxmlformats.org/officeDocument/2006/relationships/oleObject" Target="../embeddings/oleObject22.bin"/><Relationship Id="rId4" Type="http://schemas.openxmlformats.org/officeDocument/2006/relationships/image" Target="../media/image31.jpeg"/></Relationships>
</file>

<file path=ppt/slides/_rels/slide1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notesSlide" Target="../notesSlides/notesSlide4.xml"/><Relationship Id="rId7" Type="http://schemas.openxmlformats.org/officeDocument/2006/relationships/image" Target="../media/image36.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24.bin"/><Relationship Id="rId5" Type="http://schemas.openxmlformats.org/officeDocument/2006/relationships/image" Target="../media/image35.wmf"/><Relationship Id="rId4" Type="http://schemas.openxmlformats.org/officeDocument/2006/relationships/oleObject" Target="../embeddings/oleObject23.bin"/><Relationship Id="rId9" Type="http://schemas.openxmlformats.org/officeDocument/2006/relationships/image" Target="../media/image37.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7.bin"/><Relationship Id="rId5" Type="http://schemas.openxmlformats.org/officeDocument/2006/relationships/image" Target="../media/image40.jpeg"/><Relationship Id="rId4" Type="http://schemas.openxmlformats.org/officeDocument/2006/relationships/image" Target="../media/image38.wmf"/></Relationships>
</file>

<file path=ppt/slides/_rels/slide23.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42.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oleObject" Target="../embeddings/oleObject29.bin"/><Relationship Id="rId7" Type="http://schemas.openxmlformats.org/officeDocument/2006/relationships/image" Target="../media/image45.png"/><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4.wmf"/><Relationship Id="rId5" Type="http://schemas.openxmlformats.org/officeDocument/2006/relationships/oleObject" Target="../embeddings/oleObject30.bin"/><Relationship Id="rId4" Type="http://schemas.openxmlformats.org/officeDocument/2006/relationships/image" Target="../media/image43.wmf"/></Relationships>
</file>

<file path=ppt/slides/_rels/slide29.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8.wmf"/><Relationship Id="rId5" Type="http://schemas.openxmlformats.org/officeDocument/2006/relationships/oleObject" Target="../embeddings/oleObject32.bin"/><Relationship Id="rId4" Type="http://schemas.openxmlformats.org/officeDocument/2006/relationships/image" Target="../media/image47.wmf"/></Relationships>
</file>

<file path=ppt/slides/_rels/slide3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7"/>
          <p:cNvSpPr>
            <a:spLocks noGrp="1"/>
          </p:cNvSpPr>
          <p:nvPr>
            <p:ph type="title"/>
            <p:custDataLst>
              <p:tags r:id="rId2"/>
            </p:custDataLst>
          </p:nvPr>
        </p:nvSpPr>
        <p:spPr>
          <a:xfrm>
            <a:off x="4943476" y="2413000"/>
            <a:ext cx="4754563" cy="1390650"/>
          </a:xfrm>
        </p:spPr>
        <p:txBody>
          <a:bodyPr anchor="ctr"/>
          <a:lstStyle/>
          <a:p>
            <a:pPr>
              <a:lnSpc>
                <a:spcPct val="120000"/>
              </a:lnSpc>
            </a:pPr>
            <a:r>
              <a:rPr lang="en-US" altLang="zh-CN" sz="3000" dirty="0" smtClean="0">
                <a:solidFill>
                  <a:srgbClr val="234777"/>
                </a:solidFill>
                <a:latin typeface="微软雅黑" panose="020B0503020204020204" pitchFamily="34" charset="-122"/>
                <a:ea typeface="微软雅黑" panose="020B0503020204020204" pitchFamily="34" charset="-122"/>
              </a:rPr>
              <a:t>FFT</a:t>
            </a:r>
            <a:endParaRPr lang="zh-CN" altLang="en-US" sz="3000" dirty="0">
              <a:solidFill>
                <a:srgbClr val="234777"/>
              </a:solidFill>
              <a:latin typeface="微软雅黑" panose="020B0503020204020204" pitchFamily="34" charset="-122"/>
              <a:ea typeface="微软雅黑" panose="020B0503020204020204" pitchFamily="34" charset="-122"/>
            </a:endParaRPr>
          </a:p>
        </p:txBody>
      </p:sp>
      <p:pic>
        <p:nvPicPr>
          <p:cNvPr id="3075" name="图片 1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80488" y="1157288"/>
            <a:ext cx="14351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6" name="组合 9"/>
          <p:cNvGrpSpPr>
            <a:grpSpLocks noChangeAspect="1"/>
          </p:cNvGrpSpPr>
          <p:nvPr/>
        </p:nvGrpSpPr>
        <p:grpSpPr bwMode="auto">
          <a:xfrm>
            <a:off x="2114550" y="2501900"/>
            <a:ext cx="2147888" cy="1212850"/>
            <a:chOff x="3367821" y="2336603"/>
            <a:chExt cx="3846124" cy="2172237"/>
          </a:xfrm>
        </p:grpSpPr>
        <p:pic>
          <p:nvPicPr>
            <p:cNvPr id="3081" name="图片 13"/>
            <p:cNvPicPr>
              <a:picLocks noChangeAspect="1"/>
            </p:cNvPicPr>
            <p:nvPr/>
          </p:nvPicPr>
          <p:blipFill>
            <a:blip r:embed="rId6">
              <a:extLst>
                <a:ext uri="{28A0092B-C50C-407E-A947-70E740481C1C}">
                  <a14:useLocalDpi xmlns:a14="http://schemas.microsoft.com/office/drawing/2010/main" val="0"/>
                </a:ext>
              </a:extLst>
            </a:blip>
            <a:srcRect r="7001"/>
            <a:stretch>
              <a:fillRect/>
            </a:stretch>
          </p:blipFill>
          <p:spPr bwMode="auto">
            <a:xfrm>
              <a:off x="3367821" y="2337641"/>
              <a:ext cx="3846124" cy="217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2" name="图片 15"/>
            <p:cNvPicPr>
              <a:picLocks noChangeAspect="1"/>
            </p:cNvPicPr>
            <p:nvPr/>
          </p:nvPicPr>
          <p:blipFill>
            <a:blip r:embed="rId7" cstate="print">
              <a:extLst>
                <a:ext uri="{28A0092B-C50C-407E-A947-70E740481C1C}">
                  <a14:useLocalDpi xmlns:a14="http://schemas.microsoft.com/office/drawing/2010/main" val="0"/>
                </a:ext>
              </a:extLst>
            </a:blip>
            <a:srcRect l="67587" t="-273" r="15178" b="91664"/>
            <a:stretch>
              <a:fillRect/>
            </a:stretch>
          </p:blipFill>
          <p:spPr bwMode="auto">
            <a:xfrm>
              <a:off x="4279348" y="2336603"/>
              <a:ext cx="712760" cy="176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77" name="组合 5"/>
          <p:cNvGrpSpPr>
            <a:grpSpLocks/>
          </p:cNvGrpSpPr>
          <p:nvPr/>
        </p:nvGrpSpPr>
        <p:grpSpPr bwMode="auto">
          <a:xfrm>
            <a:off x="3776663" y="3184525"/>
            <a:ext cx="735012" cy="679450"/>
            <a:chOff x="4480943" y="4021832"/>
            <a:chExt cx="1035157" cy="1038683"/>
          </a:xfrm>
        </p:grpSpPr>
        <p:sp>
          <p:nvSpPr>
            <p:cNvPr id="11" name="矩形 10">
              <a:extLst>
                <a:ext uri="{FF2B5EF4-FFF2-40B4-BE49-F238E27FC236}">
                  <a16:creationId xmlns:a16="http://schemas.microsoft.com/office/drawing/2014/main" id="{9202CC45-2CC5-4C2F-A9D1-3ED274598467}"/>
                </a:ext>
              </a:extLst>
            </p:cNvPr>
            <p:cNvSpPr/>
            <p:nvPr/>
          </p:nvSpPr>
          <p:spPr>
            <a:xfrm>
              <a:off x="4480943" y="4021832"/>
              <a:ext cx="981499" cy="1038683"/>
            </a:xfrm>
            <a:prstGeom prst="rect">
              <a:avLst/>
            </a:prstGeom>
            <a:solidFill>
              <a:srgbClr val="23477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3080" name="文本框 1"/>
            <p:cNvSpPr txBox="1">
              <a:spLocks noChangeArrowheads="1"/>
            </p:cNvSpPr>
            <p:nvPr/>
          </p:nvSpPr>
          <p:spPr bwMode="auto">
            <a:xfrm>
              <a:off x="4511091" y="4218009"/>
              <a:ext cx="1005009" cy="635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a:r>
                <a:rPr lang="en-US" altLang="zh-CN" sz="2100" b="1" dirty="0" smtClean="0">
                  <a:solidFill>
                    <a:srgbClr val="FFFFFF"/>
                  </a:solidFill>
                  <a:latin typeface="微软雅黑" panose="020B0503020204020204" pitchFamily="34" charset="-122"/>
                  <a:ea typeface="微软雅黑" panose="020B0503020204020204" pitchFamily="34" charset="-122"/>
                </a:rPr>
                <a:t>11</a:t>
              </a:r>
              <a:r>
                <a:rPr lang="en-US" altLang="zh-CN" sz="2100" b="1" baseline="-25000" dirty="0" smtClean="0">
                  <a:solidFill>
                    <a:srgbClr val="FFFFFF"/>
                  </a:solidFill>
                  <a:latin typeface="微软雅黑" panose="020B0503020204020204" pitchFamily="34" charset="-122"/>
                  <a:ea typeface="微软雅黑" panose="020B0503020204020204" pitchFamily="34" charset="-122"/>
                </a:rPr>
                <a:t>th</a:t>
              </a:r>
              <a:endParaRPr lang="en-US" altLang="zh-CN" sz="2700" b="1" baseline="-25000" dirty="0">
                <a:solidFill>
                  <a:srgbClr val="FFFFFF"/>
                </a:solidFill>
                <a:latin typeface="微软雅黑" panose="020B0503020204020204" pitchFamily="34" charset="-122"/>
                <a:ea typeface="微软雅黑" panose="020B0503020204020204" pitchFamily="34" charset="-122"/>
              </a:endParaRPr>
            </a:p>
          </p:txBody>
        </p:sp>
      </p:grpSp>
      <p:sp>
        <p:nvSpPr>
          <p:cNvPr id="12" name="副标题 2"/>
          <p:cNvSpPr txBox="1">
            <a:spLocks/>
          </p:cNvSpPr>
          <p:nvPr/>
        </p:nvSpPr>
        <p:spPr>
          <a:xfrm>
            <a:off x="6321426" y="3968750"/>
            <a:ext cx="2206625" cy="742950"/>
          </a:xfrm>
          <a:prstGeom prst="rect">
            <a:avLst/>
          </a:prstGeom>
        </p:spPr>
        <p:txBody>
          <a:bodyPr lIns="68580" tIns="34290" rIns="68580" bIns="34290"/>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r>
              <a:rPr lang="zh-CN" altLang="en-US" sz="2100" dirty="0">
                <a:solidFill>
                  <a:schemeClr val="bg2">
                    <a:lumMod val="50000"/>
                  </a:schemeClr>
                </a:solidFill>
                <a:latin typeface="微软雅黑" panose="020B0503020204020204" pitchFamily="34" charset="-122"/>
                <a:ea typeface="微软雅黑" panose="020B0503020204020204" pitchFamily="34" charset="-122"/>
              </a:rPr>
              <a:t>吴超</a:t>
            </a:r>
            <a:endParaRPr lang="en-US" altLang="zh-CN" sz="2100">
              <a:solidFill>
                <a:schemeClr val="bg2">
                  <a:lumMod val="50000"/>
                </a:schemeClr>
              </a:solidFill>
              <a:latin typeface="微软雅黑" panose="020B0503020204020204" pitchFamily="34" charset="-122"/>
              <a:ea typeface="微软雅黑" panose="020B0503020204020204" pitchFamily="34" charset="-122"/>
            </a:endParaRPr>
          </a:p>
          <a:p>
            <a:pPr>
              <a:defRPr/>
            </a:pPr>
            <a:r>
              <a:rPr lang="zh-CN" altLang="en-US" sz="1500">
                <a:solidFill>
                  <a:schemeClr val="bg1">
                    <a:lumMod val="50000"/>
                  </a:schemeClr>
                </a:solidFill>
                <a:latin typeface="微软雅黑" panose="020B0503020204020204" pitchFamily="34" charset="-122"/>
                <a:ea typeface="微软雅黑" panose="020B0503020204020204" pitchFamily="34" charset="-122"/>
              </a:rPr>
              <a:t>通 </a:t>
            </a:r>
            <a:r>
              <a:rPr lang="zh-CN" altLang="en-US" sz="1500" dirty="0">
                <a:solidFill>
                  <a:schemeClr val="bg1">
                    <a:lumMod val="50000"/>
                  </a:schemeClr>
                </a:solidFill>
                <a:latin typeface="微软雅黑" panose="020B0503020204020204" pitchFamily="34" charset="-122"/>
                <a:ea typeface="微软雅黑" panose="020B0503020204020204" pitchFamily="34" charset="-122"/>
              </a:rPr>
              <a:t>信 工 程 学 院</a:t>
            </a:r>
          </a:p>
        </p:txBody>
      </p:sp>
    </p:spTree>
    <p:custDataLst>
      <p:tags r:id="rId1"/>
    </p:custDataLst>
    <p:extLst>
      <p:ext uri="{BB962C8B-B14F-4D97-AF65-F5344CB8AC3E}">
        <p14:creationId xmlns:p14="http://schemas.microsoft.com/office/powerpoint/2010/main" val="236592827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圆角矩形 10"/>
          <p:cNvSpPr/>
          <p:nvPr/>
        </p:nvSpPr>
        <p:spPr>
          <a:xfrm>
            <a:off x="2071689" y="2046289"/>
            <a:ext cx="8054975" cy="3872850"/>
          </a:xfrm>
          <a:prstGeom prst="roundRect">
            <a:avLst/>
          </a:prstGeom>
          <a:noFill/>
          <a:ln w="12700" cap="flat" cmpd="sng" algn="ctr">
            <a:solidFill>
              <a:schemeClr val="tx1"/>
            </a:solidFill>
            <a:prstDash val="solid"/>
            <a:miter lim="800000"/>
          </a:ln>
          <a:effectLst/>
        </p:spPr>
        <p:txBody>
          <a:bodyPr anchor="ctr"/>
          <a:lstStyle/>
          <a:p>
            <a:pPr algn="ctr" defTabSz="685800">
              <a:defRPr/>
            </a:pPr>
            <a:endParaRPr lang="zh-CN" altLang="en-US" sz="1350" kern="0">
              <a:solidFill>
                <a:prstClr val="white"/>
              </a:solidFill>
              <a:latin typeface="Calibri" panose="020F0502020204030204"/>
            </a:endParaRPr>
          </a:p>
        </p:txBody>
      </p:sp>
      <p:sp>
        <p:nvSpPr>
          <p:cNvPr id="5123" name="标题 1"/>
          <p:cNvSpPr>
            <a:spLocks noGrp="1"/>
          </p:cNvSpPr>
          <p:nvPr>
            <p:ph type="title"/>
          </p:nvPr>
        </p:nvSpPr>
        <p:spPr>
          <a:xfrm>
            <a:off x="1842030" y="656698"/>
            <a:ext cx="1311275" cy="439737"/>
          </a:xfrm>
        </p:spPr>
        <p:txBody>
          <a:bodyPr/>
          <a:lstStyle/>
          <a:p>
            <a:r>
              <a:rPr lang="zh-CN" altLang="en-US" sz="4000" dirty="0"/>
              <a:t>复习</a:t>
            </a:r>
          </a:p>
        </p:txBody>
      </p:sp>
      <p:sp>
        <p:nvSpPr>
          <p:cNvPr id="5124" name="Oval 1"/>
          <p:cNvSpPr txBox="1">
            <a:spLocks noChangeArrowheads="1"/>
          </p:cNvSpPr>
          <p:nvPr/>
        </p:nvSpPr>
        <p:spPr bwMode="auto">
          <a:xfrm>
            <a:off x="2371725" y="2079626"/>
            <a:ext cx="7531100" cy="3359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57175" indent="-257175">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50000"/>
              </a:lnSpc>
              <a:spcBef>
                <a:spcPts val="450"/>
              </a:spcBef>
              <a:buFont typeface="Wingdings" panose="05000000000000000000" pitchFamily="2" charset="2"/>
              <a:buChar char="p"/>
            </a:pPr>
            <a:r>
              <a:rPr lang="en-US" altLang="zh-CN" sz="2800" dirty="0" smtClean="0">
                <a:solidFill>
                  <a:srgbClr val="000000"/>
                </a:solidFill>
                <a:latin typeface="微软雅黑" panose="020B0503020204020204" pitchFamily="34" charset="-122"/>
                <a:ea typeface="微软雅黑" panose="020B0503020204020204" pitchFamily="34" charset="-122"/>
              </a:rPr>
              <a:t>DFT</a:t>
            </a:r>
            <a:r>
              <a:rPr lang="zh-CN" altLang="en-US" sz="2800" dirty="0" smtClean="0">
                <a:solidFill>
                  <a:srgbClr val="000000"/>
                </a:solidFill>
                <a:latin typeface="微软雅黑" panose="020B0503020204020204" pitchFamily="34" charset="-122"/>
                <a:ea typeface="微软雅黑" panose="020B0503020204020204" pitchFamily="34" charset="-122"/>
              </a:rPr>
              <a:t>应用</a:t>
            </a:r>
            <a:r>
              <a:rPr lang="en-US" altLang="zh-CN" sz="2800" dirty="0" smtClean="0">
                <a:solidFill>
                  <a:srgbClr val="000000"/>
                </a:solidFill>
                <a:latin typeface="微软雅黑" panose="020B0503020204020204" pitchFamily="34" charset="-122"/>
                <a:ea typeface="微软雅黑" panose="020B0503020204020204" pitchFamily="34" charset="-122"/>
              </a:rPr>
              <a:t>-</a:t>
            </a:r>
            <a:r>
              <a:rPr lang="zh-CN" altLang="en-US" sz="2800" dirty="0" smtClean="0">
                <a:solidFill>
                  <a:srgbClr val="000000"/>
                </a:solidFill>
                <a:latin typeface="微软雅黑" panose="020B0503020204020204" pitchFamily="34" charset="-122"/>
                <a:ea typeface="微软雅黑" panose="020B0503020204020204" pitchFamily="34" charset="-122"/>
              </a:rPr>
              <a:t>理解频域采样和时域采样</a:t>
            </a:r>
            <a:endParaRPr lang="en-US" altLang="zh-CN" sz="2800" dirty="0" smtClean="0">
              <a:solidFill>
                <a:srgbClr val="000000"/>
              </a:solidFill>
              <a:latin typeface="微软雅黑" panose="020B0503020204020204" pitchFamily="34" charset="-122"/>
              <a:ea typeface="微软雅黑" panose="020B0503020204020204" pitchFamily="34" charset="-122"/>
            </a:endParaRPr>
          </a:p>
          <a:p>
            <a:pPr>
              <a:lnSpc>
                <a:spcPct val="150000"/>
              </a:lnSpc>
              <a:spcBef>
                <a:spcPts val="450"/>
              </a:spcBef>
              <a:buFont typeface="Wingdings" panose="05000000000000000000" pitchFamily="2" charset="2"/>
              <a:buChar char="p"/>
            </a:pPr>
            <a:r>
              <a:rPr lang="zh-CN" altLang="en-US" sz="2800" dirty="0" smtClean="0">
                <a:solidFill>
                  <a:srgbClr val="000000"/>
                </a:solidFill>
                <a:latin typeface="微软雅黑" panose="020B0503020204020204" pitchFamily="34" charset="-122"/>
                <a:ea typeface="微软雅黑" panose="020B0503020204020204" pitchFamily="34" charset="-122"/>
              </a:rPr>
              <a:t>混叠（采样频率</a:t>
            </a:r>
            <a:r>
              <a:rPr lang="en-US" altLang="zh-CN" sz="2800" dirty="0" smtClean="0">
                <a:solidFill>
                  <a:srgbClr val="000000"/>
                </a:solidFill>
                <a:latin typeface="微软雅黑" panose="020B0503020204020204" pitchFamily="34" charset="-122"/>
                <a:ea typeface="微软雅黑" panose="020B0503020204020204" pitchFamily="34" charset="-122"/>
              </a:rPr>
              <a:t>-</a:t>
            </a:r>
            <a:r>
              <a:rPr lang="zh-CN" altLang="en-US" sz="2800" dirty="0" smtClean="0">
                <a:solidFill>
                  <a:srgbClr val="000000"/>
                </a:solidFill>
                <a:latin typeface="微软雅黑" panose="020B0503020204020204" pitchFamily="34" charset="-122"/>
                <a:ea typeface="微软雅黑" panose="020B0503020204020204" pitchFamily="34" charset="-122"/>
              </a:rPr>
              <a:t>信号最高频率）、泄漏（信号分析截取时间）、栅栏（</a:t>
            </a:r>
            <a:r>
              <a:rPr lang="en-US" altLang="zh-CN" sz="2800" dirty="0" smtClean="0">
                <a:solidFill>
                  <a:srgbClr val="000000"/>
                </a:solidFill>
                <a:latin typeface="微软雅黑" panose="020B0503020204020204" pitchFamily="34" charset="-122"/>
                <a:ea typeface="微软雅黑" panose="020B0503020204020204" pitchFamily="34" charset="-122"/>
              </a:rPr>
              <a:t>DFT</a:t>
            </a:r>
            <a:r>
              <a:rPr lang="zh-CN" altLang="en-US" sz="2800" dirty="0" smtClean="0">
                <a:solidFill>
                  <a:srgbClr val="000000"/>
                </a:solidFill>
                <a:latin typeface="微软雅黑" panose="020B0503020204020204" pitchFamily="34" charset="-122"/>
                <a:ea typeface="微软雅黑" panose="020B0503020204020204" pitchFamily="34" charset="-122"/>
              </a:rPr>
              <a:t>的点数</a:t>
            </a:r>
            <a:r>
              <a:rPr lang="en-US" altLang="zh-CN" sz="2800" dirty="0" smtClean="0">
                <a:solidFill>
                  <a:srgbClr val="000000"/>
                </a:solidFill>
                <a:latin typeface="微软雅黑" panose="020B0503020204020204" pitchFamily="34" charset="-122"/>
                <a:ea typeface="微软雅黑" panose="020B0503020204020204" pitchFamily="34" charset="-122"/>
              </a:rPr>
              <a:t>-</a:t>
            </a:r>
            <a:r>
              <a:rPr lang="zh-CN" altLang="en-US" sz="2800" dirty="0" smtClean="0">
                <a:solidFill>
                  <a:srgbClr val="000000"/>
                </a:solidFill>
                <a:latin typeface="微软雅黑" panose="020B0503020204020204" pitchFamily="34" charset="-122"/>
                <a:ea typeface="微软雅黑" panose="020B0503020204020204" pitchFamily="34" charset="-122"/>
              </a:rPr>
              <a:t>信号频率分辨率）</a:t>
            </a:r>
            <a:endParaRPr lang="en-US" altLang="zh-CN" sz="2800" dirty="0">
              <a:solidFill>
                <a:srgbClr val="000000"/>
              </a:solidFill>
              <a:latin typeface="微软雅黑" panose="020B0503020204020204" pitchFamily="34" charset="-122"/>
              <a:ea typeface="微软雅黑" panose="020B0503020204020204" pitchFamily="34" charset="-122"/>
            </a:endParaRPr>
          </a:p>
          <a:p>
            <a:pPr>
              <a:lnSpc>
                <a:spcPct val="150000"/>
              </a:lnSpc>
              <a:spcBef>
                <a:spcPts val="450"/>
              </a:spcBef>
              <a:buFont typeface="Wingdings" panose="05000000000000000000" pitchFamily="2" charset="2"/>
              <a:buChar char="p"/>
            </a:pPr>
            <a:r>
              <a:rPr lang="en-US" altLang="zh-CN" sz="2800" dirty="0" smtClean="0">
                <a:solidFill>
                  <a:srgbClr val="000000"/>
                </a:solidFill>
                <a:latin typeface="微软雅黑" panose="020B0503020204020204" pitchFamily="34" charset="-122"/>
                <a:ea typeface="微软雅黑" panose="020B0503020204020204" pitchFamily="34" charset="-122"/>
              </a:rPr>
              <a:t>DIT-FFT</a:t>
            </a:r>
            <a:endParaRPr lang="en-US" altLang="zh-CN" sz="18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63869371"/>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0332" y="457200"/>
            <a:ext cx="9558867" cy="914400"/>
          </a:xfrm>
        </p:spPr>
        <p:txBody>
          <a:bodyPr/>
          <a:lstStyle/>
          <a:p>
            <a:r>
              <a:rPr lang="en-US" altLang="zh-CN" dirty="0" smtClean="0"/>
              <a:t>DIT-FFT</a:t>
            </a:r>
            <a:endParaRPr lang="zh-CN" altLang="en-US" dirty="0"/>
          </a:p>
        </p:txBody>
      </p:sp>
      <p:sp>
        <p:nvSpPr>
          <p:cNvPr id="4" name="灯片编号占位符 3"/>
          <p:cNvSpPr>
            <a:spLocks noGrp="1"/>
          </p:cNvSpPr>
          <p:nvPr>
            <p:ph type="sldNum" sz="quarter" idx="12"/>
          </p:nvPr>
        </p:nvSpPr>
        <p:spPr/>
        <p:txBody>
          <a:bodyPr/>
          <a:lstStyle/>
          <a:p>
            <a:pPr eaLnBrk="0" fontAlgn="base" hangingPunct="0">
              <a:spcBef>
                <a:spcPct val="0"/>
              </a:spcBef>
              <a:spcAft>
                <a:spcPct val="0"/>
              </a:spcAft>
            </a:pPr>
            <a:fld id="{8E25163F-56F0-4728-A241-57C30AA276FE}" type="slidenum">
              <a:rPr lang="zh-CN" altLang="en-US" smtClean="0">
                <a:solidFill>
                  <a:srgbClr val="000000"/>
                </a:solidFill>
                <a:ea typeface="宋体" panose="02010600030101010101" pitchFamily="2" charset="-122"/>
              </a:rPr>
              <a:pPr eaLnBrk="0" fontAlgn="base" hangingPunct="0">
                <a:spcBef>
                  <a:spcPct val="0"/>
                </a:spcBef>
                <a:spcAft>
                  <a:spcPct val="0"/>
                </a:spcAft>
              </a:pPr>
              <a:t>3</a:t>
            </a:fld>
            <a:endParaRPr lang="en-US" altLang="zh-CN">
              <a:solidFill>
                <a:srgbClr val="000000"/>
              </a:solidFill>
              <a:ea typeface="宋体" panose="02010600030101010101" pitchFamily="2" charset="-122"/>
            </a:endParaRPr>
          </a:p>
        </p:txBody>
      </p:sp>
      <p:graphicFrame>
        <p:nvGraphicFramePr>
          <p:cNvPr id="5" name="对象 5"/>
          <p:cNvGraphicFramePr>
            <a:graphicFrameLocks noChangeAspect="1"/>
          </p:cNvGraphicFramePr>
          <p:nvPr>
            <p:extLst>
              <p:ext uri="{D42A27DB-BD31-4B8C-83A1-F6EECF244321}">
                <p14:modId xmlns:p14="http://schemas.microsoft.com/office/powerpoint/2010/main" val="34608016"/>
              </p:ext>
            </p:extLst>
          </p:nvPr>
        </p:nvGraphicFramePr>
        <p:xfrm>
          <a:off x="2660121" y="1484048"/>
          <a:ext cx="5964197" cy="1267619"/>
        </p:xfrm>
        <a:graphic>
          <a:graphicData uri="http://schemas.openxmlformats.org/presentationml/2006/ole">
            <mc:AlternateContent xmlns:mc="http://schemas.openxmlformats.org/markup-compatibility/2006">
              <mc:Choice xmlns:v="urn:schemas-microsoft-com:vml" Requires="v">
                <p:oleObj spid="_x0000_s18458" name="Equation" r:id="rId3" imgW="2031840" imgH="431640" progId="Equation.DSMT4">
                  <p:embed/>
                </p:oleObj>
              </mc:Choice>
              <mc:Fallback>
                <p:oleObj name="Equation" r:id="rId3" imgW="2031840" imgH="431640" progId="Equation.DSMT4">
                  <p:embed/>
                  <p:pic>
                    <p:nvPicPr>
                      <p:cNvPr id="87045" name="对象 5"/>
                      <p:cNvPicPr>
                        <a:picLocks noChangeAspect="1" noChangeArrowheads="1"/>
                      </p:cNvPicPr>
                      <p:nvPr/>
                    </p:nvPicPr>
                    <p:blipFill>
                      <a:blip r:embed="rId4"/>
                      <a:srcRect/>
                      <a:stretch>
                        <a:fillRect/>
                      </a:stretch>
                    </p:blipFill>
                    <p:spPr bwMode="auto">
                      <a:xfrm>
                        <a:off x="2660121" y="1484048"/>
                        <a:ext cx="5964197" cy="1267619"/>
                      </a:xfrm>
                      <a:prstGeom prst="rect">
                        <a:avLst/>
                      </a:prstGeom>
                      <a:noFill/>
                      <a:ln>
                        <a:noFill/>
                      </a:ln>
                      <a:effectLst/>
                      <a:extLst/>
                    </p:spPr>
                  </p:pic>
                </p:oleObj>
              </mc:Fallback>
            </mc:AlternateContent>
          </a:graphicData>
        </a:graphic>
      </p:graphicFrame>
      <p:graphicFrame>
        <p:nvGraphicFramePr>
          <p:cNvPr id="6" name="对象 8"/>
          <p:cNvGraphicFramePr>
            <a:graphicFrameLocks noChangeAspect="1"/>
          </p:cNvGraphicFramePr>
          <p:nvPr>
            <p:extLst>
              <p:ext uri="{D42A27DB-BD31-4B8C-83A1-F6EECF244321}">
                <p14:modId xmlns:p14="http://schemas.microsoft.com/office/powerpoint/2010/main" val="393724292"/>
              </p:ext>
            </p:extLst>
          </p:nvPr>
        </p:nvGraphicFramePr>
        <p:xfrm>
          <a:off x="1854248" y="2864115"/>
          <a:ext cx="7391352" cy="1909762"/>
        </p:xfrm>
        <a:graphic>
          <a:graphicData uri="http://schemas.openxmlformats.org/presentationml/2006/ole">
            <mc:AlternateContent xmlns:mc="http://schemas.openxmlformats.org/markup-compatibility/2006">
              <mc:Choice xmlns:v="urn:schemas-microsoft-com:vml" Requires="v">
                <p:oleObj spid="_x0000_s18459" name="Equation" r:id="rId5" imgW="2806700" imgH="723900" progId="Equation.DSMT4">
                  <p:embed/>
                </p:oleObj>
              </mc:Choice>
              <mc:Fallback>
                <p:oleObj name="Equation" r:id="rId5" imgW="2806700" imgH="723900" progId="Equation.DSMT4">
                  <p:embed/>
                  <p:pic>
                    <p:nvPicPr>
                      <p:cNvPr id="87047"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4248" y="2864115"/>
                        <a:ext cx="7391352" cy="1909762"/>
                      </a:xfrm>
                      <a:prstGeom prst="rect">
                        <a:avLst/>
                      </a:prstGeom>
                      <a:noFill/>
                      <a:ln>
                        <a:noFill/>
                      </a:ln>
                      <a:effectLst/>
                      <a:extLst/>
                    </p:spPr>
                  </p:pic>
                </p:oleObj>
              </mc:Fallback>
            </mc:AlternateContent>
          </a:graphicData>
        </a:graphic>
      </p:graphicFrame>
      <p:pic>
        <p:nvPicPr>
          <p:cNvPr id="7" name="Picture 7" descr="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4401" y="4890558"/>
            <a:ext cx="4867268" cy="1905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062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420938" y="1963739"/>
            <a:ext cx="1219200" cy="158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195" name="Line 3"/>
          <p:cNvSpPr>
            <a:spLocks noChangeShapeType="1"/>
          </p:cNvSpPr>
          <p:nvPr/>
        </p:nvSpPr>
        <p:spPr bwMode="auto">
          <a:xfrm>
            <a:off x="7275513" y="1963739"/>
            <a:ext cx="1219200" cy="158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196" name="Line 4"/>
          <p:cNvSpPr>
            <a:spLocks noChangeShapeType="1"/>
          </p:cNvSpPr>
          <p:nvPr/>
        </p:nvSpPr>
        <p:spPr bwMode="auto">
          <a:xfrm>
            <a:off x="8478839" y="1963739"/>
            <a:ext cx="1214437" cy="3175"/>
          </a:xfrm>
          <a:prstGeom prst="line">
            <a:avLst/>
          </a:prstGeom>
          <a:noFill/>
          <a:ln w="15875" cap="rnd">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197" name="Line 5"/>
          <p:cNvSpPr>
            <a:spLocks noChangeShapeType="1"/>
          </p:cNvSpPr>
          <p:nvPr/>
        </p:nvSpPr>
        <p:spPr bwMode="auto">
          <a:xfrm>
            <a:off x="2400300" y="2573339"/>
            <a:ext cx="1219200" cy="158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198" name="Line 6"/>
          <p:cNvSpPr>
            <a:spLocks noChangeShapeType="1"/>
          </p:cNvSpPr>
          <p:nvPr/>
        </p:nvSpPr>
        <p:spPr bwMode="auto">
          <a:xfrm>
            <a:off x="7254875" y="2573339"/>
            <a:ext cx="1219200" cy="158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199" name="Line 7"/>
          <p:cNvSpPr>
            <a:spLocks noChangeShapeType="1"/>
          </p:cNvSpPr>
          <p:nvPr/>
        </p:nvSpPr>
        <p:spPr bwMode="auto">
          <a:xfrm>
            <a:off x="8458200" y="2573339"/>
            <a:ext cx="1214438" cy="3175"/>
          </a:xfrm>
          <a:prstGeom prst="line">
            <a:avLst/>
          </a:prstGeom>
          <a:noFill/>
          <a:ln w="15875" cap="rnd">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00" name="Line 8"/>
          <p:cNvSpPr>
            <a:spLocks noChangeShapeType="1"/>
          </p:cNvSpPr>
          <p:nvPr/>
        </p:nvSpPr>
        <p:spPr bwMode="auto">
          <a:xfrm>
            <a:off x="2420938" y="3182939"/>
            <a:ext cx="1219200" cy="158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01" name="Line 9"/>
          <p:cNvSpPr>
            <a:spLocks noChangeShapeType="1"/>
          </p:cNvSpPr>
          <p:nvPr/>
        </p:nvSpPr>
        <p:spPr bwMode="auto">
          <a:xfrm>
            <a:off x="7275513" y="3182939"/>
            <a:ext cx="1219200" cy="158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02" name="Line 10"/>
          <p:cNvSpPr>
            <a:spLocks noChangeShapeType="1"/>
          </p:cNvSpPr>
          <p:nvPr/>
        </p:nvSpPr>
        <p:spPr bwMode="auto">
          <a:xfrm>
            <a:off x="8478839" y="3182939"/>
            <a:ext cx="1214437" cy="3175"/>
          </a:xfrm>
          <a:prstGeom prst="line">
            <a:avLst/>
          </a:prstGeom>
          <a:noFill/>
          <a:ln w="15875" cap="rnd">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03" name="Line 11"/>
          <p:cNvSpPr>
            <a:spLocks noChangeShapeType="1"/>
          </p:cNvSpPr>
          <p:nvPr/>
        </p:nvSpPr>
        <p:spPr bwMode="auto">
          <a:xfrm>
            <a:off x="2400300" y="3792539"/>
            <a:ext cx="1219200" cy="158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04" name="Line 12"/>
          <p:cNvSpPr>
            <a:spLocks noChangeShapeType="1"/>
          </p:cNvSpPr>
          <p:nvPr/>
        </p:nvSpPr>
        <p:spPr bwMode="auto">
          <a:xfrm>
            <a:off x="7254875" y="3792539"/>
            <a:ext cx="1219200" cy="158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05" name="Line 13"/>
          <p:cNvSpPr>
            <a:spLocks noChangeShapeType="1"/>
          </p:cNvSpPr>
          <p:nvPr/>
        </p:nvSpPr>
        <p:spPr bwMode="auto">
          <a:xfrm>
            <a:off x="8458200" y="3792539"/>
            <a:ext cx="1214438" cy="3175"/>
          </a:xfrm>
          <a:prstGeom prst="line">
            <a:avLst/>
          </a:prstGeom>
          <a:noFill/>
          <a:ln w="15875" cap="rnd">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06" name="Line 14"/>
          <p:cNvSpPr>
            <a:spLocks noChangeShapeType="1"/>
          </p:cNvSpPr>
          <p:nvPr/>
        </p:nvSpPr>
        <p:spPr bwMode="auto">
          <a:xfrm>
            <a:off x="2420938" y="4400550"/>
            <a:ext cx="1219200" cy="1588"/>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07" name="Line 15"/>
          <p:cNvSpPr>
            <a:spLocks noChangeShapeType="1"/>
          </p:cNvSpPr>
          <p:nvPr/>
        </p:nvSpPr>
        <p:spPr bwMode="auto">
          <a:xfrm>
            <a:off x="7275513" y="4400550"/>
            <a:ext cx="1219200" cy="1588"/>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08" name="Line 16"/>
          <p:cNvSpPr>
            <a:spLocks noChangeShapeType="1"/>
          </p:cNvSpPr>
          <p:nvPr/>
        </p:nvSpPr>
        <p:spPr bwMode="auto">
          <a:xfrm>
            <a:off x="8478839" y="4400551"/>
            <a:ext cx="1214437" cy="4763"/>
          </a:xfrm>
          <a:prstGeom prst="line">
            <a:avLst/>
          </a:prstGeom>
          <a:noFill/>
          <a:ln w="15875" cap="rnd">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09" name="Line 17"/>
          <p:cNvSpPr>
            <a:spLocks noChangeShapeType="1"/>
          </p:cNvSpPr>
          <p:nvPr/>
        </p:nvSpPr>
        <p:spPr bwMode="auto">
          <a:xfrm>
            <a:off x="2400300" y="5010150"/>
            <a:ext cx="1219200" cy="1588"/>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10" name="Line 18"/>
          <p:cNvSpPr>
            <a:spLocks noChangeShapeType="1"/>
          </p:cNvSpPr>
          <p:nvPr/>
        </p:nvSpPr>
        <p:spPr bwMode="auto">
          <a:xfrm>
            <a:off x="7254875" y="5010150"/>
            <a:ext cx="1219200" cy="1588"/>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11" name="Line 19"/>
          <p:cNvSpPr>
            <a:spLocks noChangeShapeType="1"/>
          </p:cNvSpPr>
          <p:nvPr/>
        </p:nvSpPr>
        <p:spPr bwMode="auto">
          <a:xfrm>
            <a:off x="8458200" y="5010151"/>
            <a:ext cx="1214438" cy="4763"/>
          </a:xfrm>
          <a:prstGeom prst="line">
            <a:avLst/>
          </a:prstGeom>
          <a:noFill/>
          <a:ln w="15875" cap="rnd">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12" name="Line 20"/>
          <p:cNvSpPr>
            <a:spLocks noChangeShapeType="1"/>
          </p:cNvSpPr>
          <p:nvPr/>
        </p:nvSpPr>
        <p:spPr bwMode="auto">
          <a:xfrm>
            <a:off x="2420938" y="5619750"/>
            <a:ext cx="1219200" cy="1588"/>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13" name="Line 21"/>
          <p:cNvSpPr>
            <a:spLocks noChangeShapeType="1"/>
          </p:cNvSpPr>
          <p:nvPr/>
        </p:nvSpPr>
        <p:spPr bwMode="auto">
          <a:xfrm>
            <a:off x="7275513" y="5619750"/>
            <a:ext cx="1219200" cy="1588"/>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14" name="Line 22"/>
          <p:cNvSpPr>
            <a:spLocks noChangeShapeType="1"/>
          </p:cNvSpPr>
          <p:nvPr/>
        </p:nvSpPr>
        <p:spPr bwMode="auto">
          <a:xfrm>
            <a:off x="8478839" y="5619751"/>
            <a:ext cx="1214437" cy="4763"/>
          </a:xfrm>
          <a:prstGeom prst="line">
            <a:avLst/>
          </a:prstGeom>
          <a:noFill/>
          <a:ln w="15875" cap="rnd">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15" name="Line 23"/>
          <p:cNvSpPr>
            <a:spLocks noChangeShapeType="1"/>
          </p:cNvSpPr>
          <p:nvPr/>
        </p:nvSpPr>
        <p:spPr bwMode="auto">
          <a:xfrm>
            <a:off x="2400300" y="6229350"/>
            <a:ext cx="1219200" cy="1588"/>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16" name="Line 24"/>
          <p:cNvSpPr>
            <a:spLocks noChangeShapeType="1"/>
          </p:cNvSpPr>
          <p:nvPr/>
        </p:nvSpPr>
        <p:spPr bwMode="auto">
          <a:xfrm>
            <a:off x="7254875" y="6229350"/>
            <a:ext cx="1219200" cy="1588"/>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17" name="Line 25"/>
          <p:cNvSpPr>
            <a:spLocks noChangeShapeType="1"/>
          </p:cNvSpPr>
          <p:nvPr/>
        </p:nvSpPr>
        <p:spPr bwMode="auto">
          <a:xfrm>
            <a:off x="8458200" y="6229351"/>
            <a:ext cx="1214438" cy="3175"/>
          </a:xfrm>
          <a:prstGeom prst="line">
            <a:avLst/>
          </a:prstGeom>
          <a:noFill/>
          <a:ln w="15875" cap="rnd">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18" name="Line 26"/>
          <p:cNvSpPr>
            <a:spLocks noChangeShapeType="1"/>
          </p:cNvSpPr>
          <p:nvPr/>
        </p:nvSpPr>
        <p:spPr bwMode="auto">
          <a:xfrm flipV="1">
            <a:off x="8462963" y="1966914"/>
            <a:ext cx="1230312" cy="243363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19" name="Line 27"/>
          <p:cNvSpPr>
            <a:spLocks noChangeShapeType="1"/>
          </p:cNvSpPr>
          <p:nvPr/>
        </p:nvSpPr>
        <p:spPr bwMode="auto">
          <a:xfrm>
            <a:off x="8494713" y="1963739"/>
            <a:ext cx="1219200" cy="2441575"/>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20" name="Line 28"/>
          <p:cNvSpPr>
            <a:spLocks noChangeShapeType="1"/>
          </p:cNvSpPr>
          <p:nvPr/>
        </p:nvSpPr>
        <p:spPr bwMode="auto">
          <a:xfrm>
            <a:off x="8494713" y="2573338"/>
            <a:ext cx="1219200" cy="2425700"/>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21" name="Line 29"/>
          <p:cNvSpPr>
            <a:spLocks noChangeShapeType="1"/>
          </p:cNvSpPr>
          <p:nvPr/>
        </p:nvSpPr>
        <p:spPr bwMode="auto">
          <a:xfrm>
            <a:off x="8494713" y="3182939"/>
            <a:ext cx="1219200" cy="2441575"/>
          </a:xfrm>
          <a:prstGeom prst="line">
            <a:avLst/>
          </a:prstGeom>
          <a:noFill/>
          <a:ln w="15875" cap="rnd">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22" name="Line 30"/>
          <p:cNvSpPr>
            <a:spLocks noChangeShapeType="1"/>
          </p:cNvSpPr>
          <p:nvPr/>
        </p:nvSpPr>
        <p:spPr bwMode="auto">
          <a:xfrm>
            <a:off x="8494713" y="3792539"/>
            <a:ext cx="1219200" cy="243998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23" name="Line 31"/>
          <p:cNvSpPr>
            <a:spLocks noChangeShapeType="1"/>
          </p:cNvSpPr>
          <p:nvPr/>
        </p:nvSpPr>
        <p:spPr bwMode="auto">
          <a:xfrm flipV="1">
            <a:off x="8494713" y="2576514"/>
            <a:ext cx="1219200" cy="243363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24" name="Line 32"/>
          <p:cNvSpPr>
            <a:spLocks noChangeShapeType="1"/>
          </p:cNvSpPr>
          <p:nvPr/>
        </p:nvSpPr>
        <p:spPr bwMode="auto">
          <a:xfrm flipV="1">
            <a:off x="8494713" y="3201988"/>
            <a:ext cx="1219200" cy="2417762"/>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225" name="Line 33"/>
          <p:cNvSpPr>
            <a:spLocks noChangeShapeType="1"/>
          </p:cNvSpPr>
          <p:nvPr/>
        </p:nvSpPr>
        <p:spPr bwMode="auto">
          <a:xfrm flipV="1">
            <a:off x="8478839" y="3795714"/>
            <a:ext cx="1235075" cy="2433637"/>
          </a:xfrm>
          <a:prstGeom prst="line">
            <a:avLst/>
          </a:prstGeom>
          <a:noFill/>
          <a:ln w="15875" cap="rnd">
            <a:solidFill>
              <a:srgbClr val="000000"/>
            </a:solidFill>
            <a:round/>
            <a:headEnd type="oval"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grpSp>
        <p:nvGrpSpPr>
          <p:cNvPr id="8226" name="Group 34"/>
          <p:cNvGrpSpPr>
            <a:grpSpLocks/>
          </p:cNvGrpSpPr>
          <p:nvPr/>
        </p:nvGrpSpPr>
        <p:grpSpPr bwMode="auto">
          <a:xfrm>
            <a:off x="3619501" y="1844676"/>
            <a:ext cx="3656013" cy="2073275"/>
            <a:chOff x="1320" y="1162"/>
            <a:chExt cx="2303" cy="1306"/>
          </a:xfrm>
        </p:grpSpPr>
        <p:sp>
          <p:nvSpPr>
            <p:cNvPr id="8227" name="Rectangle 35"/>
            <p:cNvSpPr>
              <a:spLocks noChangeArrowheads="1"/>
            </p:cNvSpPr>
            <p:nvPr/>
          </p:nvSpPr>
          <p:spPr bwMode="auto">
            <a:xfrm>
              <a:off x="1320" y="1162"/>
              <a:ext cx="2303" cy="1306"/>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28" name="Text Box 36"/>
            <p:cNvSpPr txBox="1">
              <a:spLocks noChangeArrowheads="1"/>
            </p:cNvSpPr>
            <p:nvPr/>
          </p:nvSpPr>
          <p:spPr bwMode="auto">
            <a:xfrm>
              <a:off x="1692" y="1656"/>
              <a:ext cx="15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a:t>4</a:t>
              </a:r>
              <a:r>
                <a:rPr lang="zh-CN" altLang="en-US" sz="2800"/>
                <a:t>点</a:t>
              </a:r>
              <a:r>
                <a:rPr lang="en-US" altLang="zh-CN" sz="2800"/>
                <a:t>DFT</a:t>
              </a:r>
            </a:p>
          </p:txBody>
        </p:sp>
      </p:grpSp>
      <p:grpSp>
        <p:nvGrpSpPr>
          <p:cNvPr id="8229" name="Group 37"/>
          <p:cNvGrpSpPr>
            <a:grpSpLocks/>
          </p:cNvGrpSpPr>
          <p:nvPr/>
        </p:nvGrpSpPr>
        <p:grpSpPr bwMode="auto">
          <a:xfrm>
            <a:off x="3638551" y="4264026"/>
            <a:ext cx="3656013" cy="2073275"/>
            <a:chOff x="1320" y="1162"/>
            <a:chExt cx="2303" cy="1306"/>
          </a:xfrm>
        </p:grpSpPr>
        <p:sp>
          <p:nvSpPr>
            <p:cNvPr id="8230" name="Rectangle 38"/>
            <p:cNvSpPr>
              <a:spLocks noChangeArrowheads="1"/>
            </p:cNvSpPr>
            <p:nvPr/>
          </p:nvSpPr>
          <p:spPr bwMode="auto">
            <a:xfrm>
              <a:off x="1320" y="1162"/>
              <a:ext cx="2303" cy="1306"/>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31" name="Text Box 39"/>
            <p:cNvSpPr txBox="1">
              <a:spLocks noChangeArrowheads="1"/>
            </p:cNvSpPr>
            <p:nvPr/>
          </p:nvSpPr>
          <p:spPr bwMode="auto">
            <a:xfrm>
              <a:off x="1692" y="1656"/>
              <a:ext cx="15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a:t>4</a:t>
              </a:r>
              <a:r>
                <a:rPr lang="zh-CN" altLang="en-US" sz="2800"/>
                <a:t>点</a:t>
              </a:r>
              <a:r>
                <a:rPr lang="en-US" altLang="zh-CN" sz="2800"/>
                <a:t>DFT</a:t>
              </a:r>
            </a:p>
          </p:txBody>
        </p:sp>
      </p:grpSp>
      <p:grpSp>
        <p:nvGrpSpPr>
          <p:cNvPr id="8232" name="Group 40"/>
          <p:cNvGrpSpPr>
            <a:grpSpLocks/>
          </p:cNvGrpSpPr>
          <p:nvPr/>
        </p:nvGrpSpPr>
        <p:grpSpPr bwMode="auto">
          <a:xfrm>
            <a:off x="1524000" y="1619251"/>
            <a:ext cx="819150" cy="2443163"/>
            <a:chOff x="0" y="1020"/>
            <a:chExt cx="516" cy="1539"/>
          </a:xfrm>
        </p:grpSpPr>
        <p:sp>
          <p:nvSpPr>
            <p:cNvPr id="8233" name="Text Box 41"/>
            <p:cNvSpPr txBox="1">
              <a:spLocks noChangeArrowheads="1"/>
            </p:cNvSpPr>
            <p:nvPr/>
          </p:nvSpPr>
          <p:spPr bwMode="auto">
            <a:xfrm>
              <a:off x="0" y="1020"/>
              <a:ext cx="5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800"/>
                <a:t>[0]</a:t>
              </a:r>
            </a:p>
          </p:txBody>
        </p:sp>
        <p:sp>
          <p:nvSpPr>
            <p:cNvPr id="8234" name="Text Box 42"/>
            <p:cNvSpPr txBox="1">
              <a:spLocks noChangeArrowheads="1"/>
            </p:cNvSpPr>
            <p:nvPr/>
          </p:nvSpPr>
          <p:spPr bwMode="auto">
            <a:xfrm>
              <a:off x="0" y="1452"/>
              <a:ext cx="5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800"/>
                <a:t>[2]</a:t>
              </a:r>
            </a:p>
          </p:txBody>
        </p:sp>
        <p:sp>
          <p:nvSpPr>
            <p:cNvPr id="8235" name="Text Box 43"/>
            <p:cNvSpPr txBox="1">
              <a:spLocks noChangeArrowheads="1"/>
            </p:cNvSpPr>
            <p:nvPr/>
          </p:nvSpPr>
          <p:spPr bwMode="auto">
            <a:xfrm>
              <a:off x="0" y="1824"/>
              <a:ext cx="5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800"/>
                <a:t>[4]</a:t>
              </a:r>
            </a:p>
          </p:txBody>
        </p:sp>
        <p:sp>
          <p:nvSpPr>
            <p:cNvPr id="8236" name="Text Box 44"/>
            <p:cNvSpPr txBox="1">
              <a:spLocks noChangeArrowheads="1"/>
            </p:cNvSpPr>
            <p:nvPr/>
          </p:nvSpPr>
          <p:spPr bwMode="auto">
            <a:xfrm>
              <a:off x="0" y="2232"/>
              <a:ext cx="5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800"/>
                <a:t>[6]</a:t>
              </a:r>
            </a:p>
          </p:txBody>
        </p:sp>
      </p:grpSp>
      <p:grpSp>
        <p:nvGrpSpPr>
          <p:cNvPr id="8237" name="Group 45"/>
          <p:cNvGrpSpPr>
            <a:grpSpLocks/>
          </p:cNvGrpSpPr>
          <p:nvPr/>
        </p:nvGrpSpPr>
        <p:grpSpPr bwMode="auto">
          <a:xfrm>
            <a:off x="1524000" y="4114801"/>
            <a:ext cx="819150" cy="2366963"/>
            <a:chOff x="0" y="2592"/>
            <a:chExt cx="516" cy="1491"/>
          </a:xfrm>
        </p:grpSpPr>
        <p:sp>
          <p:nvSpPr>
            <p:cNvPr id="8238" name="Text Box 46"/>
            <p:cNvSpPr txBox="1">
              <a:spLocks noChangeArrowheads="1"/>
            </p:cNvSpPr>
            <p:nvPr/>
          </p:nvSpPr>
          <p:spPr bwMode="auto">
            <a:xfrm>
              <a:off x="0" y="2592"/>
              <a:ext cx="5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800"/>
                <a:t>[1]</a:t>
              </a:r>
            </a:p>
          </p:txBody>
        </p:sp>
        <p:sp>
          <p:nvSpPr>
            <p:cNvPr id="8239" name="Text Box 47"/>
            <p:cNvSpPr txBox="1">
              <a:spLocks noChangeArrowheads="1"/>
            </p:cNvSpPr>
            <p:nvPr/>
          </p:nvSpPr>
          <p:spPr bwMode="auto">
            <a:xfrm>
              <a:off x="0" y="2976"/>
              <a:ext cx="5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800"/>
                <a:t>[3]</a:t>
              </a:r>
            </a:p>
          </p:txBody>
        </p:sp>
        <p:sp>
          <p:nvSpPr>
            <p:cNvPr id="8240" name="Text Box 48"/>
            <p:cNvSpPr txBox="1">
              <a:spLocks noChangeArrowheads="1"/>
            </p:cNvSpPr>
            <p:nvPr/>
          </p:nvSpPr>
          <p:spPr bwMode="auto">
            <a:xfrm>
              <a:off x="0" y="3312"/>
              <a:ext cx="5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800"/>
                <a:t>[5]</a:t>
              </a:r>
            </a:p>
          </p:txBody>
        </p:sp>
        <p:sp>
          <p:nvSpPr>
            <p:cNvPr id="8241" name="Text Box 49"/>
            <p:cNvSpPr txBox="1">
              <a:spLocks noChangeArrowheads="1"/>
            </p:cNvSpPr>
            <p:nvPr/>
          </p:nvSpPr>
          <p:spPr bwMode="auto">
            <a:xfrm>
              <a:off x="0" y="3756"/>
              <a:ext cx="5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800"/>
                <a:t>[7]</a:t>
              </a:r>
            </a:p>
          </p:txBody>
        </p:sp>
      </p:grpSp>
      <p:sp>
        <p:nvSpPr>
          <p:cNvPr id="8242" name="Text Box 50"/>
          <p:cNvSpPr txBox="1">
            <a:spLocks noChangeArrowheads="1"/>
          </p:cNvSpPr>
          <p:nvPr/>
        </p:nvSpPr>
        <p:spPr bwMode="auto">
          <a:xfrm>
            <a:off x="7162800" y="1409700"/>
            <a:ext cx="9715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i="1">
                <a:solidFill>
                  <a:srgbClr val="FF3300"/>
                </a:solidFill>
              </a:rPr>
              <a:t>X</a:t>
            </a:r>
            <a:r>
              <a:rPr lang="en-US" altLang="zh-CN" baseline="-25000">
                <a:solidFill>
                  <a:srgbClr val="FF3300"/>
                </a:solidFill>
              </a:rPr>
              <a:t>1</a:t>
            </a:r>
            <a:r>
              <a:rPr lang="en-US" altLang="zh-CN">
                <a:solidFill>
                  <a:srgbClr val="FF3300"/>
                </a:solidFill>
              </a:rPr>
              <a:t>[0]</a:t>
            </a:r>
          </a:p>
        </p:txBody>
      </p:sp>
      <p:sp>
        <p:nvSpPr>
          <p:cNvPr id="8243" name="Text Box 51"/>
          <p:cNvSpPr txBox="1">
            <a:spLocks noChangeArrowheads="1"/>
          </p:cNvSpPr>
          <p:nvPr/>
        </p:nvSpPr>
        <p:spPr bwMode="auto">
          <a:xfrm>
            <a:off x="7181850" y="2095500"/>
            <a:ext cx="9715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i="1">
                <a:solidFill>
                  <a:srgbClr val="FF3300"/>
                </a:solidFill>
              </a:rPr>
              <a:t>X</a:t>
            </a:r>
            <a:r>
              <a:rPr lang="en-US" altLang="zh-CN" baseline="-25000">
                <a:solidFill>
                  <a:srgbClr val="FF3300"/>
                </a:solidFill>
              </a:rPr>
              <a:t>1</a:t>
            </a:r>
            <a:r>
              <a:rPr lang="en-US" altLang="zh-CN">
                <a:solidFill>
                  <a:srgbClr val="FF3300"/>
                </a:solidFill>
              </a:rPr>
              <a:t>[1]</a:t>
            </a:r>
          </a:p>
        </p:txBody>
      </p:sp>
      <p:sp>
        <p:nvSpPr>
          <p:cNvPr id="8244" name="Text Box 52"/>
          <p:cNvSpPr txBox="1">
            <a:spLocks noChangeArrowheads="1"/>
          </p:cNvSpPr>
          <p:nvPr/>
        </p:nvSpPr>
        <p:spPr bwMode="auto">
          <a:xfrm>
            <a:off x="7181850" y="2686050"/>
            <a:ext cx="9715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i="1">
                <a:solidFill>
                  <a:srgbClr val="FF3300"/>
                </a:solidFill>
              </a:rPr>
              <a:t>X</a:t>
            </a:r>
            <a:r>
              <a:rPr lang="en-US" altLang="zh-CN" baseline="-25000">
                <a:solidFill>
                  <a:srgbClr val="FF3300"/>
                </a:solidFill>
              </a:rPr>
              <a:t>1</a:t>
            </a:r>
            <a:r>
              <a:rPr lang="en-US" altLang="zh-CN">
                <a:solidFill>
                  <a:srgbClr val="FF3300"/>
                </a:solidFill>
              </a:rPr>
              <a:t>[2]</a:t>
            </a:r>
          </a:p>
        </p:txBody>
      </p:sp>
      <p:sp>
        <p:nvSpPr>
          <p:cNvPr id="8245" name="Text Box 53"/>
          <p:cNvSpPr txBox="1">
            <a:spLocks noChangeArrowheads="1"/>
          </p:cNvSpPr>
          <p:nvPr/>
        </p:nvSpPr>
        <p:spPr bwMode="auto">
          <a:xfrm>
            <a:off x="7181850" y="3295650"/>
            <a:ext cx="9715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i="1">
                <a:solidFill>
                  <a:srgbClr val="FF3300"/>
                </a:solidFill>
              </a:rPr>
              <a:t>X</a:t>
            </a:r>
            <a:r>
              <a:rPr lang="en-US" altLang="zh-CN" baseline="-25000">
                <a:solidFill>
                  <a:srgbClr val="FF3300"/>
                </a:solidFill>
              </a:rPr>
              <a:t>1</a:t>
            </a:r>
            <a:r>
              <a:rPr lang="en-US" altLang="zh-CN">
                <a:solidFill>
                  <a:srgbClr val="FF3300"/>
                </a:solidFill>
              </a:rPr>
              <a:t>[3]</a:t>
            </a:r>
          </a:p>
        </p:txBody>
      </p:sp>
      <p:sp>
        <p:nvSpPr>
          <p:cNvPr id="8246" name="Text Box 54"/>
          <p:cNvSpPr txBox="1">
            <a:spLocks noChangeArrowheads="1"/>
          </p:cNvSpPr>
          <p:nvPr/>
        </p:nvSpPr>
        <p:spPr bwMode="auto">
          <a:xfrm>
            <a:off x="7181850" y="3867150"/>
            <a:ext cx="9715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i="1">
                <a:solidFill>
                  <a:srgbClr val="008000"/>
                </a:solidFill>
              </a:rPr>
              <a:t>X</a:t>
            </a:r>
            <a:r>
              <a:rPr lang="en-US" altLang="zh-CN" baseline="-25000">
                <a:solidFill>
                  <a:srgbClr val="008000"/>
                </a:solidFill>
              </a:rPr>
              <a:t>2</a:t>
            </a:r>
            <a:r>
              <a:rPr lang="en-US" altLang="zh-CN">
                <a:solidFill>
                  <a:srgbClr val="008000"/>
                </a:solidFill>
              </a:rPr>
              <a:t>[0]</a:t>
            </a:r>
          </a:p>
        </p:txBody>
      </p:sp>
      <p:sp>
        <p:nvSpPr>
          <p:cNvPr id="8247" name="Text Box 55"/>
          <p:cNvSpPr txBox="1">
            <a:spLocks noChangeArrowheads="1"/>
          </p:cNvSpPr>
          <p:nvPr/>
        </p:nvSpPr>
        <p:spPr bwMode="auto">
          <a:xfrm>
            <a:off x="7200900" y="4552950"/>
            <a:ext cx="9715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i="1">
                <a:solidFill>
                  <a:srgbClr val="008000"/>
                </a:solidFill>
              </a:rPr>
              <a:t>X</a:t>
            </a:r>
            <a:r>
              <a:rPr lang="en-US" altLang="zh-CN" baseline="-25000">
                <a:solidFill>
                  <a:srgbClr val="008000"/>
                </a:solidFill>
              </a:rPr>
              <a:t>2</a:t>
            </a:r>
            <a:r>
              <a:rPr lang="en-US" altLang="zh-CN">
                <a:solidFill>
                  <a:srgbClr val="008000"/>
                </a:solidFill>
              </a:rPr>
              <a:t>[1]</a:t>
            </a:r>
          </a:p>
        </p:txBody>
      </p:sp>
      <p:sp>
        <p:nvSpPr>
          <p:cNvPr id="8248" name="Text Box 56"/>
          <p:cNvSpPr txBox="1">
            <a:spLocks noChangeArrowheads="1"/>
          </p:cNvSpPr>
          <p:nvPr/>
        </p:nvSpPr>
        <p:spPr bwMode="auto">
          <a:xfrm>
            <a:off x="7200900" y="5143500"/>
            <a:ext cx="9715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i="1">
                <a:solidFill>
                  <a:srgbClr val="008000"/>
                </a:solidFill>
              </a:rPr>
              <a:t>X</a:t>
            </a:r>
            <a:r>
              <a:rPr lang="en-US" altLang="zh-CN" baseline="-25000">
                <a:solidFill>
                  <a:srgbClr val="008000"/>
                </a:solidFill>
              </a:rPr>
              <a:t>2</a:t>
            </a:r>
            <a:r>
              <a:rPr lang="en-US" altLang="zh-CN">
                <a:solidFill>
                  <a:srgbClr val="008000"/>
                </a:solidFill>
              </a:rPr>
              <a:t>[2]</a:t>
            </a:r>
          </a:p>
        </p:txBody>
      </p:sp>
      <p:sp>
        <p:nvSpPr>
          <p:cNvPr id="8249" name="Text Box 57"/>
          <p:cNvSpPr txBox="1">
            <a:spLocks noChangeArrowheads="1"/>
          </p:cNvSpPr>
          <p:nvPr/>
        </p:nvSpPr>
        <p:spPr bwMode="auto">
          <a:xfrm>
            <a:off x="7200900" y="5753100"/>
            <a:ext cx="9715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i="1">
                <a:solidFill>
                  <a:srgbClr val="008000"/>
                </a:solidFill>
              </a:rPr>
              <a:t>X</a:t>
            </a:r>
            <a:r>
              <a:rPr lang="en-US" altLang="zh-CN" baseline="-25000">
                <a:solidFill>
                  <a:srgbClr val="008000"/>
                </a:solidFill>
              </a:rPr>
              <a:t>2</a:t>
            </a:r>
            <a:r>
              <a:rPr lang="en-US" altLang="zh-CN">
                <a:solidFill>
                  <a:srgbClr val="008000"/>
                </a:solidFill>
              </a:rPr>
              <a:t>[3]</a:t>
            </a:r>
          </a:p>
        </p:txBody>
      </p:sp>
      <p:sp>
        <p:nvSpPr>
          <p:cNvPr id="8250" name="Text Box 58"/>
          <p:cNvSpPr txBox="1">
            <a:spLocks noChangeArrowheads="1"/>
          </p:cNvSpPr>
          <p:nvPr/>
        </p:nvSpPr>
        <p:spPr bwMode="auto">
          <a:xfrm>
            <a:off x="9696450" y="1695451"/>
            <a:ext cx="971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900" baseline="-25000"/>
              <a:t> </a:t>
            </a:r>
            <a:r>
              <a:rPr lang="en-US" altLang="zh-CN" sz="2800"/>
              <a:t>[0]</a:t>
            </a:r>
          </a:p>
        </p:txBody>
      </p:sp>
      <p:sp>
        <p:nvSpPr>
          <p:cNvPr id="8251" name="Text Box 59"/>
          <p:cNvSpPr txBox="1">
            <a:spLocks noChangeArrowheads="1"/>
          </p:cNvSpPr>
          <p:nvPr/>
        </p:nvSpPr>
        <p:spPr bwMode="auto">
          <a:xfrm>
            <a:off x="9696450" y="2286001"/>
            <a:ext cx="971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900" baseline="-25000"/>
              <a:t> </a:t>
            </a:r>
            <a:r>
              <a:rPr lang="en-US" altLang="zh-CN" sz="2800"/>
              <a:t>[1]</a:t>
            </a:r>
          </a:p>
        </p:txBody>
      </p:sp>
      <p:sp>
        <p:nvSpPr>
          <p:cNvPr id="8252" name="Text Box 60"/>
          <p:cNvSpPr txBox="1">
            <a:spLocks noChangeArrowheads="1"/>
          </p:cNvSpPr>
          <p:nvPr/>
        </p:nvSpPr>
        <p:spPr bwMode="auto">
          <a:xfrm>
            <a:off x="9696450" y="2876551"/>
            <a:ext cx="971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900" baseline="-25000"/>
              <a:t> </a:t>
            </a:r>
            <a:r>
              <a:rPr lang="en-US" altLang="zh-CN" sz="2800"/>
              <a:t>[2]</a:t>
            </a:r>
          </a:p>
        </p:txBody>
      </p:sp>
      <p:sp>
        <p:nvSpPr>
          <p:cNvPr id="8253" name="Text Box 61"/>
          <p:cNvSpPr txBox="1">
            <a:spLocks noChangeArrowheads="1"/>
          </p:cNvSpPr>
          <p:nvPr/>
        </p:nvSpPr>
        <p:spPr bwMode="auto">
          <a:xfrm>
            <a:off x="9696450" y="3505201"/>
            <a:ext cx="971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900" baseline="-25000"/>
              <a:t> </a:t>
            </a:r>
            <a:r>
              <a:rPr lang="en-US" altLang="zh-CN" sz="2800"/>
              <a:t>[3]</a:t>
            </a:r>
          </a:p>
        </p:txBody>
      </p:sp>
      <p:sp>
        <p:nvSpPr>
          <p:cNvPr id="8254" name="Text Box 62"/>
          <p:cNvSpPr txBox="1">
            <a:spLocks noChangeArrowheads="1"/>
          </p:cNvSpPr>
          <p:nvPr/>
        </p:nvSpPr>
        <p:spPr bwMode="auto">
          <a:xfrm>
            <a:off x="9696450" y="4095751"/>
            <a:ext cx="971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900" baseline="-25000"/>
              <a:t> </a:t>
            </a:r>
            <a:r>
              <a:rPr lang="en-US" altLang="zh-CN" sz="2800"/>
              <a:t>[4]</a:t>
            </a:r>
          </a:p>
        </p:txBody>
      </p:sp>
      <p:sp>
        <p:nvSpPr>
          <p:cNvPr id="8255" name="Text Box 63"/>
          <p:cNvSpPr txBox="1">
            <a:spLocks noChangeArrowheads="1"/>
          </p:cNvSpPr>
          <p:nvPr/>
        </p:nvSpPr>
        <p:spPr bwMode="auto">
          <a:xfrm>
            <a:off x="9696450" y="4705351"/>
            <a:ext cx="971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900" baseline="-25000"/>
              <a:t> </a:t>
            </a:r>
            <a:r>
              <a:rPr lang="en-US" altLang="zh-CN" sz="2800"/>
              <a:t>[5]</a:t>
            </a:r>
          </a:p>
        </p:txBody>
      </p:sp>
      <p:sp>
        <p:nvSpPr>
          <p:cNvPr id="8256" name="Text Box 64"/>
          <p:cNvSpPr txBox="1">
            <a:spLocks noChangeArrowheads="1"/>
          </p:cNvSpPr>
          <p:nvPr/>
        </p:nvSpPr>
        <p:spPr bwMode="auto">
          <a:xfrm>
            <a:off x="9696450" y="5276851"/>
            <a:ext cx="971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900" baseline="-25000"/>
              <a:t> </a:t>
            </a:r>
            <a:r>
              <a:rPr lang="en-US" altLang="zh-CN" sz="2800"/>
              <a:t>[6]</a:t>
            </a:r>
          </a:p>
        </p:txBody>
      </p:sp>
      <p:sp>
        <p:nvSpPr>
          <p:cNvPr id="8257" name="Text Box 65"/>
          <p:cNvSpPr txBox="1">
            <a:spLocks noChangeArrowheads="1"/>
          </p:cNvSpPr>
          <p:nvPr/>
        </p:nvSpPr>
        <p:spPr bwMode="auto">
          <a:xfrm>
            <a:off x="9696450" y="5848351"/>
            <a:ext cx="971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i="1"/>
              <a:t>X</a:t>
            </a:r>
            <a:r>
              <a:rPr lang="en-US" altLang="zh-CN" sz="2900" baseline="-25000"/>
              <a:t> </a:t>
            </a:r>
            <a:r>
              <a:rPr lang="en-US" altLang="zh-CN" sz="2800"/>
              <a:t>[7]</a:t>
            </a:r>
          </a:p>
        </p:txBody>
      </p:sp>
      <p:sp>
        <p:nvSpPr>
          <p:cNvPr id="8258" name="Text Box 66"/>
          <p:cNvSpPr txBox="1">
            <a:spLocks noChangeArrowheads="1"/>
          </p:cNvSpPr>
          <p:nvPr/>
        </p:nvSpPr>
        <p:spPr bwMode="auto">
          <a:xfrm>
            <a:off x="9258300" y="4305300"/>
            <a:ext cx="5143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a:solidFill>
                  <a:schemeClr val="accent2"/>
                </a:solidFill>
                <a:latin typeface="Symbol" panose="05050102010706020507" pitchFamily="18" charset="2"/>
              </a:rPr>
              <a:t>-</a:t>
            </a:r>
            <a:r>
              <a:rPr lang="en-US" altLang="zh-CN">
                <a:solidFill>
                  <a:schemeClr val="accent2"/>
                </a:solidFill>
              </a:rPr>
              <a:t>1</a:t>
            </a:r>
          </a:p>
        </p:txBody>
      </p:sp>
      <p:sp>
        <p:nvSpPr>
          <p:cNvPr id="8259" name="Text Box 67"/>
          <p:cNvSpPr txBox="1">
            <a:spLocks noChangeArrowheads="1"/>
          </p:cNvSpPr>
          <p:nvPr/>
        </p:nvSpPr>
        <p:spPr bwMode="auto">
          <a:xfrm>
            <a:off x="9239250" y="4953000"/>
            <a:ext cx="5143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a:solidFill>
                  <a:schemeClr val="accent2"/>
                </a:solidFill>
                <a:latin typeface="Symbol" panose="05050102010706020507" pitchFamily="18" charset="2"/>
              </a:rPr>
              <a:t>-</a:t>
            </a:r>
            <a:r>
              <a:rPr lang="en-US" altLang="zh-CN">
                <a:solidFill>
                  <a:schemeClr val="accent2"/>
                </a:solidFill>
              </a:rPr>
              <a:t>1</a:t>
            </a:r>
          </a:p>
        </p:txBody>
      </p:sp>
      <p:sp>
        <p:nvSpPr>
          <p:cNvPr id="8260" name="Text Box 68"/>
          <p:cNvSpPr txBox="1">
            <a:spLocks noChangeArrowheads="1"/>
          </p:cNvSpPr>
          <p:nvPr/>
        </p:nvSpPr>
        <p:spPr bwMode="auto">
          <a:xfrm>
            <a:off x="9277350" y="5524500"/>
            <a:ext cx="5143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a:solidFill>
                  <a:schemeClr val="accent2"/>
                </a:solidFill>
                <a:latin typeface="Symbol" panose="05050102010706020507" pitchFamily="18" charset="2"/>
              </a:rPr>
              <a:t>-</a:t>
            </a:r>
            <a:r>
              <a:rPr lang="en-US" altLang="zh-CN">
                <a:solidFill>
                  <a:schemeClr val="accent2"/>
                </a:solidFill>
              </a:rPr>
              <a:t>1</a:t>
            </a:r>
          </a:p>
        </p:txBody>
      </p:sp>
      <p:sp>
        <p:nvSpPr>
          <p:cNvPr id="8261" name="Text Box 69"/>
          <p:cNvSpPr txBox="1">
            <a:spLocks noChangeArrowheads="1"/>
          </p:cNvSpPr>
          <p:nvPr/>
        </p:nvSpPr>
        <p:spPr bwMode="auto">
          <a:xfrm>
            <a:off x="9258300" y="6153150"/>
            <a:ext cx="5143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a:solidFill>
                  <a:schemeClr val="accent2"/>
                </a:solidFill>
                <a:latin typeface="Symbol" panose="05050102010706020507" pitchFamily="18" charset="2"/>
              </a:rPr>
              <a:t>-</a:t>
            </a:r>
            <a:r>
              <a:rPr lang="en-US" altLang="zh-CN">
                <a:solidFill>
                  <a:schemeClr val="accent2"/>
                </a:solidFill>
              </a:rPr>
              <a:t>1</a:t>
            </a:r>
          </a:p>
        </p:txBody>
      </p:sp>
      <p:graphicFrame>
        <p:nvGraphicFramePr>
          <p:cNvPr id="8262" name="Object 70"/>
          <p:cNvGraphicFramePr>
            <a:graphicFrameLocks noChangeAspect="1"/>
          </p:cNvGraphicFramePr>
          <p:nvPr/>
        </p:nvGraphicFramePr>
        <p:xfrm>
          <a:off x="8032751" y="3892551"/>
          <a:ext cx="485775" cy="511175"/>
        </p:xfrm>
        <a:graphic>
          <a:graphicData uri="http://schemas.openxmlformats.org/presentationml/2006/ole">
            <mc:AlternateContent xmlns:mc="http://schemas.openxmlformats.org/markup-compatibility/2006">
              <mc:Choice xmlns:v="urn:schemas-microsoft-com:vml" Requires="v">
                <p:oleObj spid="_x0000_s9458" name="公式" r:id="rId3" imgW="241195" imgH="253890" progId="Equation.3">
                  <p:embed/>
                </p:oleObj>
              </mc:Choice>
              <mc:Fallback>
                <p:oleObj name="公式" r:id="rId3" imgW="241195" imgH="253890" progId="Equation.3">
                  <p:embed/>
                  <p:pic>
                    <p:nvPicPr>
                      <p:cNvPr id="8262" name="Object 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2751" y="3892551"/>
                        <a:ext cx="4857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63" name="Object 71"/>
          <p:cNvGraphicFramePr>
            <a:graphicFrameLocks noChangeAspect="1"/>
          </p:cNvGraphicFramePr>
          <p:nvPr/>
        </p:nvGraphicFramePr>
        <p:xfrm>
          <a:off x="8081963" y="4483101"/>
          <a:ext cx="463550" cy="511175"/>
        </p:xfrm>
        <a:graphic>
          <a:graphicData uri="http://schemas.openxmlformats.org/presentationml/2006/ole">
            <mc:AlternateContent xmlns:mc="http://schemas.openxmlformats.org/markup-compatibility/2006">
              <mc:Choice xmlns:v="urn:schemas-microsoft-com:vml" Requires="v">
                <p:oleObj spid="_x0000_s9459" name="公式" r:id="rId5" imgW="228501" imgH="253890" progId="Equation.3">
                  <p:embed/>
                </p:oleObj>
              </mc:Choice>
              <mc:Fallback>
                <p:oleObj name="公式" r:id="rId5" imgW="228501" imgH="253890" progId="Equation.3">
                  <p:embed/>
                  <p:pic>
                    <p:nvPicPr>
                      <p:cNvPr id="8263" name="Object 7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81963" y="4483101"/>
                        <a:ext cx="463550"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64" name="Object 72"/>
          <p:cNvGraphicFramePr>
            <a:graphicFrameLocks noChangeAspect="1"/>
          </p:cNvGraphicFramePr>
          <p:nvPr/>
        </p:nvGraphicFramePr>
        <p:xfrm>
          <a:off x="8032751" y="5111751"/>
          <a:ext cx="485775" cy="511175"/>
        </p:xfrm>
        <a:graphic>
          <a:graphicData uri="http://schemas.openxmlformats.org/presentationml/2006/ole">
            <mc:AlternateContent xmlns:mc="http://schemas.openxmlformats.org/markup-compatibility/2006">
              <mc:Choice xmlns:v="urn:schemas-microsoft-com:vml" Requires="v">
                <p:oleObj spid="_x0000_s9460" name="公式" r:id="rId7" imgW="241195" imgH="253890" progId="Equation.3">
                  <p:embed/>
                </p:oleObj>
              </mc:Choice>
              <mc:Fallback>
                <p:oleObj name="公式" r:id="rId7" imgW="241195" imgH="253890" progId="Equation.3">
                  <p:embed/>
                  <p:pic>
                    <p:nvPicPr>
                      <p:cNvPr id="8264" name="Object 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32751" y="5111751"/>
                        <a:ext cx="4857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65" name="Object 73"/>
          <p:cNvGraphicFramePr>
            <a:graphicFrameLocks noChangeAspect="1"/>
          </p:cNvGraphicFramePr>
          <p:nvPr/>
        </p:nvGraphicFramePr>
        <p:xfrm>
          <a:off x="8013701" y="5759451"/>
          <a:ext cx="485775" cy="511175"/>
        </p:xfrm>
        <a:graphic>
          <a:graphicData uri="http://schemas.openxmlformats.org/presentationml/2006/ole">
            <mc:AlternateContent xmlns:mc="http://schemas.openxmlformats.org/markup-compatibility/2006">
              <mc:Choice xmlns:v="urn:schemas-microsoft-com:vml" Requires="v">
                <p:oleObj spid="_x0000_s9461" name="公式" r:id="rId9" imgW="241195" imgH="253890" progId="Equation.3">
                  <p:embed/>
                </p:oleObj>
              </mc:Choice>
              <mc:Fallback>
                <p:oleObj name="公式" r:id="rId9" imgW="241195" imgH="253890" progId="Equation.3">
                  <p:embed/>
                  <p:pic>
                    <p:nvPicPr>
                      <p:cNvPr id="8265" name="Object 7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13701" y="5759451"/>
                        <a:ext cx="4857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66" name="Rectangle 74"/>
          <p:cNvSpPr>
            <a:spLocks noChangeArrowheads="1"/>
          </p:cNvSpPr>
          <p:nvPr/>
        </p:nvSpPr>
        <p:spPr bwMode="auto">
          <a:xfrm>
            <a:off x="1524001" y="1714501"/>
            <a:ext cx="5751513" cy="2359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67" name="Rectangle 75"/>
          <p:cNvSpPr>
            <a:spLocks noChangeArrowheads="1"/>
          </p:cNvSpPr>
          <p:nvPr/>
        </p:nvSpPr>
        <p:spPr bwMode="auto">
          <a:xfrm>
            <a:off x="1657351" y="4076701"/>
            <a:ext cx="5599113" cy="2492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268" name="Object 76"/>
          <p:cNvGraphicFramePr>
            <a:graphicFrameLocks noChangeAspect="1"/>
          </p:cNvGraphicFramePr>
          <p:nvPr/>
        </p:nvGraphicFramePr>
        <p:xfrm>
          <a:off x="1508125" y="1550988"/>
          <a:ext cx="6078538" cy="2481262"/>
        </p:xfrm>
        <a:graphic>
          <a:graphicData uri="http://schemas.openxmlformats.org/presentationml/2006/ole">
            <mc:AlternateContent xmlns:mc="http://schemas.openxmlformats.org/markup-compatibility/2006">
              <mc:Choice xmlns:v="urn:schemas-microsoft-com:vml" Requires="v">
                <p:oleObj spid="_x0000_s9462" name="Visio" r:id="rId11" imgW="2432304" imgH="992916" progId="Visio.Drawing.6">
                  <p:embed/>
                </p:oleObj>
              </mc:Choice>
              <mc:Fallback>
                <p:oleObj name="Visio" r:id="rId11" imgW="2432304" imgH="992916" progId="Visio.Drawing.6">
                  <p:embed/>
                  <p:pic>
                    <p:nvPicPr>
                      <p:cNvPr id="8268" name="Object 7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08125" y="1550988"/>
                        <a:ext cx="6078538" cy="248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69" name="Object 77"/>
          <p:cNvGraphicFramePr>
            <a:graphicFrameLocks noChangeAspect="1"/>
          </p:cNvGraphicFramePr>
          <p:nvPr/>
        </p:nvGraphicFramePr>
        <p:xfrm>
          <a:off x="1524000" y="3984625"/>
          <a:ext cx="6078538" cy="2573338"/>
        </p:xfrm>
        <a:graphic>
          <a:graphicData uri="http://schemas.openxmlformats.org/presentationml/2006/ole">
            <mc:AlternateContent xmlns:mc="http://schemas.openxmlformats.org/markup-compatibility/2006">
              <mc:Choice xmlns:v="urn:schemas-microsoft-com:vml" Requires="v">
                <p:oleObj spid="_x0000_s9463" name="Visio" r:id="rId13" imgW="2432304" imgH="1029736" progId="Visio.Drawing.6">
                  <p:embed/>
                </p:oleObj>
              </mc:Choice>
              <mc:Fallback>
                <p:oleObj name="Visio" r:id="rId13" imgW="2432304" imgH="1029736" progId="Visio.Drawing.6">
                  <p:embed/>
                  <p:pic>
                    <p:nvPicPr>
                      <p:cNvPr id="8269" name="Object 7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0" y="3984625"/>
                        <a:ext cx="6078538" cy="257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70" name="Object 78"/>
          <p:cNvGraphicFramePr>
            <a:graphicFrameLocks noChangeAspect="1"/>
          </p:cNvGraphicFramePr>
          <p:nvPr/>
        </p:nvGraphicFramePr>
        <p:xfrm>
          <a:off x="1489076" y="1562101"/>
          <a:ext cx="6081713" cy="2576513"/>
        </p:xfrm>
        <a:graphic>
          <a:graphicData uri="http://schemas.openxmlformats.org/presentationml/2006/ole">
            <mc:AlternateContent xmlns:mc="http://schemas.openxmlformats.org/markup-compatibility/2006">
              <mc:Choice xmlns:v="urn:schemas-microsoft-com:vml" Requires="v">
                <p:oleObj spid="_x0000_s9464" name="Visio" r:id="rId15" imgW="2432304" imgH="1029736" progId="Visio.Drawing.6">
                  <p:embed/>
                </p:oleObj>
              </mc:Choice>
              <mc:Fallback>
                <p:oleObj name="Visio" r:id="rId15" imgW="2432304" imgH="1029736" progId="Visio.Drawing.6">
                  <p:embed/>
                  <p:pic>
                    <p:nvPicPr>
                      <p:cNvPr id="8270" name="Object 7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89076" y="1562101"/>
                        <a:ext cx="6081713" cy="2576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71" name="Object 79"/>
          <p:cNvGraphicFramePr>
            <a:graphicFrameLocks noChangeAspect="1"/>
          </p:cNvGraphicFramePr>
          <p:nvPr/>
        </p:nvGraphicFramePr>
        <p:xfrm>
          <a:off x="1524001" y="3984626"/>
          <a:ext cx="6081713" cy="2576513"/>
        </p:xfrm>
        <a:graphic>
          <a:graphicData uri="http://schemas.openxmlformats.org/presentationml/2006/ole">
            <mc:AlternateContent xmlns:mc="http://schemas.openxmlformats.org/markup-compatibility/2006">
              <mc:Choice xmlns:v="urn:schemas-microsoft-com:vml" Requires="v">
                <p:oleObj spid="_x0000_s9465" name="Visio" r:id="rId17" imgW="2432304" imgH="1029736" progId="Visio.Drawing.6">
                  <p:embed/>
                </p:oleObj>
              </mc:Choice>
              <mc:Fallback>
                <p:oleObj name="Visio" r:id="rId17" imgW="2432304" imgH="1029736" progId="Visio.Drawing.6">
                  <p:embed/>
                  <p:pic>
                    <p:nvPicPr>
                      <p:cNvPr id="8271" name="Object 7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24001" y="3984626"/>
                        <a:ext cx="6081713" cy="2576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72" name="Text Box 80"/>
          <p:cNvSpPr txBox="1">
            <a:spLocks noChangeArrowheads="1"/>
          </p:cNvSpPr>
          <p:nvPr/>
        </p:nvSpPr>
        <p:spPr bwMode="auto">
          <a:xfrm>
            <a:off x="2892425" y="266700"/>
            <a:ext cx="6324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3200">
                <a:latin typeface="华文中宋" panose="02010600040101010101" pitchFamily="2" charset="-122"/>
                <a:ea typeface="华文中宋" panose="02010600040101010101" pitchFamily="2" charset="-122"/>
              </a:rPr>
              <a:t>8</a:t>
            </a:r>
            <a:r>
              <a:rPr lang="zh-CN" altLang="en-US" sz="3200">
                <a:latin typeface="华文中宋" panose="02010600040101010101" pitchFamily="2" charset="-122"/>
                <a:ea typeface="华文中宋" panose="02010600040101010101" pitchFamily="2" charset="-122"/>
              </a:rPr>
              <a:t>点基</a:t>
            </a:r>
            <a:r>
              <a:rPr lang="en-US" altLang="zh-CN" sz="3200">
                <a:latin typeface="华文中宋" panose="02010600040101010101" pitchFamily="2" charset="-122"/>
                <a:ea typeface="华文中宋" panose="02010600040101010101" pitchFamily="2" charset="-122"/>
              </a:rPr>
              <a:t>2</a:t>
            </a:r>
            <a:r>
              <a:rPr lang="zh-CN" altLang="en-US" sz="3200">
                <a:latin typeface="华文中宋" panose="02010600040101010101" pitchFamily="2" charset="-122"/>
                <a:ea typeface="华文中宋" panose="02010600040101010101" pitchFamily="2" charset="-122"/>
              </a:rPr>
              <a:t>时间抽取</a:t>
            </a:r>
            <a:r>
              <a:rPr lang="en-US" altLang="zh-CN" sz="3200">
                <a:latin typeface="华文中宋" panose="02010600040101010101" pitchFamily="2" charset="-122"/>
                <a:ea typeface="华文中宋" panose="02010600040101010101" pitchFamily="2" charset="-122"/>
              </a:rPr>
              <a:t>FFT</a:t>
            </a:r>
            <a:r>
              <a:rPr lang="zh-CN" altLang="en-US" sz="3200">
                <a:latin typeface="华文中宋" panose="02010600040101010101" pitchFamily="2" charset="-122"/>
                <a:ea typeface="华文中宋" panose="02010600040101010101" pitchFamily="2" charset="-122"/>
              </a:rPr>
              <a:t>算法流图</a:t>
            </a:r>
          </a:p>
        </p:txBody>
      </p:sp>
      <p:sp>
        <p:nvSpPr>
          <p:cNvPr id="8273" name="Rectangle 81"/>
          <p:cNvSpPr>
            <a:spLocks noChangeArrowheads="1"/>
          </p:cNvSpPr>
          <p:nvPr/>
        </p:nvSpPr>
        <p:spPr bwMode="auto">
          <a:xfrm>
            <a:off x="1676400" y="965200"/>
            <a:ext cx="8915400" cy="76200"/>
          </a:xfrm>
          <a:prstGeom prst="rect">
            <a:avLst/>
          </a:prstGeom>
          <a:gradFill rotWithShape="0">
            <a:gsLst>
              <a:gs pos="0">
                <a:srgbClr val="00CCFF">
                  <a:gamma/>
                  <a:shade val="46275"/>
                  <a:invGamma/>
                </a:srgbClr>
              </a:gs>
              <a:gs pos="50000">
                <a:srgbClr val="00CCFF"/>
              </a:gs>
              <a:gs pos="100000">
                <a:srgbClr val="00CCFF">
                  <a:gamma/>
                  <a:shade val="46275"/>
                  <a:invGamma/>
                </a:srgbClr>
              </a:gs>
            </a:gsLst>
            <a:lin ang="5400000" scaled="1"/>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85035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66"/>
                                        </p:tgtEl>
                                        <p:attrNameLst>
                                          <p:attrName>style.visibility</p:attrName>
                                        </p:attrNameLst>
                                      </p:cBhvr>
                                      <p:to>
                                        <p:strVal val="visible"/>
                                      </p:to>
                                    </p:set>
                                    <p:animEffect transition="in" filter="dissolve">
                                      <p:cBhvr>
                                        <p:cTn id="7" dur="500"/>
                                        <p:tgtEl>
                                          <p:spTgt spid="8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8268"/>
                                        </p:tgtEl>
                                        <p:attrNameLst>
                                          <p:attrName>style.visibility</p:attrName>
                                        </p:attrNameLst>
                                      </p:cBhvr>
                                      <p:to>
                                        <p:strVal val="visible"/>
                                      </p:to>
                                    </p:set>
                                    <p:animEffect transition="in" filter="box(out)">
                                      <p:cBhvr>
                                        <p:cTn id="12" dur="500"/>
                                        <p:tgtEl>
                                          <p:spTgt spid="8268"/>
                                        </p:tgtEl>
                                      </p:cBhvr>
                                    </p:animEffect>
                                  </p:childTnLst>
                                  <p:subTnLst>
                                    <p:set>
                                      <p:cBhvr override="childStyle">
                                        <p:cTn dur="1" fill="hold" display="0" masterRel="nextClick" afterEffect="1"/>
                                        <p:tgtEl>
                                          <p:spTgt spid="8268"/>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8270"/>
                                        </p:tgtEl>
                                        <p:attrNameLst>
                                          <p:attrName>style.visibility</p:attrName>
                                        </p:attrNameLst>
                                      </p:cBhvr>
                                      <p:to>
                                        <p:strVal val="visible"/>
                                      </p:to>
                                    </p:set>
                                    <p:animEffect transition="in" filter="box(out)">
                                      <p:cBhvr>
                                        <p:cTn id="17" dur="500"/>
                                        <p:tgtEl>
                                          <p:spTgt spid="82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267"/>
                                        </p:tgtEl>
                                        <p:attrNameLst>
                                          <p:attrName>style.visibility</p:attrName>
                                        </p:attrNameLst>
                                      </p:cBhvr>
                                      <p:to>
                                        <p:strVal val="visible"/>
                                      </p:to>
                                    </p:set>
                                    <p:animEffect transition="in" filter="dissolve">
                                      <p:cBhvr>
                                        <p:cTn id="22" dur="500"/>
                                        <p:tgtEl>
                                          <p:spTgt spid="82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8269"/>
                                        </p:tgtEl>
                                        <p:attrNameLst>
                                          <p:attrName>style.visibility</p:attrName>
                                        </p:attrNameLst>
                                      </p:cBhvr>
                                      <p:to>
                                        <p:strVal val="visible"/>
                                      </p:to>
                                    </p:set>
                                    <p:animEffect transition="in" filter="box(out)">
                                      <p:cBhvr>
                                        <p:cTn id="27" dur="500"/>
                                        <p:tgtEl>
                                          <p:spTgt spid="8269"/>
                                        </p:tgtEl>
                                      </p:cBhvr>
                                    </p:animEffect>
                                  </p:childTnLst>
                                  <p:subTnLst>
                                    <p:set>
                                      <p:cBhvr override="childStyle">
                                        <p:cTn dur="1" fill="hold" display="0" masterRel="nextClick" afterEffect="1"/>
                                        <p:tgtEl>
                                          <p:spTgt spid="8269"/>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8271"/>
                                        </p:tgtEl>
                                        <p:attrNameLst>
                                          <p:attrName>style.visibility</p:attrName>
                                        </p:attrNameLst>
                                      </p:cBhvr>
                                      <p:to>
                                        <p:strVal val="visible"/>
                                      </p:to>
                                    </p:set>
                                    <p:animEffect transition="in" filter="box(out)">
                                      <p:cBhvr>
                                        <p:cTn id="32" dur="500"/>
                                        <p:tgtEl>
                                          <p:spTgt spid="8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09800" y="228600"/>
            <a:ext cx="7772400" cy="628650"/>
          </a:xfrm>
        </p:spPr>
        <p:txBody>
          <a:bodyPr/>
          <a:lstStyle/>
          <a:p>
            <a:r>
              <a:rPr lang="zh-CN" altLang="en-US" sz="3200">
                <a:latin typeface="黑体" panose="02010609060101010101" pitchFamily="49" charset="-122"/>
                <a:ea typeface="黑体" panose="02010609060101010101" pitchFamily="49" charset="-122"/>
              </a:rPr>
              <a:t>基</a:t>
            </a:r>
            <a:r>
              <a:rPr lang="en-US" altLang="zh-CN" sz="3200">
                <a:latin typeface="黑体" panose="02010609060101010101" pitchFamily="49" charset="-122"/>
                <a:ea typeface="黑体" panose="02010609060101010101" pitchFamily="49" charset="-122"/>
              </a:rPr>
              <a:t>2</a:t>
            </a:r>
            <a:r>
              <a:rPr lang="zh-CN" altLang="en-US" sz="3200">
                <a:latin typeface="黑体" panose="02010609060101010101" pitchFamily="49" charset="-122"/>
                <a:ea typeface="黑体" panose="02010609060101010101" pitchFamily="49" charset="-122"/>
              </a:rPr>
              <a:t>时间抽取</a:t>
            </a:r>
            <a:r>
              <a:rPr lang="en-US" altLang="zh-CN" sz="3200">
                <a:latin typeface="黑体" panose="02010609060101010101" pitchFamily="49" charset="-122"/>
                <a:ea typeface="黑体" panose="02010609060101010101" pitchFamily="49" charset="-122"/>
              </a:rPr>
              <a:t>FFT</a:t>
            </a:r>
            <a:r>
              <a:rPr lang="zh-CN" altLang="en-US" sz="3200">
                <a:latin typeface="黑体" panose="02010609060101010101" pitchFamily="49" charset="-122"/>
                <a:ea typeface="黑体" panose="02010609060101010101" pitchFamily="49" charset="-122"/>
              </a:rPr>
              <a:t>算法</a:t>
            </a:r>
          </a:p>
        </p:txBody>
      </p:sp>
      <p:graphicFrame>
        <p:nvGraphicFramePr>
          <p:cNvPr id="9219" name="Object 3"/>
          <p:cNvGraphicFramePr>
            <a:graphicFrameLocks noChangeAspect="1"/>
          </p:cNvGraphicFramePr>
          <p:nvPr/>
        </p:nvGraphicFramePr>
        <p:xfrm>
          <a:off x="1739900" y="1870076"/>
          <a:ext cx="8737600" cy="4860925"/>
        </p:xfrm>
        <a:graphic>
          <a:graphicData uri="http://schemas.openxmlformats.org/presentationml/2006/ole">
            <mc:AlternateContent xmlns:mc="http://schemas.openxmlformats.org/markup-compatibility/2006">
              <mc:Choice xmlns:v="urn:schemas-microsoft-com:vml" Requires="v">
                <p:oleObj spid="_x0000_s10272" name="Visio" r:id="rId3" imgW="3494471" imgH="1944136" progId="Visio.Drawing.6">
                  <p:embed/>
                </p:oleObj>
              </mc:Choice>
              <mc:Fallback>
                <p:oleObj name="Visio" r:id="rId3" imgW="3494471" imgH="1944136" progId="Visio.Drawing.6">
                  <p:embed/>
                  <p:pic>
                    <p:nvPicPr>
                      <p:cNvPr id="921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9900" y="1870076"/>
                        <a:ext cx="8737600" cy="486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Line 4"/>
          <p:cNvSpPr>
            <a:spLocks noChangeShapeType="1"/>
          </p:cNvSpPr>
          <p:nvPr/>
        </p:nvSpPr>
        <p:spPr bwMode="auto">
          <a:xfrm>
            <a:off x="5219700" y="1466850"/>
            <a:ext cx="0" cy="5181600"/>
          </a:xfrm>
          <a:prstGeom prst="line">
            <a:avLst/>
          </a:prstGeom>
          <a:noFill/>
          <a:ln w="9525">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1" name="Line 5"/>
          <p:cNvSpPr>
            <a:spLocks noChangeShapeType="1"/>
          </p:cNvSpPr>
          <p:nvPr/>
        </p:nvSpPr>
        <p:spPr bwMode="auto">
          <a:xfrm>
            <a:off x="7505700" y="1466850"/>
            <a:ext cx="0" cy="5181600"/>
          </a:xfrm>
          <a:prstGeom prst="line">
            <a:avLst/>
          </a:prstGeom>
          <a:noFill/>
          <a:ln w="9525">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2" name="Text Box 6"/>
          <p:cNvSpPr txBox="1">
            <a:spLocks noChangeArrowheads="1"/>
          </p:cNvSpPr>
          <p:nvPr/>
        </p:nvSpPr>
        <p:spPr bwMode="auto">
          <a:xfrm>
            <a:off x="2762250" y="1466850"/>
            <a:ext cx="154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a:solidFill>
                  <a:srgbClr val="3333CC"/>
                </a:solidFill>
              </a:rPr>
              <a:t>第一级</a:t>
            </a:r>
          </a:p>
        </p:txBody>
      </p:sp>
      <p:sp>
        <p:nvSpPr>
          <p:cNvPr id="9223" name="Text Box 7"/>
          <p:cNvSpPr txBox="1">
            <a:spLocks noChangeArrowheads="1"/>
          </p:cNvSpPr>
          <p:nvPr/>
        </p:nvSpPr>
        <p:spPr bwMode="auto">
          <a:xfrm>
            <a:off x="5619750" y="1428750"/>
            <a:ext cx="154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a:solidFill>
                  <a:srgbClr val="3333CC"/>
                </a:solidFill>
              </a:rPr>
              <a:t>第二级</a:t>
            </a:r>
          </a:p>
        </p:txBody>
      </p:sp>
      <p:sp>
        <p:nvSpPr>
          <p:cNvPr id="9224" name="Text Box 8"/>
          <p:cNvSpPr txBox="1">
            <a:spLocks noChangeArrowheads="1"/>
          </p:cNvSpPr>
          <p:nvPr/>
        </p:nvSpPr>
        <p:spPr bwMode="auto">
          <a:xfrm>
            <a:off x="7943850" y="1371600"/>
            <a:ext cx="154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a:solidFill>
                  <a:srgbClr val="3333CC"/>
                </a:solidFill>
              </a:rPr>
              <a:t>第三级</a:t>
            </a:r>
          </a:p>
        </p:txBody>
      </p:sp>
      <p:sp>
        <p:nvSpPr>
          <p:cNvPr id="9225" name="Rectangle 9"/>
          <p:cNvSpPr>
            <a:spLocks noChangeArrowheads="1"/>
          </p:cNvSpPr>
          <p:nvPr/>
        </p:nvSpPr>
        <p:spPr bwMode="auto">
          <a:xfrm>
            <a:off x="1676400" y="1028700"/>
            <a:ext cx="8915400" cy="76200"/>
          </a:xfrm>
          <a:prstGeom prst="rect">
            <a:avLst/>
          </a:prstGeom>
          <a:gradFill rotWithShape="0">
            <a:gsLst>
              <a:gs pos="0">
                <a:srgbClr val="00CCFF">
                  <a:gamma/>
                  <a:shade val="46275"/>
                  <a:invGamma/>
                </a:srgbClr>
              </a:gs>
              <a:gs pos="50000">
                <a:srgbClr val="00CCFF"/>
              </a:gs>
              <a:gs pos="100000">
                <a:srgbClr val="00CCFF">
                  <a:gamma/>
                  <a:shade val="46275"/>
                  <a:invGamma/>
                </a:srgbClr>
              </a:gs>
            </a:gsLst>
            <a:lin ang="5400000" scaled="1"/>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65445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linds(vertical)">
                                      <p:cBhvr>
                                        <p:cTn id="7" dur="500"/>
                                        <p:tgtEl>
                                          <p:spTgt spid="92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9221"/>
                                        </p:tgtEl>
                                        <p:attrNameLst>
                                          <p:attrName>style.visibility</p:attrName>
                                        </p:attrNameLst>
                                      </p:cBhvr>
                                      <p:to>
                                        <p:strVal val="visible"/>
                                      </p:to>
                                    </p:set>
                                    <p:animEffect transition="in" filter="blinds(vertical)">
                                      <p:cBhvr>
                                        <p:cTn id="12" dur="500"/>
                                        <p:tgtEl>
                                          <p:spTgt spid="92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blinds(vertical)">
                                      <p:cBhvr>
                                        <p:cTn id="17" dur="500"/>
                                        <p:tgtEl>
                                          <p:spTgt spid="92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9223"/>
                                        </p:tgtEl>
                                        <p:attrNameLst>
                                          <p:attrName>style.visibility</p:attrName>
                                        </p:attrNameLst>
                                      </p:cBhvr>
                                      <p:to>
                                        <p:strVal val="visible"/>
                                      </p:to>
                                    </p:set>
                                    <p:animEffect transition="in" filter="blinds(vertical)">
                                      <p:cBhvr>
                                        <p:cTn id="22" dur="500"/>
                                        <p:tgtEl>
                                          <p:spTgt spid="92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9224"/>
                                        </p:tgtEl>
                                        <p:attrNameLst>
                                          <p:attrName>style.visibility</p:attrName>
                                        </p:attrNameLst>
                                      </p:cBhvr>
                                      <p:to>
                                        <p:strVal val="visible"/>
                                      </p:to>
                                    </p:set>
                                    <p:animEffect transition="in" filter="blinds(vertical)">
                                      <p:cBhvr>
                                        <p:cTn id="27" dur="500"/>
                                        <p:tgtEl>
                                          <p:spTgt spid="9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utoUpdateAnimBg="0"/>
      <p:bldP spid="9223" grpId="0" autoUpdateAnimBg="0"/>
      <p:bldP spid="922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2819400" y="457200"/>
            <a:ext cx="7239000" cy="914400"/>
          </a:xfrm>
        </p:spPr>
        <p:txBody>
          <a:bodyPr/>
          <a:lstStyle/>
          <a:p>
            <a:r>
              <a:rPr lang="zh-CN" altLang="en-US" smtClean="0">
                <a:ea typeface="宋体" panose="02010600030101010101" pitchFamily="2" charset="-122"/>
              </a:rPr>
              <a:t>按时间抽取的</a:t>
            </a:r>
            <a:r>
              <a:rPr lang="en-US" altLang="zh-CN" smtClean="0">
                <a:ea typeface="宋体" panose="02010600030101010101" pitchFamily="2" charset="-122"/>
              </a:rPr>
              <a:t>FFT</a:t>
            </a:r>
            <a:r>
              <a:rPr lang="zh-CN" altLang="en-US" smtClean="0">
                <a:ea typeface="宋体" panose="02010600030101010101" pitchFamily="2" charset="-122"/>
              </a:rPr>
              <a:t>算法的特点</a:t>
            </a:r>
          </a:p>
        </p:txBody>
      </p:sp>
      <p:sp>
        <p:nvSpPr>
          <p:cNvPr id="9421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7F3C9378-9EB0-4B8C-9EDD-C11DC33FD6E8}"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6</a:t>
            </a:fld>
            <a:endParaRPr lang="en-US" altLang="zh-CN" sz="1400" b="0">
              <a:solidFill>
                <a:srgbClr val="000000"/>
              </a:solidFill>
              <a:latin typeface="Times New Roman" panose="02020603050405020304" pitchFamily="18" charset="0"/>
            </a:endParaRPr>
          </a:p>
        </p:txBody>
      </p:sp>
      <p:sp>
        <p:nvSpPr>
          <p:cNvPr id="94212" name="TextBox 4"/>
          <p:cNvSpPr txBox="1">
            <a:spLocks noChangeArrowheads="1"/>
          </p:cNvSpPr>
          <p:nvPr/>
        </p:nvSpPr>
        <p:spPr bwMode="auto">
          <a:xfrm>
            <a:off x="2133599" y="1600200"/>
            <a:ext cx="49487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en-US" altLang="zh-CN" dirty="0">
                <a:solidFill>
                  <a:srgbClr val="000000"/>
                </a:solidFill>
              </a:rPr>
              <a:t>1. </a:t>
            </a:r>
            <a:r>
              <a:rPr lang="zh-CN" altLang="en-US" dirty="0">
                <a:solidFill>
                  <a:srgbClr val="000000"/>
                </a:solidFill>
              </a:rPr>
              <a:t>原位运算（同址运算</a:t>
            </a:r>
            <a:r>
              <a:rPr lang="zh-CN" altLang="en-US" dirty="0" smtClean="0">
                <a:solidFill>
                  <a:srgbClr val="000000"/>
                </a:solidFill>
              </a:rPr>
              <a:t>）、计算量</a:t>
            </a:r>
            <a:endParaRPr lang="zh-CN" altLang="en-US" dirty="0">
              <a:solidFill>
                <a:srgbClr val="000000"/>
              </a:solidFill>
            </a:endParaRPr>
          </a:p>
        </p:txBody>
      </p:sp>
      <p:graphicFrame>
        <p:nvGraphicFramePr>
          <p:cNvPr id="94213" name="Object 6"/>
          <p:cNvGraphicFramePr>
            <a:graphicFrameLocks noChangeAspect="1"/>
          </p:cNvGraphicFramePr>
          <p:nvPr/>
        </p:nvGraphicFramePr>
        <p:xfrm>
          <a:off x="2819400" y="2120900"/>
          <a:ext cx="3505200" cy="1042988"/>
        </p:xfrm>
        <a:graphic>
          <a:graphicData uri="http://schemas.openxmlformats.org/presentationml/2006/ole">
            <mc:AlternateContent xmlns:mc="http://schemas.openxmlformats.org/markup-compatibility/2006">
              <mc:Choice xmlns:v="urn:schemas-microsoft-com:vml" Requires="v">
                <p:oleObj spid="_x0000_s20491" name="Equation" r:id="rId4" imgW="1879600" imgH="558800" progId="Equation.3">
                  <p:embed/>
                </p:oleObj>
              </mc:Choice>
              <mc:Fallback>
                <p:oleObj name="Equation" r:id="rId4" imgW="1879600" imgH="558800" progId="Equation.3">
                  <p:embed/>
                  <p:pic>
                    <p:nvPicPr>
                      <p:cNvPr id="94213"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2120900"/>
                        <a:ext cx="3505200"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4214" name="Picture 7" descr="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3429001"/>
            <a:ext cx="5715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473200" y="5338233"/>
            <a:ext cx="8411633" cy="923330"/>
          </a:xfrm>
          <a:prstGeom prst="rect">
            <a:avLst/>
          </a:prstGeom>
          <a:noFill/>
        </p:spPr>
        <p:txBody>
          <a:bodyPr wrap="square" rtlCol="0">
            <a:spAutoFit/>
          </a:bodyPr>
          <a:lstStyle/>
          <a:p>
            <a:pPr marL="285750" indent="-285750">
              <a:buFont typeface="Wingdings" panose="05000000000000000000" pitchFamily="2" charset="2"/>
              <a:buChar char="l"/>
            </a:pPr>
            <a:r>
              <a:rPr lang="en-US" altLang="zh-CN" dirty="0" smtClean="0"/>
              <a:t>N</a:t>
            </a:r>
            <a:r>
              <a:rPr lang="zh-CN" altLang="en-US" dirty="0" smtClean="0"/>
              <a:t>点</a:t>
            </a:r>
            <a:r>
              <a:rPr lang="en-US" altLang="zh-CN" dirty="0" smtClean="0"/>
              <a:t>FFT</a:t>
            </a:r>
            <a:r>
              <a:rPr lang="zh-CN" altLang="en-US" dirty="0" smtClean="0"/>
              <a:t>一共有</a:t>
            </a:r>
            <a:r>
              <a:rPr lang="en-US" altLang="zh-CN" dirty="0" smtClean="0"/>
              <a:t>M</a:t>
            </a:r>
            <a:r>
              <a:rPr lang="zh-CN" altLang="en-US" dirty="0" smtClean="0"/>
              <a:t>层（级），</a:t>
            </a:r>
            <a:r>
              <a:rPr lang="en-US" altLang="zh-CN" dirty="0" smtClean="0"/>
              <a:t>M=</a:t>
            </a:r>
            <a:r>
              <a:rPr lang="en-US" altLang="zh-CN" dirty="0" err="1" smtClean="0"/>
              <a:t>logN</a:t>
            </a:r>
            <a:endParaRPr lang="en-US" altLang="zh-CN" dirty="0" smtClean="0"/>
          </a:p>
          <a:p>
            <a:pPr marL="285750" indent="-285750">
              <a:buFont typeface="Wingdings" panose="05000000000000000000" pitchFamily="2" charset="2"/>
              <a:buChar char="l"/>
            </a:pPr>
            <a:r>
              <a:rPr lang="zh-CN" altLang="en-US" dirty="0"/>
              <a:t>每</a:t>
            </a:r>
            <a:r>
              <a:rPr lang="zh-CN" altLang="en-US" dirty="0" smtClean="0"/>
              <a:t>级有</a:t>
            </a:r>
            <a:r>
              <a:rPr lang="en-US" altLang="zh-CN" dirty="0" smtClean="0"/>
              <a:t>N/2</a:t>
            </a:r>
            <a:r>
              <a:rPr lang="zh-CN" altLang="en-US" dirty="0" smtClean="0"/>
              <a:t>蝶形运算</a:t>
            </a:r>
            <a:endParaRPr lang="en-US" altLang="zh-CN" dirty="0" smtClean="0"/>
          </a:p>
          <a:p>
            <a:pPr marL="285750" indent="-285750">
              <a:buFont typeface="Wingdings" panose="05000000000000000000" pitchFamily="2" charset="2"/>
              <a:buChar char="l"/>
            </a:pPr>
            <a:r>
              <a:rPr lang="zh-CN" altLang="en-US" dirty="0" smtClean="0"/>
              <a:t>计算后的结果可以存储到原来单元（同址运算）</a:t>
            </a:r>
            <a:endParaRPr lang="zh-CN" altLang="en-US" dirty="0"/>
          </a:p>
        </p:txBody>
      </p:sp>
    </p:spTree>
    <p:extLst>
      <p:ext uri="{BB962C8B-B14F-4D97-AF65-F5344CB8AC3E}">
        <p14:creationId xmlns:p14="http://schemas.microsoft.com/office/powerpoint/2010/main" val="16168089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2819400" y="381000"/>
            <a:ext cx="7239000" cy="914400"/>
          </a:xfrm>
        </p:spPr>
        <p:txBody>
          <a:bodyPr/>
          <a:lstStyle/>
          <a:p>
            <a:r>
              <a:rPr lang="zh-CN" altLang="en-US" smtClean="0">
                <a:ea typeface="宋体" panose="02010600030101010101" pitchFamily="2" charset="-122"/>
              </a:rPr>
              <a:t>按时间抽取的</a:t>
            </a:r>
            <a:r>
              <a:rPr lang="en-US" altLang="zh-CN" smtClean="0">
                <a:ea typeface="宋体" panose="02010600030101010101" pitchFamily="2" charset="-122"/>
              </a:rPr>
              <a:t>FFT</a:t>
            </a:r>
            <a:r>
              <a:rPr lang="zh-CN" altLang="en-US" smtClean="0">
                <a:ea typeface="宋体" panose="02010600030101010101" pitchFamily="2" charset="-122"/>
              </a:rPr>
              <a:t>算法的特点</a:t>
            </a:r>
          </a:p>
        </p:txBody>
      </p:sp>
      <p:sp>
        <p:nvSpPr>
          <p:cNvPr id="9523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1A966EDE-9055-4156-AD1F-0767DA91F9EB}"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7</a:t>
            </a:fld>
            <a:endParaRPr lang="en-US" altLang="zh-CN" sz="1400" b="0">
              <a:solidFill>
                <a:srgbClr val="000000"/>
              </a:solidFill>
              <a:latin typeface="Times New Roman" panose="02020603050405020304" pitchFamily="18" charset="0"/>
            </a:endParaRPr>
          </a:p>
        </p:txBody>
      </p:sp>
      <p:sp>
        <p:nvSpPr>
          <p:cNvPr id="95236" name="TextBox 4"/>
          <p:cNvSpPr txBox="1">
            <a:spLocks noChangeArrowheads="1"/>
          </p:cNvSpPr>
          <p:nvPr/>
        </p:nvSpPr>
        <p:spPr bwMode="auto">
          <a:xfrm>
            <a:off x="2133601" y="1524000"/>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en-US" altLang="zh-CN">
                <a:solidFill>
                  <a:srgbClr val="000000"/>
                </a:solidFill>
              </a:rPr>
              <a:t>2. </a:t>
            </a:r>
            <a:r>
              <a:rPr lang="zh-CN" altLang="en-US">
                <a:solidFill>
                  <a:srgbClr val="000000"/>
                </a:solidFill>
              </a:rPr>
              <a:t>倒位序</a:t>
            </a:r>
          </a:p>
        </p:txBody>
      </p:sp>
      <p:pic>
        <p:nvPicPr>
          <p:cNvPr id="95237" name="Picture 7" descr="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2057401"/>
            <a:ext cx="5715000"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78835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a:xfrm>
            <a:off x="2819400" y="457200"/>
            <a:ext cx="7239000" cy="914400"/>
          </a:xfrm>
        </p:spPr>
        <p:txBody>
          <a:bodyPr/>
          <a:lstStyle/>
          <a:p>
            <a:r>
              <a:rPr lang="zh-CN" altLang="en-US" smtClean="0">
                <a:ea typeface="宋体" panose="02010600030101010101" pitchFamily="2" charset="-122"/>
              </a:rPr>
              <a:t>按时间抽取的</a:t>
            </a:r>
            <a:r>
              <a:rPr lang="en-US" altLang="zh-CN" smtClean="0">
                <a:ea typeface="宋体" panose="02010600030101010101" pitchFamily="2" charset="-122"/>
              </a:rPr>
              <a:t>FFT</a:t>
            </a:r>
            <a:r>
              <a:rPr lang="zh-CN" altLang="en-US" smtClean="0">
                <a:ea typeface="宋体" panose="02010600030101010101" pitchFamily="2" charset="-122"/>
              </a:rPr>
              <a:t>算法的特点</a:t>
            </a:r>
          </a:p>
        </p:txBody>
      </p:sp>
      <p:sp>
        <p:nvSpPr>
          <p:cNvPr id="9625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1519861B-6A43-484D-8EB2-813B044A7A29}"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8</a:t>
            </a:fld>
            <a:endParaRPr lang="en-US" altLang="zh-CN" sz="1400" b="0">
              <a:solidFill>
                <a:srgbClr val="000000"/>
              </a:solidFill>
              <a:latin typeface="Times New Roman" panose="02020603050405020304" pitchFamily="18" charset="0"/>
            </a:endParaRPr>
          </a:p>
        </p:txBody>
      </p:sp>
      <p:sp>
        <p:nvSpPr>
          <p:cNvPr id="96260" name="Text Box 4"/>
          <p:cNvSpPr txBox="1">
            <a:spLocks noChangeArrowheads="1"/>
          </p:cNvSpPr>
          <p:nvPr/>
        </p:nvSpPr>
        <p:spPr bwMode="auto">
          <a:xfrm>
            <a:off x="1752600" y="1382713"/>
            <a:ext cx="8686800" cy="246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algn="just" eaLnBrk="0" fontAlgn="base" hangingPunct="0">
              <a:lnSpc>
                <a:spcPct val="158000"/>
              </a:lnSpc>
              <a:spcBef>
                <a:spcPct val="50000"/>
              </a:spcBef>
              <a:spcAft>
                <a:spcPct val="0"/>
              </a:spcAft>
            </a:pPr>
            <a:r>
              <a:rPr lang="en-US" altLang="zh-CN" sz="1800" dirty="0">
                <a:solidFill>
                  <a:srgbClr val="000000"/>
                </a:solidFill>
              </a:rPr>
              <a:t>   3. </a:t>
            </a:r>
            <a:r>
              <a:rPr lang="zh-CN" altLang="en-US" sz="1800" dirty="0">
                <a:solidFill>
                  <a:srgbClr val="000000"/>
                </a:solidFill>
              </a:rPr>
              <a:t>蝶形运算两节点的</a:t>
            </a:r>
            <a:r>
              <a:rPr lang="zh-CN" altLang="en-US" sz="1800" dirty="0">
                <a:solidFill>
                  <a:srgbClr val="000000"/>
                </a:solidFill>
                <a:latin typeface="Courier New" panose="02070309020205020404" pitchFamily="49" charset="0"/>
              </a:rPr>
              <a:t>“</a:t>
            </a:r>
            <a:r>
              <a:rPr lang="zh-CN" altLang="en-US" sz="1800" dirty="0">
                <a:solidFill>
                  <a:srgbClr val="000000"/>
                </a:solidFill>
              </a:rPr>
              <a:t>距离</a:t>
            </a:r>
            <a:r>
              <a:rPr lang="zh-CN" altLang="en-US" sz="1800" dirty="0">
                <a:solidFill>
                  <a:srgbClr val="000000"/>
                </a:solidFill>
                <a:latin typeface="Courier New" panose="02070309020205020404" pitchFamily="49" charset="0"/>
              </a:rPr>
              <a:t>”</a:t>
            </a:r>
            <a:endParaRPr lang="zh-CN" altLang="en-US" sz="1800" dirty="0">
              <a:solidFill>
                <a:srgbClr val="000000"/>
              </a:solidFill>
            </a:endParaRPr>
          </a:p>
          <a:p>
            <a:pPr algn="just" eaLnBrk="0" fontAlgn="base" hangingPunct="0">
              <a:lnSpc>
                <a:spcPct val="150000"/>
              </a:lnSpc>
              <a:spcBef>
                <a:spcPct val="50000"/>
              </a:spcBef>
              <a:spcAft>
                <a:spcPct val="0"/>
              </a:spcAft>
            </a:pPr>
            <a:r>
              <a:rPr lang="zh-CN" altLang="en-US" sz="1800" dirty="0">
                <a:solidFill>
                  <a:srgbClr val="000000"/>
                </a:solidFill>
              </a:rPr>
              <a:t>        以</a:t>
            </a:r>
            <a:r>
              <a:rPr lang="en-US" altLang="zh-CN" sz="1800" dirty="0">
                <a:solidFill>
                  <a:srgbClr val="000000"/>
                </a:solidFill>
              </a:rPr>
              <a:t>8</a:t>
            </a:r>
            <a:r>
              <a:rPr lang="zh-CN" altLang="en-US" sz="1800" dirty="0">
                <a:solidFill>
                  <a:srgbClr val="000000"/>
                </a:solidFill>
              </a:rPr>
              <a:t>点</a:t>
            </a:r>
            <a:r>
              <a:rPr lang="en-US" altLang="zh-CN" sz="1800" dirty="0">
                <a:solidFill>
                  <a:srgbClr val="000000"/>
                </a:solidFill>
              </a:rPr>
              <a:t>FFT</a:t>
            </a:r>
            <a:r>
              <a:rPr lang="zh-CN" altLang="en-US" sz="1800" dirty="0">
                <a:solidFill>
                  <a:srgbClr val="000000"/>
                </a:solidFill>
              </a:rPr>
              <a:t>为例，其输入是倒位序的，输出是自然顺序的</a:t>
            </a:r>
            <a:r>
              <a:rPr lang="zh-CN" altLang="en-US" sz="1800" dirty="0" smtClean="0">
                <a:solidFill>
                  <a:srgbClr val="000000"/>
                </a:solidFill>
              </a:rPr>
              <a:t>。假设共有</a:t>
            </a:r>
            <a:r>
              <a:rPr lang="en-US" altLang="zh-CN" sz="1800" dirty="0" smtClean="0">
                <a:solidFill>
                  <a:srgbClr val="000000"/>
                </a:solidFill>
              </a:rPr>
              <a:t>L</a:t>
            </a:r>
            <a:r>
              <a:rPr lang="zh-CN" altLang="en-US" sz="1800" dirty="0" smtClean="0">
                <a:solidFill>
                  <a:srgbClr val="000000"/>
                </a:solidFill>
              </a:rPr>
              <a:t>层，第</a:t>
            </a:r>
            <a:r>
              <a:rPr lang="en-US" altLang="zh-CN" sz="1800" dirty="0" smtClean="0">
                <a:solidFill>
                  <a:srgbClr val="000000"/>
                </a:solidFill>
              </a:rPr>
              <a:t>l</a:t>
            </a:r>
            <a:r>
              <a:rPr lang="zh-CN" altLang="en-US" sz="1800" dirty="0" smtClean="0">
                <a:solidFill>
                  <a:srgbClr val="000000"/>
                </a:solidFill>
              </a:rPr>
              <a:t>层，共有</a:t>
            </a:r>
            <a:r>
              <a:rPr lang="en-US" altLang="zh-CN" sz="1800" dirty="0" smtClean="0">
                <a:solidFill>
                  <a:srgbClr val="000000"/>
                </a:solidFill>
              </a:rPr>
              <a:t>B=2^(l-1)</a:t>
            </a:r>
            <a:r>
              <a:rPr lang="zh-CN" altLang="en-US" sz="1800" dirty="0" smtClean="0">
                <a:solidFill>
                  <a:srgbClr val="000000"/>
                </a:solidFill>
              </a:rPr>
              <a:t>不同的蝶形因子，第</a:t>
            </a:r>
            <a:r>
              <a:rPr lang="en-US" altLang="zh-CN" sz="1800" dirty="0" smtClean="0">
                <a:solidFill>
                  <a:srgbClr val="000000"/>
                </a:solidFill>
              </a:rPr>
              <a:t>l</a:t>
            </a:r>
            <a:r>
              <a:rPr lang="zh-CN" altLang="en-US" sz="1800" dirty="0" smtClean="0">
                <a:solidFill>
                  <a:srgbClr val="000000"/>
                </a:solidFill>
              </a:rPr>
              <a:t>层</a:t>
            </a:r>
            <a:r>
              <a:rPr lang="en-US" altLang="zh-CN" sz="1800" dirty="0" smtClean="0">
                <a:solidFill>
                  <a:srgbClr val="000000"/>
                </a:solidFill>
              </a:rPr>
              <a:t>R</a:t>
            </a:r>
            <a:r>
              <a:rPr lang="zh-CN" altLang="en-US" sz="1800" dirty="0" smtClean="0">
                <a:solidFill>
                  <a:srgbClr val="000000"/>
                </a:solidFill>
              </a:rPr>
              <a:t>个蝶形因子的指数为</a:t>
            </a:r>
            <a:r>
              <a:rPr lang="en-US" altLang="zh-CN" sz="1800" dirty="0" smtClean="0">
                <a:solidFill>
                  <a:srgbClr val="000000"/>
                </a:solidFill>
              </a:rPr>
              <a:t>P=2^(L-l)(R-1)</a:t>
            </a:r>
            <a:r>
              <a:rPr lang="zh-CN" altLang="en-US" sz="1800" dirty="0" smtClean="0">
                <a:solidFill>
                  <a:srgbClr val="000000"/>
                </a:solidFill>
              </a:rPr>
              <a:t>；同一层相同蝶形共</a:t>
            </a:r>
            <a:r>
              <a:rPr lang="en-US" altLang="zh-CN" sz="1800" dirty="0" smtClean="0">
                <a:solidFill>
                  <a:srgbClr val="000000"/>
                </a:solidFill>
              </a:rPr>
              <a:t>2^(L-l)</a:t>
            </a:r>
            <a:r>
              <a:rPr lang="zh-CN" altLang="en-US" sz="1800" dirty="0" smtClean="0">
                <a:solidFill>
                  <a:srgbClr val="000000"/>
                </a:solidFill>
              </a:rPr>
              <a:t>，相距</a:t>
            </a:r>
            <a:r>
              <a:rPr lang="en-US" altLang="zh-CN" sz="1800" dirty="0" smtClean="0">
                <a:solidFill>
                  <a:srgbClr val="000000"/>
                </a:solidFill>
              </a:rPr>
              <a:t>2</a:t>
            </a:r>
            <a:r>
              <a:rPr lang="en-US" altLang="zh-CN" sz="1800" dirty="0">
                <a:solidFill>
                  <a:srgbClr val="000000"/>
                </a:solidFill>
              </a:rPr>
              <a:t>^(</a:t>
            </a:r>
            <a:r>
              <a:rPr lang="en-US" altLang="zh-CN" sz="1800" dirty="0" smtClean="0">
                <a:solidFill>
                  <a:srgbClr val="000000"/>
                </a:solidFill>
              </a:rPr>
              <a:t>l)</a:t>
            </a:r>
            <a:r>
              <a:rPr lang="zh-CN" altLang="en-US" sz="1800" dirty="0" smtClean="0">
                <a:solidFill>
                  <a:srgbClr val="000000"/>
                </a:solidFill>
              </a:rPr>
              <a:t>，（内）相距</a:t>
            </a:r>
            <a:r>
              <a:rPr lang="en-US" altLang="zh-CN" sz="1800" dirty="0">
                <a:solidFill>
                  <a:srgbClr val="000000"/>
                </a:solidFill>
              </a:rPr>
              <a:t>2^(</a:t>
            </a:r>
            <a:r>
              <a:rPr lang="en-US" altLang="zh-CN" sz="1800" dirty="0" smtClean="0">
                <a:solidFill>
                  <a:srgbClr val="000000"/>
                </a:solidFill>
              </a:rPr>
              <a:t>l-1)</a:t>
            </a:r>
            <a:endParaRPr lang="en-US" altLang="zh-CN" sz="1800" dirty="0">
              <a:solidFill>
                <a:srgbClr val="000000"/>
              </a:solidFill>
            </a:endParaRPr>
          </a:p>
          <a:p>
            <a:pPr algn="just" eaLnBrk="0" fontAlgn="base" hangingPunct="0">
              <a:lnSpc>
                <a:spcPct val="150000"/>
              </a:lnSpc>
              <a:spcBef>
                <a:spcPct val="50000"/>
              </a:spcBef>
              <a:spcAft>
                <a:spcPct val="0"/>
              </a:spcAft>
            </a:pPr>
            <a:endParaRPr lang="zh-CN" altLang="en-US" sz="1800" dirty="0">
              <a:solidFill>
                <a:srgbClr val="000000"/>
              </a:solidFill>
            </a:endParaRPr>
          </a:p>
        </p:txBody>
      </p:sp>
      <p:pic>
        <p:nvPicPr>
          <p:cNvPr id="96261" name="Picture 8" descr="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465" y="3428430"/>
            <a:ext cx="5976937" cy="316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7090833" y="3505200"/>
            <a:ext cx="4419600" cy="1754326"/>
          </a:xfrm>
          <a:prstGeom prst="rect">
            <a:avLst/>
          </a:prstGeom>
          <a:noFill/>
        </p:spPr>
        <p:txBody>
          <a:bodyPr wrap="square" rtlCol="0">
            <a:spAutoFit/>
          </a:bodyPr>
          <a:lstStyle/>
          <a:p>
            <a:r>
              <a:rPr lang="zh-CN" altLang="en-US" dirty="0" smtClean="0"/>
              <a:t>准备：倒拉序</a:t>
            </a:r>
            <a:endParaRPr lang="en-US" altLang="zh-CN" dirty="0" smtClean="0"/>
          </a:p>
          <a:p>
            <a:pPr marL="285750" indent="-285750">
              <a:buFont typeface="Wingdings" panose="05000000000000000000" pitchFamily="2" charset="2"/>
              <a:buChar char="l"/>
            </a:pPr>
            <a:r>
              <a:rPr lang="zh-CN" altLang="en-US" dirty="0" smtClean="0"/>
              <a:t>分层按层进行循环</a:t>
            </a:r>
            <a:endParaRPr lang="en-US" altLang="zh-CN" dirty="0" smtClean="0"/>
          </a:p>
          <a:p>
            <a:pPr marL="285750" indent="-285750">
              <a:buFont typeface="Wingdings" panose="05000000000000000000" pitchFamily="2" charset="2"/>
              <a:buChar char="l"/>
            </a:pPr>
            <a:r>
              <a:rPr lang="zh-CN" altLang="en-US" dirty="0"/>
              <a:t>每一</a:t>
            </a:r>
            <a:r>
              <a:rPr lang="zh-CN" altLang="en-US" dirty="0" smtClean="0"/>
              <a:t>层有几种蝶形因子，按蝶形因子种类循环</a:t>
            </a:r>
            <a:endParaRPr lang="en-US" altLang="zh-CN" dirty="0" smtClean="0"/>
          </a:p>
          <a:p>
            <a:pPr marL="285750" indent="-285750">
              <a:buFont typeface="Wingdings" panose="05000000000000000000" pitchFamily="2" charset="2"/>
              <a:buChar char="l"/>
            </a:pPr>
            <a:r>
              <a:rPr lang="zh-CN" altLang="en-US" dirty="0" smtClean="0"/>
              <a:t>对于特定种类，有多少个因子，按个数循环</a:t>
            </a:r>
            <a:endParaRPr lang="zh-CN" altLang="en-US" dirty="0"/>
          </a:p>
        </p:txBody>
      </p:sp>
    </p:spTree>
    <p:extLst>
      <p:ext uri="{BB962C8B-B14F-4D97-AF65-F5344CB8AC3E}">
        <p14:creationId xmlns:p14="http://schemas.microsoft.com/office/powerpoint/2010/main" val="3721382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a:xfrm>
            <a:off x="2819400" y="457200"/>
            <a:ext cx="7239000" cy="914400"/>
          </a:xfrm>
        </p:spPr>
        <p:txBody>
          <a:bodyPr/>
          <a:lstStyle/>
          <a:p>
            <a:r>
              <a:rPr lang="zh-CN" altLang="en-US" dirty="0" smtClean="0">
                <a:ea typeface="宋体" panose="02010600030101010101" pitchFamily="2" charset="-122"/>
              </a:rPr>
              <a:t>按时间抽取的</a:t>
            </a:r>
            <a:r>
              <a:rPr lang="en-US" altLang="zh-CN" dirty="0" smtClean="0">
                <a:ea typeface="宋体" panose="02010600030101010101" pitchFamily="2" charset="-122"/>
              </a:rPr>
              <a:t>FFT</a:t>
            </a:r>
            <a:r>
              <a:rPr lang="zh-CN" altLang="en-US" dirty="0" smtClean="0">
                <a:ea typeface="宋体" panose="02010600030101010101" pitchFamily="2" charset="-122"/>
              </a:rPr>
              <a:t>算法的特点</a:t>
            </a:r>
          </a:p>
        </p:txBody>
      </p:sp>
      <p:sp>
        <p:nvSpPr>
          <p:cNvPr id="9728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4788A6C2-BDAD-492F-A144-AE5A4B6A1BD8}"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9</a:t>
            </a:fld>
            <a:endParaRPr lang="en-US" altLang="zh-CN" sz="1400" b="0">
              <a:solidFill>
                <a:srgbClr val="000000"/>
              </a:solidFill>
              <a:latin typeface="Times New Roman" panose="02020603050405020304" pitchFamily="18" charset="0"/>
            </a:endParaRPr>
          </a:p>
        </p:txBody>
      </p:sp>
      <p:pic>
        <p:nvPicPr>
          <p:cNvPr id="97284" name="Picture 8" descr="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814" y="2395538"/>
            <a:ext cx="5976937" cy="316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5" name="TextBox 6"/>
          <p:cNvSpPr txBox="1">
            <a:spLocks noChangeArrowheads="1"/>
          </p:cNvSpPr>
          <p:nvPr/>
        </p:nvSpPr>
        <p:spPr bwMode="auto">
          <a:xfrm>
            <a:off x="2362200" y="1657350"/>
            <a:ext cx="1824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en-US" altLang="zh-CN">
                <a:solidFill>
                  <a:srgbClr val="000000"/>
                </a:solidFill>
              </a:rPr>
              <a:t>4. W</a:t>
            </a:r>
            <a:r>
              <a:rPr lang="en-US" altLang="zh-CN" i="1" baseline="-25000">
                <a:solidFill>
                  <a:srgbClr val="000000"/>
                </a:solidFill>
              </a:rPr>
              <a:t>N</a:t>
            </a:r>
            <a:r>
              <a:rPr lang="en-US" altLang="zh-CN" baseline="30000">
                <a:solidFill>
                  <a:srgbClr val="000000"/>
                </a:solidFill>
              </a:rPr>
              <a:t>r</a:t>
            </a:r>
            <a:r>
              <a:rPr lang="zh-CN" altLang="en-US">
                <a:solidFill>
                  <a:srgbClr val="000000"/>
                </a:solidFill>
              </a:rPr>
              <a:t>的确定</a:t>
            </a:r>
          </a:p>
        </p:txBody>
      </p:sp>
    </p:spTree>
    <p:extLst>
      <p:ext uri="{BB962C8B-B14F-4D97-AF65-F5344CB8AC3E}">
        <p14:creationId xmlns:p14="http://schemas.microsoft.com/office/powerpoint/2010/main" val="2612320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a:xfrm>
            <a:off x="2743200" y="457200"/>
            <a:ext cx="7315200" cy="914400"/>
          </a:xfrm>
        </p:spPr>
        <p:txBody>
          <a:bodyPr/>
          <a:lstStyle/>
          <a:p>
            <a:r>
              <a:rPr lang="zh-CN" altLang="en-US" dirty="0" smtClean="0">
                <a:ea typeface="宋体" panose="02010600030101010101" pitchFamily="2" charset="-122"/>
              </a:rPr>
              <a:t>按时间抽取（</a:t>
            </a:r>
            <a:r>
              <a:rPr lang="en-US" altLang="zh-CN" dirty="0" smtClean="0">
                <a:ea typeface="宋体" panose="02010600030101010101" pitchFamily="2" charset="-122"/>
              </a:rPr>
              <a:t>DIT</a:t>
            </a:r>
            <a:r>
              <a:rPr lang="zh-CN" altLang="en-US" dirty="0" smtClean="0">
                <a:ea typeface="宋体" panose="02010600030101010101" pitchFamily="2" charset="-122"/>
              </a:rPr>
              <a:t>）基</a:t>
            </a:r>
            <a:r>
              <a:rPr lang="en-US" altLang="zh-CN" dirty="0" smtClean="0">
                <a:ea typeface="宋体" panose="02010600030101010101" pitchFamily="2" charset="-122"/>
              </a:rPr>
              <a:t>2</a:t>
            </a:r>
            <a:r>
              <a:rPr lang="zh-CN" altLang="en-US" dirty="0" smtClean="0">
                <a:ea typeface="宋体" panose="02010600030101010101" pitchFamily="2" charset="-122"/>
              </a:rPr>
              <a:t>的</a:t>
            </a:r>
            <a:r>
              <a:rPr lang="en-US" altLang="zh-CN" dirty="0" smtClean="0">
                <a:ea typeface="宋体" panose="02010600030101010101" pitchFamily="2" charset="-122"/>
              </a:rPr>
              <a:t>FFT</a:t>
            </a:r>
            <a:r>
              <a:rPr lang="zh-CN" altLang="en-US" dirty="0" smtClean="0">
                <a:ea typeface="宋体" panose="02010600030101010101" pitchFamily="2" charset="-122"/>
              </a:rPr>
              <a:t>算法</a:t>
            </a:r>
          </a:p>
        </p:txBody>
      </p:sp>
      <p:sp>
        <p:nvSpPr>
          <p:cNvPr id="9318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B45437F-CF98-46EC-87A5-6DC2D3A4CB43}" type="slidenum">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3188" name="TextBox 4"/>
          <p:cNvSpPr txBox="1">
            <a:spLocks noChangeArrowheads="1"/>
          </p:cNvSpPr>
          <p:nvPr/>
        </p:nvSpPr>
        <p:spPr bwMode="auto">
          <a:xfrm>
            <a:off x="2057401" y="1657350"/>
            <a:ext cx="3541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rPr>
              <a:t>与直接计算</a:t>
            </a:r>
            <a:r>
              <a:rPr kumimoji="0" lang="en-US" altLang="zh-CN"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rPr>
              <a:t>DFT</a:t>
            </a:r>
            <a:r>
              <a:rPr kumimoji="0" lang="zh-CN" altLang="en-US"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rPr>
              <a:t>运算量的比较</a:t>
            </a:r>
          </a:p>
        </p:txBody>
      </p:sp>
      <p:grpSp>
        <p:nvGrpSpPr>
          <p:cNvPr id="93189" name="Group 8"/>
          <p:cNvGrpSpPr>
            <a:grpSpLocks/>
          </p:cNvGrpSpPr>
          <p:nvPr/>
        </p:nvGrpSpPr>
        <p:grpSpPr bwMode="auto">
          <a:xfrm>
            <a:off x="3048000" y="2362202"/>
            <a:ext cx="4495800" cy="1431211"/>
            <a:chOff x="614" y="2160"/>
            <a:chExt cx="3226" cy="949"/>
          </a:xfrm>
        </p:grpSpPr>
        <p:sp>
          <p:nvSpPr>
            <p:cNvPr id="93190" name="Text Box 5"/>
            <p:cNvSpPr txBox="1">
              <a:spLocks noChangeArrowheads="1"/>
            </p:cNvSpPr>
            <p:nvPr/>
          </p:nvSpPr>
          <p:spPr bwMode="auto">
            <a:xfrm>
              <a:off x="614" y="2282"/>
              <a:ext cx="767"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rPr>
                <a:t>复乘数 </a:t>
              </a:r>
            </a:p>
          </p:txBody>
        </p:sp>
        <p:graphicFrame>
          <p:nvGraphicFramePr>
            <p:cNvPr id="93191" name="Object 6"/>
            <p:cNvGraphicFramePr>
              <a:graphicFrameLocks noChangeAspect="1"/>
            </p:cNvGraphicFramePr>
            <p:nvPr/>
          </p:nvGraphicFramePr>
          <p:xfrm>
            <a:off x="2112" y="2160"/>
            <a:ext cx="1728" cy="949"/>
          </p:xfrm>
          <a:graphic>
            <a:graphicData uri="http://schemas.openxmlformats.org/presentationml/2006/ole">
              <mc:AlternateContent xmlns:mc="http://schemas.openxmlformats.org/markup-compatibility/2006">
                <mc:Choice xmlns:v="urn:schemas-microsoft-com:vml" Requires="v">
                  <p:oleObj spid="_x0000_s19468" name="Equation" r:id="rId3" imgW="1295400" imgH="711200" progId="Equation.3">
                    <p:embed/>
                  </p:oleObj>
                </mc:Choice>
                <mc:Fallback>
                  <p:oleObj name="Equation" r:id="rId3" imgW="1295400" imgH="711200" progId="Equation.3">
                    <p:embed/>
                    <p:pic>
                      <p:nvPicPr>
                        <p:cNvPr id="93191"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2" y="2160"/>
                          <a:ext cx="1728" cy="9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192" name="Text Box 7"/>
            <p:cNvSpPr txBox="1">
              <a:spLocks noChangeArrowheads="1"/>
            </p:cNvSpPr>
            <p:nvPr/>
          </p:nvSpPr>
          <p:spPr bwMode="auto">
            <a:xfrm>
              <a:off x="624" y="2832"/>
              <a:ext cx="767"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rPr>
                <a:t>复加数 </a:t>
              </a:r>
            </a:p>
          </p:txBody>
        </p:sp>
      </p:grpSp>
    </p:spTree>
    <p:extLst>
      <p:ext uri="{BB962C8B-B14F-4D97-AF65-F5344CB8AC3E}">
        <p14:creationId xmlns:p14="http://schemas.microsoft.com/office/powerpoint/2010/main" val="9217959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2"/>
          </p:nvPr>
        </p:nvSpPr>
        <p:spPr/>
        <p:txBody>
          <a:bodyPr/>
          <a:lstStyle/>
          <a:p>
            <a:pPr eaLnBrk="0" fontAlgn="base" hangingPunct="0">
              <a:spcBef>
                <a:spcPct val="0"/>
              </a:spcBef>
              <a:spcAft>
                <a:spcPct val="0"/>
              </a:spcAft>
            </a:pPr>
            <a:fld id="{8E25163F-56F0-4728-A241-57C30AA276FE}" type="slidenum">
              <a:rPr lang="zh-CN" altLang="en-US" smtClean="0">
                <a:solidFill>
                  <a:srgbClr val="000000"/>
                </a:solidFill>
                <a:ea typeface="宋体" panose="02010600030101010101" pitchFamily="2" charset="-122"/>
              </a:rPr>
              <a:pPr eaLnBrk="0" fontAlgn="base" hangingPunct="0">
                <a:spcBef>
                  <a:spcPct val="0"/>
                </a:spcBef>
                <a:spcAft>
                  <a:spcPct val="0"/>
                </a:spcAft>
              </a:pPr>
              <a:t>11</a:t>
            </a:fld>
            <a:endParaRPr lang="en-US" altLang="zh-CN">
              <a:solidFill>
                <a:srgbClr val="000000"/>
              </a:solidFill>
              <a:ea typeface="宋体" panose="02010600030101010101" pitchFamily="2" charset="-122"/>
            </a:endParaRPr>
          </a:p>
        </p:txBody>
      </p:sp>
      <p:pic>
        <p:nvPicPr>
          <p:cNvPr id="5" name="图片 4"/>
          <p:cNvPicPr>
            <a:picLocks noChangeAspect="1"/>
          </p:cNvPicPr>
          <p:nvPr/>
        </p:nvPicPr>
        <p:blipFill>
          <a:blip r:embed="rId2"/>
          <a:stretch>
            <a:fillRect/>
          </a:stretch>
        </p:blipFill>
        <p:spPr>
          <a:xfrm>
            <a:off x="1165285" y="1403928"/>
            <a:ext cx="6683313" cy="5372982"/>
          </a:xfrm>
          <a:prstGeom prst="rect">
            <a:avLst/>
          </a:prstGeom>
        </p:spPr>
      </p:pic>
    </p:spTree>
    <p:extLst>
      <p:ext uri="{BB962C8B-B14F-4D97-AF65-F5344CB8AC3E}">
        <p14:creationId xmlns:p14="http://schemas.microsoft.com/office/powerpoint/2010/main" val="453939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怎样利用</a:t>
            </a:r>
            <a:r>
              <a:rPr lang="en-US" altLang="zh-CN" dirty="0" err="1" smtClean="0"/>
              <a:t>fft</a:t>
            </a:r>
            <a:r>
              <a:rPr lang="zh-CN" altLang="en-US" dirty="0" smtClean="0"/>
              <a:t>实现</a:t>
            </a:r>
            <a:r>
              <a:rPr lang="en-US" altLang="zh-CN" dirty="0" err="1" smtClean="0"/>
              <a:t>ifft</a:t>
            </a:r>
            <a:endParaRPr lang="zh-CN" altLang="en-US" dirty="0"/>
          </a:p>
        </p:txBody>
      </p:sp>
      <p:sp>
        <p:nvSpPr>
          <p:cNvPr id="4" name="灯片编号占位符 3"/>
          <p:cNvSpPr>
            <a:spLocks noGrp="1"/>
          </p:cNvSpPr>
          <p:nvPr>
            <p:ph type="sldNum" sz="quarter" idx="12"/>
          </p:nvPr>
        </p:nvSpPr>
        <p:spPr/>
        <p:txBody>
          <a:bodyPr/>
          <a:lstStyle/>
          <a:p>
            <a:pPr eaLnBrk="0" fontAlgn="base" hangingPunct="0">
              <a:spcBef>
                <a:spcPct val="0"/>
              </a:spcBef>
              <a:spcAft>
                <a:spcPct val="0"/>
              </a:spcAft>
            </a:pPr>
            <a:fld id="{8E25163F-56F0-4728-A241-57C30AA276FE}" type="slidenum">
              <a:rPr lang="zh-CN" altLang="en-US" smtClean="0">
                <a:solidFill>
                  <a:srgbClr val="000000"/>
                </a:solidFill>
                <a:ea typeface="宋体" panose="02010600030101010101" pitchFamily="2" charset="-122"/>
              </a:rPr>
              <a:pPr eaLnBrk="0" fontAlgn="base" hangingPunct="0">
                <a:spcBef>
                  <a:spcPct val="0"/>
                </a:spcBef>
                <a:spcAft>
                  <a:spcPct val="0"/>
                </a:spcAft>
              </a:pPr>
              <a:t>12</a:t>
            </a:fld>
            <a:endParaRPr lang="en-US" altLang="zh-CN">
              <a:solidFill>
                <a:srgbClr val="000000"/>
              </a:solidFill>
              <a:ea typeface="宋体" panose="02010600030101010101" pitchFamily="2"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81192179"/>
              </p:ext>
            </p:extLst>
          </p:nvPr>
        </p:nvGraphicFramePr>
        <p:xfrm>
          <a:off x="662516" y="2574922"/>
          <a:ext cx="7289211" cy="1967442"/>
        </p:xfrm>
        <a:graphic>
          <a:graphicData uri="http://schemas.openxmlformats.org/presentationml/2006/ole">
            <mc:AlternateContent xmlns:mc="http://schemas.openxmlformats.org/markup-compatibility/2006">
              <mc:Choice xmlns:v="urn:schemas-microsoft-com:vml" Requires="v">
                <p:oleObj spid="_x0000_s24582" name="Equation" r:id="rId3" imgW="2869920" imgH="774360" progId="Equation.DSMT4">
                  <p:embed/>
                </p:oleObj>
              </mc:Choice>
              <mc:Fallback>
                <p:oleObj name="Equation" r:id="rId3" imgW="2869920" imgH="774360" progId="Equation.DSMT4">
                  <p:embed/>
                  <p:pic>
                    <p:nvPicPr>
                      <p:cNvPr id="5" name="对象 4"/>
                      <p:cNvPicPr/>
                      <p:nvPr/>
                    </p:nvPicPr>
                    <p:blipFill>
                      <a:blip r:embed="rId4"/>
                      <a:stretch>
                        <a:fillRect/>
                      </a:stretch>
                    </p:blipFill>
                    <p:spPr>
                      <a:xfrm>
                        <a:off x="662516" y="2574922"/>
                        <a:ext cx="7289211" cy="196744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741429435"/>
              </p:ext>
            </p:extLst>
          </p:nvPr>
        </p:nvGraphicFramePr>
        <p:xfrm>
          <a:off x="747712" y="5041896"/>
          <a:ext cx="4973289" cy="918633"/>
        </p:xfrm>
        <a:graphic>
          <a:graphicData uri="http://schemas.openxmlformats.org/presentationml/2006/ole">
            <mc:AlternateContent xmlns:mc="http://schemas.openxmlformats.org/markup-compatibility/2006">
              <mc:Choice xmlns:v="urn:schemas-microsoft-com:vml" Requires="v">
                <p:oleObj spid="_x0000_s24583" name="Equation" r:id="rId5" imgW="1993680" imgH="368280" progId="Equation.DSMT4">
                  <p:embed/>
                </p:oleObj>
              </mc:Choice>
              <mc:Fallback>
                <p:oleObj name="Equation" r:id="rId5" imgW="1993680" imgH="368280" progId="Equation.DSMT4">
                  <p:embed/>
                  <p:pic>
                    <p:nvPicPr>
                      <p:cNvPr id="7" name="对象 6"/>
                      <p:cNvPicPr/>
                      <p:nvPr/>
                    </p:nvPicPr>
                    <p:blipFill>
                      <a:blip r:embed="rId6"/>
                      <a:stretch>
                        <a:fillRect/>
                      </a:stretch>
                    </p:blipFill>
                    <p:spPr>
                      <a:xfrm>
                        <a:off x="747712" y="5041896"/>
                        <a:ext cx="4973289" cy="918633"/>
                      </a:xfrm>
                      <a:prstGeom prst="rect">
                        <a:avLst/>
                      </a:prstGeom>
                    </p:spPr>
                  </p:pic>
                </p:oleObj>
              </mc:Fallback>
            </mc:AlternateContent>
          </a:graphicData>
        </a:graphic>
      </p:graphicFrame>
    </p:spTree>
    <p:extLst>
      <p:ext uri="{BB962C8B-B14F-4D97-AF65-F5344CB8AC3E}">
        <p14:creationId xmlns:p14="http://schemas.microsoft.com/office/powerpoint/2010/main" val="3910651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a:xfrm>
            <a:off x="2819400" y="457200"/>
            <a:ext cx="7239000" cy="914400"/>
          </a:xfrm>
        </p:spPr>
        <p:txBody>
          <a:bodyPr/>
          <a:lstStyle/>
          <a:p>
            <a:r>
              <a:rPr lang="en-US" altLang="zh-CN" smtClean="0">
                <a:ea typeface="宋体" panose="02010600030101010101" pitchFamily="2" charset="-122"/>
              </a:rPr>
              <a:t>5.3</a:t>
            </a:r>
            <a:r>
              <a:rPr lang="zh-CN" altLang="en-US" smtClean="0">
                <a:ea typeface="宋体" panose="02010600030101010101" pitchFamily="2" charset="-122"/>
              </a:rPr>
              <a:t>按频率抽取（</a:t>
            </a:r>
            <a:r>
              <a:rPr lang="en-US" altLang="zh-CN" smtClean="0">
                <a:ea typeface="宋体" panose="02010600030101010101" pitchFamily="2" charset="-122"/>
              </a:rPr>
              <a:t>DIF</a:t>
            </a:r>
            <a:r>
              <a:rPr lang="zh-CN" altLang="en-US" smtClean="0">
                <a:ea typeface="宋体" panose="02010600030101010101" pitchFamily="2" charset="-122"/>
              </a:rPr>
              <a:t>）的基 </a:t>
            </a:r>
            <a:r>
              <a:rPr lang="en-US" altLang="zh-CN" smtClean="0">
                <a:ea typeface="宋体" panose="02010600030101010101" pitchFamily="2" charset="-122"/>
              </a:rPr>
              <a:t>-2 FFT</a:t>
            </a:r>
            <a:r>
              <a:rPr lang="zh-CN" altLang="en-US" smtClean="0">
                <a:ea typeface="宋体" panose="02010600030101010101" pitchFamily="2" charset="-122"/>
              </a:rPr>
              <a:t>算法</a:t>
            </a:r>
          </a:p>
        </p:txBody>
      </p:sp>
      <p:sp>
        <p:nvSpPr>
          <p:cNvPr id="9830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3D1A9E1C-CDF0-4528-98FC-F0A510709901}"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13</a:t>
            </a:fld>
            <a:endParaRPr lang="en-US" altLang="zh-CN" sz="1400" b="0">
              <a:solidFill>
                <a:srgbClr val="000000"/>
              </a:solidFill>
              <a:latin typeface="Times New Roman" panose="02020603050405020304" pitchFamily="18" charset="0"/>
            </a:endParaRPr>
          </a:p>
        </p:txBody>
      </p:sp>
      <p:sp>
        <p:nvSpPr>
          <p:cNvPr id="98308" name="TextBox 4"/>
          <p:cNvSpPr txBox="1">
            <a:spLocks noChangeArrowheads="1"/>
          </p:cNvSpPr>
          <p:nvPr/>
        </p:nvSpPr>
        <p:spPr bwMode="auto">
          <a:xfrm>
            <a:off x="2133601" y="1524000"/>
            <a:ext cx="1484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en-US" altLang="zh-CN">
                <a:solidFill>
                  <a:srgbClr val="000000"/>
                </a:solidFill>
              </a:rPr>
              <a:t>1 </a:t>
            </a:r>
            <a:r>
              <a:rPr lang="zh-CN" altLang="en-US">
                <a:solidFill>
                  <a:srgbClr val="000000"/>
                </a:solidFill>
              </a:rPr>
              <a:t>算法原理</a:t>
            </a:r>
          </a:p>
        </p:txBody>
      </p:sp>
      <p:graphicFrame>
        <p:nvGraphicFramePr>
          <p:cNvPr id="98309" name="Object 6"/>
          <p:cNvGraphicFramePr>
            <a:graphicFrameLocks noChangeAspect="1"/>
          </p:cNvGraphicFramePr>
          <p:nvPr/>
        </p:nvGraphicFramePr>
        <p:xfrm>
          <a:off x="2692400" y="1905000"/>
          <a:ext cx="6427788" cy="3214688"/>
        </p:xfrm>
        <a:graphic>
          <a:graphicData uri="http://schemas.openxmlformats.org/presentationml/2006/ole">
            <mc:AlternateContent xmlns:mc="http://schemas.openxmlformats.org/markup-compatibility/2006">
              <mc:Choice xmlns:v="urn:schemas-microsoft-com:vml" Requires="v">
                <p:oleObj spid="_x0000_s7244" name="Equation" r:id="rId3" imgW="3556000" imgH="1778000" progId="Equation.DSMT4">
                  <p:embed/>
                </p:oleObj>
              </mc:Choice>
              <mc:Fallback>
                <p:oleObj name="Equation" r:id="rId3" imgW="3556000" imgH="1778000" progId="Equation.DSMT4">
                  <p:embed/>
                  <p:pic>
                    <p:nvPicPr>
                      <p:cNvPr id="9830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2400" y="1905000"/>
                        <a:ext cx="6427788" cy="3214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10" name="Object 10"/>
          <p:cNvGraphicFramePr>
            <a:graphicFrameLocks noChangeAspect="1"/>
          </p:cNvGraphicFramePr>
          <p:nvPr/>
        </p:nvGraphicFramePr>
        <p:xfrm>
          <a:off x="2438400" y="5089526"/>
          <a:ext cx="7270750" cy="1235075"/>
        </p:xfrm>
        <a:graphic>
          <a:graphicData uri="http://schemas.openxmlformats.org/presentationml/2006/ole">
            <mc:AlternateContent xmlns:mc="http://schemas.openxmlformats.org/markup-compatibility/2006">
              <mc:Choice xmlns:v="urn:schemas-microsoft-com:vml" Requires="v">
                <p:oleObj spid="_x0000_s7245" name="Equation" r:id="rId5" imgW="3289300" imgH="558800" progId="Equation.DSMT4">
                  <p:embed/>
                </p:oleObj>
              </mc:Choice>
              <mc:Fallback>
                <p:oleObj name="Equation" r:id="rId5" imgW="3289300" imgH="558800" progId="Equation.DSMT4">
                  <p:embed/>
                  <p:pic>
                    <p:nvPicPr>
                      <p:cNvPr id="9831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5089526"/>
                        <a:ext cx="7270750"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282588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a:xfrm>
            <a:off x="2819400" y="457200"/>
            <a:ext cx="7239000" cy="914400"/>
          </a:xfrm>
        </p:spPr>
        <p:txBody>
          <a:bodyPr/>
          <a:lstStyle/>
          <a:p>
            <a:r>
              <a:rPr lang="en-US" altLang="zh-CN" smtClean="0">
                <a:ea typeface="宋体" panose="02010600030101010101" pitchFamily="2" charset="-122"/>
              </a:rPr>
              <a:t>5.3</a:t>
            </a:r>
            <a:r>
              <a:rPr lang="zh-CN" altLang="en-US" smtClean="0">
                <a:ea typeface="宋体" panose="02010600030101010101" pitchFamily="2" charset="-122"/>
              </a:rPr>
              <a:t>按频率抽取（</a:t>
            </a:r>
            <a:r>
              <a:rPr lang="en-US" altLang="zh-CN" smtClean="0">
                <a:ea typeface="宋体" panose="02010600030101010101" pitchFamily="2" charset="-122"/>
              </a:rPr>
              <a:t>DIF</a:t>
            </a:r>
            <a:r>
              <a:rPr lang="zh-CN" altLang="en-US" smtClean="0">
                <a:ea typeface="宋体" panose="02010600030101010101" pitchFamily="2" charset="-122"/>
              </a:rPr>
              <a:t>）的基 </a:t>
            </a:r>
            <a:r>
              <a:rPr lang="en-US" altLang="zh-CN" smtClean="0">
                <a:ea typeface="宋体" panose="02010600030101010101" pitchFamily="2" charset="-122"/>
              </a:rPr>
              <a:t>-2 FFT</a:t>
            </a:r>
            <a:r>
              <a:rPr lang="zh-CN" altLang="en-US" smtClean="0">
                <a:ea typeface="宋体" panose="02010600030101010101" pitchFamily="2" charset="-122"/>
              </a:rPr>
              <a:t>算法</a:t>
            </a:r>
          </a:p>
        </p:txBody>
      </p:sp>
      <p:sp>
        <p:nvSpPr>
          <p:cNvPr id="9933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D960CBBE-5F0D-4522-B281-38E1F8C9F0F5}"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14</a:t>
            </a:fld>
            <a:endParaRPr lang="en-US" altLang="zh-CN" sz="1400" b="0">
              <a:solidFill>
                <a:srgbClr val="000000"/>
              </a:solidFill>
              <a:latin typeface="Times New Roman" panose="02020603050405020304" pitchFamily="18" charset="0"/>
            </a:endParaRPr>
          </a:p>
        </p:txBody>
      </p:sp>
      <p:graphicFrame>
        <p:nvGraphicFramePr>
          <p:cNvPr id="99332" name="Object 14"/>
          <p:cNvGraphicFramePr>
            <a:graphicFrameLocks noChangeAspect="1"/>
          </p:cNvGraphicFramePr>
          <p:nvPr>
            <p:extLst>
              <p:ext uri="{D42A27DB-BD31-4B8C-83A1-F6EECF244321}">
                <p14:modId xmlns:p14="http://schemas.microsoft.com/office/powerpoint/2010/main" val="329478946"/>
              </p:ext>
            </p:extLst>
          </p:nvPr>
        </p:nvGraphicFramePr>
        <p:xfrm>
          <a:off x="2438400" y="1544638"/>
          <a:ext cx="3962400" cy="2014537"/>
        </p:xfrm>
        <a:graphic>
          <a:graphicData uri="http://schemas.openxmlformats.org/presentationml/2006/ole">
            <mc:AlternateContent xmlns:mc="http://schemas.openxmlformats.org/markup-compatibility/2006">
              <mc:Choice xmlns:v="urn:schemas-microsoft-com:vml" Requires="v">
                <p:oleObj spid="_x0000_s8342" name="Equation" r:id="rId3" imgW="2197080" imgH="1117440" progId="Equation.DSMT4">
                  <p:embed/>
                </p:oleObj>
              </mc:Choice>
              <mc:Fallback>
                <p:oleObj name="Equation" r:id="rId3" imgW="2197080" imgH="1117440" progId="Equation.DSMT4">
                  <p:embed/>
                  <p:pic>
                    <p:nvPicPr>
                      <p:cNvPr id="99332" name="Object 14"/>
                      <p:cNvPicPr>
                        <a:picLocks noChangeAspect="1" noChangeArrowheads="1"/>
                      </p:cNvPicPr>
                      <p:nvPr/>
                    </p:nvPicPr>
                    <p:blipFill>
                      <a:blip r:embed="rId4"/>
                      <a:srcRect/>
                      <a:stretch>
                        <a:fillRect/>
                      </a:stretch>
                    </p:blipFill>
                    <p:spPr bwMode="auto">
                      <a:xfrm>
                        <a:off x="2438400" y="1544638"/>
                        <a:ext cx="3962400" cy="2014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3" name="Object 15"/>
          <p:cNvGraphicFramePr>
            <a:graphicFrameLocks noChangeAspect="1"/>
          </p:cNvGraphicFramePr>
          <p:nvPr/>
        </p:nvGraphicFramePr>
        <p:xfrm>
          <a:off x="6999288" y="2895600"/>
          <a:ext cx="1992312" cy="762000"/>
        </p:xfrm>
        <a:graphic>
          <a:graphicData uri="http://schemas.openxmlformats.org/presentationml/2006/ole">
            <mc:AlternateContent xmlns:mc="http://schemas.openxmlformats.org/markup-compatibility/2006">
              <mc:Choice xmlns:v="urn:schemas-microsoft-com:vml" Requires="v">
                <p:oleObj spid="_x0000_s8343" name="Equation" r:id="rId5" imgW="1028254" imgH="393529" progId="Equation.3">
                  <p:embed/>
                </p:oleObj>
              </mc:Choice>
              <mc:Fallback>
                <p:oleObj name="Equation" r:id="rId5" imgW="1028254" imgH="393529" progId="Equation.3">
                  <p:embed/>
                  <p:pic>
                    <p:nvPicPr>
                      <p:cNvPr id="99333"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99288" y="2895600"/>
                        <a:ext cx="1992312" cy="7620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4" name="Object 4"/>
          <p:cNvGraphicFramePr>
            <a:graphicFrameLocks noChangeAspect="1"/>
          </p:cNvGraphicFramePr>
          <p:nvPr/>
        </p:nvGraphicFramePr>
        <p:xfrm>
          <a:off x="2057400" y="3857625"/>
          <a:ext cx="5029200" cy="2235200"/>
        </p:xfrm>
        <a:graphic>
          <a:graphicData uri="http://schemas.openxmlformats.org/presentationml/2006/ole">
            <mc:AlternateContent xmlns:mc="http://schemas.openxmlformats.org/markup-compatibility/2006">
              <mc:Choice xmlns:v="urn:schemas-microsoft-com:vml" Requires="v">
                <p:oleObj spid="_x0000_s8344" name="Equation" r:id="rId7" imgW="2743200" imgH="1219200" progId="Equation.3">
                  <p:embed/>
                </p:oleObj>
              </mc:Choice>
              <mc:Fallback>
                <p:oleObj name="Equation" r:id="rId7" imgW="2743200" imgH="1219200" progId="Equation.3">
                  <p:embed/>
                  <p:pic>
                    <p:nvPicPr>
                      <p:cNvPr id="9933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3857625"/>
                        <a:ext cx="5029200" cy="223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5" name="Object 5"/>
          <p:cNvGraphicFramePr>
            <a:graphicFrameLocks noChangeAspect="1"/>
          </p:cNvGraphicFramePr>
          <p:nvPr/>
        </p:nvGraphicFramePr>
        <p:xfrm>
          <a:off x="7543801" y="5257800"/>
          <a:ext cx="1992313" cy="762000"/>
        </p:xfrm>
        <a:graphic>
          <a:graphicData uri="http://schemas.openxmlformats.org/presentationml/2006/ole">
            <mc:AlternateContent xmlns:mc="http://schemas.openxmlformats.org/markup-compatibility/2006">
              <mc:Choice xmlns:v="urn:schemas-microsoft-com:vml" Requires="v">
                <p:oleObj spid="_x0000_s8345" name="Equation" r:id="rId9" imgW="1028254" imgH="393529" progId="Equation.3">
                  <p:embed/>
                </p:oleObj>
              </mc:Choice>
              <mc:Fallback>
                <p:oleObj name="Equation" r:id="rId9" imgW="1028254" imgH="393529" progId="Equation.3">
                  <p:embed/>
                  <p:pic>
                    <p:nvPicPr>
                      <p:cNvPr id="9933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1" y="5257800"/>
                        <a:ext cx="1992313" cy="7620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793626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p:nvPr>
        </p:nvSpPr>
        <p:spPr>
          <a:xfrm>
            <a:off x="2819400" y="381000"/>
            <a:ext cx="7239000" cy="914400"/>
          </a:xfrm>
        </p:spPr>
        <p:txBody>
          <a:bodyPr/>
          <a:lstStyle/>
          <a:p>
            <a:r>
              <a:rPr lang="en-US" altLang="zh-CN" smtClean="0">
                <a:ea typeface="宋体" panose="02010600030101010101" pitchFamily="2" charset="-122"/>
              </a:rPr>
              <a:t>5.3</a:t>
            </a:r>
            <a:r>
              <a:rPr lang="zh-CN" altLang="en-US" smtClean="0">
                <a:ea typeface="宋体" panose="02010600030101010101" pitchFamily="2" charset="-122"/>
              </a:rPr>
              <a:t>按频率抽取（</a:t>
            </a:r>
            <a:r>
              <a:rPr lang="en-US" altLang="zh-CN" smtClean="0">
                <a:ea typeface="宋体" panose="02010600030101010101" pitchFamily="2" charset="-122"/>
              </a:rPr>
              <a:t>DIF</a:t>
            </a:r>
            <a:r>
              <a:rPr lang="zh-CN" altLang="en-US" smtClean="0">
                <a:ea typeface="宋体" panose="02010600030101010101" pitchFamily="2" charset="-122"/>
              </a:rPr>
              <a:t>）的基 </a:t>
            </a:r>
            <a:r>
              <a:rPr lang="en-US" altLang="zh-CN" smtClean="0">
                <a:ea typeface="宋体" panose="02010600030101010101" pitchFamily="2" charset="-122"/>
              </a:rPr>
              <a:t>-2 FFT</a:t>
            </a:r>
            <a:r>
              <a:rPr lang="zh-CN" altLang="en-US" smtClean="0">
                <a:ea typeface="宋体" panose="02010600030101010101" pitchFamily="2" charset="-122"/>
              </a:rPr>
              <a:t>算法</a:t>
            </a:r>
          </a:p>
        </p:txBody>
      </p:sp>
      <p:sp>
        <p:nvSpPr>
          <p:cNvPr id="10035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F84E5B45-0BAC-4A39-8AA6-E0E4DB88390E}"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15</a:t>
            </a:fld>
            <a:endParaRPr lang="en-US" altLang="zh-CN" sz="1400" b="0">
              <a:solidFill>
                <a:srgbClr val="000000"/>
              </a:solidFill>
              <a:latin typeface="Times New Roman" panose="02020603050405020304" pitchFamily="18" charset="0"/>
            </a:endParaRPr>
          </a:p>
        </p:txBody>
      </p:sp>
      <p:pic>
        <p:nvPicPr>
          <p:cNvPr id="100356" name="Picture 6" descr="3-1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81200" y="1676400"/>
            <a:ext cx="5105400" cy="1174750"/>
          </a:xfrm>
          <a:noFill/>
        </p:spPr>
      </p:pic>
      <p:pic>
        <p:nvPicPr>
          <p:cNvPr id="100357" name="Picture 7" descr="3-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0276" y="2895600"/>
            <a:ext cx="404812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Object 14"/>
          <p:cNvGraphicFramePr>
            <a:graphicFrameLocks noChangeAspect="1"/>
          </p:cNvGraphicFramePr>
          <p:nvPr>
            <p:extLst>
              <p:ext uri="{D42A27DB-BD31-4B8C-83A1-F6EECF244321}">
                <p14:modId xmlns:p14="http://schemas.microsoft.com/office/powerpoint/2010/main" val="451926871"/>
              </p:ext>
            </p:extLst>
          </p:nvPr>
        </p:nvGraphicFramePr>
        <p:xfrm>
          <a:off x="1401872" y="2851150"/>
          <a:ext cx="3371210" cy="1713968"/>
        </p:xfrm>
        <a:graphic>
          <a:graphicData uri="http://schemas.openxmlformats.org/presentationml/2006/ole">
            <mc:AlternateContent xmlns:mc="http://schemas.openxmlformats.org/markup-compatibility/2006">
              <mc:Choice xmlns:v="urn:schemas-microsoft-com:vml" Requires="v">
                <p:oleObj spid="_x0000_s21522" name="Equation" r:id="rId5" imgW="2197080" imgH="1117440" progId="Equation.DSMT4">
                  <p:embed/>
                </p:oleObj>
              </mc:Choice>
              <mc:Fallback>
                <p:oleObj name="Equation" r:id="rId5" imgW="2197080" imgH="1117440" progId="Equation.DSMT4">
                  <p:embed/>
                  <p:pic>
                    <p:nvPicPr>
                      <p:cNvPr id="99332" name="Object 14"/>
                      <p:cNvPicPr>
                        <a:picLocks noChangeAspect="1" noChangeArrowheads="1"/>
                      </p:cNvPicPr>
                      <p:nvPr/>
                    </p:nvPicPr>
                    <p:blipFill>
                      <a:blip r:embed="rId6"/>
                      <a:srcRect/>
                      <a:stretch>
                        <a:fillRect/>
                      </a:stretch>
                    </p:blipFill>
                    <p:spPr bwMode="auto">
                      <a:xfrm>
                        <a:off x="1401872" y="2851150"/>
                        <a:ext cx="3371210" cy="1713968"/>
                      </a:xfrm>
                      <a:prstGeom prst="rect">
                        <a:avLst/>
                      </a:prstGeom>
                      <a:noFill/>
                      <a:ln>
                        <a:noFill/>
                      </a:ln>
                      <a:effectLst/>
                      <a:extLst/>
                    </p:spPr>
                  </p:pic>
                </p:oleObj>
              </mc:Fallback>
            </mc:AlternateContent>
          </a:graphicData>
        </a:graphic>
      </p:graphicFrame>
      <p:graphicFrame>
        <p:nvGraphicFramePr>
          <p:cNvPr id="7" name="Object 4"/>
          <p:cNvGraphicFramePr>
            <a:graphicFrameLocks noChangeAspect="1"/>
          </p:cNvGraphicFramePr>
          <p:nvPr>
            <p:extLst>
              <p:ext uri="{D42A27DB-BD31-4B8C-83A1-F6EECF244321}">
                <p14:modId xmlns:p14="http://schemas.microsoft.com/office/powerpoint/2010/main" val="357962275"/>
              </p:ext>
            </p:extLst>
          </p:nvPr>
        </p:nvGraphicFramePr>
        <p:xfrm>
          <a:off x="1150404" y="4609569"/>
          <a:ext cx="4278844" cy="1901708"/>
        </p:xfrm>
        <a:graphic>
          <a:graphicData uri="http://schemas.openxmlformats.org/presentationml/2006/ole">
            <mc:AlternateContent xmlns:mc="http://schemas.openxmlformats.org/markup-compatibility/2006">
              <mc:Choice xmlns:v="urn:schemas-microsoft-com:vml" Requires="v">
                <p:oleObj spid="_x0000_s21523" name="Equation" r:id="rId7" imgW="2743200" imgH="1219200" progId="Equation.3">
                  <p:embed/>
                </p:oleObj>
              </mc:Choice>
              <mc:Fallback>
                <p:oleObj name="Equation" r:id="rId7" imgW="2743200" imgH="1219200" progId="Equation.3">
                  <p:embed/>
                  <p:pic>
                    <p:nvPicPr>
                      <p:cNvPr id="9933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0404" y="4609569"/>
                        <a:ext cx="4278844" cy="1901708"/>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2418724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a:xfrm>
            <a:off x="2743200" y="457200"/>
            <a:ext cx="7315200" cy="914400"/>
          </a:xfrm>
        </p:spPr>
        <p:txBody>
          <a:bodyPr/>
          <a:lstStyle/>
          <a:p>
            <a:r>
              <a:rPr lang="en-US" altLang="zh-CN" smtClean="0">
                <a:ea typeface="宋体" panose="02010600030101010101" pitchFamily="2" charset="-122"/>
              </a:rPr>
              <a:t>5.3</a:t>
            </a:r>
            <a:r>
              <a:rPr lang="zh-CN" altLang="en-US" smtClean="0">
                <a:ea typeface="宋体" panose="02010600030101010101" pitchFamily="2" charset="-122"/>
              </a:rPr>
              <a:t>按频率抽取（</a:t>
            </a:r>
            <a:r>
              <a:rPr lang="en-US" altLang="zh-CN" smtClean="0">
                <a:ea typeface="宋体" panose="02010600030101010101" pitchFamily="2" charset="-122"/>
              </a:rPr>
              <a:t>DIF</a:t>
            </a:r>
            <a:r>
              <a:rPr lang="zh-CN" altLang="en-US" smtClean="0">
                <a:ea typeface="宋体" panose="02010600030101010101" pitchFamily="2" charset="-122"/>
              </a:rPr>
              <a:t>）的基 </a:t>
            </a:r>
            <a:r>
              <a:rPr lang="en-US" altLang="zh-CN" smtClean="0">
                <a:ea typeface="宋体" panose="02010600030101010101" pitchFamily="2" charset="-122"/>
              </a:rPr>
              <a:t>-2 FFT</a:t>
            </a:r>
            <a:r>
              <a:rPr lang="zh-CN" altLang="en-US" smtClean="0">
                <a:ea typeface="宋体" panose="02010600030101010101" pitchFamily="2" charset="-122"/>
              </a:rPr>
              <a:t>算法</a:t>
            </a:r>
          </a:p>
        </p:txBody>
      </p:sp>
      <p:sp>
        <p:nvSpPr>
          <p:cNvPr id="10137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0F0AA5EE-17D6-4EF3-87E4-E3A680DA7E86}"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16</a:t>
            </a:fld>
            <a:endParaRPr lang="en-US" altLang="zh-CN" sz="1400" b="0">
              <a:solidFill>
                <a:srgbClr val="000000"/>
              </a:solidFill>
              <a:latin typeface="Times New Roman" panose="02020603050405020304" pitchFamily="18" charset="0"/>
            </a:endParaRPr>
          </a:p>
        </p:txBody>
      </p:sp>
      <p:pic>
        <p:nvPicPr>
          <p:cNvPr id="101380" name="Picture 7" descr="3-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1828800"/>
            <a:ext cx="57150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51050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a:xfrm>
            <a:off x="2743200" y="457200"/>
            <a:ext cx="7315200" cy="914400"/>
          </a:xfrm>
        </p:spPr>
        <p:txBody>
          <a:bodyPr/>
          <a:lstStyle/>
          <a:p>
            <a:r>
              <a:rPr lang="en-US" altLang="zh-CN" smtClean="0">
                <a:ea typeface="宋体" panose="02010600030101010101" pitchFamily="2" charset="-122"/>
              </a:rPr>
              <a:t>5.3</a:t>
            </a:r>
            <a:r>
              <a:rPr lang="zh-CN" altLang="en-US" smtClean="0">
                <a:ea typeface="宋体" panose="02010600030101010101" pitchFamily="2" charset="-122"/>
              </a:rPr>
              <a:t>按频率抽取（</a:t>
            </a:r>
            <a:r>
              <a:rPr lang="en-US" altLang="zh-CN" smtClean="0">
                <a:ea typeface="宋体" panose="02010600030101010101" pitchFamily="2" charset="-122"/>
              </a:rPr>
              <a:t>DIF</a:t>
            </a:r>
            <a:r>
              <a:rPr lang="zh-CN" altLang="en-US" smtClean="0">
                <a:ea typeface="宋体" panose="02010600030101010101" pitchFamily="2" charset="-122"/>
              </a:rPr>
              <a:t>）的基 </a:t>
            </a:r>
            <a:r>
              <a:rPr lang="en-US" altLang="zh-CN" smtClean="0">
                <a:ea typeface="宋体" panose="02010600030101010101" pitchFamily="2" charset="-122"/>
              </a:rPr>
              <a:t>-2 FFT</a:t>
            </a:r>
            <a:r>
              <a:rPr lang="zh-CN" altLang="en-US" smtClean="0">
                <a:ea typeface="宋体" panose="02010600030101010101" pitchFamily="2" charset="-122"/>
              </a:rPr>
              <a:t>算法</a:t>
            </a:r>
          </a:p>
        </p:txBody>
      </p:sp>
      <p:sp>
        <p:nvSpPr>
          <p:cNvPr id="10240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925D25FB-D1DC-47D5-A0A5-B3E1C943E65B}"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17</a:t>
            </a:fld>
            <a:endParaRPr lang="en-US" altLang="zh-CN" sz="1400" b="0">
              <a:solidFill>
                <a:srgbClr val="000000"/>
              </a:solidFill>
              <a:latin typeface="Times New Roman" panose="02020603050405020304" pitchFamily="18" charset="0"/>
            </a:endParaRPr>
          </a:p>
        </p:txBody>
      </p:sp>
      <p:pic>
        <p:nvPicPr>
          <p:cNvPr id="4" name="Picture 7" descr="3-1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1740" y="1686221"/>
            <a:ext cx="8237741" cy="4283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84267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a:xfrm>
            <a:off x="2819400" y="381000"/>
            <a:ext cx="7086600" cy="914400"/>
          </a:xfrm>
        </p:spPr>
        <p:txBody>
          <a:bodyPr/>
          <a:lstStyle/>
          <a:p>
            <a:r>
              <a:rPr lang="en-US" altLang="zh-CN" smtClean="0">
                <a:ea typeface="宋体" panose="02010600030101010101" pitchFamily="2" charset="-122"/>
              </a:rPr>
              <a:t>5.3</a:t>
            </a:r>
            <a:r>
              <a:rPr lang="zh-CN" altLang="en-US" smtClean="0">
                <a:ea typeface="宋体" panose="02010600030101010101" pitchFamily="2" charset="-122"/>
              </a:rPr>
              <a:t>按频率抽取（</a:t>
            </a:r>
            <a:r>
              <a:rPr lang="en-US" altLang="zh-CN" smtClean="0">
                <a:ea typeface="宋体" panose="02010600030101010101" pitchFamily="2" charset="-122"/>
              </a:rPr>
              <a:t>DIF</a:t>
            </a:r>
            <a:r>
              <a:rPr lang="zh-CN" altLang="en-US" smtClean="0">
                <a:ea typeface="宋体" panose="02010600030101010101" pitchFamily="2" charset="-122"/>
              </a:rPr>
              <a:t>）的基 </a:t>
            </a:r>
            <a:r>
              <a:rPr lang="en-US" altLang="zh-CN" smtClean="0">
                <a:ea typeface="宋体" panose="02010600030101010101" pitchFamily="2" charset="-122"/>
              </a:rPr>
              <a:t>-2 FFT</a:t>
            </a:r>
            <a:r>
              <a:rPr lang="zh-CN" altLang="en-US" smtClean="0">
                <a:ea typeface="宋体" panose="02010600030101010101" pitchFamily="2" charset="-122"/>
              </a:rPr>
              <a:t>算法</a:t>
            </a:r>
          </a:p>
        </p:txBody>
      </p:sp>
      <p:sp>
        <p:nvSpPr>
          <p:cNvPr id="10342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0D138AF5-D0EF-43F0-867A-3BEBC3D6EA03}"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18</a:t>
            </a:fld>
            <a:endParaRPr lang="en-US" altLang="zh-CN" sz="1400" b="0">
              <a:solidFill>
                <a:srgbClr val="000000"/>
              </a:solidFill>
              <a:latin typeface="Times New Roman" panose="02020603050405020304" pitchFamily="18" charset="0"/>
            </a:endParaRPr>
          </a:p>
        </p:txBody>
      </p:sp>
      <p:sp>
        <p:nvSpPr>
          <p:cNvPr id="103428" name="TextBox 4"/>
          <p:cNvSpPr txBox="1">
            <a:spLocks noChangeArrowheads="1"/>
          </p:cNvSpPr>
          <p:nvPr/>
        </p:nvSpPr>
        <p:spPr bwMode="auto">
          <a:xfrm>
            <a:off x="1905000" y="1524000"/>
            <a:ext cx="4038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en-US" altLang="zh-CN">
                <a:solidFill>
                  <a:srgbClr val="000000"/>
                </a:solidFill>
              </a:rPr>
              <a:t>2 </a:t>
            </a:r>
            <a:r>
              <a:rPr lang="zh-CN" altLang="en-US">
                <a:solidFill>
                  <a:srgbClr val="000000"/>
                </a:solidFill>
              </a:rPr>
              <a:t>按频率抽取与按时间抽取的对比</a:t>
            </a:r>
          </a:p>
        </p:txBody>
      </p:sp>
      <p:pic>
        <p:nvPicPr>
          <p:cNvPr id="103429" name="Picture 7" descr="3-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667000"/>
            <a:ext cx="5715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0" name="Picture 7" descr="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4276726"/>
            <a:ext cx="57150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1" name="TextBox 8"/>
          <p:cNvSpPr txBox="1">
            <a:spLocks noChangeArrowheads="1"/>
          </p:cNvSpPr>
          <p:nvPr/>
        </p:nvSpPr>
        <p:spPr bwMode="auto">
          <a:xfrm>
            <a:off x="1878014" y="2876550"/>
            <a:ext cx="1474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zh-CN" altLang="en-US">
                <a:solidFill>
                  <a:srgbClr val="000000"/>
                </a:solidFill>
              </a:rPr>
              <a:t>按频率抽取</a:t>
            </a:r>
          </a:p>
        </p:txBody>
      </p:sp>
      <p:sp>
        <p:nvSpPr>
          <p:cNvPr id="103432" name="TextBox 9"/>
          <p:cNvSpPr txBox="1">
            <a:spLocks noChangeArrowheads="1"/>
          </p:cNvSpPr>
          <p:nvPr/>
        </p:nvSpPr>
        <p:spPr bwMode="auto">
          <a:xfrm>
            <a:off x="1878014" y="4629150"/>
            <a:ext cx="1474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zh-CN" altLang="en-US">
                <a:solidFill>
                  <a:srgbClr val="000000"/>
                </a:solidFill>
              </a:rPr>
              <a:t>按时间抽取</a:t>
            </a:r>
          </a:p>
        </p:txBody>
      </p:sp>
      <p:sp>
        <p:nvSpPr>
          <p:cNvPr id="103433" name="TextBox 10"/>
          <p:cNvSpPr txBox="1">
            <a:spLocks noChangeArrowheads="1"/>
          </p:cNvSpPr>
          <p:nvPr/>
        </p:nvSpPr>
        <p:spPr bwMode="auto">
          <a:xfrm>
            <a:off x="4724401" y="5943600"/>
            <a:ext cx="1990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zh-CN" altLang="en-US">
                <a:solidFill>
                  <a:srgbClr val="000000"/>
                </a:solidFill>
              </a:rPr>
              <a:t>两者计算量一样</a:t>
            </a:r>
          </a:p>
        </p:txBody>
      </p:sp>
    </p:spTree>
    <p:extLst>
      <p:ext uri="{BB962C8B-B14F-4D97-AF65-F5344CB8AC3E}">
        <p14:creationId xmlns:p14="http://schemas.microsoft.com/office/powerpoint/2010/main" val="23359044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E25163F-56F0-4728-A241-57C30AA276FE}" type="slidenum">
              <a:rPr kumimoji="0" lang="zh-CN"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pic>
        <p:nvPicPr>
          <p:cNvPr id="5" name="Picture 8" descr="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2881" y="338666"/>
            <a:ext cx="5976937" cy="316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descr="3-1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92881" y="3549734"/>
            <a:ext cx="5922434" cy="3079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53977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a:xfrm>
            <a:off x="2895600" y="457200"/>
            <a:ext cx="7162800" cy="914400"/>
          </a:xfrm>
        </p:spPr>
        <p:txBody>
          <a:bodyPr/>
          <a:lstStyle/>
          <a:p>
            <a:r>
              <a:rPr lang="zh-CN" altLang="en-US" smtClean="0">
                <a:ea typeface="宋体" panose="02010600030101010101" pitchFamily="2" charset="-122"/>
              </a:rPr>
              <a:t>第</a:t>
            </a:r>
            <a:r>
              <a:rPr lang="en-US" altLang="zh-CN" smtClean="0">
                <a:ea typeface="宋体" panose="02010600030101010101" pitchFamily="2" charset="-122"/>
              </a:rPr>
              <a:t>5</a:t>
            </a:r>
            <a:r>
              <a:rPr lang="zh-CN" altLang="en-US" smtClean="0">
                <a:ea typeface="宋体" panose="02010600030101010101" pitchFamily="2" charset="-122"/>
              </a:rPr>
              <a:t>章 作业</a:t>
            </a:r>
          </a:p>
        </p:txBody>
      </p:sp>
      <p:sp>
        <p:nvSpPr>
          <p:cNvPr id="104451" name="内容占位符 2"/>
          <p:cNvSpPr>
            <a:spLocks noGrp="1"/>
          </p:cNvSpPr>
          <p:nvPr>
            <p:ph idx="1"/>
          </p:nvPr>
        </p:nvSpPr>
        <p:spPr/>
        <p:txBody>
          <a:bodyPr/>
          <a:lstStyle/>
          <a:p>
            <a:r>
              <a:rPr lang="en-US" altLang="zh-CN" smtClean="0">
                <a:ea typeface="宋体" panose="02010600030101010101" pitchFamily="2" charset="-122"/>
              </a:rPr>
              <a:t>1</a:t>
            </a:r>
          </a:p>
          <a:p>
            <a:r>
              <a:rPr lang="en-US" altLang="zh-CN" smtClean="0">
                <a:ea typeface="宋体" panose="02010600030101010101" pitchFamily="2" charset="-122"/>
              </a:rPr>
              <a:t>4</a:t>
            </a:r>
          </a:p>
          <a:p>
            <a:r>
              <a:rPr lang="en-US" altLang="zh-CN" smtClean="0">
                <a:ea typeface="宋体" panose="02010600030101010101" pitchFamily="2" charset="-122"/>
              </a:rPr>
              <a:t>6</a:t>
            </a:r>
          </a:p>
          <a:p>
            <a:endParaRPr lang="zh-CN" altLang="en-US" smtClean="0">
              <a:ea typeface="宋体" panose="02010600030101010101" pitchFamily="2" charset="-122"/>
            </a:endParaRPr>
          </a:p>
        </p:txBody>
      </p:sp>
      <p:sp>
        <p:nvSpPr>
          <p:cNvPr id="10445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FB62E469-DCDE-4BA5-838D-969928B72DEF}"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20</a:t>
            </a:fld>
            <a:endParaRPr lang="en-US" altLang="zh-CN" sz="1400" b="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805645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fld id="{28BDE51F-1AAF-4913-8193-75F9E65D6525}" type="slidenum">
              <a:rPr lang="zh-CN" altLang="en-US" sz="1400" b="0">
                <a:solidFill>
                  <a:srgbClr val="000000"/>
                </a:solidFill>
                <a:latin typeface="Times New Roman" panose="02020603050405020304" pitchFamily="18" charset="0"/>
              </a:rPr>
              <a:pPr eaLnBrk="0" fontAlgn="base" hangingPunct="0">
                <a:spcBef>
                  <a:spcPct val="0"/>
                </a:spcBef>
                <a:spcAft>
                  <a:spcPct val="0"/>
                </a:spcAft>
              </a:pPr>
              <a:t>21</a:t>
            </a:fld>
            <a:endParaRPr lang="en-US" altLang="zh-CN" sz="1400" b="0">
              <a:solidFill>
                <a:srgbClr val="000000"/>
              </a:solidFill>
              <a:latin typeface="Times New Roman" panose="02020603050405020304" pitchFamily="18" charset="0"/>
            </a:endParaRPr>
          </a:p>
        </p:txBody>
      </p:sp>
      <p:sp>
        <p:nvSpPr>
          <p:cNvPr id="46083" name="Rectangle 2"/>
          <p:cNvSpPr>
            <a:spLocks noGrp="1" noChangeArrowheads="1"/>
          </p:cNvSpPr>
          <p:nvPr>
            <p:ph type="title"/>
          </p:nvPr>
        </p:nvSpPr>
        <p:spPr>
          <a:xfrm>
            <a:off x="1879600" y="433388"/>
            <a:ext cx="8723117" cy="914400"/>
          </a:xfrm>
        </p:spPr>
        <p:txBody>
          <a:bodyPr/>
          <a:lstStyle/>
          <a:p>
            <a:r>
              <a:rPr lang="zh-CN" altLang="en-US" dirty="0">
                <a:ea typeface="宋体" panose="02010600030101010101" pitchFamily="2" charset="-122"/>
              </a:rPr>
              <a:t>第</a:t>
            </a:r>
            <a:r>
              <a:rPr lang="en-US" altLang="zh-CN" dirty="0">
                <a:ea typeface="宋体" panose="02010600030101010101" pitchFamily="2" charset="-122"/>
              </a:rPr>
              <a:t>6</a:t>
            </a:r>
            <a:r>
              <a:rPr lang="zh-CN" altLang="en-US" dirty="0" smtClean="0">
                <a:ea typeface="宋体" panose="02010600030101010101" pitchFamily="2" charset="-122"/>
              </a:rPr>
              <a:t>章 前几章节知识</a:t>
            </a:r>
            <a:r>
              <a:rPr lang="en-US" altLang="zh-CN" dirty="0" smtClean="0">
                <a:ea typeface="宋体" panose="02010600030101010101" pitchFamily="2" charset="-122"/>
              </a:rPr>
              <a:t/>
            </a:r>
            <a:br>
              <a:rPr lang="en-US" altLang="zh-CN" dirty="0" smtClean="0">
                <a:ea typeface="宋体" panose="02010600030101010101" pitchFamily="2" charset="-122"/>
              </a:rPr>
            </a:br>
            <a:r>
              <a:rPr lang="zh-CN" altLang="en-US" dirty="0" smtClean="0">
                <a:ea typeface="宋体" panose="02010600030101010101" pitchFamily="2" charset="-122"/>
              </a:rPr>
              <a:t>有理系统的单位脉冲响应（</a:t>
            </a:r>
            <a:r>
              <a:rPr lang="en-US" altLang="zh-CN" dirty="0" smtClean="0">
                <a:ea typeface="宋体" panose="02010600030101010101" pitchFamily="2" charset="-122"/>
              </a:rPr>
              <a:t>IIR,FIR</a:t>
            </a:r>
            <a:r>
              <a:rPr lang="zh-CN" altLang="en-US" dirty="0" smtClean="0">
                <a:ea typeface="宋体" panose="02010600030101010101" pitchFamily="2" charset="-122"/>
              </a:rPr>
              <a:t>长度分类）</a:t>
            </a:r>
            <a:endParaRPr lang="en-US" altLang="zh-CN" dirty="0" smtClean="0">
              <a:ea typeface="宋体" panose="02010600030101010101" pitchFamily="2" charset="-122"/>
            </a:endParaRPr>
          </a:p>
        </p:txBody>
      </p:sp>
      <p:graphicFrame>
        <p:nvGraphicFramePr>
          <p:cNvPr id="46084" name="对象 2"/>
          <p:cNvGraphicFramePr>
            <a:graphicFrameLocks noChangeAspect="1"/>
          </p:cNvGraphicFramePr>
          <p:nvPr/>
        </p:nvGraphicFramePr>
        <p:xfrm>
          <a:off x="2286000" y="1600201"/>
          <a:ext cx="2362200" cy="1878013"/>
        </p:xfrm>
        <a:graphic>
          <a:graphicData uri="http://schemas.openxmlformats.org/presentationml/2006/ole">
            <mc:AlternateContent xmlns:mc="http://schemas.openxmlformats.org/markup-compatibility/2006">
              <mc:Choice xmlns:v="urn:schemas-microsoft-com:vml" Requires="v">
                <p:oleObj spid="_x0000_s16437" name="Equation" r:id="rId4" imgW="1054100" imgH="838200" progId="Equation.3">
                  <p:embed/>
                </p:oleObj>
              </mc:Choice>
              <mc:Fallback>
                <p:oleObj name="Equation" r:id="rId4" imgW="1054100" imgH="838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1600201"/>
                        <a:ext cx="2362200" cy="187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5" name="对象 4"/>
          <p:cNvGraphicFramePr>
            <a:graphicFrameLocks noChangeAspect="1"/>
          </p:cNvGraphicFramePr>
          <p:nvPr/>
        </p:nvGraphicFramePr>
        <p:xfrm>
          <a:off x="4724401" y="2068513"/>
          <a:ext cx="3490913" cy="989012"/>
        </p:xfrm>
        <a:graphic>
          <a:graphicData uri="http://schemas.openxmlformats.org/presentationml/2006/ole">
            <mc:AlternateContent xmlns:mc="http://schemas.openxmlformats.org/markup-compatibility/2006">
              <mc:Choice xmlns:v="urn:schemas-microsoft-com:vml" Requires="v">
                <p:oleObj spid="_x0000_s16438" name="Equation" r:id="rId6" imgW="1346200" imgH="381000" progId="Equation.DSMT4">
                  <p:embed/>
                </p:oleObj>
              </mc:Choice>
              <mc:Fallback>
                <p:oleObj name="Equation" r:id="rId6" imgW="1346200" imgH="3810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4401" y="2068513"/>
                        <a:ext cx="3490913"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6" name="对象 5"/>
          <p:cNvGraphicFramePr>
            <a:graphicFrameLocks noChangeAspect="1"/>
          </p:cNvGraphicFramePr>
          <p:nvPr/>
        </p:nvGraphicFramePr>
        <p:xfrm>
          <a:off x="2397126" y="3778250"/>
          <a:ext cx="4918075" cy="973138"/>
        </p:xfrm>
        <a:graphic>
          <a:graphicData uri="http://schemas.openxmlformats.org/presentationml/2006/ole">
            <mc:AlternateContent xmlns:mc="http://schemas.openxmlformats.org/markup-compatibility/2006">
              <mc:Choice xmlns:v="urn:schemas-microsoft-com:vml" Requires="v">
                <p:oleObj spid="_x0000_s16439" name="Equation" r:id="rId8" imgW="2184400" imgH="431800" progId="Equation.3">
                  <p:embed/>
                </p:oleObj>
              </mc:Choice>
              <mc:Fallback>
                <p:oleObj name="Equation" r:id="rId8" imgW="2184400" imgH="431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97126" y="3778250"/>
                        <a:ext cx="4918075" cy="973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7" name="TextBox 6"/>
          <p:cNvSpPr txBox="1">
            <a:spLocks noChangeArrowheads="1"/>
          </p:cNvSpPr>
          <p:nvPr/>
        </p:nvSpPr>
        <p:spPr bwMode="auto">
          <a:xfrm>
            <a:off x="2819400" y="5162550"/>
            <a:ext cx="3060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en-US" altLang="zh-CN">
                <a:solidFill>
                  <a:srgbClr val="000000"/>
                </a:solidFill>
              </a:rPr>
              <a:t>IIR:</a:t>
            </a:r>
            <a:r>
              <a:rPr lang="zh-CN" altLang="en-US">
                <a:solidFill>
                  <a:srgbClr val="000000"/>
                </a:solidFill>
              </a:rPr>
              <a:t>无限长单位脉冲响应</a:t>
            </a:r>
          </a:p>
        </p:txBody>
      </p:sp>
      <p:sp>
        <p:nvSpPr>
          <p:cNvPr id="46088" name="TextBox 11"/>
          <p:cNvSpPr txBox="1">
            <a:spLocks noChangeArrowheads="1"/>
          </p:cNvSpPr>
          <p:nvPr/>
        </p:nvSpPr>
        <p:spPr bwMode="auto">
          <a:xfrm>
            <a:off x="2819401" y="5695950"/>
            <a:ext cx="3076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eaLnBrk="0" fontAlgn="base" hangingPunct="0">
              <a:spcBef>
                <a:spcPct val="0"/>
              </a:spcBef>
              <a:spcAft>
                <a:spcPct val="0"/>
              </a:spcAft>
            </a:pPr>
            <a:r>
              <a:rPr lang="en-US" altLang="zh-CN">
                <a:solidFill>
                  <a:srgbClr val="000000"/>
                </a:solidFill>
              </a:rPr>
              <a:t>FIR:</a:t>
            </a:r>
            <a:r>
              <a:rPr lang="zh-CN" altLang="en-US">
                <a:solidFill>
                  <a:srgbClr val="000000"/>
                </a:solidFill>
              </a:rPr>
              <a:t>有限长单位脉冲响应</a:t>
            </a:r>
          </a:p>
        </p:txBody>
      </p:sp>
    </p:spTree>
    <p:extLst>
      <p:ext uri="{BB962C8B-B14F-4D97-AF65-F5344CB8AC3E}">
        <p14:creationId xmlns:p14="http://schemas.microsoft.com/office/powerpoint/2010/main" val="22359503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1782234" y="426930"/>
            <a:ext cx="8271933" cy="914400"/>
          </a:xfrm>
        </p:spPr>
        <p:txBody>
          <a:bodyPr/>
          <a:lstStyle/>
          <a:p>
            <a:r>
              <a:rPr lang="zh-CN" altLang="en-US" dirty="0">
                <a:ea typeface="宋体" panose="02010600030101010101" pitchFamily="2" charset="-122"/>
              </a:rPr>
              <a:t>第</a:t>
            </a:r>
            <a:r>
              <a:rPr lang="en-US" altLang="zh-CN" dirty="0">
                <a:ea typeface="宋体" panose="02010600030101010101" pitchFamily="2" charset="-122"/>
              </a:rPr>
              <a:t>6</a:t>
            </a:r>
            <a:r>
              <a:rPr lang="zh-CN" altLang="en-US" dirty="0">
                <a:ea typeface="宋体" panose="02010600030101010101" pitchFamily="2" charset="-122"/>
              </a:rPr>
              <a:t>章 前几章节知识</a:t>
            </a:r>
            <a:br>
              <a:rPr lang="zh-CN" altLang="en-US" dirty="0">
                <a:ea typeface="宋体" panose="02010600030101010101" pitchFamily="2" charset="-122"/>
              </a:rPr>
            </a:br>
            <a:r>
              <a:rPr lang="en-US" altLang="zh-CN" dirty="0" smtClean="0">
                <a:ea typeface="宋体" panose="02010600030101010101" pitchFamily="2" charset="-122"/>
              </a:rPr>
              <a:t>Z</a:t>
            </a:r>
            <a:r>
              <a:rPr lang="zh-CN" altLang="en-US" dirty="0" smtClean="0">
                <a:ea typeface="宋体" panose="02010600030101010101" pitchFamily="2" charset="-122"/>
              </a:rPr>
              <a:t>变换与拉氏变换的关系</a:t>
            </a:r>
          </a:p>
        </p:txBody>
      </p:sp>
      <p:sp>
        <p:nvSpPr>
          <p:cNvPr id="5325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41EEDEF-A4D3-4039-A121-89D64C78385D}" type="slidenum">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53252" name="对象 4"/>
          <p:cNvGraphicFramePr>
            <a:graphicFrameLocks noChangeAspect="1"/>
          </p:cNvGraphicFramePr>
          <p:nvPr>
            <p:extLst/>
          </p:nvPr>
        </p:nvGraphicFramePr>
        <p:xfrm>
          <a:off x="549943" y="3068633"/>
          <a:ext cx="3810000" cy="588962"/>
        </p:xfrm>
        <a:graphic>
          <a:graphicData uri="http://schemas.openxmlformats.org/presentationml/2006/ole">
            <mc:AlternateContent xmlns:mc="http://schemas.openxmlformats.org/markup-compatibility/2006">
              <mc:Choice xmlns:v="urn:schemas-microsoft-com:vml" Requires="v">
                <p:oleObj spid="_x0000_s17442" name="Equation" r:id="rId3" imgW="1726451" imgH="266584" progId="Equation.3">
                  <p:embed/>
                </p:oleObj>
              </mc:Choice>
              <mc:Fallback>
                <p:oleObj name="Equation" r:id="rId3" imgW="1726451" imgH="26658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943" y="3068633"/>
                        <a:ext cx="381000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3253" name="Picture 10" descr="1-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2148" y="1420476"/>
            <a:ext cx="5715000"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p:cNvSpPr>
            <a:spLocks noGrp="1"/>
          </p:cNvSpPr>
          <p:nvPr>
            <p:ph idx="1"/>
          </p:nvPr>
        </p:nvSpPr>
        <p:spPr>
          <a:xfrm>
            <a:off x="128337" y="1578768"/>
            <a:ext cx="6260432" cy="685800"/>
          </a:xfrm>
        </p:spPr>
        <p:txBody>
          <a:bodyPr/>
          <a:lstStyle/>
          <a:p>
            <a:r>
              <a:rPr lang="zh-CN" altLang="en-US" dirty="0" smtClean="0"/>
              <a:t>针对时域采样（把拉斯变换离散化）</a:t>
            </a:r>
            <a:endParaRPr lang="zh-CN" altLang="en-US" dirty="0"/>
          </a:p>
        </p:txBody>
      </p:sp>
      <p:graphicFrame>
        <p:nvGraphicFramePr>
          <p:cNvPr id="7" name="对象 6"/>
          <p:cNvGraphicFramePr>
            <a:graphicFrameLocks noChangeAspect="1"/>
          </p:cNvGraphicFramePr>
          <p:nvPr>
            <p:extLst/>
          </p:nvPr>
        </p:nvGraphicFramePr>
        <p:xfrm>
          <a:off x="548439" y="2182974"/>
          <a:ext cx="3502199" cy="787316"/>
        </p:xfrm>
        <a:graphic>
          <a:graphicData uri="http://schemas.openxmlformats.org/presentationml/2006/ole">
            <mc:AlternateContent xmlns:mc="http://schemas.openxmlformats.org/markup-compatibility/2006">
              <mc:Choice xmlns:v="urn:schemas-microsoft-com:vml" Requires="v">
                <p:oleObj spid="_x0000_s17443" name="Equation" r:id="rId6" imgW="1638000" imgH="368280" progId="Equation.DSMT4">
                  <p:embed/>
                </p:oleObj>
              </mc:Choice>
              <mc:Fallback>
                <p:oleObj name="Equation" r:id="rId6" imgW="1638000" imgH="368280" progId="Equation.DSMT4">
                  <p:embed/>
                  <p:pic>
                    <p:nvPicPr>
                      <p:cNvPr id="0" name=""/>
                      <p:cNvPicPr/>
                      <p:nvPr/>
                    </p:nvPicPr>
                    <p:blipFill>
                      <a:blip r:embed="rId7"/>
                      <a:stretch>
                        <a:fillRect/>
                      </a:stretch>
                    </p:blipFill>
                    <p:spPr>
                      <a:xfrm>
                        <a:off x="548439" y="2182974"/>
                        <a:ext cx="3502199" cy="787316"/>
                      </a:xfrm>
                      <a:prstGeom prst="rect">
                        <a:avLst/>
                      </a:prstGeom>
                    </p:spPr>
                  </p:pic>
                </p:oleObj>
              </mc:Fallback>
            </mc:AlternateContent>
          </a:graphicData>
        </a:graphic>
      </p:graphicFrame>
      <p:sp>
        <p:nvSpPr>
          <p:cNvPr id="8" name="内容占位符 2"/>
          <p:cNvSpPr txBox="1">
            <a:spLocks/>
          </p:cNvSpPr>
          <p:nvPr/>
        </p:nvSpPr>
        <p:spPr bwMode="auto">
          <a:xfrm>
            <a:off x="216568" y="4227968"/>
            <a:ext cx="11201400" cy="240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zh-CN" altLang="en-US" sz="2800" b="0" i="0" u="none" strike="noStrike" kern="0" cap="none" spc="0" normalizeH="0" baseline="0" noProof="0" dirty="0" smtClean="0">
                <a:ln>
                  <a:noFill/>
                </a:ln>
                <a:solidFill>
                  <a:srgbClr val="000000"/>
                </a:solidFill>
                <a:effectLst/>
                <a:uLnTx/>
                <a:uFillTx/>
                <a:latin typeface="Comic Sans MS"/>
                <a:ea typeface="+mn-ea"/>
                <a:cs typeface="+mn-cs"/>
              </a:rPr>
              <a:t>左对应于单位圆内，右对应单位圆外，单位圆</a:t>
            </a:r>
            <a:r>
              <a:rPr kumimoji="0" lang="en-US" altLang="zh-CN" sz="2800" b="0" i="0" u="none" strike="noStrike" kern="0" cap="none" spc="0" normalizeH="0" baseline="0" noProof="0" dirty="0" smtClean="0">
                <a:ln>
                  <a:noFill/>
                </a:ln>
                <a:solidFill>
                  <a:srgbClr val="000000"/>
                </a:solidFill>
                <a:effectLst/>
                <a:uLnTx/>
                <a:uFillTx/>
                <a:latin typeface="Comic Sans MS"/>
                <a:ea typeface="+mn-ea"/>
                <a:cs typeface="+mn-cs"/>
              </a:rPr>
              <a:t>DFT</a:t>
            </a:r>
            <a:r>
              <a:rPr kumimoji="0" lang="zh-CN" altLang="en-US" sz="2800" b="0" i="0" u="none" strike="noStrike" kern="0" cap="none" spc="0" normalizeH="0" baseline="0" noProof="0" dirty="0" smtClean="0">
                <a:ln>
                  <a:noFill/>
                </a:ln>
                <a:solidFill>
                  <a:srgbClr val="000000"/>
                </a:solidFill>
                <a:effectLst/>
                <a:uLnTx/>
                <a:uFillTx/>
                <a:latin typeface="Comic Sans MS"/>
                <a:ea typeface="+mn-ea"/>
                <a:cs typeface="+mn-cs"/>
              </a:rPr>
              <a:t>对应纵轴</a:t>
            </a:r>
            <a:r>
              <a:rPr kumimoji="0" lang="en-US" altLang="zh-CN" sz="2800" b="0" i="0" u="none" strike="noStrike" kern="0" cap="none" spc="0" normalizeH="0" baseline="0" noProof="0" dirty="0" smtClean="0">
                <a:ln>
                  <a:noFill/>
                </a:ln>
                <a:solidFill>
                  <a:srgbClr val="000000"/>
                </a:solidFill>
                <a:effectLst/>
                <a:uLnTx/>
                <a:uFillTx/>
                <a:latin typeface="Comic Sans MS"/>
                <a:ea typeface="+mn-ea"/>
                <a:cs typeface="+mn-cs"/>
              </a:rPr>
              <a:t>FT</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zh-CN" altLang="en-US" sz="2800" b="0" i="0" u="none" strike="noStrike" kern="0" cap="none" spc="0" normalizeH="0" baseline="0" noProof="0" dirty="0" smtClean="0">
                <a:ln>
                  <a:noFill/>
                </a:ln>
                <a:solidFill>
                  <a:srgbClr val="000000"/>
                </a:solidFill>
                <a:effectLst/>
                <a:uLnTx/>
                <a:uFillTx/>
                <a:latin typeface="Comic Sans MS"/>
                <a:ea typeface="+mn-ea"/>
                <a:cs typeface="+mn-cs"/>
              </a:rPr>
              <a:t>带状周期延拓</a:t>
            </a:r>
            <a:endParaRPr kumimoji="0" lang="zh-CN" altLang="en-US" sz="2800" b="0" i="0" u="none" strike="noStrike" kern="0" cap="none" spc="0" normalizeH="0" baseline="0" noProof="0" dirty="0">
              <a:ln>
                <a:noFill/>
              </a:ln>
              <a:solidFill>
                <a:srgbClr val="000000"/>
              </a:solidFill>
              <a:effectLst/>
              <a:uLnTx/>
              <a:uFillTx/>
              <a:latin typeface="Comic Sans MS"/>
              <a:ea typeface="+mn-ea"/>
              <a:cs typeface="+mn-cs"/>
            </a:endParaRPr>
          </a:p>
        </p:txBody>
      </p:sp>
    </p:spTree>
    <p:extLst>
      <p:ext uri="{BB962C8B-B14F-4D97-AF65-F5344CB8AC3E}">
        <p14:creationId xmlns:p14="http://schemas.microsoft.com/office/powerpoint/2010/main" val="16311064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p:cNvSpPr>
            <a:spLocks noGrp="1"/>
          </p:cNvSpPr>
          <p:nvPr>
            <p:ph type="title"/>
          </p:nvPr>
        </p:nvSpPr>
        <p:spPr>
          <a:xfrm>
            <a:off x="1727200" y="457200"/>
            <a:ext cx="9652000" cy="914400"/>
          </a:xfrm>
        </p:spPr>
        <p:txBody>
          <a:bodyPr/>
          <a:lstStyle/>
          <a:p>
            <a:pPr eaLnBrk="1" hangingPunct="1"/>
            <a:r>
              <a:rPr lang="zh-CN" altLang="en-US" dirty="0" smtClean="0">
                <a:latin typeface="宋体" charset="-122"/>
                <a:ea typeface="宋体" charset="-122"/>
              </a:rPr>
              <a:t>第</a:t>
            </a:r>
            <a:r>
              <a:rPr lang="en-US" altLang="zh-CN" dirty="0" smtClean="0">
                <a:latin typeface="宋体" charset="-122"/>
                <a:ea typeface="宋体" charset="-122"/>
              </a:rPr>
              <a:t>6</a:t>
            </a:r>
            <a:r>
              <a:rPr lang="zh-CN" altLang="en-US" dirty="0" smtClean="0">
                <a:latin typeface="宋体" charset="-122"/>
                <a:ea typeface="宋体" charset="-122"/>
              </a:rPr>
              <a:t>章 </a:t>
            </a:r>
            <a:r>
              <a:rPr lang="en-US" altLang="zh-CN" dirty="0" smtClean="0">
                <a:latin typeface="宋体" charset="-122"/>
                <a:ea typeface="宋体" charset="-122"/>
              </a:rPr>
              <a:t>IIR</a:t>
            </a:r>
            <a:r>
              <a:rPr lang="zh-CN" altLang="en-US" dirty="0" smtClean="0">
                <a:latin typeface="宋体" charset="-122"/>
                <a:ea typeface="宋体" charset="-122"/>
              </a:rPr>
              <a:t>数字滤波器的设计方法 </a:t>
            </a:r>
          </a:p>
        </p:txBody>
      </p:sp>
      <p:sp>
        <p:nvSpPr>
          <p:cNvPr id="12083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itchFamily="66" charset="0"/>
                <a:ea typeface="宋体" charset="-122"/>
              </a:defRPr>
            </a:lvl1pPr>
            <a:lvl2pPr marL="742950" indent="-285750">
              <a:defRPr sz="2000" b="1">
                <a:solidFill>
                  <a:schemeClr val="tx1"/>
                </a:solidFill>
                <a:latin typeface="Comic Sans MS" pitchFamily="66" charset="0"/>
                <a:ea typeface="宋体" charset="-122"/>
              </a:defRPr>
            </a:lvl2pPr>
            <a:lvl3pPr marL="1143000" indent="-228600">
              <a:defRPr sz="2000" b="1">
                <a:solidFill>
                  <a:schemeClr val="tx1"/>
                </a:solidFill>
                <a:latin typeface="Comic Sans MS" pitchFamily="66" charset="0"/>
                <a:ea typeface="宋体" charset="-122"/>
              </a:defRPr>
            </a:lvl3pPr>
            <a:lvl4pPr marL="1600200" indent="-228600">
              <a:defRPr sz="2000" b="1">
                <a:solidFill>
                  <a:schemeClr val="tx1"/>
                </a:solidFill>
                <a:latin typeface="Comic Sans MS" pitchFamily="66" charset="0"/>
                <a:ea typeface="宋体" charset="-122"/>
              </a:defRPr>
            </a:lvl4pPr>
            <a:lvl5pPr marL="2057400" indent="-228600">
              <a:defRPr sz="2000" b="1">
                <a:solidFill>
                  <a:schemeClr val="tx1"/>
                </a:solidFill>
                <a:latin typeface="Comic Sans MS" pitchFamily="66" charset="0"/>
                <a:ea typeface="宋体" charset="-122"/>
              </a:defRPr>
            </a:lvl5pPr>
            <a:lvl6pPr marL="2514600" indent="-228600" eaLnBrk="0" fontAlgn="base" hangingPunct="0">
              <a:spcBef>
                <a:spcPct val="0"/>
              </a:spcBef>
              <a:spcAft>
                <a:spcPct val="0"/>
              </a:spcAft>
              <a:defRPr sz="2000" b="1">
                <a:solidFill>
                  <a:schemeClr val="tx1"/>
                </a:solidFill>
                <a:latin typeface="Comic Sans MS" pitchFamily="66" charset="0"/>
                <a:ea typeface="宋体" charset="-122"/>
              </a:defRPr>
            </a:lvl6pPr>
            <a:lvl7pPr marL="2971800" indent="-228600" eaLnBrk="0" fontAlgn="base" hangingPunct="0">
              <a:spcBef>
                <a:spcPct val="0"/>
              </a:spcBef>
              <a:spcAft>
                <a:spcPct val="0"/>
              </a:spcAft>
              <a:defRPr sz="2000" b="1">
                <a:solidFill>
                  <a:schemeClr val="tx1"/>
                </a:solidFill>
                <a:latin typeface="Comic Sans MS" pitchFamily="66" charset="0"/>
                <a:ea typeface="宋体" charset="-122"/>
              </a:defRPr>
            </a:lvl7pPr>
            <a:lvl8pPr marL="3429000" indent="-228600" eaLnBrk="0" fontAlgn="base" hangingPunct="0">
              <a:spcBef>
                <a:spcPct val="0"/>
              </a:spcBef>
              <a:spcAft>
                <a:spcPct val="0"/>
              </a:spcAft>
              <a:defRPr sz="2000" b="1">
                <a:solidFill>
                  <a:schemeClr val="tx1"/>
                </a:solidFill>
                <a:latin typeface="Comic Sans MS" pitchFamily="66" charset="0"/>
                <a:ea typeface="宋体" charset="-122"/>
              </a:defRPr>
            </a:lvl8pPr>
            <a:lvl9pPr marL="3886200" indent="-228600" eaLnBrk="0" fontAlgn="base" hangingPunct="0">
              <a:spcBef>
                <a:spcPct val="0"/>
              </a:spcBef>
              <a:spcAft>
                <a:spcPct val="0"/>
              </a:spcAft>
              <a:defRPr sz="2000" b="1">
                <a:solidFill>
                  <a:schemeClr val="tx1"/>
                </a:solidFill>
                <a:latin typeface="Comic Sans MS" pitchFamily="66" charset="0"/>
                <a:ea typeface="宋体" charset="-122"/>
              </a:defRPr>
            </a:lvl9pPr>
          </a:lstStyle>
          <a:p>
            <a:fld id="{AB69DEBD-F80B-4BFD-A9ED-6EC81D6D6A47}" type="slidenum">
              <a:rPr lang="zh-CN" altLang="en-US" sz="1400" b="0" smtClean="0">
                <a:latin typeface="Times New Roman" pitchFamily="18" charset="0"/>
              </a:rPr>
              <a:pPr/>
              <a:t>23</a:t>
            </a:fld>
            <a:endParaRPr lang="en-US" altLang="zh-CN" sz="1400" b="0" smtClean="0">
              <a:latin typeface="Times New Roman" pitchFamily="18" charset="0"/>
            </a:endParaRPr>
          </a:p>
        </p:txBody>
      </p:sp>
      <p:sp>
        <p:nvSpPr>
          <p:cNvPr id="120836" name="Text Box 4"/>
          <p:cNvSpPr txBox="1">
            <a:spLocks noChangeArrowheads="1"/>
          </p:cNvSpPr>
          <p:nvPr/>
        </p:nvSpPr>
        <p:spPr bwMode="auto">
          <a:xfrm>
            <a:off x="4368801" y="1443038"/>
            <a:ext cx="19607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itchFamily="66" charset="0"/>
                <a:ea typeface="宋体" charset="-122"/>
              </a:defRPr>
            </a:lvl1pPr>
            <a:lvl2pPr marL="742950" indent="-285750">
              <a:defRPr sz="2000" b="1">
                <a:solidFill>
                  <a:schemeClr val="tx1"/>
                </a:solidFill>
                <a:latin typeface="Comic Sans MS" pitchFamily="66" charset="0"/>
                <a:ea typeface="宋体" charset="-122"/>
              </a:defRPr>
            </a:lvl2pPr>
            <a:lvl3pPr marL="1143000" indent="-228600">
              <a:defRPr sz="2000" b="1">
                <a:solidFill>
                  <a:schemeClr val="tx1"/>
                </a:solidFill>
                <a:latin typeface="Comic Sans MS" pitchFamily="66" charset="0"/>
                <a:ea typeface="宋体" charset="-122"/>
              </a:defRPr>
            </a:lvl3pPr>
            <a:lvl4pPr marL="1600200" indent="-228600">
              <a:defRPr sz="2000" b="1">
                <a:solidFill>
                  <a:schemeClr val="tx1"/>
                </a:solidFill>
                <a:latin typeface="Comic Sans MS" pitchFamily="66" charset="0"/>
                <a:ea typeface="宋体" charset="-122"/>
              </a:defRPr>
            </a:lvl4pPr>
            <a:lvl5pPr marL="2057400" indent="-228600">
              <a:defRPr sz="2000" b="1">
                <a:solidFill>
                  <a:schemeClr val="tx1"/>
                </a:solidFill>
                <a:latin typeface="Comic Sans MS" pitchFamily="66" charset="0"/>
                <a:ea typeface="宋体" charset="-122"/>
              </a:defRPr>
            </a:lvl5pPr>
            <a:lvl6pPr marL="2514600" indent="-228600" eaLnBrk="0" fontAlgn="base" hangingPunct="0">
              <a:spcBef>
                <a:spcPct val="0"/>
              </a:spcBef>
              <a:spcAft>
                <a:spcPct val="0"/>
              </a:spcAft>
              <a:defRPr sz="2000" b="1">
                <a:solidFill>
                  <a:schemeClr val="tx1"/>
                </a:solidFill>
                <a:latin typeface="Comic Sans MS" pitchFamily="66" charset="0"/>
                <a:ea typeface="宋体" charset="-122"/>
              </a:defRPr>
            </a:lvl6pPr>
            <a:lvl7pPr marL="2971800" indent="-228600" eaLnBrk="0" fontAlgn="base" hangingPunct="0">
              <a:spcBef>
                <a:spcPct val="0"/>
              </a:spcBef>
              <a:spcAft>
                <a:spcPct val="0"/>
              </a:spcAft>
              <a:defRPr sz="2000" b="1">
                <a:solidFill>
                  <a:schemeClr val="tx1"/>
                </a:solidFill>
                <a:latin typeface="Comic Sans MS" pitchFamily="66" charset="0"/>
                <a:ea typeface="宋体" charset="-122"/>
              </a:defRPr>
            </a:lvl7pPr>
            <a:lvl8pPr marL="3429000" indent="-228600" eaLnBrk="0" fontAlgn="base" hangingPunct="0">
              <a:spcBef>
                <a:spcPct val="0"/>
              </a:spcBef>
              <a:spcAft>
                <a:spcPct val="0"/>
              </a:spcAft>
              <a:defRPr sz="2000" b="1">
                <a:solidFill>
                  <a:schemeClr val="tx1"/>
                </a:solidFill>
                <a:latin typeface="Comic Sans MS" pitchFamily="66" charset="0"/>
                <a:ea typeface="宋体" charset="-122"/>
              </a:defRPr>
            </a:lvl8pPr>
            <a:lvl9pPr marL="3886200" indent="-228600" eaLnBrk="0" fontAlgn="base" hangingPunct="0">
              <a:spcBef>
                <a:spcPct val="0"/>
              </a:spcBef>
              <a:spcAft>
                <a:spcPct val="0"/>
              </a:spcAft>
              <a:defRPr sz="2000" b="1">
                <a:solidFill>
                  <a:schemeClr val="tx1"/>
                </a:solidFill>
                <a:latin typeface="Comic Sans MS" pitchFamily="66" charset="0"/>
                <a:ea typeface="宋体" charset="-122"/>
              </a:defRPr>
            </a:lvl9pPr>
          </a:lstStyle>
          <a:p>
            <a:pPr eaLnBrk="1" hangingPunct="1"/>
            <a:r>
              <a:rPr kumimoji="1" lang="en-US" altLang="zh-CN" sz="2400">
                <a:latin typeface="Times New Roman" pitchFamily="18" charset="0"/>
              </a:rPr>
              <a:t>6.1 </a:t>
            </a:r>
            <a:r>
              <a:rPr kumimoji="1" lang="zh-CN" altLang="en-US" sz="2400">
                <a:latin typeface="Times New Roman" pitchFamily="18" charset="0"/>
              </a:rPr>
              <a:t>基本概念 </a:t>
            </a:r>
          </a:p>
        </p:txBody>
      </p:sp>
      <p:sp>
        <p:nvSpPr>
          <p:cNvPr id="120837" name="Text Box 5"/>
          <p:cNvSpPr txBox="1">
            <a:spLocks noChangeArrowheads="1"/>
          </p:cNvSpPr>
          <p:nvPr/>
        </p:nvSpPr>
        <p:spPr bwMode="auto">
          <a:xfrm>
            <a:off x="448733" y="1847850"/>
            <a:ext cx="11216218"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1">
                <a:solidFill>
                  <a:schemeClr val="tx1"/>
                </a:solidFill>
                <a:latin typeface="Comic Sans MS" pitchFamily="66" charset="0"/>
                <a:ea typeface="宋体" charset="-122"/>
              </a:defRPr>
            </a:lvl1pPr>
            <a:lvl2pPr marL="742950" indent="-285750">
              <a:defRPr sz="2000" b="1">
                <a:solidFill>
                  <a:schemeClr val="tx1"/>
                </a:solidFill>
                <a:latin typeface="Comic Sans MS" pitchFamily="66" charset="0"/>
                <a:ea typeface="宋体" charset="-122"/>
              </a:defRPr>
            </a:lvl2pPr>
            <a:lvl3pPr marL="1143000" indent="-228600">
              <a:defRPr sz="2000" b="1">
                <a:solidFill>
                  <a:schemeClr val="tx1"/>
                </a:solidFill>
                <a:latin typeface="Comic Sans MS" pitchFamily="66" charset="0"/>
                <a:ea typeface="宋体" charset="-122"/>
              </a:defRPr>
            </a:lvl3pPr>
            <a:lvl4pPr marL="1600200" indent="-228600">
              <a:defRPr sz="2000" b="1">
                <a:solidFill>
                  <a:schemeClr val="tx1"/>
                </a:solidFill>
                <a:latin typeface="Comic Sans MS" pitchFamily="66" charset="0"/>
                <a:ea typeface="宋体" charset="-122"/>
              </a:defRPr>
            </a:lvl4pPr>
            <a:lvl5pPr marL="2057400" indent="-228600">
              <a:defRPr sz="2000" b="1">
                <a:solidFill>
                  <a:schemeClr val="tx1"/>
                </a:solidFill>
                <a:latin typeface="Comic Sans MS" pitchFamily="66" charset="0"/>
                <a:ea typeface="宋体" charset="-122"/>
              </a:defRPr>
            </a:lvl5pPr>
            <a:lvl6pPr marL="2514600" indent="-228600" eaLnBrk="0" fontAlgn="base" hangingPunct="0">
              <a:spcBef>
                <a:spcPct val="0"/>
              </a:spcBef>
              <a:spcAft>
                <a:spcPct val="0"/>
              </a:spcAft>
              <a:defRPr sz="2000" b="1">
                <a:solidFill>
                  <a:schemeClr val="tx1"/>
                </a:solidFill>
                <a:latin typeface="Comic Sans MS" pitchFamily="66" charset="0"/>
                <a:ea typeface="宋体" charset="-122"/>
              </a:defRPr>
            </a:lvl6pPr>
            <a:lvl7pPr marL="2971800" indent="-228600" eaLnBrk="0" fontAlgn="base" hangingPunct="0">
              <a:spcBef>
                <a:spcPct val="0"/>
              </a:spcBef>
              <a:spcAft>
                <a:spcPct val="0"/>
              </a:spcAft>
              <a:defRPr sz="2000" b="1">
                <a:solidFill>
                  <a:schemeClr val="tx1"/>
                </a:solidFill>
                <a:latin typeface="Comic Sans MS" pitchFamily="66" charset="0"/>
                <a:ea typeface="宋体" charset="-122"/>
              </a:defRPr>
            </a:lvl7pPr>
            <a:lvl8pPr marL="3429000" indent="-228600" eaLnBrk="0" fontAlgn="base" hangingPunct="0">
              <a:spcBef>
                <a:spcPct val="0"/>
              </a:spcBef>
              <a:spcAft>
                <a:spcPct val="0"/>
              </a:spcAft>
              <a:defRPr sz="2000" b="1">
                <a:solidFill>
                  <a:schemeClr val="tx1"/>
                </a:solidFill>
                <a:latin typeface="Comic Sans MS" pitchFamily="66" charset="0"/>
                <a:ea typeface="宋体" charset="-122"/>
              </a:defRPr>
            </a:lvl8pPr>
            <a:lvl9pPr marL="3886200" indent="-228600" eaLnBrk="0" fontAlgn="base" hangingPunct="0">
              <a:spcBef>
                <a:spcPct val="0"/>
              </a:spcBef>
              <a:spcAft>
                <a:spcPct val="0"/>
              </a:spcAft>
              <a:defRPr sz="2000" b="1">
                <a:solidFill>
                  <a:schemeClr val="tx1"/>
                </a:solidFill>
                <a:latin typeface="Comic Sans MS" pitchFamily="66" charset="0"/>
                <a:ea typeface="宋体" charset="-122"/>
              </a:defRPr>
            </a:lvl9pPr>
          </a:lstStyle>
          <a:p>
            <a:pPr algn="just" eaLnBrk="1" hangingPunct="1">
              <a:lnSpc>
                <a:spcPct val="150000"/>
              </a:lnSpc>
              <a:spcBef>
                <a:spcPct val="50000"/>
              </a:spcBef>
            </a:pPr>
            <a:r>
              <a:rPr kumimoji="1" lang="en-US" altLang="zh-CN" dirty="0">
                <a:latin typeface="Times New Roman" pitchFamily="18" charset="0"/>
              </a:rPr>
              <a:t>6.1.1 </a:t>
            </a:r>
            <a:r>
              <a:rPr kumimoji="1" lang="zh-CN" altLang="en-US" dirty="0">
                <a:latin typeface="Times New Roman" pitchFamily="18" charset="0"/>
              </a:rPr>
              <a:t>选频滤波器的分类 </a:t>
            </a:r>
          </a:p>
        </p:txBody>
      </p:sp>
      <p:pic>
        <p:nvPicPr>
          <p:cNvPr id="120838" name="Picture 7" descr="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717" y="2362200"/>
            <a:ext cx="6703483" cy="420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9699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14500" y="457200"/>
            <a:ext cx="9664700" cy="914400"/>
          </a:xfrm>
        </p:spPr>
        <p:txBody>
          <a:bodyPr/>
          <a:lstStyle/>
          <a:p>
            <a:r>
              <a:rPr lang="en-US" altLang="zh-CN" dirty="0"/>
              <a:t>6.1.1 </a:t>
            </a:r>
            <a:r>
              <a:rPr lang="zh-CN" altLang="en-US" dirty="0"/>
              <a:t>选频滤波器的</a:t>
            </a:r>
            <a:r>
              <a:rPr lang="zh-CN" altLang="en-US" dirty="0" smtClean="0"/>
              <a:t>分类</a:t>
            </a:r>
            <a:r>
              <a:rPr lang="en-US" altLang="zh-CN" dirty="0" smtClean="0"/>
              <a:t>-</a:t>
            </a:r>
            <a:r>
              <a:rPr lang="zh-CN" altLang="en-US" dirty="0" smtClean="0"/>
              <a:t>总结</a:t>
            </a:r>
            <a:endParaRPr lang="zh-CN" altLang="en-US" dirty="0"/>
          </a:p>
        </p:txBody>
      </p:sp>
      <p:sp>
        <p:nvSpPr>
          <p:cNvPr id="3" name="内容占位符 2"/>
          <p:cNvSpPr>
            <a:spLocks noGrp="1"/>
          </p:cNvSpPr>
          <p:nvPr>
            <p:ph idx="1"/>
          </p:nvPr>
        </p:nvSpPr>
        <p:spPr/>
        <p:txBody>
          <a:bodyPr/>
          <a:lstStyle/>
          <a:p>
            <a:r>
              <a:rPr lang="zh-CN" altLang="en-US" dirty="0" smtClean="0"/>
              <a:t>理想数字低通滤波器和理想数字高通滤波器</a:t>
            </a:r>
            <a:r>
              <a:rPr lang="zh-CN" altLang="en-US" b="1" dirty="0" smtClean="0">
                <a:solidFill>
                  <a:srgbClr val="FF0000"/>
                </a:solidFill>
              </a:rPr>
              <a:t>交集</a:t>
            </a:r>
            <a:r>
              <a:rPr lang="zh-CN" altLang="en-US" dirty="0" smtClean="0"/>
              <a:t>组成理想带通滤波器</a:t>
            </a:r>
            <a:endParaRPr lang="en-US" altLang="zh-CN" dirty="0" smtClean="0"/>
          </a:p>
          <a:p>
            <a:r>
              <a:rPr lang="zh-CN" altLang="en-US" dirty="0"/>
              <a:t>理想数字低通滤波器和理想数字</a:t>
            </a:r>
            <a:r>
              <a:rPr lang="zh-CN" altLang="en-US" dirty="0" smtClean="0"/>
              <a:t>高通滤波器</a:t>
            </a:r>
            <a:r>
              <a:rPr lang="zh-CN" altLang="en-US" b="1" dirty="0" smtClean="0">
                <a:solidFill>
                  <a:srgbClr val="FF0000"/>
                </a:solidFill>
              </a:rPr>
              <a:t>并集</a:t>
            </a:r>
            <a:r>
              <a:rPr lang="zh-CN" altLang="en-US" dirty="0"/>
              <a:t>组成理想</a:t>
            </a:r>
            <a:r>
              <a:rPr lang="zh-CN" altLang="en-US" dirty="0" smtClean="0"/>
              <a:t>带通滤波器</a:t>
            </a:r>
            <a:endParaRPr lang="en-US" altLang="zh-CN" dirty="0" smtClean="0"/>
          </a:p>
          <a:p>
            <a:r>
              <a:rPr lang="zh-CN" altLang="en-US" dirty="0" smtClean="0"/>
              <a:t>所以我们只要设计数字低通和高通就可以实现所有滤波器设计</a:t>
            </a:r>
            <a:endParaRPr lang="en-US" altLang="zh-CN" dirty="0" smtClean="0"/>
          </a:p>
          <a:p>
            <a:r>
              <a:rPr lang="zh-CN" altLang="en-US" dirty="0" smtClean="0"/>
              <a:t>设计数字低通滤波器模板化</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E25163F-56F0-4728-A241-57C30AA276FE}" type="slidenum">
              <a:rPr kumimoji="0" lang="zh-CN"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72664928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p:cNvSpPr>
            <a:spLocks noGrp="1"/>
          </p:cNvSpPr>
          <p:nvPr>
            <p:ph type="title"/>
          </p:nvPr>
        </p:nvSpPr>
        <p:spPr>
          <a:xfrm>
            <a:off x="2743200" y="457200"/>
            <a:ext cx="7315200" cy="914400"/>
          </a:xfrm>
        </p:spPr>
        <p:txBody>
          <a:bodyPr/>
          <a:lstStyle/>
          <a:p>
            <a:r>
              <a:rPr lang="en-US" altLang="zh-CN" dirty="0">
                <a:ea typeface="宋体" panose="02010600030101010101" pitchFamily="2" charset="-122"/>
              </a:rPr>
              <a:t>6.1.3 </a:t>
            </a:r>
            <a:r>
              <a:rPr lang="zh-CN" altLang="en-US" dirty="0">
                <a:ea typeface="宋体" panose="02010600030101010101" pitchFamily="2" charset="-122"/>
              </a:rPr>
              <a:t>滤波器的设计步骤</a:t>
            </a:r>
            <a:br>
              <a:rPr lang="zh-CN" altLang="en-US" dirty="0">
                <a:ea typeface="宋体" panose="02010600030101010101" pitchFamily="2" charset="-122"/>
              </a:rPr>
            </a:br>
            <a:endParaRPr lang="zh-CN" altLang="en-US" dirty="0" smtClean="0">
              <a:ea typeface="宋体" panose="02010600030101010101" pitchFamily="2" charset="-122"/>
            </a:endParaRPr>
          </a:p>
        </p:txBody>
      </p:sp>
      <p:sp>
        <p:nvSpPr>
          <p:cNvPr id="12288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A836A9A-9521-4377-94CF-72CF17C26AF0}" type="slidenum">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2884" name="Text Box 4"/>
          <p:cNvSpPr txBox="1">
            <a:spLocks noChangeArrowheads="1"/>
          </p:cNvSpPr>
          <p:nvPr/>
        </p:nvSpPr>
        <p:spPr bwMode="auto">
          <a:xfrm>
            <a:off x="1968500" y="1512889"/>
            <a:ext cx="8375650" cy="4044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just" defTabSz="914400" rtl="0" eaLnBrk="1" fontAlgn="base" latinLnBrk="0" hangingPunct="1">
              <a:lnSpc>
                <a:spcPct val="148000"/>
              </a:lnSpc>
              <a:spcBef>
                <a:spcPct val="50000"/>
              </a:spcBef>
              <a:spcAft>
                <a:spcPct val="0"/>
              </a:spcAft>
              <a:buClrTx/>
              <a:buSzTx/>
              <a:buFontTx/>
              <a:buNone/>
              <a:tabLst/>
              <a:defRPr/>
            </a:pPr>
            <a:r>
              <a:rPr kumimoji="1" lang="zh-CN" altLang="en-US" sz="20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 </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按照实际任务要求， 确定滤波器的性能指标。</a:t>
            </a:r>
          </a:p>
          <a:p>
            <a:pPr marL="0" marR="0" lvl="0" indent="0" algn="just" defTabSz="914400" rtl="0" eaLnBrk="1" fontAlgn="base" latinLnBrk="0" hangingPunct="1">
              <a:lnSpc>
                <a:spcPct val="148000"/>
              </a:lnSpc>
              <a:spcBef>
                <a:spcPct val="5000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(2) </a:t>
            </a: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用一个因果稳定的离散线性时不变系统的系统函数去逼近这一性能要求。根据不同要求可以用</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IIR</a:t>
            </a: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系统函数，也可以用</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FIR</a:t>
            </a: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系统函数去逼近。 </a:t>
            </a:r>
          </a:p>
          <a:p>
            <a:pPr marL="0" marR="0" lvl="0" indent="0" algn="just" defTabSz="914400" rtl="0" eaLnBrk="1" fontAlgn="base" latinLnBrk="0" hangingPunct="1">
              <a:lnSpc>
                <a:spcPct val="148000"/>
              </a:lnSpc>
              <a:spcBef>
                <a:spcPct val="5000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 </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利用有限精度算法来实现这个系统函数。这里包括选择运算结构（如第</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章中的各种基本结构），选择合适的字长（包括系数量化及输入变量、中间变量和输出变量的量化）以及有效数字的处理方法（舍入、截尾）等。 </a:t>
            </a:r>
          </a:p>
        </p:txBody>
      </p:sp>
      <p:sp>
        <p:nvSpPr>
          <p:cNvPr id="122885" name="AutoShape 5">
            <a:hlinkClick r:id="" action="ppaction://hlinkshowjump?jump=firstslide" highlightClick="1"/>
          </p:cNvPr>
          <p:cNvSpPr>
            <a:spLocks noChangeArrowheads="1"/>
          </p:cNvSpPr>
          <p:nvPr/>
        </p:nvSpPr>
        <p:spPr bwMode="auto">
          <a:xfrm>
            <a:off x="10058400" y="6477000"/>
            <a:ext cx="609600" cy="381000"/>
          </a:xfrm>
          <a:prstGeom prst="actionButtonBackPreviou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spTree>
    <p:extLst>
      <p:ext uri="{BB962C8B-B14F-4D97-AF65-F5344CB8AC3E}">
        <p14:creationId xmlns:p14="http://schemas.microsoft.com/office/powerpoint/2010/main" val="4191418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p:cNvSpPr>
            <a:spLocks noGrp="1"/>
          </p:cNvSpPr>
          <p:nvPr>
            <p:ph type="title"/>
          </p:nvPr>
        </p:nvSpPr>
        <p:spPr>
          <a:xfrm>
            <a:off x="2743200" y="457200"/>
            <a:ext cx="7315200" cy="914400"/>
          </a:xfrm>
        </p:spPr>
        <p:txBody>
          <a:bodyPr/>
          <a:lstStyle/>
          <a:p>
            <a:r>
              <a:rPr lang="en-US" altLang="zh-CN" smtClean="0">
                <a:ea typeface="宋体" panose="02010600030101010101" pitchFamily="2" charset="-122"/>
              </a:rPr>
              <a:t>6.2  IIR</a:t>
            </a:r>
            <a:r>
              <a:rPr lang="zh-CN" altLang="en-US" smtClean="0">
                <a:ea typeface="宋体" panose="02010600030101010101" pitchFamily="2" charset="-122"/>
              </a:rPr>
              <a:t>滤波器设计的特点 </a:t>
            </a:r>
          </a:p>
        </p:txBody>
      </p:sp>
      <p:sp>
        <p:nvSpPr>
          <p:cNvPr id="12390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18D9CDB-8045-4734-9EA9-84CEEA216FC1}" type="slidenum">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3908" name="Text Box 6"/>
          <p:cNvSpPr txBox="1">
            <a:spLocks noChangeArrowheads="1"/>
          </p:cNvSpPr>
          <p:nvPr/>
        </p:nvSpPr>
        <p:spPr bwMode="auto">
          <a:xfrm>
            <a:off x="1989138" y="1676400"/>
            <a:ext cx="50212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IIR</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系统函数又可以用极、零点表示如下： </a:t>
            </a:r>
          </a:p>
        </p:txBody>
      </p:sp>
      <p:graphicFrame>
        <p:nvGraphicFramePr>
          <p:cNvPr id="123909" name="Object 7"/>
          <p:cNvGraphicFramePr>
            <a:graphicFrameLocks noChangeAspect="1"/>
          </p:cNvGraphicFramePr>
          <p:nvPr/>
        </p:nvGraphicFramePr>
        <p:xfrm>
          <a:off x="3124200" y="2286000"/>
          <a:ext cx="5715000" cy="2038350"/>
        </p:xfrm>
        <a:graphic>
          <a:graphicData uri="http://schemas.openxmlformats.org/presentationml/2006/ole">
            <mc:AlternateContent xmlns:mc="http://schemas.openxmlformats.org/markup-compatibility/2006">
              <mc:Choice xmlns:v="urn:schemas-microsoft-com:vml" Requires="v">
                <p:oleObj spid="_x0000_s22535" name="Equation" r:id="rId3" imgW="2349500" imgH="838200" progId="Equation.3">
                  <p:embed/>
                </p:oleObj>
              </mc:Choice>
              <mc:Fallback>
                <p:oleObj name="Equation" r:id="rId3" imgW="2349500" imgH="838200" progId="Equation.3">
                  <p:embed/>
                  <p:pic>
                    <p:nvPicPr>
                      <p:cNvPr id="123909"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286000"/>
                        <a:ext cx="5715000" cy="203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10" name="Text Box 8"/>
          <p:cNvSpPr txBox="1">
            <a:spLocks noChangeArrowheads="1"/>
          </p:cNvSpPr>
          <p:nvPr/>
        </p:nvSpPr>
        <p:spPr bwMode="auto">
          <a:xfrm>
            <a:off x="2209800" y="4465638"/>
            <a:ext cx="7543800"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just" defTabSz="914400" rtl="0" eaLnBrk="1" fontAlgn="base" latinLnBrk="0" hangingPunct="1">
              <a:lnSpc>
                <a:spcPct val="15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一般满足</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，这类系统称为</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阶系统，当</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&gt;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时，</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可看成是一个</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阶</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IIR</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子系统与一个</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(M-N)</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阶的</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FIR</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子系统的级联。 以下讨论都假定</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Tree>
    <p:extLst>
      <p:ext uri="{BB962C8B-B14F-4D97-AF65-F5344CB8AC3E}">
        <p14:creationId xmlns:p14="http://schemas.microsoft.com/office/powerpoint/2010/main" val="12614065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p:cNvSpPr>
            <a:spLocks noGrp="1"/>
          </p:cNvSpPr>
          <p:nvPr>
            <p:ph type="title"/>
          </p:nvPr>
        </p:nvSpPr>
        <p:spPr>
          <a:xfrm>
            <a:off x="2819400" y="457200"/>
            <a:ext cx="7239000" cy="914400"/>
          </a:xfrm>
        </p:spPr>
        <p:txBody>
          <a:bodyPr/>
          <a:lstStyle/>
          <a:p>
            <a:r>
              <a:rPr lang="en-US" altLang="zh-CN" dirty="0" smtClean="0">
                <a:ea typeface="宋体" panose="02010600030101010101" pitchFamily="2" charset="-122"/>
              </a:rPr>
              <a:t>6.2  IIR</a:t>
            </a:r>
            <a:r>
              <a:rPr lang="zh-CN" altLang="en-US" dirty="0" smtClean="0">
                <a:ea typeface="宋体" panose="02010600030101010101" pitchFamily="2" charset="-122"/>
              </a:rPr>
              <a:t>滤波器设计的特点 </a:t>
            </a:r>
          </a:p>
        </p:txBody>
      </p:sp>
      <p:sp>
        <p:nvSpPr>
          <p:cNvPr id="12493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D7E4244-1CDB-43EB-AAAB-781047CC987F}" type="slidenum">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4932" name="Text Box 4"/>
          <p:cNvSpPr txBox="1">
            <a:spLocks noChangeArrowheads="1"/>
          </p:cNvSpPr>
          <p:nvPr/>
        </p:nvSpPr>
        <p:spPr bwMode="auto">
          <a:xfrm>
            <a:off x="1968501" y="1730376"/>
            <a:ext cx="8304213" cy="390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just" defTabSz="914400" rtl="0" eaLnBrk="1" fontAlgn="base" latinLnBrk="0" hangingPunct="1">
              <a:lnSpc>
                <a:spcPct val="150000"/>
              </a:lnSpc>
              <a:spcBef>
                <a:spcPct val="50000"/>
              </a:spcBef>
              <a:spcAft>
                <a:spcPct val="0"/>
              </a:spcAft>
              <a:buClrTx/>
              <a:buSzTx/>
              <a:buFontTx/>
              <a:buNone/>
              <a:tabLst/>
              <a:defRPr/>
            </a:pP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首先，设计一个合适的模拟滤波器；然后，变换成满足预定指标的数字滤波器。</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50000"/>
              </a:lnSpc>
              <a:spcBef>
                <a:spcPct val="50000"/>
              </a:spcBef>
              <a:spcAft>
                <a:spcPct val="0"/>
              </a:spcAft>
              <a:buClrTx/>
              <a:buSzTx/>
              <a:buFontTx/>
              <a:buNone/>
              <a:tabLst/>
              <a:defRPr/>
            </a:pPr>
            <a:r>
              <a:rPr kumimoji="1"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由</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平面映射到</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平面的变换，必须满足以下两条基本要求： </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50000"/>
              </a:lnSpc>
              <a:spcBef>
                <a:spcPct val="50000"/>
              </a:spcBef>
              <a:spcAft>
                <a:spcPct val="0"/>
              </a:spcAft>
              <a:buClrTx/>
              <a:buSzTx/>
              <a:buFontTx/>
              <a:buNone/>
              <a:tabLst/>
              <a:defRPr/>
            </a:pP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的频率响应要能模仿</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的频率响应，也即</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平面虚轴</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Ω</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必须映射到</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平面的单位圆</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a:t>
            </a:r>
            <a:r>
              <a:rPr kumimoji="1" lang="en-US" altLang="zh-CN" sz="2000" b="1" i="0" u="none" strike="noStrike" kern="1200" cap="none" spc="0" normalizeH="0" baseline="30000" noProof="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1" lang="en-US" altLang="zh-CN" sz="2000" b="1" i="1" u="none" strike="noStrike" kern="1200" cap="none" spc="0" normalizeH="0" baseline="30000" noProof="0">
                <a:ln>
                  <a:noFill/>
                </a:ln>
                <a:solidFill>
                  <a:srgbClr val="000000"/>
                </a:solidFill>
                <a:effectLst/>
                <a:uLnTx/>
                <a:uFillTx/>
                <a:latin typeface="Times New Roman" panose="02020603050405020304" pitchFamily="18" charset="0"/>
                <a:ea typeface="宋体" panose="02010600030101010101" pitchFamily="2" charset="-122"/>
                <a:cs typeface="+mn-cs"/>
              </a:rPr>
              <a:t>ω</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上。 </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5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）因果稳定的</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应能映射成因果稳定的</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，也即</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平面的左半平面</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Re</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&lt;0</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必须映射到</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平面单位圆的内部</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|&lt;1</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Tree>
    <p:extLst>
      <p:ext uri="{BB962C8B-B14F-4D97-AF65-F5344CB8AC3E}">
        <p14:creationId xmlns:p14="http://schemas.microsoft.com/office/powerpoint/2010/main" val="10084339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525272" y="567253"/>
            <a:ext cx="105826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6.1.2 </a:t>
            </a:r>
            <a:r>
              <a:rPr kumimoji="1"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滤波器的技术</a:t>
            </a:r>
            <a:r>
              <a:rPr kumimoji="1" lang="zh-CN" altLang="en-US"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mn-cs"/>
              </a:rPr>
              <a:t>指标 </a:t>
            </a:r>
            <a:r>
              <a:rPr kumimoji="1" lang="zh-CN"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mn-cs"/>
              </a:rPr>
              <a:t>理想滤波器</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如理想低通滤波器</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是非因果的</a:t>
            </a:r>
          </a:p>
        </p:txBody>
      </p:sp>
      <p:grpSp>
        <p:nvGrpSpPr>
          <p:cNvPr id="55299" name="Group 3"/>
          <p:cNvGrpSpPr>
            <a:grpSpLocks/>
          </p:cNvGrpSpPr>
          <p:nvPr/>
        </p:nvGrpSpPr>
        <p:grpSpPr bwMode="auto">
          <a:xfrm>
            <a:off x="6340475" y="1502568"/>
            <a:ext cx="4711700" cy="3751263"/>
            <a:chOff x="2718" y="22"/>
            <a:chExt cx="2968" cy="2363"/>
          </a:xfrm>
        </p:grpSpPr>
        <p:sp>
          <p:nvSpPr>
            <p:cNvPr id="55300" name="Line 4"/>
            <p:cNvSpPr>
              <a:spLocks noChangeShapeType="1"/>
            </p:cNvSpPr>
            <p:nvPr/>
          </p:nvSpPr>
          <p:spPr bwMode="auto">
            <a:xfrm>
              <a:off x="3205" y="2103"/>
              <a:ext cx="2266" cy="13"/>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01" name="Freeform 5"/>
            <p:cNvSpPr>
              <a:spLocks/>
            </p:cNvSpPr>
            <p:nvPr/>
          </p:nvSpPr>
          <p:spPr bwMode="auto">
            <a:xfrm>
              <a:off x="5458" y="2078"/>
              <a:ext cx="109" cy="70"/>
            </a:xfrm>
            <a:custGeom>
              <a:avLst/>
              <a:gdLst>
                <a:gd name="T0" fmla="*/ 7 w 109"/>
                <a:gd name="T1" fmla="*/ 0 h 70"/>
                <a:gd name="T2" fmla="*/ 109 w 109"/>
                <a:gd name="T3" fmla="*/ 38 h 70"/>
                <a:gd name="T4" fmla="*/ 0 w 109"/>
                <a:gd name="T5" fmla="*/ 70 h 70"/>
                <a:gd name="T6" fmla="*/ 7 w 109"/>
                <a:gd name="T7" fmla="*/ 0 h 70"/>
              </a:gdLst>
              <a:ahLst/>
              <a:cxnLst>
                <a:cxn ang="0">
                  <a:pos x="T0" y="T1"/>
                </a:cxn>
                <a:cxn ang="0">
                  <a:pos x="T2" y="T3"/>
                </a:cxn>
                <a:cxn ang="0">
                  <a:pos x="T4" y="T5"/>
                </a:cxn>
                <a:cxn ang="0">
                  <a:pos x="T6" y="T7"/>
                </a:cxn>
              </a:cxnLst>
              <a:rect l="0" t="0" r="r" b="b"/>
              <a:pathLst>
                <a:path w="109" h="70">
                  <a:moveTo>
                    <a:pt x="7" y="0"/>
                  </a:moveTo>
                  <a:lnTo>
                    <a:pt x="109" y="38"/>
                  </a:lnTo>
                  <a:lnTo>
                    <a:pt x="0" y="70"/>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02" name="Line 6"/>
            <p:cNvSpPr>
              <a:spLocks noChangeShapeType="1"/>
            </p:cNvSpPr>
            <p:nvPr/>
          </p:nvSpPr>
          <p:spPr bwMode="auto">
            <a:xfrm flipV="1">
              <a:off x="3205" y="148"/>
              <a:ext cx="1" cy="1955"/>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03" name="Freeform 7"/>
            <p:cNvSpPr>
              <a:spLocks/>
            </p:cNvSpPr>
            <p:nvPr/>
          </p:nvSpPr>
          <p:spPr bwMode="auto">
            <a:xfrm>
              <a:off x="3173" y="51"/>
              <a:ext cx="70" cy="110"/>
            </a:xfrm>
            <a:custGeom>
              <a:avLst/>
              <a:gdLst>
                <a:gd name="T0" fmla="*/ 0 w 70"/>
                <a:gd name="T1" fmla="*/ 110 h 110"/>
                <a:gd name="T2" fmla="*/ 32 w 70"/>
                <a:gd name="T3" fmla="*/ 0 h 110"/>
                <a:gd name="T4" fmla="*/ 70 w 70"/>
                <a:gd name="T5" fmla="*/ 110 h 110"/>
                <a:gd name="T6" fmla="*/ 0 w 70"/>
                <a:gd name="T7" fmla="*/ 110 h 110"/>
              </a:gdLst>
              <a:ahLst/>
              <a:cxnLst>
                <a:cxn ang="0">
                  <a:pos x="T0" y="T1"/>
                </a:cxn>
                <a:cxn ang="0">
                  <a:pos x="T2" y="T3"/>
                </a:cxn>
                <a:cxn ang="0">
                  <a:pos x="T4" y="T5"/>
                </a:cxn>
                <a:cxn ang="0">
                  <a:pos x="T6" y="T7"/>
                </a:cxn>
              </a:cxnLst>
              <a:rect l="0" t="0" r="r" b="b"/>
              <a:pathLst>
                <a:path w="70" h="110">
                  <a:moveTo>
                    <a:pt x="0" y="110"/>
                  </a:moveTo>
                  <a:lnTo>
                    <a:pt x="32" y="0"/>
                  </a:lnTo>
                  <a:lnTo>
                    <a:pt x="70" y="110"/>
                  </a:lnTo>
                  <a:lnTo>
                    <a:pt x="0"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04" name="Rectangle 8"/>
            <p:cNvSpPr>
              <a:spLocks noChangeArrowheads="1"/>
            </p:cNvSpPr>
            <p:nvPr/>
          </p:nvSpPr>
          <p:spPr bwMode="auto">
            <a:xfrm>
              <a:off x="3044" y="386"/>
              <a:ext cx="6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1</a:t>
              </a:r>
            </a:p>
          </p:txBody>
        </p:sp>
        <p:sp>
          <p:nvSpPr>
            <p:cNvPr id="55305" name="Rectangle 9"/>
            <p:cNvSpPr>
              <a:spLocks noChangeArrowheads="1"/>
            </p:cNvSpPr>
            <p:nvPr/>
          </p:nvSpPr>
          <p:spPr bwMode="auto">
            <a:xfrm>
              <a:off x="3166" y="210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06" name="Line 10"/>
            <p:cNvSpPr>
              <a:spLocks noChangeShapeType="1"/>
            </p:cNvSpPr>
            <p:nvPr/>
          </p:nvSpPr>
          <p:spPr bwMode="auto">
            <a:xfrm>
              <a:off x="4393" y="1917"/>
              <a:ext cx="114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07" name="Rectangle 11"/>
            <p:cNvSpPr>
              <a:spLocks noChangeArrowheads="1"/>
            </p:cNvSpPr>
            <p:nvPr/>
          </p:nvSpPr>
          <p:spPr bwMode="auto">
            <a:xfrm>
              <a:off x="3468" y="1653"/>
              <a:ext cx="29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宋体" panose="02010600030101010101" pitchFamily="2" charset="-122"/>
                  <a:ea typeface="+mn-ea"/>
                  <a:cs typeface="+mn-cs"/>
                </a:rPr>
                <a:t>通带</a:t>
              </a: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08" name="Rectangle 12"/>
            <p:cNvSpPr>
              <a:spLocks noChangeArrowheads="1"/>
            </p:cNvSpPr>
            <p:nvPr/>
          </p:nvSpPr>
          <p:spPr bwMode="auto">
            <a:xfrm>
              <a:off x="4399" y="1197"/>
              <a:ext cx="4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宋体" panose="02010600030101010101" pitchFamily="2" charset="-122"/>
                  <a:ea typeface="+mn-ea"/>
                  <a:cs typeface="+mn-cs"/>
                </a:rPr>
                <a:t>过渡带</a:t>
              </a: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09" name="Rectangle 13"/>
            <p:cNvSpPr>
              <a:spLocks noChangeArrowheads="1"/>
            </p:cNvSpPr>
            <p:nvPr/>
          </p:nvSpPr>
          <p:spPr bwMode="auto">
            <a:xfrm>
              <a:off x="4758" y="1647"/>
              <a:ext cx="29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阻带</a:t>
              </a:r>
              <a:endParaRPr kumimoji="0" lang="zh-CN" altLang="en-US" sz="1800" b="0" i="0" u="none" strike="noStrike" kern="1200" cap="none" spc="0" normalizeH="0" baseline="0" noProof="0" dirty="0">
                <a:ln>
                  <a:noFill/>
                </a:ln>
                <a:solidFill>
                  <a:srgbClr val="000000"/>
                </a:solidFill>
                <a:effectLst/>
                <a:uLnTx/>
                <a:uFillTx/>
                <a:latin typeface="Comic Sans MS"/>
                <a:ea typeface="+mn-ea"/>
                <a:cs typeface="+mn-cs"/>
              </a:endParaRPr>
            </a:p>
          </p:txBody>
        </p:sp>
        <p:sp>
          <p:nvSpPr>
            <p:cNvPr id="55310" name="Freeform 14"/>
            <p:cNvSpPr>
              <a:spLocks/>
            </p:cNvSpPr>
            <p:nvPr/>
          </p:nvSpPr>
          <p:spPr bwMode="auto">
            <a:xfrm>
              <a:off x="3205" y="508"/>
              <a:ext cx="2266" cy="1595"/>
            </a:xfrm>
            <a:custGeom>
              <a:avLst/>
              <a:gdLst>
                <a:gd name="T0" fmla="*/ 32 w 2266"/>
                <a:gd name="T1" fmla="*/ 0 h 1595"/>
                <a:gd name="T2" fmla="*/ 83 w 2266"/>
                <a:gd name="T3" fmla="*/ 7 h 1595"/>
                <a:gd name="T4" fmla="*/ 128 w 2266"/>
                <a:gd name="T5" fmla="*/ 26 h 1595"/>
                <a:gd name="T6" fmla="*/ 180 w 2266"/>
                <a:gd name="T7" fmla="*/ 45 h 1595"/>
                <a:gd name="T8" fmla="*/ 224 w 2266"/>
                <a:gd name="T9" fmla="*/ 64 h 1595"/>
                <a:gd name="T10" fmla="*/ 269 w 2266"/>
                <a:gd name="T11" fmla="*/ 90 h 1595"/>
                <a:gd name="T12" fmla="*/ 321 w 2266"/>
                <a:gd name="T13" fmla="*/ 116 h 1595"/>
                <a:gd name="T14" fmla="*/ 366 w 2266"/>
                <a:gd name="T15" fmla="*/ 129 h 1595"/>
                <a:gd name="T16" fmla="*/ 417 w 2266"/>
                <a:gd name="T17" fmla="*/ 154 h 1595"/>
                <a:gd name="T18" fmla="*/ 462 w 2266"/>
                <a:gd name="T19" fmla="*/ 167 h 1595"/>
                <a:gd name="T20" fmla="*/ 513 w 2266"/>
                <a:gd name="T21" fmla="*/ 174 h 1595"/>
                <a:gd name="T22" fmla="*/ 558 w 2266"/>
                <a:gd name="T23" fmla="*/ 174 h 1595"/>
                <a:gd name="T24" fmla="*/ 610 w 2266"/>
                <a:gd name="T25" fmla="*/ 154 h 1595"/>
                <a:gd name="T26" fmla="*/ 655 w 2266"/>
                <a:gd name="T27" fmla="*/ 129 h 1595"/>
                <a:gd name="T28" fmla="*/ 706 w 2266"/>
                <a:gd name="T29" fmla="*/ 97 h 1595"/>
                <a:gd name="T30" fmla="*/ 732 w 2266"/>
                <a:gd name="T31" fmla="*/ 64 h 1595"/>
                <a:gd name="T32" fmla="*/ 764 w 2266"/>
                <a:gd name="T33" fmla="*/ 32 h 1595"/>
                <a:gd name="T34" fmla="*/ 815 w 2266"/>
                <a:gd name="T35" fmla="*/ 0 h 1595"/>
                <a:gd name="T36" fmla="*/ 847 w 2266"/>
                <a:gd name="T37" fmla="*/ 26 h 1595"/>
                <a:gd name="T38" fmla="*/ 886 w 2266"/>
                <a:gd name="T39" fmla="*/ 97 h 1595"/>
                <a:gd name="T40" fmla="*/ 911 w 2266"/>
                <a:gd name="T41" fmla="*/ 225 h 1595"/>
                <a:gd name="T42" fmla="*/ 944 w 2266"/>
                <a:gd name="T43" fmla="*/ 399 h 1595"/>
                <a:gd name="T44" fmla="*/ 982 w 2266"/>
                <a:gd name="T45" fmla="*/ 598 h 1595"/>
                <a:gd name="T46" fmla="*/ 1008 w 2266"/>
                <a:gd name="T47" fmla="*/ 785 h 1595"/>
                <a:gd name="T48" fmla="*/ 1040 w 2266"/>
                <a:gd name="T49" fmla="*/ 952 h 1595"/>
                <a:gd name="T50" fmla="*/ 1066 w 2266"/>
                <a:gd name="T51" fmla="*/ 1094 h 1595"/>
                <a:gd name="T52" fmla="*/ 1104 w 2266"/>
                <a:gd name="T53" fmla="*/ 1209 h 1595"/>
                <a:gd name="T54" fmla="*/ 1123 w 2266"/>
                <a:gd name="T55" fmla="*/ 1312 h 1595"/>
                <a:gd name="T56" fmla="*/ 1162 w 2266"/>
                <a:gd name="T57" fmla="*/ 1383 h 1595"/>
                <a:gd name="T58" fmla="*/ 1188 w 2266"/>
                <a:gd name="T59" fmla="*/ 1447 h 1595"/>
                <a:gd name="T60" fmla="*/ 1220 w 2266"/>
                <a:gd name="T61" fmla="*/ 1499 h 1595"/>
                <a:gd name="T62" fmla="*/ 1245 w 2266"/>
                <a:gd name="T63" fmla="*/ 1537 h 1595"/>
                <a:gd name="T64" fmla="*/ 1284 w 2266"/>
                <a:gd name="T65" fmla="*/ 1570 h 1595"/>
                <a:gd name="T66" fmla="*/ 1316 w 2266"/>
                <a:gd name="T67" fmla="*/ 1582 h 1595"/>
                <a:gd name="T68" fmla="*/ 1354 w 2266"/>
                <a:gd name="T69" fmla="*/ 1557 h 1595"/>
                <a:gd name="T70" fmla="*/ 1406 w 2266"/>
                <a:gd name="T71" fmla="*/ 1531 h 1595"/>
                <a:gd name="T72" fmla="*/ 1451 w 2266"/>
                <a:gd name="T73" fmla="*/ 1505 h 1595"/>
                <a:gd name="T74" fmla="*/ 1502 w 2266"/>
                <a:gd name="T75" fmla="*/ 1486 h 1595"/>
                <a:gd name="T76" fmla="*/ 1547 w 2266"/>
                <a:gd name="T77" fmla="*/ 1473 h 1595"/>
                <a:gd name="T78" fmla="*/ 1592 w 2266"/>
                <a:gd name="T79" fmla="*/ 1460 h 1595"/>
                <a:gd name="T80" fmla="*/ 1643 w 2266"/>
                <a:gd name="T81" fmla="*/ 1454 h 1595"/>
                <a:gd name="T82" fmla="*/ 1688 w 2266"/>
                <a:gd name="T83" fmla="*/ 1447 h 1595"/>
                <a:gd name="T84" fmla="*/ 1740 w 2266"/>
                <a:gd name="T85" fmla="*/ 1447 h 1595"/>
                <a:gd name="T86" fmla="*/ 1785 w 2266"/>
                <a:gd name="T87" fmla="*/ 1441 h 1595"/>
                <a:gd name="T88" fmla="*/ 1836 w 2266"/>
                <a:gd name="T89" fmla="*/ 1441 h 1595"/>
                <a:gd name="T90" fmla="*/ 1881 w 2266"/>
                <a:gd name="T91" fmla="*/ 1441 h 1595"/>
                <a:gd name="T92" fmla="*/ 1932 w 2266"/>
                <a:gd name="T93" fmla="*/ 1441 h 1595"/>
                <a:gd name="T94" fmla="*/ 1977 w 2266"/>
                <a:gd name="T95" fmla="*/ 1441 h 1595"/>
                <a:gd name="T96" fmla="*/ 2029 w 2266"/>
                <a:gd name="T97" fmla="*/ 1441 h 1595"/>
                <a:gd name="T98" fmla="*/ 2073 w 2266"/>
                <a:gd name="T99" fmla="*/ 1441 h 1595"/>
                <a:gd name="T100" fmla="*/ 2125 w 2266"/>
                <a:gd name="T101" fmla="*/ 1441 h 1595"/>
                <a:gd name="T102" fmla="*/ 2170 w 2266"/>
                <a:gd name="T103" fmla="*/ 1441 h 1595"/>
                <a:gd name="T104" fmla="*/ 2221 w 2266"/>
                <a:gd name="T105" fmla="*/ 1441 h 1595"/>
                <a:gd name="T106" fmla="*/ 2266 w 2266"/>
                <a:gd name="T107" fmla="*/ 1441 h 1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66" h="1595">
                  <a:moveTo>
                    <a:pt x="0" y="0"/>
                  </a:moveTo>
                  <a:lnTo>
                    <a:pt x="6" y="0"/>
                  </a:lnTo>
                  <a:lnTo>
                    <a:pt x="19" y="0"/>
                  </a:lnTo>
                  <a:lnTo>
                    <a:pt x="32" y="0"/>
                  </a:lnTo>
                  <a:lnTo>
                    <a:pt x="45" y="7"/>
                  </a:lnTo>
                  <a:lnTo>
                    <a:pt x="58" y="7"/>
                  </a:lnTo>
                  <a:lnTo>
                    <a:pt x="70" y="7"/>
                  </a:lnTo>
                  <a:lnTo>
                    <a:pt x="83" y="7"/>
                  </a:lnTo>
                  <a:lnTo>
                    <a:pt x="90" y="19"/>
                  </a:lnTo>
                  <a:lnTo>
                    <a:pt x="102" y="19"/>
                  </a:lnTo>
                  <a:lnTo>
                    <a:pt x="115" y="26"/>
                  </a:lnTo>
                  <a:lnTo>
                    <a:pt x="128" y="26"/>
                  </a:lnTo>
                  <a:lnTo>
                    <a:pt x="141" y="32"/>
                  </a:lnTo>
                  <a:lnTo>
                    <a:pt x="154" y="32"/>
                  </a:lnTo>
                  <a:lnTo>
                    <a:pt x="167" y="45"/>
                  </a:lnTo>
                  <a:lnTo>
                    <a:pt x="180" y="45"/>
                  </a:lnTo>
                  <a:lnTo>
                    <a:pt x="186" y="52"/>
                  </a:lnTo>
                  <a:lnTo>
                    <a:pt x="199" y="58"/>
                  </a:lnTo>
                  <a:lnTo>
                    <a:pt x="212" y="64"/>
                  </a:lnTo>
                  <a:lnTo>
                    <a:pt x="224" y="64"/>
                  </a:lnTo>
                  <a:lnTo>
                    <a:pt x="237" y="71"/>
                  </a:lnTo>
                  <a:lnTo>
                    <a:pt x="250" y="84"/>
                  </a:lnTo>
                  <a:lnTo>
                    <a:pt x="263" y="84"/>
                  </a:lnTo>
                  <a:lnTo>
                    <a:pt x="269" y="90"/>
                  </a:lnTo>
                  <a:lnTo>
                    <a:pt x="282" y="97"/>
                  </a:lnTo>
                  <a:lnTo>
                    <a:pt x="295" y="109"/>
                  </a:lnTo>
                  <a:lnTo>
                    <a:pt x="308" y="109"/>
                  </a:lnTo>
                  <a:lnTo>
                    <a:pt x="321" y="116"/>
                  </a:lnTo>
                  <a:lnTo>
                    <a:pt x="334" y="122"/>
                  </a:lnTo>
                  <a:lnTo>
                    <a:pt x="346" y="122"/>
                  </a:lnTo>
                  <a:lnTo>
                    <a:pt x="359" y="129"/>
                  </a:lnTo>
                  <a:lnTo>
                    <a:pt x="366" y="129"/>
                  </a:lnTo>
                  <a:lnTo>
                    <a:pt x="379" y="142"/>
                  </a:lnTo>
                  <a:lnTo>
                    <a:pt x="391" y="148"/>
                  </a:lnTo>
                  <a:lnTo>
                    <a:pt x="404" y="148"/>
                  </a:lnTo>
                  <a:lnTo>
                    <a:pt x="417" y="154"/>
                  </a:lnTo>
                  <a:lnTo>
                    <a:pt x="430" y="154"/>
                  </a:lnTo>
                  <a:lnTo>
                    <a:pt x="443" y="167"/>
                  </a:lnTo>
                  <a:lnTo>
                    <a:pt x="456" y="167"/>
                  </a:lnTo>
                  <a:lnTo>
                    <a:pt x="462" y="167"/>
                  </a:lnTo>
                  <a:lnTo>
                    <a:pt x="475" y="174"/>
                  </a:lnTo>
                  <a:lnTo>
                    <a:pt x="488" y="174"/>
                  </a:lnTo>
                  <a:lnTo>
                    <a:pt x="501" y="174"/>
                  </a:lnTo>
                  <a:lnTo>
                    <a:pt x="513" y="174"/>
                  </a:lnTo>
                  <a:lnTo>
                    <a:pt x="526" y="174"/>
                  </a:lnTo>
                  <a:lnTo>
                    <a:pt x="539" y="174"/>
                  </a:lnTo>
                  <a:lnTo>
                    <a:pt x="552" y="174"/>
                  </a:lnTo>
                  <a:lnTo>
                    <a:pt x="558" y="174"/>
                  </a:lnTo>
                  <a:lnTo>
                    <a:pt x="571" y="167"/>
                  </a:lnTo>
                  <a:lnTo>
                    <a:pt x="584" y="167"/>
                  </a:lnTo>
                  <a:lnTo>
                    <a:pt x="597" y="167"/>
                  </a:lnTo>
                  <a:lnTo>
                    <a:pt x="610" y="154"/>
                  </a:lnTo>
                  <a:lnTo>
                    <a:pt x="623" y="148"/>
                  </a:lnTo>
                  <a:lnTo>
                    <a:pt x="635" y="148"/>
                  </a:lnTo>
                  <a:lnTo>
                    <a:pt x="648" y="142"/>
                  </a:lnTo>
                  <a:lnTo>
                    <a:pt x="655" y="129"/>
                  </a:lnTo>
                  <a:lnTo>
                    <a:pt x="667" y="122"/>
                  </a:lnTo>
                  <a:lnTo>
                    <a:pt x="680" y="116"/>
                  </a:lnTo>
                  <a:lnTo>
                    <a:pt x="693" y="109"/>
                  </a:lnTo>
                  <a:lnTo>
                    <a:pt x="706" y="97"/>
                  </a:lnTo>
                  <a:lnTo>
                    <a:pt x="706" y="90"/>
                  </a:lnTo>
                  <a:lnTo>
                    <a:pt x="719" y="84"/>
                  </a:lnTo>
                  <a:lnTo>
                    <a:pt x="732" y="71"/>
                  </a:lnTo>
                  <a:lnTo>
                    <a:pt x="732" y="64"/>
                  </a:lnTo>
                  <a:lnTo>
                    <a:pt x="745" y="58"/>
                  </a:lnTo>
                  <a:lnTo>
                    <a:pt x="751" y="52"/>
                  </a:lnTo>
                  <a:lnTo>
                    <a:pt x="751" y="45"/>
                  </a:lnTo>
                  <a:lnTo>
                    <a:pt x="764" y="32"/>
                  </a:lnTo>
                  <a:lnTo>
                    <a:pt x="777" y="26"/>
                  </a:lnTo>
                  <a:lnTo>
                    <a:pt x="789" y="19"/>
                  </a:lnTo>
                  <a:lnTo>
                    <a:pt x="802" y="7"/>
                  </a:lnTo>
                  <a:lnTo>
                    <a:pt x="815" y="0"/>
                  </a:lnTo>
                  <a:lnTo>
                    <a:pt x="828" y="0"/>
                  </a:lnTo>
                  <a:lnTo>
                    <a:pt x="841" y="7"/>
                  </a:lnTo>
                  <a:lnTo>
                    <a:pt x="847" y="19"/>
                  </a:lnTo>
                  <a:lnTo>
                    <a:pt x="847" y="26"/>
                  </a:lnTo>
                  <a:lnTo>
                    <a:pt x="860" y="32"/>
                  </a:lnTo>
                  <a:lnTo>
                    <a:pt x="873" y="52"/>
                  </a:lnTo>
                  <a:lnTo>
                    <a:pt x="873" y="71"/>
                  </a:lnTo>
                  <a:lnTo>
                    <a:pt x="886" y="97"/>
                  </a:lnTo>
                  <a:lnTo>
                    <a:pt x="899" y="122"/>
                  </a:lnTo>
                  <a:lnTo>
                    <a:pt x="899" y="154"/>
                  </a:lnTo>
                  <a:lnTo>
                    <a:pt x="911" y="187"/>
                  </a:lnTo>
                  <a:lnTo>
                    <a:pt x="911" y="225"/>
                  </a:lnTo>
                  <a:lnTo>
                    <a:pt x="924" y="264"/>
                  </a:lnTo>
                  <a:lnTo>
                    <a:pt x="931" y="315"/>
                  </a:lnTo>
                  <a:lnTo>
                    <a:pt x="931" y="354"/>
                  </a:lnTo>
                  <a:lnTo>
                    <a:pt x="944" y="399"/>
                  </a:lnTo>
                  <a:lnTo>
                    <a:pt x="956" y="457"/>
                  </a:lnTo>
                  <a:lnTo>
                    <a:pt x="956" y="502"/>
                  </a:lnTo>
                  <a:lnTo>
                    <a:pt x="969" y="553"/>
                  </a:lnTo>
                  <a:lnTo>
                    <a:pt x="982" y="598"/>
                  </a:lnTo>
                  <a:lnTo>
                    <a:pt x="982" y="650"/>
                  </a:lnTo>
                  <a:lnTo>
                    <a:pt x="995" y="701"/>
                  </a:lnTo>
                  <a:lnTo>
                    <a:pt x="995" y="740"/>
                  </a:lnTo>
                  <a:lnTo>
                    <a:pt x="1008" y="785"/>
                  </a:lnTo>
                  <a:lnTo>
                    <a:pt x="1021" y="830"/>
                  </a:lnTo>
                  <a:lnTo>
                    <a:pt x="1021" y="868"/>
                  </a:lnTo>
                  <a:lnTo>
                    <a:pt x="1027" y="913"/>
                  </a:lnTo>
                  <a:lnTo>
                    <a:pt x="1040" y="952"/>
                  </a:lnTo>
                  <a:lnTo>
                    <a:pt x="1040" y="991"/>
                  </a:lnTo>
                  <a:lnTo>
                    <a:pt x="1053" y="1029"/>
                  </a:lnTo>
                  <a:lnTo>
                    <a:pt x="1053" y="1061"/>
                  </a:lnTo>
                  <a:lnTo>
                    <a:pt x="1066" y="1094"/>
                  </a:lnTo>
                  <a:lnTo>
                    <a:pt x="1078" y="1126"/>
                  </a:lnTo>
                  <a:lnTo>
                    <a:pt x="1078" y="1158"/>
                  </a:lnTo>
                  <a:lnTo>
                    <a:pt x="1091" y="1184"/>
                  </a:lnTo>
                  <a:lnTo>
                    <a:pt x="1104" y="1209"/>
                  </a:lnTo>
                  <a:lnTo>
                    <a:pt x="1104" y="1235"/>
                  </a:lnTo>
                  <a:lnTo>
                    <a:pt x="1117" y="1254"/>
                  </a:lnTo>
                  <a:lnTo>
                    <a:pt x="1123" y="1280"/>
                  </a:lnTo>
                  <a:lnTo>
                    <a:pt x="1123" y="1312"/>
                  </a:lnTo>
                  <a:lnTo>
                    <a:pt x="1136" y="1325"/>
                  </a:lnTo>
                  <a:lnTo>
                    <a:pt x="1136" y="1351"/>
                  </a:lnTo>
                  <a:lnTo>
                    <a:pt x="1149" y="1364"/>
                  </a:lnTo>
                  <a:lnTo>
                    <a:pt x="1162" y="1383"/>
                  </a:lnTo>
                  <a:lnTo>
                    <a:pt x="1162" y="1396"/>
                  </a:lnTo>
                  <a:lnTo>
                    <a:pt x="1175" y="1415"/>
                  </a:lnTo>
                  <a:lnTo>
                    <a:pt x="1188" y="1434"/>
                  </a:lnTo>
                  <a:lnTo>
                    <a:pt x="1188" y="1447"/>
                  </a:lnTo>
                  <a:lnTo>
                    <a:pt x="1200" y="1454"/>
                  </a:lnTo>
                  <a:lnTo>
                    <a:pt x="1213" y="1473"/>
                  </a:lnTo>
                  <a:lnTo>
                    <a:pt x="1213" y="1479"/>
                  </a:lnTo>
                  <a:lnTo>
                    <a:pt x="1220" y="1499"/>
                  </a:lnTo>
                  <a:lnTo>
                    <a:pt x="1220" y="1505"/>
                  </a:lnTo>
                  <a:lnTo>
                    <a:pt x="1232" y="1518"/>
                  </a:lnTo>
                  <a:lnTo>
                    <a:pt x="1245" y="1531"/>
                  </a:lnTo>
                  <a:lnTo>
                    <a:pt x="1245" y="1537"/>
                  </a:lnTo>
                  <a:lnTo>
                    <a:pt x="1258" y="1544"/>
                  </a:lnTo>
                  <a:lnTo>
                    <a:pt x="1271" y="1557"/>
                  </a:lnTo>
                  <a:lnTo>
                    <a:pt x="1271" y="1563"/>
                  </a:lnTo>
                  <a:lnTo>
                    <a:pt x="1284" y="1570"/>
                  </a:lnTo>
                  <a:lnTo>
                    <a:pt x="1284" y="1582"/>
                  </a:lnTo>
                  <a:lnTo>
                    <a:pt x="1297" y="1582"/>
                  </a:lnTo>
                  <a:lnTo>
                    <a:pt x="1309" y="1595"/>
                  </a:lnTo>
                  <a:lnTo>
                    <a:pt x="1316" y="1582"/>
                  </a:lnTo>
                  <a:lnTo>
                    <a:pt x="1329" y="1582"/>
                  </a:lnTo>
                  <a:lnTo>
                    <a:pt x="1329" y="1570"/>
                  </a:lnTo>
                  <a:lnTo>
                    <a:pt x="1342" y="1563"/>
                  </a:lnTo>
                  <a:lnTo>
                    <a:pt x="1354" y="1557"/>
                  </a:lnTo>
                  <a:lnTo>
                    <a:pt x="1367" y="1544"/>
                  </a:lnTo>
                  <a:lnTo>
                    <a:pt x="1380" y="1537"/>
                  </a:lnTo>
                  <a:lnTo>
                    <a:pt x="1393" y="1531"/>
                  </a:lnTo>
                  <a:lnTo>
                    <a:pt x="1406" y="1531"/>
                  </a:lnTo>
                  <a:lnTo>
                    <a:pt x="1412" y="1518"/>
                  </a:lnTo>
                  <a:lnTo>
                    <a:pt x="1425" y="1518"/>
                  </a:lnTo>
                  <a:lnTo>
                    <a:pt x="1438" y="1518"/>
                  </a:lnTo>
                  <a:lnTo>
                    <a:pt x="1451" y="1505"/>
                  </a:lnTo>
                  <a:lnTo>
                    <a:pt x="1464" y="1505"/>
                  </a:lnTo>
                  <a:lnTo>
                    <a:pt x="1476" y="1499"/>
                  </a:lnTo>
                  <a:lnTo>
                    <a:pt x="1489" y="1499"/>
                  </a:lnTo>
                  <a:lnTo>
                    <a:pt x="1502" y="1486"/>
                  </a:lnTo>
                  <a:lnTo>
                    <a:pt x="1509" y="1479"/>
                  </a:lnTo>
                  <a:lnTo>
                    <a:pt x="1521" y="1479"/>
                  </a:lnTo>
                  <a:lnTo>
                    <a:pt x="1534" y="1479"/>
                  </a:lnTo>
                  <a:lnTo>
                    <a:pt x="1547" y="1473"/>
                  </a:lnTo>
                  <a:lnTo>
                    <a:pt x="1560" y="1473"/>
                  </a:lnTo>
                  <a:lnTo>
                    <a:pt x="1573" y="1473"/>
                  </a:lnTo>
                  <a:lnTo>
                    <a:pt x="1586" y="1460"/>
                  </a:lnTo>
                  <a:lnTo>
                    <a:pt x="1592" y="1460"/>
                  </a:lnTo>
                  <a:lnTo>
                    <a:pt x="1605" y="1460"/>
                  </a:lnTo>
                  <a:lnTo>
                    <a:pt x="1618" y="1460"/>
                  </a:lnTo>
                  <a:lnTo>
                    <a:pt x="1630" y="1454"/>
                  </a:lnTo>
                  <a:lnTo>
                    <a:pt x="1643" y="1454"/>
                  </a:lnTo>
                  <a:lnTo>
                    <a:pt x="1656" y="1454"/>
                  </a:lnTo>
                  <a:lnTo>
                    <a:pt x="1669" y="1454"/>
                  </a:lnTo>
                  <a:lnTo>
                    <a:pt x="1682" y="1454"/>
                  </a:lnTo>
                  <a:lnTo>
                    <a:pt x="1688" y="1447"/>
                  </a:lnTo>
                  <a:lnTo>
                    <a:pt x="1701" y="1447"/>
                  </a:lnTo>
                  <a:lnTo>
                    <a:pt x="1714" y="1447"/>
                  </a:lnTo>
                  <a:lnTo>
                    <a:pt x="1727" y="1447"/>
                  </a:lnTo>
                  <a:lnTo>
                    <a:pt x="1740" y="1447"/>
                  </a:lnTo>
                  <a:lnTo>
                    <a:pt x="1752" y="1447"/>
                  </a:lnTo>
                  <a:lnTo>
                    <a:pt x="1765" y="1447"/>
                  </a:lnTo>
                  <a:lnTo>
                    <a:pt x="1778" y="1447"/>
                  </a:lnTo>
                  <a:lnTo>
                    <a:pt x="1785" y="1441"/>
                  </a:lnTo>
                  <a:lnTo>
                    <a:pt x="1797" y="1441"/>
                  </a:lnTo>
                  <a:lnTo>
                    <a:pt x="1810" y="1441"/>
                  </a:lnTo>
                  <a:lnTo>
                    <a:pt x="1823" y="1441"/>
                  </a:lnTo>
                  <a:lnTo>
                    <a:pt x="1836" y="1441"/>
                  </a:lnTo>
                  <a:lnTo>
                    <a:pt x="1849" y="1441"/>
                  </a:lnTo>
                  <a:lnTo>
                    <a:pt x="1862" y="1441"/>
                  </a:lnTo>
                  <a:lnTo>
                    <a:pt x="1874" y="1441"/>
                  </a:lnTo>
                  <a:lnTo>
                    <a:pt x="1881" y="1441"/>
                  </a:lnTo>
                  <a:lnTo>
                    <a:pt x="1894" y="1441"/>
                  </a:lnTo>
                  <a:lnTo>
                    <a:pt x="1907" y="1441"/>
                  </a:lnTo>
                  <a:lnTo>
                    <a:pt x="1919" y="1441"/>
                  </a:lnTo>
                  <a:lnTo>
                    <a:pt x="1932" y="1441"/>
                  </a:lnTo>
                  <a:lnTo>
                    <a:pt x="1945" y="1441"/>
                  </a:lnTo>
                  <a:lnTo>
                    <a:pt x="1958" y="1441"/>
                  </a:lnTo>
                  <a:lnTo>
                    <a:pt x="1971" y="1441"/>
                  </a:lnTo>
                  <a:lnTo>
                    <a:pt x="1977" y="1441"/>
                  </a:lnTo>
                  <a:lnTo>
                    <a:pt x="1990" y="1441"/>
                  </a:lnTo>
                  <a:lnTo>
                    <a:pt x="2003" y="1441"/>
                  </a:lnTo>
                  <a:lnTo>
                    <a:pt x="2016" y="1441"/>
                  </a:lnTo>
                  <a:lnTo>
                    <a:pt x="2029" y="1441"/>
                  </a:lnTo>
                  <a:lnTo>
                    <a:pt x="2041" y="1441"/>
                  </a:lnTo>
                  <a:lnTo>
                    <a:pt x="2054" y="1441"/>
                  </a:lnTo>
                  <a:lnTo>
                    <a:pt x="2067" y="1441"/>
                  </a:lnTo>
                  <a:lnTo>
                    <a:pt x="2073" y="1441"/>
                  </a:lnTo>
                  <a:lnTo>
                    <a:pt x="2086" y="1441"/>
                  </a:lnTo>
                  <a:lnTo>
                    <a:pt x="2099" y="1441"/>
                  </a:lnTo>
                  <a:lnTo>
                    <a:pt x="2112" y="1441"/>
                  </a:lnTo>
                  <a:lnTo>
                    <a:pt x="2125" y="1441"/>
                  </a:lnTo>
                  <a:lnTo>
                    <a:pt x="2138" y="1441"/>
                  </a:lnTo>
                  <a:lnTo>
                    <a:pt x="2151" y="1441"/>
                  </a:lnTo>
                  <a:lnTo>
                    <a:pt x="2163" y="1441"/>
                  </a:lnTo>
                  <a:lnTo>
                    <a:pt x="2170" y="1441"/>
                  </a:lnTo>
                  <a:lnTo>
                    <a:pt x="2183" y="1441"/>
                  </a:lnTo>
                  <a:lnTo>
                    <a:pt x="2195" y="1441"/>
                  </a:lnTo>
                  <a:lnTo>
                    <a:pt x="2208" y="1441"/>
                  </a:lnTo>
                  <a:lnTo>
                    <a:pt x="2221" y="1441"/>
                  </a:lnTo>
                  <a:lnTo>
                    <a:pt x="2234" y="1441"/>
                  </a:lnTo>
                  <a:lnTo>
                    <a:pt x="2247" y="1441"/>
                  </a:lnTo>
                  <a:lnTo>
                    <a:pt x="2253" y="1441"/>
                  </a:lnTo>
                  <a:lnTo>
                    <a:pt x="2266" y="1441"/>
                  </a:lnTo>
                </a:path>
              </a:pathLst>
            </a:custGeom>
            <a:noFill/>
            <a:ln w="301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11" name="Line 15"/>
            <p:cNvSpPr>
              <a:spLocks noChangeShapeType="1"/>
            </p:cNvSpPr>
            <p:nvPr/>
          </p:nvSpPr>
          <p:spPr bwMode="auto">
            <a:xfrm>
              <a:off x="3205" y="508"/>
              <a:ext cx="91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12" name="Line 16"/>
            <p:cNvSpPr>
              <a:spLocks noChangeShapeType="1"/>
            </p:cNvSpPr>
            <p:nvPr/>
          </p:nvSpPr>
          <p:spPr bwMode="auto">
            <a:xfrm>
              <a:off x="3205" y="688"/>
              <a:ext cx="91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13" name="Line 17"/>
            <p:cNvSpPr>
              <a:spLocks noChangeShapeType="1"/>
            </p:cNvSpPr>
            <p:nvPr/>
          </p:nvSpPr>
          <p:spPr bwMode="auto">
            <a:xfrm flipV="1">
              <a:off x="3205" y="437"/>
              <a:ext cx="70" cy="7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14" name="Line 18"/>
            <p:cNvSpPr>
              <a:spLocks noChangeShapeType="1"/>
            </p:cNvSpPr>
            <p:nvPr/>
          </p:nvSpPr>
          <p:spPr bwMode="auto">
            <a:xfrm flipV="1">
              <a:off x="3436" y="437"/>
              <a:ext cx="64" cy="7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15" name="Line 19"/>
            <p:cNvSpPr>
              <a:spLocks noChangeShapeType="1"/>
            </p:cNvSpPr>
            <p:nvPr/>
          </p:nvSpPr>
          <p:spPr bwMode="auto">
            <a:xfrm flipV="1">
              <a:off x="3661" y="437"/>
              <a:ext cx="70" cy="7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16" name="Line 20"/>
            <p:cNvSpPr>
              <a:spLocks noChangeShapeType="1"/>
            </p:cNvSpPr>
            <p:nvPr/>
          </p:nvSpPr>
          <p:spPr bwMode="auto">
            <a:xfrm flipV="1">
              <a:off x="3892" y="437"/>
              <a:ext cx="64" cy="7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17" name="Line 21"/>
            <p:cNvSpPr>
              <a:spLocks noChangeShapeType="1"/>
            </p:cNvSpPr>
            <p:nvPr/>
          </p:nvSpPr>
          <p:spPr bwMode="auto">
            <a:xfrm>
              <a:off x="3205" y="688"/>
              <a:ext cx="70"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18" name="Line 22"/>
            <p:cNvSpPr>
              <a:spLocks noChangeShapeType="1"/>
            </p:cNvSpPr>
            <p:nvPr/>
          </p:nvSpPr>
          <p:spPr bwMode="auto">
            <a:xfrm>
              <a:off x="3436" y="688"/>
              <a:ext cx="64"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19" name="Line 23"/>
            <p:cNvSpPr>
              <a:spLocks noChangeShapeType="1"/>
            </p:cNvSpPr>
            <p:nvPr/>
          </p:nvSpPr>
          <p:spPr bwMode="auto">
            <a:xfrm>
              <a:off x="3661" y="688"/>
              <a:ext cx="70"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20" name="Line 24"/>
            <p:cNvSpPr>
              <a:spLocks noChangeShapeType="1"/>
            </p:cNvSpPr>
            <p:nvPr/>
          </p:nvSpPr>
          <p:spPr bwMode="auto">
            <a:xfrm>
              <a:off x="3892" y="688"/>
              <a:ext cx="64"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21" name="Rectangle 25"/>
            <p:cNvSpPr>
              <a:spLocks noChangeArrowheads="1"/>
            </p:cNvSpPr>
            <p:nvPr/>
          </p:nvSpPr>
          <p:spPr bwMode="auto">
            <a:xfrm>
              <a:off x="3793" y="66"/>
              <a:ext cx="5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a:t>
              </a:r>
            </a:p>
          </p:txBody>
        </p:sp>
        <p:sp>
          <p:nvSpPr>
            <p:cNvPr id="55322" name="Rectangle 26"/>
            <p:cNvSpPr>
              <a:spLocks noChangeArrowheads="1"/>
            </p:cNvSpPr>
            <p:nvPr/>
          </p:nvSpPr>
          <p:spPr bwMode="auto">
            <a:xfrm>
              <a:off x="3451" y="66"/>
              <a:ext cx="5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a:t>
              </a:r>
            </a:p>
          </p:txBody>
        </p:sp>
        <p:sp>
          <p:nvSpPr>
            <p:cNvPr id="55323" name="Rectangle 27"/>
            <p:cNvSpPr>
              <a:spLocks noChangeArrowheads="1"/>
            </p:cNvSpPr>
            <p:nvPr/>
          </p:nvSpPr>
          <p:spPr bwMode="auto">
            <a:xfrm>
              <a:off x="3671" y="22"/>
              <a:ext cx="101"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l-GR" altLang="zh-CN" sz="1600" dirty="0">
                  <a:solidFill>
                    <a:srgbClr val="71777D"/>
                  </a:solidFill>
                  <a:latin typeface="Arial" panose="020B0604020202020204" pitchFamily="34" charset="0"/>
                </a:rPr>
                <a:t>ω</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sp>
          <p:nvSpPr>
            <p:cNvPr id="55324" name="Rectangle 28"/>
            <p:cNvSpPr>
              <a:spLocks noChangeArrowheads="1"/>
            </p:cNvSpPr>
            <p:nvPr/>
          </p:nvSpPr>
          <p:spPr bwMode="auto">
            <a:xfrm>
              <a:off x="3635" y="37"/>
              <a:ext cx="5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00000"/>
                  </a:solidFill>
                  <a:effectLst/>
                  <a:uLnTx/>
                  <a:uFillTx/>
                  <a:latin typeface="Comic Sans MS"/>
                  <a:ea typeface="+mn-ea"/>
                  <a:cs typeface="+mn-cs"/>
                </a:rPr>
                <a:t>j</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25" name="Rectangle 29"/>
            <p:cNvSpPr>
              <a:spLocks noChangeArrowheads="1"/>
            </p:cNvSpPr>
            <p:nvPr/>
          </p:nvSpPr>
          <p:spPr bwMode="auto">
            <a:xfrm>
              <a:off x="3517" y="66"/>
              <a:ext cx="8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e</a:t>
              </a:r>
            </a:p>
          </p:txBody>
        </p:sp>
        <p:sp>
          <p:nvSpPr>
            <p:cNvPr id="55326" name="Rectangle 30"/>
            <p:cNvSpPr>
              <a:spLocks noChangeArrowheads="1"/>
            </p:cNvSpPr>
            <p:nvPr/>
          </p:nvSpPr>
          <p:spPr bwMode="auto">
            <a:xfrm>
              <a:off x="3285" y="66"/>
              <a:ext cx="11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a:ln>
                    <a:noFill/>
                  </a:ln>
                  <a:solidFill>
                    <a:srgbClr val="000000"/>
                  </a:solidFill>
                  <a:effectLst/>
                  <a:uLnTx/>
                  <a:uFillTx/>
                  <a:latin typeface="Comic Sans MS"/>
                  <a:ea typeface="+mn-ea"/>
                  <a:cs typeface="+mn-cs"/>
                </a:rPr>
                <a:t>H</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27" name="Line 31"/>
            <p:cNvSpPr>
              <a:spLocks noChangeShapeType="1"/>
            </p:cNvSpPr>
            <p:nvPr/>
          </p:nvSpPr>
          <p:spPr bwMode="auto">
            <a:xfrm>
              <a:off x="4116" y="392"/>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28" name="Line 32"/>
            <p:cNvSpPr>
              <a:spLocks noChangeShapeType="1"/>
            </p:cNvSpPr>
            <p:nvPr/>
          </p:nvSpPr>
          <p:spPr bwMode="auto">
            <a:xfrm>
              <a:off x="4116" y="540"/>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29" name="Line 33"/>
            <p:cNvSpPr>
              <a:spLocks noChangeShapeType="1"/>
            </p:cNvSpPr>
            <p:nvPr/>
          </p:nvSpPr>
          <p:spPr bwMode="auto">
            <a:xfrm>
              <a:off x="4116" y="688"/>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30" name="Line 34"/>
            <p:cNvSpPr>
              <a:spLocks noChangeShapeType="1"/>
            </p:cNvSpPr>
            <p:nvPr/>
          </p:nvSpPr>
          <p:spPr bwMode="auto">
            <a:xfrm>
              <a:off x="4116" y="836"/>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31" name="Line 35"/>
            <p:cNvSpPr>
              <a:spLocks noChangeShapeType="1"/>
            </p:cNvSpPr>
            <p:nvPr/>
          </p:nvSpPr>
          <p:spPr bwMode="auto">
            <a:xfrm>
              <a:off x="4116" y="984"/>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32" name="Line 36"/>
            <p:cNvSpPr>
              <a:spLocks noChangeShapeType="1"/>
            </p:cNvSpPr>
            <p:nvPr/>
          </p:nvSpPr>
          <p:spPr bwMode="auto">
            <a:xfrm>
              <a:off x="4116" y="1132"/>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33" name="Line 37"/>
            <p:cNvSpPr>
              <a:spLocks noChangeShapeType="1"/>
            </p:cNvSpPr>
            <p:nvPr/>
          </p:nvSpPr>
          <p:spPr bwMode="auto">
            <a:xfrm>
              <a:off x="4116" y="1280"/>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34" name="Line 38"/>
            <p:cNvSpPr>
              <a:spLocks noChangeShapeType="1"/>
            </p:cNvSpPr>
            <p:nvPr/>
          </p:nvSpPr>
          <p:spPr bwMode="auto">
            <a:xfrm>
              <a:off x="4116" y="1428"/>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35" name="Line 39"/>
            <p:cNvSpPr>
              <a:spLocks noChangeShapeType="1"/>
            </p:cNvSpPr>
            <p:nvPr/>
          </p:nvSpPr>
          <p:spPr bwMode="auto">
            <a:xfrm>
              <a:off x="4116" y="1576"/>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36" name="Line 40"/>
            <p:cNvSpPr>
              <a:spLocks noChangeShapeType="1"/>
            </p:cNvSpPr>
            <p:nvPr/>
          </p:nvSpPr>
          <p:spPr bwMode="auto">
            <a:xfrm>
              <a:off x="4116" y="1724"/>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37" name="Line 41"/>
            <p:cNvSpPr>
              <a:spLocks noChangeShapeType="1"/>
            </p:cNvSpPr>
            <p:nvPr/>
          </p:nvSpPr>
          <p:spPr bwMode="auto">
            <a:xfrm>
              <a:off x="4116" y="1872"/>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38" name="Line 42"/>
            <p:cNvSpPr>
              <a:spLocks noChangeShapeType="1"/>
            </p:cNvSpPr>
            <p:nvPr/>
          </p:nvSpPr>
          <p:spPr bwMode="auto">
            <a:xfrm>
              <a:off x="4116" y="2020"/>
              <a:ext cx="1" cy="83"/>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39" name="Line 43"/>
            <p:cNvSpPr>
              <a:spLocks noChangeShapeType="1"/>
            </p:cNvSpPr>
            <p:nvPr/>
          </p:nvSpPr>
          <p:spPr bwMode="auto">
            <a:xfrm flipV="1">
              <a:off x="4393" y="2013"/>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40" name="Line 44"/>
            <p:cNvSpPr>
              <a:spLocks noChangeShapeType="1"/>
            </p:cNvSpPr>
            <p:nvPr/>
          </p:nvSpPr>
          <p:spPr bwMode="auto">
            <a:xfrm flipV="1">
              <a:off x="4393" y="1865"/>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41" name="Line 45"/>
            <p:cNvSpPr>
              <a:spLocks noChangeShapeType="1"/>
            </p:cNvSpPr>
            <p:nvPr/>
          </p:nvSpPr>
          <p:spPr bwMode="auto">
            <a:xfrm flipV="1">
              <a:off x="4393" y="1717"/>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42" name="Line 46"/>
            <p:cNvSpPr>
              <a:spLocks noChangeShapeType="1"/>
            </p:cNvSpPr>
            <p:nvPr/>
          </p:nvSpPr>
          <p:spPr bwMode="auto">
            <a:xfrm flipV="1">
              <a:off x="4393" y="1569"/>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43" name="Line 47"/>
            <p:cNvSpPr>
              <a:spLocks noChangeShapeType="1"/>
            </p:cNvSpPr>
            <p:nvPr/>
          </p:nvSpPr>
          <p:spPr bwMode="auto">
            <a:xfrm flipV="1">
              <a:off x="4393" y="1421"/>
              <a:ext cx="1" cy="9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44" name="Line 48"/>
            <p:cNvSpPr>
              <a:spLocks noChangeShapeType="1"/>
            </p:cNvSpPr>
            <p:nvPr/>
          </p:nvSpPr>
          <p:spPr bwMode="auto">
            <a:xfrm flipV="1">
              <a:off x="4393" y="1274"/>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45" name="Line 49"/>
            <p:cNvSpPr>
              <a:spLocks noChangeShapeType="1"/>
            </p:cNvSpPr>
            <p:nvPr/>
          </p:nvSpPr>
          <p:spPr bwMode="auto">
            <a:xfrm flipV="1">
              <a:off x="4393" y="1126"/>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46" name="Line 50"/>
            <p:cNvSpPr>
              <a:spLocks noChangeShapeType="1"/>
            </p:cNvSpPr>
            <p:nvPr/>
          </p:nvSpPr>
          <p:spPr bwMode="auto">
            <a:xfrm flipV="1">
              <a:off x="4393" y="978"/>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47" name="Line 51"/>
            <p:cNvSpPr>
              <a:spLocks noChangeShapeType="1"/>
            </p:cNvSpPr>
            <p:nvPr/>
          </p:nvSpPr>
          <p:spPr bwMode="auto">
            <a:xfrm flipV="1">
              <a:off x="4393" y="830"/>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48" name="Line 52"/>
            <p:cNvSpPr>
              <a:spLocks noChangeShapeType="1"/>
            </p:cNvSpPr>
            <p:nvPr/>
          </p:nvSpPr>
          <p:spPr bwMode="auto">
            <a:xfrm flipV="1">
              <a:off x="4393" y="682"/>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49" name="Line 53"/>
            <p:cNvSpPr>
              <a:spLocks noChangeShapeType="1"/>
            </p:cNvSpPr>
            <p:nvPr/>
          </p:nvSpPr>
          <p:spPr bwMode="auto">
            <a:xfrm flipV="1">
              <a:off x="4393" y="534"/>
              <a:ext cx="1" cy="9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50" name="Line 54"/>
            <p:cNvSpPr>
              <a:spLocks noChangeShapeType="1"/>
            </p:cNvSpPr>
            <p:nvPr/>
          </p:nvSpPr>
          <p:spPr bwMode="auto">
            <a:xfrm flipV="1">
              <a:off x="4393" y="392"/>
              <a:ext cx="1" cy="84"/>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51" name="Line 55"/>
            <p:cNvSpPr>
              <a:spLocks noChangeShapeType="1"/>
            </p:cNvSpPr>
            <p:nvPr/>
          </p:nvSpPr>
          <p:spPr bwMode="auto">
            <a:xfrm>
              <a:off x="4116" y="1306"/>
              <a:ext cx="277"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52" name="Freeform 56"/>
            <p:cNvSpPr>
              <a:spLocks/>
            </p:cNvSpPr>
            <p:nvPr/>
          </p:nvSpPr>
          <p:spPr bwMode="auto">
            <a:xfrm>
              <a:off x="4116" y="1254"/>
              <a:ext cx="52" cy="103"/>
            </a:xfrm>
            <a:custGeom>
              <a:avLst/>
              <a:gdLst>
                <a:gd name="T0" fmla="*/ 52 w 52"/>
                <a:gd name="T1" fmla="*/ 0 h 103"/>
                <a:gd name="T2" fmla="*/ 0 w 52"/>
                <a:gd name="T3" fmla="*/ 52 h 103"/>
                <a:gd name="T4" fmla="*/ 52 w 52"/>
                <a:gd name="T5" fmla="*/ 103 h 103"/>
              </a:gdLst>
              <a:ahLst/>
              <a:cxnLst>
                <a:cxn ang="0">
                  <a:pos x="T0" y="T1"/>
                </a:cxn>
                <a:cxn ang="0">
                  <a:pos x="T2" y="T3"/>
                </a:cxn>
                <a:cxn ang="0">
                  <a:pos x="T4" y="T5"/>
                </a:cxn>
              </a:cxnLst>
              <a:rect l="0" t="0" r="r" b="b"/>
              <a:pathLst>
                <a:path w="52" h="103">
                  <a:moveTo>
                    <a:pt x="52" y="0"/>
                  </a:moveTo>
                  <a:lnTo>
                    <a:pt x="0" y="52"/>
                  </a:lnTo>
                  <a:lnTo>
                    <a:pt x="52" y="10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53" name="Freeform 57"/>
            <p:cNvSpPr>
              <a:spLocks/>
            </p:cNvSpPr>
            <p:nvPr/>
          </p:nvSpPr>
          <p:spPr bwMode="auto">
            <a:xfrm>
              <a:off x="4341" y="1254"/>
              <a:ext cx="52" cy="103"/>
            </a:xfrm>
            <a:custGeom>
              <a:avLst/>
              <a:gdLst>
                <a:gd name="T0" fmla="*/ 0 w 52"/>
                <a:gd name="T1" fmla="*/ 103 h 103"/>
                <a:gd name="T2" fmla="*/ 52 w 52"/>
                <a:gd name="T3" fmla="*/ 52 h 103"/>
                <a:gd name="T4" fmla="*/ 0 w 52"/>
                <a:gd name="T5" fmla="*/ 0 h 103"/>
              </a:gdLst>
              <a:ahLst/>
              <a:cxnLst>
                <a:cxn ang="0">
                  <a:pos x="T0" y="T1"/>
                </a:cxn>
                <a:cxn ang="0">
                  <a:pos x="T2" y="T3"/>
                </a:cxn>
                <a:cxn ang="0">
                  <a:pos x="T4" y="T5"/>
                </a:cxn>
              </a:cxnLst>
              <a:rect l="0" t="0" r="r" b="b"/>
              <a:pathLst>
                <a:path w="52" h="103">
                  <a:moveTo>
                    <a:pt x="0" y="103"/>
                  </a:moveTo>
                  <a:lnTo>
                    <a:pt x="52" y="52"/>
                  </a:lnTo>
                  <a:lnTo>
                    <a:pt x="0"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54" name="Line 58"/>
            <p:cNvSpPr>
              <a:spLocks noChangeShapeType="1"/>
            </p:cNvSpPr>
            <p:nvPr/>
          </p:nvSpPr>
          <p:spPr bwMode="auto">
            <a:xfrm>
              <a:off x="4393" y="1762"/>
              <a:ext cx="34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55" name="Freeform 59"/>
            <p:cNvSpPr>
              <a:spLocks/>
            </p:cNvSpPr>
            <p:nvPr/>
          </p:nvSpPr>
          <p:spPr bwMode="auto">
            <a:xfrm>
              <a:off x="4393" y="1711"/>
              <a:ext cx="51" cy="103"/>
            </a:xfrm>
            <a:custGeom>
              <a:avLst/>
              <a:gdLst>
                <a:gd name="T0" fmla="*/ 51 w 51"/>
                <a:gd name="T1" fmla="*/ 0 h 103"/>
                <a:gd name="T2" fmla="*/ 0 w 51"/>
                <a:gd name="T3" fmla="*/ 51 h 103"/>
                <a:gd name="T4" fmla="*/ 51 w 51"/>
                <a:gd name="T5" fmla="*/ 103 h 103"/>
              </a:gdLst>
              <a:ahLst/>
              <a:cxnLst>
                <a:cxn ang="0">
                  <a:pos x="T0" y="T1"/>
                </a:cxn>
                <a:cxn ang="0">
                  <a:pos x="T2" y="T3"/>
                </a:cxn>
                <a:cxn ang="0">
                  <a:pos x="T4" y="T5"/>
                </a:cxn>
              </a:cxnLst>
              <a:rect l="0" t="0" r="r" b="b"/>
              <a:pathLst>
                <a:path w="51" h="103">
                  <a:moveTo>
                    <a:pt x="51" y="0"/>
                  </a:moveTo>
                  <a:lnTo>
                    <a:pt x="0" y="51"/>
                  </a:lnTo>
                  <a:lnTo>
                    <a:pt x="51" y="10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56" name="Line 60"/>
            <p:cNvSpPr>
              <a:spLocks noChangeShapeType="1"/>
            </p:cNvSpPr>
            <p:nvPr/>
          </p:nvSpPr>
          <p:spPr bwMode="auto">
            <a:xfrm flipH="1">
              <a:off x="5144" y="1762"/>
              <a:ext cx="34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57" name="Freeform 61"/>
            <p:cNvSpPr>
              <a:spLocks/>
            </p:cNvSpPr>
            <p:nvPr/>
          </p:nvSpPr>
          <p:spPr bwMode="auto">
            <a:xfrm>
              <a:off x="5433" y="1711"/>
              <a:ext cx="51" cy="103"/>
            </a:xfrm>
            <a:custGeom>
              <a:avLst/>
              <a:gdLst>
                <a:gd name="T0" fmla="*/ 0 w 51"/>
                <a:gd name="T1" fmla="*/ 103 h 103"/>
                <a:gd name="T2" fmla="*/ 51 w 51"/>
                <a:gd name="T3" fmla="*/ 51 h 103"/>
                <a:gd name="T4" fmla="*/ 0 w 51"/>
                <a:gd name="T5" fmla="*/ 0 h 103"/>
              </a:gdLst>
              <a:ahLst/>
              <a:cxnLst>
                <a:cxn ang="0">
                  <a:pos x="T0" y="T1"/>
                </a:cxn>
                <a:cxn ang="0">
                  <a:pos x="T2" y="T3"/>
                </a:cxn>
                <a:cxn ang="0">
                  <a:pos x="T4" y="T5"/>
                </a:cxn>
              </a:cxnLst>
              <a:rect l="0" t="0" r="r" b="b"/>
              <a:pathLst>
                <a:path w="51" h="103">
                  <a:moveTo>
                    <a:pt x="0" y="103"/>
                  </a:moveTo>
                  <a:lnTo>
                    <a:pt x="51" y="51"/>
                  </a:lnTo>
                  <a:lnTo>
                    <a:pt x="0"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58" name="Line 62"/>
            <p:cNvSpPr>
              <a:spLocks noChangeShapeType="1"/>
            </p:cNvSpPr>
            <p:nvPr/>
          </p:nvSpPr>
          <p:spPr bwMode="auto">
            <a:xfrm>
              <a:off x="3205" y="1762"/>
              <a:ext cx="23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59" name="Freeform 63"/>
            <p:cNvSpPr>
              <a:spLocks/>
            </p:cNvSpPr>
            <p:nvPr/>
          </p:nvSpPr>
          <p:spPr bwMode="auto">
            <a:xfrm>
              <a:off x="3205" y="1711"/>
              <a:ext cx="51" cy="103"/>
            </a:xfrm>
            <a:custGeom>
              <a:avLst/>
              <a:gdLst>
                <a:gd name="T0" fmla="*/ 51 w 51"/>
                <a:gd name="T1" fmla="*/ 0 h 103"/>
                <a:gd name="T2" fmla="*/ 0 w 51"/>
                <a:gd name="T3" fmla="*/ 51 h 103"/>
                <a:gd name="T4" fmla="*/ 51 w 51"/>
                <a:gd name="T5" fmla="*/ 103 h 103"/>
              </a:gdLst>
              <a:ahLst/>
              <a:cxnLst>
                <a:cxn ang="0">
                  <a:pos x="T0" y="T1"/>
                </a:cxn>
                <a:cxn ang="0">
                  <a:pos x="T2" y="T3"/>
                </a:cxn>
                <a:cxn ang="0">
                  <a:pos x="T4" y="T5"/>
                </a:cxn>
              </a:cxnLst>
              <a:rect l="0" t="0" r="r" b="b"/>
              <a:pathLst>
                <a:path w="51" h="103">
                  <a:moveTo>
                    <a:pt x="51" y="0"/>
                  </a:moveTo>
                  <a:lnTo>
                    <a:pt x="0" y="51"/>
                  </a:lnTo>
                  <a:lnTo>
                    <a:pt x="51" y="10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60" name="Line 64"/>
            <p:cNvSpPr>
              <a:spLocks noChangeShapeType="1"/>
            </p:cNvSpPr>
            <p:nvPr/>
          </p:nvSpPr>
          <p:spPr bwMode="auto">
            <a:xfrm flipH="1">
              <a:off x="3892" y="1762"/>
              <a:ext cx="224"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61" name="Freeform 65"/>
            <p:cNvSpPr>
              <a:spLocks/>
            </p:cNvSpPr>
            <p:nvPr/>
          </p:nvSpPr>
          <p:spPr bwMode="auto">
            <a:xfrm>
              <a:off x="4065" y="1711"/>
              <a:ext cx="51" cy="103"/>
            </a:xfrm>
            <a:custGeom>
              <a:avLst/>
              <a:gdLst>
                <a:gd name="T0" fmla="*/ 0 w 51"/>
                <a:gd name="T1" fmla="*/ 103 h 103"/>
                <a:gd name="T2" fmla="*/ 51 w 51"/>
                <a:gd name="T3" fmla="*/ 51 h 103"/>
                <a:gd name="T4" fmla="*/ 0 w 51"/>
                <a:gd name="T5" fmla="*/ 0 h 103"/>
              </a:gdLst>
              <a:ahLst/>
              <a:cxnLst>
                <a:cxn ang="0">
                  <a:pos x="T0" y="T1"/>
                </a:cxn>
                <a:cxn ang="0">
                  <a:pos x="T2" y="T3"/>
                </a:cxn>
                <a:cxn ang="0">
                  <a:pos x="T4" y="T5"/>
                </a:cxn>
              </a:cxnLst>
              <a:rect l="0" t="0" r="r" b="b"/>
              <a:pathLst>
                <a:path w="51" h="103">
                  <a:moveTo>
                    <a:pt x="0" y="103"/>
                  </a:moveTo>
                  <a:lnTo>
                    <a:pt x="51" y="51"/>
                  </a:lnTo>
                  <a:lnTo>
                    <a:pt x="0"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62" name="Rectangle 66"/>
            <p:cNvSpPr>
              <a:spLocks noChangeArrowheads="1"/>
            </p:cNvSpPr>
            <p:nvPr/>
          </p:nvSpPr>
          <p:spPr bwMode="auto">
            <a:xfrm>
              <a:off x="4203" y="2228"/>
              <a:ext cx="6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a:ln>
                    <a:noFill/>
                  </a:ln>
                  <a:solidFill>
                    <a:srgbClr val="000000"/>
                  </a:solidFill>
                  <a:effectLst/>
                  <a:uLnTx/>
                  <a:uFillTx/>
                  <a:latin typeface="Comic Sans MS"/>
                  <a:ea typeface="+mn-ea"/>
                  <a:cs typeface="+mn-cs"/>
                </a:rPr>
                <a:t>p</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63" name="Rectangle 67"/>
            <p:cNvSpPr>
              <a:spLocks noChangeArrowheads="1"/>
            </p:cNvSpPr>
            <p:nvPr/>
          </p:nvSpPr>
          <p:spPr bwMode="auto">
            <a:xfrm>
              <a:off x="4027" y="2102"/>
              <a:ext cx="11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l-GR" altLang="zh-CN" dirty="0"/>
                <a:t>ω</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sp>
          <p:nvSpPr>
            <p:cNvPr id="55364" name="Rectangle 68"/>
            <p:cNvSpPr>
              <a:spLocks noChangeArrowheads="1"/>
            </p:cNvSpPr>
            <p:nvPr/>
          </p:nvSpPr>
          <p:spPr bwMode="auto">
            <a:xfrm>
              <a:off x="4485" y="2230"/>
              <a:ext cx="6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a:ln>
                    <a:noFill/>
                  </a:ln>
                  <a:solidFill>
                    <a:srgbClr val="000000"/>
                  </a:solidFill>
                  <a:effectLst/>
                  <a:uLnTx/>
                  <a:uFillTx/>
                  <a:latin typeface="Comic Sans MS"/>
                  <a:ea typeface="+mn-ea"/>
                  <a:cs typeface="+mn-cs"/>
                </a:rPr>
                <a:t>s</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65" name="Rectangle 69"/>
            <p:cNvSpPr>
              <a:spLocks noChangeArrowheads="1"/>
            </p:cNvSpPr>
            <p:nvPr/>
          </p:nvSpPr>
          <p:spPr bwMode="auto">
            <a:xfrm>
              <a:off x="4329" y="2102"/>
              <a:ext cx="11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l-GR" altLang="zh-CN" dirty="0"/>
                <a:t>ω</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sp>
          <p:nvSpPr>
            <p:cNvPr id="55366" name="Rectangle 70"/>
            <p:cNvSpPr>
              <a:spLocks noChangeArrowheads="1"/>
            </p:cNvSpPr>
            <p:nvPr/>
          </p:nvSpPr>
          <p:spPr bwMode="auto">
            <a:xfrm>
              <a:off x="3114" y="1888"/>
              <a:ext cx="6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a:ln>
                    <a:noFill/>
                  </a:ln>
                  <a:solidFill>
                    <a:srgbClr val="000000"/>
                  </a:solidFill>
                  <a:effectLst/>
                  <a:uLnTx/>
                  <a:uFillTx/>
                  <a:latin typeface="Comic Sans MS"/>
                  <a:ea typeface="+mn-ea"/>
                  <a:cs typeface="+mn-cs"/>
                </a:rPr>
                <a:t>s</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67" name="Rectangle 71"/>
            <p:cNvSpPr>
              <a:spLocks noChangeArrowheads="1"/>
            </p:cNvSpPr>
            <p:nvPr/>
          </p:nvSpPr>
          <p:spPr bwMode="auto">
            <a:xfrm>
              <a:off x="2997" y="1761"/>
              <a:ext cx="7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a:ln>
                    <a:noFill/>
                  </a:ln>
                  <a:solidFill>
                    <a:srgbClr val="000000"/>
                  </a:solidFill>
                  <a:effectLst/>
                  <a:uLnTx/>
                  <a:uFillTx/>
                  <a:latin typeface="Symbol" panose="05050102010706020507" pitchFamily="18" charset="2"/>
                  <a:ea typeface="+mn-ea"/>
                  <a:cs typeface="+mn-cs"/>
                </a:rPr>
                <a:t>d</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68" name="Line 72"/>
            <p:cNvSpPr>
              <a:spLocks noChangeShapeType="1"/>
            </p:cNvSpPr>
            <p:nvPr/>
          </p:nvSpPr>
          <p:spPr bwMode="auto">
            <a:xfrm>
              <a:off x="3205" y="1917"/>
              <a:ext cx="70"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69" name="Rectangle 73"/>
            <p:cNvSpPr>
              <a:spLocks noChangeArrowheads="1"/>
            </p:cNvSpPr>
            <p:nvPr/>
          </p:nvSpPr>
          <p:spPr bwMode="auto">
            <a:xfrm>
              <a:off x="3098" y="707"/>
              <a:ext cx="6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1" u="none" strike="noStrike" kern="1200" cap="none" spc="0" normalizeH="0" baseline="0" noProof="0">
                  <a:ln>
                    <a:noFill/>
                  </a:ln>
                  <a:solidFill>
                    <a:srgbClr val="000000"/>
                  </a:solidFill>
                  <a:effectLst/>
                  <a:uLnTx/>
                  <a:uFillTx/>
                  <a:latin typeface="Comic Sans MS"/>
                  <a:ea typeface="+mn-ea"/>
                  <a:cs typeface="+mn-cs"/>
                </a:rPr>
                <a:t>p</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70" name="Rectangle 74"/>
            <p:cNvSpPr>
              <a:spLocks noChangeArrowheads="1"/>
            </p:cNvSpPr>
            <p:nvPr/>
          </p:nvSpPr>
          <p:spPr bwMode="auto">
            <a:xfrm>
              <a:off x="2962" y="578"/>
              <a:ext cx="7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a:ln>
                    <a:noFill/>
                  </a:ln>
                  <a:solidFill>
                    <a:srgbClr val="000000"/>
                  </a:solidFill>
                  <a:effectLst/>
                  <a:uLnTx/>
                  <a:uFillTx/>
                  <a:latin typeface="Symbol" panose="05050102010706020507" pitchFamily="18" charset="2"/>
                  <a:ea typeface="+mn-ea"/>
                  <a:cs typeface="+mn-cs"/>
                </a:rPr>
                <a:t>d</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71" name="Rectangle 75"/>
            <p:cNvSpPr>
              <a:spLocks noChangeArrowheads="1"/>
            </p:cNvSpPr>
            <p:nvPr/>
          </p:nvSpPr>
          <p:spPr bwMode="auto">
            <a:xfrm>
              <a:off x="2833" y="578"/>
              <a:ext cx="8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Symbol" panose="05050102010706020507" pitchFamily="18" charset="2"/>
                  <a:ea typeface="+mn-ea"/>
                  <a:cs typeface="+mn-cs"/>
                </a:rPr>
                <a:t>-</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72" name="Rectangle 76"/>
            <p:cNvSpPr>
              <a:spLocks noChangeArrowheads="1"/>
            </p:cNvSpPr>
            <p:nvPr/>
          </p:nvSpPr>
          <p:spPr bwMode="auto">
            <a:xfrm>
              <a:off x="2718" y="600"/>
              <a:ext cx="6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1</a:t>
              </a:r>
            </a:p>
          </p:txBody>
        </p:sp>
        <p:sp>
          <p:nvSpPr>
            <p:cNvPr id="55373" name="Rectangle 77"/>
            <p:cNvSpPr>
              <a:spLocks noChangeArrowheads="1"/>
            </p:cNvSpPr>
            <p:nvPr/>
          </p:nvSpPr>
          <p:spPr bwMode="auto">
            <a:xfrm>
              <a:off x="5574" y="1982"/>
              <a:ext cx="11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l-GR" altLang="zh-CN" dirty="0"/>
                <a:t>ω</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grpSp>
      <p:grpSp>
        <p:nvGrpSpPr>
          <p:cNvPr id="55374" name="Group 78"/>
          <p:cNvGrpSpPr>
            <a:grpSpLocks/>
          </p:cNvGrpSpPr>
          <p:nvPr/>
        </p:nvGrpSpPr>
        <p:grpSpPr bwMode="auto">
          <a:xfrm>
            <a:off x="4106069" y="1672433"/>
            <a:ext cx="2214563" cy="533400"/>
            <a:chOff x="512" y="623"/>
            <a:chExt cx="1395" cy="336"/>
          </a:xfrm>
        </p:grpSpPr>
        <p:grpSp>
          <p:nvGrpSpPr>
            <p:cNvPr id="55375" name="Group 79"/>
            <p:cNvGrpSpPr>
              <a:grpSpLocks/>
            </p:cNvGrpSpPr>
            <p:nvPr/>
          </p:nvGrpSpPr>
          <p:grpSpPr bwMode="auto">
            <a:xfrm>
              <a:off x="512" y="623"/>
              <a:ext cx="299" cy="336"/>
              <a:chOff x="512" y="623"/>
              <a:chExt cx="299" cy="336"/>
            </a:xfrm>
          </p:grpSpPr>
          <p:sp>
            <p:nvSpPr>
              <p:cNvPr id="55376" name="Rectangle 80"/>
              <p:cNvSpPr>
                <a:spLocks noChangeArrowheads="1"/>
              </p:cNvSpPr>
              <p:nvPr/>
            </p:nvSpPr>
            <p:spPr bwMode="auto">
              <a:xfrm>
                <a:off x="729" y="775"/>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900" b="0" i="1" u="none" strike="noStrike" kern="1200" cap="none" spc="0" normalizeH="0" baseline="0" noProof="0">
                    <a:ln>
                      <a:noFill/>
                    </a:ln>
                    <a:solidFill>
                      <a:srgbClr val="000000"/>
                    </a:solidFill>
                    <a:effectLst/>
                    <a:uLnTx/>
                    <a:uFillTx/>
                    <a:latin typeface="Comic Sans MS"/>
                    <a:ea typeface="+mn-ea"/>
                    <a:cs typeface="+mn-cs"/>
                  </a:rPr>
                  <a:t>p</a:t>
                </a:r>
                <a:endParaRPr kumimoji="0" lang="en-US" altLang="zh-CN" sz="1800" b="0" i="0" u="none" strike="noStrike" kern="1200" cap="none" spc="0" normalizeH="0" baseline="0" noProof="0">
                  <a:ln>
                    <a:noFill/>
                  </a:ln>
                  <a:solidFill>
                    <a:srgbClr val="000000"/>
                  </a:solidFill>
                  <a:effectLst/>
                  <a:uLnTx/>
                  <a:uFillTx/>
                  <a:latin typeface="Comic Sans MS"/>
                  <a:ea typeface="+mn-ea"/>
                  <a:cs typeface="+mn-cs"/>
                </a:endParaRPr>
              </a:p>
            </p:txBody>
          </p:sp>
          <p:sp>
            <p:nvSpPr>
              <p:cNvPr id="55377" name="Rectangle 81"/>
              <p:cNvSpPr>
                <a:spLocks noChangeArrowheads="1"/>
              </p:cNvSpPr>
              <p:nvPr/>
            </p:nvSpPr>
            <p:spPr bwMode="auto">
              <a:xfrm>
                <a:off x="512" y="623"/>
                <a:ext cx="2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lvl="0">
                  <a:defRPr/>
                </a:pPr>
                <a:r>
                  <a:rPr lang="el-GR" altLang="zh-CN" sz="3200" dirty="0">
                    <a:solidFill>
                      <a:srgbClr val="71777D"/>
                    </a:solidFill>
                    <a:latin typeface="Arial" panose="020B0604020202020204" pitchFamily="34" charset="0"/>
                  </a:rPr>
                  <a:t>ω</a:t>
                </a:r>
                <a:endParaRPr kumimoji="0" lang="en-US" altLang="zh-CN" sz="1800" b="0" i="1" u="none" strike="noStrike" kern="1200" cap="none" spc="0" normalizeH="0" baseline="0" noProof="0" dirty="0">
                  <a:ln>
                    <a:noFill/>
                  </a:ln>
                  <a:solidFill>
                    <a:srgbClr val="000000"/>
                  </a:solidFill>
                  <a:effectLst/>
                  <a:uLnTx/>
                  <a:uFillTx/>
                  <a:latin typeface="Comic Sans MS"/>
                  <a:ea typeface="+mn-ea"/>
                  <a:cs typeface="+mn-cs"/>
                </a:endParaRPr>
              </a:p>
            </p:txBody>
          </p:sp>
        </p:grpSp>
        <p:sp>
          <p:nvSpPr>
            <p:cNvPr id="55378" name="Rectangle 82"/>
            <p:cNvSpPr>
              <a:spLocks noChangeArrowheads="1"/>
            </p:cNvSpPr>
            <p:nvPr/>
          </p:nvSpPr>
          <p:spPr bwMode="auto">
            <a:xfrm>
              <a:off x="816" y="672"/>
              <a:ext cx="109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  </a:t>
              </a:r>
              <a:r>
                <a:rPr kumimoji="0" lang="zh-CN" altLang="en-US"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通带截止频率</a:t>
              </a:r>
              <a:endParaRPr kumimoji="0" lang="zh-CN" altLang="en-US" sz="1800" b="0" i="0" u="none" strike="noStrike" kern="1200" cap="none" spc="0" normalizeH="0" baseline="0" noProof="0" dirty="0">
                <a:ln>
                  <a:noFill/>
                </a:ln>
                <a:solidFill>
                  <a:srgbClr val="000000"/>
                </a:solidFill>
                <a:effectLst/>
                <a:uLnTx/>
                <a:uFillTx/>
                <a:latin typeface="Comic Sans MS"/>
                <a:ea typeface="+mn-ea"/>
                <a:cs typeface="+mn-cs"/>
              </a:endParaRPr>
            </a:p>
          </p:txBody>
        </p:sp>
      </p:grpSp>
      <p:sp>
        <p:nvSpPr>
          <p:cNvPr id="55379" name="Rectangle 83"/>
          <p:cNvSpPr>
            <a:spLocks noChangeArrowheads="1"/>
          </p:cNvSpPr>
          <p:nvPr/>
        </p:nvSpPr>
        <p:spPr bwMode="auto">
          <a:xfrm>
            <a:off x="4120358" y="2495458"/>
            <a:ext cx="3392487" cy="28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lvl="0">
              <a:defRPr/>
            </a:pPr>
            <a:r>
              <a:rPr lang="el-GR" altLang="zh-CN" dirty="0"/>
              <a:t>ω</a:t>
            </a:r>
            <a:r>
              <a:rPr kumimoji="0" lang="en-US" altLang="zh-CN" sz="2800" b="0" i="1" u="none" strike="noStrike" kern="1200" cap="none" spc="0" normalizeH="0" baseline="-25000" noProof="0" dirty="0" smtClean="0">
                <a:ln>
                  <a:noFill/>
                </a:ln>
                <a:solidFill>
                  <a:srgbClr val="000000"/>
                </a:solidFill>
                <a:effectLst/>
                <a:uLnTx/>
                <a:uFillTx/>
                <a:latin typeface="Comic Sans MS"/>
                <a:ea typeface="+mn-ea"/>
                <a:cs typeface="+mn-cs"/>
              </a:rPr>
              <a:t>s</a:t>
            </a: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   </a:t>
            </a:r>
            <a:r>
              <a:rPr kumimoji="0" lang="zh-CN" altLang="en-US" sz="1800" b="0"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阻带截止频率</a:t>
            </a:r>
            <a:endParaRPr kumimoji="0" lang="zh-CN" altLang="en-US" sz="1800" b="0" i="0" u="none" strike="noStrike" kern="1200" cap="none" spc="0" normalizeH="0" baseline="0" noProof="0" dirty="0">
              <a:ln>
                <a:noFill/>
              </a:ln>
              <a:solidFill>
                <a:srgbClr val="000000"/>
              </a:solidFill>
              <a:effectLst/>
              <a:uLnTx/>
              <a:uFillTx/>
              <a:latin typeface="Comic Sans MS"/>
              <a:ea typeface="+mn-ea"/>
              <a:cs typeface="+mn-cs"/>
            </a:endParaRPr>
          </a:p>
        </p:txBody>
      </p:sp>
      <p:sp>
        <p:nvSpPr>
          <p:cNvPr id="55380" name="Text Box 84"/>
          <p:cNvSpPr txBox="1">
            <a:spLocks noChangeArrowheads="1"/>
          </p:cNvSpPr>
          <p:nvPr/>
        </p:nvSpPr>
        <p:spPr bwMode="auto">
          <a:xfrm>
            <a:off x="4003675" y="3034810"/>
            <a:ext cx="304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28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d </a:t>
            </a:r>
            <a:r>
              <a:rPr kumimoji="0" lang="en-US" altLang="zh-CN" sz="2800" b="0" i="1" u="none" strike="noStrike" kern="1200" cap="none" spc="0" normalizeH="0" baseline="-25000" noProof="0" dirty="0">
                <a:ln>
                  <a:noFill/>
                </a:ln>
                <a:solidFill>
                  <a:srgbClr val="000000"/>
                </a:solidFill>
                <a:effectLst/>
                <a:uLnTx/>
                <a:uFillTx/>
                <a:latin typeface="Comic Sans MS"/>
                <a:ea typeface="+mn-ea"/>
                <a:cs typeface="+mn-cs"/>
              </a:rPr>
              <a:t>p</a:t>
            </a:r>
            <a:r>
              <a:rPr kumimoji="0"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a:t>
            </a:r>
            <a:r>
              <a:rPr kumimoji="0" lang="en-US" altLang="zh-CN" sz="1800" b="0" i="0" u="none" strike="noStrike" kern="1200" cap="none" spc="0" normalizeH="0" baseline="-25000" noProof="0" dirty="0">
                <a:ln>
                  <a:noFill/>
                </a:ln>
                <a:solidFill>
                  <a:srgbClr val="000000"/>
                </a:solidFill>
                <a:effectLst/>
                <a:uLnTx/>
                <a:uFillTx/>
                <a:latin typeface="Comic Sans MS"/>
                <a:ea typeface="+mn-ea"/>
                <a:cs typeface="+mn-cs"/>
              </a:rPr>
              <a:t>          </a:t>
            </a:r>
            <a:r>
              <a:rPr kumimoji="0" lang="zh-CN" altLang="en-US" sz="1800" b="0" i="0" u="none" strike="noStrike" kern="1200" cap="none" spc="0" normalizeH="0" baseline="0" noProof="0" dirty="0">
                <a:ln>
                  <a:noFill/>
                </a:ln>
                <a:solidFill>
                  <a:srgbClr val="000000"/>
                </a:solidFill>
                <a:effectLst/>
                <a:uLnTx/>
                <a:uFillTx/>
                <a:latin typeface="Comic Sans MS"/>
                <a:ea typeface="+mn-ea"/>
                <a:cs typeface="+mn-cs"/>
              </a:rPr>
              <a:t>通带波动</a:t>
            </a:r>
          </a:p>
        </p:txBody>
      </p:sp>
      <p:sp>
        <p:nvSpPr>
          <p:cNvPr id="55381" name="Text Box 85"/>
          <p:cNvSpPr txBox="1">
            <a:spLocks noChangeArrowheads="1"/>
          </p:cNvSpPr>
          <p:nvPr/>
        </p:nvSpPr>
        <p:spPr bwMode="auto">
          <a:xfrm>
            <a:off x="3952082" y="3745878"/>
            <a:ext cx="480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2800" b="0" i="1" u="none" strike="noStrike" kern="1200" cap="none" spc="0" normalizeH="0" baseline="0" noProof="0">
                <a:ln>
                  <a:noFill/>
                </a:ln>
                <a:solidFill>
                  <a:srgbClr val="000000"/>
                </a:solidFill>
                <a:effectLst/>
                <a:uLnTx/>
                <a:uFillTx/>
                <a:latin typeface="Symbol" panose="05050102010706020507" pitchFamily="18" charset="2"/>
                <a:ea typeface="+mn-ea"/>
                <a:cs typeface="+mn-cs"/>
              </a:rPr>
              <a:t>d </a:t>
            </a:r>
            <a:r>
              <a:rPr kumimoji="0" lang="en-US" altLang="zh-CN" sz="2800" b="0" i="1" u="none" strike="noStrike" kern="1200" cap="none" spc="0" normalizeH="0" baseline="-25000" noProof="0">
                <a:ln>
                  <a:noFill/>
                </a:ln>
                <a:solidFill>
                  <a:srgbClr val="000000"/>
                </a:solidFill>
                <a:effectLst/>
                <a:uLnTx/>
                <a:uFillTx/>
                <a:latin typeface="Comic Sans MS"/>
                <a:ea typeface="+mn-ea"/>
                <a:cs typeface="+mn-cs"/>
              </a:rPr>
              <a:t>s</a:t>
            </a:r>
            <a:r>
              <a:rPr kumimoji="0" lang="en-US" altLang="zh-CN" sz="1800" b="1" i="0" u="none" strike="noStrike" kern="1200" cap="none" spc="0" normalizeH="0" baseline="0" noProof="0">
                <a:ln>
                  <a:noFill/>
                </a:ln>
                <a:solidFill>
                  <a:srgbClr val="000000"/>
                </a:solidFill>
                <a:effectLst/>
                <a:uLnTx/>
                <a:uFillTx/>
                <a:latin typeface="Comic Sans MS"/>
                <a:ea typeface="+mn-ea"/>
                <a:cs typeface="+mn-cs"/>
              </a:rPr>
              <a:t>:</a:t>
            </a:r>
            <a:r>
              <a:rPr kumimoji="0" lang="en-US" altLang="zh-CN" sz="1800" b="0" i="0" u="none" strike="noStrike" kern="1200" cap="none" spc="0" normalizeH="0" baseline="-25000" noProof="0">
                <a:ln>
                  <a:noFill/>
                </a:ln>
                <a:solidFill>
                  <a:srgbClr val="000000"/>
                </a:solidFill>
                <a:effectLst/>
                <a:uLnTx/>
                <a:uFillTx/>
                <a:latin typeface="Comic Sans MS"/>
                <a:ea typeface="+mn-ea"/>
                <a:cs typeface="+mn-cs"/>
              </a:rPr>
              <a:t>          </a:t>
            </a:r>
            <a:r>
              <a:rPr kumimoji="0" lang="zh-CN" altLang="en-US" sz="1800" b="0" i="0" u="none" strike="noStrike" kern="1200" cap="none" spc="0" normalizeH="0" baseline="0" noProof="0">
                <a:ln>
                  <a:noFill/>
                </a:ln>
                <a:solidFill>
                  <a:srgbClr val="000000"/>
                </a:solidFill>
                <a:effectLst/>
                <a:uLnTx/>
                <a:uFillTx/>
                <a:latin typeface="Comic Sans MS"/>
                <a:ea typeface="+mn-ea"/>
                <a:cs typeface="+mn-cs"/>
              </a:rPr>
              <a:t>阻带波动</a:t>
            </a:r>
          </a:p>
        </p:txBody>
      </p:sp>
      <p:grpSp>
        <p:nvGrpSpPr>
          <p:cNvPr id="55382" name="Group 86"/>
          <p:cNvGrpSpPr>
            <a:grpSpLocks/>
          </p:cNvGrpSpPr>
          <p:nvPr/>
        </p:nvGrpSpPr>
        <p:grpSpPr bwMode="auto">
          <a:xfrm>
            <a:off x="2133600" y="5068888"/>
            <a:ext cx="6019800" cy="550862"/>
            <a:chOff x="384" y="2880"/>
            <a:chExt cx="3792" cy="347"/>
          </a:xfrm>
        </p:grpSpPr>
        <p:graphicFrame>
          <p:nvGraphicFramePr>
            <p:cNvPr id="55383" name="Object 87"/>
            <p:cNvGraphicFramePr>
              <a:graphicFrameLocks noChangeAspect="1"/>
            </p:cNvGraphicFramePr>
            <p:nvPr/>
          </p:nvGraphicFramePr>
          <p:xfrm>
            <a:off x="384" y="2880"/>
            <a:ext cx="2097" cy="347"/>
          </p:xfrm>
          <a:graphic>
            <a:graphicData uri="http://schemas.openxmlformats.org/presentationml/2006/ole">
              <mc:AlternateContent xmlns:mc="http://schemas.openxmlformats.org/markup-compatibility/2006">
                <mc:Choice xmlns:v="urn:schemas-microsoft-com:vml" Requires="v">
                  <p:oleObj spid="_x0000_s23562" name="公式" r:id="rId3" imgW="1447560" imgH="241200" progId="Equation.3">
                    <p:embed/>
                  </p:oleObj>
                </mc:Choice>
                <mc:Fallback>
                  <p:oleObj name="公式" r:id="rId3" imgW="1447560" imgH="241200" progId="Equation.3">
                    <p:embed/>
                    <p:pic>
                      <p:nvPicPr>
                        <p:cNvPr id="55383" name="Object 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 y="2880"/>
                          <a:ext cx="2097"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84" name="Text Box 88"/>
            <p:cNvSpPr txBox="1">
              <a:spLocks noChangeArrowheads="1"/>
            </p:cNvSpPr>
            <p:nvPr/>
          </p:nvSpPr>
          <p:spPr bwMode="auto">
            <a:xfrm>
              <a:off x="2544" y="2880"/>
              <a:ext cx="16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Comic Sans MS"/>
                  <a:ea typeface="+mn-ea"/>
                  <a:cs typeface="+mn-cs"/>
                </a:rPr>
                <a:t>通带衰减</a:t>
              </a:r>
              <a:r>
                <a:rPr kumimoji="0" lang="en-US" altLang="zh-CN" sz="1800" b="0" i="0" u="none" strike="noStrike" kern="1200" cap="none" spc="0" normalizeH="0" baseline="0" noProof="0" dirty="0">
                  <a:ln>
                    <a:noFill/>
                  </a:ln>
                  <a:solidFill>
                    <a:srgbClr val="000000"/>
                  </a:solidFill>
                  <a:effectLst/>
                  <a:uLnTx/>
                  <a:uFillTx/>
                  <a:latin typeface="Comic Sans MS"/>
                  <a:ea typeface="+mn-ea"/>
                  <a:cs typeface="+mn-cs"/>
                </a:rPr>
                <a:t>(dB)</a:t>
              </a:r>
            </a:p>
          </p:txBody>
        </p:sp>
      </p:grpSp>
      <p:grpSp>
        <p:nvGrpSpPr>
          <p:cNvPr id="55385" name="Group 89"/>
          <p:cNvGrpSpPr>
            <a:grpSpLocks/>
          </p:cNvGrpSpPr>
          <p:nvPr/>
        </p:nvGrpSpPr>
        <p:grpSpPr bwMode="auto">
          <a:xfrm>
            <a:off x="2057400" y="5772156"/>
            <a:ext cx="5486400" cy="525463"/>
            <a:chOff x="336" y="3312"/>
            <a:chExt cx="3456" cy="331"/>
          </a:xfrm>
        </p:grpSpPr>
        <p:graphicFrame>
          <p:nvGraphicFramePr>
            <p:cNvPr id="55386" name="Object 90"/>
            <p:cNvGraphicFramePr>
              <a:graphicFrameLocks noChangeAspect="1"/>
            </p:cNvGraphicFramePr>
            <p:nvPr/>
          </p:nvGraphicFramePr>
          <p:xfrm>
            <a:off x="336" y="3312"/>
            <a:ext cx="1601" cy="331"/>
          </p:xfrm>
          <a:graphic>
            <a:graphicData uri="http://schemas.openxmlformats.org/presentationml/2006/ole">
              <mc:AlternateContent xmlns:mc="http://schemas.openxmlformats.org/markup-compatibility/2006">
                <mc:Choice xmlns:v="urn:schemas-microsoft-com:vml" Requires="v">
                  <p:oleObj spid="_x0000_s23563" name="公式" r:id="rId5" imgW="1104840" imgH="228600" progId="Equation.3">
                    <p:embed/>
                  </p:oleObj>
                </mc:Choice>
                <mc:Fallback>
                  <p:oleObj name="公式" r:id="rId5" imgW="1104840" imgH="228600" progId="Equation.3">
                    <p:embed/>
                    <p:pic>
                      <p:nvPicPr>
                        <p:cNvPr id="55386" name="Object 9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 y="3312"/>
                          <a:ext cx="1601"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87" name="Text Box 91"/>
            <p:cNvSpPr txBox="1">
              <a:spLocks noChangeArrowheads="1"/>
            </p:cNvSpPr>
            <p:nvPr/>
          </p:nvSpPr>
          <p:spPr bwMode="auto">
            <a:xfrm>
              <a:off x="2544" y="3360"/>
              <a:ext cx="124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Comic Sans MS"/>
                  <a:ea typeface="+mn-ea"/>
                  <a:cs typeface="+mn-cs"/>
                </a:rPr>
                <a:t>阻带衰减</a:t>
              </a:r>
              <a:r>
                <a:rPr kumimoji="0" lang="en-US" altLang="zh-CN" sz="1800" b="0" i="0" u="none" strike="noStrike" kern="1200" cap="none" spc="0" normalizeH="0" baseline="0" noProof="0">
                  <a:ln>
                    <a:noFill/>
                  </a:ln>
                  <a:solidFill>
                    <a:srgbClr val="000000"/>
                  </a:solidFill>
                  <a:effectLst/>
                  <a:uLnTx/>
                  <a:uFillTx/>
                  <a:latin typeface="Comic Sans MS"/>
                  <a:ea typeface="+mn-ea"/>
                  <a:cs typeface="+mn-cs"/>
                </a:rPr>
                <a:t>(dB)</a:t>
              </a:r>
            </a:p>
          </p:txBody>
        </p:sp>
      </p:grpSp>
      <p:pic>
        <p:nvPicPr>
          <p:cNvPr id="93" name="图片 92"/>
          <p:cNvPicPr>
            <a:picLocks noChangeAspect="1"/>
          </p:cNvPicPr>
          <p:nvPr/>
        </p:nvPicPr>
        <p:blipFill>
          <a:blip r:embed="rId7"/>
          <a:stretch>
            <a:fillRect/>
          </a:stretch>
        </p:blipFill>
        <p:spPr>
          <a:xfrm>
            <a:off x="140457" y="2125398"/>
            <a:ext cx="3510739" cy="1401762"/>
          </a:xfrm>
          <a:prstGeom prst="rect">
            <a:avLst/>
          </a:prstGeom>
        </p:spPr>
      </p:pic>
      <p:pic>
        <p:nvPicPr>
          <p:cNvPr id="94" name="图片 93"/>
          <p:cNvPicPr>
            <a:picLocks noChangeAspect="1"/>
          </p:cNvPicPr>
          <p:nvPr/>
        </p:nvPicPr>
        <p:blipFill>
          <a:blip r:embed="rId8"/>
          <a:stretch>
            <a:fillRect/>
          </a:stretch>
        </p:blipFill>
        <p:spPr>
          <a:xfrm>
            <a:off x="353204" y="3918759"/>
            <a:ext cx="3135234" cy="800071"/>
          </a:xfrm>
          <a:prstGeom prst="rect">
            <a:avLst/>
          </a:prstGeom>
        </p:spPr>
      </p:pic>
    </p:spTree>
    <p:extLst>
      <p:ext uri="{BB962C8B-B14F-4D97-AF65-F5344CB8AC3E}">
        <p14:creationId xmlns:p14="http://schemas.microsoft.com/office/powerpoint/2010/main" val="1762510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5374"/>
                                        </p:tgtEl>
                                        <p:attrNameLst>
                                          <p:attrName>style.visibility</p:attrName>
                                        </p:attrNameLst>
                                      </p:cBhvr>
                                      <p:to>
                                        <p:strVal val="visible"/>
                                      </p:to>
                                    </p:set>
                                    <p:anim calcmode="lin" valueType="num">
                                      <p:cBhvr additive="base">
                                        <p:cTn id="7" dur="500" fill="hold"/>
                                        <p:tgtEl>
                                          <p:spTgt spid="55374"/>
                                        </p:tgtEl>
                                        <p:attrNameLst>
                                          <p:attrName>ppt_x</p:attrName>
                                        </p:attrNameLst>
                                      </p:cBhvr>
                                      <p:tavLst>
                                        <p:tav tm="0">
                                          <p:val>
                                            <p:strVal val="0-#ppt_w/2"/>
                                          </p:val>
                                        </p:tav>
                                        <p:tav tm="100000">
                                          <p:val>
                                            <p:strVal val="#ppt_x"/>
                                          </p:val>
                                        </p:tav>
                                      </p:tavLst>
                                    </p:anim>
                                    <p:anim calcmode="lin" valueType="num">
                                      <p:cBhvr additive="base">
                                        <p:cTn id="8" dur="500" fill="hold"/>
                                        <p:tgtEl>
                                          <p:spTgt spid="553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379"/>
                                        </p:tgtEl>
                                        <p:attrNameLst>
                                          <p:attrName>style.visibility</p:attrName>
                                        </p:attrNameLst>
                                      </p:cBhvr>
                                      <p:to>
                                        <p:strVal val="visible"/>
                                      </p:to>
                                    </p:set>
                                    <p:anim calcmode="lin" valueType="num">
                                      <p:cBhvr additive="base">
                                        <p:cTn id="13" dur="500" fill="hold"/>
                                        <p:tgtEl>
                                          <p:spTgt spid="55379"/>
                                        </p:tgtEl>
                                        <p:attrNameLst>
                                          <p:attrName>ppt_x</p:attrName>
                                        </p:attrNameLst>
                                      </p:cBhvr>
                                      <p:tavLst>
                                        <p:tav tm="0">
                                          <p:val>
                                            <p:strVal val="0-#ppt_w/2"/>
                                          </p:val>
                                        </p:tav>
                                        <p:tav tm="100000">
                                          <p:val>
                                            <p:strVal val="#ppt_x"/>
                                          </p:val>
                                        </p:tav>
                                      </p:tavLst>
                                    </p:anim>
                                    <p:anim calcmode="lin" valueType="num">
                                      <p:cBhvr additive="base">
                                        <p:cTn id="14" dur="500" fill="hold"/>
                                        <p:tgtEl>
                                          <p:spTgt spid="5537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5380"/>
                                        </p:tgtEl>
                                        <p:attrNameLst>
                                          <p:attrName>style.visibility</p:attrName>
                                        </p:attrNameLst>
                                      </p:cBhvr>
                                      <p:to>
                                        <p:strVal val="visible"/>
                                      </p:to>
                                    </p:set>
                                    <p:anim calcmode="lin" valueType="num">
                                      <p:cBhvr additive="base">
                                        <p:cTn id="19" dur="500" fill="hold"/>
                                        <p:tgtEl>
                                          <p:spTgt spid="55380"/>
                                        </p:tgtEl>
                                        <p:attrNameLst>
                                          <p:attrName>ppt_x</p:attrName>
                                        </p:attrNameLst>
                                      </p:cBhvr>
                                      <p:tavLst>
                                        <p:tav tm="0">
                                          <p:val>
                                            <p:strVal val="0-#ppt_w/2"/>
                                          </p:val>
                                        </p:tav>
                                        <p:tav tm="100000">
                                          <p:val>
                                            <p:strVal val="#ppt_x"/>
                                          </p:val>
                                        </p:tav>
                                      </p:tavLst>
                                    </p:anim>
                                    <p:anim calcmode="lin" valueType="num">
                                      <p:cBhvr additive="base">
                                        <p:cTn id="20" dur="500" fill="hold"/>
                                        <p:tgtEl>
                                          <p:spTgt spid="5538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5381"/>
                                        </p:tgtEl>
                                        <p:attrNameLst>
                                          <p:attrName>style.visibility</p:attrName>
                                        </p:attrNameLst>
                                      </p:cBhvr>
                                      <p:to>
                                        <p:strVal val="visible"/>
                                      </p:to>
                                    </p:set>
                                    <p:anim calcmode="lin" valueType="num">
                                      <p:cBhvr additive="base">
                                        <p:cTn id="25" dur="500" fill="hold"/>
                                        <p:tgtEl>
                                          <p:spTgt spid="55381"/>
                                        </p:tgtEl>
                                        <p:attrNameLst>
                                          <p:attrName>ppt_x</p:attrName>
                                        </p:attrNameLst>
                                      </p:cBhvr>
                                      <p:tavLst>
                                        <p:tav tm="0">
                                          <p:val>
                                            <p:strVal val="0-#ppt_w/2"/>
                                          </p:val>
                                        </p:tav>
                                        <p:tav tm="100000">
                                          <p:val>
                                            <p:strVal val="#ppt_x"/>
                                          </p:val>
                                        </p:tav>
                                      </p:tavLst>
                                    </p:anim>
                                    <p:anim calcmode="lin" valueType="num">
                                      <p:cBhvr additive="base">
                                        <p:cTn id="26" dur="500" fill="hold"/>
                                        <p:tgtEl>
                                          <p:spTgt spid="5538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55382"/>
                                        </p:tgtEl>
                                        <p:attrNameLst>
                                          <p:attrName>style.visibility</p:attrName>
                                        </p:attrNameLst>
                                      </p:cBhvr>
                                      <p:to>
                                        <p:strVal val="visible"/>
                                      </p:to>
                                    </p:set>
                                    <p:anim calcmode="lin" valueType="num">
                                      <p:cBhvr additive="base">
                                        <p:cTn id="31" dur="500" fill="hold"/>
                                        <p:tgtEl>
                                          <p:spTgt spid="55382"/>
                                        </p:tgtEl>
                                        <p:attrNameLst>
                                          <p:attrName>ppt_x</p:attrName>
                                        </p:attrNameLst>
                                      </p:cBhvr>
                                      <p:tavLst>
                                        <p:tav tm="0">
                                          <p:val>
                                            <p:strVal val="0-#ppt_w/2"/>
                                          </p:val>
                                        </p:tav>
                                        <p:tav tm="100000">
                                          <p:val>
                                            <p:strVal val="#ppt_x"/>
                                          </p:val>
                                        </p:tav>
                                      </p:tavLst>
                                    </p:anim>
                                    <p:anim calcmode="lin" valueType="num">
                                      <p:cBhvr additive="base">
                                        <p:cTn id="32" dur="500" fill="hold"/>
                                        <p:tgtEl>
                                          <p:spTgt spid="5538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55385"/>
                                        </p:tgtEl>
                                        <p:attrNameLst>
                                          <p:attrName>style.visibility</p:attrName>
                                        </p:attrNameLst>
                                      </p:cBhvr>
                                      <p:to>
                                        <p:strVal val="visible"/>
                                      </p:to>
                                    </p:set>
                                    <p:anim calcmode="lin" valueType="num">
                                      <p:cBhvr additive="base">
                                        <p:cTn id="37" dur="500" fill="hold"/>
                                        <p:tgtEl>
                                          <p:spTgt spid="55385"/>
                                        </p:tgtEl>
                                        <p:attrNameLst>
                                          <p:attrName>ppt_x</p:attrName>
                                        </p:attrNameLst>
                                      </p:cBhvr>
                                      <p:tavLst>
                                        <p:tav tm="0">
                                          <p:val>
                                            <p:strVal val="0-#ppt_w/2"/>
                                          </p:val>
                                        </p:tav>
                                        <p:tav tm="100000">
                                          <p:val>
                                            <p:strVal val="#ppt_x"/>
                                          </p:val>
                                        </p:tav>
                                      </p:tavLst>
                                    </p:anim>
                                    <p:anim calcmode="lin" valueType="num">
                                      <p:cBhvr additive="base">
                                        <p:cTn id="38" dur="500" fill="hold"/>
                                        <p:tgtEl>
                                          <p:spTgt spid="553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79" grpId="0" autoUpdateAnimBg="0"/>
      <p:bldP spid="55380" grpId="0" autoUpdateAnimBg="0"/>
      <p:bldP spid="5538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a:xfrm>
            <a:off x="2819400" y="457200"/>
            <a:ext cx="7239000" cy="914400"/>
          </a:xfrm>
        </p:spPr>
        <p:txBody>
          <a:bodyPr/>
          <a:lstStyle/>
          <a:p>
            <a:r>
              <a:rPr lang="en-US" altLang="zh-CN" dirty="0" smtClean="0">
                <a:ea typeface="宋体" panose="02010600030101010101" pitchFamily="2" charset="-122"/>
              </a:rPr>
              <a:t>6.3 </a:t>
            </a:r>
            <a:r>
              <a:rPr lang="zh-CN" altLang="en-US" dirty="0" smtClean="0">
                <a:ea typeface="宋体" panose="02010600030101010101" pitchFamily="2" charset="-122"/>
              </a:rPr>
              <a:t>常用模拟低通滤波器的设计方法 </a:t>
            </a:r>
          </a:p>
        </p:txBody>
      </p:sp>
      <p:sp>
        <p:nvSpPr>
          <p:cNvPr id="12595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C472BBB-5040-4AF7-A1E3-1BFBD5B9B38E}" type="slidenum">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5956" name="Text Box 5"/>
          <p:cNvSpPr txBox="1">
            <a:spLocks noChangeArrowheads="1"/>
          </p:cNvSpPr>
          <p:nvPr/>
        </p:nvSpPr>
        <p:spPr bwMode="auto">
          <a:xfrm>
            <a:off x="1752600" y="1539876"/>
            <a:ext cx="778033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just" defTabSz="914400" rtl="0" eaLnBrk="1" fontAlgn="base" latinLnBrk="0" hangingPunct="1">
              <a:lnSpc>
                <a:spcPct val="138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常用的模拟原型滤波器有巴特沃思（</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Butterworth</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）滤波器。</a:t>
            </a:r>
          </a:p>
        </p:txBody>
      </p:sp>
      <p:sp>
        <p:nvSpPr>
          <p:cNvPr id="125957" name="Text Box 4"/>
          <p:cNvSpPr txBox="1">
            <a:spLocks noChangeArrowheads="1"/>
          </p:cNvSpPr>
          <p:nvPr/>
        </p:nvSpPr>
        <p:spPr bwMode="auto">
          <a:xfrm>
            <a:off x="1812925" y="1909763"/>
            <a:ext cx="742950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6.3.1 </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由幅度平方函数来确定系统函数</a:t>
            </a:r>
          </a:p>
          <a:p>
            <a:pPr marL="0" marR="0" lvl="0" indent="0" algn="l" defTabSz="914400" rtl="0" eaLnBrk="1" fontAlgn="base" latinLnBrk="0" hangingPunct="1">
              <a:lnSpc>
                <a:spcPct val="150000"/>
              </a:lnSpc>
              <a:spcBef>
                <a:spcPct val="0"/>
              </a:spcBef>
              <a:spcAft>
                <a:spcPct val="0"/>
              </a:spcAft>
              <a:buClrTx/>
              <a:buSzTx/>
              <a:buFontTx/>
              <a:buNone/>
              <a:tabLst/>
              <a:defRPr/>
            </a:pP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模拟滤波器幅度响应常用幅度平方函数</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Ω</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0" u="none" strike="noStrike" kern="1200" cap="none" spc="0" normalizeH="0" baseline="3000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来表示，即 </a:t>
            </a:r>
          </a:p>
        </p:txBody>
      </p:sp>
      <p:graphicFrame>
        <p:nvGraphicFramePr>
          <p:cNvPr id="125958" name="Object 5"/>
          <p:cNvGraphicFramePr>
            <a:graphicFrameLocks noChangeAspect="1"/>
          </p:cNvGraphicFramePr>
          <p:nvPr/>
        </p:nvGraphicFramePr>
        <p:xfrm>
          <a:off x="3810000" y="3048000"/>
          <a:ext cx="4038600" cy="539750"/>
        </p:xfrm>
        <a:graphic>
          <a:graphicData uri="http://schemas.openxmlformats.org/presentationml/2006/ole">
            <mc:AlternateContent xmlns:mc="http://schemas.openxmlformats.org/markup-compatibility/2006">
              <mc:Choice xmlns:v="urn:schemas-microsoft-com:vml" Requires="v">
                <p:oleObj spid="_x0000_s14401" name="Equation" r:id="rId3" imgW="1803400" imgH="241300" progId="Equation.3">
                  <p:embed/>
                </p:oleObj>
              </mc:Choice>
              <mc:Fallback>
                <p:oleObj name="Equation" r:id="rId3" imgW="1803400" imgH="241300" progId="Equation.3">
                  <p:embed/>
                  <p:pic>
                    <p:nvPicPr>
                      <p:cNvPr id="125958"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3048000"/>
                        <a:ext cx="40386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5959" name="Text Box 6"/>
          <p:cNvSpPr txBox="1">
            <a:spLocks noChangeArrowheads="1"/>
          </p:cNvSpPr>
          <p:nvPr/>
        </p:nvSpPr>
        <p:spPr bwMode="auto">
          <a:xfrm>
            <a:off x="2214564" y="3581401"/>
            <a:ext cx="6091237"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由于滤波器冲激响应</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是实函数，因而</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Ω</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满足 </a:t>
            </a:r>
          </a:p>
        </p:txBody>
      </p:sp>
      <p:graphicFrame>
        <p:nvGraphicFramePr>
          <p:cNvPr id="125960" name="Object 7"/>
          <p:cNvGraphicFramePr>
            <a:graphicFrameLocks noChangeAspect="1"/>
          </p:cNvGraphicFramePr>
          <p:nvPr/>
        </p:nvGraphicFramePr>
        <p:xfrm>
          <a:off x="4419601" y="4114800"/>
          <a:ext cx="2805113" cy="533400"/>
        </p:xfrm>
        <a:graphic>
          <a:graphicData uri="http://schemas.openxmlformats.org/presentationml/2006/ole">
            <mc:AlternateContent xmlns:mc="http://schemas.openxmlformats.org/markup-compatibility/2006">
              <mc:Choice xmlns:v="urn:schemas-microsoft-com:vml" Requires="v">
                <p:oleObj spid="_x0000_s14402" name="Equation" r:id="rId5" imgW="1269449" imgH="241195" progId="Equation.3">
                  <p:embed/>
                </p:oleObj>
              </mc:Choice>
              <mc:Fallback>
                <p:oleObj name="Equation" r:id="rId5" imgW="1269449" imgH="241195" progId="Equation.3">
                  <p:embed/>
                  <p:pic>
                    <p:nvPicPr>
                      <p:cNvPr id="12596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1" y="4114800"/>
                        <a:ext cx="28051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5961" name="Text Box 8"/>
          <p:cNvSpPr txBox="1">
            <a:spLocks noChangeArrowheads="1"/>
          </p:cNvSpPr>
          <p:nvPr/>
        </p:nvSpPr>
        <p:spPr bwMode="auto">
          <a:xfrm>
            <a:off x="1901826" y="4800600"/>
            <a:ext cx="7651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所以 </a:t>
            </a:r>
          </a:p>
        </p:txBody>
      </p:sp>
      <p:graphicFrame>
        <p:nvGraphicFramePr>
          <p:cNvPr id="125962" name="Object 9"/>
          <p:cNvGraphicFramePr>
            <a:graphicFrameLocks noChangeAspect="1"/>
          </p:cNvGraphicFramePr>
          <p:nvPr/>
        </p:nvGraphicFramePr>
        <p:xfrm>
          <a:off x="2743200" y="4779964"/>
          <a:ext cx="6858000" cy="554037"/>
        </p:xfrm>
        <a:graphic>
          <a:graphicData uri="http://schemas.openxmlformats.org/presentationml/2006/ole">
            <mc:AlternateContent xmlns:mc="http://schemas.openxmlformats.org/markup-compatibility/2006">
              <mc:Choice xmlns:v="urn:schemas-microsoft-com:vml" Requires="v">
                <p:oleObj spid="_x0000_s14403" name="Equation" r:id="rId7" imgW="3136900" imgH="254000" progId="Equation.3">
                  <p:embed/>
                </p:oleObj>
              </mc:Choice>
              <mc:Fallback>
                <p:oleObj name="Equation" r:id="rId7" imgW="3136900" imgH="254000" progId="Equation.3">
                  <p:embed/>
                  <p:pic>
                    <p:nvPicPr>
                      <p:cNvPr id="125962"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4779964"/>
                        <a:ext cx="6858000"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63" name="Text Box 11"/>
          <p:cNvSpPr txBox="1">
            <a:spLocks noChangeArrowheads="1"/>
          </p:cNvSpPr>
          <p:nvPr/>
        </p:nvSpPr>
        <p:spPr bwMode="auto">
          <a:xfrm>
            <a:off x="1676400" y="5459414"/>
            <a:ext cx="8839200"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just" defTabSz="914400" rtl="0" eaLnBrk="1" fontAlgn="base" latinLnBrk="0" hangingPunct="1">
              <a:lnSpc>
                <a:spcPct val="138000"/>
              </a:lnSpc>
              <a:spcBef>
                <a:spcPct val="50000"/>
              </a:spcBef>
              <a:spcAft>
                <a:spcPct val="0"/>
              </a:spcAft>
              <a:buClrTx/>
              <a:buSzTx/>
              <a:buFontTx/>
              <a:buNone/>
              <a:tabLst/>
              <a:defRPr/>
            </a:pP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式中，</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是模拟滤波器的系统函数，它是</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的有理函数</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(jΩ)</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是滤波器的频率响应特性； </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Ω</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是滤波器的幅度特性。 </a:t>
            </a:r>
          </a:p>
        </p:txBody>
      </p:sp>
    </p:spTree>
    <p:extLst>
      <p:ext uri="{BB962C8B-B14F-4D97-AF65-F5344CB8AC3E}">
        <p14:creationId xmlns:p14="http://schemas.microsoft.com/office/powerpoint/2010/main" val="1682959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1"/>
          <p:cNvSpPr>
            <a:spLocks noGrp="1"/>
          </p:cNvSpPr>
          <p:nvPr>
            <p:ph type="title"/>
          </p:nvPr>
        </p:nvSpPr>
        <p:spPr>
          <a:xfrm>
            <a:off x="2667000" y="457200"/>
            <a:ext cx="7391400" cy="914400"/>
          </a:xfrm>
        </p:spPr>
        <p:txBody>
          <a:bodyPr/>
          <a:lstStyle/>
          <a:p>
            <a:r>
              <a:rPr lang="en-US" altLang="zh-CN" smtClean="0">
                <a:ea typeface="宋体" panose="02010600030101010101" pitchFamily="2" charset="-122"/>
              </a:rPr>
              <a:t>6.3.1 </a:t>
            </a:r>
            <a:r>
              <a:rPr lang="zh-CN" altLang="en-US" smtClean="0">
                <a:ea typeface="宋体" panose="02010600030101010101" pitchFamily="2" charset="-122"/>
              </a:rPr>
              <a:t>由幅度平方函数来确定系统函数</a:t>
            </a:r>
          </a:p>
        </p:txBody>
      </p:sp>
      <p:sp>
        <p:nvSpPr>
          <p:cNvPr id="12697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EE3D759-CDDA-45E1-8890-70CA31A2686E}" type="slidenum">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6980" name="Text Box 3"/>
          <p:cNvSpPr txBox="1">
            <a:spLocks noChangeArrowheads="1"/>
          </p:cNvSpPr>
          <p:nvPr/>
        </p:nvSpPr>
        <p:spPr bwMode="auto">
          <a:xfrm>
            <a:off x="3830638" y="5943601"/>
            <a:ext cx="401796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tx1"/>
                </a:solidFill>
                <a:latin typeface="Comic Sans MS" panose="030F0702030302020204" pitchFamily="66" charset="0"/>
                <a:ea typeface="宋体" panose="02010600030101010101" pitchFamily="2" charset="-122"/>
              </a:defRPr>
            </a:lvl1pPr>
            <a:lvl2pPr marL="742950" indent="-285750">
              <a:defRPr sz="2000" b="1">
                <a:solidFill>
                  <a:schemeClr val="tx1"/>
                </a:solidFill>
                <a:latin typeface="Comic Sans MS" panose="030F0702030302020204" pitchFamily="66" charset="0"/>
                <a:ea typeface="宋体" panose="02010600030101010101" pitchFamily="2" charset="-122"/>
              </a:defRPr>
            </a:lvl2pPr>
            <a:lvl3pPr marL="1143000" indent="-228600">
              <a:defRPr sz="2000" b="1">
                <a:solidFill>
                  <a:schemeClr val="tx1"/>
                </a:solidFill>
                <a:latin typeface="Comic Sans MS" panose="030F0702030302020204" pitchFamily="66" charset="0"/>
                <a:ea typeface="宋体" panose="02010600030101010101" pitchFamily="2" charset="-122"/>
              </a:defRPr>
            </a:lvl3pPr>
            <a:lvl4pPr marL="1600200" indent="-228600">
              <a:defRPr sz="2000" b="1">
                <a:solidFill>
                  <a:schemeClr val="tx1"/>
                </a:solidFill>
                <a:latin typeface="Comic Sans MS" panose="030F0702030302020204" pitchFamily="66" charset="0"/>
                <a:ea typeface="宋体" panose="02010600030101010101" pitchFamily="2" charset="-122"/>
              </a:defRPr>
            </a:lvl4pPr>
            <a:lvl5pPr marL="2057400" indent="-228600">
              <a:defRPr sz="20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的极、零点分布 </a:t>
            </a:r>
          </a:p>
        </p:txBody>
      </p:sp>
      <p:pic>
        <p:nvPicPr>
          <p:cNvPr id="126981" name="Picture 5" descr="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3339" y="1809750"/>
            <a:ext cx="3944937"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56724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2766"/>
  <p:tag name="KSO_WM_TAG_VERSION" val="1.0"/>
  <p:tag name="KSO_WM_SLIDE_ID" val="custom20182766_12"/>
  <p:tag name="KSO_WM_SLIDE_INDEX" val="12"/>
  <p:tag name="KSO_WM_SLIDE_ITEM_CNT" val="2"/>
  <p:tag name="KSO_WM_SLIDE_LAYOUT" val="a_b"/>
  <p:tag name="KSO_WM_SLIDE_LAYOUT_CNT" val="1_1"/>
  <p:tag name="KSO_WM_SLIDE_TYPE" val="sectionTitle"/>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2766"/>
  <p:tag name="KSO_WM_UNIT_TYPE" val="a"/>
  <p:tag name="KSO_WM_UNIT_INDEX" val="1"/>
  <p:tag name="KSO_WM_UNIT_ID" val="custom20182766_12*a*1"/>
  <p:tag name="KSO_WM_UNIT_LAYERLEVEL" val="1"/>
  <p:tag name="KSO_WM_UNIT_VALUE" val="9"/>
  <p:tag name="KSO_WM_UNIT_ISCONTENTSTITLE" val="0"/>
  <p:tag name="KSO_WM_UNIT_HIGHLIGHT" val="0"/>
  <p:tag name="KSO_WM_UNIT_COMPATIBLE" val="0"/>
  <p:tag name="KSO_WM_UNIT_CLEAR" val="0"/>
  <p:tag name="KSO_WM_BEAUTIFY_FLAG" val="#wm#"/>
  <p:tag name="KSO_WM_TAG_VERSION" val="1.0"/>
  <p:tag name="KSO_WM_UNIT_PRESET_TEXT" val="SECTION TITLE"/>
</p:tagLst>
</file>

<file path=ppt/theme/theme1.xml><?xml version="1.0" encoding="utf-8"?>
<a:theme xmlns:a="http://schemas.openxmlformats.org/drawingml/2006/main" name="icfp99">
  <a:themeElements>
    <a:clrScheme name="icfp99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icfp99">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Comic Sans MS" pitchFamily="66"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Comic Sans MS" pitchFamily="66" charset="0"/>
            <a:ea typeface="宋体" pitchFamily="2" charset="-122"/>
          </a:defRPr>
        </a:defPPr>
      </a:lstStyle>
    </a:lnDef>
  </a:objectDefaults>
  <a:extraClrSchemeLst>
    <a:extraClrScheme>
      <a:clrScheme name="icfp99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cfp99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cfp99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cfp99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cfp9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cfp9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cfp9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icfp99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TotalTime>
  <Words>1148</Words>
  <Application>Microsoft Office PowerPoint</Application>
  <PresentationFormat>宽屏</PresentationFormat>
  <Paragraphs>176</Paragraphs>
  <Slides>30</Slides>
  <Notes>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30</vt:i4>
      </vt:variant>
    </vt:vector>
  </HeadingPairs>
  <TitlesOfParts>
    <vt:vector size="46" baseType="lpstr">
      <vt:lpstr>等线</vt:lpstr>
      <vt:lpstr>微软雅黑</vt:lpstr>
      <vt:lpstr>黑体</vt:lpstr>
      <vt:lpstr>宋体</vt:lpstr>
      <vt:lpstr>华文中宋</vt:lpstr>
      <vt:lpstr>Arial</vt:lpstr>
      <vt:lpstr>Calibri</vt:lpstr>
      <vt:lpstr>Comic Sans MS</vt:lpstr>
      <vt:lpstr>Courier New</vt:lpstr>
      <vt:lpstr>Symbol</vt:lpstr>
      <vt:lpstr>Times New Roman</vt:lpstr>
      <vt:lpstr>Wingdings</vt:lpstr>
      <vt:lpstr>icfp99</vt:lpstr>
      <vt:lpstr>Equation</vt:lpstr>
      <vt:lpstr>公式</vt:lpstr>
      <vt:lpstr>Visio</vt:lpstr>
      <vt:lpstr>FFT</vt:lpstr>
      <vt:lpstr>复习</vt:lpstr>
      <vt:lpstr>DIT-FFT</vt:lpstr>
      <vt:lpstr>PowerPoint 演示文稿</vt:lpstr>
      <vt:lpstr>基2时间抽取FFT算法</vt:lpstr>
      <vt:lpstr>按时间抽取的FFT算法的特点</vt:lpstr>
      <vt:lpstr>按时间抽取的FFT算法的特点</vt:lpstr>
      <vt:lpstr>按时间抽取的FFT算法的特点</vt:lpstr>
      <vt:lpstr>按时间抽取的FFT算法的特点</vt:lpstr>
      <vt:lpstr>按时间抽取（DIT）基2的FFT算法</vt:lpstr>
      <vt:lpstr>PowerPoint 演示文稿</vt:lpstr>
      <vt:lpstr>PowerPoint 演示文稿</vt:lpstr>
      <vt:lpstr>5.3按频率抽取（DIF）的基 -2 FFT算法</vt:lpstr>
      <vt:lpstr>5.3按频率抽取（DIF）的基 -2 FFT算法</vt:lpstr>
      <vt:lpstr>5.3按频率抽取（DIF）的基 -2 FFT算法</vt:lpstr>
      <vt:lpstr>5.3按频率抽取（DIF）的基 -2 FFT算法</vt:lpstr>
      <vt:lpstr>5.3按频率抽取（DIF）的基 -2 FFT算法</vt:lpstr>
      <vt:lpstr>5.3按频率抽取（DIF）的基 -2 FFT算法</vt:lpstr>
      <vt:lpstr>PowerPoint 演示文稿</vt:lpstr>
      <vt:lpstr>第5章 作业</vt:lpstr>
      <vt:lpstr>第6章 前几章节知识 有理系统的单位脉冲响应（IIR,FIR长度分类）</vt:lpstr>
      <vt:lpstr>第6章 前几章节知识 Z变换与拉氏变换的关系</vt:lpstr>
      <vt:lpstr>第6章 IIR数字滤波器的设计方法 </vt:lpstr>
      <vt:lpstr>6.1.1 选频滤波器的分类-总结</vt:lpstr>
      <vt:lpstr>6.1.3 滤波器的设计步骤 </vt:lpstr>
      <vt:lpstr>6.2  IIR滤波器设计的特点 </vt:lpstr>
      <vt:lpstr>6.2  IIR滤波器设计的特点 </vt:lpstr>
      <vt:lpstr>PowerPoint 演示文稿</vt:lpstr>
      <vt:lpstr>6.3 常用模拟低通滤波器的设计方法 </vt:lpstr>
      <vt:lpstr>6.3.1 由幅度平方函数来确定系统函数</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快速傅立叶变换（FFT）</dc:title>
  <dc:creator>Administrator</dc:creator>
  <cp:lastModifiedBy>CHAO WU</cp:lastModifiedBy>
  <cp:revision>36</cp:revision>
  <dcterms:created xsi:type="dcterms:W3CDTF">2020-08-06T07:33:49Z</dcterms:created>
  <dcterms:modified xsi:type="dcterms:W3CDTF">2022-11-06T13:10:42Z</dcterms:modified>
</cp:coreProperties>
</file>