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22" r:id="rId2"/>
  </p:sldMasterIdLst>
  <p:notesMasterIdLst>
    <p:notesMasterId r:id="rId19"/>
  </p:notesMasterIdLst>
  <p:sldIdLst>
    <p:sldId id="384" r:id="rId3"/>
    <p:sldId id="385" r:id="rId4"/>
    <p:sldId id="390" r:id="rId5"/>
    <p:sldId id="393" r:id="rId6"/>
    <p:sldId id="394" r:id="rId7"/>
    <p:sldId id="391" r:id="rId8"/>
    <p:sldId id="395" r:id="rId9"/>
    <p:sldId id="396" r:id="rId10"/>
    <p:sldId id="397" r:id="rId11"/>
    <p:sldId id="403" r:id="rId12"/>
    <p:sldId id="404" r:id="rId13"/>
    <p:sldId id="399" r:id="rId14"/>
    <p:sldId id="400" r:id="rId15"/>
    <p:sldId id="401" r:id="rId16"/>
    <p:sldId id="398" r:id="rId17"/>
    <p:sldId id="40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6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704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02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B89419-C344-40C6-B4AF-B64360F5EC6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0EC15D-9C77-4188-80FD-534CB4D625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60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009DD4-B744-4A5A-9BCF-2BE1219C878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5375B-8E09-4DD8-A950-D279B55D1AF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4607E7-4DB9-45E5-BF73-16A5A03CEE1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3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A3D01B-CED5-4F8A-B6C8-7E3E79320ED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40AEE6-7319-4B5B-93D0-3548900E185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98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40ECF-C06C-4365-A82F-7FCF58AB17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916CC5-3ED3-4E00-85B5-005DC67C0A9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50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378D-529B-499C-888D-96616A7FD7B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7B3999-57F6-416E-A1A2-5253D300C46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C2F7E0-74B7-4DF6-835D-211E54381D8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88483-54E8-444F-A583-0A553B1CE94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21B5CF-6445-489A-A45C-4EC7F4623F9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14EFF-8E6F-4E42-8213-F37E8D3AB8C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4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BE24FC-2A45-4A55-B139-5F9494B1CB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08285-CA4E-423B-8642-8726C1B3382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3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EAA45-778A-4741-845A-F018261E7A9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3AA134-3FB7-4864-BDD9-113D7FC3B5CA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4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DC5DBC-5A12-4956-B0A7-3CBFEBC2F06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064C9-616C-418B-B0ED-83E8E1DAAE9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7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03FB61-C213-45FB-A763-B77CDEFEA2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D01B68-6309-4BDA-8324-A2F95C8B936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83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0F7221-778F-4F51-B63F-4316D596745D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304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1C2C2-583A-4F9A-AEDA-164BE3CA972D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523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2E29DD-9DE7-4D3C-8718-DCA41574F3AE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875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A8E294-19B6-42B3-8876-7787FE83DCB8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017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758D9A-FC59-482C-B6CD-56F888AAE709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5433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719543-8D69-4398-A2B0-15915C5D06B6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473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55B735-57F0-4BCE-8437-619F9B9B6D16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477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58AB07-C7A8-428C-ADD3-F89C09881C7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41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751CF-7F85-4190-BB44-B7AE4C8D670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412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5A8189-163A-465C-B3E0-39C64080F978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078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A49A8F-BF93-4118-83E0-FE6C3419E88B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70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ABDDD-4646-4BEE-92BC-0B8112B83850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49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F930D0-305E-4488-9A18-18976C29D3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2023/11/23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FF258E-67CD-4D95-B960-4634DDA92658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0EED5-5C51-44C5-B9A5-8F8621D13273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91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image" Target="../media/image39.png"/><Relationship Id="rId10" Type="http://schemas.openxmlformats.org/officeDocument/2006/relationships/image" Target="../media/image38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en-US" altLang="zh-CN" sz="28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73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29205" y="1585122"/>
            <a:ext cx="10741306" cy="5272878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 smtClean="0"/>
              <a:t>复习</a:t>
            </a:r>
            <a:endParaRPr lang="zh-CN" altLang="en-US" sz="2800" dirty="0"/>
          </a:p>
        </p:txBody>
      </p:sp>
      <p:sp>
        <p:nvSpPr>
          <p:cNvPr id="9" name="Oval 1"/>
          <p:cNvSpPr txBox="1"/>
          <p:nvPr/>
        </p:nvSpPr>
        <p:spPr>
          <a:xfrm>
            <a:off x="1078758" y="1671309"/>
            <a:ext cx="10042200" cy="49705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线性、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共轭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对称性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(n)=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X*(-n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X(n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)=-X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*(-n)</a:t>
            </a:r>
          </a:p>
          <a:p>
            <a:pPr marL="342900" indent="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构造圆周共轭对称与圆周共轭反对称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圆周卷积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与线性卷积关系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时域怎样计算圆周卷积及快速方法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什么情况下线性卷积等于圆周卷积</a:t>
            </a:r>
            <a:endParaRPr lang="en-US" altLang="zh-CN" sz="2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10833" y="592667"/>
            <a:ext cx="7230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复习</a:t>
            </a:r>
            <a:r>
              <a:rPr lang="en-US" altLang="zh-CN" sz="3200" dirty="0" smtClean="0"/>
              <a:t>-DFT</a:t>
            </a:r>
            <a:r>
              <a:rPr lang="zh-CN" altLang="en-US" sz="3200" dirty="0" smtClean="0"/>
              <a:t>性质</a:t>
            </a:r>
            <a:endParaRPr lang="zh-CN" altLang="en-US" sz="3200" dirty="0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188072"/>
              </p:ext>
            </p:extLst>
          </p:nvPr>
        </p:nvGraphicFramePr>
        <p:xfrm>
          <a:off x="3320521" y="1672696"/>
          <a:ext cx="4194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6" name="Equation" r:id="rId4" imgW="1676160" imgH="228600" progId="Equation.DSMT4">
                  <p:embed/>
                </p:oleObj>
              </mc:Choice>
              <mc:Fallback>
                <p:oleObj name="Equation" r:id="rId4" imgW="1676160" imgH="228600" progId="Equation.DSMT4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521" y="1672696"/>
                        <a:ext cx="419417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553906"/>
              </p:ext>
            </p:extLst>
          </p:nvPr>
        </p:nvGraphicFramePr>
        <p:xfrm>
          <a:off x="2214034" y="4156605"/>
          <a:ext cx="55880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7" name="Equation" r:id="rId6" imgW="5054400" imgH="469800" progId="Equation.DSMT4">
                  <p:embed/>
                </p:oleObj>
              </mc:Choice>
              <mc:Fallback>
                <p:oleObj name="Equation" r:id="rId6" imgW="5054400" imgH="469800" progId="Equation.DSMT4">
                  <p:embed/>
                  <p:pic>
                    <p:nvPicPr>
                      <p:cNvPr id="1853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034" y="4156605"/>
                        <a:ext cx="55880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14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92276" y="1219201"/>
            <a:ext cx="848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周期共轭对称</a:t>
            </a:r>
            <a:r>
              <a:rPr kumimoji="1" lang="en-US" altLang="zh-CN" sz="2800">
                <a:latin typeface="Times New Roman" panose="02020603050405020304" pitchFamily="18" charset="0"/>
              </a:rPr>
              <a:t>(Periodic conjugate symmetry)</a:t>
            </a:r>
            <a:r>
              <a:rPr kumimoji="1" lang="zh-CN" altLang="en-US" sz="2800">
                <a:latin typeface="Times New Roman" panose="02020603050405020304" pitchFamily="18" charset="0"/>
              </a:rPr>
              <a:t>定义为 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657350" y="2724151"/>
            <a:ext cx="8896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周期共轭反对称</a:t>
            </a:r>
            <a:r>
              <a:rPr kumimoji="1" lang="en-US" altLang="zh-CN" sz="2800">
                <a:latin typeface="Times New Roman" panose="02020603050405020304" pitchFamily="18" charset="0"/>
              </a:rPr>
              <a:t>(Periodic conjugate antisymmetry)</a:t>
            </a:r>
            <a:r>
              <a:rPr kumimoji="1" lang="zh-CN" altLang="en-US" sz="2800">
                <a:latin typeface="Times New Roman" panose="02020603050405020304" pitchFamily="18" charset="0"/>
              </a:rPr>
              <a:t>定义为</a:t>
            </a: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821956"/>
              </p:ext>
            </p:extLst>
          </p:nvPr>
        </p:nvGraphicFramePr>
        <p:xfrm>
          <a:off x="2803525" y="1958975"/>
          <a:ext cx="6089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8" name="Equation" r:id="rId3" imgW="2768400" imgH="253800" progId="Equation.DSMT4">
                  <p:embed/>
                </p:oleObj>
              </mc:Choice>
              <mc:Fallback>
                <p:oleObj name="Equation" r:id="rId3" imgW="2768400" imgH="253800" progId="Equation.DSMT4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1958975"/>
                        <a:ext cx="6089650" cy="5651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047863"/>
              </p:ext>
            </p:extLst>
          </p:nvPr>
        </p:nvGraphicFramePr>
        <p:xfrm>
          <a:off x="2916238" y="3471863"/>
          <a:ext cx="62547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9" name="Equation" r:id="rId5" imgW="2844720" imgH="253800" progId="Equation.DSMT4">
                  <p:embed/>
                </p:oleObj>
              </mc:Choice>
              <mc:Fallback>
                <p:oleObj name="Equation" r:id="rId5" imgW="2844720" imgH="253800" progId="Equation.DSMT4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471863"/>
                        <a:ext cx="6254750" cy="5635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076450" y="4210051"/>
            <a:ext cx="790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当序列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为实序列时，周期偶对称序列满足</a:t>
            </a:r>
          </a:p>
        </p:txBody>
      </p:sp>
      <p:graphicFrame>
        <p:nvGraphicFramePr>
          <p:cNvPr id="6152" name="Object 8"/>
          <p:cNvGraphicFramePr>
            <a:graphicFrameLocks noChangeAspect="1"/>
          </p:cNvGraphicFramePr>
          <p:nvPr>
            <p:extLst/>
          </p:nvPr>
        </p:nvGraphicFramePr>
        <p:xfrm>
          <a:off x="4999038" y="4873625"/>
          <a:ext cx="20939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0" name="Equation" r:id="rId7" imgW="952200" imgH="203040" progId="Equation.DSMT4">
                  <p:embed/>
                </p:oleObj>
              </mc:Choice>
              <mc:Fallback>
                <p:oleObj name="Equation" r:id="rId7" imgW="952200" imgH="203040" progId="Equation.DSMT4">
                  <p:embed/>
                  <p:pic>
                    <p:nvPicPr>
                      <p:cNvPr id="61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4873625"/>
                        <a:ext cx="2093912" cy="446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114550" y="5357813"/>
            <a:ext cx="7905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当序列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[</a:t>
            </a:r>
            <a:r>
              <a:rPr kumimoji="1" lang="en-US" altLang="zh-CN" sz="2800" i="1" dirty="0" smtClean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 smtClean="0">
                <a:latin typeface="Times New Roman" panose="02020603050405020304" pitchFamily="18" charset="0"/>
              </a:rPr>
              <a:t>]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为实序列时，周期奇对称序列满足</a:t>
            </a:r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>
            <p:extLst/>
          </p:nvPr>
        </p:nvGraphicFramePr>
        <p:xfrm>
          <a:off x="4984751" y="5991225"/>
          <a:ext cx="2289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1" name="Equation" r:id="rId9" imgW="1041120" imgH="203040" progId="Equation.DSMT4">
                  <p:embed/>
                </p:oleObj>
              </mc:Choice>
              <mc:Fallback>
                <p:oleObj name="Equation" r:id="rId9" imgW="1041120" imgH="203040" progId="Equation.DSMT4">
                  <p:embed/>
                  <p:pic>
                    <p:nvPicPr>
                      <p:cNvPr id="61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1" y="5991225"/>
                        <a:ext cx="2289175" cy="446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1676400" y="92551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4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  <p:bldP spid="6151" grpId="0" autoUpdateAnimBg="0"/>
      <p:bldP spid="615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981200" y="685801"/>
            <a:ext cx="132873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  <a:ea typeface="黑体" panose="02010609060101010101" pitchFamily="49" charset="-122"/>
              </a:rPr>
              <a:t>定义：</a:t>
            </a:r>
          </a:p>
        </p:txBody>
      </p:sp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3429000" y="5943600"/>
          <a:ext cx="37020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36" name="Equation" r:id="rId3" imgW="3022560" imgH="469800" progId="Equation.DSMT4">
                  <p:embed/>
                </p:oleObj>
              </mc:Choice>
              <mc:Fallback>
                <p:oleObj name="Equation" r:id="rId3" imgW="3022560" imgH="469800" progId="Equation.DSMT4">
                  <p:embed/>
                  <p:pic>
                    <p:nvPicPr>
                      <p:cNvPr id="185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43600"/>
                        <a:ext cx="37020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2597150" y="5314950"/>
            <a:ext cx="40322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则任意有限长序列：</a:t>
            </a:r>
            <a:endParaRPr lang="zh-CN" altLang="en-US" sz="2800" b="1">
              <a:solidFill>
                <a:srgbClr val="FFFFFF"/>
              </a:solidFill>
            </a:endParaRPr>
          </a:p>
        </p:txBody>
      </p:sp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3435350" y="3948113"/>
          <a:ext cx="3117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37" name="Equation" r:id="rId5" imgW="2908080" imgH="469800" progId="Equation.DSMT4">
                  <p:embed/>
                </p:oleObj>
              </mc:Choice>
              <mc:Fallback>
                <p:oleObj name="Equation" r:id="rId5" imgW="2908080" imgH="469800" progId="Equation.DSMT4">
                  <p:embed/>
                  <p:pic>
                    <p:nvPicPr>
                      <p:cNvPr id="185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3948113"/>
                        <a:ext cx="3117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4394200" y="4635500"/>
          <a:ext cx="574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38" name="Equation" r:id="rId7" imgW="5054400" imgH="469800" progId="Equation.DSMT4">
                  <p:embed/>
                </p:oleObj>
              </mc:Choice>
              <mc:Fallback>
                <p:oleObj name="Equation" r:id="rId7" imgW="5054400" imgH="469800" progId="Equation.DSMT4">
                  <p:embed/>
                  <p:pic>
                    <p:nvPicPr>
                      <p:cNvPr id="185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4635500"/>
                        <a:ext cx="574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2559050" y="3276600"/>
            <a:ext cx="4248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圆周共轭反对称序列：</a:t>
            </a:r>
          </a:p>
        </p:txBody>
      </p:sp>
      <p:graphicFrame>
        <p:nvGraphicFramePr>
          <p:cNvPr id="185355" name="Object 11"/>
          <p:cNvGraphicFramePr>
            <a:graphicFrameLocks noChangeAspect="1"/>
          </p:cNvGraphicFramePr>
          <p:nvPr/>
        </p:nvGraphicFramePr>
        <p:xfrm>
          <a:off x="3327400" y="1936750"/>
          <a:ext cx="33782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39" name="Equation" r:id="rId9" imgW="2895480" imgH="469800" progId="Equation.DSMT4">
                  <p:embed/>
                </p:oleObj>
              </mc:Choice>
              <mc:Fallback>
                <p:oleObj name="Equation" r:id="rId9" imgW="2895480" imgH="469800" progId="Equation.DSMT4">
                  <p:embed/>
                  <p:pic>
                    <p:nvPicPr>
                      <p:cNvPr id="1853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936750"/>
                        <a:ext cx="33782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/>
          <p:cNvGraphicFramePr>
            <a:graphicFrameLocks noChangeAspect="1"/>
          </p:cNvGraphicFramePr>
          <p:nvPr/>
        </p:nvGraphicFramePr>
        <p:xfrm>
          <a:off x="4394200" y="2573338"/>
          <a:ext cx="55880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40" name="Equation" r:id="rId11" imgW="5054400" imgH="469800" progId="Equation.DSMT4">
                  <p:embed/>
                </p:oleObj>
              </mc:Choice>
              <mc:Fallback>
                <p:oleObj name="Equation" r:id="rId11" imgW="5054400" imgH="469800" progId="Equation.DSMT4">
                  <p:embed/>
                  <p:pic>
                    <p:nvPicPr>
                      <p:cNvPr id="18535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2573338"/>
                        <a:ext cx="55880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7" name="Text Box 13"/>
          <p:cNvSpPr txBox="1">
            <a:spLocks noChangeArrowheads="1"/>
          </p:cNvSpPr>
          <p:nvPr/>
        </p:nvSpPr>
        <p:spPr bwMode="auto">
          <a:xfrm>
            <a:off x="2559050" y="1292225"/>
            <a:ext cx="4248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2800" b="1"/>
              <a:t>圆周共轭对称序列：</a:t>
            </a:r>
          </a:p>
        </p:txBody>
      </p:sp>
    </p:spTree>
    <p:extLst>
      <p:ext uri="{BB962C8B-B14F-4D97-AF65-F5344CB8AC3E}">
        <p14:creationId xmlns:p14="http://schemas.microsoft.com/office/powerpoint/2010/main" val="415306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  <p:bldP spid="185349" grpId="0" autoUpdateAnimBg="0"/>
      <p:bldP spid="185353" grpId="0" autoUpdateAnimBg="0"/>
      <p:bldP spid="18535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9" name="Rectangle 7"/>
          <p:cNvSpPr>
            <a:spLocks noChangeArrowheads="1"/>
          </p:cNvSpPr>
          <p:nvPr/>
        </p:nvSpPr>
        <p:spPr bwMode="auto">
          <a:xfrm>
            <a:off x="1524001" y="2906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1524001" y="2906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187406" name="Text Box 14"/>
          <p:cNvSpPr txBox="1">
            <a:spLocks noChangeArrowheads="1"/>
          </p:cNvSpPr>
          <p:nvPr/>
        </p:nvSpPr>
        <p:spPr bwMode="auto">
          <a:xfrm>
            <a:off x="2438400" y="1600200"/>
            <a:ext cx="579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序列         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DFT</a:t>
            </a:r>
          </a:p>
        </p:txBody>
      </p:sp>
      <p:sp>
        <p:nvSpPr>
          <p:cNvPr id="187407" name="Rectangle 15"/>
          <p:cNvSpPr>
            <a:spLocks noChangeArrowheads="1"/>
          </p:cNvSpPr>
          <p:nvPr/>
        </p:nvSpPr>
        <p:spPr bwMode="auto">
          <a:xfrm>
            <a:off x="1981200" y="838200"/>
            <a:ext cx="320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87421" name="Group 29"/>
          <p:cNvGrpSpPr>
            <a:grpSpLocks/>
          </p:cNvGrpSpPr>
          <p:nvPr/>
        </p:nvGrpSpPr>
        <p:grpSpPr bwMode="auto">
          <a:xfrm>
            <a:off x="3962400" y="2438400"/>
            <a:ext cx="2971800" cy="484188"/>
            <a:chOff x="1536" y="1536"/>
            <a:chExt cx="1872" cy="305"/>
          </a:xfrm>
        </p:grpSpPr>
        <p:graphicFrame>
          <p:nvGraphicFramePr>
            <p:cNvPr id="187409" name="Object 17"/>
            <p:cNvGraphicFramePr>
              <a:graphicFrameLocks noChangeAspect="1"/>
            </p:cNvGraphicFramePr>
            <p:nvPr/>
          </p:nvGraphicFramePr>
          <p:xfrm>
            <a:off x="1536" y="1536"/>
            <a:ext cx="187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60" name="Equation" r:id="rId3" imgW="3225600" imgH="419040" progId="Equation.DSMT4">
                    <p:embed/>
                  </p:oleObj>
                </mc:Choice>
                <mc:Fallback>
                  <p:oleObj name="Equation" r:id="rId3" imgW="3225600" imgH="419040" progId="Equation.DSMT4">
                    <p:embed/>
                    <p:pic>
                      <p:nvPicPr>
                        <p:cNvPr id="18740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536"/>
                          <a:ext cx="1872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0" name="AutoShape 18"/>
            <p:cNvSpPr>
              <a:spLocks noChangeArrowheads="1"/>
            </p:cNvSpPr>
            <p:nvPr/>
          </p:nvSpPr>
          <p:spPr bwMode="auto">
            <a:xfrm>
              <a:off x="2256" y="1632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</p:grpSp>
      <p:grpSp>
        <p:nvGrpSpPr>
          <p:cNvPr id="187422" name="Group 30"/>
          <p:cNvGrpSpPr>
            <a:grpSpLocks/>
          </p:cNvGrpSpPr>
          <p:nvPr/>
        </p:nvGrpSpPr>
        <p:grpSpPr bwMode="auto">
          <a:xfrm>
            <a:off x="3365500" y="3200400"/>
            <a:ext cx="3949700" cy="515938"/>
            <a:chOff x="1160" y="2171"/>
            <a:chExt cx="2488" cy="325"/>
          </a:xfrm>
        </p:grpSpPr>
        <p:graphicFrame>
          <p:nvGraphicFramePr>
            <p:cNvPr id="187412" name="Object 20"/>
            <p:cNvGraphicFramePr>
              <a:graphicFrameLocks noChangeAspect="1"/>
            </p:cNvGraphicFramePr>
            <p:nvPr/>
          </p:nvGraphicFramePr>
          <p:xfrm>
            <a:off x="1160" y="2171"/>
            <a:ext cx="248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61" name="Equation" r:id="rId5" imgW="3593880" imgH="469800" progId="Equation.DSMT4">
                    <p:embed/>
                  </p:oleObj>
                </mc:Choice>
                <mc:Fallback>
                  <p:oleObj name="Equation" r:id="rId5" imgW="3593880" imgH="469800" progId="Equation.DSMT4">
                    <p:embed/>
                    <p:pic>
                      <p:nvPicPr>
                        <p:cNvPr id="18741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2171"/>
                          <a:ext cx="248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4" name="AutoShape 22"/>
            <p:cNvSpPr>
              <a:spLocks noChangeArrowheads="1"/>
            </p:cNvSpPr>
            <p:nvPr/>
          </p:nvSpPr>
          <p:spPr bwMode="auto">
            <a:xfrm>
              <a:off x="2256" y="2296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</p:grpSp>
      <p:grpSp>
        <p:nvGrpSpPr>
          <p:cNvPr id="187423" name="Group 31"/>
          <p:cNvGrpSpPr>
            <a:grpSpLocks/>
          </p:cNvGrpSpPr>
          <p:nvPr/>
        </p:nvGrpSpPr>
        <p:grpSpPr bwMode="auto">
          <a:xfrm>
            <a:off x="3124200" y="3962400"/>
            <a:ext cx="4267200" cy="528638"/>
            <a:chOff x="1008" y="2602"/>
            <a:chExt cx="2688" cy="333"/>
          </a:xfrm>
        </p:grpSpPr>
        <p:graphicFrame>
          <p:nvGraphicFramePr>
            <p:cNvPr id="187413" name="Object 21"/>
            <p:cNvGraphicFramePr>
              <a:graphicFrameLocks noChangeAspect="1"/>
            </p:cNvGraphicFramePr>
            <p:nvPr/>
          </p:nvGraphicFramePr>
          <p:xfrm>
            <a:off x="1008" y="2602"/>
            <a:ext cx="268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62" name="Equation" r:id="rId7" imgW="3797280" imgH="469800" progId="Equation.DSMT4">
                    <p:embed/>
                  </p:oleObj>
                </mc:Choice>
                <mc:Fallback>
                  <p:oleObj name="Equation" r:id="rId7" imgW="3797280" imgH="469800" progId="Equation.DSMT4">
                    <p:embed/>
                    <p:pic>
                      <p:nvPicPr>
                        <p:cNvPr id="18741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602"/>
                          <a:ext cx="268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5" name="AutoShape 23"/>
            <p:cNvSpPr>
              <a:spLocks noChangeArrowheads="1"/>
            </p:cNvSpPr>
            <p:nvPr/>
          </p:nvSpPr>
          <p:spPr bwMode="auto">
            <a:xfrm>
              <a:off x="2256" y="2680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</p:grpSp>
      <p:grpSp>
        <p:nvGrpSpPr>
          <p:cNvPr id="187424" name="Group 32"/>
          <p:cNvGrpSpPr>
            <a:grpSpLocks/>
          </p:cNvGrpSpPr>
          <p:nvPr/>
        </p:nvGrpSpPr>
        <p:grpSpPr bwMode="auto">
          <a:xfrm>
            <a:off x="3805238" y="4724401"/>
            <a:ext cx="4119562" cy="536575"/>
            <a:chOff x="1437" y="3166"/>
            <a:chExt cx="2595" cy="338"/>
          </a:xfrm>
        </p:grpSpPr>
        <p:graphicFrame>
          <p:nvGraphicFramePr>
            <p:cNvPr id="187417" name="Object 25"/>
            <p:cNvGraphicFramePr>
              <a:graphicFrameLocks noChangeAspect="1"/>
            </p:cNvGraphicFramePr>
            <p:nvPr/>
          </p:nvGraphicFramePr>
          <p:xfrm>
            <a:off x="1437" y="3166"/>
            <a:ext cx="259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63" name="Equation" r:id="rId9" imgW="3606480" imgH="469800" progId="Equation.DSMT4">
                    <p:embed/>
                  </p:oleObj>
                </mc:Choice>
                <mc:Fallback>
                  <p:oleObj name="Equation" r:id="rId9" imgW="3606480" imgH="469800" progId="Equation.DSMT4">
                    <p:embed/>
                    <p:pic>
                      <p:nvPicPr>
                        <p:cNvPr id="18741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7" y="3166"/>
                          <a:ext cx="259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19" name="AutoShape 27"/>
            <p:cNvSpPr>
              <a:spLocks noChangeArrowheads="1"/>
            </p:cNvSpPr>
            <p:nvPr/>
          </p:nvSpPr>
          <p:spPr bwMode="auto">
            <a:xfrm>
              <a:off x="2256" y="3304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</p:grpSp>
      <p:grpSp>
        <p:nvGrpSpPr>
          <p:cNvPr id="187425" name="Group 33"/>
          <p:cNvGrpSpPr>
            <a:grpSpLocks/>
          </p:cNvGrpSpPr>
          <p:nvPr/>
        </p:nvGrpSpPr>
        <p:grpSpPr bwMode="auto">
          <a:xfrm>
            <a:off x="3865564" y="5486400"/>
            <a:ext cx="4059237" cy="509588"/>
            <a:chOff x="1475" y="3592"/>
            <a:chExt cx="2557" cy="321"/>
          </a:xfrm>
        </p:grpSpPr>
        <p:graphicFrame>
          <p:nvGraphicFramePr>
            <p:cNvPr id="187418" name="Object 26"/>
            <p:cNvGraphicFramePr>
              <a:graphicFrameLocks noChangeAspect="1"/>
            </p:cNvGraphicFramePr>
            <p:nvPr/>
          </p:nvGraphicFramePr>
          <p:xfrm>
            <a:off x="1475" y="3592"/>
            <a:ext cx="2557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64" name="Equation" r:id="rId11" imgW="3809880" imgH="469800" progId="Equation.DSMT4">
                    <p:embed/>
                  </p:oleObj>
                </mc:Choice>
                <mc:Fallback>
                  <p:oleObj name="Equation" r:id="rId11" imgW="3809880" imgH="469800" progId="Equation.DSMT4">
                    <p:embed/>
                    <p:pic>
                      <p:nvPicPr>
                        <p:cNvPr id="187418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3592"/>
                          <a:ext cx="2557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7420" name="AutoShape 28"/>
            <p:cNvSpPr>
              <a:spLocks noChangeArrowheads="1"/>
            </p:cNvSpPr>
            <p:nvPr/>
          </p:nvSpPr>
          <p:spPr bwMode="auto">
            <a:xfrm>
              <a:off x="2256" y="3688"/>
              <a:ext cx="384" cy="96"/>
            </a:xfrm>
            <a:prstGeom prst="leftRightArrow">
              <a:avLst>
                <a:gd name="adj1" fmla="val 50000"/>
                <a:gd name="adj2" fmla="val 13646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377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6" grpId="0" autoUpdateAnimBg="0"/>
      <p:bldP spid="18740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467" y="1718733"/>
            <a:ext cx="11074400" cy="4419600"/>
          </a:xfrm>
        </p:spPr>
        <p:txBody>
          <a:bodyPr/>
          <a:lstStyle/>
          <a:p>
            <a:r>
              <a:rPr lang="zh-CN" altLang="en-US" dirty="0" smtClean="0"/>
              <a:t>实共轭对称序列</a:t>
            </a:r>
            <a:r>
              <a:rPr lang="en-US" altLang="zh-CN" dirty="0" smtClean="0"/>
              <a:t>x(n)</a:t>
            </a:r>
            <a:r>
              <a:rPr lang="zh-CN" altLang="en-US" dirty="0" smtClean="0"/>
              <a:t>长度为</a:t>
            </a:r>
            <a:r>
              <a:rPr lang="en-US" altLang="zh-CN" dirty="0" smtClean="0"/>
              <a:t>N=5</a:t>
            </a:r>
            <a:r>
              <a:rPr lang="zh-CN" altLang="en-US" dirty="0" smtClean="0"/>
              <a:t>，现在已知</a:t>
            </a:r>
            <a:r>
              <a:rPr lang="en-US" altLang="zh-CN" dirty="0" smtClean="0"/>
              <a:t>n=0,1,2</a:t>
            </a:r>
            <a:r>
              <a:rPr lang="zh-CN" altLang="en-US" dirty="0" smtClean="0"/>
              <a:t>时，</a:t>
            </a:r>
            <a:r>
              <a:rPr lang="en-US" altLang="zh-CN" dirty="0"/>
              <a:t> x(n</a:t>
            </a:r>
            <a:r>
              <a:rPr lang="en-US" altLang="zh-CN" dirty="0" smtClean="0"/>
              <a:t>)</a:t>
            </a:r>
            <a:r>
              <a:rPr lang="zh-CN" altLang="en-US" dirty="0" smtClean="0"/>
              <a:t>分别等于</a:t>
            </a:r>
            <a:r>
              <a:rPr lang="en-US" altLang="zh-CN" dirty="0" smtClean="0"/>
              <a:t>3,4,5,</a:t>
            </a:r>
            <a:r>
              <a:rPr lang="zh-CN" altLang="en-US" dirty="0" smtClean="0"/>
              <a:t>问</a:t>
            </a:r>
            <a:r>
              <a:rPr lang="en-US" altLang="zh-CN" dirty="0" smtClean="0"/>
              <a:t>n=3,4,5</a:t>
            </a:r>
            <a:r>
              <a:rPr lang="zh-CN" altLang="en-US" dirty="0" smtClean="0"/>
              <a:t>时，</a:t>
            </a:r>
            <a:r>
              <a:rPr lang="en-US" altLang="zh-CN" dirty="0"/>
              <a:t> x(n</a:t>
            </a:r>
            <a:r>
              <a:rPr lang="en-US" altLang="zh-CN" dirty="0" smtClean="0"/>
              <a:t>)=</a:t>
            </a:r>
          </a:p>
          <a:p>
            <a:r>
              <a:rPr lang="en-US" altLang="zh-CN" dirty="0" smtClean="0"/>
              <a:t>DFT[</a:t>
            </a:r>
            <a:r>
              <a:rPr lang="en-US" altLang="zh-CN" dirty="0"/>
              <a:t>x(n</a:t>
            </a:r>
            <a:r>
              <a:rPr lang="en-US" altLang="zh-CN" dirty="0" smtClean="0"/>
              <a:t>)]=X(k)={1+j,1-j},</a:t>
            </a:r>
            <a:r>
              <a:rPr lang="zh-CN" altLang="en-US" dirty="0" smtClean="0"/>
              <a:t>问</a:t>
            </a:r>
            <a:r>
              <a:rPr lang="en-US" altLang="zh-CN" dirty="0" smtClean="0"/>
              <a:t>DFT[Re[</a:t>
            </a:r>
            <a:r>
              <a:rPr lang="en-US" altLang="zh-CN" dirty="0"/>
              <a:t>x(n</a:t>
            </a:r>
            <a:r>
              <a:rPr lang="en-US" altLang="zh-CN" dirty="0" smtClean="0"/>
              <a:t>)]]=            ,</a:t>
            </a:r>
            <a:r>
              <a:rPr lang="en-US" altLang="zh-CN" dirty="0"/>
              <a:t> </a:t>
            </a:r>
            <a:r>
              <a:rPr lang="en-US" altLang="zh-CN" dirty="0" smtClean="0"/>
              <a:t>DFT[</a:t>
            </a:r>
            <a:r>
              <a:rPr lang="en-US" altLang="zh-CN" dirty="0" err="1" smtClean="0"/>
              <a:t>Im</a:t>
            </a:r>
            <a:r>
              <a:rPr lang="en-US" altLang="zh-CN" dirty="0" smtClean="0"/>
              <a:t>[x(n</a:t>
            </a:r>
            <a:r>
              <a:rPr lang="en-US" altLang="zh-CN" dirty="0"/>
              <a:t>)]]= </a:t>
            </a:r>
            <a:endParaRPr lang="en-US" altLang="zh-CN" dirty="0" smtClean="0"/>
          </a:p>
          <a:p>
            <a:r>
              <a:rPr lang="zh-CN" altLang="en-US" dirty="0" smtClean="0"/>
              <a:t>信号</a:t>
            </a:r>
            <a:r>
              <a:rPr lang="en-US" altLang="zh-CN" dirty="0" smtClean="0"/>
              <a:t>sin(</a:t>
            </a:r>
            <a:r>
              <a:rPr lang="en-US" altLang="zh-CN" dirty="0" err="1" smtClean="0"/>
              <a:t>wn</a:t>
            </a:r>
            <a:r>
              <a:rPr lang="en-US" altLang="zh-CN" dirty="0" smtClean="0"/>
              <a:t>)</a:t>
            </a:r>
            <a:r>
              <a:rPr lang="zh-CN" altLang="en-US" dirty="0" smtClean="0"/>
              <a:t>信号频谱满足什么特点？信号</a:t>
            </a:r>
            <a:r>
              <a:rPr lang="en-US" altLang="zh-CN" dirty="0"/>
              <a:t>cos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wn</a:t>
            </a:r>
            <a:r>
              <a:rPr lang="en-US" altLang="zh-CN" dirty="0"/>
              <a:t>)</a:t>
            </a:r>
            <a:r>
              <a:rPr lang="zh-CN" altLang="en-US" dirty="0"/>
              <a:t>信号频谱满足什么</a:t>
            </a:r>
            <a:r>
              <a:rPr lang="zh-CN" altLang="en-US" dirty="0" smtClean="0"/>
              <a:t>特点</a:t>
            </a:r>
            <a:r>
              <a:rPr lang="zh-CN" altLang="en-US" dirty="0" smtClean="0"/>
              <a:t>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156633" y="11514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68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1866" y="457200"/>
            <a:ext cx="9567333" cy="914400"/>
          </a:xfrm>
        </p:spPr>
        <p:txBody>
          <a:bodyPr/>
          <a:lstStyle/>
          <a:p>
            <a:r>
              <a:rPr lang="zh-CN" altLang="en-US" dirty="0"/>
              <a:t>实共轭对称序列</a:t>
            </a:r>
            <a:r>
              <a:rPr lang="en-US" altLang="zh-CN" dirty="0"/>
              <a:t>x(n)</a:t>
            </a:r>
            <a:r>
              <a:rPr lang="zh-CN" altLang="en-US" dirty="0"/>
              <a:t>长度为</a:t>
            </a:r>
            <a:r>
              <a:rPr lang="en-US" altLang="zh-CN" dirty="0"/>
              <a:t>N=5</a:t>
            </a:r>
            <a:r>
              <a:rPr lang="zh-CN" altLang="en-US" dirty="0"/>
              <a:t>，现在已知</a:t>
            </a:r>
            <a:r>
              <a:rPr lang="en-US" altLang="zh-CN" dirty="0"/>
              <a:t>n=0,1,2</a:t>
            </a:r>
            <a:r>
              <a:rPr lang="zh-CN" altLang="en-US" dirty="0"/>
              <a:t>时，</a:t>
            </a:r>
            <a:r>
              <a:rPr lang="en-US" altLang="zh-CN" dirty="0"/>
              <a:t> x(n)</a:t>
            </a:r>
            <a:r>
              <a:rPr lang="zh-CN" altLang="en-US" dirty="0"/>
              <a:t>分别等于</a:t>
            </a:r>
            <a:r>
              <a:rPr lang="en-US" altLang="zh-CN" dirty="0"/>
              <a:t>3,4,5,</a:t>
            </a:r>
            <a:r>
              <a:rPr lang="zh-CN" altLang="en-US" dirty="0"/>
              <a:t>问</a:t>
            </a:r>
            <a:r>
              <a:rPr lang="en-US" altLang="zh-CN" dirty="0"/>
              <a:t>n=3,4,5</a:t>
            </a:r>
            <a:r>
              <a:rPr lang="zh-CN" altLang="en-US" dirty="0"/>
              <a:t>时，</a:t>
            </a:r>
            <a:r>
              <a:rPr lang="en-US" altLang="zh-CN" dirty="0"/>
              <a:t> x(n)=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dirty="0">
                <a:latin typeface="Times New Roman" panose="02020603050405020304" pitchFamily="18" charset="0"/>
              </a:rPr>
              <a:t>当序列</a:t>
            </a:r>
            <a:r>
              <a:rPr kumimoji="1" lang="en-US" altLang="zh-CN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</a:rPr>
              <a:t>[</a:t>
            </a:r>
            <a:r>
              <a:rPr kumimoji="1" lang="en-US" altLang="zh-CN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latin typeface="Times New Roman" panose="02020603050405020304" pitchFamily="18" charset="0"/>
              </a:rPr>
              <a:t>]</a:t>
            </a:r>
            <a:r>
              <a:rPr kumimoji="1" lang="zh-CN" altLang="en-US" dirty="0">
                <a:latin typeface="Times New Roman" panose="02020603050405020304" pitchFamily="18" charset="0"/>
              </a:rPr>
              <a:t>为实序列时，周期偶对称序列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满足</a:t>
            </a:r>
            <a:endParaRPr kumimoji="1" lang="en-US" altLang="zh-CN" dirty="0" smtClean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dirty="0" smtClean="0">
                <a:latin typeface="Times New Roman" panose="02020603050405020304" pitchFamily="18" charset="0"/>
              </a:rPr>
              <a:t>x[3]=x[5-3]=x[2]=5</a:t>
            </a:r>
          </a:p>
          <a:p>
            <a:pPr>
              <a:spcBef>
                <a:spcPct val="50000"/>
              </a:spcBef>
            </a:pPr>
            <a:r>
              <a:rPr kumimoji="1" lang="en-US" altLang="zh-CN" dirty="0" smtClean="0">
                <a:latin typeface="Times New Roman" panose="02020603050405020304" pitchFamily="18" charset="0"/>
              </a:rPr>
              <a:t>x[4]=x[5-4]=x[1]=4</a:t>
            </a:r>
          </a:p>
          <a:p>
            <a:pPr>
              <a:spcBef>
                <a:spcPct val="50000"/>
              </a:spcBef>
            </a:pPr>
            <a:r>
              <a:rPr kumimoji="1" lang="en-US" altLang="zh-CN" dirty="0" smtClean="0">
                <a:latin typeface="Times New Roman" panose="02020603050405020304" pitchFamily="18" charset="0"/>
              </a:rPr>
              <a:t>x[5]=x[5-5]=x[0]=3</a:t>
            </a:r>
          </a:p>
          <a:p>
            <a:pPr>
              <a:spcBef>
                <a:spcPct val="50000"/>
              </a:spcBef>
            </a:pPr>
            <a:r>
              <a:rPr kumimoji="1" lang="zh-CN" altLang="en-US" dirty="0" smtClean="0">
                <a:latin typeface="Times New Roman" panose="02020603050405020304" pitchFamily="18" charset="0"/>
              </a:rPr>
              <a:t>但是有限长序列</a:t>
            </a:r>
            <a:r>
              <a:rPr kumimoji="1" lang="en-US" altLang="zh-CN" dirty="0" smtClean="0">
                <a:latin typeface="Times New Roman" panose="02020603050405020304" pitchFamily="18" charset="0"/>
              </a:rPr>
              <a:t>N=5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，所以</a:t>
            </a:r>
            <a:r>
              <a:rPr kumimoji="1" lang="en-US" altLang="zh-CN" dirty="0" smtClean="0">
                <a:latin typeface="Times New Roman" panose="02020603050405020304" pitchFamily="18" charset="0"/>
              </a:rPr>
              <a:t>x[5]</a:t>
            </a:r>
            <a:r>
              <a:rPr kumimoji="1" lang="zh-CN" altLang="en-US" dirty="0" smtClean="0">
                <a:latin typeface="Times New Roman" panose="02020603050405020304" pitchFamily="18" charset="0"/>
              </a:rPr>
              <a:t>无定义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dirty="0" smtClean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415071"/>
              </p:ext>
            </p:extLst>
          </p:nvPr>
        </p:nvGraphicFramePr>
        <p:xfrm>
          <a:off x="3661311" y="2215107"/>
          <a:ext cx="20939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11" name="Equation" r:id="rId3" imgW="952200" imgH="203040" progId="Equation.DSMT4">
                  <p:embed/>
                </p:oleObj>
              </mc:Choice>
              <mc:Fallback>
                <p:oleObj name="Equation" r:id="rId3" imgW="952200" imgH="203040" progId="Equation.DSMT4">
                  <p:embed/>
                  <p:pic>
                    <p:nvPicPr>
                      <p:cNvPr id="61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1311" y="2215107"/>
                        <a:ext cx="2093912" cy="446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887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9550400" cy="914400"/>
          </a:xfrm>
        </p:spPr>
        <p:txBody>
          <a:bodyPr/>
          <a:lstStyle/>
          <a:p>
            <a:r>
              <a:rPr lang="en-US" altLang="zh-CN" dirty="0"/>
              <a:t>DFT[x(n)]=X(k)={1+j,1-j},</a:t>
            </a:r>
            <a:r>
              <a:rPr lang="zh-CN" altLang="en-US" dirty="0"/>
              <a:t>问</a:t>
            </a:r>
            <a:r>
              <a:rPr lang="en-US" altLang="zh-CN" dirty="0"/>
              <a:t>DFT[Re[x(n)]]=            , DFT[</a:t>
            </a:r>
            <a:r>
              <a:rPr lang="en-US" altLang="zh-CN" dirty="0" err="1"/>
              <a:t>Im</a:t>
            </a:r>
            <a:r>
              <a:rPr lang="en-US" altLang="zh-CN" dirty="0"/>
              <a:t>[x(n)]]=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5173377"/>
              </p:ext>
            </p:extLst>
          </p:nvPr>
        </p:nvGraphicFramePr>
        <p:xfrm>
          <a:off x="1536700" y="1676400"/>
          <a:ext cx="233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9" name="Equation" r:id="rId3" imgW="2336760" imgH="431640" progId="Equation.DSMT4">
                  <p:embed/>
                </p:oleObj>
              </mc:Choice>
              <mc:Fallback>
                <p:oleObj name="Equation" r:id="rId3" imgW="2336760" imgH="431640" progId="Equation.DSMT4">
                  <p:embed/>
                  <p:pic>
                    <p:nvPicPr>
                      <p:cNvPr id="193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1676400"/>
                        <a:ext cx="2336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413047"/>
              </p:ext>
            </p:extLst>
          </p:nvPr>
        </p:nvGraphicFramePr>
        <p:xfrm>
          <a:off x="1554163" y="2374900"/>
          <a:ext cx="679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70" name="Equation" r:id="rId5" imgW="6794280" imgH="469800" progId="Equation.DSMT4">
                  <p:embed/>
                </p:oleObj>
              </mc:Choice>
              <mc:Fallback>
                <p:oleObj name="Equation" r:id="rId5" imgW="6794280" imgH="469800" progId="Equation.DSMT4">
                  <p:embed/>
                  <p:pic>
                    <p:nvPicPr>
                      <p:cNvPr id="193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2374900"/>
                        <a:ext cx="6794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2112"/>
              </p:ext>
            </p:extLst>
          </p:nvPr>
        </p:nvGraphicFramePr>
        <p:xfrm>
          <a:off x="2122488" y="3052763"/>
          <a:ext cx="5105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71" name="Equation" r:id="rId7" imgW="5105160" imgH="825480" progId="Equation.DSMT4">
                  <p:embed/>
                </p:oleObj>
              </mc:Choice>
              <mc:Fallback>
                <p:oleObj name="Equation" r:id="rId7" imgW="5105160" imgH="825480" progId="Equation.DSMT4">
                  <p:embed/>
                  <p:pic>
                    <p:nvPicPr>
                      <p:cNvPr id="193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3052763"/>
                        <a:ext cx="5105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 flipH="1">
            <a:off x="1328419" y="4889500"/>
            <a:ext cx="364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X1(0)=0.5[X(0)+X*(0)]=1</a:t>
            </a:r>
          </a:p>
          <a:p>
            <a:r>
              <a:rPr lang="en-US" altLang="zh-CN" dirty="0" smtClean="0"/>
              <a:t>X1(1)=0.5[X(1)+</a:t>
            </a:r>
            <a:r>
              <a:rPr lang="en-US" altLang="zh-CN" dirty="0"/>
              <a:t>X</a:t>
            </a:r>
            <a:r>
              <a:rPr lang="en-US" altLang="zh-CN" dirty="0" smtClean="0"/>
              <a:t>*(1)]=</a:t>
            </a:r>
            <a:r>
              <a:rPr lang="en-US" altLang="zh-CN" dirty="0"/>
              <a:t>1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8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2232" y="457200"/>
            <a:ext cx="9596967" cy="914400"/>
          </a:xfrm>
        </p:spPr>
        <p:txBody>
          <a:bodyPr/>
          <a:lstStyle/>
          <a:p>
            <a:r>
              <a:rPr lang="zh-CN" altLang="en-US" dirty="0"/>
              <a:t>信号</a:t>
            </a:r>
            <a:r>
              <a:rPr lang="en-US" altLang="zh-CN" dirty="0"/>
              <a:t>sin(</a:t>
            </a:r>
            <a:r>
              <a:rPr lang="en-US" altLang="zh-CN" dirty="0" err="1"/>
              <a:t>wn</a:t>
            </a:r>
            <a:r>
              <a:rPr lang="en-US" altLang="zh-CN" dirty="0"/>
              <a:t>)</a:t>
            </a:r>
            <a:r>
              <a:rPr lang="zh-CN" altLang="en-US" dirty="0"/>
              <a:t>信号频谱满足什么特点？信号</a:t>
            </a:r>
            <a:r>
              <a:rPr lang="en-US" altLang="zh-CN" dirty="0"/>
              <a:t>cos(</a:t>
            </a:r>
            <a:r>
              <a:rPr lang="en-US" altLang="zh-CN" dirty="0" err="1"/>
              <a:t>wn</a:t>
            </a:r>
            <a:r>
              <a:rPr lang="en-US" altLang="zh-CN" dirty="0"/>
              <a:t>)</a:t>
            </a:r>
            <a:r>
              <a:rPr lang="zh-CN" altLang="en-US" dirty="0"/>
              <a:t>信号频谱满足什么特点？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信号</a:t>
            </a:r>
            <a:r>
              <a:rPr lang="en-US" altLang="zh-CN" dirty="0" smtClean="0"/>
              <a:t>sin(</a:t>
            </a:r>
            <a:r>
              <a:rPr lang="en-US" altLang="zh-CN" dirty="0" err="1" smtClean="0"/>
              <a:t>wn</a:t>
            </a:r>
            <a:r>
              <a:rPr lang="en-US" altLang="zh-CN" dirty="0" smtClean="0"/>
              <a:t>)</a:t>
            </a:r>
            <a:r>
              <a:rPr lang="zh-CN" altLang="en-US" dirty="0" smtClean="0"/>
              <a:t>周期序列</a:t>
            </a:r>
            <a:r>
              <a:rPr lang="en-US" altLang="zh-CN" dirty="0" smtClean="0"/>
              <a:t>-</a:t>
            </a:r>
            <a:r>
              <a:rPr lang="zh-CN" altLang="en-US" dirty="0" smtClean="0"/>
              <a:t>频谱</a:t>
            </a:r>
            <a:r>
              <a:rPr lang="en-US" altLang="zh-CN" dirty="0" smtClean="0"/>
              <a:t>DFS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584" y="2307739"/>
            <a:ext cx="7005507" cy="333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0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45732" y="457200"/>
            <a:ext cx="9533467" cy="914400"/>
          </a:xfrm>
        </p:spPr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DFT</a:t>
            </a:r>
            <a:r>
              <a:rPr lang="zh-CN" altLang="en-US" dirty="0" smtClean="0"/>
              <a:t>定义去解题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199"/>
            <a:ext cx="11074400" cy="3598333"/>
          </a:xfrm>
        </p:spPr>
        <p:txBody>
          <a:bodyPr/>
          <a:lstStyle/>
          <a:p>
            <a:r>
              <a:rPr lang="zh-CN" altLang="en-US" dirty="0"/>
              <a:t>已知序列</a:t>
            </a:r>
            <a:r>
              <a:rPr lang="en-US" altLang="zh-CN" dirty="0"/>
              <a:t>x(n)</a:t>
            </a:r>
            <a:r>
              <a:rPr lang="zh-CN" altLang="en-US" dirty="0"/>
              <a:t>为</a:t>
            </a:r>
            <a:r>
              <a:rPr lang="en-US" altLang="zh-CN" dirty="0"/>
              <a:t>N</a:t>
            </a:r>
            <a:r>
              <a:rPr lang="zh-CN" altLang="en-US" dirty="0"/>
              <a:t>点序列，</a:t>
            </a:r>
            <a:r>
              <a:rPr lang="en-US" altLang="zh-CN" dirty="0"/>
              <a:t>n=0, 1, ..., N-1, </a:t>
            </a:r>
            <a:r>
              <a:rPr lang="zh-CN" altLang="en-US" dirty="0"/>
              <a:t>而</a:t>
            </a:r>
            <a:r>
              <a:rPr lang="en-US" altLang="zh-CN" dirty="0"/>
              <a:t>N</a:t>
            </a:r>
            <a:r>
              <a:rPr lang="zh-CN" altLang="en-US" dirty="0"/>
              <a:t>为偶数，其</a:t>
            </a:r>
            <a:r>
              <a:rPr lang="en-US" altLang="zh-CN" dirty="0"/>
              <a:t>DFT</a:t>
            </a:r>
            <a:r>
              <a:rPr lang="zh-CN" altLang="en-US" dirty="0"/>
              <a:t>为</a:t>
            </a:r>
            <a:r>
              <a:rPr lang="en-US" altLang="zh-CN" dirty="0"/>
              <a:t>X(k)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/>
              <a:t>令                            ，所以</a:t>
            </a:r>
            <a:r>
              <a:rPr lang="en-US" altLang="zh-CN" dirty="0"/>
              <a:t>y(n)</a:t>
            </a:r>
            <a:r>
              <a:rPr lang="zh-CN" altLang="en-US" dirty="0"/>
              <a:t>为</a:t>
            </a:r>
            <a:r>
              <a:rPr lang="en-US" altLang="zh-CN" dirty="0"/>
              <a:t>2N</a:t>
            </a:r>
            <a:r>
              <a:rPr lang="zh-CN" altLang="en-US" dirty="0"/>
              <a:t>点序列，试用</a:t>
            </a:r>
            <a:r>
              <a:rPr lang="en-US" altLang="zh-CN" dirty="0"/>
              <a:t>X(k)</a:t>
            </a:r>
            <a:r>
              <a:rPr lang="zh-CN" altLang="en-US" dirty="0"/>
              <a:t>表示</a:t>
            </a:r>
            <a:r>
              <a:rPr lang="en-US" altLang="zh-CN" dirty="0"/>
              <a:t>Y(k)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09" y="2728429"/>
            <a:ext cx="2779136" cy="124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0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03456"/>
              </p:ext>
            </p:extLst>
          </p:nvPr>
        </p:nvGraphicFramePr>
        <p:xfrm>
          <a:off x="609600" y="1511300"/>
          <a:ext cx="6198487" cy="1100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1" name="Equation" r:id="rId3" imgW="2717640" imgH="482400" progId="Equation.DSMT4">
                  <p:embed/>
                </p:oleObj>
              </mc:Choice>
              <mc:Fallback>
                <p:oleObj name="Equation" r:id="rId3" imgW="2717640" imgH="48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11300"/>
                        <a:ext cx="6198487" cy="11006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263071"/>
              </p:ext>
            </p:extLst>
          </p:nvPr>
        </p:nvGraphicFramePr>
        <p:xfrm>
          <a:off x="609600" y="2755898"/>
          <a:ext cx="5874424" cy="1181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2" name="Equation" r:id="rId5" imgW="2400120" imgH="482400" progId="Equation.DSMT4">
                  <p:embed/>
                </p:oleObj>
              </mc:Choice>
              <mc:Fallback>
                <p:oleObj name="Equation" r:id="rId5" imgW="24001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55898"/>
                        <a:ext cx="5874424" cy="11811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586427"/>
              </p:ext>
            </p:extLst>
          </p:nvPr>
        </p:nvGraphicFramePr>
        <p:xfrm>
          <a:off x="2836091" y="4080931"/>
          <a:ext cx="4710142" cy="127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3" name="Equation" r:id="rId7" imgW="1777680" imgH="482400" progId="Equation.DSMT4">
                  <p:embed/>
                </p:oleObj>
              </mc:Choice>
              <mc:Fallback>
                <p:oleObj name="Equation" r:id="rId7" imgW="17776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091" y="4080931"/>
                        <a:ext cx="4710142" cy="12784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137415"/>
              </p:ext>
            </p:extLst>
          </p:nvPr>
        </p:nvGraphicFramePr>
        <p:xfrm>
          <a:off x="2779934" y="5538164"/>
          <a:ext cx="538413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4" name="Equation" r:id="rId9" imgW="2273040" imgH="482400" progId="Equation.DSMT4">
                  <p:embed/>
                </p:oleObj>
              </mc:Choice>
              <mc:Fallback>
                <p:oleObj name="Equation" r:id="rId9" imgW="227304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934" y="5538164"/>
                        <a:ext cx="5384132" cy="1143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22217" y="4493741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K=0,,…,N-1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22217" y="5878404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K=N,,…,2N-1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41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4330700"/>
            <a:ext cx="11074400" cy="16891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812987"/>
              </p:ext>
            </p:extLst>
          </p:nvPr>
        </p:nvGraphicFramePr>
        <p:xfrm>
          <a:off x="674085" y="1594908"/>
          <a:ext cx="10853959" cy="1965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4" name="Equation" r:id="rId3" imgW="3085920" imgH="558720" progId="Equation.DSMT4">
                  <p:embed/>
                </p:oleObj>
              </mc:Choice>
              <mc:Fallback>
                <p:oleObj name="Equation" r:id="rId3" imgW="308592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4085" y="1594908"/>
                        <a:ext cx="10853959" cy="1965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879600" y="652790"/>
            <a:ext cx="949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prstClr val="black"/>
                </a:solidFill>
              </a:rPr>
              <a:t>例：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x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1,1,1},  </a:t>
            </a:r>
            <a:r>
              <a:rPr lang="en-US" altLang="zh-CN" sz="2800" i="1" dirty="0">
                <a:solidFill>
                  <a:prstClr val="black"/>
                </a:solidFill>
              </a:rPr>
              <a:t>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900" baseline="-25000" dirty="0" smtClean="0">
                <a:solidFill>
                  <a:prstClr val="black"/>
                </a:solidFill>
              </a:rPr>
              <a:t>2</a:t>
            </a:r>
            <a:r>
              <a:rPr lang="en-US" altLang="zh-CN" sz="2800" dirty="0" smtClean="0">
                <a:solidFill>
                  <a:prstClr val="black"/>
                </a:solidFill>
              </a:rPr>
              <a:t>[</a:t>
            </a:r>
            <a:r>
              <a:rPr lang="en-US" altLang="zh-CN" sz="2800" i="1" dirty="0" smtClean="0">
                <a:solidFill>
                  <a:prstClr val="black"/>
                </a:solidFill>
              </a:rPr>
              <a:t>n</a:t>
            </a:r>
            <a:r>
              <a:rPr lang="en-US" altLang="zh-CN" sz="2800" dirty="0" smtClean="0">
                <a:solidFill>
                  <a:prstClr val="black"/>
                </a:solidFill>
              </a:rPr>
              <a:t>]={</a:t>
            </a:r>
            <a:r>
              <a:rPr lang="en-US" altLang="zh-CN" sz="2800" dirty="0">
                <a:solidFill>
                  <a:prstClr val="black"/>
                </a:solidFill>
              </a:rPr>
              <a:t>1,1,0,1} , </a:t>
            </a:r>
            <a:r>
              <a:rPr lang="zh-CN" altLang="en-US" sz="2800" dirty="0" smtClean="0">
                <a:solidFill>
                  <a:prstClr val="black"/>
                </a:solidFill>
              </a:rPr>
              <a:t>计算线卷和循卷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2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133601" y="1066801"/>
          <a:ext cx="949325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6" name="公式" r:id="rId3" imgW="431613" imgH="1320227" progId="Equation.3">
                  <p:embed/>
                </p:oleObj>
              </mc:Choice>
              <mc:Fallback>
                <p:oleObj name="公式" r:id="rId3" imgW="431613" imgH="1320227" progId="Equation.3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066801"/>
                        <a:ext cx="949325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3048000" y="1066800"/>
          <a:ext cx="6178550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7" name="公式" r:id="rId5" imgW="2806700" imgH="1397000" progId="Equation.3">
                  <p:embed/>
                </p:oleObj>
              </mc:Choice>
              <mc:Fallback>
                <p:oleObj name="公式" r:id="rId5" imgW="2806700" imgH="1397000" progId="Equation.3">
                  <p:embed/>
                  <p:pic>
                    <p:nvPicPr>
                      <p:cNvPr id="593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066800"/>
                        <a:ext cx="6178550" cy="277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9220201" y="990601"/>
          <a:ext cx="108902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8" name="公式" r:id="rId7" imgW="495085" imgH="1345616" progId="Equation.3">
                  <p:embed/>
                </p:oleObj>
              </mc:Choice>
              <mc:Fallback>
                <p:oleObj name="公式" r:id="rId7" imgW="495085" imgH="1345616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1" y="990601"/>
                        <a:ext cx="108902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3048000" y="3886200"/>
          <a:ext cx="31877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9" name="公式" r:id="rId9" imgW="1447800" imgH="1371600" progId="Equation.3">
                  <p:embed/>
                </p:oleObj>
              </mc:Choice>
              <mc:Fallback>
                <p:oleObj name="公式" r:id="rId9" imgW="1447800" imgH="137160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86200"/>
                        <a:ext cx="31877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6172201" y="3886200"/>
          <a:ext cx="55721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0" name="公式" r:id="rId11" imgW="254000" imgH="1295400" progId="Equation.3">
                  <p:embed/>
                </p:oleObj>
              </mc:Choice>
              <mc:Fallback>
                <p:oleObj name="公式" r:id="rId11" imgW="254000" imgH="1295400" progId="Equation.3">
                  <p:embed/>
                  <p:pic>
                    <p:nvPicPr>
                      <p:cNvPr id="59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886200"/>
                        <a:ext cx="55721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6707188" y="3867150"/>
          <a:ext cx="760412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1" name="Equation" r:id="rId13" imgW="342751" imgH="1269449" progId="Equation.3">
                  <p:embed/>
                </p:oleObj>
              </mc:Choice>
              <mc:Fallback>
                <p:oleObj name="Equation" r:id="rId13" imgW="342751" imgH="1269449" progId="Equation.3">
                  <p:embed/>
                  <p:pic>
                    <p:nvPicPr>
                      <p:cNvPr id="594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867150"/>
                        <a:ext cx="760412" cy="260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79600" y="124083"/>
            <a:ext cx="9499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50000"/>
              </a:spcBef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例：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x</a:t>
            </a:r>
            <a:r>
              <a:rPr kumimoji="0" lang="en-US" altLang="zh-CN" sz="2900" b="1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[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]={1,1,1},  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 </a:t>
            </a:r>
            <a:r>
              <a:rPr kumimoji="0" lang="en-US" altLang="zh-CN" sz="2900" b="1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[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]={1,1,0,1} , </a:t>
            </a:r>
            <a:r>
              <a:rPr lang="zh-CN" altLang="en-US" sz="2800" dirty="0">
                <a:solidFill>
                  <a:prstClr val="black"/>
                </a:solidFill>
                <a:latin typeface="Comic Sans MS"/>
              </a:rPr>
              <a:t>计算计算线卷和循卷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79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992314" y="1066801"/>
          <a:ext cx="1233487" cy="268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0" name="公式" r:id="rId3" imgW="558800" imgH="1320800" progId="Equation.3">
                  <p:embed/>
                </p:oleObj>
              </mc:Choice>
              <mc:Fallback>
                <p:oleObj name="公式" r:id="rId3" imgW="558800" imgH="1320800" progId="Equation.3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066801"/>
                        <a:ext cx="1233487" cy="268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118323"/>
              </p:ext>
            </p:extLst>
          </p:nvPr>
        </p:nvGraphicFramePr>
        <p:xfrm>
          <a:off x="3270250" y="1087438"/>
          <a:ext cx="5732463" cy="277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1" name="Equation" r:id="rId5" imgW="2603160" imgH="1396800" progId="Equation.DSMT4">
                  <p:embed/>
                </p:oleObj>
              </mc:Choice>
              <mc:Fallback>
                <p:oleObj name="Equation" r:id="rId5" imgW="2603160" imgH="1396800" progId="Equation.DSMT4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1087438"/>
                        <a:ext cx="5732463" cy="2770187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9220200" y="990601"/>
          <a:ext cx="914400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2" name="公式" r:id="rId7" imgW="495085" imgH="1345616" progId="Equation.3">
                  <p:embed/>
                </p:oleObj>
              </mc:Choice>
              <mc:Fallback>
                <p:oleObj name="公式" r:id="rId7" imgW="495085" imgH="1345616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990601"/>
                        <a:ext cx="914400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3033714" y="3962400"/>
          <a:ext cx="32162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3" name="公式" r:id="rId9" imgW="1460500" imgH="1371600" progId="Equation.3">
                  <p:embed/>
                </p:oleObj>
              </mc:Choice>
              <mc:Fallback>
                <p:oleObj name="公式" r:id="rId9" imgW="1460500" imgH="1371600" progId="Equation.3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4" y="3962400"/>
                        <a:ext cx="32162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6172201" y="3962400"/>
          <a:ext cx="55721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4" name="公式" r:id="rId11" imgW="254000" imgH="1295400" progId="Equation.3">
                  <p:embed/>
                </p:oleObj>
              </mc:Choice>
              <mc:Fallback>
                <p:oleObj name="公式" r:id="rId11" imgW="254000" imgH="1295400" progId="Equation.3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962400"/>
                        <a:ext cx="55721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8"/>
          <p:cNvGraphicFramePr>
            <a:graphicFrameLocks noChangeAspect="1"/>
          </p:cNvGraphicFramePr>
          <p:nvPr/>
        </p:nvGraphicFramePr>
        <p:xfrm>
          <a:off x="6707188" y="3962400"/>
          <a:ext cx="760412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5" name="Equation" r:id="rId13" imgW="342751" imgH="1269449" progId="Equation.3">
                  <p:embed/>
                </p:oleObj>
              </mc:Choice>
              <mc:Fallback>
                <p:oleObj name="Equation" r:id="rId13" imgW="342751" imgH="1269449" progId="Equation.3">
                  <p:embed/>
                  <p:pic>
                    <p:nvPicPr>
                      <p:cNvPr id="61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3962400"/>
                        <a:ext cx="760412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2791" y="-37965"/>
            <a:ext cx="96264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5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73300" y="457200"/>
            <a:ext cx="9105900" cy="9144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怎样利用</a:t>
            </a:r>
            <a:r>
              <a:rPr lang="en-US" altLang="zh-CN" dirty="0"/>
              <a:t>DFT</a:t>
            </a:r>
            <a:r>
              <a:rPr lang="zh-CN" altLang="en-US" dirty="0"/>
              <a:t>求</a:t>
            </a:r>
            <a:r>
              <a:rPr lang="en-US" altLang="zh-CN" dirty="0"/>
              <a:t>IDFT</a:t>
            </a:r>
            <a:endParaRPr lang="en-US" altLang="zh-CN" dirty="0" smtClean="0"/>
          </a:p>
          <a:p>
            <a:r>
              <a:rPr lang="zh-CN" altLang="en-US" dirty="0" smtClean="0"/>
              <a:t>利用频谱分析仪分析时域信号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350600"/>
              </p:ext>
            </p:extLst>
          </p:nvPr>
        </p:nvGraphicFramePr>
        <p:xfrm>
          <a:off x="3570817" y="3275013"/>
          <a:ext cx="4735513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3" name="Equation" r:id="rId3" imgW="4735047" imgH="1780229" progId="Equation.DSMT4">
                  <p:embed/>
                </p:oleObj>
              </mc:Choice>
              <mc:Fallback>
                <p:oleObj name="Equation" r:id="rId3" imgW="4735047" imgH="178022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0817" y="3275013"/>
                        <a:ext cx="4735513" cy="177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9130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3232" y="457200"/>
            <a:ext cx="9215967" cy="914400"/>
          </a:xfrm>
        </p:spPr>
        <p:txBody>
          <a:bodyPr/>
          <a:lstStyle/>
          <a:p>
            <a:r>
              <a:rPr lang="zh-CN" altLang="en-US" dirty="0"/>
              <a:t>怎样利用</a:t>
            </a:r>
            <a:r>
              <a:rPr lang="en-US" altLang="zh-CN" dirty="0"/>
              <a:t>DFT</a:t>
            </a:r>
            <a:r>
              <a:rPr lang="zh-CN" altLang="en-US" dirty="0"/>
              <a:t>求</a:t>
            </a:r>
            <a:r>
              <a:rPr lang="en-US" altLang="zh-CN" dirty="0"/>
              <a:t>IDFT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6" y="5516035"/>
            <a:ext cx="11074400" cy="65616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59834"/>
              </p:ext>
            </p:extLst>
          </p:nvPr>
        </p:nvGraphicFramePr>
        <p:xfrm>
          <a:off x="662516" y="1745191"/>
          <a:ext cx="7289211" cy="1967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5" name="Equation" r:id="rId3" imgW="2869920" imgH="774360" progId="Equation.DSMT4">
                  <p:embed/>
                </p:oleObj>
              </mc:Choice>
              <mc:Fallback>
                <p:oleObj name="Equation" r:id="rId3" imgW="28699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516" y="1745191"/>
                        <a:ext cx="7289211" cy="1967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703939"/>
              </p:ext>
            </p:extLst>
          </p:nvPr>
        </p:nvGraphicFramePr>
        <p:xfrm>
          <a:off x="747712" y="4212165"/>
          <a:ext cx="4973289" cy="918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6" name="Equation" r:id="rId5" imgW="1993680" imgH="368280" progId="Equation.DSMT4">
                  <p:embed/>
                </p:oleObj>
              </mc:Choice>
              <mc:Fallback>
                <p:oleObj name="Equation" r:id="rId5" imgW="199368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712" y="4212165"/>
                        <a:ext cx="4973289" cy="918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51677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4473</TotalTime>
  <Words>434</Words>
  <Application>Microsoft Office PowerPoint</Application>
  <PresentationFormat>宽屏</PresentationFormat>
  <Paragraphs>61</Paragraphs>
  <Slides>16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等线</vt:lpstr>
      <vt:lpstr>等线 Light</vt:lpstr>
      <vt:lpstr>Microsoft YaHei</vt:lpstr>
      <vt:lpstr>黑体</vt:lpstr>
      <vt:lpstr>宋体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icfp99</vt:lpstr>
      <vt:lpstr>Office 主题​​</vt:lpstr>
      <vt:lpstr>Equation</vt:lpstr>
      <vt:lpstr>公式</vt:lpstr>
      <vt:lpstr>MathType 7.0 Equation</vt:lpstr>
      <vt:lpstr>DFT</vt:lpstr>
      <vt:lpstr>复习</vt:lpstr>
      <vt:lpstr>PowerPoint 演示文稿</vt:lpstr>
      <vt:lpstr>PowerPoint 演示文稿</vt:lpstr>
      <vt:lpstr>PowerPoint 演示文稿</vt:lpstr>
      <vt:lpstr>PowerPoint 演示文稿</vt:lpstr>
      <vt:lpstr>实共轭对称序列x(n)长度为N=5，现在已知n=0,1,2时， x(n)分别等于3,4,5,问n=3,4,5时， x(n)= </vt:lpstr>
      <vt:lpstr>DFT[x(n)]=X(k)={1+j,1-j},问DFT[Re[x(n)]]=            , DFT[Im[x(n)]]=  </vt:lpstr>
      <vt:lpstr>信号sin(wn)信号频谱满足什么特点？信号cos(wn)信号频谱满足什么特点？ </vt:lpstr>
      <vt:lpstr>利用DFT定义去解题</vt:lpstr>
      <vt:lpstr>PowerPoint 演示文稿</vt:lpstr>
      <vt:lpstr>例：x1[n]={1,1,1},  x 2[n]={1,1,0,1} , 计算线卷和循卷</vt:lpstr>
      <vt:lpstr>PowerPoint 演示文稿</vt:lpstr>
      <vt:lpstr>PowerPoint 演示文稿</vt:lpstr>
      <vt:lpstr>PowerPoint 演示文稿</vt:lpstr>
      <vt:lpstr>怎样利用DFT求IDFT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71</cp:revision>
  <dcterms:created xsi:type="dcterms:W3CDTF">2020-08-06T07:31:11Z</dcterms:created>
  <dcterms:modified xsi:type="dcterms:W3CDTF">2023-11-23T02:51:10Z</dcterms:modified>
</cp:coreProperties>
</file>