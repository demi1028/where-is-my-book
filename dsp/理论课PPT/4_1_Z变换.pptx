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08" r:id="rId2"/>
    <p:sldId id="309" r:id="rId3"/>
    <p:sldId id="310" r:id="rId4"/>
    <p:sldId id="311" r:id="rId5"/>
    <p:sldId id="303" r:id="rId6"/>
    <p:sldId id="304" r:id="rId7"/>
    <p:sldId id="305" r:id="rId8"/>
    <p:sldId id="306" r:id="rId9"/>
    <p:sldId id="307" r:id="rId10"/>
    <p:sldId id="275" r:id="rId11"/>
    <p:sldId id="276" r:id="rId12"/>
    <p:sldId id="302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88328" autoAdjust="0"/>
  </p:normalViewPr>
  <p:slideViewPr>
    <p:cSldViewPr snapToGrid="0">
      <p:cViewPr varScale="1">
        <p:scale>
          <a:sx n="64" d="100"/>
          <a:sy n="64" d="100"/>
        </p:scale>
        <p:origin x="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B99D7-9870-43E7-878E-5BB0F9D871EE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04442-28C1-41EF-8780-A19FF9896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85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D4A4C6-70F4-4329-9B4A-3716343157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1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60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0FC09C-5404-464D-92D4-F85EE48AE92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2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886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B05A29-842D-4215-96E7-964E690FFF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3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458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703E24-E973-48E2-B715-C691981CDC6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4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850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A32152-C229-45C8-A55A-97A0BDD9186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796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283B59-04B3-456E-AFE5-DFDB98AA94C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6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773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0508E9A-2D1C-4BA3-B781-E3C07CEC895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7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136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491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6720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441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3821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754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6825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230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985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4564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9225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5624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5287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08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7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/>
          </p:nvPr>
        </p:nvGraphicFramePr>
        <p:xfrm>
          <a:off x="733905" y="3463644"/>
          <a:ext cx="3773055" cy="324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7" name="Equation" r:id="rId3" imgW="1726920" imgH="1485720" progId="Equation.DSMT4">
                  <p:embed/>
                </p:oleObj>
              </mc:Choice>
              <mc:Fallback>
                <p:oleObj name="Equation" r:id="rId3" imgW="1726920" imgH="148572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3905" y="3463644"/>
                        <a:ext cx="3773055" cy="3245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990850" y="1620854"/>
          <a:ext cx="548005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8" name="Equation" r:id="rId5" imgW="2298700" imgH="431800" progId="Equation.3">
                  <p:embed/>
                </p:oleObj>
              </mc:Choice>
              <mc:Fallback>
                <p:oleObj name="Equation" r:id="rId5" imgW="2298700" imgH="431800" progId="Equation.3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850" y="1620854"/>
                        <a:ext cx="548005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489200" y="2768617"/>
            <a:ext cx="5709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则 </a:t>
            </a:r>
          </a:p>
        </p:txBody>
      </p:sp>
      <p:graphicFrame>
        <p:nvGraphicFramePr>
          <p:cNvPr id="8" name="对象 5"/>
          <p:cNvGraphicFramePr>
            <a:graphicFrameLocks noChangeAspect="1"/>
          </p:cNvGraphicFramePr>
          <p:nvPr/>
        </p:nvGraphicFramePr>
        <p:xfrm>
          <a:off x="3497263" y="2882916"/>
          <a:ext cx="47625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9" name="Equation" r:id="rId7" imgW="1981200" imgH="368300" progId="Equation.DSMT4">
                  <p:embed/>
                </p:oleObj>
              </mc:Choice>
              <mc:Fallback>
                <p:oleObj name="Equation" r:id="rId7" imgW="1981200" imgH="368300" progId="Equation.DSMT4">
                  <p:embed/>
                  <p:pic>
                    <p:nvPicPr>
                      <p:cNvPr id="8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63" y="2882916"/>
                        <a:ext cx="476250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011768" y="1276350"/>
            <a:ext cx="201294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9.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卷积定理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若</a:t>
            </a:r>
          </a:p>
        </p:txBody>
      </p:sp>
    </p:spTree>
    <p:extLst>
      <p:ext uri="{BB962C8B-B14F-4D97-AF65-F5344CB8AC3E}">
        <p14:creationId xmlns:p14="http://schemas.microsoft.com/office/powerpoint/2010/main" val="2646064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97954C-4818-4D5D-B469-7B085A42B91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2819400" y="304800"/>
            <a:ext cx="5181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Z</a:t>
            </a:r>
            <a:r>
              <a:rPr lang="zh-CN" altLang="en-US" smtClean="0">
                <a:ea typeface="宋体" panose="02010600030101010101" pitchFamily="2" charset="-122"/>
              </a:rPr>
              <a:t>变换的性质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2286001" y="1524000"/>
            <a:ext cx="4168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10.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序列乘积（复卷积定理） </a:t>
            </a:r>
          </a:p>
        </p:txBody>
      </p:sp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2784476" y="2057400"/>
            <a:ext cx="568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 </a:t>
            </a:r>
          </a:p>
        </p:txBody>
      </p:sp>
      <p:graphicFrame>
        <p:nvGraphicFramePr>
          <p:cNvPr id="39942" name="对象 2"/>
          <p:cNvGraphicFramePr>
            <a:graphicFrameLocks noChangeAspect="1"/>
          </p:cNvGraphicFramePr>
          <p:nvPr/>
        </p:nvGraphicFramePr>
        <p:xfrm>
          <a:off x="3197226" y="2044701"/>
          <a:ext cx="242411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1" name="Equation" r:id="rId4" imgW="1028254" imgH="203112" progId="Equation.3">
                  <p:embed/>
                </p:oleObj>
              </mc:Choice>
              <mc:Fallback>
                <p:oleObj name="Equation" r:id="rId4" imgW="1028254" imgH="203112" progId="Equation.3">
                  <p:embed/>
                  <p:pic>
                    <p:nvPicPr>
                      <p:cNvPr id="39942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7226" y="2044701"/>
                        <a:ext cx="242411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" name="Text Box 7"/>
          <p:cNvSpPr txBox="1">
            <a:spLocks noChangeArrowheads="1"/>
          </p:cNvSpPr>
          <p:nvPr/>
        </p:nvSpPr>
        <p:spPr bwMode="auto">
          <a:xfrm>
            <a:off x="2794000" y="2743201"/>
            <a:ext cx="5709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则 </a:t>
            </a:r>
          </a:p>
        </p:txBody>
      </p:sp>
      <p:graphicFrame>
        <p:nvGraphicFramePr>
          <p:cNvPr id="39944" name="对象 3"/>
          <p:cNvGraphicFramePr>
            <a:graphicFrameLocks noChangeAspect="1"/>
          </p:cNvGraphicFramePr>
          <p:nvPr/>
        </p:nvGraphicFramePr>
        <p:xfrm>
          <a:off x="3308350" y="2562226"/>
          <a:ext cx="6108700" cy="182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2" name="Equation" r:id="rId6" imgW="2984500" imgH="889000" progId="Equation.3">
                  <p:embed/>
                </p:oleObj>
              </mc:Choice>
              <mc:Fallback>
                <p:oleObj name="Equation" r:id="rId6" imgW="2984500" imgH="889000" progId="Equation.3">
                  <p:embed/>
                  <p:pic>
                    <p:nvPicPr>
                      <p:cNvPr id="3994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2562226"/>
                        <a:ext cx="6108700" cy="182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对象 4"/>
          <p:cNvGraphicFramePr>
            <a:graphicFrameLocks noChangeAspect="1"/>
          </p:cNvGraphicFramePr>
          <p:nvPr/>
        </p:nvGraphicFramePr>
        <p:xfrm>
          <a:off x="3429000" y="4648200"/>
          <a:ext cx="28336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3" name="Equation" r:id="rId8" imgW="1282700" imgH="241300" progId="Equation.3">
                  <p:embed/>
                </p:oleObj>
              </mc:Choice>
              <mc:Fallback>
                <p:oleObj name="Equation" r:id="rId8" imgW="1282700" imgH="241300" progId="Equation.3">
                  <p:embed/>
                  <p:pic>
                    <p:nvPicPr>
                      <p:cNvPr id="3994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648200"/>
                        <a:ext cx="283368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311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/>
          </p:nvPr>
        </p:nvGraphicFramePr>
        <p:xfrm>
          <a:off x="609600" y="1719263"/>
          <a:ext cx="6636327" cy="3988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1" name="Equation" r:id="rId3" imgW="2641320" imgH="1587240" progId="Equation.DSMT4">
                  <p:embed/>
                </p:oleObj>
              </mc:Choice>
              <mc:Fallback>
                <p:oleObj name="Equation" r:id="rId3" imgW="2641320" imgH="158724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" y="1719263"/>
                        <a:ext cx="6636327" cy="39881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9651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D791C60-6026-4B57-BD56-E95DDC33E8D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0" y="381000"/>
            <a:ext cx="54864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Z</a:t>
            </a:r>
            <a:r>
              <a:rPr lang="zh-CN" altLang="en-US" smtClean="0">
                <a:ea typeface="宋体" panose="02010600030101010101" pitchFamily="2" charset="-122"/>
              </a:rPr>
              <a:t>变换的性质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1828800" y="1597026"/>
            <a:ext cx="8534400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3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11.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帕塞伐（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Parseval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）定理</a:t>
            </a:r>
          </a:p>
        </p:txBody>
      </p:sp>
      <p:graphicFrame>
        <p:nvGraphicFramePr>
          <p:cNvPr id="40965" name="对象 2"/>
          <p:cNvGraphicFramePr>
            <a:graphicFrameLocks noChangeAspect="1"/>
          </p:cNvGraphicFramePr>
          <p:nvPr/>
        </p:nvGraphicFramePr>
        <p:xfrm>
          <a:off x="3235326" y="2362201"/>
          <a:ext cx="4697413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2" name="Equation" r:id="rId4" imgW="2032000" imgH="431800" progId="Equation.DSMT4">
                  <p:embed/>
                </p:oleObj>
              </mc:Choice>
              <mc:Fallback>
                <p:oleObj name="Equation" r:id="rId4" imgW="2032000" imgH="431800" progId="Equation.DSMT4">
                  <p:embed/>
                  <p:pic>
                    <p:nvPicPr>
                      <p:cNvPr id="40965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326" y="2362201"/>
                        <a:ext cx="4697413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3"/>
          <p:cNvGraphicFramePr>
            <a:graphicFrameLocks noChangeAspect="1"/>
          </p:cNvGraphicFramePr>
          <p:nvPr>
            <p:extLst/>
          </p:nvPr>
        </p:nvGraphicFramePr>
        <p:xfrm>
          <a:off x="2172277" y="3905881"/>
          <a:ext cx="6108700" cy="182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3" name="公式" r:id="rId6" imgW="2984500" imgH="889000" progId="Equation.3">
                  <p:embed/>
                </p:oleObj>
              </mc:Choice>
              <mc:Fallback>
                <p:oleObj name="公式" r:id="rId6" imgW="2984500" imgH="889000" progId="Equation.3">
                  <p:embed/>
                  <p:pic>
                    <p:nvPicPr>
                      <p:cNvPr id="6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2277" y="3905881"/>
                        <a:ext cx="6108700" cy="182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2886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1B8902-E9A9-4787-AFEA-1B3D388DD450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0" y="381000"/>
            <a:ext cx="73914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系统函数与系统特性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41988" name="TextBox 2"/>
          <p:cNvSpPr txBox="1">
            <a:spLocks noChangeArrowheads="1"/>
          </p:cNvSpPr>
          <p:nvPr/>
        </p:nvSpPr>
        <p:spPr bwMode="auto">
          <a:xfrm>
            <a:off x="2286000" y="1524000"/>
            <a:ext cx="22076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、系统函数</a:t>
            </a:r>
          </a:p>
        </p:txBody>
      </p:sp>
      <p:graphicFrame>
        <p:nvGraphicFramePr>
          <p:cNvPr id="41989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348148"/>
              </p:ext>
            </p:extLst>
          </p:nvPr>
        </p:nvGraphicFramePr>
        <p:xfrm>
          <a:off x="2911476" y="2001837"/>
          <a:ext cx="2151843" cy="105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4" name="Equation" r:id="rId4" imgW="850531" imgH="418918" progId="Equation.3">
                  <p:embed/>
                </p:oleObj>
              </mc:Choice>
              <mc:Fallback>
                <p:oleObj name="Equation" r:id="rId4" imgW="850531" imgH="418918" progId="Equation.3">
                  <p:embed/>
                  <p:pic>
                    <p:nvPicPr>
                      <p:cNvPr id="41989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1476" y="2001837"/>
                        <a:ext cx="2151843" cy="105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244724"/>
              </p:ext>
            </p:extLst>
          </p:nvPr>
        </p:nvGraphicFramePr>
        <p:xfrm>
          <a:off x="2895599" y="2903537"/>
          <a:ext cx="4301319" cy="102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5" name="Equation" r:id="rId6" imgW="1803400" imgH="431800" progId="Equation.3">
                  <p:embed/>
                </p:oleObj>
              </mc:Choice>
              <mc:Fallback>
                <p:oleObj name="Equation" r:id="rId6" imgW="1803400" imgH="431800" progId="Equation.3">
                  <p:embed/>
                  <p:pic>
                    <p:nvPicPr>
                      <p:cNvPr id="4199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599" y="2903537"/>
                        <a:ext cx="4301319" cy="102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1" name="TextBox 8"/>
          <p:cNvSpPr txBox="1">
            <a:spLocks noChangeArrowheads="1"/>
          </p:cNvSpPr>
          <p:nvPr/>
        </p:nvSpPr>
        <p:spPr bwMode="auto">
          <a:xfrm>
            <a:off x="2438400" y="4073858"/>
            <a:ext cx="22076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、稳定系统</a:t>
            </a:r>
          </a:p>
        </p:txBody>
      </p:sp>
      <p:graphicFrame>
        <p:nvGraphicFramePr>
          <p:cNvPr id="41992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6061169"/>
              </p:ext>
            </p:extLst>
          </p:nvPr>
        </p:nvGraphicFramePr>
        <p:xfrm>
          <a:off x="3321049" y="4454859"/>
          <a:ext cx="2379165" cy="1155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6" name="Equation" r:id="rId8" imgW="888614" imgH="431613" progId="Equation.3">
                  <p:embed/>
                </p:oleObj>
              </mc:Choice>
              <mc:Fallback>
                <p:oleObj name="Equation" r:id="rId8" imgW="888614" imgH="431613" progId="Equation.3">
                  <p:embed/>
                  <p:pic>
                    <p:nvPicPr>
                      <p:cNvPr id="41992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1049" y="4454859"/>
                        <a:ext cx="2379165" cy="11554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4" name="矩形 11"/>
          <p:cNvSpPr>
            <a:spLocks noChangeArrowheads="1"/>
          </p:cNvSpPr>
          <p:nvPr/>
        </p:nvSpPr>
        <p:spPr bwMode="auto">
          <a:xfrm>
            <a:off x="3124200" y="5562600"/>
            <a:ext cx="4572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收敛域包括单位圆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|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z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|=1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4747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38A756-772C-4892-BE5B-FE09722651E5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0" y="533400"/>
            <a:ext cx="47244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系统函数与系统特性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43012" name="TextBox 2"/>
          <p:cNvSpPr txBox="1">
            <a:spLocks noChangeArrowheads="1"/>
          </p:cNvSpPr>
          <p:nvPr/>
        </p:nvSpPr>
        <p:spPr bwMode="auto">
          <a:xfrm>
            <a:off x="2209800" y="1600200"/>
            <a:ext cx="1631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、因果系统</a:t>
            </a:r>
          </a:p>
        </p:txBody>
      </p:sp>
      <p:graphicFrame>
        <p:nvGraphicFramePr>
          <p:cNvPr id="43013" name="对象 3"/>
          <p:cNvGraphicFramePr>
            <a:graphicFrameLocks noChangeAspect="1"/>
          </p:cNvGraphicFramePr>
          <p:nvPr/>
        </p:nvGraphicFramePr>
        <p:xfrm>
          <a:off x="3638550" y="1981200"/>
          <a:ext cx="17208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6" name="Equation" r:id="rId4" imgW="774364" imgH="228501" progId="Equation.3">
                  <p:embed/>
                </p:oleObj>
              </mc:Choice>
              <mc:Fallback>
                <p:oleObj name="Equation" r:id="rId4" imgW="774364" imgH="228501" progId="Equation.3">
                  <p:embed/>
                  <p:pic>
                    <p:nvPicPr>
                      <p:cNvPr id="43013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50" y="1981200"/>
                        <a:ext cx="17208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4" name="TextBox 4"/>
          <p:cNvSpPr txBox="1">
            <a:spLocks noChangeArrowheads="1"/>
          </p:cNvSpPr>
          <p:nvPr/>
        </p:nvSpPr>
        <p:spPr bwMode="auto">
          <a:xfrm>
            <a:off x="2286000" y="3582988"/>
            <a:ext cx="21478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、因果稳定系统</a:t>
            </a:r>
          </a:p>
        </p:txBody>
      </p:sp>
      <p:graphicFrame>
        <p:nvGraphicFramePr>
          <p:cNvPr id="43015" name="对象 5"/>
          <p:cNvGraphicFramePr>
            <a:graphicFrameLocks noChangeAspect="1"/>
          </p:cNvGraphicFramePr>
          <p:nvPr/>
        </p:nvGraphicFramePr>
        <p:xfrm>
          <a:off x="3657600" y="4060826"/>
          <a:ext cx="320675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7" name="Equation" r:id="rId6" imgW="1384300" imgH="254000" progId="Equation.3">
                  <p:embed/>
                </p:oleObj>
              </mc:Choice>
              <mc:Fallback>
                <p:oleObj name="Equation" r:id="rId6" imgW="1384300" imgH="254000" progId="Equation.3">
                  <p:embed/>
                  <p:pic>
                    <p:nvPicPr>
                      <p:cNvPr id="43015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060826"/>
                        <a:ext cx="320675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126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C92172-DB05-41C3-9ADE-B785D75B979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0" y="533400"/>
            <a:ext cx="47244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系统函数与系统特性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44036" name="TextBox 6"/>
          <p:cNvSpPr txBox="1">
            <a:spLocks noChangeArrowheads="1"/>
          </p:cNvSpPr>
          <p:nvPr/>
        </p:nvSpPr>
        <p:spPr bwMode="auto">
          <a:xfrm>
            <a:off x="2362200" y="1524000"/>
            <a:ext cx="36972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、系统函数和差分方程的关系</a:t>
            </a:r>
          </a:p>
        </p:txBody>
      </p:sp>
      <p:graphicFrame>
        <p:nvGraphicFramePr>
          <p:cNvPr id="44037" name="对象 7"/>
          <p:cNvGraphicFramePr>
            <a:graphicFrameLocks noChangeAspect="1"/>
          </p:cNvGraphicFramePr>
          <p:nvPr/>
        </p:nvGraphicFramePr>
        <p:xfrm>
          <a:off x="3581400" y="1981201"/>
          <a:ext cx="3621088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8" name="Equation" r:id="rId4" imgW="1790700" imgH="431800" progId="Equation.3">
                  <p:embed/>
                </p:oleObj>
              </mc:Choice>
              <mc:Fallback>
                <p:oleObj name="Equation" r:id="rId4" imgW="1790700" imgH="431800" progId="Equation.3">
                  <p:embed/>
                  <p:pic>
                    <p:nvPicPr>
                      <p:cNvPr id="44037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981201"/>
                        <a:ext cx="3621088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对象 1"/>
          <p:cNvGraphicFramePr>
            <a:graphicFrameLocks noChangeAspect="1"/>
          </p:cNvGraphicFramePr>
          <p:nvPr/>
        </p:nvGraphicFramePr>
        <p:xfrm>
          <a:off x="3687763" y="2954338"/>
          <a:ext cx="2705100" cy="146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9" name="Equation" r:id="rId6" imgW="1549400" imgH="838200" progId="Equation.3">
                  <p:embed/>
                </p:oleObj>
              </mc:Choice>
              <mc:Fallback>
                <p:oleObj name="Equation" r:id="rId6" imgW="1549400" imgH="838200" progId="Equation.3">
                  <p:embed/>
                  <p:pic>
                    <p:nvPicPr>
                      <p:cNvPr id="44038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7763" y="2954338"/>
                        <a:ext cx="2705100" cy="1465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9" name="对象 8"/>
          <p:cNvGraphicFramePr>
            <a:graphicFrameLocks noChangeAspect="1"/>
          </p:cNvGraphicFramePr>
          <p:nvPr/>
        </p:nvGraphicFramePr>
        <p:xfrm>
          <a:off x="3638550" y="4486276"/>
          <a:ext cx="291465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0" name="Equation" r:id="rId8" imgW="1676400" imgH="838200" progId="Equation.3">
                  <p:embed/>
                </p:oleObj>
              </mc:Choice>
              <mc:Fallback>
                <p:oleObj name="Equation" r:id="rId8" imgW="1676400" imgH="838200" progId="Equation.3">
                  <p:embed/>
                  <p:pic>
                    <p:nvPicPr>
                      <p:cNvPr id="4403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50" y="4486276"/>
                        <a:ext cx="2914650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0" name="TextBox 9"/>
          <p:cNvSpPr txBox="1">
            <a:spLocks noChangeArrowheads="1"/>
          </p:cNvSpPr>
          <p:nvPr/>
        </p:nvSpPr>
        <p:spPr bwMode="auto">
          <a:xfrm>
            <a:off x="7162800" y="4800600"/>
            <a:ext cx="29718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除了比例常数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以外，系统函数完全由它的全部零点、极点来确定</a:t>
            </a:r>
          </a:p>
        </p:txBody>
      </p:sp>
    </p:spTree>
    <p:extLst>
      <p:ext uri="{BB962C8B-B14F-4D97-AF65-F5344CB8AC3E}">
        <p14:creationId xmlns:p14="http://schemas.microsoft.com/office/powerpoint/2010/main" val="1411457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6CA45F-32EB-4806-9323-D39200C6E83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800" y="503238"/>
            <a:ext cx="61722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例题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pic>
        <p:nvPicPr>
          <p:cNvPr id="4506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514" y="2255838"/>
            <a:ext cx="3722687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1" name="TextBox 2"/>
          <p:cNvSpPr txBox="1">
            <a:spLocks noChangeArrowheads="1"/>
          </p:cNvSpPr>
          <p:nvPr/>
        </p:nvSpPr>
        <p:spPr bwMode="auto">
          <a:xfrm>
            <a:off x="2057400" y="1600200"/>
            <a:ext cx="857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：</a:t>
            </a:r>
          </a:p>
        </p:txBody>
      </p:sp>
      <p:pic>
        <p:nvPicPr>
          <p:cNvPr id="45062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524000"/>
            <a:ext cx="647700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3" name="Text Box 4"/>
          <p:cNvSpPr txBox="1">
            <a:spLocks noChangeArrowheads="1"/>
          </p:cNvSpPr>
          <p:nvPr/>
        </p:nvSpPr>
        <p:spPr bwMode="auto">
          <a:xfrm>
            <a:off x="2024064" y="3200400"/>
            <a:ext cx="2892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已知系统函数为 </a:t>
            </a:r>
          </a:p>
        </p:txBody>
      </p:sp>
      <p:graphicFrame>
        <p:nvGraphicFramePr>
          <p:cNvPr id="45064" name="对象 3"/>
          <p:cNvGraphicFramePr>
            <a:graphicFrameLocks noChangeAspect="1"/>
          </p:cNvGraphicFramePr>
          <p:nvPr/>
        </p:nvGraphicFramePr>
        <p:xfrm>
          <a:off x="2514601" y="3605214"/>
          <a:ext cx="5267325" cy="1423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6" name="Equation" r:id="rId6" imgW="2959100" imgH="800100" progId="Equation.3">
                  <p:embed/>
                </p:oleObj>
              </mc:Choice>
              <mc:Fallback>
                <p:oleObj name="Equation" r:id="rId6" imgW="2959100" imgH="800100" progId="Equation.3">
                  <p:embed/>
                  <p:pic>
                    <p:nvPicPr>
                      <p:cNvPr id="4506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3605214"/>
                        <a:ext cx="5267325" cy="1423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5" name="Text Box 6"/>
          <p:cNvSpPr txBox="1">
            <a:spLocks noChangeArrowheads="1"/>
          </p:cNvSpPr>
          <p:nvPr/>
        </p:nvSpPr>
        <p:spPr bwMode="auto">
          <a:xfrm>
            <a:off x="8077200" y="4110038"/>
            <a:ext cx="2020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ROC:2&lt;|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|≤∞ </a:t>
            </a:r>
          </a:p>
        </p:txBody>
      </p:sp>
      <p:sp>
        <p:nvSpPr>
          <p:cNvPr id="45066" name="TextBox 5"/>
          <p:cNvSpPr txBox="1">
            <a:spLocks noChangeArrowheads="1"/>
          </p:cNvSpPr>
          <p:nvPr/>
        </p:nvSpPr>
        <p:spPr bwMode="auto">
          <a:xfrm>
            <a:off x="2819400" y="5334000"/>
            <a:ext cx="4313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求系统的单位脉冲响应及系统性质。</a:t>
            </a:r>
          </a:p>
        </p:txBody>
      </p:sp>
    </p:spTree>
    <p:extLst>
      <p:ext uri="{BB962C8B-B14F-4D97-AF65-F5344CB8AC3E}">
        <p14:creationId xmlns:p14="http://schemas.microsoft.com/office/powerpoint/2010/main" val="267443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/>
          </p:nvPr>
        </p:nvGraphicFramePr>
        <p:xfrm>
          <a:off x="696494" y="1480636"/>
          <a:ext cx="3376633" cy="2802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8" name="Equation" r:id="rId3" imgW="1269720" imgH="1054080" progId="Equation.DSMT4">
                  <p:embed/>
                </p:oleObj>
              </mc:Choice>
              <mc:Fallback>
                <p:oleObj name="Equation" r:id="rId3" imgW="1269720" imgH="105408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6494" y="1480636"/>
                        <a:ext cx="3376633" cy="2802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/>
          </p:nvPr>
        </p:nvGraphicFramePr>
        <p:xfrm>
          <a:off x="6618288" y="2714625"/>
          <a:ext cx="3290887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9" name="Equation" r:id="rId5" imgW="1231560" imgH="241200" progId="Equation.DSMT4">
                  <p:embed/>
                </p:oleObj>
              </mc:Choice>
              <mc:Fallback>
                <p:oleObj name="Equation" r:id="rId5" imgW="1231560" imgH="2412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18288" y="2714625"/>
                        <a:ext cx="3290887" cy="639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669505" y="3424235"/>
            <a:ext cx="2020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ROC:2&lt;|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|≤∞ </a:t>
            </a:r>
          </a:p>
        </p:txBody>
      </p:sp>
    </p:spTree>
    <p:extLst>
      <p:ext uri="{BB962C8B-B14F-4D97-AF65-F5344CB8AC3E}">
        <p14:creationId xmlns:p14="http://schemas.microsoft.com/office/powerpoint/2010/main" val="4158484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8BDE51F-1AAF-4913-8193-75F9E65D6525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533400"/>
            <a:ext cx="7728284" cy="91440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有理系统的单位脉冲响应（</a:t>
            </a:r>
            <a:r>
              <a:rPr lang="en-US" altLang="zh-CN" dirty="0" smtClean="0">
                <a:ea typeface="宋体" panose="02010600030101010101" pitchFamily="2" charset="-122"/>
              </a:rPr>
              <a:t>IIR,FIR</a:t>
            </a:r>
            <a:r>
              <a:rPr lang="zh-CN" altLang="en-US" dirty="0" smtClean="0">
                <a:ea typeface="宋体" panose="02010600030101010101" pitchFamily="2" charset="-122"/>
              </a:rPr>
              <a:t>长度分类）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graphicFrame>
        <p:nvGraphicFramePr>
          <p:cNvPr id="46084" name="对象 2"/>
          <p:cNvGraphicFramePr>
            <a:graphicFrameLocks noChangeAspect="1"/>
          </p:cNvGraphicFramePr>
          <p:nvPr/>
        </p:nvGraphicFramePr>
        <p:xfrm>
          <a:off x="2286000" y="1600201"/>
          <a:ext cx="2362200" cy="187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2" name="Equation" r:id="rId4" imgW="1054100" imgH="838200" progId="Equation.3">
                  <p:embed/>
                </p:oleObj>
              </mc:Choice>
              <mc:Fallback>
                <p:oleObj name="Equation" r:id="rId4" imgW="1054100" imgH="838200" progId="Equation.3">
                  <p:embed/>
                  <p:pic>
                    <p:nvPicPr>
                      <p:cNvPr id="46084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600201"/>
                        <a:ext cx="2362200" cy="187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对象 4"/>
          <p:cNvGraphicFramePr>
            <a:graphicFrameLocks noChangeAspect="1"/>
          </p:cNvGraphicFramePr>
          <p:nvPr/>
        </p:nvGraphicFramePr>
        <p:xfrm>
          <a:off x="4724401" y="2068513"/>
          <a:ext cx="3490913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3" name="Equation" r:id="rId6" imgW="1346200" imgH="381000" progId="Equation.DSMT4">
                  <p:embed/>
                </p:oleObj>
              </mc:Choice>
              <mc:Fallback>
                <p:oleObj name="Equation" r:id="rId6" imgW="1346200" imgH="381000" progId="Equation.DSMT4">
                  <p:embed/>
                  <p:pic>
                    <p:nvPicPr>
                      <p:cNvPr id="4608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1" y="2068513"/>
                        <a:ext cx="3490913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对象 5"/>
          <p:cNvGraphicFramePr>
            <a:graphicFrameLocks noChangeAspect="1"/>
          </p:cNvGraphicFramePr>
          <p:nvPr/>
        </p:nvGraphicFramePr>
        <p:xfrm>
          <a:off x="2397126" y="3778250"/>
          <a:ext cx="491807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4" name="Equation" r:id="rId8" imgW="2184400" imgH="431800" progId="Equation.3">
                  <p:embed/>
                </p:oleObj>
              </mc:Choice>
              <mc:Fallback>
                <p:oleObj name="Equation" r:id="rId8" imgW="2184400" imgH="431800" progId="Equation.3">
                  <p:embed/>
                  <p:pic>
                    <p:nvPicPr>
                      <p:cNvPr id="4608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126" y="3778250"/>
                        <a:ext cx="4918075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7" name="TextBox 6"/>
          <p:cNvSpPr txBox="1">
            <a:spLocks noChangeArrowheads="1"/>
          </p:cNvSpPr>
          <p:nvPr/>
        </p:nvSpPr>
        <p:spPr bwMode="auto">
          <a:xfrm>
            <a:off x="2819400" y="5162550"/>
            <a:ext cx="3060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</a:rPr>
              <a:t>IIR:</a:t>
            </a:r>
            <a:r>
              <a:rPr lang="zh-CN" altLang="en-US">
                <a:solidFill>
                  <a:srgbClr val="000000"/>
                </a:solidFill>
              </a:rPr>
              <a:t>无限长单位脉冲响应</a:t>
            </a:r>
          </a:p>
        </p:txBody>
      </p:sp>
      <p:sp>
        <p:nvSpPr>
          <p:cNvPr id="46088" name="TextBox 11"/>
          <p:cNvSpPr txBox="1">
            <a:spLocks noChangeArrowheads="1"/>
          </p:cNvSpPr>
          <p:nvPr/>
        </p:nvSpPr>
        <p:spPr bwMode="auto">
          <a:xfrm>
            <a:off x="2819401" y="5695950"/>
            <a:ext cx="30765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</a:rPr>
              <a:t>FIR:</a:t>
            </a:r>
            <a:r>
              <a:rPr lang="zh-CN" altLang="en-US">
                <a:solidFill>
                  <a:srgbClr val="000000"/>
                </a:solidFill>
              </a:rPr>
              <a:t>有限长单位脉冲响应</a:t>
            </a:r>
          </a:p>
        </p:txBody>
      </p:sp>
    </p:spTree>
    <p:extLst>
      <p:ext uri="{BB962C8B-B14F-4D97-AF65-F5344CB8AC3E}">
        <p14:creationId xmlns:p14="http://schemas.microsoft.com/office/powerpoint/2010/main" val="2424513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例题求</a:t>
            </a:r>
            <a:r>
              <a:rPr lang="en-US" altLang="zh-CN" dirty="0" smtClean="0">
                <a:ea typeface="宋体" panose="02010600030101010101" pitchFamily="2" charset="-122"/>
              </a:rPr>
              <a:t>H</a:t>
            </a:r>
            <a:r>
              <a:rPr lang="zh-CN" altLang="en-US" dirty="0" smtClean="0">
                <a:ea typeface="宋体" panose="02010600030101010101" pitchFamily="2" charset="-122"/>
              </a:rPr>
              <a:t>（</a:t>
            </a:r>
            <a:r>
              <a:rPr lang="en-US" altLang="zh-CN" dirty="0" smtClean="0">
                <a:ea typeface="宋体" panose="02010600030101010101" pitchFamily="2" charset="-122"/>
              </a:rPr>
              <a:t>z</a:t>
            </a:r>
            <a:r>
              <a:rPr lang="zh-CN" altLang="en-US" dirty="0" smtClean="0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4710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36A325D7-0438-4596-8D7E-25C64A3CC93C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08" name="Text Box 1028"/>
          <p:cNvSpPr txBox="1">
            <a:spLocks noChangeArrowheads="1"/>
          </p:cNvSpPr>
          <p:nvPr/>
        </p:nvSpPr>
        <p:spPr bwMode="auto">
          <a:xfrm>
            <a:off x="1752600" y="1554164"/>
            <a:ext cx="86868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：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考虑一个因果系统，其输入输出满足差分方程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)=0.5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-1)+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47109" name="Text Box 4"/>
          <p:cNvSpPr txBox="1">
            <a:spLocks noChangeArrowheads="1"/>
          </p:cNvSpPr>
          <p:nvPr/>
        </p:nvSpPr>
        <p:spPr bwMode="auto">
          <a:xfrm>
            <a:off x="1981201" y="3424238"/>
            <a:ext cx="48244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： 一个系统的单位脉冲响应为 </a:t>
            </a:r>
          </a:p>
        </p:txBody>
      </p:sp>
      <p:graphicFrame>
        <p:nvGraphicFramePr>
          <p:cNvPr id="47110" name="对象 6"/>
          <p:cNvGraphicFramePr>
            <a:graphicFrameLocks noChangeAspect="1"/>
          </p:cNvGraphicFramePr>
          <p:nvPr/>
        </p:nvGraphicFramePr>
        <p:xfrm>
          <a:off x="4191000" y="4032250"/>
          <a:ext cx="3856038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0" name="Equation" r:id="rId3" imgW="1600200" imgH="508000" progId="Equation.3">
                  <p:embed/>
                </p:oleObj>
              </mc:Choice>
              <mc:Fallback>
                <p:oleObj name="Equation" r:id="rId3" imgW="1600200" imgH="508000" progId="Equation.3">
                  <p:embed/>
                  <p:pic>
                    <p:nvPicPr>
                      <p:cNvPr id="4711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032250"/>
                        <a:ext cx="3856038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7735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" name="内容占位符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880889"/>
              </p:ext>
            </p:extLst>
          </p:nvPr>
        </p:nvGraphicFramePr>
        <p:xfrm>
          <a:off x="609600" y="1724162"/>
          <a:ext cx="5781628" cy="2723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7" name="Equation" r:id="rId3" imgW="1536480" imgH="723600" progId="Equation.DSMT4">
                  <p:embed/>
                </p:oleObj>
              </mc:Choice>
              <mc:Fallback>
                <p:oleObj name="Equation" r:id="rId3" imgW="15364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" y="1724162"/>
                        <a:ext cx="5781628" cy="27231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951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</TotalTime>
  <Words>205</Words>
  <Application>Microsoft Office PowerPoint</Application>
  <PresentationFormat>宽屏</PresentationFormat>
  <Paragraphs>51</Paragraphs>
  <Slides>12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宋体</vt:lpstr>
      <vt:lpstr>Comic Sans MS</vt:lpstr>
      <vt:lpstr>Times New Roman</vt:lpstr>
      <vt:lpstr>icfp99</vt:lpstr>
      <vt:lpstr>Equation</vt:lpstr>
      <vt:lpstr>公式</vt:lpstr>
      <vt:lpstr>PowerPoint 演示文稿</vt:lpstr>
      <vt:lpstr>Z变换的性质 </vt:lpstr>
      <vt:lpstr>PowerPoint 演示文稿</vt:lpstr>
      <vt:lpstr>Z变换的性质 </vt:lpstr>
      <vt:lpstr>系统函数与系统特性</vt:lpstr>
      <vt:lpstr>系统函数与系统特性</vt:lpstr>
      <vt:lpstr>系统函数与系统特性</vt:lpstr>
      <vt:lpstr>例题</vt:lpstr>
      <vt:lpstr>PowerPoint 演示文稿</vt:lpstr>
      <vt:lpstr>有理系统的单位脉冲响应（IIR,FIR长度分类）</vt:lpstr>
      <vt:lpstr>例题求H（z）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离散时间系统的变换域分析——Z变换</dc:title>
  <dc:creator>Administrator</dc:creator>
  <cp:lastModifiedBy>Administrator</cp:lastModifiedBy>
  <cp:revision>87</cp:revision>
  <dcterms:created xsi:type="dcterms:W3CDTF">2020-08-06T07:26:29Z</dcterms:created>
  <dcterms:modified xsi:type="dcterms:W3CDTF">2023-10-20T07:54:35Z</dcterms:modified>
</cp:coreProperties>
</file>