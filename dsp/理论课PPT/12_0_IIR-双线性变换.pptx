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316" r:id="rId2"/>
    <p:sldId id="317" r:id="rId3"/>
    <p:sldId id="318" r:id="rId4"/>
    <p:sldId id="319" r:id="rId5"/>
    <p:sldId id="320" r:id="rId6"/>
    <p:sldId id="321" r:id="rId7"/>
    <p:sldId id="322" r:id="rId8"/>
    <p:sldId id="312" r:id="rId9"/>
    <p:sldId id="305" r:id="rId10"/>
    <p:sldId id="279" r:id="rId11"/>
    <p:sldId id="280" r:id="rId12"/>
    <p:sldId id="281" r:id="rId13"/>
    <p:sldId id="282" r:id="rId14"/>
    <p:sldId id="323" r:id="rId15"/>
    <p:sldId id="283" r:id="rId16"/>
    <p:sldId id="284" r:id="rId17"/>
    <p:sldId id="285" r:id="rId18"/>
    <p:sldId id="286"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30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5" Type="http://schemas.openxmlformats.org/officeDocument/2006/relationships/image" Target="../media/image14.wmf"/><Relationship Id="rId4"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4.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0.wmf"/><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DE8779-9A25-448F-8182-1AE0765117B0}" type="datetimeFigureOut">
              <a:rPr lang="zh-CN" altLang="en-US" smtClean="0"/>
              <a:t>2022/11/14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A2067-EBAE-4796-A48D-2E12FA4BE858}" type="slidenum">
              <a:rPr lang="zh-CN" altLang="en-US" smtClean="0"/>
              <a:t>‹#›</a:t>
            </a:fld>
            <a:endParaRPr lang="zh-CN" altLang="en-US"/>
          </a:p>
        </p:txBody>
      </p:sp>
    </p:spTree>
    <p:extLst>
      <p:ext uri="{BB962C8B-B14F-4D97-AF65-F5344CB8AC3E}">
        <p14:creationId xmlns:p14="http://schemas.microsoft.com/office/powerpoint/2010/main" val="262830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8799D9AA-3580-411E-BAF4-C34818F8FEA3}" type="slidenum">
              <a:rPr lang="zh-CN" altLang="en-US" sz="1200">
                <a:solidFill>
                  <a:srgbClr val="000000"/>
                </a:solidFill>
                <a:latin typeface="等线" panose="02010600030101010101" pitchFamily="2" charset="-122"/>
                <a:ea typeface="等线" panose="02010600030101010101" pitchFamily="2" charset="-122"/>
              </a:rPr>
              <a:pPr/>
              <a:t>1</a:t>
            </a:fld>
            <a:endParaRPr lang="zh-CN" altLang="en-US" sz="1200">
              <a:solidFill>
                <a:srgbClr val="00000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739580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b="1" smtClean="0">
              <a:latin typeface="微软雅黑" panose="020B0503020204020204" pitchFamily="34" charset="-122"/>
              <a:ea typeface="微软雅黑" panose="020B0503020204020204" pitchFamily="34" charset="-122"/>
            </a:endParaRPr>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D2E08E4-B8BF-4D3A-9C4F-54A4CEC7D2F3}" type="slidenum">
              <a:rPr kumimoji="0" lang="zh-CN" altLang="en-US" sz="1200">
                <a:solidFill>
                  <a:srgbClr val="000000"/>
                </a:solidFill>
                <a:latin typeface="Calibri" panose="020F0502020204030204" pitchFamily="34" charset="0"/>
              </a:rPr>
              <a:pPr eaLnBrk="1" hangingPunct="1"/>
              <a:t>2</a:t>
            </a:fld>
            <a:endParaRPr kumimoji="0" lang="zh-CN"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810281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098" name="Rectangle 1026"/>
          <p:cNvSpPr>
            <a:spLocks noGrp="1" noChangeArrowheads="1"/>
          </p:cNvSpPr>
          <p:nvPr>
            <p:ph type="ctrTitle"/>
          </p:nvPr>
        </p:nvSpPr>
        <p:spPr>
          <a:xfrm>
            <a:off x="914400" y="2286000"/>
            <a:ext cx="10363200" cy="1143000"/>
          </a:xfrm>
        </p:spPr>
        <p:txBody>
          <a:bodyPr/>
          <a:lstStyle>
            <a:lvl1pPr algn="ctr">
              <a:defRPr/>
            </a:lvl1pPr>
          </a:lstStyle>
          <a:p>
            <a:r>
              <a:rPr lang="en-US" altLang="zh-CN"/>
              <a:t>Click to edit Master title style</a:t>
            </a:r>
          </a:p>
        </p:txBody>
      </p:sp>
      <p:sp>
        <p:nvSpPr>
          <p:cNvPr id="4099" name="Rectangle 1027"/>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altLang="zh-CN"/>
              <a:t>Click to edit Master subtitle style</a:t>
            </a:r>
          </a:p>
        </p:txBody>
      </p:sp>
      <p:sp>
        <p:nvSpPr>
          <p:cNvPr id="4" name="Rectangle 1028"/>
          <p:cNvSpPr>
            <a:spLocks noGrp="1" noChangeArrowheads="1"/>
          </p:cNvSpPr>
          <p:nvPr>
            <p:ph type="dt" sz="half" idx="10"/>
          </p:nvPr>
        </p:nvSpPr>
        <p:spPr>
          <a:xfrm>
            <a:off x="711200" y="6248400"/>
            <a:ext cx="2540000" cy="457200"/>
          </a:xfrm>
        </p:spPr>
        <p:txBody>
          <a:bodyPr/>
          <a:lstStyle>
            <a:lvl1pPr>
              <a:defRPr/>
            </a:lvl1pPr>
          </a:lstStyle>
          <a:p>
            <a:pPr eaLnBrk="0" fontAlgn="base" hangingPunct="0">
              <a:spcBef>
                <a:spcPct val="0"/>
              </a:spcBef>
              <a:spcAft>
                <a:spcPct val="0"/>
              </a:spcAft>
              <a:defRPr/>
            </a:pPr>
            <a:fld id="{9EB89419-C344-40C6-B4AF-B64360F5EC64}"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5" name="Rectangle 1029"/>
          <p:cNvSpPr>
            <a:spLocks noGrp="1" noChangeArrowheads="1"/>
          </p:cNvSpPr>
          <p:nvPr>
            <p:ph type="ftr" sz="quarter" idx="11"/>
          </p:nvPr>
        </p:nvSpPr>
        <p:spPr>
          <a:xfrm>
            <a:off x="3352800" y="6248400"/>
            <a:ext cx="5486400" cy="457200"/>
          </a:xfrm>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1030"/>
          <p:cNvSpPr>
            <a:spLocks noGrp="1" noChangeArrowheads="1"/>
          </p:cNvSpPr>
          <p:nvPr>
            <p:ph type="sldNum" sz="quarter" idx="12"/>
          </p:nvPr>
        </p:nvSpPr>
        <p:spPr>
          <a:xfrm>
            <a:off x="8940800" y="6248400"/>
            <a:ext cx="2540000" cy="457200"/>
          </a:xfrm>
        </p:spPr>
        <p:txBody>
          <a:bodyPr/>
          <a:lstStyle>
            <a:lvl1pPr>
              <a:defRPr/>
            </a:lvl1pPr>
          </a:lstStyle>
          <a:p>
            <a:pPr eaLnBrk="0" fontAlgn="base" hangingPunct="0">
              <a:spcBef>
                <a:spcPct val="0"/>
              </a:spcBef>
              <a:spcAft>
                <a:spcPct val="0"/>
              </a:spcAft>
            </a:pPr>
            <a:fld id="{AD0EC15D-9C77-4188-80FD-534CB4D62597}"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314689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5167" y="165100"/>
            <a:ext cx="140546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fld id="{61009DD4-B744-4A5A-9BCF-2BE1219C8786}"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668623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ADB5375B-8E09-4DD8-A950-D279B55D1AF6}"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684607E7-4DB9-45E5-BF73-16A5A03CEE1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2344024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48400" y="1600200"/>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FEA3D01B-CED5-4F8A-B6C8-7E3E79320ED9}"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BD40AEE6-7319-4B5B-93D0-3548900E185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2065767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ED440ECF-C06C-4365-A82F-7FCF58AB175D}"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E1916CC5-3ED3-4E00-85B5-005DC67C0A92}"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90399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D1AF378D-529B-499C-888D-96616A7FD7B3}"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247B3999-57F6-416E-A1A2-5253D300C464}"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771257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09C2F7E0-74B7-4DF6-835D-211E54381D8A}"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8E688483-54E8-444F-A583-0A553B1CE948}"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815370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1221B5CF-6445-489A-A45C-4EC7F4623F90}"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D1114EFF-8E6F-4E42-8213-F37E8D3AB8CE}"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608155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34BE24FC-2A45-4A55-B139-5F9494B1CB54}"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D8908285-CA4E-423B-8642-8726C1B3382C}"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651696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61BEAA45-778A-4741-845A-F018261E7A96}"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413AA134-3FB7-4864-BDD9-113D7FC3B5C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290152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15400" y="457200"/>
            <a:ext cx="2768600" cy="5562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457200"/>
            <a:ext cx="8102600" cy="5562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0BDC5DBC-5A12-4956-B0A7-3CBFEBC2F06C}"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FF6064C9-616C-418B-B0ED-83E8E1DAAE91}"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2080953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769600" cy="914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54356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48400" y="1600200"/>
            <a:ext cx="54356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F603FB61-C213-45FB-A763-B77CDEFEA231}"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BCD01B68-6309-4BDA-8324-A2F95C8B9363}"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4150121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457200"/>
            <a:ext cx="1076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27" name="Rectangle 3"/>
          <p:cNvSpPr>
            <a:spLocks noGrp="1" noChangeArrowheads="1"/>
          </p:cNvSpPr>
          <p:nvPr>
            <p:ph type="body" idx="1"/>
          </p:nvPr>
        </p:nvSpPr>
        <p:spPr bwMode="auto">
          <a:xfrm>
            <a:off x="609600" y="1600200"/>
            <a:ext cx="11074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3076" name="Rectangle 4"/>
          <p:cNvSpPr>
            <a:spLocks noGrp="1" noChangeArrowheads="1"/>
          </p:cNvSpPr>
          <p:nvPr>
            <p:ph type="dt" sz="half" idx="2"/>
          </p:nvPr>
        </p:nvSpPr>
        <p:spPr bwMode="auto">
          <a:xfrm>
            <a:off x="1117600" y="6172200"/>
            <a:ext cx="2032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Times New Roman" charset="0"/>
                <a:ea typeface="宋体" panose="02010600030101010101" pitchFamily="2" charset="-122"/>
              </a:defRPr>
            </a:lvl1pPr>
          </a:lstStyle>
          <a:p>
            <a:pPr eaLnBrk="0" fontAlgn="base" hangingPunct="0">
              <a:spcBef>
                <a:spcPct val="0"/>
              </a:spcBef>
              <a:spcAft>
                <a:spcPct val="0"/>
              </a:spcAft>
              <a:defRPr/>
            </a:pPr>
            <a:fld id="{05F930D0-305E-4488-9A18-18976C29D3CE}" type="datetime1">
              <a:rPr lang="zh-CN" altLang="en-US" smtClean="0">
                <a:solidFill>
                  <a:srgbClr val="000000"/>
                </a:solidFill>
              </a:rPr>
              <a:pPr eaLnBrk="0" fontAlgn="base" hangingPunct="0">
                <a:spcBef>
                  <a:spcPct val="0"/>
                </a:spcBef>
                <a:spcAft>
                  <a:spcPct val="0"/>
                </a:spcAft>
                <a:defRPr/>
              </a:pPr>
              <a:t>2022/11/14</a:t>
            </a:fld>
            <a:endParaRPr lang="en-US" altLang="zh-CN">
              <a:solidFill>
                <a:srgbClr val="000000"/>
              </a:solidFill>
            </a:endParaRPr>
          </a:p>
        </p:txBody>
      </p:sp>
      <p:sp>
        <p:nvSpPr>
          <p:cNvPr id="3077" name="Rectangle 5"/>
          <p:cNvSpPr>
            <a:spLocks noGrp="1" noChangeArrowheads="1"/>
          </p:cNvSpPr>
          <p:nvPr>
            <p:ph type="ftr" sz="quarter" idx="3"/>
          </p:nvPr>
        </p:nvSpPr>
        <p:spPr bwMode="auto">
          <a:xfrm>
            <a:off x="3454400" y="61722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Times New Roman" charset="0"/>
                <a:ea typeface="宋体" panose="02010600030101010101" pitchFamily="2" charset="-122"/>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3078" name="Rectangle 6"/>
          <p:cNvSpPr>
            <a:spLocks noGrp="1" noChangeArrowheads="1"/>
          </p:cNvSpPr>
          <p:nvPr>
            <p:ph type="sldNum" sz="quarter" idx="4"/>
          </p:nvPr>
        </p:nvSpPr>
        <p:spPr bwMode="auto">
          <a:xfrm>
            <a:off x="9245600" y="6172200"/>
            <a:ext cx="1727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pPr eaLnBrk="0" fontAlgn="base" hangingPunct="0">
              <a:spcBef>
                <a:spcPct val="0"/>
              </a:spcBef>
              <a:spcAft>
                <a:spcPct val="0"/>
              </a:spcAft>
            </a:pPr>
            <a:fld id="{84FF258E-67CD-4D95-B960-4634DDA92658}"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
        <p:nvSpPr>
          <p:cNvPr id="1031" name="Line 7"/>
          <p:cNvSpPr>
            <a:spLocks noChangeShapeType="1"/>
          </p:cNvSpPr>
          <p:nvPr/>
        </p:nvSpPr>
        <p:spPr bwMode="auto">
          <a:xfrm>
            <a:off x="609600" y="1371600"/>
            <a:ext cx="107696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smtClean="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Tree>
    <p:extLst>
      <p:ext uri="{BB962C8B-B14F-4D97-AF65-F5344CB8AC3E}">
        <p14:creationId xmlns:p14="http://schemas.microsoft.com/office/powerpoint/2010/main" val="10327080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4.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4.wmf"/><Relationship Id="rId3" Type="http://schemas.openxmlformats.org/officeDocument/2006/relationships/image" Target="../media/image15.png"/><Relationship Id="rId7" Type="http://schemas.openxmlformats.org/officeDocument/2006/relationships/image" Target="../media/image11.wmf"/><Relationship Id="rId12"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2.wmf"/></Relationships>
</file>

<file path=ppt/slides/_rels/slide7.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12.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1.wmf"/><Relationship Id="rId5" Type="http://schemas.openxmlformats.org/officeDocument/2006/relationships/oleObject" Target="../embeddings/oleObject16.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8.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4.wmf"/></Relationships>
</file>

<file path=ppt/slides/_rels/slide1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5.wmf"/><Relationship Id="rId5" Type="http://schemas.openxmlformats.org/officeDocument/2006/relationships/oleObject" Target="../embeddings/oleObject20.bin"/><Relationship Id="rId4" Type="http://schemas.openxmlformats.org/officeDocument/2006/relationships/image" Target="../media/image24.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oleObject" Target="../embeddings/oleObject22.bin"/><Relationship Id="rId7" Type="http://schemas.openxmlformats.org/officeDocument/2006/relationships/image" Target="../media/image24.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3.bin"/><Relationship Id="rId5" Type="http://schemas.openxmlformats.org/officeDocument/2006/relationships/image" Target="../media/image28.jpeg"/><Relationship Id="rId4" Type="http://schemas.openxmlformats.org/officeDocument/2006/relationships/image" Target="../media/image27.wmf"/><Relationship Id="rId9" Type="http://schemas.openxmlformats.org/officeDocument/2006/relationships/image" Target="../media/image26.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6.bin"/><Relationship Id="rId5" Type="http://schemas.openxmlformats.org/officeDocument/2006/relationships/image" Target="../media/image29.wmf"/><Relationship Id="rId4" Type="http://schemas.openxmlformats.org/officeDocument/2006/relationships/oleObject" Target="../embeddings/oleObject25.bin"/></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4.wmf"/><Relationship Id="rId5" Type="http://schemas.openxmlformats.org/officeDocument/2006/relationships/oleObject" Target="../embeddings/oleObject28.bin"/><Relationship Id="rId4" Type="http://schemas.openxmlformats.org/officeDocument/2006/relationships/image" Target="../media/image33.wmf"/></Relationships>
</file>

<file path=ppt/slides/_rels/slide1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39.jpe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8.wmf"/><Relationship Id="rId5" Type="http://schemas.openxmlformats.org/officeDocument/2006/relationships/oleObject" Target="../embeddings/oleObject30.bin"/><Relationship Id="rId4" Type="http://schemas.openxmlformats.org/officeDocument/2006/relationships/image" Target="../media/image37.wmf"/></Relationships>
</file>

<file path=ppt/slides/_rels/slide18.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0.wmf"/><Relationship Id="rId5" Type="http://schemas.openxmlformats.org/officeDocument/2006/relationships/oleObject" Target="../embeddings/oleObject32.bin"/><Relationship Id="rId4" Type="http://schemas.openxmlformats.org/officeDocument/2006/relationships/image" Target="../media/image3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7"/>
          <p:cNvSpPr>
            <a:spLocks noGrp="1"/>
          </p:cNvSpPr>
          <p:nvPr>
            <p:ph type="title"/>
            <p:custDataLst>
              <p:tags r:id="rId2"/>
            </p:custDataLst>
          </p:nvPr>
        </p:nvSpPr>
        <p:spPr>
          <a:xfrm>
            <a:off x="4943476" y="2413000"/>
            <a:ext cx="4754563" cy="1390650"/>
          </a:xfrm>
        </p:spPr>
        <p:txBody>
          <a:bodyPr anchor="ctr"/>
          <a:lstStyle/>
          <a:p>
            <a:pPr>
              <a:lnSpc>
                <a:spcPct val="120000"/>
              </a:lnSpc>
            </a:pPr>
            <a:r>
              <a:rPr lang="en-US" altLang="zh-CN" sz="3000" dirty="0" smtClean="0">
                <a:solidFill>
                  <a:srgbClr val="234777"/>
                </a:solidFill>
                <a:latin typeface="微软雅黑" panose="020B0503020204020204" pitchFamily="34" charset="-122"/>
                <a:ea typeface="微软雅黑" panose="020B0503020204020204" pitchFamily="34" charset="-122"/>
              </a:rPr>
              <a:t>IIR</a:t>
            </a:r>
            <a:r>
              <a:rPr lang="zh-CN" altLang="en-US" sz="3000" dirty="0" smtClean="0">
                <a:solidFill>
                  <a:srgbClr val="234777"/>
                </a:solidFill>
                <a:latin typeface="微软雅黑" panose="020B0503020204020204" pitchFamily="34" charset="-122"/>
                <a:ea typeface="微软雅黑" panose="020B0503020204020204" pitchFamily="34" charset="-122"/>
              </a:rPr>
              <a:t>滤波器</a:t>
            </a:r>
            <a:endParaRPr lang="zh-CN" altLang="en-US" sz="3000" dirty="0">
              <a:solidFill>
                <a:srgbClr val="234777"/>
              </a:solidFill>
              <a:latin typeface="微软雅黑" panose="020B0503020204020204" pitchFamily="34" charset="-122"/>
              <a:ea typeface="微软雅黑" panose="020B0503020204020204" pitchFamily="34" charset="-122"/>
            </a:endParaRPr>
          </a:p>
        </p:txBody>
      </p:sp>
      <p:pic>
        <p:nvPicPr>
          <p:cNvPr id="3075" name="图片 1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80488" y="1157288"/>
            <a:ext cx="14351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6" name="组合 9"/>
          <p:cNvGrpSpPr>
            <a:grpSpLocks noChangeAspect="1"/>
          </p:cNvGrpSpPr>
          <p:nvPr/>
        </p:nvGrpSpPr>
        <p:grpSpPr bwMode="auto">
          <a:xfrm>
            <a:off x="2114550" y="2501900"/>
            <a:ext cx="2147888" cy="1212850"/>
            <a:chOff x="3367821" y="2336603"/>
            <a:chExt cx="3846124" cy="2172237"/>
          </a:xfrm>
        </p:grpSpPr>
        <p:pic>
          <p:nvPicPr>
            <p:cNvPr id="3081" name="图片 13"/>
            <p:cNvPicPr>
              <a:picLocks noChangeAspect="1"/>
            </p:cNvPicPr>
            <p:nvPr/>
          </p:nvPicPr>
          <p:blipFill>
            <a:blip r:embed="rId6">
              <a:extLst>
                <a:ext uri="{28A0092B-C50C-407E-A947-70E740481C1C}">
                  <a14:useLocalDpi xmlns:a14="http://schemas.microsoft.com/office/drawing/2010/main" val="0"/>
                </a:ext>
              </a:extLst>
            </a:blip>
            <a:srcRect r="7001"/>
            <a:stretch>
              <a:fillRect/>
            </a:stretch>
          </p:blipFill>
          <p:spPr bwMode="auto">
            <a:xfrm>
              <a:off x="3367821" y="2337641"/>
              <a:ext cx="3846124" cy="217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 name="图片 15"/>
            <p:cNvPicPr>
              <a:picLocks noChangeAspect="1"/>
            </p:cNvPicPr>
            <p:nvPr/>
          </p:nvPicPr>
          <p:blipFill>
            <a:blip r:embed="rId7" cstate="print">
              <a:extLst>
                <a:ext uri="{28A0092B-C50C-407E-A947-70E740481C1C}">
                  <a14:useLocalDpi xmlns:a14="http://schemas.microsoft.com/office/drawing/2010/main" val="0"/>
                </a:ext>
              </a:extLst>
            </a:blip>
            <a:srcRect l="67587" t="-273" r="15178" b="91664"/>
            <a:stretch>
              <a:fillRect/>
            </a:stretch>
          </p:blipFill>
          <p:spPr bwMode="auto">
            <a:xfrm>
              <a:off x="4279348" y="2336603"/>
              <a:ext cx="712760" cy="17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77" name="组合 5"/>
          <p:cNvGrpSpPr>
            <a:grpSpLocks/>
          </p:cNvGrpSpPr>
          <p:nvPr/>
        </p:nvGrpSpPr>
        <p:grpSpPr bwMode="auto">
          <a:xfrm>
            <a:off x="3776663" y="3184525"/>
            <a:ext cx="735012" cy="679450"/>
            <a:chOff x="4480943" y="4021832"/>
            <a:chExt cx="1035157" cy="1038683"/>
          </a:xfrm>
        </p:grpSpPr>
        <p:sp>
          <p:nvSpPr>
            <p:cNvPr id="11" name="矩形 10">
              <a:extLst>
                <a:ext uri="{FF2B5EF4-FFF2-40B4-BE49-F238E27FC236}">
                  <a16:creationId xmlns:a16="http://schemas.microsoft.com/office/drawing/2014/main" id="{9202CC45-2CC5-4C2F-A9D1-3ED274598467}"/>
                </a:ext>
              </a:extLst>
            </p:cNvPr>
            <p:cNvSpPr/>
            <p:nvPr/>
          </p:nvSpPr>
          <p:spPr>
            <a:xfrm>
              <a:off x="4480943" y="4021832"/>
              <a:ext cx="981499" cy="1038683"/>
            </a:xfrm>
            <a:prstGeom prst="rect">
              <a:avLst/>
            </a:prstGeom>
            <a:solidFill>
              <a:srgbClr val="23477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080" name="文本框 1"/>
            <p:cNvSpPr txBox="1">
              <a:spLocks noChangeArrowheads="1"/>
            </p:cNvSpPr>
            <p:nvPr/>
          </p:nvSpPr>
          <p:spPr bwMode="auto">
            <a:xfrm>
              <a:off x="4511091" y="4218009"/>
              <a:ext cx="1005009" cy="635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a:r>
                <a:rPr lang="en-US" altLang="zh-CN" sz="2100" b="1" dirty="0" smtClean="0">
                  <a:solidFill>
                    <a:srgbClr val="FFFFFF"/>
                  </a:solidFill>
                  <a:latin typeface="微软雅黑" panose="020B0503020204020204" pitchFamily="34" charset="-122"/>
                  <a:ea typeface="微软雅黑" panose="020B0503020204020204" pitchFamily="34" charset="-122"/>
                </a:rPr>
                <a:t>12</a:t>
              </a:r>
              <a:r>
                <a:rPr lang="en-US" altLang="zh-CN" sz="2100" b="1" baseline="-25000" dirty="0" smtClean="0">
                  <a:solidFill>
                    <a:srgbClr val="FFFFFF"/>
                  </a:solidFill>
                  <a:latin typeface="微软雅黑" panose="020B0503020204020204" pitchFamily="34" charset="-122"/>
                  <a:ea typeface="微软雅黑" panose="020B0503020204020204" pitchFamily="34" charset="-122"/>
                </a:rPr>
                <a:t>th</a:t>
              </a:r>
              <a:endParaRPr lang="en-US" altLang="zh-CN" sz="2700" b="1" baseline="-25000" dirty="0">
                <a:solidFill>
                  <a:srgbClr val="FFFFFF"/>
                </a:solidFill>
                <a:latin typeface="微软雅黑" panose="020B0503020204020204" pitchFamily="34" charset="-122"/>
                <a:ea typeface="微软雅黑" panose="020B0503020204020204" pitchFamily="34" charset="-122"/>
              </a:endParaRPr>
            </a:p>
          </p:txBody>
        </p:sp>
      </p:grpSp>
      <p:sp>
        <p:nvSpPr>
          <p:cNvPr id="12" name="副标题 2"/>
          <p:cNvSpPr txBox="1">
            <a:spLocks/>
          </p:cNvSpPr>
          <p:nvPr/>
        </p:nvSpPr>
        <p:spPr>
          <a:xfrm>
            <a:off x="6321426" y="3968750"/>
            <a:ext cx="2206625" cy="742950"/>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zh-CN" altLang="en-US" sz="2100" dirty="0">
                <a:solidFill>
                  <a:schemeClr val="bg2">
                    <a:lumMod val="50000"/>
                  </a:schemeClr>
                </a:solidFill>
                <a:latin typeface="微软雅黑" panose="020B0503020204020204" pitchFamily="34" charset="-122"/>
                <a:ea typeface="微软雅黑" panose="020B0503020204020204" pitchFamily="34" charset="-122"/>
              </a:rPr>
              <a:t>吴超</a:t>
            </a:r>
            <a:endParaRPr lang="en-US" altLang="zh-CN" sz="2100">
              <a:solidFill>
                <a:schemeClr val="bg2">
                  <a:lumMod val="50000"/>
                </a:schemeClr>
              </a:solidFill>
              <a:latin typeface="微软雅黑" panose="020B0503020204020204" pitchFamily="34" charset="-122"/>
              <a:ea typeface="微软雅黑" panose="020B0503020204020204" pitchFamily="34" charset="-122"/>
            </a:endParaRPr>
          </a:p>
          <a:p>
            <a:pPr>
              <a:defRPr/>
            </a:pPr>
            <a:r>
              <a:rPr lang="zh-CN" altLang="en-US" sz="1500">
                <a:solidFill>
                  <a:schemeClr val="bg1">
                    <a:lumMod val="50000"/>
                  </a:schemeClr>
                </a:solidFill>
                <a:latin typeface="微软雅黑" panose="020B0503020204020204" pitchFamily="34" charset="-122"/>
                <a:ea typeface="微软雅黑" panose="020B0503020204020204" pitchFamily="34" charset="-122"/>
              </a:rPr>
              <a:t>通 </a:t>
            </a:r>
            <a:r>
              <a:rPr lang="zh-CN" altLang="en-US" sz="1500" dirty="0">
                <a:solidFill>
                  <a:schemeClr val="bg1">
                    <a:lumMod val="50000"/>
                  </a:schemeClr>
                </a:solidFill>
                <a:latin typeface="微软雅黑" panose="020B0503020204020204" pitchFamily="34" charset="-122"/>
                <a:ea typeface="微软雅黑" panose="020B0503020204020204" pitchFamily="34" charset="-122"/>
              </a:rPr>
              <a:t>信 工 程 学 院</a:t>
            </a:r>
          </a:p>
        </p:txBody>
      </p:sp>
    </p:spTree>
    <p:custDataLst>
      <p:tags r:id="rId1"/>
    </p:custDataLst>
    <p:extLst>
      <p:ext uri="{BB962C8B-B14F-4D97-AF65-F5344CB8AC3E}">
        <p14:creationId xmlns:p14="http://schemas.microsoft.com/office/powerpoint/2010/main" val="2945836513"/>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0"/>
          <p:cNvSpPr/>
          <p:nvPr/>
        </p:nvSpPr>
        <p:spPr>
          <a:xfrm>
            <a:off x="2071689" y="2046289"/>
            <a:ext cx="8054975" cy="3872850"/>
          </a:xfrm>
          <a:prstGeom prst="roundRect">
            <a:avLst/>
          </a:prstGeom>
          <a:noFill/>
          <a:ln w="12700" cap="flat" cmpd="sng" algn="ctr">
            <a:solidFill>
              <a:schemeClr val="tx1"/>
            </a:solidFill>
            <a:prstDash val="solid"/>
            <a:miter lim="800000"/>
          </a:ln>
          <a:effectLst/>
        </p:spPr>
        <p:txBody>
          <a:bodyPr anchor="ctr"/>
          <a:lstStyle/>
          <a:p>
            <a:pPr algn="ctr" defTabSz="685800">
              <a:defRPr/>
            </a:pPr>
            <a:endParaRPr lang="zh-CN" altLang="en-US" sz="1350" kern="0">
              <a:solidFill>
                <a:prstClr val="white"/>
              </a:solidFill>
              <a:latin typeface="Calibri" panose="020F0502020204030204"/>
            </a:endParaRPr>
          </a:p>
        </p:txBody>
      </p:sp>
      <p:sp>
        <p:nvSpPr>
          <p:cNvPr id="5123" name="标题 1"/>
          <p:cNvSpPr>
            <a:spLocks noGrp="1"/>
          </p:cNvSpPr>
          <p:nvPr>
            <p:ph type="title"/>
          </p:nvPr>
        </p:nvSpPr>
        <p:spPr>
          <a:xfrm>
            <a:off x="1842030" y="656698"/>
            <a:ext cx="1311275" cy="439737"/>
          </a:xfrm>
        </p:spPr>
        <p:txBody>
          <a:bodyPr/>
          <a:lstStyle/>
          <a:p>
            <a:r>
              <a:rPr lang="zh-CN" altLang="en-US" sz="4000" dirty="0"/>
              <a:t>复习</a:t>
            </a:r>
          </a:p>
        </p:txBody>
      </p:sp>
      <p:sp>
        <p:nvSpPr>
          <p:cNvPr id="5124" name="Oval 1"/>
          <p:cNvSpPr txBox="1">
            <a:spLocks noChangeArrowheads="1"/>
          </p:cNvSpPr>
          <p:nvPr/>
        </p:nvSpPr>
        <p:spPr bwMode="auto">
          <a:xfrm>
            <a:off x="2371725" y="2079626"/>
            <a:ext cx="7531100" cy="382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57175" indent="-257175">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50000"/>
              </a:lnSpc>
              <a:spcBef>
                <a:spcPts val="450"/>
              </a:spcBef>
              <a:buFont typeface="Wingdings" panose="05000000000000000000" pitchFamily="2" charset="2"/>
              <a:buChar char="p"/>
            </a:pPr>
            <a:r>
              <a:rPr lang="en-US" altLang="zh-CN" sz="2800" dirty="0" smtClean="0">
                <a:solidFill>
                  <a:srgbClr val="000000"/>
                </a:solidFill>
                <a:latin typeface="微软雅黑" panose="020B0503020204020204" pitchFamily="34" charset="-122"/>
                <a:ea typeface="微软雅黑" panose="020B0503020204020204" pitchFamily="34" charset="-122"/>
              </a:rPr>
              <a:t>DIF-FFT</a:t>
            </a:r>
          </a:p>
          <a:p>
            <a:pPr marL="457200" indent="-457200">
              <a:lnSpc>
                <a:spcPct val="150000"/>
              </a:lnSpc>
              <a:spcBef>
                <a:spcPts val="450"/>
              </a:spcBef>
              <a:buFont typeface="Wingdings" panose="05000000000000000000" pitchFamily="2" charset="2"/>
              <a:buChar char="l"/>
            </a:pPr>
            <a:r>
              <a:rPr lang="zh-CN" altLang="en-US" dirty="0" smtClean="0">
                <a:solidFill>
                  <a:srgbClr val="000000"/>
                </a:solidFill>
                <a:latin typeface="微软雅黑" panose="020B0503020204020204" pitchFamily="34" charset="-122"/>
                <a:ea typeface="微软雅黑" panose="020B0503020204020204" pitchFamily="34" charset="-122"/>
              </a:rPr>
              <a:t>蝶形图</a:t>
            </a:r>
            <a:endParaRPr lang="en-US" altLang="zh-CN" dirty="0" smtClean="0">
              <a:solidFill>
                <a:srgbClr val="000000"/>
              </a:solidFill>
              <a:latin typeface="微软雅黑" panose="020B0503020204020204" pitchFamily="34" charset="-122"/>
              <a:ea typeface="微软雅黑" panose="020B0503020204020204" pitchFamily="34" charset="-122"/>
            </a:endParaRPr>
          </a:p>
          <a:p>
            <a:pPr marL="457200" indent="-457200">
              <a:lnSpc>
                <a:spcPct val="150000"/>
              </a:lnSpc>
              <a:spcBef>
                <a:spcPts val="450"/>
              </a:spcBef>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rPr>
              <a:t>层</a:t>
            </a:r>
            <a:r>
              <a:rPr lang="zh-CN" altLang="en-US" dirty="0" smtClean="0">
                <a:solidFill>
                  <a:srgbClr val="000000"/>
                </a:solidFill>
                <a:latin typeface="微软雅黑" panose="020B0503020204020204" pitchFamily="34" charset="-122"/>
                <a:ea typeface="微软雅黑" panose="020B0503020204020204" pitchFamily="34" charset="-122"/>
              </a:rPr>
              <a:t>数、蝶形运算个数、计算量</a:t>
            </a:r>
            <a:endParaRPr lang="en-US" altLang="zh-CN" dirty="0" smtClean="0">
              <a:solidFill>
                <a:srgbClr val="000000"/>
              </a:solidFill>
              <a:latin typeface="微软雅黑" panose="020B0503020204020204" pitchFamily="34" charset="-122"/>
              <a:ea typeface="微软雅黑" panose="020B0503020204020204" pitchFamily="34" charset="-122"/>
            </a:endParaRPr>
          </a:p>
          <a:p>
            <a:pPr>
              <a:lnSpc>
                <a:spcPct val="150000"/>
              </a:lnSpc>
              <a:spcBef>
                <a:spcPts val="450"/>
              </a:spcBef>
              <a:buFont typeface="Wingdings" panose="05000000000000000000" pitchFamily="2" charset="2"/>
              <a:buChar char="p"/>
            </a:pPr>
            <a:r>
              <a:rPr lang="en-US" altLang="zh-CN" sz="2800" dirty="0" smtClean="0">
                <a:solidFill>
                  <a:srgbClr val="000000"/>
                </a:solidFill>
                <a:latin typeface="微软雅黑" panose="020B0503020204020204" pitchFamily="34" charset="-122"/>
                <a:ea typeface="微软雅黑" panose="020B0503020204020204" pitchFamily="34" charset="-122"/>
              </a:rPr>
              <a:t>IIR</a:t>
            </a:r>
            <a:r>
              <a:rPr lang="zh-CN" altLang="en-US" sz="2800" dirty="0" smtClean="0">
                <a:solidFill>
                  <a:srgbClr val="000000"/>
                </a:solidFill>
                <a:latin typeface="微软雅黑" panose="020B0503020204020204" pitchFamily="34" charset="-122"/>
                <a:ea typeface="微软雅黑" panose="020B0503020204020204" pitchFamily="34" charset="-122"/>
              </a:rPr>
              <a:t>滤波器设计</a:t>
            </a:r>
            <a:endParaRPr lang="en-US" altLang="zh-CN" sz="2800" dirty="0" smtClean="0">
              <a:solidFill>
                <a:srgbClr val="000000"/>
              </a:solidFill>
              <a:latin typeface="微软雅黑" panose="020B0503020204020204" pitchFamily="34" charset="-122"/>
              <a:ea typeface="微软雅黑" panose="020B0503020204020204" pitchFamily="34" charset="-122"/>
            </a:endParaRPr>
          </a:p>
          <a:p>
            <a:pPr marL="342900" indent="-342900">
              <a:lnSpc>
                <a:spcPct val="150000"/>
              </a:lnSpc>
              <a:spcBef>
                <a:spcPts val="450"/>
              </a:spcBef>
              <a:buFont typeface="Wingdings" panose="05000000000000000000" pitchFamily="2" charset="2"/>
              <a:buChar char="l"/>
            </a:pPr>
            <a:r>
              <a:rPr lang="zh-CN" altLang="en-US" dirty="0" smtClean="0">
                <a:solidFill>
                  <a:srgbClr val="000000"/>
                </a:solidFill>
                <a:latin typeface="微软雅黑" panose="020B0503020204020204" pitchFamily="34" charset="-122"/>
                <a:ea typeface="微软雅黑" panose="020B0503020204020204" pitchFamily="34" charset="-122"/>
              </a:rPr>
              <a:t>数字滤波器设计指标</a:t>
            </a:r>
            <a:endParaRPr lang="en-US" altLang="zh-CN" dirty="0">
              <a:solidFill>
                <a:srgbClr val="000000"/>
              </a:solidFill>
              <a:latin typeface="微软雅黑" panose="020B0503020204020204" pitchFamily="34" charset="-122"/>
              <a:ea typeface="微软雅黑" panose="020B0503020204020204" pitchFamily="34" charset="-122"/>
            </a:endParaRPr>
          </a:p>
          <a:p>
            <a:pPr marL="342900" indent="-342900">
              <a:lnSpc>
                <a:spcPct val="150000"/>
              </a:lnSpc>
              <a:spcBef>
                <a:spcPts val="450"/>
              </a:spcBef>
              <a:buFont typeface="Wingdings" panose="05000000000000000000" pitchFamily="2" charset="2"/>
              <a:buChar char="l"/>
            </a:pPr>
            <a:r>
              <a:rPr lang="zh-CN" altLang="en-US" dirty="0" smtClean="0">
                <a:solidFill>
                  <a:srgbClr val="000000"/>
                </a:solidFill>
                <a:latin typeface="微软雅黑" panose="020B0503020204020204" pitchFamily="34" charset="-122"/>
                <a:ea typeface="微软雅黑" panose="020B0503020204020204" pitchFamily="34" charset="-122"/>
              </a:rPr>
              <a:t>怎样设计模拟滤波器系统函数</a:t>
            </a:r>
            <a:endParaRPr lang="en-US" altLang="zh-CN"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282247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a:grpSpLocks/>
          </p:cNvGrpSpPr>
          <p:nvPr/>
        </p:nvGrpSpPr>
        <p:grpSpPr bwMode="auto">
          <a:xfrm>
            <a:off x="2857500" y="228601"/>
            <a:ext cx="7505700" cy="1704975"/>
            <a:chOff x="528" y="105"/>
            <a:chExt cx="4728" cy="1074"/>
          </a:xfrm>
        </p:grpSpPr>
        <p:graphicFrame>
          <p:nvGraphicFramePr>
            <p:cNvPr id="5123" name="Object 3"/>
            <p:cNvGraphicFramePr>
              <a:graphicFrameLocks noChangeAspect="1"/>
            </p:cNvGraphicFramePr>
            <p:nvPr>
              <p:extLst>
                <p:ext uri="{D42A27DB-BD31-4B8C-83A1-F6EECF244321}">
                  <p14:modId xmlns:p14="http://schemas.microsoft.com/office/powerpoint/2010/main" val="1911857207"/>
                </p:ext>
              </p:extLst>
            </p:nvPr>
          </p:nvGraphicFramePr>
          <p:xfrm>
            <a:off x="528" y="105"/>
            <a:ext cx="3008" cy="558"/>
          </p:xfrm>
          <a:graphic>
            <a:graphicData uri="http://schemas.openxmlformats.org/presentationml/2006/ole">
              <mc:AlternateContent xmlns:mc="http://schemas.openxmlformats.org/markup-compatibility/2006">
                <mc:Choice xmlns:v="urn:schemas-microsoft-com:vml" Requires="v">
                  <p:oleObj spid="_x0000_s44073" name="Equation" r:id="rId3" imgW="2387520" imgH="444240" progId="Equation.DSMT4">
                    <p:embed/>
                  </p:oleObj>
                </mc:Choice>
                <mc:Fallback>
                  <p:oleObj name="Equation" r:id="rId3" imgW="2387520" imgH="444240" progId="Equation.DSMT4">
                    <p:embed/>
                    <p:pic>
                      <p:nvPicPr>
                        <p:cNvPr id="5123" name="Object 3"/>
                        <p:cNvPicPr>
                          <a:picLocks noChangeAspect="1" noChangeArrowheads="1"/>
                        </p:cNvPicPr>
                        <p:nvPr/>
                      </p:nvPicPr>
                      <p:blipFill>
                        <a:blip r:embed="rId4"/>
                        <a:srcRect/>
                        <a:stretch>
                          <a:fillRect/>
                        </a:stretch>
                      </p:blipFill>
                      <p:spPr bwMode="auto">
                        <a:xfrm>
                          <a:off x="528" y="105"/>
                          <a:ext cx="3008" cy="55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4"/>
            <p:cNvGraphicFramePr>
              <a:graphicFrameLocks noChangeAspect="1"/>
            </p:cNvGraphicFramePr>
            <p:nvPr>
              <p:extLst>
                <p:ext uri="{D42A27DB-BD31-4B8C-83A1-F6EECF244321}">
                  <p14:modId xmlns:p14="http://schemas.microsoft.com/office/powerpoint/2010/main" val="1090921108"/>
                </p:ext>
              </p:extLst>
            </p:nvPr>
          </p:nvGraphicFramePr>
          <p:xfrm>
            <a:off x="560" y="621"/>
            <a:ext cx="3489" cy="558"/>
          </p:xfrm>
          <a:graphic>
            <a:graphicData uri="http://schemas.openxmlformats.org/presentationml/2006/ole">
              <mc:AlternateContent xmlns:mc="http://schemas.openxmlformats.org/markup-compatibility/2006">
                <mc:Choice xmlns:v="urn:schemas-microsoft-com:vml" Requires="v">
                  <p:oleObj spid="_x0000_s44074" name="Equation" r:id="rId5" imgW="2768400" imgH="444240" progId="Equation.DSMT4">
                    <p:embed/>
                  </p:oleObj>
                </mc:Choice>
                <mc:Fallback>
                  <p:oleObj name="Equation" r:id="rId5" imgW="2768400" imgH="444240" progId="Equation.DSMT4">
                    <p:embed/>
                    <p:pic>
                      <p:nvPicPr>
                        <p:cNvPr id="5124" name="Object 4"/>
                        <p:cNvPicPr>
                          <a:picLocks noChangeAspect="1" noChangeArrowheads="1"/>
                        </p:cNvPicPr>
                        <p:nvPr/>
                      </p:nvPicPr>
                      <p:blipFill>
                        <a:blip r:embed="rId6"/>
                        <a:srcRect/>
                        <a:stretch>
                          <a:fillRect/>
                        </a:stretch>
                      </p:blipFill>
                      <p:spPr bwMode="auto">
                        <a:xfrm>
                          <a:off x="560" y="621"/>
                          <a:ext cx="3489" cy="55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5"/>
            <p:cNvGraphicFramePr>
              <a:graphicFrameLocks noChangeAspect="1"/>
            </p:cNvGraphicFramePr>
            <p:nvPr/>
          </p:nvGraphicFramePr>
          <p:xfrm>
            <a:off x="3834" y="248"/>
            <a:ext cx="1422" cy="254"/>
          </p:xfrm>
          <a:graphic>
            <a:graphicData uri="http://schemas.openxmlformats.org/presentationml/2006/ole">
              <mc:AlternateContent xmlns:mc="http://schemas.openxmlformats.org/markup-compatibility/2006">
                <mc:Choice xmlns:v="urn:schemas-microsoft-com:vml" Requires="v">
                  <p:oleObj spid="_x0000_s44075" name="公式" r:id="rId7" imgW="1129810" imgH="203112" progId="Equation.3">
                    <p:embed/>
                  </p:oleObj>
                </mc:Choice>
                <mc:Fallback>
                  <p:oleObj name="公式" r:id="rId7" imgW="1129810" imgH="203112" progId="Equation.3">
                    <p:embed/>
                    <p:pic>
                      <p:nvPicPr>
                        <p:cNvPr id="5125"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4" y="248"/>
                          <a:ext cx="1422" cy="254"/>
                        </a:xfrm>
                        <a:prstGeom prst="rect">
                          <a:avLst/>
                        </a:prstGeom>
                        <a:solidFill>
                          <a:srgbClr val="FFFF99"/>
                        </a:solidFill>
                      </p:spPr>
                    </p:pic>
                  </p:oleObj>
                </mc:Fallback>
              </mc:AlternateContent>
            </a:graphicData>
          </a:graphic>
        </p:graphicFrame>
      </p:grpSp>
      <p:grpSp>
        <p:nvGrpSpPr>
          <p:cNvPr id="5126" name="Group 6"/>
          <p:cNvGrpSpPr>
            <a:grpSpLocks/>
          </p:cNvGrpSpPr>
          <p:nvPr/>
        </p:nvGrpSpPr>
        <p:grpSpPr bwMode="auto">
          <a:xfrm>
            <a:off x="3941763" y="4056063"/>
            <a:ext cx="2203450" cy="2654299"/>
            <a:chOff x="1523" y="2555"/>
            <a:chExt cx="1388" cy="1672"/>
          </a:xfrm>
        </p:grpSpPr>
        <p:sp>
          <p:nvSpPr>
            <p:cNvPr id="5127" name="Freeform 7"/>
            <p:cNvSpPr>
              <a:spLocks/>
            </p:cNvSpPr>
            <p:nvPr/>
          </p:nvSpPr>
          <p:spPr bwMode="auto">
            <a:xfrm>
              <a:off x="1523" y="4073"/>
              <a:ext cx="1011" cy="1"/>
            </a:xfrm>
            <a:custGeom>
              <a:avLst/>
              <a:gdLst>
                <a:gd name="T0" fmla="*/ 0 w 1011"/>
                <a:gd name="T1" fmla="*/ 1011 w 1011"/>
                <a:gd name="T2" fmla="*/ 0 w 1011"/>
                <a:gd name="T3" fmla="*/ 648 w 1011"/>
              </a:gdLst>
              <a:ahLst/>
              <a:cxnLst>
                <a:cxn ang="0">
                  <a:pos x="T0" y="0"/>
                </a:cxn>
                <a:cxn ang="0">
                  <a:pos x="T1" y="0"/>
                </a:cxn>
                <a:cxn ang="0">
                  <a:pos x="T2" y="0"/>
                </a:cxn>
                <a:cxn ang="0">
                  <a:pos x="T3" y="0"/>
                </a:cxn>
              </a:cxnLst>
              <a:rect l="0" t="0" r="r" b="b"/>
              <a:pathLst>
                <a:path w="1011">
                  <a:moveTo>
                    <a:pt x="0" y="0"/>
                  </a:moveTo>
                  <a:lnTo>
                    <a:pt x="1011" y="0"/>
                  </a:lnTo>
                  <a:lnTo>
                    <a:pt x="0" y="0"/>
                  </a:lnTo>
                  <a:lnTo>
                    <a:pt x="648"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8" name="Freeform 8"/>
            <p:cNvSpPr>
              <a:spLocks/>
            </p:cNvSpPr>
            <p:nvPr/>
          </p:nvSpPr>
          <p:spPr bwMode="auto">
            <a:xfrm>
              <a:off x="2156" y="4038"/>
              <a:ext cx="79" cy="71"/>
            </a:xfrm>
            <a:custGeom>
              <a:avLst/>
              <a:gdLst>
                <a:gd name="T0" fmla="*/ 0 w 79"/>
                <a:gd name="T1" fmla="*/ 0 h 71"/>
                <a:gd name="T2" fmla="*/ 79 w 79"/>
                <a:gd name="T3" fmla="*/ 35 h 71"/>
                <a:gd name="T4" fmla="*/ 0 w 79"/>
                <a:gd name="T5" fmla="*/ 71 h 71"/>
                <a:gd name="T6" fmla="*/ 0 w 79"/>
                <a:gd name="T7" fmla="*/ 0 h 71"/>
              </a:gdLst>
              <a:ahLst/>
              <a:cxnLst>
                <a:cxn ang="0">
                  <a:pos x="T0" y="T1"/>
                </a:cxn>
                <a:cxn ang="0">
                  <a:pos x="T2" y="T3"/>
                </a:cxn>
                <a:cxn ang="0">
                  <a:pos x="T4" y="T5"/>
                </a:cxn>
                <a:cxn ang="0">
                  <a:pos x="T6" y="T7"/>
                </a:cxn>
              </a:cxnLst>
              <a:rect l="0" t="0" r="r" b="b"/>
              <a:pathLst>
                <a:path w="79" h="71">
                  <a:moveTo>
                    <a:pt x="0" y="0"/>
                  </a:moveTo>
                  <a:lnTo>
                    <a:pt x="79"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9" name="Freeform 9"/>
            <p:cNvSpPr>
              <a:spLocks/>
            </p:cNvSpPr>
            <p:nvPr/>
          </p:nvSpPr>
          <p:spPr bwMode="auto">
            <a:xfrm>
              <a:off x="2534" y="4073"/>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0" name="Freeform 10"/>
            <p:cNvSpPr>
              <a:spLocks/>
            </p:cNvSpPr>
            <p:nvPr/>
          </p:nvSpPr>
          <p:spPr bwMode="auto">
            <a:xfrm>
              <a:off x="1523" y="2555"/>
              <a:ext cx="1011" cy="1518"/>
            </a:xfrm>
            <a:custGeom>
              <a:avLst/>
              <a:gdLst>
                <a:gd name="T0" fmla="*/ 0 w 1011"/>
                <a:gd name="T1" fmla="*/ 0 h 1518"/>
                <a:gd name="T2" fmla="*/ 1011 w 1011"/>
                <a:gd name="T3" fmla="*/ 1518 h 1518"/>
                <a:gd name="T4" fmla="*/ 0 w 1011"/>
                <a:gd name="T5" fmla="*/ 0 h 1518"/>
                <a:gd name="T6" fmla="*/ 676 w 1011"/>
                <a:gd name="T7" fmla="*/ 1012 h 1518"/>
              </a:gdLst>
              <a:ahLst/>
              <a:cxnLst>
                <a:cxn ang="0">
                  <a:pos x="T0" y="T1"/>
                </a:cxn>
                <a:cxn ang="0">
                  <a:pos x="T2" y="T3"/>
                </a:cxn>
                <a:cxn ang="0">
                  <a:pos x="T4" y="T5"/>
                </a:cxn>
                <a:cxn ang="0">
                  <a:pos x="T6" y="T7"/>
                </a:cxn>
              </a:cxnLst>
              <a:rect l="0" t="0" r="r" b="b"/>
              <a:pathLst>
                <a:path w="1011" h="1518">
                  <a:moveTo>
                    <a:pt x="0" y="0"/>
                  </a:moveTo>
                  <a:lnTo>
                    <a:pt x="1011" y="1518"/>
                  </a:lnTo>
                  <a:lnTo>
                    <a:pt x="0" y="0"/>
                  </a:lnTo>
                  <a:lnTo>
                    <a:pt x="676" y="101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1" name="Freeform 11"/>
            <p:cNvSpPr>
              <a:spLocks/>
            </p:cNvSpPr>
            <p:nvPr/>
          </p:nvSpPr>
          <p:spPr bwMode="auto">
            <a:xfrm>
              <a:off x="2163" y="3539"/>
              <a:ext cx="72" cy="78"/>
            </a:xfrm>
            <a:custGeom>
              <a:avLst/>
              <a:gdLst>
                <a:gd name="T0" fmla="*/ 57 w 72"/>
                <a:gd name="T1" fmla="*/ 0 h 78"/>
                <a:gd name="T2" fmla="*/ 72 w 72"/>
                <a:gd name="T3" fmla="*/ 78 h 78"/>
                <a:gd name="T4" fmla="*/ 0 w 72"/>
                <a:gd name="T5" fmla="*/ 35 h 78"/>
                <a:gd name="T6" fmla="*/ 57 w 72"/>
                <a:gd name="T7" fmla="*/ 0 h 78"/>
              </a:gdLst>
              <a:ahLst/>
              <a:cxnLst>
                <a:cxn ang="0">
                  <a:pos x="T0" y="T1"/>
                </a:cxn>
                <a:cxn ang="0">
                  <a:pos x="T2" y="T3"/>
                </a:cxn>
                <a:cxn ang="0">
                  <a:pos x="T4" y="T5"/>
                </a:cxn>
                <a:cxn ang="0">
                  <a:pos x="T6" y="T7"/>
                </a:cxn>
              </a:cxnLst>
              <a:rect l="0" t="0" r="r" b="b"/>
              <a:pathLst>
                <a:path w="72" h="78">
                  <a:moveTo>
                    <a:pt x="57" y="0"/>
                  </a:moveTo>
                  <a:lnTo>
                    <a:pt x="72" y="78"/>
                  </a:lnTo>
                  <a:lnTo>
                    <a:pt x="0" y="35"/>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32" name="Group 12"/>
            <p:cNvGrpSpPr>
              <a:grpSpLocks/>
            </p:cNvGrpSpPr>
            <p:nvPr/>
          </p:nvGrpSpPr>
          <p:grpSpPr bwMode="auto">
            <a:xfrm>
              <a:off x="2595" y="3784"/>
              <a:ext cx="290" cy="325"/>
              <a:chOff x="2595" y="3784"/>
              <a:chExt cx="290" cy="325"/>
            </a:xfrm>
          </p:grpSpPr>
          <p:sp>
            <p:nvSpPr>
              <p:cNvPr id="5133" name="Freeform 13"/>
              <p:cNvSpPr>
                <a:spLocks/>
              </p:cNvSpPr>
              <p:nvPr/>
            </p:nvSpPr>
            <p:spPr bwMode="auto">
              <a:xfrm>
                <a:off x="2726" y="4038"/>
                <a:ext cx="71" cy="71"/>
              </a:xfrm>
              <a:custGeom>
                <a:avLst/>
                <a:gdLst>
                  <a:gd name="T0" fmla="*/ 0 w 71"/>
                  <a:gd name="T1" fmla="*/ 0 h 71"/>
                  <a:gd name="T2" fmla="*/ 71 w 71"/>
                  <a:gd name="T3" fmla="*/ 35 h 71"/>
                  <a:gd name="T4" fmla="*/ 0 w 71"/>
                  <a:gd name="T5" fmla="*/ 71 h 71"/>
                  <a:gd name="T6" fmla="*/ 0 w 71"/>
                  <a:gd name="T7" fmla="*/ 0 h 71"/>
                </a:gdLst>
                <a:ahLst/>
                <a:cxnLst>
                  <a:cxn ang="0">
                    <a:pos x="T0" y="T1"/>
                  </a:cxn>
                  <a:cxn ang="0">
                    <a:pos x="T2" y="T3"/>
                  </a:cxn>
                  <a:cxn ang="0">
                    <a:pos x="T4" y="T5"/>
                  </a:cxn>
                  <a:cxn ang="0">
                    <a:pos x="T6" y="T7"/>
                  </a:cxn>
                </a:cxnLst>
                <a:rect l="0" t="0" r="r" b="b"/>
                <a:pathLst>
                  <a:path w="71" h="71">
                    <a:moveTo>
                      <a:pt x="0" y="0"/>
                    </a:moveTo>
                    <a:lnTo>
                      <a:pt x="71"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4" name="Rectangle 14"/>
              <p:cNvSpPr>
                <a:spLocks noChangeArrowheads="1"/>
              </p:cNvSpPr>
              <p:nvPr/>
            </p:nvSpPr>
            <p:spPr bwMode="auto">
              <a:xfrm>
                <a:off x="2811" y="3784"/>
                <a:ext cx="7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500" b="1">
                    <a:solidFill>
                      <a:srgbClr val="000000"/>
                    </a:solidFill>
                  </a:rPr>
                  <a:t>3</a:t>
                </a:r>
                <a:endParaRPr kumimoji="1" lang="zh-CN" altLang="en-US" b="1"/>
              </a:p>
            </p:txBody>
          </p:sp>
          <p:sp>
            <p:nvSpPr>
              <p:cNvPr id="5135" name="Rectangle 15"/>
              <p:cNvSpPr>
                <a:spLocks noChangeArrowheads="1"/>
              </p:cNvSpPr>
              <p:nvPr/>
            </p:nvSpPr>
            <p:spPr bwMode="auto">
              <a:xfrm>
                <a:off x="2776" y="3932"/>
                <a:ext cx="9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500" b="1" i="1">
                    <a:solidFill>
                      <a:srgbClr val="000000"/>
                    </a:solidFill>
                  </a:rPr>
                  <a:t>N</a:t>
                </a:r>
                <a:endParaRPr kumimoji="1" lang="en-US" altLang="zh-CN" b="1"/>
              </a:p>
            </p:txBody>
          </p:sp>
          <p:sp>
            <p:nvSpPr>
              <p:cNvPr id="5136" name="Rectangle 16"/>
              <p:cNvSpPr>
                <a:spLocks noChangeArrowheads="1"/>
              </p:cNvSpPr>
              <p:nvPr/>
            </p:nvSpPr>
            <p:spPr bwMode="auto">
              <a:xfrm>
                <a:off x="2595" y="3801"/>
                <a:ext cx="22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grpSp>
        <p:sp>
          <p:nvSpPr>
            <p:cNvPr id="5137" name="Rectangle 17"/>
            <p:cNvSpPr>
              <a:spLocks noChangeArrowheads="1"/>
            </p:cNvSpPr>
            <p:nvPr/>
          </p:nvSpPr>
          <p:spPr bwMode="auto">
            <a:xfrm>
              <a:off x="1580" y="4053"/>
              <a:ext cx="14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latin typeface="宋体" panose="02010600030101010101" pitchFamily="2" charset="-122"/>
                </a:rPr>
                <a:t>-1</a:t>
              </a:r>
              <a:endParaRPr kumimoji="1" lang="zh-CN" altLang="en-US" b="1"/>
            </a:p>
          </p:txBody>
        </p:sp>
      </p:grpSp>
      <p:grpSp>
        <p:nvGrpSpPr>
          <p:cNvPr id="5138" name="Group 18"/>
          <p:cNvGrpSpPr>
            <a:grpSpLocks/>
          </p:cNvGrpSpPr>
          <p:nvPr/>
        </p:nvGrpSpPr>
        <p:grpSpPr bwMode="auto">
          <a:xfrm>
            <a:off x="3941763" y="3455988"/>
            <a:ext cx="2203450" cy="2654299"/>
            <a:chOff x="1523" y="2177"/>
            <a:chExt cx="1388" cy="1672"/>
          </a:xfrm>
        </p:grpSpPr>
        <p:sp>
          <p:nvSpPr>
            <p:cNvPr id="5139" name="Freeform 19"/>
            <p:cNvSpPr>
              <a:spLocks/>
            </p:cNvSpPr>
            <p:nvPr/>
          </p:nvSpPr>
          <p:spPr bwMode="auto">
            <a:xfrm>
              <a:off x="1523" y="3695"/>
              <a:ext cx="1011" cy="1"/>
            </a:xfrm>
            <a:custGeom>
              <a:avLst/>
              <a:gdLst>
                <a:gd name="T0" fmla="*/ 0 w 1011"/>
                <a:gd name="T1" fmla="*/ 1011 w 1011"/>
                <a:gd name="T2" fmla="*/ 0 w 1011"/>
                <a:gd name="T3" fmla="*/ 648 w 1011"/>
              </a:gdLst>
              <a:ahLst/>
              <a:cxnLst>
                <a:cxn ang="0">
                  <a:pos x="T0" y="0"/>
                </a:cxn>
                <a:cxn ang="0">
                  <a:pos x="T1" y="0"/>
                </a:cxn>
                <a:cxn ang="0">
                  <a:pos x="T2" y="0"/>
                </a:cxn>
                <a:cxn ang="0">
                  <a:pos x="T3" y="0"/>
                </a:cxn>
              </a:cxnLst>
              <a:rect l="0" t="0" r="r" b="b"/>
              <a:pathLst>
                <a:path w="1011">
                  <a:moveTo>
                    <a:pt x="0" y="0"/>
                  </a:moveTo>
                  <a:lnTo>
                    <a:pt x="1011" y="0"/>
                  </a:lnTo>
                  <a:lnTo>
                    <a:pt x="0" y="0"/>
                  </a:lnTo>
                  <a:lnTo>
                    <a:pt x="648"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40" name="Freeform 20"/>
            <p:cNvSpPr>
              <a:spLocks/>
            </p:cNvSpPr>
            <p:nvPr/>
          </p:nvSpPr>
          <p:spPr bwMode="auto">
            <a:xfrm>
              <a:off x="2156" y="3660"/>
              <a:ext cx="79" cy="71"/>
            </a:xfrm>
            <a:custGeom>
              <a:avLst/>
              <a:gdLst>
                <a:gd name="T0" fmla="*/ 0 w 79"/>
                <a:gd name="T1" fmla="*/ 0 h 71"/>
                <a:gd name="T2" fmla="*/ 79 w 79"/>
                <a:gd name="T3" fmla="*/ 35 h 71"/>
                <a:gd name="T4" fmla="*/ 0 w 79"/>
                <a:gd name="T5" fmla="*/ 71 h 71"/>
                <a:gd name="T6" fmla="*/ 0 w 79"/>
                <a:gd name="T7" fmla="*/ 0 h 71"/>
              </a:gdLst>
              <a:ahLst/>
              <a:cxnLst>
                <a:cxn ang="0">
                  <a:pos x="T0" y="T1"/>
                </a:cxn>
                <a:cxn ang="0">
                  <a:pos x="T2" y="T3"/>
                </a:cxn>
                <a:cxn ang="0">
                  <a:pos x="T4" y="T5"/>
                </a:cxn>
                <a:cxn ang="0">
                  <a:pos x="T6" y="T7"/>
                </a:cxn>
              </a:cxnLst>
              <a:rect l="0" t="0" r="r" b="b"/>
              <a:pathLst>
                <a:path w="79" h="71">
                  <a:moveTo>
                    <a:pt x="0" y="0"/>
                  </a:moveTo>
                  <a:lnTo>
                    <a:pt x="79"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1" name="Freeform 21"/>
            <p:cNvSpPr>
              <a:spLocks/>
            </p:cNvSpPr>
            <p:nvPr/>
          </p:nvSpPr>
          <p:spPr bwMode="auto">
            <a:xfrm>
              <a:off x="2534" y="3695"/>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42" name="Freeform 22"/>
            <p:cNvSpPr>
              <a:spLocks/>
            </p:cNvSpPr>
            <p:nvPr/>
          </p:nvSpPr>
          <p:spPr bwMode="auto">
            <a:xfrm>
              <a:off x="1523" y="2177"/>
              <a:ext cx="1011" cy="1518"/>
            </a:xfrm>
            <a:custGeom>
              <a:avLst/>
              <a:gdLst>
                <a:gd name="T0" fmla="*/ 0 w 1011"/>
                <a:gd name="T1" fmla="*/ 0 h 1518"/>
                <a:gd name="T2" fmla="*/ 1011 w 1011"/>
                <a:gd name="T3" fmla="*/ 1518 h 1518"/>
                <a:gd name="T4" fmla="*/ 0 w 1011"/>
                <a:gd name="T5" fmla="*/ 0 h 1518"/>
                <a:gd name="T6" fmla="*/ 676 w 1011"/>
                <a:gd name="T7" fmla="*/ 1012 h 1518"/>
              </a:gdLst>
              <a:ahLst/>
              <a:cxnLst>
                <a:cxn ang="0">
                  <a:pos x="T0" y="T1"/>
                </a:cxn>
                <a:cxn ang="0">
                  <a:pos x="T2" y="T3"/>
                </a:cxn>
                <a:cxn ang="0">
                  <a:pos x="T4" y="T5"/>
                </a:cxn>
                <a:cxn ang="0">
                  <a:pos x="T6" y="T7"/>
                </a:cxn>
              </a:cxnLst>
              <a:rect l="0" t="0" r="r" b="b"/>
              <a:pathLst>
                <a:path w="1011" h="1518">
                  <a:moveTo>
                    <a:pt x="0" y="0"/>
                  </a:moveTo>
                  <a:lnTo>
                    <a:pt x="1011" y="1518"/>
                  </a:lnTo>
                  <a:lnTo>
                    <a:pt x="0" y="0"/>
                  </a:lnTo>
                  <a:lnTo>
                    <a:pt x="676" y="101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43" name="Freeform 23"/>
            <p:cNvSpPr>
              <a:spLocks/>
            </p:cNvSpPr>
            <p:nvPr/>
          </p:nvSpPr>
          <p:spPr bwMode="auto">
            <a:xfrm>
              <a:off x="2163" y="3161"/>
              <a:ext cx="72" cy="78"/>
            </a:xfrm>
            <a:custGeom>
              <a:avLst/>
              <a:gdLst>
                <a:gd name="T0" fmla="*/ 57 w 72"/>
                <a:gd name="T1" fmla="*/ 0 h 78"/>
                <a:gd name="T2" fmla="*/ 72 w 72"/>
                <a:gd name="T3" fmla="*/ 78 h 78"/>
                <a:gd name="T4" fmla="*/ 0 w 72"/>
                <a:gd name="T5" fmla="*/ 36 h 78"/>
                <a:gd name="T6" fmla="*/ 57 w 72"/>
                <a:gd name="T7" fmla="*/ 0 h 78"/>
              </a:gdLst>
              <a:ahLst/>
              <a:cxnLst>
                <a:cxn ang="0">
                  <a:pos x="T0" y="T1"/>
                </a:cxn>
                <a:cxn ang="0">
                  <a:pos x="T2" y="T3"/>
                </a:cxn>
                <a:cxn ang="0">
                  <a:pos x="T4" y="T5"/>
                </a:cxn>
                <a:cxn ang="0">
                  <a:pos x="T6" y="T7"/>
                </a:cxn>
              </a:cxnLst>
              <a:rect l="0" t="0" r="r" b="b"/>
              <a:pathLst>
                <a:path w="72" h="78">
                  <a:moveTo>
                    <a:pt x="57" y="0"/>
                  </a:moveTo>
                  <a:lnTo>
                    <a:pt x="72" y="78"/>
                  </a:lnTo>
                  <a:lnTo>
                    <a:pt x="0" y="36"/>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44" name="Group 24"/>
            <p:cNvGrpSpPr>
              <a:grpSpLocks/>
            </p:cNvGrpSpPr>
            <p:nvPr/>
          </p:nvGrpSpPr>
          <p:grpSpPr bwMode="auto">
            <a:xfrm>
              <a:off x="2596" y="3413"/>
              <a:ext cx="304" cy="318"/>
              <a:chOff x="2596" y="3413"/>
              <a:chExt cx="304" cy="318"/>
            </a:xfrm>
          </p:grpSpPr>
          <p:sp>
            <p:nvSpPr>
              <p:cNvPr id="5145" name="Freeform 25"/>
              <p:cNvSpPr>
                <a:spLocks/>
              </p:cNvSpPr>
              <p:nvPr/>
            </p:nvSpPr>
            <p:spPr bwMode="auto">
              <a:xfrm>
                <a:off x="2726" y="3660"/>
                <a:ext cx="71" cy="71"/>
              </a:xfrm>
              <a:custGeom>
                <a:avLst/>
                <a:gdLst>
                  <a:gd name="T0" fmla="*/ 0 w 71"/>
                  <a:gd name="T1" fmla="*/ 0 h 71"/>
                  <a:gd name="T2" fmla="*/ 71 w 71"/>
                  <a:gd name="T3" fmla="*/ 35 h 71"/>
                  <a:gd name="T4" fmla="*/ 0 w 71"/>
                  <a:gd name="T5" fmla="*/ 71 h 71"/>
                  <a:gd name="T6" fmla="*/ 0 w 71"/>
                  <a:gd name="T7" fmla="*/ 0 h 71"/>
                </a:gdLst>
                <a:ahLst/>
                <a:cxnLst>
                  <a:cxn ang="0">
                    <a:pos x="T0" y="T1"/>
                  </a:cxn>
                  <a:cxn ang="0">
                    <a:pos x="T2" y="T3"/>
                  </a:cxn>
                  <a:cxn ang="0">
                    <a:pos x="T4" y="T5"/>
                  </a:cxn>
                  <a:cxn ang="0">
                    <a:pos x="T6" y="T7"/>
                  </a:cxn>
                </a:cxnLst>
                <a:rect l="0" t="0" r="r" b="b"/>
                <a:pathLst>
                  <a:path w="71" h="71">
                    <a:moveTo>
                      <a:pt x="0" y="0"/>
                    </a:moveTo>
                    <a:lnTo>
                      <a:pt x="71"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6" name="Rectangle 26"/>
              <p:cNvSpPr>
                <a:spLocks noChangeArrowheads="1"/>
              </p:cNvSpPr>
              <p:nvPr/>
            </p:nvSpPr>
            <p:spPr bwMode="auto">
              <a:xfrm>
                <a:off x="2821" y="3413"/>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2</a:t>
                </a:r>
                <a:endParaRPr kumimoji="1" lang="zh-CN" altLang="en-US" b="1"/>
              </a:p>
            </p:txBody>
          </p:sp>
          <p:sp>
            <p:nvSpPr>
              <p:cNvPr id="5147" name="Rectangle 27"/>
              <p:cNvSpPr>
                <a:spLocks noChangeArrowheads="1"/>
              </p:cNvSpPr>
              <p:nvPr/>
            </p:nvSpPr>
            <p:spPr bwMode="auto">
              <a:xfrm>
                <a:off x="2781" y="3564"/>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5148" name="Rectangle 28"/>
              <p:cNvSpPr>
                <a:spLocks noChangeArrowheads="1"/>
              </p:cNvSpPr>
              <p:nvPr/>
            </p:nvSpPr>
            <p:spPr bwMode="auto">
              <a:xfrm>
                <a:off x="2596" y="3429"/>
                <a:ext cx="22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grpSp>
        <p:sp>
          <p:nvSpPr>
            <p:cNvPr id="5149" name="Rectangle 29"/>
            <p:cNvSpPr>
              <a:spLocks noChangeArrowheads="1"/>
            </p:cNvSpPr>
            <p:nvPr/>
          </p:nvSpPr>
          <p:spPr bwMode="auto">
            <a:xfrm>
              <a:off x="1558" y="3675"/>
              <a:ext cx="14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latin typeface="宋体" panose="02010600030101010101" pitchFamily="2" charset="-122"/>
                </a:rPr>
                <a:t>-1</a:t>
              </a:r>
              <a:endParaRPr kumimoji="1" lang="zh-CN" altLang="en-US" b="1"/>
            </a:p>
          </p:txBody>
        </p:sp>
      </p:grpSp>
      <p:grpSp>
        <p:nvGrpSpPr>
          <p:cNvPr id="5150" name="Group 30"/>
          <p:cNvGrpSpPr>
            <a:grpSpLocks/>
          </p:cNvGrpSpPr>
          <p:nvPr/>
        </p:nvGrpSpPr>
        <p:grpSpPr bwMode="auto">
          <a:xfrm>
            <a:off x="3941763" y="2857501"/>
            <a:ext cx="2203450" cy="2643188"/>
            <a:chOff x="1523" y="1800"/>
            <a:chExt cx="1388" cy="1665"/>
          </a:xfrm>
        </p:grpSpPr>
        <p:sp>
          <p:nvSpPr>
            <p:cNvPr id="5151" name="Freeform 31"/>
            <p:cNvSpPr>
              <a:spLocks/>
            </p:cNvSpPr>
            <p:nvPr/>
          </p:nvSpPr>
          <p:spPr bwMode="auto">
            <a:xfrm>
              <a:off x="2156" y="3282"/>
              <a:ext cx="79" cy="71"/>
            </a:xfrm>
            <a:custGeom>
              <a:avLst/>
              <a:gdLst>
                <a:gd name="T0" fmla="*/ 0 w 79"/>
                <a:gd name="T1" fmla="*/ 0 h 71"/>
                <a:gd name="T2" fmla="*/ 79 w 79"/>
                <a:gd name="T3" fmla="*/ 36 h 71"/>
                <a:gd name="T4" fmla="*/ 0 w 79"/>
                <a:gd name="T5" fmla="*/ 71 h 71"/>
                <a:gd name="T6" fmla="*/ 0 w 79"/>
                <a:gd name="T7" fmla="*/ 0 h 71"/>
              </a:gdLst>
              <a:ahLst/>
              <a:cxnLst>
                <a:cxn ang="0">
                  <a:pos x="T0" y="T1"/>
                </a:cxn>
                <a:cxn ang="0">
                  <a:pos x="T2" y="T3"/>
                </a:cxn>
                <a:cxn ang="0">
                  <a:pos x="T4" y="T5"/>
                </a:cxn>
                <a:cxn ang="0">
                  <a:pos x="T6" y="T7"/>
                </a:cxn>
              </a:cxnLst>
              <a:rect l="0" t="0" r="r" b="b"/>
              <a:pathLst>
                <a:path w="79" h="71">
                  <a:moveTo>
                    <a:pt x="0" y="0"/>
                  </a:moveTo>
                  <a:lnTo>
                    <a:pt x="79" y="36"/>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52" name="Group 32"/>
            <p:cNvGrpSpPr>
              <a:grpSpLocks/>
            </p:cNvGrpSpPr>
            <p:nvPr/>
          </p:nvGrpSpPr>
          <p:grpSpPr bwMode="auto">
            <a:xfrm>
              <a:off x="1523" y="1800"/>
              <a:ext cx="1388" cy="1665"/>
              <a:chOff x="1523" y="1800"/>
              <a:chExt cx="1388" cy="1665"/>
            </a:xfrm>
          </p:grpSpPr>
          <p:sp>
            <p:nvSpPr>
              <p:cNvPr id="5153" name="Freeform 33"/>
              <p:cNvSpPr>
                <a:spLocks/>
              </p:cNvSpPr>
              <p:nvPr/>
            </p:nvSpPr>
            <p:spPr bwMode="auto">
              <a:xfrm>
                <a:off x="1523" y="3318"/>
                <a:ext cx="1011" cy="1"/>
              </a:xfrm>
              <a:custGeom>
                <a:avLst/>
                <a:gdLst>
                  <a:gd name="T0" fmla="*/ 0 w 1011"/>
                  <a:gd name="T1" fmla="*/ 1011 w 1011"/>
                  <a:gd name="T2" fmla="*/ 0 w 1011"/>
                  <a:gd name="T3" fmla="*/ 648 w 1011"/>
                </a:gdLst>
                <a:ahLst/>
                <a:cxnLst>
                  <a:cxn ang="0">
                    <a:pos x="T0" y="0"/>
                  </a:cxn>
                  <a:cxn ang="0">
                    <a:pos x="T1" y="0"/>
                  </a:cxn>
                  <a:cxn ang="0">
                    <a:pos x="T2" y="0"/>
                  </a:cxn>
                  <a:cxn ang="0">
                    <a:pos x="T3" y="0"/>
                  </a:cxn>
                </a:cxnLst>
                <a:rect l="0" t="0" r="r" b="b"/>
                <a:pathLst>
                  <a:path w="1011">
                    <a:moveTo>
                      <a:pt x="0" y="0"/>
                    </a:moveTo>
                    <a:lnTo>
                      <a:pt x="1011" y="0"/>
                    </a:lnTo>
                    <a:lnTo>
                      <a:pt x="0" y="0"/>
                    </a:lnTo>
                    <a:lnTo>
                      <a:pt x="648"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154" name="Group 34"/>
              <p:cNvGrpSpPr>
                <a:grpSpLocks/>
              </p:cNvGrpSpPr>
              <p:nvPr/>
            </p:nvGrpSpPr>
            <p:grpSpPr bwMode="auto">
              <a:xfrm>
                <a:off x="1523" y="1800"/>
                <a:ext cx="1388" cy="1665"/>
                <a:chOff x="1523" y="1800"/>
                <a:chExt cx="1388" cy="1665"/>
              </a:xfrm>
            </p:grpSpPr>
            <p:sp>
              <p:nvSpPr>
                <p:cNvPr id="5155" name="Freeform 35"/>
                <p:cNvSpPr>
                  <a:spLocks/>
                </p:cNvSpPr>
                <p:nvPr/>
              </p:nvSpPr>
              <p:spPr bwMode="auto">
                <a:xfrm>
                  <a:off x="2534" y="3318"/>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56" name="Freeform 36"/>
                <p:cNvSpPr>
                  <a:spLocks/>
                </p:cNvSpPr>
                <p:nvPr/>
              </p:nvSpPr>
              <p:spPr bwMode="auto">
                <a:xfrm>
                  <a:off x="1523" y="1800"/>
                  <a:ext cx="1011" cy="1518"/>
                </a:xfrm>
                <a:custGeom>
                  <a:avLst/>
                  <a:gdLst>
                    <a:gd name="T0" fmla="*/ 0 w 1011"/>
                    <a:gd name="T1" fmla="*/ 0 h 1518"/>
                    <a:gd name="T2" fmla="*/ 1011 w 1011"/>
                    <a:gd name="T3" fmla="*/ 1518 h 1518"/>
                    <a:gd name="T4" fmla="*/ 0 w 1011"/>
                    <a:gd name="T5" fmla="*/ 0 h 1518"/>
                    <a:gd name="T6" fmla="*/ 676 w 1011"/>
                    <a:gd name="T7" fmla="*/ 1012 h 1518"/>
                  </a:gdLst>
                  <a:ahLst/>
                  <a:cxnLst>
                    <a:cxn ang="0">
                      <a:pos x="T0" y="T1"/>
                    </a:cxn>
                    <a:cxn ang="0">
                      <a:pos x="T2" y="T3"/>
                    </a:cxn>
                    <a:cxn ang="0">
                      <a:pos x="T4" y="T5"/>
                    </a:cxn>
                    <a:cxn ang="0">
                      <a:pos x="T6" y="T7"/>
                    </a:cxn>
                  </a:cxnLst>
                  <a:rect l="0" t="0" r="r" b="b"/>
                  <a:pathLst>
                    <a:path w="1011" h="1518">
                      <a:moveTo>
                        <a:pt x="0" y="0"/>
                      </a:moveTo>
                      <a:lnTo>
                        <a:pt x="1011" y="1518"/>
                      </a:lnTo>
                      <a:lnTo>
                        <a:pt x="0" y="0"/>
                      </a:lnTo>
                      <a:lnTo>
                        <a:pt x="676" y="101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57" name="Freeform 37"/>
                <p:cNvSpPr>
                  <a:spLocks/>
                </p:cNvSpPr>
                <p:nvPr/>
              </p:nvSpPr>
              <p:spPr bwMode="auto">
                <a:xfrm>
                  <a:off x="2163" y="2783"/>
                  <a:ext cx="72" cy="79"/>
                </a:xfrm>
                <a:custGeom>
                  <a:avLst/>
                  <a:gdLst>
                    <a:gd name="T0" fmla="*/ 57 w 72"/>
                    <a:gd name="T1" fmla="*/ 0 h 79"/>
                    <a:gd name="T2" fmla="*/ 72 w 72"/>
                    <a:gd name="T3" fmla="*/ 79 h 79"/>
                    <a:gd name="T4" fmla="*/ 0 w 72"/>
                    <a:gd name="T5" fmla="*/ 43 h 79"/>
                    <a:gd name="T6" fmla="*/ 57 w 72"/>
                    <a:gd name="T7" fmla="*/ 0 h 79"/>
                  </a:gdLst>
                  <a:ahLst/>
                  <a:cxnLst>
                    <a:cxn ang="0">
                      <a:pos x="T0" y="T1"/>
                    </a:cxn>
                    <a:cxn ang="0">
                      <a:pos x="T2" y="T3"/>
                    </a:cxn>
                    <a:cxn ang="0">
                      <a:pos x="T4" y="T5"/>
                    </a:cxn>
                    <a:cxn ang="0">
                      <a:pos x="T6" y="T7"/>
                    </a:cxn>
                  </a:cxnLst>
                  <a:rect l="0" t="0" r="r" b="b"/>
                  <a:pathLst>
                    <a:path w="72" h="79">
                      <a:moveTo>
                        <a:pt x="57" y="0"/>
                      </a:moveTo>
                      <a:lnTo>
                        <a:pt x="72" y="79"/>
                      </a:lnTo>
                      <a:lnTo>
                        <a:pt x="0" y="43"/>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58" name="Group 38"/>
                <p:cNvGrpSpPr>
                  <a:grpSpLocks/>
                </p:cNvGrpSpPr>
                <p:nvPr/>
              </p:nvGrpSpPr>
              <p:grpSpPr bwMode="auto">
                <a:xfrm>
                  <a:off x="2588" y="3043"/>
                  <a:ext cx="286" cy="310"/>
                  <a:chOff x="2588" y="3043"/>
                  <a:chExt cx="286" cy="310"/>
                </a:xfrm>
              </p:grpSpPr>
              <p:sp>
                <p:nvSpPr>
                  <p:cNvPr id="5159" name="Freeform 39"/>
                  <p:cNvSpPr>
                    <a:spLocks/>
                  </p:cNvSpPr>
                  <p:nvPr/>
                </p:nvSpPr>
                <p:spPr bwMode="auto">
                  <a:xfrm>
                    <a:off x="2726" y="3282"/>
                    <a:ext cx="71" cy="71"/>
                  </a:xfrm>
                  <a:custGeom>
                    <a:avLst/>
                    <a:gdLst>
                      <a:gd name="T0" fmla="*/ 0 w 71"/>
                      <a:gd name="T1" fmla="*/ 0 h 71"/>
                      <a:gd name="T2" fmla="*/ 71 w 71"/>
                      <a:gd name="T3" fmla="*/ 36 h 71"/>
                      <a:gd name="T4" fmla="*/ 0 w 71"/>
                      <a:gd name="T5" fmla="*/ 71 h 71"/>
                      <a:gd name="T6" fmla="*/ 0 w 71"/>
                      <a:gd name="T7" fmla="*/ 0 h 71"/>
                    </a:gdLst>
                    <a:ahLst/>
                    <a:cxnLst>
                      <a:cxn ang="0">
                        <a:pos x="T0" y="T1"/>
                      </a:cxn>
                      <a:cxn ang="0">
                        <a:pos x="T2" y="T3"/>
                      </a:cxn>
                      <a:cxn ang="0">
                        <a:pos x="T4" y="T5"/>
                      </a:cxn>
                      <a:cxn ang="0">
                        <a:pos x="T6" y="T7"/>
                      </a:cxn>
                    </a:cxnLst>
                    <a:rect l="0" t="0" r="r" b="b"/>
                    <a:pathLst>
                      <a:path w="71" h="71">
                        <a:moveTo>
                          <a:pt x="0" y="0"/>
                        </a:moveTo>
                        <a:lnTo>
                          <a:pt x="71" y="36"/>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0" name="Rectangle 40"/>
                  <p:cNvSpPr>
                    <a:spLocks noChangeArrowheads="1"/>
                  </p:cNvSpPr>
                  <p:nvPr/>
                </p:nvSpPr>
                <p:spPr bwMode="auto">
                  <a:xfrm>
                    <a:off x="2794" y="3043"/>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1</a:t>
                    </a:r>
                    <a:endParaRPr kumimoji="1" lang="zh-CN" altLang="en-US" b="1"/>
                  </a:p>
                </p:txBody>
              </p:sp>
              <p:sp>
                <p:nvSpPr>
                  <p:cNvPr id="5161" name="Rectangle 41"/>
                  <p:cNvSpPr>
                    <a:spLocks noChangeArrowheads="1"/>
                  </p:cNvSpPr>
                  <p:nvPr/>
                </p:nvSpPr>
                <p:spPr bwMode="auto">
                  <a:xfrm>
                    <a:off x="2769" y="3194"/>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5162" name="Rectangle 42"/>
                  <p:cNvSpPr>
                    <a:spLocks noChangeArrowheads="1"/>
                  </p:cNvSpPr>
                  <p:nvPr/>
                </p:nvSpPr>
                <p:spPr bwMode="auto">
                  <a:xfrm>
                    <a:off x="2588" y="3060"/>
                    <a:ext cx="22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grpSp>
            <p:sp>
              <p:nvSpPr>
                <p:cNvPr id="5163" name="Rectangle 43"/>
                <p:cNvSpPr>
                  <a:spLocks noChangeArrowheads="1"/>
                </p:cNvSpPr>
                <p:nvPr/>
              </p:nvSpPr>
              <p:spPr bwMode="auto">
                <a:xfrm>
                  <a:off x="1558" y="3291"/>
                  <a:ext cx="14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latin typeface="宋体" panose="02010600030101010101" pitchFamily="2" charset="-122"/>
                    </a:rPr>
                    <a:t>-1</a:t>
                  </a:r>
                  <a:endParaRPr kumimoji="1" lang="zh-CN" altLang="en-US" b="1"/>
                </a:p>
              </p:txBody>
            </p:sp>
          </p:grpSp>
        </p:grpSp>
      </p:grpSp>
      <p:grpSp>
        <p:nvGrpSpPr>
          <p:cNvPr id="5164" name="Group 44"/>
          <p:cNvGrpSpPr>
            <a:grpSpLocks/>
          </p:cNvGrpSpPr>
          <p:nvPr/>
        </p:nvGrpSpPr>
        <p:grpSpPr bwMode="auto">
          <a:xfrm>
            <a:off x="3941763" y="2257426"/>
            <a:ext cx="2203450" cy="2635251"/>
            <a:chOff x="1523" y="1422"/>
            <a:chExt cx="1388" cy="1660"/>
          </a:xfrm>
        </p:grpSpPr>
        <p:sp>
          <p:nvSpPr>
            <p:cNvPr id="5165" name="Freeform 45"/>
            <p:cNvSpPr>
              <a:spLocks/>
            </p:cNvSpPr>
            <p:nvPr/>
          </p:nvSpPr>
          <p:spPr bwMode="auto">
            <a:xfrm>
              <a:off x="2156" y="2897"/>
              <a:ext cx="79" cy="79"/>
            </a:xfrm>
            <a:custGeom>
              <a:avLst/>
              <a:gdLst>
                <a:gd name="T0" fmla="*/ 0 w 79"/>
                <a:gd name="T1" fmla="*/ 0 h 79"/>
                <a:gd name="T2" fmla="*/ 79 w 79"/>
                <a:gd name="T3" fmla="*/ 36 h 79"/>
                <a:gd name="T4" fmla="*/ 0 w 79"/>
                <a:gd name="T5" fmla="*/ 79 h 79"/>
                <a:gd name="T6" fmla="*/ 0 w 79"/>
                <a:gd name="T7" fmla="*/ 0 h 79"/>
              </a:gdLst>
              <a:ahLst/>
              <a:cxnLst>
                <a:cxn ang="0">
                  <a:pos x="T0" y="T1"/>
                </a:cxn>
                <a:cxn ang="0">
                  <a:pos x="T2" y="T3"/>
                </a:cxn>
                <a:cxn ang="0">
                  <a:pos x="T4" y="T5"/>
                </a:cxn>
                <a:cxn ang="0">
                  <a:pos x="T6" y="T7"/>
                </a:cxn>
              </a:cxnLst>
              <a:rect l="0" t="0" r="r" b="b"/>
              <a:pathLst>
                <a:path w="79" h="79">
                  <a:moveTo>
                    <a:pt x="0" y="0"/>
                  </a:moveTo>
                  <a:lnTo>
                    <a:pt x="79" y="36"/>
                  </a:lnTo>
                  <a:lnTo>
                    <a:pt x="0" y="7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66" name="Group 46"/>
            <p:cNvGrpSpPr>
              <a:grpSpLocks/>
            </p:cNvGrpSpPr>
            <p:nvPr/>
          </p:nvGrpSpPr>
          <p:grpSpPr bwMode="auto">
            <a:xfrm>
              <a:off x="1523" y="1422"/>
              <a:ext cx="1388" cy="1660"/>
              <a:chOff x="1523" y="1422"/>
              <a:chExt cx="1388" cy="1660"/>
            </a:xfrm>
          </p:grpSpPr>
          <p:sp>
            <p:nvSpPr>
              <p:cNvPr id="5167" name="Freeform 47"/>
              <p:cNvSpPr>
                <a:spLocks/>
              </p:cNvSpPr>
              <p:nvPr/>
            </p:nvSpPr>
            <p:spPr bwMode="auto">
              <a:xfrm>
                <a:off x="1523" y="2933"/>
                <a:ext cx="1011" cy="1"/>
              </a:xfrm>
              <a:custGeom>
                <a:avLst/>
                <a:gdLst>
                  <a:gd name="T0" fmla="*/ 0 w 1011"/>
                  <a:gd name="T1" fmla="*/ 1011 w 1011"/>
                  <a:gd name="T2" fmla="*/ 0 w 1011"/>
                  <a:gd name="T3" fmla="*/ 648 w 1011"/>
                </a:gdLst>
                <a:ahLst/>
                <a:cxnLst>
                  <a:cxn ang="0">
                    <a:pos x="T0" y="0"/>
                  </a:cxn>
                  <a:cxn ang="0">
                    <a:pos x="T1" y="0"/>
                  </a:cxn>
                  <a:cxn ang="0">
                    <a:pos x="T2" y="0"/>
                  </a:cxn>
                  <a:cxn ang="0">
                    <a:pos x="T3" y="0"/>
                  </a:cxn>
                </a:cxnLst>
                <a:rect l="0" t="0" r="r" b="b"/>
                <a:pathLst>
                  <a:path w="1011">
                    <a:moveTo>
                      <a:pt x="0" y="0"/>
                    </a:moveTo>
                    <a:lnTo>
                      <a:pt x="1011" y="0"/>
                    </a:lnTo>
                    <a:lnTo>
                      <a:pt x="0" y="0"/>
                    </a:lnTo>
                    <a:lnTo>
                      <a:pt x="648"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68" name="Freeform 48"/>
              <p:cNvSpPr>
                <a:spLocks/>
              </p:cNvSpPr>
              <p:nvPr/>
            </p:nvSpPr>
            <p:spPr bwMode="auto">
              <a:xfrm>
                <a:off x="2534" y="2933"/>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69" name="Freeform 49"/>
              <p:cNvSpPr>
                <a:spLocks/>
              </p:cNvSpPr>
              <p:nvPr/>
            </p:nvSpPr>
            <p:spPr bwMode="auto">
              <a:xfrm>
                <a:off x="1523" y="1422"/>
                <a:ext cx="1011" cy="1511"/>
              </a:xfrm>
              <a:custGeom>
                <a:avLst/>
                <a:gdLst>
                  <a:gd name="T0" fmla="*/ 0 w 1011"/>
                  <a:gd name="T1" fmla="*/ 0 h 1511"/>
                  <a:gd name="T2" fmla="*/ 1011 w 1011"/>
                  <a:gd name="T3" fmla="*/ 1511 h 1511"/>
                  <a:gd name="T4" fmla="*/ 0 w 1011"/>
                  <a:gd name="T5" fmla="*/ 0 h 1511"/>
                  <a:gd name="T6" fmla="*/ 676 w 1011"/>
                  <a:gd name="T7" fmla="*/ 1005 h 1511"/>
                </a:gdLst>
                <a:ahLst/>
                <a:cxnLst>
                  <a:cxn ang="0">
                    <a:pos x="T0" y="T1"/>
                  </a:cxn>
                  <a:cxn ang="0">
                    <a:pos x="T2" y="T3"/>
                  </a:cxn>
                  <a:cxn ang="0">
                    <a:pos x="T4" y="T5"/>
                  </a:cxn>
                  <a:cxn ang="0">
                    <a:pos x="T6" y="T7"/>
                  </a:cxn>
                </a:cxnLst>
                <a:rect l="0" t="0" r="r" b="b"/>
                <a:pathLst>
                  <a:path w="1011" h="1511">
                    <a:moveTo>
                      <a:pt x="0" y="0"/>
                    </a:moveTo>
                    <a:lnTo>
                      <a:pt x="1011" y="1511"/>
                    </a:lnTo>
                    <a:lnTo>
                      <a:pt x="0" y="0"/>
                    </a:lnTo>
                    <a:lnTo>
                      <a:pt x="676" y="100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0" name="Freeform 50"/>
              <p:cNvSpPr>
                <a:spLocks/>
              </p:cNvSpPr>
              <p:nvPr/>
            </p:nvSpPr>
            <p:spPr bwMode="auto">
              <a:xfrm>
                <a:off x="2163" y="2398"/>
                <a:ext cx="72" cy="86"/>
              </a:xfrm>
              <a:custGeom>
                <a:avLst/>
                <a:gdLst>
                  <a:gd name="T0" fmla="*/ 57 w 72"/>
                  <a:gd name="T1" fmla="*/ 0 h 86"/>
                  <a:gd name="T2" fmla="*/ 72 w 72"/>
                  <a:gd name="T3" fmla="*/ 86 h 86"/>
                  <a:gd name="T4" fmla="*/ 0 w 72"/>
                  <a:gd name="T5" fmla="*/ 43 h 86"/>
                  <a:gd name="T6" fmla="*/ 57 w 72"/>
                  <a:gd name="T7" fmla="*/ 0 h 86"/>
                </a:gdLst>
                <a:ahLst/>
                <a:cxnLst>
                  <a:cxn ang="0">
                    <a:pos x="T0" y="T1"/>
                  </a:cxn>
                  <a:cxn ang="0">
                    <a:pos x="T2" y="T3"/>
                  </a:cxn>
                  <a:cxn ang="0">
                    <a:pos x="T4" y="T5"/>
                  </a:cxn>
                  <a:cxn ang="0">
                    <a:pos x="T6" y="T7"/>
                  </a:cxn>
                </a:cxnLst>
                <a:rect l="0" t="0" r="r" b="b"/>
                <a:pathLst>
                  <a:path w="72" h="86">
                    <a:moveTo>
                      <a:pt x="57" y="0"/>
                    </a:moveTo>
                    <a:lnTo>
                      <a:pt x="72" y="86"/>
                    </a:lnTo>
                    <a:lnTo>
                      <a:pt x="0" y="43"/>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71" name="Group 51"/>
              <p:cNvGrpSpPr>
                <a:grpSpLocks/>
              </p:cNvGrpSpPr>
              <p:nvPr/>
            </p:nvGrpSpPr>
            <p:grpSpPr bwMode="auto">
              <a:xfrm>
                <a:off x="2588" y="2665"/>
                <a:ext cx="295" cy="311"/>
                <a:chOff x="2588" y="2665"/>
                <a:chExt cx="295" cy="311"/>
              </a:xfrm>
            </p:grpSpPr>
            <p:sp>
              <p:nvSpPr>
                <p:cNvPr id="5172" name="Freeform 52"/>
                <p:cNvSpPr>
                  <a:spLocks/>
                </p:cNvSpPr>
                <p:nvPr/>
              </p:nvSpPr>
              <p:spPr bwMode="auto">
                <a:xfrm>
                  <a:off x="2726" y="2897"/>
                  <a:ext cx="71" cy="79"/>
                </a:xfrm>
                <a:custGeom>
                  <a:avLst/>
                  <a:gdLst>
                    <a:gd name="T0" fmla="*/ 0 w 71"/>
                    <a:gd name="T1" fmla="*/ 0 h 79"/>
                    <a:gd name="T2" fmla="*/ 71 w 71"/>
                    <a:gd name="T3" fmla="*/ 36 h 79"/>
                    <a:gd name="T4" fmla="*/ 0 w 71"/>
                    <a:gd name="T5" fmla="*/ 79 h 79"/>
                    <a:gd name="T6" fmla="*/ 0 w 71"/>
                    <a:gd name="T7" fmla="*/ 0 h 79"/>
                  </a:gdLst>
                  <a:ahLst/>
                  <a:cxnLst>
                    <a:cxn ang="0">
                      <a:pos x="T0" y="T1"/>
                    </a:cxn>
                    <a:cxn ang="0">
                      <a:pos x="T2" y="T3"/>
                    </a:cxn>
                    <a:cxn ang="0">
                      <a:pos x="T4" y="T5"/>
                    </a:cxn>
                    <a:cxn ang="0">
                      <a:pos x="T6" y="T7"/>
                    </a:cxn>
                  </a:cxnLst>
                  <a:rect l="0" t="0" r="r" b="b"/>
                  <a:pathLst>
                    <a:path w="71" h="79">
                      <a:moveTo>
                        <a:pt x="0" y="0"/>
                      </a:moveTo>
                      <a:lnTo>
                        <a:pt x="71" y="36"/>
                      </a:lnTo>
                      <a:lnTo>
                        <a:pt x="0" y="7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3" name="Rectangle 53"/>
                <p:cNvSpPr>
                  <a:spLocks noChangeArrowheads="1"/>
                </p:cNvSpPr>
                <p:nvPr/>
              </p:nvSpPr>
              <p:spPr bwMode="auto">
                <a:xfrm>
                  <a:off x="2804" y="2665"/>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5174" name="Rectangle 54"/>
                <p:cNvSpPr>
                  <a:spLocks noChangeArrowheads="1"/>
                </p:cNvSpPr>
                <p:nvPr/>
              </p:nvSpPr>
              <p:spPr bwMode="auto">
                <a:xfrm>
                  <a:off x="2768" y="2816"/>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5175" name="Rectangle 55"/>
                <p:cNvSpPr>
                  <a:spLocks noChangeArrowheads="1"/>
                </p:cNvSpPr>
                <p:nvPr/>
              </p:nvSpPr>
              <p:spPr bwMode="auto">
                <a:xfrm>
                  <a:off x="2588" y="2683"/>
                  <a:ext cx="22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grpSp>
          <p:sp>
            <p:nvSpPr>
              <p:cNvPr id="5176" name="Rectangle 56"/>
              <p:cNvSpPr>
                <a:spLocks noChangeArrowheads="1"/>
              </p:cNvSpPr>
              <p:nvPr/>
            </p:nvSpPr>
            <p:spPr bwMode="auto">
              <a:xfrm>
                <a:off x="1564" y="2908"/>
                <a:ext cx="14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latin typeface="宋体" panose="02010600030101010101" pitchFamily="2" charset="-122"/>
                  </a:rPr>
                  <a:t>-1</a:t>
                </a:r>
                <a:endParaRPr kumimoji="1" lang="zh-CN" altLang="en-US" b="1"/>
              </a:p>
            </p:txBody>
          </p:sp>
        </p:grpSp>
      </p:grpSp>
      <p:grpSp>
        <p:nvGrpSpPr>
          <p:cNvPr id="5177" name="Group 57"/>
          <p:cNvGrpSpPr>
            <a:grpSpLocks/>
          </p:cNvGrpSpPr>
          <p:nvPr/>
        </p:nvGrpSpPr>
        <p:grpSpPr bwMode="auto">
          <a:xfrm>
            <a:off x="2992439" y="2032000"/>
            <a:ext cx="3152775" cy="2686050"/>
            <a:chOff x="925" y="1280"/>
            <a:chExt cx="1986" cy="1692"/>
          </a:xfrm>
        </p:grpSpPr>
        <p:sp>
          <p:nvSpPr>
            <p:cNvPr id="5178" name="Freeform 58"/>
            <p:cNvSpPr>
              <a:spLocks/>
            </p:cNvSpPr>
            <p:nvPr/>
          </p:nvSpPr>
          <p:spPr bwMode="auto">
            <a:xfrm>
              <a:off x="1523" y="1422"/>
              <a:ext cx="1011" cy="1"/>
            </a:xfrm>
            <a:custGeom>
              <a:avLst/>
              <a:gdLst>
                <a:gd name="T0" fmla="*/ 0 w 1011"/>
                <a:gd name="T1" fmla="*/ 1011 w 1011"/>
                <a:gd name="T2" fmla="*/ 0 w 1011"/>
                <a:gd name="T3" fmla="*/ 697 w 1011"/>
              </a:gdLst>
              <a:ahLst/>
              <a:cxnLst>
                <a:cxn ang="0">
                  <a:pos x="T0" y="0"/>
                </a:cxn>
                <a:cxn ang="0">
                  <a:pos x="T1" y="0"/>
                </a:cxn>
                <a:cxn ang="0">
                  <a:pos x="T2" y="0"/>
                </a:cxn>
                <a:cxn ang="0">
                  <a:pos x="T3" y="0"/>
                </a:cxn>
              </a:cxnLst>
              <a:rect l="0" t="0" r="r" b="b"/>
              <a:pathLst>
                <a:path w="1011">
                  <a:moveTo>
                    <a:pt x="0" y="0"/>
                  </a:moveTo>
                  <a:lnTo>
                    <a:pt x="1011" y="0"/>
                  </a:lnTo>
                  <a:lnTo>
                    <a:pt x="0" y="0"/>
                  </a:lnTo>
                  <a:lnTo>
                    <a:pt x="697"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9" name="Freeform 59"/>
            <p:cNvSpPr>
              <a:spLocks/>
            </p:cNvSpPr>
            <p:nvPr/>
          </p:nvSpPr>
          <p:spPr bwMode="auto">
            <a:xfrm>
              <a:off x="2206" y="1386"/>
              <a:ext cx="78" cy="72"/>
            </a:xfrm>
            <a:custGeom>
              <a:avLst/>
              <a:gdLst>
                <a:gd name="T0" fmla="*/ 0 w 78"/>
                <a:gd name="T1" fmla="*/ 0 h 72"/>
                <a:gd name="T2" fmla="*/ 78 w 78"/>
                <a:gd name="T3" fmla="*/ 36 h 72"/>
                <a:gd name="T4" fmla="*/ 0 w 78"/>
                <a:gd name="T5" fmla="*/ 72 h 72"/>
                <a:gd name="T6" fmla="*/ 0 w 78"/>
                <a:gd name="T7" fmla="*/ 0 h 72"/>
              </a:gdLst>
              <a:ahLst/>
              <a:cxnLst>
                <a:cxn ang="0">
                  <a:pos x="T0" y="T1"/>
                </a:cxn>
                <a:cxn ang="0">
                  <a:pos x="T2" y="T3"/>
                </a:cxn>
                <a:cxn ang="0">
                  <a:pos x="T4" y="T5"/>
                </a:cxn>
                <a:cxn ang="0">
                  <a:pos x="T6" y="T7"/>
                </a:cxn>
              </a:cxnLst>
              <a:rect l="0" t="0" r="r" b="b"/>
              <a:pathLst>
                <a:path w="78" h="72">
                  <a:moveTo>
                    <a:pt x="0" y="0"/>
                  </a:moveTo>
                  <a:lnTo>
                    <a:pt x="78" y="36"/>
                  </a:lnTo>
                  <a:lnTo>
                    <a:pt x="0" y="7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0" name="Freeform 60"/>
            <p:cNvSpPr>
              <a:spLocks/>
            </p:cNvSpPr>
            <p:nvPr/>
          </p:nvSpPr>
          <p:spPr bwMode="auto">
            <a:xfrm>
              <a:off x="2534" y="1422"/>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81" name="Freeform 61"/>
            <p:cNvSpPr>
              <a:spLocks/>
            </p:cNvSpPr>
            <p:nvPr/>
          </p:nvSpPr>
          <p:spPr bwMode="auto">
            <a:xfrm>
              <a:off x="2726" y="1386"/>
              <a:ext cx="71" cy="72"/>
            </a:xfrm>
            <a:custGeom>
              <a:avLst/>
              <a:gdLst>
                <a:gd name="T0" fmla="*/ 0 w 71"/>
                <a:gd name="T1" fmla="*/ 0 h 72"/>
                <a:gd name="T2" fmla="*/ 71 w 71"/>
                <a:gd name="T3" fmla="*/ 36 h 72"/>
                <a:gd name="T4" fmla="*/ 0 w 71"/>
                <a:gd name="T5" fmla="*/ 72 h 72"/>
                <a:gd name="T6" fmla="*/ 0 w 71"/>
                <a:gd name="T7" fmla="*/ 0 h 72"/>
              </a:gdLst>
              <a:ahLst/>
              <a:cxnLst>
                <a:cxn ang="0">
                  <a:pos x="T0" y="T1"/>
                </a:cxn>
                <a:cxn ang="0">
                  <a:pos x="T2" y="T3"/>
                </a:cxn>
                <a:cxn ang="0">
                  <a:pos x="T4" y="T5"/>
                </a:cxn>
                <a:cxn ang="0">
                  <a:pos x="T6" y="T7"/>
                </a:cxn>
              </a:cxnLst>
              <a:rect l="0" t="0" r="r" b="b"/>
              <a:pathLst>
                <a:path w="71" h="72">
                  <a:moveTo>
                    <a:pt x="0" y="0"/>
                  </a:moveTo>
                  <a:lnTo>
                    <a:pt x="71" y="36"/>
                  </a:lnTo>
                  <a:lnTo>
                    <a:pt x="0" y="7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2" name="Freeform 62"/>
            <p:cNvSpPr>
              <a:spLocks/>
            </p:cNvSpPr>
            <p:nvPr/>
          </p:nvSpPr>
          <p:spPr bwMode="auto">
            <a:xfrm>
              <a:off x="1523" y="1422"/>
              <a:ext cx="1011" cy="1511"/>
            </a:xfrm>
            <a:custGeom>
              <a:avLst/>
              <a:gdLst>
                <a:gd name="T0" fmla="*/ 0 w 1011"/>
                <a:gd name="T1" fmla="*/ 1511 h 1511"/>
                <a:gd name="T2" fmla="*/ 1011 w 1011"/>
                <a:gd name="T3" fmla="*/ 0 h 1511"/>
                <a:gd name="T4" fmla="*/ 0 w 1011"/>
                <a:gd name="T5" fmla="*/ 1511 h 1511"/>
                <a:gd name="T6" fmla="*/ 676 w 1011"/>
                <a:gd name="T7" fmla="*/ 506 h 1511"/>
              </a:gdLst>
              <a:ahLst/>
              <a:cxnLst>
                <a:cxn ang="0">
                  <a:pos x="T0" y="T1"/>
                </a:cxn>
                <a:cxn ang="0">
                  <a:pos x="T2" y="T3"/>
                </a:cxn>
                <a:cxn ang="0">
                  <a:pos x="T4" y="T5"/>
                </a:cxn>
                <a:cxn ang="0">
                  <a:pos x="T6" y="T7"/>
                </a:cxn>
              </a:cxnLst>
              <a:rect l="0" t="0" r="r" b="b"/>
              <a:pathLst>
                <a:path w="1011" h="1511">
                  <a:moveTo>
                    <a:pt x="0" y="1511"/>
                  </a:moveTo>
                  <a:lnTo>
                    <a:pt x="1011" y="0"/>
                  </a:lnTo>
                  <a:lnTo>
                    <a:pt x="0" y="1511"/>
                  </a:lnTo>
                  <a:lnTo>
                    <a:pt x="676" y="50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83" name="Freeform 63"/>
            <p:cNvSpPr>
              <a:spLocks/>
            </p:cNvSpPr>
            <p:nvPr/>
          </p:nvSpPr>
          <p:spPr bwMode="auto">
            <a:xfrm>
              <a:off x="2163" y="1878"/>
              <a:ext cx="72" cy="79"/>
            </a:xfrm>
            <a:custGeom>
              <a:avLst/>
              <a:gdLst>
                <a:gd name="T0" fmla="*/ 0 w 72"/>
                <a:gd name="T1" fmla="*/ 36 h 79"/>
                <a:gd name="T2" fmla="*/ 72 w 72"/>
                <a:gd name="T3" fmla="*/ 0 h 79"/>
                <a:gd name="T4" fmla="*/ 57 w 72"/>
                <a:gd name="T5" fmla="*/ 79 h 79"/>
                <a:gd name="T6" fmla="*/ 0 w 72"/>
                <a:gd name="T7" fmla="*/ 36 h 79"/>
              </a:gdLst>
              <a:ahLst/>
              <a:cxnLst>
                <a:cxn ang="0">
                  <a:pos x="T0" y="T1"/>
                </a:cxn>
                <a:cxn ang="0">
                  <a:pos x="T2" y="T3"/>
                </a:cxn>
                <a:cxn ang="0">
                  <a:pos x="T4" y="T5"/>
                </a:cxn>
                <a:cxn ang="0">
                  <a:pos x="T6" y="T7"/>
                </a:cxn>
              </a:cxnLst>
              <a:rect l="0" t="0" r="r" b="b"/>
              <a:pathLst>
                <a:path w="72" h="79">
                  <a:moveTo>
                    <a:pt x="0" y="36"/>
                  </a:moveTo>
                  <a:lnTo>
                    <a:pt x="72" y="0"/>
                  </a:lnTo>
                  <a:lnTo>
                    <a:pt x="57" y="79"/>
                  </a:lnTo>
                  <a:lnTo>
                    <a:pt x="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4" name="Rectangle 64"/>
            <p:cNvSpPr>
              <a:spLocks noChangeArrowheads="1"/>
            </p:cNvSpPr>
            <p:nvPr/>
          </p:nvSpPr>
          <p:spPr bwMode="auto">
            <a:xfrm>
              <a:off x="925" y="1280"/>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[0]</a:t>
              </a:r>
              <a:endParaRPr kumimoji="1" lang="en-US" altLang="zh-CN"/>
            </a:p>
          </p:txBody>
        </p:sp>
        <p:sp>
          <p:nvSpPr>
            <p:cNvPr id="5185" name="Rectangle 65"/>
            <p:cNvSpPr>
              <a:spLocks noChangeArrowheads="1"/>
            </p:cNvSpPr>
            <p:nvPr/>
          </p:nvSpPr>
          <p:spPr bwMode="auto">
            <a:xfrm>
              <a:off x="925" y="2798"/>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[4]</a:t>
              </a:r>
              <a:endParaRPr kumimoji="1" lang="en-US" altLang="zh-CN"/>
            </a:p>
          </p:txBody>
        </p:sp>
      </p:grpSp>
      <p:grpSp>
        <p:nvGrpSpPr>
          <p:cNvPr id="5186" name="Group 66"/>
          <p:cNvGrpSpPr>
            <a:grpSpLocks/>
          </p:cNvGrpSpPr>
          <p:nvPr/>
        </p:nvGrpSpPr>
        <p:grpSpPr bwMode="auto">
          <a:xfrm>
            <a:off x="2992439" y="2632075"/>
            <a:ext cx="3152775" cy="2686050"/>
            <a:chOff x="925" y="1658"/>
            <a:chExt cx="1986" cy="1692"/>
          </a:xfrm>
        </p:grpSpPr>
        <p:sp>
          <p:nvSpPr>
            <p:cNvPr id="5187" name="Freeform 67"/>
            <p:cNvSpPr>
              <a:spLocks/>
            </p:cNvSpPr>
            <p:nvPr/>
          </p:nvSpPr>
          <p:spPr bwMode="auto">
            <a:xfrm>
              <a:off x="1523" y="1800"/>
              <a:ext cx="1011" cy="1"/>
            </a:xfrm>
            <a:custGeom>
              <a:avLst/>
              <a:gdLst>
                <a:gd name="T0" fmla="*/ 0 w 1011"/>
                <a:gd name="T1" fmla="*/ 1011 w 1011"/>
                <a:gd name="T2" fmla="*/ 0 w 1011"/>
                <a:gd name="T3" fmla="*/ 648 w 1011"/>
              </a:gdLst>
              <a:ahLst/>
              <a:cxnLst>
                <a:cxn ang="0">
                  <a:pos x="T0" y="0"/>
                </a:cxn>
                <a:cxn ang="0">
                  <a:pos x="T1" y="0"/>
                </a:cxn>
                <a:cxn ang="0">
                  <a:pos x="T2" y="0"/>
                </a:cxn>
                <a:cxn ang="0">
                  <a:pos x="T3" y="0"/>
                </a:cxn>
              </a:cxnLst>
              <a:rect l="0" t="0" r="r" b="b"/>
              <a:pathLst>
                <a:path w="1011">
                  <a:moveTo>
                    <a:pt x="0" y="0"/>
                  </a:moveTo>
                  <a:lnTo>
                    <a:pt x="1011" y="0"/>
                  </a:lnTo>
                  <a:lnTo>
                    <a:pt x="0" y="0"/>
                  </a:lnTo>
                  <a:lnTo>
                    <a:pt x="648"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88" name="Freeform 68"/>
            <p:cNvSpPr>
              <a:spLocks/>
            </p:cNvSpPr>
            <p:nvPr/>
          </p:nvSpPr>
          <p:spPr bwMode="auto">
            <a:xfrm>
              <a:off x="2156" y="1764"/>
              <a:ext cx="79" cy="71"/>
            </a:xfrm>
            <a:custGeom>
              <a:avLst/>
              <a:gdLst>
                <a:gd name="T0" fmla="*/ 0 w 79"/>
                <a:gd name="T1" fmla="*/ 0 h 71"/>
                <a:gd name="T2" fmla="*/ 79 w 79"/>
                <a:gd name="T3" fmla="*/ 36 h 71"/>
                <a:gd name="T4" fmla="*/ 0 w 79"/>
                <a:gd name="T5" fmla="*/ 71 h 71"/>
                <a:gd name="T6" fmla="*/ 0 w 79"/>
                <a:gd name="T7" fmla="*/ 0 h 71"/>
              </a:gdLst>
              <a:ahLst/>
              <a:cxnLst>
                <a:cxn ang="0">
                  <a:pos x="T0" y="T1"/>
                </a:cxn>
                <a:cxn ang="0">
                  <a:pos x="T2" y="T3"/>
                </a:cxn>
                <a:cxn ang="0">
                  <a:pos x="T4" y="T5"/>
                </a:cxn>
                <a:cxn ang="0">
                  <a:pos x="T6" y="T7"/>
                </a:cxn>
              </a:cxnLst>
              <a:rect l="0" t="0" r="r" b="b"/>
              <a:pathLst>
                <a:path w="79" h="71">
                  <a:moveTo>
                    <a:pt x="0" y="0"/>
                  </a:moveTo>
                  <a:lnTo>
                    <a:pt x="79" y="36"/>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9" name="Freeform 69"/>
            <p:cNvSpPr>
              <a:spLocks/>
            </p:cNvSpPr>
            <p:nvPr/>
          </p:nvSpPr>
          <p:spPr bwMode="auto">
            <a:xfrm>
              <a:off x="2534" y="1800"/>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90" name="Freeform 70"/>
            <p:cNvSpPr>
              <a:spLocks/>
            </p:cNvSpPr>
            <p:nvPr/>
          </p:nvSpPr>
          <p:spPr bwMode="auto">
            <a:xfrm>
              <a:off x="2726" y="1764"/>
              <a:ext cx="71" cy="71"/>
            </a:xfrm>
            <a:custGeom>
              <a:avLst/>
              <a:gdLst>
                <a:gd name="T0" fmla="*/ 0 w 71"/>
                <a:gd name="T1" fmla="*/ 0 h 71"/>
                <a:gd name="T2" fmla="*/ 71 w 71"/>
                <a:gd name="T3" fmla="*/ 36 h 71"/>
                <a:gd name="T4" fmla="*/ 0 w 71"/>
                <a:gd name="T5" fmla="*/ 71 h 71"/>
                <a:gd name="T6" fmla="*/ 0 w 71"/>
                <a:gd name="T7" fmla="*/ 0 h 71"/>
              </a:gdLst>
              <a:ahLst/>
              <a:cxnLst>
                <a:cxn ang="0">
                  <a:pos x="T0" y="T1"/>
                </a:cxn>
                <a:cxn ang="0">
                  <a:pos x="T2" y="T3"/>
                </a:cxn>
                <a:cxn ang="0">
                  <a:pos x="T4" y="T5"/>
                </a:cxn>
                <a:cxn ang="0">
                  <a:pos x="T6" y="T7"/>
                </a:cxn>
              </a:cxnLst>
              <a:rect l="0" t="0" r="r" b="b"/>
              <a:pathLst>
                <a:path w="71" h="71">
                  <a:moveTo>
                    <a:pt x="0" y="0"/>
                  </a:moveTo>
                  <a:lnTo>
                    <a:pt x="71" y="36"/>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1" name="Freeform 71"/>
            <p:cNvSpPr>
              <a:spLocks/>
            </p:cNvSpPr>
            <p:nvPr/>
          </p:nvSpPr>
          <p:spPr bwMode="auto">
            <a:xfrm>
              <a:off x="1523" y="1800"/>
              <a:ext cx="1011" cy="1518"/>
            </a:xfrm>
            <a:custGeom>
              <a:avLst/>
              <a:gdLst>
                <a:gd name="T0" fmla="*/ 0 w 1011"/>
                <a:gd name="T1" fmla="*/ 1518 h 1518"/>
                <a:gd name="T2" fmla="*/ 1011 w 1011"/>
                <a:gd name="T3" fmla="*/ 0 h 1518"/>
                <a:gd name="T4" fmla="*/ 0 w 1011"/>
                <a:gd name="T5" fmla="*/ 1518 h 1518"/>
                <a:gd name="T6" fmla="*/ 676 w 1011"/>
                <a:gd name="T7" fmla="*/ 506 h 1518"/>
              </a:gdLst>
              <a:ahLst/>
              <a:cxnLst>
                <a:cxn ang="0">
                  <a:pos x="T0" y="T1"/>
                </a:cxn>
                <a:cxn ang="0">
                  <a:pos x="T2" y="T3"/>
                </a:cxn>
                <a:cxn ang="0">
                  <a:pos x="T4" y="T5"/>
                </a:cxn>
                <a:cxn ang="0">
                  <a:pos x="T6" y="T7"/>
                </a:cxn>
              </a:cxnLst>
              <a:rect l="0" t="0" r="r" b="b"/>
              <a:pathLst>
                <a:path w="1011" h="1518">
                  <a:moveTo>
                    <a:pt x="0" y="1518"/>
                  </a:moveTo>
                  <a:lnTo>
                    <a:pt x="1011" y="0"/>
                  </a:lnTo>
                  <a:lnTo>
                    <a:pt x="0" y="1518"/>
                  </a:lnTo>
                  <a:lnTo>
                    <a:pt x="676" y="50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92" name="Freeform 72"/>
            <p:cNvSpPr>
              <a:spLocks/>
            </p:cNvSpPr>
            <p:nvPr/>
          </p:nvSpPr>
          <p:spPr bwMode="auto">
            <a:xfrm>
              <a:off x="2163" y="2256"/>
              <a:ext cx="72" cy="78"/>
            </a:xfrm>
            <a:custGeom>
              <a:avLst/>
              <a:gdLst>
                <a:gd name="T0" fmla="*/ 0 w 72"/>
                <a:gd name="T1" fmla="*/ 36 h 78"/>
                <a:gd name="T2" fmla="*/ 72 w 72"/>
                <a:gd name="T3" fmla="*/ 0 h 78"/>
                <a:gd name="T4" fmla="*/ 57 w 72"/>
                <a:gd name="T5" fmla="*/ 78 h 78"/>
                <a:gd name="T6" fmla="*/ 0 w 72"/>
                <a:gd name="T7" fmla="*/ 36 h 78"/>
              </a:gdLst>
              <a:ahLst/>
              <a:cxnLst>
                <a:cxn ang="0">
                  <a:pos x="T0" y="T1"/>
                </a:cxn>
                <a:cxn ang="0">
                  <a:pos x="T2" y="T3"/>
                </a:cxn>
                <a:cxn ang="0">
                  <a:pos x="T4" y="T5"/>
                </a:cxn>
                <a:cxn ang="0">
                  <a:pos x="T6" y="T7"/>
                </a:cxn>
              </a:cxnLst>
              <a:rect l="0" t="0" r="r" b="b"/>
              <a:pathLst>
                <a:path w="72" h="78">
                  <a:moveTo>
                    <a:pt x="0" y="36"/>
                  </a:moveTo>
                  <a:lnTo>
                    <a:pt x="72" y="0"/>
                  </a:lnTo>
                  <a:lnTo>
                    <a:pt x="57" y="78"/>
                  </a:lnTo>
                  <a:lnTo>
                    <a:pt x="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3" name="Rectangle 73"/>
            <p:cNvSpPr>
              <a:spLocks noChangeArrowheads="1"/>
            </p:cNvSpPr>
            <p:nvPr/>
          </p:nvSpPr>
          <p:spPr bwMode="auto">
            <a:xfrm>
              <a:off x="925" y="1658"/>
              <a:ext cx="26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[1]</a:t>
              </a:r>
              <a:endParaRPr kumimoji="1" lang="en-US" altLang="zh-CN"/>
            </a:p>
          </p:txBody>
        </p:sp>
        <p:sp>
          <p:nvSpPr>
            <p:cNvPr id="5194" name="Rectangle 74"/>
            <p:cNvSpPr>
              <a:spLocks noChangeArrowheads="1"/>
            </p:cNvSpPr>
            <p:nvPr/>
          </p:nvSpPr>
          <p:spPr bwMode="auto">
            <a:xfrm>
              <a:off x="925" y="3176"/>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[5]</a:t>
              </a:r>
              <a:endParaRPr kumimoji="1" lang="en-US" altLang="zh-CN"/>
            </a:p>
          </p:txBody>
        </p:sp>
      </p:grpSp>
      <p:grpSp>
        <p:nvGrpSpPr>
          <p:cNvPr id="5195" name="Group 75"/>
          <p:cNvGrpSpPr>
            <a:grpSpLocks/>
          </p:cNvGrpSpPr>
          <p:nvPr/>
        </p:nvGrpSpPr>
        <p:grpSpPr bwMode="auto">
          <a:xfrm>
            <a:off x="2992439" y="3230563"/>
            <a:ext cx="3152775" cy="2686050"/>
            <a:chOff x="925" y="2035"/>
            <a:chExt cx="1986" cy="1692"/>
          </a:xfrm>
        </p:grpSpPr>
        <p:sp>
          <p:nvSpPr>
            <p:cNvPr id="5196" name="Freeform 76"/>
            <p:cNvSpPr>
              <a:spLocks/>
            </p:cNvSpPr>
            <p:nvPr/>
          </p:nvSpPr>
          <p:spPr bwMode="auto">
            <a:xfrm>
              <a:off x="1523" y="2177"/>
              <a:ext cx="1011" cy="1"/>
            </a:xfrm>
            <a:custGeom>
              <a:avLst/>
              <a:gdLst>
                <a:gd name="T0" fmla="*/ 0 w 1011"/>
                <a:gd name="T1" fmla="*/ 1011 w 1011"/>
                <a:gd name="T2" fmla="*/ 0 w 1011"/>
                <a:gd name="T3" fmla="*/ 648 w 1011"/>
              </a:gdLst>
              <a:ahLst/>
              <a:cxnLst>
                <a:cxn ang="0">
                  <a:pos x="T0" y="0"/>
                </a:cxn>
                <a:cxn ang="0">
                  <a:pos x="T1" y="0"/>
                </a:cxn>
                <a:cxn ang="0">
                  <a:pos x="T2" y="0"/>
                </a:cxn>
                <a:cxn ang="0">
                  <a:pos x="T3" y="0"/>
                </a:cxn>
              </a:cxnLst>
              <a:rect l="0" t="0" r="r" b="b"/>
              <a:pathLst>
                <a:path w="1011">
                  <a:moveTo>
                    <a:pt x="0" y="0"/>
                  </a:moveTo>
                  <a:lnTo>
                    <a:pt x="1011" y="0"/>
                  </a:lnTo>
                  <a:lnTo>
                    <a:pt x="0" y="0"/>
                  </a:lnTo>
                  <a:lnTo>
                    <a:pt x="648"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97" name="Freeform 77"/>
            <p:cNvSpPr>
              <a:spLocks/>
            </p:cNvSpPr>
            <p:nvPr/>
          </p:nvSpPr>
          <p:spPr bwMode="auto">
            <a:xfrm>
              <a:off x="2156" y="2142"/>
              <a:ext cx="79" cy="71"/>
            </a:xfrm>
            <a:custGeom>
              <a:avLst/>
              <a:gdLst>
                <a:gd name="T0" fmla="*/ 0 w 79"/>
                <a:gd name="T1" fmla="*/ 0 h 71"/>
                <a:gd name="T2" fmla="*/ 79 w 79"/>
                <a:gd name="T3" fmla="*/ 35 h 71"/>
                <a:gd name="T4" fmla="*/ 0 w 79"/>
                <a:gd name="T5" fmla="*/ 71 h 71"/>
                <a:gd name="T6" fmla="*/ 0 w 79"/>
                <a:gd name="T7" fmla="*/ 0 h 71"/>
              </a:gdLst>
              <a:ahLst/>
              <a:cxnLst>
                <a:cxn ang="0">
                  <a:pos x="T0" y="T1"/>
                </a:cxn>
                <a:cxn ang="0">
                  <a:pos x="T2" y="T3"/>
                </a:cxn>
                <a:cxn ang="0">
                  <a:pos x="T4" y="T5"/>
                </a:cxn>
                <a:cxn ang="0">
                  <a:pos x="T6" y="T7"/>
                </a:cxn>
              </a:cxnLst>
              <a:rect l="0" t="0" r="r" b="b"/>
              <a:pathLst>
                <a:path w="79" h="71">
                  <a:moveTo>
                    <a:pt x="0" y="0"/>
                  </a:moveTo>
                  <a:lnTo>
                    <a:pt x="79"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8" name="Freeform 78"/>
            <p:cNvSpPr>
              <a:spLocks/>
            </p:cNvSpPr>
            <p:nvPr/>
          </p:nvSpPr>
          <p:spPr bwMode="auto">
            <a:xfrm>
              <a:off x="2534" y="2177"/>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99" name="Freeform 79"/>
            <p:cNvSpPr>
              <a:spLocks/>
            </p:cNvSpPr>
            <p:nvPr/>
          </p:nvSpPr>
          <p:spPr bwMode="auto">
            <a:xfrm>
              <a:off x="2726" y="2142"/>
              <a:ext cx="71" cy="71"/>
            </a:xfrm>
            <a:custGeom>
              <a:avLst/>
              <a:gdLst>
                <a:gd name="T0" fmla="*/ 0 w 71"/>
                <a:gd name="T1" fmla="*/ 0 h 71"/>
                <a:gd name="T2" fmla="*/ 71 w 71"/>
                <a:gd name="T3" fmla="*/ 35 h 71"/>
                <a:gd name="T4" fmla="*/ 0 w 71"/>
                <a:gd name="T5" fmla="*/ 71 h 71"/>
                <a:gd name="T6" fmla="*/ 0 w 71"/>
                <a:gd name="T7" fmla="*/ 0 h 71"/>
              </a:gdLst>
              <a:ahLst/>
              <a:cxnLst>
                <a:cxn ang="0">
                  <a:pos x="T0" y="T1"/>
                </a:cxn>
                <a:cxn ang="0">
                  <a:pos x="T2" y="T3"/>
                </a:cxn>
                <a:cxn ang="0">
                  <a:pos x="T4" y="T5"/>
                </a:cxn>
                <a:cxn ang="0">
                  <a:pos x="T6" y="T7"/>
                </a:cxn>
              </a:cxnLst>
              <a:rect l="0" t="0" r="r" b="b"/>
              <a:pathLst>
                <a:path w="71" h="71">
                  <a:moveTo>
                    <a:pt x="0" y="0"/>
                  </a:moveTo>
                  <a:lnTo>
                    <a:pt x="71"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0" name="Freeform 80"/>
            <p:cNvSpPr>
              <a:spLocks/>
            </p:cNvSpPr>
            <p:nvPr/>
          </p:nvSpPr>
          <p:spPr bwMode="auto">
            <a:xfrm>
              <a:off x="1523" y="2177"/>
              <a:ext cx="1011" cy="1518"/>
            </a:xfrm>
            <a:custGeom>
              <a:avLst/>
              <a:gdLst>
                <a:gd name="T0" fmla="*/ 0 w 1011"/>
                <a:gd name="T1" fmla="*/ 1518 h 1518"/>
                <a:gd name="T2" fmla="*/ 1011 w 1011"/>
                <a:gd name="T3" fmla="*/ 0 h 1518"/>
                <a:gd name="T4" fmla="*/ 0 w 1011"/>
                <a:gd name="T5" fmla="*/ 1518 h 1518"/>
                <a:gd name="T6" fmla="*/ 676 w 1011"/>
                <a:gd name="T7" fmla="*/ 506 h 1518"/>
              </a:gdLst>
              <a:ahLst/>
              <a:cxnLst>
                <a:cxn ang="0">
                  <a:pos x="T0" y="T1"/>
                </a:cxn>
                <a:cxn ang="0">
                  <a:pos x="T2" y="T3"/>
                </a:cxn>
                <a:cxn ang="0">
                  <a:pos x="T4" y="T5"/>
                </a:cxn>
                <a:cxn ang="0">
                  <a:pos x="T6" y="T7"/>
                </a:cxn>
              </a:cxnLst>
              <a:rect l="0" t="0" r="r" b="b"/>
              <a:pathLst>
                <a:path w="1011" h="1518">
                  <a:moveTo>
                    <a:pt x="0" y="1518"/>
                  </a:moveTo>
                  <a:lnTo>
                    <a:pt x="1011" y="0"/>
                  </a:lnTo>
                  <a:lnTo>
                    <a:pt x="0" y="1518"/>
                  </a:lnTo>
                  <a:lnTo>
                    <a:pt x="676" y="50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01" name="Freeform 81"/>
            <p:cNvSpPr>
              <a:spLocks/>
            </p:cNvSpPr>
            <p:nvPr/>
          </p:nvSpPr>
          <p:spPr bwMode="auto">
            <a:xfrm>
              <a:off x="2163" y="2634"/>
              <a:ext cx="72" cy="78"/>
            </a:xfrm>
            <a:custGeom>
              <a:avLst/>
              <a:gdLst>
                <a:gd name="T0" fmla="*/ 0 w 72"/>
                <a:gd name="T1" fmla="*/ 42 h 78"/>
                <a:gd name="T2" fmla="*/ 72 w 72"/>
                <a:gd name="T3" fmla="*/ 0 h 78"/>
                <a:gd name="T4" fmla="*/ 57 w 72"/>
                <a:gd name="T5" fmla="*/ 78 h 78"/>
                <a:gd name="T6" fmla="*/ 0 w 72"/>
                <a:gd name="T7" fmla="*/ 42 h 78"/>
              </a:gdLst>
              <a:ahLst/>
              <a:cxnLst>
                <a:cxn ang="0">
                  <a:pos x="T0" y="T1"/>
                </a:cxn>
                <a:cxn ang="0">
                  <a:pos x="T2" y="T3"/>
                </a:cxn>
                <a:cxn ang="0">
                  <a:pos x="T4" y="T5"/>
                </a:cxn>
                <a:cxn ang="0">
                  <a:pos x="T6" y="T7"/>
                </a:cxn>
              </a:cxnLst>
              <a:rect l="0" t="0" r="r" b="b"/>
              <a:pathLst>
                <a:path w="72" h="78">
                  <a:moveTo>
                    <a:pt x="0" y="42"/>
                  </a:moveTo>
                  <a:lnTo>
                    <a:pt x="72" y="0"/>
                  </a:lnTo>
                  <a:lnTo>
                    <a:pt x="57" y="78"/>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2" name="Rectangle 82"/>
            <p:cNvSpPr>
              <a:spLocks noChangeArrowheads="1"/>
            </p:cNvSpPr>
            <p:nvPr/>
          </p:nvSpPr>
          <p:spPr bwMode="auto">
            <a:xfrm>
              <a:off x="925" y="2035"/>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[2]</a:t>
              </a:r>
              <a:endParaRPr kumimoji="1" lang="en-US" altLang="zh-CN"/>
            </a:p>
          </p:txBody>
        </p:sp>
        <p:sp>
          <p:nvSpPr>
            <p:cNvPr id="5203" name="Rectangle 83"/>
            <p:cNvSpPr>
              <a:spLocks noChangeArrowheads="1"/>
            </p:cNvSpPr>
            <p:nvPr/>
          </p:nvSpPr>
          <p:spPr bwMode="auto">
            <a:xfrm>
              <a:off x="925" y="3553"/>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[6]</a:t>
              </a:r>
              <a:endParaRPr kumimoji="1" lang="en-US" altLang="zh-CN"/>
            </a:p>
          </p:txBody>
        </p:sp>
      </p:grpSp>
      <p:grpSp>
        <p:nvGrpSpPr>
          <p:cNvPr id="5204" name="Group 84"/>
          <p:cNvGrpSpPr>
            <a:grpSpLocks/>
          </p:cNvGrpSpPr>
          <p:nvPr/>
        </p:nvGrpSpPr>
        <p:grpSpPr bwMode="auto">
          <a:xfrm>
            <a:off x="2992439" y="3841750"/>
            <a:ext cx="3152775" cy="2674938"/>
            <a:chOff x="925" y="2420"/>
            <a:chExt cx="1986" cy="1685"/>
          </a:xfrm>
        </p:grpSpPr>
        <p:sp>
          <p:nvSpPr>
            <p:cNvPr id="5205" name="Freeform 85"/>
            <p:cNvSpPr>
              <a:spLocks/>
            </p:cNvSpPr>
            <p:nvPr/>
          </p:nvSpPr>
          <p:spPr bwMode="auto">
            <a:xfrm>
              <a:off x="1523" y="2555"/>
              <a:ext cx="1011" cy="1"/>
            </a:xfrm>
            <a:custGeom>
              <a:avLst/>
              <a:gdLst>
                <a:gd name="T0" fmla="*/ 0 w 1011"/>
                <a:gd name="T1" fmla="*/ 1011 w 1011"/>
                <a:gd name="T2" fmla="*/ 0 w 1011"/>
                <a:gd name="T3" fmla="*/ 648 w 1011"/>
              </a:gdLst>
              <a:ahLst/>
              <a:cxnLst>
                <a:cxn ang="0">
                  <a:pos x="T0" y="0"/>
                </a:cxn>
                <a:cxn ang="0">
                  <a:pos x="T1" y="0"/>
                </a:cxn>
                <a:cxn ang="0">
                  <a:pos x="T2" y="0"/>
                </a:cxn>
                <a:cxn ang="0">
                  <a:pos x="T3" y="0"/>
                </a:cxn>
              </a:cxnLst>
              <a:rect l="0" t="0" r="r" b="b"/>
              <a:pathLst>
                <a:path w="1011">
                  <a:moveTo>
                    <a:pt x="0" y="0"/>
                  </a:moveTo>
                  <a:lnTo>
                    <a:pt x="1011" y="0"/>
                  </a:lnTo>
                  <a:lnTo>
                    <a:pt x="0" y="0"/>
                  </a:lnTo>
                  <a:lnTo>
                    <a:pt x="648"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06" name="Freeform 86"/>
            <p:cNvSpPr>
              <a:spLocks/>
            </p:cNvSpPr>
            <p:nvPr/>
          </p:nvSpPr>
          <p:spPr bwMode="auto">
            <a:xfrm>
              <a:off x="2156" y="2520"/>
              <a:ext cx="79" cy="71"/>
            </a:xfrm>
            <a:custGeom>
              <a:avLst/>
              <a:gdLst>
                <a:gd name="T0" fmla="*/ 0 w 79"/>
                <a:gd name="T1" fmla="*/ 0 h 71"/>
                <a:gd name="T2" fmla="*/ 79 w 79"/>
                <a:gd name="T3" fmla="*/ 35 h 71"/>
                <a:gd name="T4" fmla="*/ 0 w 79"/>
                <a:gd name="T5" fmla="*/ 71 h 71"/>
                <a:gd name="T6" fmla="*/ 0 w 79"/>
                <a:gd name="T7" fmla="*/ 0 h 71"/>
              </a:gdLst>
              <a:ahLst/>
              <a:cxnLst>
                <a:cxn ang="0">
                  <a:pos x="T0" y="T1"/>
                </a:cxn>
                <a:cxn ang="0">
                  <a:pos x="T2" y="T3"/>
                </a:cxn>
                <a:cxn ang="0">
                  <a:pos x="T4" y="T5"/>
                </a:cxn>
                <a:cxn ang="0">
                  <a:pos x="T6" y="T7"/>
                </a:cxn>
              </a:cxnLst>
              <a:rect l="0" t="0" r="r" b="b"/>
              <a:pathLst>
                <a:path w="79" h="71">
                  <a:moveTo>
                    <a:pt x="0" y="0"/>
                  </a:moveTo>
                  <a:lnTo>
                    <a:pt x="79"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7" name="Freeform 87"/>
            <p:cNvSpPr>
              <a:spLocks/>
            </p:cNvSpPr>
            <p:nvPr/>
          </p:nvSpPr>
          <p:spPr bwMode="auto">
            <a:xfrm>
              <a:off x="2534" y="2555"/>
              <a:ext cx="377" cy="1"/>
            </a:xfrm>
            <a:custGeom>
              <a:avLst/>
              <a:gdLst>
                <a:gd name="T0" fmla="*/ 0 w 377"/>
                <a:gd name="T1" fmla="*/ 377 w 377"/>
                <a:gd name="T2" fmla="*/ 0 w 377"/>
                <a:gd name="T3" fmla="*/ 199 w 377"/>
              </a:gdLst>
              <a:ahLst/>
              <a:cxnLst>
                <a:cxn ang="0">
                  <a:pos x="T0" y="0"/>
                </a:cxn>
                <a:cxn ang="0">
                  <a:pos x="T1" y="0"/>
                </a:cxn>
                <a:cxn ang="0">
                  <a:pos x="T2" y="0"/>
                </a:cxn>
                <a:cxn ang="0">
                  <a:pos x="T3" y="0"/>
                </a:cxn>
              </a:cxnLst>
              <a:rect l="0" t="0" r="r" b="b"/>
              <a:pathLst>
                <a:path w="377">
                  <a:moveTo>
                    <a:pt x="0" y="0"/>
                  </a:moveTo>
                  <a:lnTo>
                    <a:pt x="377" y="0"/>
                  </a:lnTo>
                  <a:lnTo>
                    <a:pt x="0" y="0"/>
                  </a:lnTo>
                  <a:lnTo>
                    <a:pt x="199"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08" name="Freeform 88"/>
            <p:cNvSpPr>
              <a:spLocks/>
            </p:cNvSpPr>
            <p:nvPr/>
          </p:nvSpPr>
          <p:spPr bwMode="auto">
            <a:xfrm>
              <a:off x="2726" y="2520"/>
              <a:ext cx="71" cy="71"/>
            </a:xfrm>
            <a:custGeom>
              <a:avLst/>
              <a:gdLst>
                <a:gd name="T0" fmla="*/ 0 w 71"/>
                <a:gd name="T1" fmla="*/ 0 h 71"/>
                <a:gd name="T2" fmla="*/ 71 w 71"/>
                <a:gd name="T3" fmla="*/ 35 h 71"/>
                <a:gd name="T4" fmla="*/ 0 w 71"/>
                <a:gd name="T5" fmla="*/ 71 h 71"/>
                <a:gd name="T6" fmla="*/ 0 w 71"/>
                <a:gd name="T7" fmla="*/ 0 h 71"/>
              </a:gdLst>
              <a:ahLst/>
              <a:cxnLst>
                <a:cxn ang="0">
                  <a:pos x="T0" y="T1"/>
                </a:cxn>
                <a:cxn ang="0">
                  <a:pos x="T2" y="T3"/>
                </a:cxn>
                <a:cxn ang="0">
                  <a:pos x="T4" y="T5"/>
                </a:cxn>
                <a:cxn ang="0">
                  <a:pos x="T6" y="T7"/>
                </a:cxn>
              </a:cxnLst>
              <a:rect l="0" t="0" r="r" b="b"/>
              <a:pathLst>
                <a:path w="71" h="71">
                  <a:moveTo>
                    <a:pt x="0" y="0"/>
                  </a:moveTo>
                  <a:lnTo>
                    <a:pt x="71"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9" name="Freeform 89"/>
            <p:cNvSpPr>
              <a:spLocks/>
            </p:cNvSpPr>
            <p:nvPr/>
          </p:nvSpPr>
          <p:spPr bwMode="auto">
            <a:xfrm>
              <a:off x="1523" y="2562"/>
              <a:ext cx="1011" cy="1511"/>
            </a:xfrm>
            <a:custGeom>
              <a:avLst/>
              <a:gdLst>
                <a:gd name="T0" fmla="*/ 0 w 1011"/>
                <a:gd name="T1" fmla="*/ 1511 h 1511"/>
                <a:gd name="T2" fmla="*/ 1011 w 1011"/>
                <a:gd name="T3" fmla="*/ 0 h 1511"/>
                <a:gd name="T4" fmla="*/ 0 w 1011"/>
                <a:gd name="T5" fmla="*/ 1511 h 1511"/>
                <a:gd name="T6" fmla="*/ 676 w 1011"/>
                <a:gd name="T7" fmla="*/ 506 h 1511"/>
              </a:gdLst>
              <a:ahLst/>
              <a:cxnLst>
                <a:cxn ang="0">
                  <a:pos x="T0" y="T1"/>
                </a:cxn>
                <a:cxn ang="0">
                  <a:pos x="T2" y="T3"/>
                </a:cxn>
                <a:cxn ang="0">
                  <a:pos x="T4" y="T5"/>
                </a:cxn>
                <a:cxn ang="0">
                  <a:pos x="T6" y="T7"/>
                </a:cxn>
              </a:cxnLst>
              <a:rect l="0" t="0" r="r" b="b"/>
              <a:pathLst>
                <a:path w="1011" h="1511">
                  <a:moveTo>
                    <a:pt x="0" y="1511"/>
                  </a:moveTo>
                  <a:lnTo>
                    <a:pt x="1011" y="0"/>
                  </a:lnTo>
                  <a:lnTo>
                    <a:pt x="0" y="1511"/>
                  </a:lnTo>
                  <a:lnTo>
                    <a:pt x="676" y="50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10" name="Freeform 90"/>
            <p:cNvSpPr>
              <a:spLocks/>
            </p:cNvSpPr>
            <p:nvPr/>
          </p:nvSpPr>
          <p:spPr bwMode="auto">
            <a:xfrm>
              <a:off x="2163" y="3018"/>
              <a:ext cx="72" cy="79"/>
            </a:xfrm>
            <a:custGeom>
              <a:avLst/>
              <a:gdLst>
                <a:gd name="T0" fmla="*/ 0 w 72"/>
                <a:gd name="T1" fmla="*/ 36 h 79"/>
                <a:gd name="T2" fmla="*/ 72 w 72"/>
                <a:gd name="T3" fmla="*/ 0 h 79"/>
                <a:gd name="T4" fmla="*/ 57 w 72"/>
                <a:gd name="T5" fmla="*/ 79 h 79"/>
                <a:gd name="T6" fmla="*/ 0 w 72"/>
                <a:gd name="T7" fmla="*/ 36 h 79"/>
              </a:gdLst>
              <a:ahLst/>
              <a:cxnLst>
                <a:cxn ang="0">
                  <a:pos x="T0" y="T1"/>
                </a:cxn>
                <a:cxn ang="0">
                  <a:pos x="T2" y="T3"/>
                </a:cxn>
                <a:cxn ang="0">
                  <a:pos x="T4" y="T5"/>
                </a:cxn>
                <a:cxn ang="0">
                  <a:pos x="T6" y="T7"/>
                </a:cxn>
              </a:cxnLst>
              <a:rect l="0" t="0" r="r" b="b"/>
              <a:pathLst>
                <a:path w="72" h="79">
                  <a:moveTo>
                    <a:pt x="0" y="36"/>
                  </a:moveTo>
                  <a:lnTo>
                    <a:pt x="72" y="0"/>
                  </a:lnTo>
                  <a:lnTo>
                    <a:pt x="57" y="79"/>
                  </a:lnTo>
                  <a:lnTo>
                    <a:pt x="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1" name="Rectangle 91"/>
            <p:cNvSpPr>
              <a:spLocks noChangeArrowheads="1"/>
            </p:cNvSpPr>
            <p:nvPr/>
          </p:nvSpPr>
          <p:spPr bwMode="auto">
            <a:xfrm>
              <a:off x="925" y="2420"/>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[3]</a:t>
              </a:r>
              <a:endParaRPr kumimoji="1" lang="en-US" altLang="zh-CN"/>
            </a:p>
          </p:txBody>
        </p:sp>
        <p:sp>
          <p:nvSpPr>
            <p:cNvPr id="5212" name="Rectangle 92"/>
            <p:cNvSpPr>
              <a:spLocks noChangeArrowheads="1"/>
            </p:cNvSpPr>
            <p:nvPr/>
          </p:nvSpPr>
          <p:spPr bwMode="auto">
            <a:xfrm>
              <a:off x="925" y="3931"/>
              <a:ext cx="2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i="1">
                  <a:solidFill>
                    <a:srgbClr val="000000"/>
                  </a:solidFill>
                </a:rPr>
                <a:t>x</a:t>
              </a:r>
              <a:r>
                <a:rPr kumimoji="1" lang="en-US" altLang="zh-CN">
                  <a:solidFill>
                    <a:srgbClr val="000000"/>
                  </a:solidFill>
                </a:rPr>
                <a:t>[7]</a:t>
              </a:r>
              <a:endParaRPr kumimoji="1" lang="en-US" altLang="zh-CN"/>
            </a:p>
          </p:txBody>
        </p:sp>
      </p:grpSp>
      <p:grpSp>
        <p:nvGrpSpPr>
          <p:cNvPr id="5213" name="Group 93"/>
          <p:cNvGrpSpPr>
            <a:grpSpLocks/>
          </p:cNvGrpSpPr>
          <p:nvPr/>
        </p:nvGrpSpPr>
        <p:grpSpPr bwMode="auto">
          <a:xfrm>
            <a:off x="6145214" y="2054226"/>
            <a:ext cx="2763837" cy="2251075"/>
            <a:chOff x="2911" y="1294"/>
            <a:chExt cx="1741" cy="1418"/>
          </a:xfrm>
        </p:grpSpPr>
        <p:sp>
          <p:nvSpPr>
            <p:cNvPr id="5214" name="Rectangle 94"/>
            <p:cNvSpPr>
              <a:spLocks noChangeArrowheads="1"/>
            </p:cNvSpPr>
            <p:nvPr/>
          </p:nvSpPr>
          <p:spPr bwMode="auto">
            <a:xfrm>
              <a:off x="2911" y="1294"/>
              <a:ext cx="762" cy="1418"/>
            </a:xfrm>
            <a:prstGeom prst="rect">
              <a:avLst/>
            </a:prstGeom>
            <a:solidFill>
              <a:srgbClr val="FFFFFF"/>
            </a:solidFill>
            <a:ln w="11113">
              <a:solidFill>
                <a:srgbClr val="000000"/>
              </a:solidFill>
              <a:miter lim="800000"/>
              <a:headEnd/>
              <a:tailEnd/>
            </a:ln>
          </p:spPr>
          <p:txBody>
            <a:bodyPr/>
            <a:lstStyle/>
            <a:p>
              <a:endParaRPr lang="zh-CN" altLang="en-US"/>
            </a:p>
          </p:txBody>
        </p:sp>
        <p:sp>
          <p:nvSpPr>
            <p:cNvPr id="5215" name="Rectangle 95"/>
            <p:cNvSpPr>
              <a:spLocks noChangeArrowheads="1"/>
            </p:cNvSpPr>
            <p:nvPr/>
          </p:nvSpPr>
          <p:spPr bwMode="auto">
            <a:xfrm>
              <a:off x="3139" y="1743"/>
              <a:ext cx="33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700" b="1">
                  <a:solidFill>
                    <a:srgbClr val="000000"/>
                  </a:solidFill>
                  <a:latin typeface="Arial" panose="020B0604020202020204" pitchFamily="34" charset="0"/>
                </a:rPr>
                <a:t>4点</a:t>
              </a:r>
              <a:endParaRPr kumimoji="1" lang="zh-CN" altLang="en-US" b="1"/>
            </a:p>
          </p:txBody>
        </p:sp>
        <p:sp>
          <p:nvSpPr>
            <p:cNvPr id="5216" name="Rectangle 96"/>
            <p:cNvSpPr>
              <a:spLocks noChangeArrowheads="1"/>
            </p:cNvSpPr>
            <p:nvPr/>
          </p:nvSpPr>
          <p:spPr bwMode="auto">
            <a:xfrm>
              <a:off x="3082" y="2000"/>
              <a:ext cx="424"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a:solidFill>
                    <a:srgbClr val="000000"/>
                  </a:solidFill>
                  <a:latin typeface="Arial" panose="020B0604020202020204" pitchFamily="34" charset="0"/>
                </a:rPr>
                <a:t>DFT</a:t>
              </a:r>
              <a:endParaRPr kumimoji="1" lang="en-US" altLang="zh-CN" b="1"/>
            </a:p>
          </p:txBody>
        </p:sp>
        <p:grpSp>
          <p:nvGrpSpPr>
            <p:cNvPr id="5217" name="Group 97"/>
            <p:cNvGrpSpPr>
              <a:grpSpLocks/>
            </p:cNvGrpSpPr>
            <p:nvPr/>
          </p:nvGrpSpPr>
          <p:grpSpPr bwMode="auto">
            <a:xfrm>
              <a:off x="3673" y="1386"/>
              <a:ext cx="498" cy="1205"/>
              <a:chOff x="3673" y="1386"/>
              <a:chExt cx="498" cy="1205"/>
            </a:xfrm>
          </p:grpSpPr>
          <p:sp>
            <p:nvSpPr>
              <p:cNvPr id="5218" name="Freeform 98"/>
              <p:cNvSpPr>
                <a:spLocks/>
              </p:cNvSpPr>
              <p:nvPr/>
            </p:nvSpPr>
            <p:spPr bwMode="auto">
              <a:xfrm>
                <a:off x="3673" y="1422"/>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19" name="Freeform 99"/>
              <p:cNvSpPr>
                <a:spLocks/>
              </p:cNvSpPr>
              <p:nvPr/>
            </p:nvSpPr>
            <p:spPr bwMode="auto">
              <a:xfrm>
                <a:off x="3950" y="1386"/>
                <a:ext cx="72" cy="72"/>
              </a:xfrm>
              <a:custGeom>
                <a:avLst/>
                <a:gdLst>
                  <a:gd name="T0" fmla="*/ 0 w 72"/>
                  <a:gd name="T1" fmla="*/ 0 h 72"/>
                  <a:gd name="T2" fmla="*/ 72 w 72"/>
                  <a:gd name="T3" fmla="*/ 36 h 72"/>
                  <a:gd name="T4" fmla="*/ 0 w 72"/>
                  <a:gd name="T5" fmla="*/ 72 h 72"/>
                  <a:gd name="T6" fmla="*/ 0 w 72"/>
                  <a:gd name="T7" fmla="*/ 0 h 72"/>
                </a:gdLst>
                <a:ahLst/>
                <a:cxnLst>
                  <a:cxn ang="0">
                    <a:pos x="T0" y="T1"/>
                  </a:cxn>
                  <a:cxn ang="0">
                    <a:pos x="T2" y="T3"/>
                  </a:cxn>
                  <a:cxn ang="0">
                    <a:pos x="T4" y="T5"/>
                  </a:cxn>
                  <a:cxn ang="0">
                    <a:pos x="T6" y="T7"/>
                  </a:cxn>
                </a:cxnLst>
                <a:rect l="0" t="0" r="r" b="b"/>
                <a:pathLst>
                  <a:path w="72" h="72">
                    <a:moveTo>
                      <a:pt x="0" y="0"/>
                    </a:moveTo>
                    <a:lnTo>
                      <a:pt x="72" y="36"/>
                    </a:lnTo>
                    <a:lnTo>
                      <a:pt x="0" y="7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20" name="Freeform 100"/>
              <p:cNvSpPr>
                <a:spLocks/>
              </p:cNvSpPr>
              <p:nvPr/>
            </p:nvSpPr>
            <p:spPr bwMode="auto">
              <a:xfrm>
                <a:off x="3673" y="1800"/>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1" name="Freeform 101"/>
              <p:cNvSpPr>
                <a:spLocks/>
              </p:cNvSpPr>
              <p:nvPr/>
            </p:nvSpPr>
            <p:spPr bwMode="auto">
              <a:xfrm>
                <a:off x="3950" y="1764"/>
                <a:ext cx="72" cy="71"/>
              </a:xfrm>
              <a:custGeom>
                <a:avLst/>
                <a:gdLst>
                  <a:gd name="T0" fmla="*/ 0 w 72"/>
                  <a:gd name="T1" fmla="*/ 0 h 71"/>
                  <a:gd name="T2" fmla="*/ 72 w 72"/>
                  <a:gd name="T3" fmla="*/ 36 h 71"/>
                  <a:gd name="T4" fmla="*/ 0 w 72"/>
                  <a:gd name="T5" fmla="*/ 71 h 71"/>
                  <a:gd name="T6" fmla="*/ 0 w 72"/>
                  <a:gd name="T7" fmla="*/ 0 h 71"/>
                </a:gdLst>
                <a:ahLst/>
                <a:cxnLst>
                  <a:cxn ang="0">
                    <a:pos x="T0" y="T1"/>
                  </a:cxn>
                  <a:cxn ang="0">
                    <a:pos x="T2" y="T3"/>
                  </a:cxn>
                  <a:cxn ang="0">
                    <a:pos x="T4" y="T5"/>
                  </a:cxn>
                  <a:cxn ang="0">
                    <a:pos x="T6" y="T7"/>
                  </a:cxn>
                </a:cxnLst>
                <a:rect l="0" t="0" r="r" b="b"/>
                <a:pathLst>
                  <a:path w="72" h="71">
                    <a:moveTo>
                      <a:pt x="0" y="0"/>
                    </a:moveTo>
                    <a:lnTo>
                      <a:pt x="72" y="36"/>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22" name="Freeform 102"/>
              <p:cNvSpPr>
                <a:spLocks/>
              </p:cNvSpPr>
              <p:nvPr/>
            </p:nvSpPr>
            <p:spPr bwMode="auto">
              <a:xfrm>
                <a:off x="3673" y="2177"/>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3" name="Freeform 103"/>
              <p:cNvSpPr>
                <a:spLocks/>
              </p:cNvSpPr>
              <p:nvPr/>
            </p:nvSpPr>
            <p:spPr bwMode="auto">
              <a:xfrm>
                <a:off x="3950" y="2142"/>
                <a:ext cx="72" cy="71"/>
              </a:xfrm>
              <a:custGeom>
                <a:avLst/>
                <a:gdLst>
                  <a:gd name="T0" fmla="*/ 0 w 72"/>
                  <a:gd name="T1" fmla="*/ 0 h 71"/>
                  <a:gd name="T2" fmla="*/ 72 w 72"/>
                  <a:gd name="T3" fmla="*/ 35 h 71"/>
                  <a:gd name="T4" fmla="*/ 0 w 72"/>
                  <a:gd name="T5" fmla="*/ 71 h 71"/>
                  <a:gd name="T6" fmla="*/ 0 w 72"/>
                  <a:gd name="T7" fmla="*/ 0 h 71"/>
                </a:gdLst>
                <a:ahLst/>
                <a:cxnLst>
                  <a:cxn ang="0">
                    <a:pos x="T0" y="T1"/>
                  </a:cxn>
                  <a:cxn ang="0">
                    <a:pos x="T2" y="T3"/>
                  </a:cxn>
                  <a:cxn ang="0">
                    <a:pos x="T4" y="T5"/>
                  </a:cxn>
                  <a:cxn ang="0">
                    <a:pos x="T6" y="T7"/>
                  </a:cxn>
                </a:cxnLst>
                <a:rect l="0" t="0" r="r" b="b"/>
                <a:pathLst>
                  <a:path w="72" h="71">
                    <a:moveTo>
                      <a:pt x="0" y="0"/>
                    </a:moveTo>
                    <a:lnTo>
                      <a:pt x="72"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24" name="Freeform 104"/>
              <p:cNvSpPr>
                <a:spLocks/>
              </p:cNvSpPr>
              <p:nvPr/>
            </p:nvSpPr>
            <p:spPr bwMode="auto">
              <a:xfrm>
                <a:off x="3673" y="2555"/>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5" name="Freeform 105"/>
              <p:cNvSpPr>
                <a:spLocks/>
              </p:cNvSpPr>
              <p:nvPr/>
            </p:nvSpPr>
            <p:spPr bwMode="auto">
              <a:xfrm>
                <a:off x="3950" y="2520"/>
                <a:ext cx="72" cy="71"/>
              </a:xfrm>
              <a:custGeom>
                <a:avLst/>
                <a:gdLst>
                  <a:gd name="T0" fmla="*/ 0 w 72"/>
                  <a:gd name="T1" fmla="*/ 0 h 71"/>
                  <a:gd name="T2" fmla="*/ 72 w 72"/>
                  <a:gd name="T3" fmla="*/ 35 h 71"/>
                  <a:gd name="T4" fmla="*/ 0 w 72"/>
                  <a:gd name="T5" fmla="*/ 71 h 71"/>
                  <a:gd name="T6" fmla="*/ 0 w 72"/>
                  <a:gd name="T7" fmla="*/ 0 h 71"/>
                </a:gdLst>
                <a:ahLst/>
                <a:cxnLst>
                  <a:cxn ang="0">
                    <a:pos x="T0" y="T1"/>
                  </a:cxn>
                  <a:cxn ang="0">
                    <a:pos x="T2" y="T3"/>
                  </a:cxn>
                  <a:cxn ang="0">
                    <a:pos x="T4" y="T5"/>
                  </a:cxn>
                  <a:cxn ang="0">
                    <a:pos x="T6" y="T7"/>
                  </a:cxn>
                </a:cxnLst>
                <a:rect l="0" t="0" r="r" b="b"/>
                <a:pathLst>
                  <a:path w="72" h="71">
                    <a:moveTo>
                      <a:pt x="0" y="0"/>
                    </a:moveTo>
                    <a:lnTo>
                      <a:pt x="72"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226" name="Rectangle 106"/>
            <p:cNvSpPr>
              <a:spLocks noChangeArrowheads="1"/>
            </p:cNvSpPr>
            <p:nvPr/>
          </p:nvSpPr>
          <p:spPr bwMode="auto">
            <a:xfrm>
              <a:off x="4349" y="1308"/>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X[0]</a:t>
              </a:r>
              <a:endParaRPr kumimoji="1" lang="en-US" altLang="zh-CN" b="1"/>
            </a:p>
          </p:txBody>
        </p:sp>
        <p:sp>
          <p:nvSpPr>
            <p:cNvPr id="5227" name="Rectangle 107"/>
            <p:cNvSpPr>
              <a:spLocks noChangeArrowheads="1"/>
            </p:cNvSpPr>
            <p:nvPr/>
          </p:nvSpPr>
          <p:spPr bwMode="auto">
            <a:xfrm>
              <a:off x="4349" y="2442"/>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X[6]</a:t>
              </a:r>
              <a:endParaRPr kumimoji="1" lang="en-US" altLang="zh-CN" b="1"/>
            </a:p>
          </p:txBody>
        </p:sp>
        <p:sp>
          <p:nvSpPr>
            <p:cNvPr id="5228" name="Rectangle 108"/>
            <p:cNvSpPr>
              <a:spLocks noChangeArrowheads="1"/>
            </p:cNvSpPr>
            <p:nvPr/>
          </p:nvSpPr>
          <p:spPr bwMode="auto">
            <a:xfrm>
              <a:off x="4349" y="1686"/>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X[2]</a:t>
              </a:r>
              <a:endParaRPr kumimoji="1" lang="en-US" altLang="zh-CN" b="1"/>
            </a:p>
          </p:txBody>
        </p:sp>
        <p:sp>
          <p:nvSpPr>
            <p:cNvPr id="5229" name="Rectangle 109"/>
            <p:cNvSpPr>
              <a:spLocks noChangeArrowheads="1"/>
            </p:cNvSpPr>
            <p:nvPr/>
          </p:nvSpPr>
          <p:spPr bwMode="auto">
            <a:xfrm>
              <a:off x="4349" y="2064"/>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X[4]</a:t>
              </a:r>
              <a:endParaRPr kumimoji="1" lang="en-US" altLang="zh-CN" b="1"/>
            </a:p>
          </p:txBody>
        </p:sp>
      </p:grpSp>
      <p:grpSp>
        <p:nvGrpSpPr>
          <p:cNvPr id="5230" name="Group 110"/>
          <p:cNvGrpSpPr>
            <a:grpSpLocks/>
          </p:cNvGrpSpPr>
          <p:nvPr/>
        </p:nvGrpSpPr>
        <p:grpSpPr bwMode="auto">
          <a:xfrm>
            <a:off x="6145214" y="4464051"/>
            <a:ext cx="2763837" cy="2239963"/>
            <a:chOff x="2911" y="2812"/>
            <a:chExt cx="1741" cy="1411"/>
          </a:xfrm>
        </p:grpSpPr>
        <p:sp>
          <p:nvSpPr>
            <p:cNvPr id="5231" name="Rectangle 111"/>
            <p:cNvSpPr>
              <a:spLocks noChangeArrowheads="1"/>
            </p:cNvSpPr>
            <p:nvPr/>
          </p:nvSpPr>
          <p:spPr bwMode="auto">
            <a:xfrm>
              <a:off x="2911" y="2812"/>
              <a:ext cx="762" cy="1411"/>
            </a:xfrm>
            <a:prstGeom prst="rect">
              <a:avLst/>
            </a:prstGeom>
            <a:solidFill>
              <a:srgbClr val="FFFFFF"/>
            </a:solidFill>
            <a:ln w="11113">
              <a:solidFill>
                <a:srgbClr val="000000"/>
              </a:solidFill>
              <a:miter lim="800000"/>
              <a:headEnd/>
              <a:tailEnd/>
            </a:ln>
          </p:spPr>
          <p:txBody>
            <a:bodyPr/>
            <a:lstStyle/>
            <a:p>
              <a:endParaRPr lang="zh-CN" altLang="en-US"/>
            </a:p>
          </p:txBody>
        </p:sp>
        <p:sp>
          <p:nvSpPr>
            <p:cNvPr id="5232" name="Rectangle 112"/>
            <p:cNvSpPr>
              <a:spLocks noChangeArrowheads="1"/>
            </p:cNvSpPr>
            <p:nvPr/>
          </p:nvSpPr>
          <p:spPr bwMode="auto">
            <a:xfrm>
              <a:off x="3139" y="3261"/>
              <a:ext cx="33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700" b="1">
                  <a:solidFill>
                    <a:srgbClr val="000000"/>
                  </a:solidFill>
                  <a:latin typeface="Arial" panose="020B0604020202020204" pitchFamily="34" charset="0"/>
                </a:rPr>
                <a:t>4点</a:t>
              </a:r>
            </a:p>
          </p:txBody>
        </p:sp>
        <p:sp>
          <p:nvSpPr>
            <p:cNvPr id="5233" name="Rectangle 113"/>
            <p:cNvSpPr>
              <a:spLocks noChangeArrowheads="1"/>
            </p:cNvSpPr>
            <p:nvPr/>
          </p:nvSpPr>
          <p:spPr bwMode="auto">
            <a:xfrm>
              <a:off x="3082" y="3518"/>
              <a:ext cx="424"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a:solidFill>
                    <a:srgbClr val="000000"/>
                  </a:solidFill>
                  <a:latin typeface="Arial" panose="020B0604020202020204" pitchFamily="34" charset="0"/>
                </a:rPr>
                <a:t>DFT</a:t>
              </a:r>
              <a:endParaRPr kumimoji="1" lang="en-US" altLang="zh-CN" b="1"/>
            </a:p>
          </p:txBody>
        </p:sp>
        <p:grpSp>
          <p:nvGrpSpPr>
            <p:cNvPr id="5234" name="Group 114"/>
            <p:cNvGrpSpPr>
              <a:grpSpLocks/>
            </p:cNvGrpSpPr>
            <p:nvPr/>
          </p:nvGrpSpPr>
          <p:grpSpPr bwMode="auto">
            <a:xfrm>
              <a:off x="3673" y="2897"/>
              <a:ext cx="498" cy="1212"/>
              <a:chOff x="3673" y="2897"/>
              <a:chExt cx="498" cy="1212"/>
            </a:xfrm>
          </p:grpSpPr>
          <p:sp>
            <p:nvSpPr>
              <p:cNvPr id="5235" name="Freeform 115"/>
              <p:cNvSpPr>
                <a:spLocks/>
              </p:cNvSpPr>
              <p:nvPr/>
            </p:nvSpPr>
            <p:spPr bwMode="auto">
              <a:xfrm>
                <a:off x="3673" y="2933"/>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36" name="Freeform 116"/>
              <p:cNvSpPr>
                <a:spLocks/>
              </p:cNvSpPr>
              <p:nvPr/>
            </p:nvSpPr>
            <p:spPr bwMode="auto">
              <a:xfrm>
                <a:off x="3950" y="2897"/>
                <a:ext cx="72" cy="79"/>
              </a:xfrm>
              <a:custGeom>
                <a:avLst/>
                <a:gdLst>
                  <a:gd name="T0" fmla="*/ 0 w 72"/>
                  <a:gd name="T1" fmla="*/ 0 h 79"/>
                  <a:gd name="T2" fmla="*/ 72 w 72"/>
                  <a:gd name="T3" fmla="*/ 36 h 79"/>
                  <a:gd name="T4" fmla="*/ 0 w 72"/>
                  <a:gd name="T5" fmla="*/ 79 h 79"/>
                  <a:gd name="T6" fmla="*/ 0 w 72"/>
                  <a:gd name="T7" fmla="*/ 0 h 79"/>
                </a:gdLst>
                <a:ahLst/>
                <a:cxnLst>
                  <a:cxn ang="0">
                    <a:pos x="T0" y="T1"/>
                  </a:cxn>
                  <a:cxn ang="0">
                    <a:pos x="T2" y="T3"/>
                  </a:cxn>
                  <a:cxn ang="0">
                    <a:pos x="T4" y="T5"/>
                  </a:cxn>
                  <a:cxn ang="0">
                    <a:pos x="T6" y="T7"/>
                  </a:cxn>
                </a:cxnLst>
                <a:rect l="0" t="0" r="r" b="b"/>
                <a:pathLst>
                  <a:path w="72" h="79">
                    <a:moveTo>
                      <a:pt x="0" y="0"/>
                    </a:moveTo>
                    <a:lnTo>
                      <a:pt x="72" y="36"/>
                    </a:lnTo>
                    <a:lnTo>
                      <a:pt x="0" y="7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37" name="Freeform 117"/>
              <p:cNvSpPr>
                <a:spLocks/>
              </p:cNvSpPr>
              <p:nvPr/>
            </p:nvSpPr>
            <p:spPr bwMode="auto">
              <a:xfrm>
                <a:off x="3673" y="3318"/>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38" name="Freeform 118"/>
              <p:cNvSpPr>
                <a:spLocks/>
              </p:cNvSpPr>
              <p:nvPr/>
            </p:nvSpPr>
            <p:spPr bwMode="auto">
              <a:xfrm>
                <a:off x="3950" y="3282"/>
                <a:ext cx="72" cy="71"/>
              </a:xfrm>
              <a:custGeom>
                <a:avLst/>
                <a:gdLst>
                  <a:gd name="T0" fmla="*/ 0 w 72"/>
                  <a:gd name="T1" fmla="*/ 0 h 71"/>
                  <a:gd name="T2" fmla="*/ 72 w 72"/>
                  <a:gd name="T3" fmla="*/ 36 h 71"/>
                  <a:gd name="T4" fmla="*/ 0 w 72"/>
                  <a:gd name="T5" fmla="*/ 71 h 71"/>
                  <a:gd name="T6" fmla="*/ 0 w 72"/>
                  <a:gd name="T7" fmla="*/ 0 h 71"/>
                </a:gdLst>
                <a:ahLst/>
                <a:cxnLst>
                  <a:cxn ang="0">
                    <a:pos x="T0" y="T1"/>
                  </a:cxn>
                  <a:cxn ang="0">
                    <a:pos x="T2" y="T3"/>
                  </a:cxn>
                  <a:cxn ang="0">
                    <a:pos x="T4" y="T5"/>
                  </a:cxn>
                  <a:cxn ang="0">
                    <a:pos x="T6" y="T7"/>
                  </a:cxn>
                </a:cxnLst>
                <a:rect l="0" t="0" r="r" b="b"/>
                <a:pathLst>
                  <a:path w="72" h="71">
                    <a:moveTo>
                      <a:pt x="0" y="0"/>
                    </a:moveTo>
                    <a:lnTo>
                      <a:pt x="72" y="36"/>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39" name="Freeform 119"/>
              <p:cNvSpPr>
                <a:spLocks/>
              </p:cNvSpPr>
              <p:nvPr/>
            </p:nvSpPr>
            <p:spPr bwMode="auto">
              <a:xfrm>
                <a:off x="3673" y="4073"/>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40" name="Freeform 120"/>
              <p:cNvSpPr>
                <a:spLocks/>
              </p:cNvSpPr>
              <p:nvPr/>
            </p:nvSpPr>
            <p:spPr bwMode="auto">
              <a:xfrm>
                <a:off x="3950" y="4038"/>
                <a:ext cx="72" cy="71"/>
              </a:xfrm>
              <a:custGeom>
                <a:avLst/>
                <a:gdLst>
                  <a:gd name="T0" fmla="*/ 0 w 72"/>
                  <a:gd name="T1" fmla="*/ 0 h 71"/>
                  <a:gd name="T2" fmla="*/ 72 w 72"/>
                  <a:gd name="T3" fmla="*/ 35 h 71"/>
                  <a:gd name="T4" fmla="*/ 0 w 72"/>
                  <a:gd name="T5" fmla="*/ 71 h 71"/>
                  <a:gd name="T6" fmla="*/ 0 w 72"/>
                  <a:gd name="T7" fmla="*/ 0 h 71"/>
                </a:gdLst>
                <a:ahLst/>
                <a:cxnLst>
                  <a:cxn ang="0">
                    <a:pos x="T0" y="T1"/>
                  </a:cxn>
                  <a:cxn ang="0">
                    <a:pos x="T2" y="T3"/>
                  </a:cxn>
                  <a:cxn ang="0">
                    <a:pos x="T4" y="T5"/>
                  </a:cxn>
                  <a:cxn ang="0">
                    <a:pos x="T6" y="T7"/>
                  </a:cxn>
                </a:cxnLst>
                <a:rect l="0" t="0" r="r" b="b"/>
                <a:pathLst>
                  <a:path w="72" h="71">
                    <a:moveTo>
                      <a:pt x="0" y="0"/>
                    </a:moveTo>
                    <a:lnTo>
                      <a:pt x="72"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41" name="Freeform 121"/>
              <p:cNvSpPr>
                <a:spLocks/>
              </p:cNvSpPr>
              <p:nvPr/>
            </p:nvSpPr>
            <p:spPr bwMode="auto">
              <a:xfrm>
                <a:off x="3673" y="3695"/>
                <a:ext cx="498" cy="1"/>
              </a:xfrm>
              <a:custGeom>
                <a:avLst/>
                <a:gdLst>
                  <a:gd name="T0" fmla="*/ 0 w 498"/>
                  <a:gd name="T1" fmla="*/ 498 w 498"/>
                  <a:gd name="T2" fmla="*/ 0 w 498"/>
                  <a:gd name="T3" fmla="*/ 285 w 498"/>
                </a:gdLst>
                <a:ahLst/>
                <a:cxnLst>
                  <a:cxn ang="0">
                    <a:pos x="T0" y="0"/>
                  </a:cxn>
                  <a:cxn ang="0">
                    <a:pos x="T1" y="0"/>
                  </a:cxn>
                  <a:cxn ang="0">
                    <a:pos x="T2" y="0"/>
                  </a:cxn>
                  <a:cxn ang="0">
                    <a:pos x="T3" y="0"/>
                  </a:cxn>
                </a:cxnLst>
                <a:rect l="0" t="0" r="r" b="b"/>
                <a:pathLst>
                  <a:path w="498">
                    <a:moveTo>
                      <a:pt x="0" y="0"/>
                    </a:moveTo>
                    <a:lnTo>
                      <a:pt x="498" y="0"/>
                    </a:lnTo>
                    <a:lnTo>
                      <a:pt x="0" y="0"/>
                    </a:lnTo>
                    <a:lnTo>
                      <a:pt x="28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42" name="Freeform 122"/>
              <p:cNvSpPr>
                <a:spLocks/>
              </p:cNvSpPr>
              <p:nvPr/>
            </p:nvSpPr>
            <p:spPr bwMode="auto">
              <a:xfrm>
                <a:off x="3950" y="3660"/>
                <a:ext cx="72" cy="71"/>
              </a:xfrm>
              <a:custGeom>
                <a:avLst/>
                <a:gdLst>
                  <a:gd name="T0" fmla="*/ 0 w 72"/>
                  <a:gd name="T1" fmla="*/ 0 h 71"/>
                  <a:gd name="T2" fmla="*/ 72 w 72"/>
                  <a:gd name="T3" fmla="*/ 35 h 71"/>
                  <a:gd name="T4" fmla="*/ 0 w 72"/>
                  <a:gd name="T5" fmla="*/ 71 h 71"/>
                  <a:gd name="T6" fmla="*/ 0 w 72"/>
                  <a:gd name="T7" fmla="*/ 0 h 71"/>
                </a:gdLst>
                <a:ahLst/>
                <a:cxnLst>
                  <a:cxn ang="0">
                    <a:pos x="T0" y="T1"/>
                  </a:cxn>
                  <a:cxn ang="0">
                    <a:pos x="T2" y="T3"/>
                  </a:cxn>
                  <a:cxn ang="0">
                    <a:pos x="T4" y="T5"/>
                  </a:cxn>
                  <a:cxn ang="0">
                    <a:pos x="T6" y="T7"/>
                  </a:cxn>
                </a:cxnLst>
                <a:rect l="0" t="0" r="r" b="b"/>
                <a:pathLst>
                  <a:path w="72" h="71">
                    <a:moveTo>
                      <a:pt x="0" y="0"/>
                    </a:moveTo>
                    <a:lnTo>
                      <a:pt x="72" y="35"/>
                    </a:lnTo>
                    <a:lnTo>
                      <a:pt x="0" y="7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243" name="Rectangle 123"/>
            <p:cNvSpPr>
              <a:spLocks noChangeArrowheads="1"/>
            </p:cNvSpPr>
            <p:nvPr/>
          </p:nvSpPr>
          <p:spPr bwMode="auto">
            <a:xfrm>
              <a:off x="4349" y="2819"/>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X[1]</a:t>
              </a:r>
              <a:endParaRPr kumimoji="1" lang="en-US" altLang="zh-CN" b="1"/>
            </a:p>
          </p:txBody>
        </p:sp>
        <p:sp>
          <p:nvSpPr>
            <p:cNvPr id="5244" name="Rectangle 124"/>
            <p:cNvSpPr>
              <a:spLocks noChangeArrowheads="1"/>
            </p:cNvSpPr>
            <p:nvPr/>
          </p:nvSpPr>
          <p:spPr bwMode="auto">
            <a:xfrm>
              <a:off x="4349" y="3197"/>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X[3]</a:t>
              </a:r>
              <a:endParaRPr kumimoji="1" lang="en-US" altLang="zh-CN" b="1"/>
            </a:p>
          </p:txBody>
        </p:sp>
        <p:sp>
          <p:nvSpPr>
            <p:cNvPr id="5245" name="Rectangle 125"/>
            <p:cNvSpPr>
              <a:spLocks noChangeArrowheads="1"/>
            </p:cNvSpPr>
            <p:nvPr/>
          </p:nvSpPr>
          <p:spPr bwMode="auto">
            <a:xfrm>
              <a:off x="4349" y="3582"/>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X[5]</a:t>
              </a:r>
              <a:endParaRPr kumimoji="1" lang="en-US" altLang="zh-CN" b="1"/>
            </a:p>
          </p:txBody>
        </p:sp>
        <p:sp>
          <p:nvSpPr>
            <p:cNvPr id="5246" name="Rectangle 126"/>
            <p:cNvSpPr>
              <a:spLocks noChangeArrowheads="1"/>
            </p:cNvSpPr>
            <p:nvPr/>
          </p:nvSpPr>
          <p:spPr bwMode="auto">
            <a:xfrm>
              <a:off x="4349" y="3960"/>
              <a:ext cx="3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X[7]</a:t>
              </a:r>
              <a:endParaRPr kumimoji="1" lang="en-US" altLang="zh-CN" b="1"/>
            </a:p>
          </p:txBody>
        </p:sp>
      </p:grpSp>
    </p:spTree>
    <p:extLst>
      <p:ext uri="{BB962C8B-B14F-4D97-AF65-F5344CB8AC3E}">
        <p14:creationId xmlns:p14="http://schemas.microsoft.com/office/powerpoint/2010/main" val="48175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13"/>
                                        </p:tgtEl>
                                        <p:attrNameLst>
                                          <p:attrName>style.visibility</p:attrName>
                                        </p:attrNameLst>
                                      </p:cBhvr>
                                      <p:to>
                                        <p:strVal val="visible"/>
                                      </p:to>
                                    </p:set>
                                    <p:animEffect transition="in" filter="blinds(horizontal)">
                                      <p:cBhvr>
                                        <p:cTn id="7" dur="500"/>
                                        <p:tgtEl>
                                          <p:spTgt spid="52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230"/>
                                        </p:tgtEl>
                                        <p:attrNameLst>
                                          <p:attrName>style.visibility</p:attrName>
                                        </p:attrNameLst>
                                      </p:cBhvr>
                                      <p:to>
                                        <p:strVal val="visible"/>
                                      </p:to>
                                    </p:set>
                                    <p:animEffect transition="in" filter="blinds(horizontal)">
                                      <p:cBhvr>
                                        <p:cTn id="12" dur="500"/>
                                        <p:tgtEl>
                                          <p:spTgt spid="52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177"/>
                                        </p:tgtEl>
                                        <p:attrNameLst>
                                          <p:attrName>style.visibility</p:attrName>
                                        </p:attrNameLst>
                                      </p:cBhvr>
                                      <p:to>
                                        <p:strVal val="visible"/>
                                      </p:to>
                                    </p:set>
                                    <p:animEffect transition="in" filter="blinds(horizontal)">
                                      <p:cBhvr>
                                        <p:cTn id="17" dur="500"/>
                                        <p:tgtEl>
                                          <p:spTgt spid="51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186"/>
                                        </p:tgtEl>
                                        <p:attrNameLst>
                                          <p:attrName>style.visibility</p:attrName>
                                        </p:attrNameLst>
                                      </p:cBhvr>
                                      <p:to>
                                        <p:strVal val="visible"/>
                                      </p:to>
                                    </p:set>
                                    <p:animEffect transition="in" filter="blinds(horizontal)">
                                      <p:cBhvr>
                                        <p:cTn id="22" dur="500"/>
                                        <p:tgtEl>
                                          <p:spTgt spid="51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195"/>
                                        </p:tgtEl>
                                        <p:attrNameLst>
                                          <p:attrName>style.visibility</p:attrName>
                                        </p:attrNameLst>
                                      </p:cBhvr>
                                      <p:to>
                                        <p:strVal val="visible"/>
                                      </p:to>
                                    </p:set>
                                    <p:animEffect transition="in" filter="blinds(horizontal)">
                                      <p:cBhvr>
                                        <p:cTn id="27" dur="500"/>
                                        <p:tgtEl>
                                          <p:spTgt spid="51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204"/>
                                        </p:tgtEl>
                                        <p:attrNameLst>
                                          <p:attrName>style.visibility</p:attrName>
                                        </p:attrNameLst>
                                      </p:cBhvr>
                                      <p:to>
                                        <p:strVal val="visible"/>
                                      </p:to>
                                    </p:set>
                                    <p:animEffect transition="in" filter="blinds(horizontal)">
                                      <p:cBhvr>
                                        <p:cTn id="32" dur="500"/>
                                        <p:tgtEl>
                                          <p:spTgt spid="520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164"/>
                                        </p:tgtEl>
                                        <p:attrNameLst>
                                          <p:attrName>style.visibility</p:attrName>
                                        </p:attrNameLst>
                                      </p:cBhvr>
                                      <p:to>
                                        <p:strVal val="visible"/>
                                      </p:to>
                                    </p:set>
                                    <p:animEffect transition="in" filter="blinds(horizontal)">
                                      <p:cBhvr>
                                        <p:cTn id="37" dur="500"/>
                                        <p:tgtEl>
                                          <p:spTgt spid="51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150"/>
                                        </p:tgtEl>
                                        <p:attrNameLst>
                                          <p:attrName>style.visibility</p:attrName>
                                        </p:attrNameLst>
                                      </p:cBhvr>
                                      <p:to>
                                        <p:strVal val="visible"/>
                                      </p:to>
                                    </p:set>
                                    <p:animEffect transition="in" filter="blinds(horizontal)">
                                      <p:cBhvr>
                                        <p:cTn id="42" dur="500"/>
                                        <p:tgtEl>
                                          <p:spTgt spid="51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138"/>
                                        </p:tgtEl>
                                        <p:attrNameLst>
                                          <p:attrName>style.visibility</p:attrName>
                                        </p:attrNameLst>
                                      </p:cBhvr>
                                      <p:to>
                                        <p:strVal val="visible"/>
                                      </p:to>
                                    </p:set>
                                    <p:animEffect transition="in" filter="blinds(horizontal)">
                                      <p:cBhvr>
                                        <p:cTn id="47" dur="500"/>
                                        <p:tgtEl>
                                          <p:spTgt spid="513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5126"/>
                                        </p:tgtEl>
                                        <p:attrNameLst>
                                          <p:attrName>style.visibility</p:attrName>
                                        </p:attrNameLst>
                                      </p:cBhvr>
                                      <p:to>
                                        <p:strVal val="visible"/>
                                      </p:to>
                                    </p:set>
                                    <p:animEffect transition="in" filter="blinds(horizontal)">
                                      <p:cBhvr>
                                        <p:cTn id="52" dur="5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9683751" y="1314979"/>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X[0]</a:t>
            </a:r>
            <a:endParaRPr kumimoji="1" lang="en-US" altLang="zh-CN" b="1"/>
          </a:p>
        </p:txBody>
      </p:sp>
      <p:sp>
        <p:nvSpPr>
          <p:cNvPr id="6147" name="Rectangle 3"/>
          <p:cNvSpPr>
            <a:spLocks noChangeArrowheads="1"/>
          </p:cNvSpPr>
          <p:nvPr/>
        </p:nvSpPr>
        <p:spPr bwMode="auto">
          <a:xfrm>
            <a:off x="9683751" y="3446991"/>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X[6]</a:t>
            </a:r>
            <a:endParaRPr kumimoji="1" lang="en-US" altLang="zh-CN" b="1"/>
          </a:p>
        </p:txBody>
      </p:sp>
      <p:sp>
        <p:nvSpPr>
          <p:cNvPr id="6148" name="Rectangle 4"/>
          <p:cNvSpPr>
            <a:spLocks noChangeArrowheads="1"/>
          </p:cNvSpPr>
          <p:nvPr/>
        </p:nvSpPr>
        <p:spPr bwMode="auto">
          <a:xfrm>
            <a:off x="9683751" y="2021416"/>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X[4]</a:t>
            </a:r>
            <a:endParaRPr kumimoji="1" lang="en-US" altLang="zh-CN" b="1"/>
          </a:p>
        </p:txBody>
      </p:sp>
      <p:sp>
        <p:nvSpPr>
          <p:cNvPr id="6149" name="Rectangle 5"/>
          <p:cNvSpPr>
            <a:spLocks noChangeArrowheads="1"/>
          </p:cNvSpPr>
          <p:nvPr/>
        </p:nvSpPr>
        <p:spPr bwMode="auto">
          <a:xfrm>
            <a:off x="9683751" y="2727854"/>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X[2]</a:t>
            </a:r>
            <a:endParaRPr kumimoji="1" lang="en-US" altLang="zh-CN" b="1"/>
          </a:p>
        </p:txBody>
      </p:sp>
      <p:sp>
        <p:nvSpPr>
          <p:cNvPr id="6150" name="Rectangle 6"/>
          <p:cNvSpPr>
            <a:spLocks noChangeArrowheads="1"/>
          </p:cNvSpPr>
          <p:nvPr/>
        </p:nvSpPr>
        <p:spPr bwMode="auto">
          <a:xfrm>
            <a:off x="9683751" y="4153429"/>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X[1]</a:t>
            </a:r>
            <a:endParaRPr kumimoji="1" lang="en-US" altLang="zh-CN" b="1"/>
          </a:p>
        </p:txBody>
      </p:sp>
      <p:sp>
        <p:nvSpPr>
          <p:cNvPr id="6151" name="Rectangle 7"/>
          <p:cNvSpPr>
            <a:spLocks noChangeArrowheads="1"/>
          </p:cNvSpPr>
          <p:nvPr/>
        </p:nvSpPr>
        <p:spPr bwMode="auto">
          <a:xfrm>
            <a:off x="9683751" y="4859866"/>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X[5]</a:t>
            </a:r>
            <a:endParaRPr kumimoji="1" lang="en-US" altLang="zh-CN" b="1"/>
          </a:p>
        </p:txBody>
      </p:sp>
      <p:sp>
        <p:nvSpPr>
          <p:cNvPr id="6152" name="Rectangle 8"/>
          <p:cNvSpPr>
            <a:spLocks noChangeArrowheads="1"/>
          </p:cNvSpPr>
          <p:nvPr/>
        </p:nvSpPr>
        <p:spPr bwMode="auto">
          <a:xfrm>
            <a:off x="9683751" y="5566304"/>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X[3]</a:t>
            </a:r>
            <a:endParaRPr kumimoji="1" lang="en-US" altLang="zh-CN" b="1"/>
          </a:p>
        </p:txBody>
      </p:sp>
      <p:sp>
        <p:nvSpPr>
          <p:cNvPr id="6153" name="Rectangle 9"/>
          <p:cNvSpPr>
            <a:spLocks noChangeArrowheads="1"/>
          </p:cNvSpPr>
          <p:nvPr/>
        </p:nvSpPr>
        <p:spPr bwMode="auto">
          <a:xfrm>
            <a:off x="9683751" y="6272741"/>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X[7]</a:t>
            </a:r>
            <a:endParaRPr kumimoji="1" lang="en-US" altLang="zh-CN" b="1"/>
          </a:p>
        </p:txBody>
      </p:sp>
      <p:grpSp>
        <p:nvGrpSpPr>
          <p:cNvPr id="6154" name="Group 10"/>
          <p:cNvGrpSpPr>
            <a:grpSpLocks/>
          </p:cNvGrpSpPr>
          <p:nvPr/>
        </p:nvGrpSpPr>
        <p:grpSpPr bwMode="auto">
          <a:xfrm>
            <a:off x="1816100" y="1287991"/>
            <a:ext cx="3522664" cy="5502275"/>
            <a:chOff x="184" y="386"/>
            <a:chExt cx="2219" cy="3466"/>
          </a:xfrm>
        </p:grpSpPr>
        <p:sp>
          <p:nvSpPr>
            <p:cNvPr id="6155" name="Freeform 11"/>
            <p:cNvSpPr>
              <a:spLocks/>
            </p:cNvSpPr>
            <p:nvPr/>
          </p:nvSpPr>
          <p:spPr bwMode="auto">
            <a:xfrm>
              <a:off x="889" y="999"/>
              <a:ext cx="1190" cy="1"/>
            </a:xfrm>
            <a:custGeom>
              <a:avLst/>
              <a:gdLst>
                <a:gd name="T0" fmla="*/ 0 w 1190"/>
                <a:gd name="T1" fmla="*/ 1190 w 1190"/>
                <a:gd name="T2" fmla="*/ 0 w 1190"/>
                <a:gd name="T3" fmla="*/ 763 w 1190"/>
              </a:gdLst>
              <a:ahLst/>
              <a:cxnLst>
                <a:cxn ang="0">
                  <a:pos x="T0" y="0"/>
                </a:cxn>
                <a:cxn ang="0">
                  <a:pos x="T1" y="0"/>
                </a:cxn>
                <a:cxn ang="0">
                  <a:pos x="T2" y="0"/>
                </a:cxn>
                <a:cxn ang="0">
                  <a:pos x="T3" y="0"/>
                </a:cxn>
              </a:cxnLst>
              <a:rect l="0" t="0" r="r" b="b"/>
              <a:pathLst>
                <a:path w="1190">
                  <a:moveTo>
                    <a:pt x="0" y="0"/>
                  </a:moveTo>
                  <a:lnTo>
                    <a:pt x="1190" y="0"/>
                  </a:lnTo>
                  <a:lnTo>
                    <a:pt x="0" y="0"/>
                  </a:lnTo>
                  <a:lnTo>
                    <a:pt x="76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56" name="Freeform 12"/>
            <p:cNvSpPr>
              <a:spLocks/>
            </p:cNvSpPr>
            <p:nvPr/>
          </p:nvSpPr>
          <p:spPr bwMode="auto">
            <a:xfrm>
              <a:off x="1635" y="957"/>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57" name="Freeform 13"/>
            <p:cNvSpPr>
              <a:spLocks/>
            </p:cNvSpPr>
            <p:nvPr/>
          </p:nvSpPr>
          <p:spPr bwMode="auto">
            <a:xfrm>
              <a:off x="889" y="1444"/>
              <a:ext cx="1190" cy="1"/>
            </a:xfrm>
            <a:custGeom>
              <a:avLst/>
              <a:gdLst>
                <a:gd name="T0" fmla="*/ 0 w 1190"/>
                <a:gd name="T1" fmla="*/ 1190 w 1190"/>
                <a:gd name="T2" fmla="*/ 0 w 1190"/>
                <a:gd name="T3" fmla="*/ 763 w 1190"/>
              </a:gdLst>
              <a:ahLst/>
              <a:cxnLst>
                <a:cxn ang="0">
                  <a:pos x="T0" y="0"/>
                </a:cxn>
                <a:cxn ang="0">
                  <a:pos x="T1" y="0"/>
                </a:cxn>
                <a:cxn ang="0">
                  <a:pos x="T2" y="0"/>
                </a:cxn>
                <a:cxn ang="0">
                  <a:pos x="T3" y="0"/>
                </a:cxn>
              </a:cxnLst>
              <a:rect l="0" t="0" r="r" b="b"/>
              <a:pathLst>
                <a:path w="1190">
                  <a:moveTo>
                    <a:pt x="0" y="0"/>
                  </a:moveTo>
                  <a:lnTo>
                    <a:pt x="1190" y="0"/>
                  </a:lnTo>
                  <a:lnTo>
                    <a:pt x="0" y="0"/>
                  </a:lnTo>
                  <a:lnTo>
                    <a:pt x="76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58" name="Freeform 14"/>
            <p:cNvSpPr>
              <a:spLocks/>
            </p:cNvSpPr>
            <p:nvPr/>
          </p:nvSpPr>
          <p:spPr bwMode="auto">
            <a:xfrm>
              <a:off x="1635" y="1402"/>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59" name="Freeform 15"/>
            <p:cNvSpPr>
              <a:spLocks/>
            </p:cNvSpPr>
            <p:nvPr/>
          </p:nvSpPr>
          <p:spPr bwMode="auto">
            <a:xfrm>
              <a:off x="889" y="1889"/>
              <a:ext cx="1190" cy="1"/>
            </a:xfrm>
            <a:custGeom>
              <a:avLst/>
              <a:gdLst>
                <a:gd name="T0" fmla="*/ 0 w 1190"/>
                <a:gd name="T1" fmla="*/ 1190 w 1190"/>
                <a:gd name="T2" fmla="*/ 0 w 1190"/>
                <a:gd name="T3" fmla="*/ 763 w 1190"/>
              </a:gdLst>
              <a:ahLst/>
              <a:cxnLst>
                <a:cxn ang="0">
                  <a:pos x="T0" y="0"/>
                </a:cxn>
                <a:cxn ang="0">
                  <a:pos x="T1" y="0"/>
                </a:cxn>
                <a:cxn ang="0">
                  <a:pos x="T2" y="0"/>
                </a:cxn>
                <a:cxn ang="0">
                  <a:pos x="T3" y="0"/>
                </a:cxn>
              </a:cxnLst>
              <a:rect l="0" t="0" r="r" b="b"/>
              <a:pathLst>
                <a:path w="1190">
                  <a:moveTo>
                    <a:pt x="0" y="0"/>
                  </a:moveTo>
                  <a:lnTo>
                    <a:pt x="1190" y="0"/>
                  </a:lnTo>
                  <a:lnTo>
                    <a:pt x="0" y="0"/>
                  </a:lnTo>
                  <a:lnTo>
                    <a:pt x="76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0" name="Freeform 16"/>
            <p:cNvSpPr>
              <a:spLocks/>
            </p:cNvSpPr>
            <p:nvPr/>
          </p:nvSpPr>
          <p:spPr bwMode="auto">
            <a:xfrm>
              <a:off x="1635" y="1847"/>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1" name="Freeform 17"/>
            <p:cNvSpPr>
              <a:spLocks/>
            </p:cNvSpPr>
            <p:nvPr/>
          </p:nvSpPr>
          <p:spPr bwMode="auto">
            <a:xfrm>
              <a:off x="889" y="2334"/>
              <a:ext cx="1190" cy="1"/>
            </a:xfrm>
            <a:custGeom>
              <a:avLst/>
              <a:gdLst>
                <a:gd name="T0" fmla="*/ 0 w 1190"/>
                <a:gd name="T1" fmla="*/ 1190 w 1190"/>
                <a:gd name="T2" fmla="*/ 0 w 1190"/>
                <a:gd name="T3" fmla="*/ 763 w 1190"/>
              </a:gdLst>
              <a:ahLst/>
              <a:cxnLst>
                <a:cxn ang="0">
                  <a:pos x="T0" y="0"/>
                </a:cxn>
                <a:cxn ang="0">
                  <a:pos x="T1" y="0"/>
                </a:cxn>
                <a:cxn ang="0">
                  <a:pos x="T2" y="0"/>
                </a:cxn>
                <a:cxn ang="0">
                  <a:pos x="T3" y="0"/>
                </a:cxn>
              </a:cxnLst>
              <a:rect l="0" t="0" r="r" b="b"/>
              <a:pathLst>
                <a:path w="1190">
                  <a:moveTo>
                    <a:pt x="0" y="0"/>
                  </a:moveTo>
                  <a:lnTo>
                    <a:pt x="1190" y="0"/>
                  </a:lnTo>
                  <a:lnTo>
                    <a:pt x="0" y="0"/>
                  </a:lnTo>
                  <a:lnTo>
                    <a:pt x="76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2" name="Freeform 18"/>
            <p:cNvSpPr>
              <a:spLocks/>
            </p:cNvSpPr>
            <p:nvPr/>
          </p:nvSpPr>
          <p:spPr bwMode="auto">
            <a:xfrm>
              <a:off x="1635" y="2292"/>
              <a:ext cx="92" cy="92"/>
            </a:xfrm>
            <a:custGeom>
              <a:avLst/>
              <a:gdLst>
                <a:gd name="T0" fmla="*/ 0 w 92"/>
                <a:gd name="T1" fmla="*/ 0 h 92"/>
                <a:gd name="T2" fmla="*/ 92 w 92"/>
                <a:gd name="T3" fmla="*/ 42 h 92"/>
                <a:gd name="T4" fmla="*/ 0 w 92"/>
                <a:gd name="T5" fmla="*/ 92 h 92"/>
                <a:gd name="T6" fmla="*/ 0 w 92"/>
                <a:gd name="T7" fmla="*/ 0 h 92"/>
              </a:gdLst>
              <a:ahLst/>
              <a:cxnLst>
                <a:cxn ang="0">
                  <a:pos x="T0" y="T1"/>
                </a:cxn>
                <a:cxn ang="0">
                  <a:pos x="T2" y="T3"/>
                </a:cxn>
                <a:cxn ang="0">
                  <a:pos x="T4" y="T5"/>
                </a:cxn>
                <a:cxn ang="0">
                  <a:pos x="T6" y="T7"/>
                </a:cxn>
              </a:cxnLst>
              <a:rect l="0" t="0" r="r" b="b"/>
              <a:pathLst>
                <a:path w="92" h="92">
                  <a:moveTo>
                    <a:pt x="0" y="0"/>
                  </a:moveTo>
                  <a:lnTo>
                    <a:pt x="92" y="42"/>
                  </a:lnTo>
                  <a:lnTo>
                    <a:pt x="0" y="9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3" name="Freeform 19"/>
            <p:cNvSpPr>
              <a:spLocks/>
            </p:cNvSpPr>
            <p:nvPr/>
          </p:nvSpPr>
          <p:spPr bwMode="auto">
            <a:xfrm>
              <a:off x="889" y="2787"/>
              <a:ext cx="1190" cy="1"/>
            </a:xfrm>
            <a:custGeom>
              <a:avLst/>
              <a:gdLst>
                <a:gd name="T0" fmla="*/ 0 w 1190"/>
                <a:gd name="T1" fmla="*/ 1190 w 1190"/>
                <a:gd name="T2" fmla="*/ 0 w 1190"/>
                <a:gd name="T3" fmla="*/ 763 w 1190"/>
              </a:gdLst>
              <a:ahLst/>
              <a:cxnLst>
                <a:cxn ang="0">
                  <a:pos x="T0" y="0"/>
                </a:cxn>
                <a:cxn ang="0">
                  <a:pos x="T1" y="0"/>
                </a:cxn>
                <a:cxn ang="0">
                  <a:pos x="T2" y="0"/>
                </a:cxn>
                <a:cxn ang="0">
                  <a:pos x="T3" y="0"/>
                </a:cxn>
              </a:cxnLst>
              <a:rect l="0" t="0" r="r" b="b"/>
              <a:pathLst>
                <a:path w="1190">
                  <a:moveTo>
                    <a:pt x="0" y="0"/>
                  </a:moveTo>
                  <a:lnTo>
                    <a:pt x="1190" y="0"/>
                  </a:lnTo>
                  <a:lnTo>
                    <a:pt x="0" y="0"/>
                  </a:lnTo>
                  <a:lnTo>
                    <a:pt x="76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4" name="Freeform 20"/>
            <p:cNvSpPr>
              <a:spLocks/>
            </p:cNvSpPr>
            <p:nvPr/>
          </p:nvSpPr>
          <p:spPr bwMode="auto">
            <a:xfrm>
              <a:off x="1635" y="2745"/>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5" name="Freeform 21"/>
            <p:cNvSpPr>
              <a:spLocks/>
            </p:cNvSpPr>
            <p:nvPr/>
          </p:nvSpPr>
          <p:spPr bwMode="auto">
            <a:xfrm>
              <a:off x="889" y="3232"/>
              <a:ext cx="1190" cy="1"/>
            </a:xfrm>
            <a:custGeom>
              <a:avLst/>
              <a:gdLst>
                <a:gd name="T0" fmla="*/ 0 w 1190"/>
                <a:gd name="T1" fmla="*/ 1190 w 1190"/>
                <a:gd name="T2" fmla="*/ 0 w 1190"/>
                <a:gd name="T3" fmla="*/ 763 w 1190"/>
              </a:gdLst>
              <a:ahLst/>
              <a:cxnLst>
                <a:cxn ang="0">
                  <a:pos x="T0" y="0"/>
                </a:cxn>
                <a:cxn ang="0">
                  <a:pos x="T1" y="0"/>
                </a:cxn>
                <a:cxn ang="0">
                  <a:pos x="T2" y="0"/>
                </a:cxn>
                <a:cxn ang="0">
                  <a:pos x="T3" y="0"/>
                </a:cxn>
              </a:cxnLst>
              <a:rect l="0" t="0" r="r" b="b"/>
              <a:pathLst>
                <a:path w="1190">
                  <a:moveTo>
                    <a:pt x="0" y="0"/>
                  </a:moveTo>
                  <a:lnTo>
                    <a:pt x="1190" y="0"/>
                  </a:lnTo>
                  <a:lnTo>
                    <a:pt x="0" y="0"/>
                  </a:lnTo>
                  <a:lnTo>
                    <a:pt x="76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6" name="Freeform 22"/>
            <p:cNvSpPr>
              <a:spLocks/>
            </p:cNvSpPr>
            <p:nvPr/>
          </p:nvSpPr>
          <p:spPr bwMode="auto">
            <a:xfrm>
              <a:off x="1635" y="3190"/>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7" name="Freeform 23"/>
            <p:cNvSpPr>
              <a:spLocks/>
            </p:cNvSpPr>
            <p:nvPr/>
          </p:nvSpPr>
          <p:spPr bwMode="auto">
            <a:xfrm>
              <a:off x="889" y="3677"/>
              <a:ext cx="1190" cy="1"/>
            </a:xfrm>
            <a:custGeom>
              <a:avLst/>
              <a:gdLst>
                <a:gd name="T0" fmla="*/ 0 w 1190"/>
                <a:gd name="T1" fmla="*/ 1190 w 1190"/>
                <a:gd name="T2" fmla="*/ 0 w 1190"/>
                <a:gd name="T3" fmla="*/ 763 w 1190"/>
              </a:gdLst>
              <a:ahLst/>
              <a:cxnLst>
                <a:cxn ang="0">
                  <a:pos x="T0" y="0"/>
                </a:cxn>
                <a:cxn ang="0">
                  <a:pos x="T1" y="0"/>
                </a:cxn>
                <a:cxn ang="0">
                  <a:pos x="T2" y="0"/>
                </a:cxn>
                <a:cxn ang="0">
                  <a:pos x="T3" y="0"/>
                </a:cxn>
              </a:cxnLst>
              <a:rect l="0" t="0" r="r" b="b"/>
              <a:pathLst>
                <a:path w="1190">
                  <a:moveTo>
                    <a:pt x="0" y="0"/>
                  </a:moveTo>
                  <a:lnTo>
                    <a:pt x="1190" y="0"/>
                  </a:lnTo>
                  <a:lnTo>
                    <a:pt x="0" y="0"/>
                  </a:lnTo>
                  <a:lnTo>
                    <a:pt x="76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8" name="Freeform 24"/>
            <p:cNvSpPr>
              <a:spLocks/>
            </p:cNvSpPr>
            <p:nvPr/>
          </p:nvSpPr>
          <p:spPr bwMode="auto">
            <a:xfrm>
              <a:off x="1635" y="3635"/>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9" name="Freeform 25"/>
            <p:cNvSpPr>
              <a:spLocks/>
            </p:cNvSpPr>
            <p:nvPr/>
          </p:nvSpPr>
          <p:spPr bwMode="auto">
            <a:xfrm>
              <a:off x="2079" y="999"/>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0" name="Freeform 26"/>
            <p:cNvSpPr>
              <a:spLocks/>
            </p:cNvSpPr>
            <p:nvPr/>
          </p:nvSpPr>
          <p:spPr bwMode="auto">
            <a:xfrm>
              <a:off x="2205" y="957"/>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1" name="Freeform 27"/>
            <p:cNvSpPr>
              <a:spLocks/>
            </p:cNvSpPr>
            <p:nvPr/>
          </p:nvSpPr>
          <p:spPr bwMode="auto">
            <a:xfrm>
              <a:off x="2079" y="1444"/>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2" name="Freeform 28"/>
            <p:cNvSpPr>
              <a:spLocks/>
            </p:cNvSpPr>
            <p:nvPr/>
          </p:nvSpPr>
          <p:spPr bwMode="auto">
            <a:xfrm>
              <a:off x="2205" y="1402"/>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3" name="Freeform 29"/>
            <p:cNvSpPr>
              <a:spLocks/>
            </p:cNvSpPr>
            <p:nvPr/>
          </p:nvSpPr>
          <p:spPr bwMode="auto">
            <a:xfrm>
              <a:off x="2079" y="1889"/>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4" name="Freeform 30"/>
            <p:cNvSpPr>
              <a:spLocks/>
            </p:cNvSpPr>
            <p:nvPr/>
          </p:nvSpPr>
          <p:spPr bwMode="auto">
            <a:xfrm>
              <a:off x="2205" y="1847"/>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5" name="Freeform 31"/>
            <p:cNvSpPr>
              <a:spLocks/>
            </p:cNvSpPr>
            <p:nvPr/>
          </p:nvSpPr>
          <p:spPr bwMode="auto">
            <a:xfrm>
              <a:off x="2079" y="2334"/>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6" name="Freeform 32"/>
            <p:cNvSpPr>
              <a:spLocks/>
            </p:cNvSpPr>
            <p:nvPr/>
          </p:nvSpPr>
          <p:spPr bwMode="auto">
            <a:xfrm>
              <a:off x="2205" y="2292"/>
              <a:ext cx="84" cy="92"/>
            </a:xfrm>
            <a:custGeom>
              <a:avLst/>
              <a:gdLst>
                <a:gd name="T0" fmla="*/ 0 w 84"/>
                <a:gd name="T1" fmla="*/ 0 h 92"/>
                <a:gd name="T2" fmla="*/ 84 w 84"/>
                <a:gd name="T3" fmla="*/ 42 h 92"/>
                <a:gd name="T4" fmla="*/ 0 w 84"/>
                <a:gd name="T5" fmla="*/ 92 h 92"/>
                <a:gd name="T6" fmla="*/ 0 w 84"/>
                <a:gd name="T7" fmla="*/ 0 h 92"/>
              </a:gdLst>
              <a:ahLst/>
              <a:cxnLst>
                <a:cxn ang="0">
                  <a:pos x="T0" y="T1"/>
                </a:cxn>
                <a:cxn ang="0">
                  <a:pos x="T2" y="T3"/>
                </a:cxn>
                <a:cxn ang="0">
                  <a:pos x="T4" y="T5"/>
                </a:cxn>
                <a:cxn ang="0">
                  <a:pos x="T6" y="T7"/>
                </a:cxn>
              </a:cxnLst>
              <a:rect l="0" t="0" r="r" b="b"/>
              <a:pathLst>
                <a:path w="84" h="92">
                  <a:moveTo>
                    <a:pt x="0" y="0"/>
                  </a:moveTo>
                  <a:lnTo>
                    <a:pt x="84" y="42"/>
                  </a:lnTo>
                  <a:lnTo>
                    <a:pt x="0" y="9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7" name="Freeform 33"/>
            <p:cNvSpPr>
              <a:spLocks/>
            </p:cNvSpPr>
            <p:nvPr/>
          </p:nvSpPr>
          <p:spPr bwMode="auto">
            <a:xfrm>
              <a:off x="2079" y="2787"/>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8" name="Freeform 34"/>
            <p:cNvSpPr>
              <a:spLocks/>
            </p:cNvSpPr>
            <p:nvPr/>
          </p:nvSpPr>
          <p:spPr bwMode="auto">
            <a:xfrm>
              <a:off x="2205" y="2745"/>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9" name="Freeform 35"/>
            <p:cNvSpPr>
              <a:spLocks/>
            </p:cNvSpPr>
            <p:nvPr/>
          </p:nvSpPr>
          <p:spPr bwMode="auto">
            <a:xfrm>
              <a:off x="2079" y="3232"/>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0" name="Freeform 36"/>
            <p:cNvSpPr>
              <a:spLocks/>
            </p:cNvSpPr>
            <p:nvPr/>
          </p:nvSpPr>
          <p:spPr bwMode="auto">
            <a:xfrm>
              <a:off x="2205" y="3190"/>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1" name="Freeform 37"/>
            <p:cNvSpPr>
              <a:spLocks/>
            </p:cNvSpPr>
            <p:nvPr/>
          </p:nvSpPr>
          <p:spPr bwMode="auto">
            <a:xfrm>
              <a:off x="2079" y="3677"/>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2" name="Freeform 38"/>
            <p:cNvSpPr>
              <a:spLocks/>
            </p:cNvSpPr>
            <p:nvPr/>
          </p:nvSpPr>
          <p:spPr bwMode="auto">
            <a:xfrm>
              <a:off x="2205" y="3635"/>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3" name="Freeform 39"/>
            <p:cNvSpPr>
              <a:spLocks/>
            </p:cNvSpPr>
            <p:nvPr/>
          </p:nvSpPr>
          <p:spPr bwMode="auto">
            <a:xfrm>
              <a:off x="889" y="555"/>
              <a:ext cx="1190" cy="1779"/>
            </a:xfrm>
            <a:custGeom>
              <a:avLst/>
              <a:gdLst>
                <a:gd name="T0" fmla="*/ 0 w 1190"/>
                <a:gd name="T1" fmla="*/ 1779 h 1779"/>
                <a:gd name="T2" fmla="*/ 1190 w 1190"/>
                <a:gd name="T3" fmla="*/ 0 h 1779"/>
                <a:gd name="T4" fmla="*/ 0 w 1190"/>
                <a:gd name="T5" fmla="*/ 1779 h 1779"/>
                <a:gd name="T6" fmla="*/ 796 w 1190"/>
                <a:gd name="T7" fmla="*/ 596 h 1779"/>
              </a:gdLst>
              <a:ahLst/>
              <a:cxnLst>
                <a:cxn ang="0">
                  <a:pos x="T0" y="T1"/>
                </a:cxn>
                <a:cxn ang="0">
                  <a:pos x="T2" y="T3"/>
                </a:cxn>
                <a:cxn ang="0">
                  <a:pos x="T4" y="T5"/>
                </a:cxn>
                <a:cxn ang="0">
                  <a:pos x="T6" y="T7"/>
                </a:cxn>
              </a:cxnLst>
              <a:rect l="0" t="0" r="r" b="b"/>
              <a:pathLst>
                <a:path w="1190" h="1779">
                  <a:moveTo>
                    <a:pt x="0" y="1779"/>
                  </a:moveTo>
                  <a:lnTo>
                    <a:pt x="1190" y="0"/>
                  </a:lnTo>
                  <a:lnTo>
                    <a:pt x="0" y="1779"/>
                  </a:lnTo>
                  <a:lnTo>
                    <a:pt x="796" y="59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4" name="Freeform 40"/>
            <p:cNvSpPr>
              <a:spLocks/>
            </p:cNvSpPr>
            <p:nvPr/>
          </p:nvSpPr>
          <p:spPr bwMode="auto">
            <a:xfrm>
              <a:off x="1643" y="1092"/>
              <a:ext cx="84" cy="92"/>
            </a:xfrm>
            <a:custGeom>
              <a:avLst/>
              <a:gdLst>
                <a:gd name="T0" fmla="*/ 0 w 84"/>
                <a:gd name="T1" fmla="*/ 42 h 92"/>
                <a:gd name="T2" fmla="*/ 84 w 84"/>
                <a:gd name="T3" fmla="*/ 0 h 92"/>
                <a:gd name="T4" fmla="*/ 67 w 84"/>
                <a:gd name="T5" fmla="*/ 92 h 92"/>
                <a:gd name="T6" fmla="*/ 0 w 84"/>
                <a:gd name="T7" fmla="*/ 42 h 92"/>
              </a:gdLst>
              <a:ahLst/>
              <a:cxnLst>
                <a:cxn ang="0">
                  <a:pos x="T0" y="T1"/>
                </a:cxn>
                <a:cxn ang="0">
                  <a:pos x="T2" y="T3"/>
                </a:cxn>
                <a:cxn ang="0">
                  <a:pos x="T4" y="T5"/>
                </a:cxn>
                <a:cxn ang="0">
                  <a:pos x="T6" y="T7"/>
                </a:cxn>
              </a:cxnLst>
              <a:rect l="0" t="0" r="r" b="b"/>
              <a:pathLst>
                <a:path w="84" h="92">
                  <a:moveTo>
                    <a:pt x="0" y="42"/>
                  </a:moveTo>
                  <a:lnTo>
                    <a:pt x="84" y="0"/>
                  </a:lnTo>
                  <a:lnTo>
                    <a:pt x="67" y="9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5" name="Freeform 41"/>
            <p:cNvSpPr>
              <a:spLocks/>
            </p:cNvSpPr>
            <p:nvPr/>
          </p:nvSpPr>
          <p:spPr bwMode="auto">
            <a:xfrm>
              <a:off x="889" y="999"/>
              <a:ext cx="1190" cy="1788"/>
            </a:xfrm>
            <a:custGeom>
              <a:avLst/>
              <a:gdLst>
                <a:gd name="T0" fmla="*/ 0 w 1190"/>
                <a:gd name="T1" fmla="*/ 1788 h 1788"/>
                <a:gd name="T2" fmla="*/ 1190 w 1190"/>
                <a:gd name="T3" fmla="*/ 0 h 1788"/>
                <a:gd name="T4" fmla="*/ 0 w 1190"/>
                <a:gd name="T5" fmla="*/ 1788 h 1788"/>
                <a:gd name="T6" fmla="*/ 796 w 1190"/>
                <a:gd name="T7" fmla="*/ 596 h 1788"/>
              </a:gdLst>
              <a:ahLst/>
              <a:cxnLst>
                <a:cxn ang="0">
                  <a:pos x="T0" y="T1"/>
                </a:cxn>
                <a:cxn ang="0">
                  <a:pos x="T2" y="T3"/>
                </a:cxn>
                <a:cxn ang="0">
                  <a:pos x="T4" y="T5"/>
                </a:cxn>
                <a:cxn ang="0">
                  <a:pos x="T6" y="T7"/>
                </a:cxn>
              </a:cxnLst>
              <a:rect l="0" t="0" r="r" b="b"/>
              <a:pathLst>
                <a:path w="1190" h="1788">
                  <a:moveTo>
                    <a:pt x="0" y="1788"/>
                  </a:moveTo>
                  <a:lnTo>
                    <a:pt x="1190" y="0"/>
                  </a:lnTo>
                  <a:lnTo>
                    <a:pt x="0" y="1788"/>
                  </a:lnTo>
                  <a:lnTo>
                    <a:pt x="796" y="59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6" name="Freeform 42"/>
            <p:cNvSpPr>
              <a:spLocks/>
            </p:cNvSpPr>
            <p:nvPr/>
          </p:nvSpPr>
          <p:spPr bwMode="auto">
            <a:xfrm>
              <a:off x="1643" y="1537"/>
              <a:ext cx="84" cy="92"/>
            </a:xfrm>
            <a:custGeom>
              <a:avLst/>
              <a:gdLst>
                <a:gd name="T0" fmla="*/ 0 w 84"/>
                <a:gd name="T1" fmla="*/ 42 h 92"/>
                <a:gd name="T2" fmla="*/ 84 w 84"/>
                <a:gd name="T3" fmla="*/ 0 h 92"/>
                <a:gd name="T4" fmla="*/ 67 w 84"/>
                <a:gd name="T5" fmla="*/ 92 h 92"/>
                <a:gd name="T6" fmla="*/ 0 w 84"/>
                <a:gd name="T7" fmla="*/ 42 h 92"/>
              </a:gdLst>
              <a:ahLst/>
              <a:cxnLst>
                <a:cxn ang="0">
                  <a:pos x="T0" y="T1"/>
                </a:cxn>
                <a:cxn ang="0">
                  <a:pos x="T2" y="T3"/>
                </a:cxn>
                <a:cxn ang="0">
                  <a:pos x="T4" y="T5"/>
                </a:cxn>
                <a:cxn ang="0">
                  <a:pos x="T6" y="T7"/>
                </a:cxn>
              </a:cxnLst>
              <a:rect l="0" t="0" r="r" b="b"/>
              <a:pathLst>
                <a:path w="84" h="92">
                  <a:moveTo>
                    <a:pt x="0" y="42"/>
                  </a:moveTo>
                  <a:lnTo>
                    <a:pt x="84" y="0"/>
                  </a:lnTo>
                  <a:lnTo>
                    <a:pt x="67" y="9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7" name="Freeform 43"/>
            <p:cNvSpPr>
              <a:spLocks/>
            </p:cNvSpPr>
            <p:nvPr/>
          </p:nvSpPr>
          <p:spPr bwMode="auto">
            <a:xfrm>
              <a:off x="889" y="1444"/>
              <a:ext cx="1190" cy="1788"/>
            </a:xfrm>
            <a:custGeom>
              <a:avLst/>
              <a:gdLst>
                <a:gd name="T0" fmla="*/ 0 w 1190"/>
                <a:gd name="T1" fmla="*/ 1788 h 1788"/>
                <a:gd name="T2" fmla="*/ 1190 w 1190"/>
                <a:gd name="T3" fmla="*/ 0 h 1788"/>
                <a:gd name="T4" fmla="*/ 0 w 1190"/>
                <a:gd name="T5" fmla="*/ 1788 h 1788"/>
                <a:gd name="T6" fmla="*/ 796 w 1190"/>
                <a:gd name="T7" fmla="*/ 596 h 1788"/>
              </a:gdLst>
              <a:ahLst/>
              <a:cxnLst>
                <a:cxn ang="0">
                  <a:pos x="T0" y="T1"/>
                </a:cxn>
                <a:cxn ang="0">
                  <a:pos x="T2" y="T3"/>
                </a:cxn>
                <a:cxn ang="0">
                  <a:pos x="T4" y="T5"/>
                </a:cxn>
                <a:cxn ang="0">
                  <a:pos x="T6" y="T7"/>
                </a:cxn>
              </a:cxnLst>
              <a:rect l="0" t="0" r="r" b="b"/>
              <a:pathLst>
                <a:path w="1190" h="1788">
                  <a:moveTo>
                    <a:pt x="0" y="1788"/>
                  </a:moveTo>
                  <a:lnTo>
                    <a:pt x="1190" y="0"/>
                  </a:lnTo>
                  <a:lnTo>
                    <a:pt x="0" y="1788"/>
                  </a:lnTo>
                  <a:lnTo>
                    <a:pt x="796" y="59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8" name="Freeform 44"/>
            <p:cNvSpPr>
              <a:spLocks/>
            </p:cNvSpPr>
            <p:nvPr/>
          </p:nvSpPr>
          <p:spPr bwMode="auto">
            <a:xfrm>
              <a:off x="1643" y="1982"/>
              <a:ext cx="84" cy="92"/>
            </a:xfrm>
            <a:custGeom>
              <a:avLst/>
              <a:gdLst>
                <a:gd name="T0" fmla="*/ 0 w 84"/>
                <a:gd name="T1" fmla="*/ 50 h 92"/>
                <a:gd name="T2" fmla="*/ 84 w 84"/>
                <a:gd name="T3" fmla="*/ 0 h 92"/>
                <a:gd name="T4" fmla="*/ 67 w 84"/>
                <a:gd name="T5" fmla="*/ 92 h 92"/>
                <a:gd name="T6" fmla="*/ 0 w 84"/>
                <a:gd name="T7" fmla="*/ 50 h 92"/>
              </a:gdLst>
              <a:ahLst/>
              <a:cxnLst>
                <a:cxn ang="0">
                  <a:pos x="T0" y="T1"/>
                </a:cxn>
                <a:cxn ang="0">
                  <a:pos x="T2" y="T3"/>
                </a:cxn>
                <a:cxn ang="0">
                  <a:pos x="T4" y="T5"/>
                </a:cxn>
                <a:cxn ang="0">
                  <a:pos x="T6" y="T7"/>
                </a:cxn>
              </a:cxnLst>
              <a:rect l="0" t="0" r="r" b="b"/>
              <a:pathLst>
                <a:path w="84" h="92">
                  <a:moveTo>
                    <a:pt x="0" y="50"/>
                  </a:moveTo>
                  <a:lnTo>
                    <a:pt x="84" y="0"/>
                  </a:lnTo>
                  <a:lnTo>
                    <a:pt x="67" y="92"/>
                  </a:lnTo>
                  <a:lnTo>
                    <a:pt x="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9" name="Freeform 45"/>
            <p:cNvSpPr>
              <a:spLocks/>
            </p:cNvSpPr>
            <p:nvPr/>
          </p:nvSpPr>
          <p:spPr bwMode="auto">
            <a:xfrm>
              <a:off x="889" y="1898"/>
              <a:ext cx="1190" cy="1779"/>
            </a:xfrm>
            <a:custGeom>
              <a:avLst/>
              <a:gdLst>
                <a:gd name="T0" fmla="*/ 0 w 1190"/>
                <a:gd name="T1" fmla="*/ 1779 h 1779"/>
                <a:gd name="T2" fmla="*/ 1190 w 1190"/>
                <a:gd name="T3" fmla="*/ 0 h 1779"/>
                <a:gd name="T4" fmla="*/ 0 w 1190"/>
                <a:gd name="T5" fmla="*/ 1779 h 1779"/>
                <a:gd name="T6" fmla="*/ 796 w 1190"/>
                <a:gd name="T7" fmla="*/ 596 h 1779"/>
              </a:gdLst>
              <a:ahLst/>
              <a:cxnLst>
                <a:cxn ang="0">
                  <a:pos x="T0" y="T1"/>
                </a:cxn>
                <a:cxn ang="0">
                  <a:pos x="T2" y="T3"/>
                </a:cxn>
                <a:cxn ang="0">
                  <a:pos x="T4" y="T5"/>
                </a:cxn>
                <a:cxn ang="0">
                  <a:pos x="T6" y="T7"/>
                </a:cxn>
              </a:cxnLst>
              <a:rect l="0" t="0" r="r" b="b"/>
              <a:pathLst>
                <a:path w="1190" h="1779">
                  <a:moveTo>
                    <a:pt x="0" y="1779"/>
                  </a:moveTo>
                  <a:lnTo>
                    <a:pt x="1190" y="0"/>
                  </a:lnTo>
                  <a:lnTo>
                    <a:pt x="0" y="1779"/>
                  </a:lnTo>
                  <a:lnTo>
                    <a:pt x="796" y="59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90" name="Freeform 46"/>
            <p:cNvSpPr>
              <a:spLocks/>
            </p:cNvSpPr>
            <p:nvPr/>
          </p:nvSpPr>
          <p:spPr bwMode="auto">
            <a:xfrm>
              <a:off x="1643" y="2435"/>
              <a:ext cx="84" cy="92"/>
            </a:xfrm>
            <a:custGeom>
              <a:avLst/>
              <a:gdLst>
                <a:gd name="T0" fmla="*/ 0 w 84"/>
                <a:gd name="T1" fmla="*/ 42 h 92"/>
                <a:gd name="T2" fmla="*/ 84 w 84"/>
                <a:gd name="T3" fmla="*/ 0 h 92"/>
                <a:gd name="T4" fmla="*/ 67 w 84"/>
                <a:gd name="T5" fmla="*/ 92 h 92"/>
                <a:gd name="T6" fmla="*/ 0 w 84"/>
                <a:gd name="T7" fmla="*/ 42 h 92"/>
              </a:gdLst>
              <a:ahLst/>
              <a:cxnLst>
                <a:cxn ang="0">
                  <a:pos x="T0" y="T1"/>
                </a:cxn>
                <a:cxn ang="0">
                  <a:pos x="T2" y="T3"/>
                </a:cxn>
                <a:cxn ang="0">
                  <a:pos x="T4" y="T5"/>
                </a:cxn>
                <a:cxn ang="0">
                  <a:pos x="T6" y="T7"/>
                </a:cxn>
              </a:cxnLst>
              <a:rect l="0" t="0" r="r" b="b"/>
              <a:pathLst>
                <a:path w="84" h="92">
                  <a:moveTo>
                    <a:pt x="0" y="42"/>
                  </a:moveTo>
                  <a:lnTo>
                    <a:pt x="84" y="0"/>
                  </a:lnTo>
                  <a:lnTo>
                    <a:pt x="67" y="9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1" name="Freeform 47"/>
            <p:cNvSpPr>
              <a:spLocks/>
            </p:cNvSpPr>
            <p:nvPr/>
          </p:nvSpPr>
          <p:spPr bwMode="auto">
            <a:xfrm>
              <a:off x="889" y="555"/>
              <a:ext cx="1190" cy="1779"/>
            </a:xfrm>
            <a:custGeom>
              <a:avLst/>
              <a:gdLst>
                <a:gd name="T0" fmla="*/ 0 w 1190"/>
                <a:gd name="T1" fmla="*/ 0 h 1779"/>
                <a:gd name="T2" fmla="*/ 1190 w 1190"/>
                <a:gd name="T3" fmla="*/ 1779 h 1779"/>
                <a:gd name="T4" fmla="*/ 0 w 1190"/>
                <a:gd name="T5" fmla="*/ 0 h 1779"/>
                <a:gd name="T6" fmla="*/ 796 w 1190"/>
                <a:gd name="T7" fmla="*/ 1183 h 1779"/>
              </a:gdLst>
              <a:ahLst/>
              <a:cxnLst>
                <a:cxn ang="0">
                  <a:pos x="T0" y="T1"/>
                </a:cxn>
                <a:cxn ang="0">
                  <a:pos x="T2" y="T3"/>
                </a:cxn>
                <a:cxn ang="0">
                  <a:pos x="T4" y="T5"/>
                </a:cxn>
                <a:cxn ang="0">
                  <a:pos x="T6" y="T7"/>
                </a:cxn>
              </a:cxnLst>
              <a:rect l="0" t="0" r="r" b="b"/>
              <a:pathLst>
                <a:path w="1190" h="1779">
                  <a:moveTo>
                    <a:pt x="0" y="0"/>
                  </a:moveTo>
                  <a:lnTo>
                    <a:pt x="1190" y="1779"/>
                  </a:lnTo>
                  <a:lnTo>
                    <a:pt x="0" y="0"/>
                  </a:lnTo>
                  <a:lnTo>
                    <a:pt x="796" y="118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92" name="Freeform 48"/>
            <p:cNvSpPr>
              <a:spLocks/>
            </p:cNvSpPr>
            <p:nvPr/>
          </p:nvSpPr>
          <p:spPr bwMode="auto">
            <a:xfrm>
              <a:off x="1643" y="1705"/>
              <a:ext cx="84" cy="100"/>
            </a:xfrm>
            <a:custGeom>
              <a:avLst/>
              <a:gdLst>
                <a:gd name="T0" fmla="*/ 67 w 84"/>
                <a:gd name="T1" fmla="*/ 0 h 100"/>
                <a:gd name="T2" fmla="*/ 84 w 84"/>
                <a:gd name="T3" fmla="*/ 100 h 100"/>
                <a:gd name="T4" fmla="*/ 0 w 84"/>
                <a:gd name="T5" fmla="*/ 50 h 100"/>
                <a:gd name="T6" fmla="*/ 67 w 84"/>
                <a:gd name="T7" fmla="*/ 0 h 100"/>
              </a:gdLst>
              <a:ahLst/>
              <a:cxnLst>
                <a:cxn ang="0">
                  <a:pos x="T0" y="T1"/>
                </a:cxn>
                <a:cxn ang="0">
                  <a:pos x="T2" y="T3"/>
                </a:cxn>
                <a:cxn ang="0">
                  <a:pos x="T4" y="T5"/>
                </a:cxn>
                <a:cxn ang="0">
                  <a:pos x="T6" y="T7"/>
                </a:cxn>
              </a:cxnLst>
              <a:rect l="0" t="0" r="r" b="b"/>
              <a:pathLst>
                <a:path w="84" h="100">
                  <a:moveTo>
                    <a:pt x="67" y="0"/>
                  </a:moveTo>
                  <a:lnTo>
                    <a:pt x="84" y="100"/>
                  </a:lnTo>
                  <a:lnTo>
                    <a:pt x="0" y="50"/>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3" name="Freeform 49"/>
            <p:cNvSpPr>
              <a:spLocks/>
            </p:cNvSpPr>
            <p:nvPr/>
          </p:nvSpPr>
          <p:spPr bwMode="auto">
            <a:xfrm>
              <a:off x="889" y="999"/>
              <a:ext cx="1190" cy="1788"/>
            </a:xfrm>
            <a:custGeom>
              <a:avLst/>
              <a:gdLst>
                <a:gd name="T0" fmla="*/ 0 w 1190"/>
                <a:gd name="T1" fmla="*/ 0 h 1788"/>
                <a:gd name="T2" fmla="*/ 1190 w 1190"/>
                <a:gd name="T3" fmla="*/ 1788 h 1788"/>
                <a:gd name="T4" fmla="*/ 0 w 1190"/>
                <a:gd name="T5" fmla="*/ 0 h 1788"/>
                <a:gd name="T6" fmla="*/ 796 w 1190"/>
                <a:gd name="T7" fmla="*/ 1192 h 1788"/>
              </a:gdLst>
              <a:ahLst/>
              <a:cxnLst>
                <a:cxn ang="0">
                  <a:pos x="T0" y="T1"/>
                </a:cxn>
                <a:cxn ang="0">
                  <a:pos x="T2" y="T3"/>
                </a:cxn>
                <a:cxn ang="0">
                  <a:pos x="T4" y="T5"/>
                </a:cxn>
                <a:cxn ang="0">
                  <a:pos x="T6" y="T7"/>
                </a:cxn>
              </a:cxnLst>
              <a:rect l="0" t="0" r="r" b="b"/>
              <a:pathLst>
                <a:path w="1190" h="1788">
                  <a:moveTo>
                    <a:pt x="0" y="0"/>
                  </a:moveTo>
                  <a:lnTo>
                    <a:pt x="1190" y="1788"/>
                  </a:lnTo>
                  <a:lnTo>
                    <a:pt x="0" y="0"/>
                  </a:lnTo>
                  <a:lnTo>
                    <a:pt x="796" y="119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94" name="Freeform 50"/>
            <p:cNvSpPr>
              <a:spLocks/>
            </p:cNvSpPr>
            <p:nvPr/>
          </p:nvSpPr>
          <p:spPr bwMode="auto">
            <a:xfrm>
              <a:off x="1643" y="2158"/>
              <a:ext cx="84" cy="92"/>
            </a:xfrm>
            <a:custGeom>
              <a:avLst/>
              <a:gdLst>
                <a:gd name="T0" fmla="*/ 67 w 84"/>
                <a:gd name="T1" fmla="*/ 0 h 92"/>
                <a:gd name="T2" fmla="*/ 84 w 84"/>
                <a:gd name="T3" fmla="*/ 92 h 92"/>
                <a:gd name="T4" fmla="*/ 0 w 84"/>
                <a:gd name="T5" fmla="*/ 50 h 92"/>
                <a:gd name="T6" fmla="*/ 67 w 84"/>
                <a:gd name="T7" fmla="*/ 0 h 92"/>
              </a:gdLst>
              <a:ahLst/>
              <a:cxnLst>
                <a:cxn ang="0">
                  <a:pos x="T0" y="T1"/>
                </a:cxn>
                <a:cxn ang="0">
                  <a:pos x="T2" y="T3"/>
                </a:cxn>
                <a:cxn ang="0">
                  <a:pos x="T4" y="T5"/>
                </a:cxn>
                <a:cxn ang="0">
                  <a:pos x="T6" y="T7"/>
                </a:cxn>
              </a:cxnLst>
              <a:rect l="0" t="0" r="r" b="b"/>
              <a:pathLst>
                <a:path w="84" h="92">
                  <a:moveTo>
                    <a:pt x="67" y="0"/>
                  </a:moveTo>
                  <a:lnTo>
                    <a:pt x="84" y="92"/>
                  </a:lnTo>
                  <a:lnTo>
                    <a:pt x="0" y="50"/>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5" name="Freeform 51"/>
            <p:cNvSpPr>
              <a:spLocks/>
            </p:cNvSpPr>
            <p:nvPr/>
          </p:nvSpPr>
          <p:spPr bwMode="auto">
            <a:xfrm>
              <a:off x="889" y="1444"/>
              <a:ext cx="1190" cy="1788"/>
            </a:xfrm>
            <a:custGeom>
              <a:avLst/>
              <a:gdLst>
                <a:gd name="T0" fmla="*/ 0 w 1190"/>
                <a:gd name="T1" fmla="*/ 0 h 1788"/>
                <a:gd name="T2" fmla="*/ 1190 w 1190"/>
                <a:gd name="T3" fmla="*/ 1788 h 1788"/>
                <a:gd name="T4" fmla="*/ 0 w 1190"/>
                <a:gd name="T5" fmla="*/ 0 h 1788"/>
                <a:gd name="T6" fmla="*/ 796 w 1190"/>
                <a:gd name="T7" fmla="*/ 1192 h 1788"/>
              </a:gdLst>
              <a:ahLst/>
              <a:cxnLst>
                <a:cxn ang="0">
                  <a:pos x="T0" y="T1"/>
                </a:cxn>
                <a:cxn ang="0">
                  <a:pos x="T2" y="T3"/>
                </a:cxn>
                <a:cxn ang="0">
                  <a:pos x="T4" y="T5"/>
                </a:cxn>
                <a:cxn ang="0">
                  <a:pos x="T6" y="T7"/>
                </a:cxn>
              </a:cxnLst>
              <a:rect l="0" t="0" r="r" b="b"/>
              <a:pathLst>
                <a:path w="1190" h="1788">
                  <a:moveTo>
                    <a:pt x="0" y="0"/>
                  </a:moveTo>
                  <a:lnTo>
                    <a:pt x="1190" y="1788"/>
                  </a:lnTo>
                  <a:lnTo>
                    <a:pt x="0" y="0"/>
                  </a:lnTo>
                  <a:lnTo>
                    <a:pt x="796" y="119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96" name="Freeform 52"/>
            <p:cNvSpPr>
              <a:spLocks/>
            </p:cNvSpPr>
            <p:nvPr/>
          </p:nvSpPr>
          <p:spPr bwMode="auto">
            <a:xfrm>
              <a:off x="1643" y="2603"/>
              <a:ext cx="84" cy="92"/>
            </a:xfrm>
            <a:custGeom>
              <a:avLst/>
              <a:gdLst>
                <a:gd name="T0" fmla="*/ 67 w 84"/>
                <a:gd name="T1" fmla="*/ 0 h 92"/>
                <a:gd name="T2" fmla="*/ 84 w 84"/>
                <a:gd name="T3" fmla="*/ 92 h 92"/>
                <a:gd name="T4" fmla="*/ 0 w 84"/>
                <a:gd name="T5" fmla="*/ 42 h 92"/>
                <a:gd name="T6" fmla="*/ 67 w 84"/>
                <a:gd name="T7" fmla="*/ 0 h 92"/>
              </a:gdLst>
              <a:ahLst/>
              <a:cxnLst>
                <a:cxn ang="0">
                  <a:pos x="T0" y="T1"/>
                </a:cxn>
                <a:cxn ang="0">
                  <a:pos x="T2" y="T3"/>
                </a:cxn>
                <a:cxn ang="0">
                  <a:pos x="T4" y="T5"/>
                </a:cxn>
                <a:cxn ang="0">
                  <a:pos x="T6" y="T7"/>
                </a:cxn>
              </a:cxnLst>
              <a:rect l="0" t="0" r="r" b="b"/>
              <a:pathLst>
                <a:path w="84" h="92">
                  <a:moveTo>
                    <a:pt x="67" y="0"/>
                  </a:moveTo>
                  <a:lnTo>
                    <a:pt x="84" y="92"/>
                  </a:lnTo>
                  <a:lnTo>
                    <a:pt x="0" y="42"/>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7" name="Freeform 53"/>
            <p:cNvSpPr>
              <a:spLocks/>
            </p:cNvSpPr>
            <p:nvPr/>
          </p:nvSpPr>
          <p:spPr bwMode="auto">
            <a:xfrm>
              <a:off x="889" y="1889"/>
              <a:ext cx="1190" cy="1788"/>
            </a:xfrm>
            <a:custGeom>
              <a:avLst/>
              <a:gdLst>
                <a:gd name="T0" fmla="*/ 0 w 1190"/>
                <a:gd name="T1" fmla="*/ 0 h 1788"/>
                <a:gd name="T2" fmla="*/ 1190 w 1190"/>
                <a:gd name="T3" fmla="*/ 1788 h 1788"/>
                <a:gd name="T4" fmla="*/ 0 w 1190"/>
                <a:gd name="T5" fmla="*/ 0 h 1788"/>
                <a:gd name="T6" fmla="*/ 796 w 1190"/>
                <a:gd name="T7" fmla="*/ 1192 h 1788"/>
              </a:gdLst>
              <a:ahLst/>
              <a:cxnLst>
                <a:cxn ang="0">
                  <a:pos x="T0" y="T1"/>
                </a:cxn>
                <a:cxn ang="0">
                  <a:pos x="T2" y="T3"/>
                </a:cxn>
                <a:cxn ang="0">
                  <a:pos x="T4" y="T5"/>
                </a:cxn>
                <a:cxn ang="0">
                  <a:pos x="T6" y="T7"/>
                </a:cxn>
              </a:cxnLst>
              <a:rect l="0" t="0" r="r" b="b"/>
              <a:pathLst>
                <a:path w="1190" h="1788">
                  <a:moveTo>
                    <a:pt x="0" y="0"/>
                  </a:moveTo>
                  <a:lnTo>
                    <a:pt x="1190" y="1788"/>
                  </a:lnTo>
                  <a:lnTo>
                    <a:pt x="0" y="0"/>
                  </a:lnTo>
                  <a:lnTo>
                    <a:pt x="796" y="119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98" name="Freeform 54"/>
            <p:cNvSpPr>
              <a:spLocks/>
            </p:cNvSpPr>
            <p:nvPr/>
          </p:nvSpPr>
          <p:spPr bwMode="auto">
            <a:xfrm>
              <a:off x="1643" y="3048"/>
              <a:ext cx="84" cy="92"/>
            </a:xfrm>
            <a:custGeom>
              <a:avLst/>
              <a:gdLst>
                <a:gd name="T0" fmla="*/ 67 w 84"/>
                <a:gd name="T1" fmla="*/ 0 h 92"/>
                <a:gd name="T2" fmla="*/ 84 w 84"/>
                <a:gd name="T3" fmla="*/ 92 h 92"/>
                <a:gd name="T4" fmla="*/ 0 w 84"/>
                <a:gd name="T5" fmla="*/ 41 h 92"/>
                <a:gd name="T6" fmla="*/ 67 w 84"/>
                <a:gd name="T7" fmla="*/ 0 h 92"/>
              </a:gdLst>
              <a:ahLst/>
              <a:cxnLst>
                <a:cxn ang="0">
                  <a:pos x="T0" y="T1"/>
                </a:cxn>
                <a:cxn ang="0">
                  <a:pos x="T2" y="T3"/>
                </a:cxn>
                <a:cxn ang="0">
                  <a:pos x="T4" y="T5"/>
                </a:cxn>
                <a:cxn ang="0">
                  <a:pos x="T6" y="T7"/>
                </a:cxn>
              </a:cxnLst>
              <a:rect l="0" t="0" r="r" b="b"/>
              <a:pathLst>
                <a:path w="84" h="92">
                  <a:moveTo>
                    <a:pt x="67" y="0"/>
                  </a:moveTo>
                  <a:lnTo>
                    <a:pt x="84" y="92"/>
                  </a:lnTo>
                  <a:lnTo>
                    <a:pt x="0" y="41"/>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9" name="Rectangle 55"/>
            <p:cNvSpPr>
              <a:spLocks noChangeArrowheads="1"/>
            </p:cNvSpPr>
            <p:nvPr/>
          </p:nvSpPr>
          <p:spPr bwMode="auto">
            <a:xfrm>
              <a:off x="2311" y="2012"/>
              <a:ext cx="8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rPr>
                <a:t>0</a:t>
              </a:r>
              <a:endParaRPr kumimoji="1" lang="zh-CN" altLang="en-US" b="1"/>
            </a:p>
          </p:txBody>
        </p:sp>
        <p:sp>
          <p:nvSpPr>
            <p:cNvPr id="6200" name="Rectangle 56"/>
            <p:cNvSpPr>
              <a:spLocks noChangeArrowheads="1"/>
            </p:cNvSpPr>
            <p:nvPr/>
          </p:nvSpPr>
          <p:spPr bwMode="auto">
            <a:xfrm>
              <a:off x="2267" y="2186"/>
              <a:ext cx="11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N</a:t>
              </a:r>
              <a:endParaRPr kumimoji="1" lang="en-US" altLang="zh-CN" b="1"/>
            </a:p>
          </p:txBody>
        </p:sp>
        <p:sp>
          <p:nvSpPr>
            <p:cNvPr id="6201" name="Rectangle 57"/>
            <p:cNvSpPr>
              <a:spLocks noChangeArrowheads="1"/>
            </p:cNvSpPr>
            <p:nvPr/>
          </p:nvSpPr>
          <p:spPr bwMode="auto">
            <a:xfrm>
              <a:off x="2052" y="2029"/>
              <a:ext cx="261"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100" b="1" i="1">
                  <a:solidFill>
                    <a:srgbClr val="000000"/>
                  </a:solidFill>
                </a:rPr>
                <a:t>W</a:t>
              </a:r>
              <a:endParaRPr kumimoji="1" lang="en-US" altLang="zh-CN" b="1"/>
            </a:p>
          </p:txBody>
        </p:sp>
        <p:sp>
          <p:nvSpPr>
            <p:cNvPr id="6202" name="Rectangle 58"/>
            <p:cNvSpPr>
              <a:spLocks noChangeArrowheads="1"/>
            </p:cNvSpPr>
            <p:nvPr/>
          </p:nvSpPr>
          <p:spPr bwMode="auto">
            <a:xfrm>
              <a:off x="2291" y="2464"/>
              <a:ext cx="9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900" b="1">
                  <a:solidFill>
                    <a:srgbClr val="000000"/>
                  </a:solidFill>
                </a:rPr>
                <a:t>1</a:t>
              </a:r>
              <a:endParaRPr kumimoji="1" lang="zh-CN" altLang="en-US" b="1"/>
            </a:p>
          </p:txBody>
        </p:sp>
        <p:sp>
          <p:nvSpPr>
            <p:cNvPr id="6203" name="Rectangle 59"/>
            <p:cNvSpPr>
              <a:spLocks noChangeArrowheads="1"/>
            </p:cNvSpPr>
            <p:nvPr/>
          </p:nvSpPr>
          <p:spPr bwMode="auto">
            <a:xfrm>
              <a:off x="2260" y="2641"/>
              <a:ext cx="12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900" b="1" i="1">
                  <a:solidFill>
                    <a:srgbClr val="000000"/>
                  </a:solidFill>
                </a:rPr>
                <a:t>N</a:t>
              </a:r>
              <a:endParaRPr kumimoji="1" lang="en-US" altLang="zh-CN" b="1"/>
            </a:p>
          </p:txBody>
        </p:sp>
        <p:sp>
          <p:nvSpPr>
            <p:cNvPr id="6204" name="Rectangle 60"/>
            <p:cNvSpPr>
              <a:spLocks noChangeArrowheads="1"/>
            </p:cNvSpPr>
            <p:nvPr/>
          </p:nvSpPr>
          <p:spPr bwMode="auto">
            <a:xfrm>
              <a:off x="2044" y="2484"/>
              <a:ext cx="26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200" b="1" i="1">
                  <a:solidFill>
                    <a:srgbClr val="000000"/>
                  </a:solidFill>
                </a:rPr>
                <a:t>W</a:t>
              </a:r>
              <a:endParaRPr kumimoji="1" lang="en-US" altLang="zh-CN" b="1"/>
            </a:p>
          </p:txBody>
        </p:sp>
        <p:sp>
          <p:nvSpPr>
            <p:cNvPr id="6205" name="Rectangle 61"/>
            <p:cNvSpPr>
              <a:spLocks noChangeArrowheads="1"/>
            </p:cNvSpPr>
            <p:nvPr/>
          </p:nvSpPr>
          <p:spPr bwMode="auto">
            <a:xfrm>
              <a:off x="2309" y="2900"/>
              <a:ext cx="9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900" b="1">
                  <a:solidFill>
                    <a:srgbClr val="000000"/>
                  </a:solidFill>
                </a:rPr>
                <a:t>2</a:t>
              </a:r>
              <a:endParaRPr kumimoji="1" lang="zh-CN" altLang="en-US" b="1"/>
            </a:p>
          </p:txBody>
        </p:sp>
        <p:sp>
          <p:nvSpPr>
            <p:cNvPr id="6206" name="Rectangle 62"/>
            <p:cNvSpPr>
              <a:spLocks noChangeArrowheads="1"/>
            </p:cNvSpPr>
            <p:nvPr/>
          </p:nvSpPr>
          <p:spPr bwMode="auto">
            <a:xfrm>
              <a:off x="2262" y="3077"/>
              <a:ext cx="12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900" b="1" i="1">
                  <a:solidFill>
                    <a:srgbClr val="000000"/>
                  </a:solidFill>
                </a:rPr>
                <a:t>N</a:t>
              </a:r>
              <a:endParaRPr kumimoji="1" lang="en-US" altLang="zh-CN" b="1"/>
            </a:p>
          </p:txBody>
        </p:sp>
        <p:sp>
          <p:nvSpPr>
            <p:cNvPr id="6207" name="Rectangle 63"/>
            <p:cNvSpPr>
              <a:spLocks noChangeArrowheads="1"/>
            </p:cNvSpPr>
            <p:nvPr/>
          </p:nvSpPr>
          <p:spPr bwMode="auto">
            <a:xfrm>
              <a:off x="2044" y="2920"/>
              <a:ext cx="26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200" b="1" i="1">
                  <a:solidFill>
                    <a:srgbClr val="000000"/>
                  </a:solidFill>
                </a:rPr>
                <a:t>W</a:t>
              </a:r>
              <a:endParaRPr kumimoji="1" lang="en-US" altLang="zh-CN" b="1"/>
            </a:p>
          </p:txBody>
        </p:sp>
        <p:sp>
          <p:nvSpPr>
            <p:cNvPr id="6208" name="Rectangle 64"/>
            <p:cNvSpPr>
              <a:spLocks noChangeArrowheads="1"/>
            </p:cNvSpPr>
            <p:nvPr/>
          </p:nvSpPr>
          <p:spPr bwMode="auto">
            <a:xfrm>
              <a:off x="2306" y="3355"/>
              <a:ext cx="9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900" b="1">
                  <a:solidFill>
                    <a:srgbClr val="000000"/>
                  </a:solidFill>
                </a:rPr>
                <a:t>3</a:t>
              </a:r>
              <a:endParaRPr kumimoji="1" lang="zh-CN" altLang="en-US" b="1"/>
            </a:p>
          </p:txBody>
        </p:sp>
        <p:sp>
          <p:nvSpPr>
            <p:cNvPr id="6209" name="Rectangle 65"/>
            <p:cNvSpPr>
              <a:spLocks noChangeArrowheads="1"/>
            </p:cNvSpPr>
            <p:nvPr/>
          </p:nvSpPr>
          <p:spPr bwMode="auto">
            <a:xfrm>
              <a:off x="2265" y="3532"/>
              <a:ext cx="12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900" b="1" i="1">
                  <a:solidFill>
                    <a:srgbClr val="000000"/>
                  </a:solidFill>
                </a:rPr>
                <a:t>N</a:t>
              </a:r>
              <a:endParaRPr kumimoji="1" lang="en-US" altLang="zh-CN" b="1"/>
            </a:p>
          </p:txBody>
        </p:sp>
        <p:sp>
          <p:nvSpPr>
            <p:cNvPr id="6210" name="Rectangle 66"/>
            <p:cNvSpPr>
              <a:spLocks noChangeArrowheads="1"/>
            </p:cNvSpPr>
            <p:nvPr/>
          </p:nvSpPr>
          <p:spPr bwMode="auto">
            <a:xfrm>
              <a:off x="2051" y="3375"/>
              <a:ext cx="26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200" b="1" i="1">
                  <a:solidFill>
                    <a:srgbClr val="000000"/>
                  </a:solidFill>
                </a:rPr>
                <a:t>W</a:t>
              </a:r>
              <a:endParaRPr kumimoji="1" lang="en-US" altLang="zh-CN" b="1"/>
            </a:p>
          </p:txBody>
        </p:sp>
        <p:sp>
          <p:nvSpPr>
            <p:cNvPr id="6211" name="Rectangle 67"/>
            <p:cNvSpPr>
              <a:spLocks noChangeArrowheads="1"/>
            </p:cNvSpPr>
            <p:nvPr/>
          </p:nvSpPr>
          <p:spPr bwMode="auto">
            <a:xfrm>
              <a:off x="920" y="3650"/>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6212" name="Rectangle 68"/>
            <p:cNvSpPr>
              <a:spLocks noChangeArrowheads="1"/>
            </p:cNvSpPr>
            <p:nvPr/>
          </p:nvSpPr>
          <p:spPr bwMode="auto">
            <a:xfrm>
              <a:off x="923" y="3209"/>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6213" name="Rectangle 69"/>
            <p:cNvSpPr>
              <a:spLocks noChangeArrowheads="1"/>
            </p:cNvSpPr>
            <p:nvPr/>
          </p:nvSpPr>
          <p:spPr bwMode="auto">
            <a:xfrm>
              <a:off x="931" y="2752"/>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6214" name="Rectangle 70"/>
            <p:cNvSpPr>
              <a:spLocks noChangeArrowheads="1"/>
            </p:cNvSpPr>
            <p:nvPr/>
          </p:nvSpPr>
          <p:spPr bwMode="auto">
            <a:xfrm>
              <a:off x="931" y="2311"/>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6215" name="Rectangle 71"/>
            <p:cNvSpPr>
              <a:spLocks noChangeArrowheads="1"/>
            </p:cNvSpPr>
            <p:nvPr/>
          </p:nvSpPr>
          <p:spPr bwMode="auto">
            <a:xfrm>
              <a:off x="184" y="386"/>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[0]</a:t>
              </a:r>
              <a:endParaRPr kumimoji="1" lang="en-US" altLang="zh-CN" sz="2800" b="1"/>
            </a:p>
          </p:txBody>
        </p:sp>
        <p:sp>
          <p:nvSpPr>
            <p:cNvPr id="6216" name="Rectangle 72"/>
            <p:cNvSpPr>
              <a:spLocks noChangeArrowheads="1"/>
            </p:cNvSpPr>
            <p:nvPr/>
          </p:nvSpPr>
          <p:spPr bwMode="auto">
            <a:xfrm>
              <a:off x="184" y="1729"/>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[3]</a:t>
              </a:r>
              <a:endParaRPr kumimoji="1" lang="en-US" altLang="zh-CN" sz="2800" b="1"/>
            </a:p>
          </p:txBody>
        </p:sp>
        <p:sp>
          <p:nvSpPr>
            <p:cNvPr id="6217" name="Rectangle 73"/>
            <p:cNvSpPr>
              <a:spLocks noChangeArrowheads="1"/>
            </p:cNvSpPr>
            <p:nvPr/>
          </p:nvSpPr>
          <p:spPr bwMode="auto">
            <a:xfrm>
              <a:off x="184" y="831"/>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[1]</a:t>
              </a:r>
              <a:endParaRPr kumimoji="1" lang="en-US" altLang="zh-CN" sz="2800" b="1"/>
            </a:p>
          </p:txBody>
        </p:sp>
        <p:sp>
          <p:nvSpPr>
            <p:cNvPr id="6218" name="Rectangle 74"/>
            <p:cNvSpPr>
              <a:spLocks noChangeArrowheads="1"/>
            </p:cNvSpPr>
            <p:nvPr/>
          </p:nvSpPr>
          <p:spPr bwMode="auto">
            <a:xfrm>
              <a:off x="184" y="1276"/>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[2]</a:t>
              </a:r>
              <a:endParaRPr kumimoji="1" lang="en-US" altLang="zh-CN" sz="2800" b="1"/>
            </a:p>
          </p:txBody>
        </p:sp>
        <p:sp>
          <p:nvSpPr>
            <p:cNvPr id="6219" name="Rectangle 75"/>
            <p:cNvSpPr>
              <a:spLocks noChangeArrowheads="1"/>
            </p:cNvSpPr>
            <p:nvPr/>
          </p:nvSpPr>
          <p:spPr bwMode="auto">
            <a:xfrm>
              <a:off x="184" y="2174"/>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[4]</a:t>
              </a:r>
              <a:endParaRPr kumimoji="1" lang="en-US" altLang="zh-CN" sz="2800" b="1"/>
            </a:p>
          </p:txBody>
        </p:sp>
        <p:sp>
          <p:nvSpPr>
            <p:cNvPr id="6220" name="Rectangle 76"/>
            <p:cNvSpPr>
              <a:spLocks noChangeArrowheads="1"/>
            </p:cNvSpPr>
            <p:nvPr/>
          </p:nvSpPr>
          <p:spPr bwMode="auto">
            <a:xfrm>
              <a:off x="184" y="2619"/>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[5]</a:t>
              </a:r>
              <a:endParaRPr kumimoji="1" lang="en-US" altLang="zh-CN" sz="2800" b="1"/>
            </a:p>
          </p:txBody>
        </p:sp>
        <p:sp>
          <p:nvSpPr>
            <p:cNvPr id="6221" name="Rectangle 77"/>
            <p:cNvSpPr>
              <a:spLocks noChangeArrowheads="1"/>
            </p:cNvSpPr>
            <p:nvPr/>
          </p:nvSpPr>
          <p:spPr bwMode="auto">
            <a:xfrm>
              <a:off x="184" y="3064"/>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[6]</a:t>
              </a:r>
              <a:endParaRPr kumimoji="1" lang="en-US" altLang="zh-CN" sz="2800" b="1"/>
            </a:p>
          </p:txBody>
        </p:sp>
        <p:sp>
          <p:nvSpPr>
            <p:cNvPr id="6222" name="Rectangle 78"/>
            <p:cNvSpPr>
              <a:spLocks noChangeArrowheads="1"/>
            </p:cNvSpPr>
            <p:nvPr/>
          </p:nvSpPr>
          <p:spPr bwMode="auto">
            <a:xfrm>
              <a:off x="184" y="3509"/>
              <a:ext cx="4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x</a:t>
              </a:r>
              <a:r>
                <a:rPr kumimoji="1" lang="en-US" altLang="zh-CN" sz="2800" b="1">
                  <a:solidFill>
                    <a:srgbClr val="000000"/>
                  </a:solidFill>
                </a:rPr>
                <a:t>[7]</a:t>
              </a:r>
              <a:endParaRPr kumimoji="1" lang="en-US" altLang="zh-CN" sz="2800" b="1"/>
            </a:p>
          </p:txBody>
        </p:sp>
        <p:sp>
          <p:nvSpPr>
            <p:cNvPr id="6223" name="Freeform 79"/>
            <p:cNvSpPr>
              <a:spLocks/>
            </p:cNvSpPr>
            <p:nvPr/>
          </p:nvSpPr>
          <p:spPr bwMode="auto">
            <a:xfrm>
              <a:off x="889" y="555"/>
              <a:ext cx="1190" cy="1"/>
            </a:xfrm>
            <a:custGeom>
              <a:avLst/>
              <a:gdLst>
                <a:gd name="T0" fmla="*/ 0 w 1190"/>
                <a:gd name="T1" fmla="*/ 1190 w 1190"/>
                <a:gd name="T2" fmla="*/ 0 w 1190"/>
                <a:gd name="T3" fmla="*/ 821 w 1190"/>
              </a:gdLst>
              <a:ahLst/>
              <a:cxnLst>
                <a:cxn ang="0">
                  <a:pos x="T0" y="0"/>
                </a:cxn>
                <a:cxn ang="0">
                  <a:pos x="T1" y="0"/>
                </a:cxn>
                <a:cxn ang="0">
                  <a:pos x="T2" y="0"/>
                </a:cxn>
                <a:cxn ang="0">
                  <a:pos x="T3" y="0"/>
                </a:cxn>
              </a:cxnLst>
              <a:rect l="0" t="0" r="r" b="b"/>
              <a:pathLst>
                <a:path w="1190">
                  <a:moveTo>
                    <a:pt x="0" y="0"/>
                  </a:moveTo>
                  <a:lnTo>
                    <a:pt x="1190" y="0"/>
                  </a:lnTo>
                  <a:lnTo>
                    <a:pt x="0" y="0"/>
                  </a:lnTo>
                  <a:lnTo>
                    <a:pt x="82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24" name="Freeform 80"/>
            <p:cNvSpPr>
              <a:spLocks/>
            </p:cNvSpPr>
            <p:nvPr/>
          </p:nvSpPr>
          <p:spPr bwMode="auto">
            <a:xfrm>
              <a:off x="1694" y="513"/>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5" name="Freeform 81"/>
            <p:cNvSpPr>
              <a:spLocks/>
            </p:cNvSpPr>
            <p:nvPr/>
          </p:nvSpPr>
          <p:spPr bwMode="auto">
            <a:xfrm>
              <a:off x="2079" y="555"/>
              <a:ext cx="302" cy="1"/>
            </a:xfrm>
            <a:custGeom>
              <a:avLst/>
              <a:gdLst>
                <a:gd name="T0" fmla="*/ 0 w 302"/>
                <a:gd name="T1" fmla="*/ 302 w 302"/>
                <a:gd name="T2" fmla="*/ 0 w 302"/>
                <a:gd name="T3" fmla="*/ 134 w 302"/>
              </a:gdLst>
              <a:ahLst/>
              <a:cxnLst>
                <a:cxn ang="0">
                  <a:pos x="T0" y="0"/>
                </a:cxn>
                <a:cxn ang="0">
                  <a:pos x="T1" y="0"/>
                </a:cxn>
                <a:cxn ang="0">
                  <a:pos x="T2" y="0"/>
                </a:cxn>
                <a:cxn ang="0">
                  <a:pos x="T3" y="0"/>
                </a:cxn>
              </a:cxnLst>
              <a:rect l="0" t="0" r="r" b="b"/>
              <a:pathLst>
                <a:path w="302">
                  <a:moveTo>
                    <a:pt x="0" y="0"/>
                  </a:moveTo>
                  <a:lnTo>
                    <a:pt x="302" y="0"/>
                  </a:lnTo>
                  <a:lnTo>
                    <a:pt x="0" y="0"/>
                  </a:lnTo>
                  <a:lnTo>
                    <a:pt x="13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26" name="Freeform 82"/>
            <p:cNvSpPr>
              <a:spLocks/>
            </p:cNvSpPr>
            <p:nvPr/>
          </p:nvSpPr>
          <p:spPr bwMode="auto">
            <a:xfrm>
              <a:off x="2205" y="513"/>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227" name="Group 83"/>
          <p:cNvGrpSpPr>
            <a:grpSpLocks/>
          </p:cNvGrpSpPr>
          <p:nvPr/>
        </p:nvGrpSpPr>
        <p:grpSpPr bwMode="auto">
          <a:xfrm>
            <a:off x="5251450" y="1489603"/>
            <a:ext cx="2541588" cy="1477962"/>
            <a:chOff x="2348" y="513"/>
            <a:chExt cx="1601" cy="931"/>
          </a:xfrm>
        </p:grpSpPr>
        <p:sp>
          <p:nvSpPr>
            <p:cNvPr id="6228" name="Freeform 84"/>
            <p:cNvSpPr>
              <a:spLocks/>
            </p:cNvSpPr>
            <p:nvPr/>
          </p:nvSpPr>
          <p:spPr bwMode="auto">
            <a:xfrm>
              <a:off x="2348" y="555"/>
              <a:ext cx="1282" cy="1"/>
            </a:xfrm>
            <a:custGeom>
              <a:avLst/>
              <a:gdLst>
                <a:gd name="T0" fmla="*/ 0 w 1282"/>
                <a:gd name="T1" fmla="*/ 1282 w 1282"/>
                <a:gd name="T2" fmla="*/ 0 w 1282"/>
                <a:gd name="T3" fmla="*/ 888 w 1282"/>
              </a:gdLst>
              <a:ahLst/>
              <a:cxnLst>
                <a:cxn ang="0">
                  <a:pos x="T0" y="0"/>
                </a:cxn>
                <a:cxn ang="0">
                  <a:pos x="T1" y="0"/>
                </a:cxn>
                <a:cxn ang="0">
                  <a:pos x="T2" y="0"/>
                </a:cxn>
                <a:cxn ang="0">
                  <a:pos x="T3" y="0"/>
                </a:cxn>
              </a:cxnLst>
              <a:rect l="0" t="0" r="r" b="b"/>
              <a:pathLst>
                <a:path w="1282">
                  <a:moveTo>
                    <a:pt x="0" y="0"/>
                  </a:moveTo>
                  <a:lnTo>
                    <a:pt x="1282" y="0"/>
                  </a:lnTo>
                  <a:lnTo>
                    <a:pt x="0" y="0"/>
                  </a:lnTo>
                  <a:lnTo>
                    <a:pt x="88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29" name="Freeform 85"/>
            <p:cNvSpPr>
              <a:spLocks/>
            </p:cNvSpPr>
            <p:nvPr/>
          </p:nvSpPr>
          <p:spPr bwMode="auto">
            <a:xfrm>
              <a:off x="3228" y="513"/>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0" name="Freeform 86"/>
            <p:cNvSpPr>
              <a:spLocks/>
            </p:cNvSpPr>
            <p:nvPr/>
          </p:nvSpPr>
          <p:spPr bwMode="auto">
            <a:xfrm>
              <a:off x="3630" y="555"/>
              <a:ext cx="319" cy="1"/>
            </a:xfrm>
            <a:custGeom>
              <a:avLst/>
              <a:gdLst>
                <a:gd name="T0" fmla="*/ 0 w 319"/>
                <a:gd name="T1" fmla="*/ 319 w 319"/>
                <a:gd name="T2" fmla="*/ 0 w 319"/>
                <a:gd name="T3" fmla="*/ 151 w 319"/>
              </a:gdLst>
              <a:ahLst/>
              <a:cxnLst>
                <a:cxn ang="0">
                  <a:pos x="T0" y="0"/>
                </a:cxn>
                <a:cxn ang="0">
                  <a:pos x="T1" y="0"/>
                </a:cxn>
                <a:cxn ang="0">
                  <a:pos x="T2" y="0"/>
                </a:cxn>
                <a:cxn ang="0">
                  <a:pos x="T3" y="0"/>
                </a:cxn>
              </a:cxnLst>
              <a:rect l="0" t="0" r="r" b="b"/>
              <a:pathLst>
                <a:path w="319">
                  <a:moveTo>
                    <a:pt x="0" y="0"/>
                  </a:moveTo>
                  <a:lnTo>
                    <a:pt x="319" y="0"/>
                  </a:lnTo>
                  <a:lnTo>
                    <a:pt x="0" y="0"/>
                  </a:lnTo>
                  <a:lnTo>
                    <a:pt x="15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31" name="Freeform 87"/>
            <p:cNvSpPr>
              <a:spLocks/>
            </p:cNvSpPr>
            <p:nvPr/>
          </p:nvSpPr>
          <p:spPr bwMode="auto">
            <a:xfrm>
              <a:off x="3773" y="513"/>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2" name="Freeform 88"/>
            <p:cNvSpPr>
              <a:spLocks/>
            </p:cNvSpPr>
            <p:nvPr/>
          </p:nvSpPr>
          <p:spPr bwMode="auto">
            <a:xfrm>
              <a:off x="2348" y="555"/>
              <a:ext cx="1190" cy="889"/>
            </a:xfrm>
            <a:custGeom>
              <a:avLst/>
              <a:gdLst>
                <a:gd name="T0" fmla="*/ 0 w 1190"/>
                <a:gd name="T1" fmla="*/ 889 h 889"/>
                <a:gd name="T2" fmla="*/ 1190 w 1190"/>
                <a:gd name="T3" fmla="*/ 0 h 889"/>
                <a:gd name="T4" fmla="*/ 0 w 1190"/>
                <a:gd name="T5" fmla="*/ 889 h 889"/>
                <a:gd name="T6" fmla="*/ 771 w 1190"/>
                <a:gd name="T7" fmla="*/ 310 h 889"/>
              </a:gdLst>
              <a:ahLst/>
              <a:cxnLst>
                <a:cxn ang="0">
                  <a:pos x="T0" y="T1"/>
                </a:cxn>
                <a:cxn ang="0">
                  <a:pos x="T2" y="T3"/>
                </a:cxn>
                <a:cxn ang="0">
                  <a:pos x="T4" y="T5"/>
                </a:cxn>
                <a:cxn ang="0">
                  <a:pos x="T6" y="T7"/>
                </a:cxn>
              </a:cxnLst>
              <a:rect l="0" t="0" r="r" b="b"/>
              <a:pathLst>
                <a:path w="1190" h="889">
                  <a:moveTo>
                    <a:pt x="0" y="889"/>
                  </a:moveTo>
                  <a:lnTo>
                    <a:pt x="1190" y="0"/>
                  </a:lnTo>
                  <a:lnTo>
                    <a:pt x="0" y="889"/>
                  </a:lnTo>
                  <a:lnTo>
                    <a:pt x="771" y="31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33" name="Freeform 89"/>
            <p:cNvSpPr>
              <a:spLocks/>
            </p:cNvSpPr>
            <p:nvPr/>
          </p:nvSpPr>
          <p:spPr bwMode="auto">
            <a:xfrm>
              <a:off x="3085" y="823"/>
              <a:ext cx="93" cy="84"/>
            </a:xfrm>
            <a:custGeom>
              <a:avLst/>
              <a:gdLst>
                <a:gd name="T0" fmla="*/ 0 w 93"/>
                <a:gd name="T1" fmla="*/ 17 h 84"/>
                <a:gd name="T2" fmla="*/ 93 w 93"/>
                <a:gd name="T3" fmla="*/ 0 h 84"/>
                <a:gd name="T4" fmla="*/ 51 w 93"/>
                <a:gd name="T5" fmla="*/ 84 h 84"/>
                <a:gd name="T6" fmla="*/ 0 w 93"/>
                <a:gd name="T7" fmla="*/ 17 h 84"/>
              </a:gdLst>
              <a:ahLst/>
              <a:cxnLst>
                <a:cxn ang="0">
                  <a:pos x="T0" y="T1"/>
                </a:cxn>
                <a:cxn ang="0">
                  <a:pos x="T2" y="T3"/>
                </a:cxn>
                <a:cxn ang="0">
                  <a:pos x="T4" y="T5"/>
                </a:cxn>
                <a:cxn ang="0">
                  <a:pos x="T6" y="T7"/>
                </a:cxn>
              </a:cxnLst>
              <a:rect l="0" t="0" r="r" b="b"/>
              <a:pathLst>
                <a:path w="93" h="84">
                  <a:moveTo>
                    <a:pt x="0" y="17"/>
                  </a:moveTo>
                  <a:lnTo>
                    <a:pt x="93" y="0"/>
                  </a:lnTo>
                  <a:lnTo>
                    <a:pt x="51" y="84"/>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234" name="Group 90"/>
          <p:cNvGrpSpPr>
            <a:grpSpLocks/>
          </p:cNvGrpSpPr>
          <p:nvPr/>
        </p:nvGrpSpPr>
        <p:grpSpPr bwMode="auto">
          <a:xfrm>
            <a:off x="5251450" y="2194453"/>
            <a:ext cx="2541588" cy="1479550"/>
            <a:chOff x="2348" y="957"/>
            <a:chExt cx="1601" cy="932"/>
          </a:xfrm>
        </p:grpSpPr>
        <p:sp>
          <p:nvSpPr>
            <p:cNvPr id="6235" name="Freeform 91"/>
            <p:cNvSpPr>
              <a:spLocks/>
            </p:cNvSpPr>
            <p:nvPr/>
          </p:nvSpPr>
          <p:spPr bwMode="auto">
            <a:xfrm>
              <a:off x="2348" y="999"/>
              <a:ext cx="1282" cy="1"/>
            </a:xfrm>
            <a:custGeom>
              <a:avLst/>
              <a:gdLst>
                <a:gd name="T0" fmla="*/ 0 w 1282"/>
                <a:gd name="T1" fmla="*/ 1282 w 1282"/>
                <a:gd name="T2" fmla="*/ 0 w 1282"/>
                <a:gd name="T3" fmla="*/ 888 w 1282"/>
              </a:gdLst>
              <a:ahLst/>
              <a:cxnLst>
                <a:cxn ang="0">
                  <a:pos x="T0" y="0"/>
                </a:cxn>
                <a:cxn ang="0">
                  <a:pos x="T1" y="0"/>
                </a:cxn>
                <a:cxn ang="0">
                  <a:pos x="T2" y="0"/>
                </a:cxn>
                <a:cxn ang="0">
                  <a:pos x="T3" y="0"/>
                </a:cxn>
              </a:cxnLst>
              <a:rect l="0" t="0" r="r" b="b"/>
              <a:pathLst>
                <a:path w="1282">
                  <a:moveTo>
                    <a:pt x="0" y="0"/>
                  </a:moveTo>
                  <a:lnTo>
                    <a:pt x="1282" y="0"/>
                  </a:lnTo>
                  <a:lnTo>
                    <a:pt x="0" y="0"/>
                  </a:lnTo>
                  <a:lnTo>
                    <a:pt x="88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36" name="Freeform 92"/>
            <p:cNvSpPr>
              <a:spLocks/>
            </p:cNvSpPr>
            <p:nvPr/>
          </p:nvSpPr>
          <p:spPr bwMode="auto">
            <a:xfrm>
              <a:off x="3228" y="957"/>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7" name="Freeform 93"/>
            <p:cNvSpPr>
              <a:spLocks/>
            </p:cNvSpPr>
            <p:nvPr/>
          </p:nvSpPr>
          <p:spPr bwMode="auto">
            <a:xfrm>
              <a:off x="3630" y="999"/>
              <a:ext cx="319" cy="1"/>
            </a:xfrm>
            <a:custGeom>
              <a:avLst/>
              <a:gdLst>
                <a:gd name="T0" fmla="*/ 0 w 319"/>
                <a:gd name="T1" fmla="*/ 319 w 319"/>
                <a:gd name="T2" fmla="*/ 0 w 319"/>
                <a:gd name="T3" fmla="*/ 151 w 319"/>
              </a:gdLst>
              <a:ahLst/>
              <a:cxnLst>
                <a:cxn ang="0">
                  <a:pos x="T0" y="0"/>
                </a:cxn>
                <a:cxn ang="0">
                  <a:pos x="T1" y="0"/>
                </a:cxn>
                <a:cxn ang="0">
                  <a:pos x="T2" y="0"/>
                </a:cxn>
                <a:cxn ang="0">
                  <a:pos x="T3" y="0"/>
                </a:cxn>
              </a:cxnLst>
              <a:rect l="0" t="0" r="r" b="b"/>
              <a:pathLst>
                <a:path w="319">
                  <a:moveTo>
                    <a:pt x="0" y="0"/>
                  </a:moveTo>
                  <a:lnTo>
                    <a:pt x="319" y="0"/>
                  </a:lnTo>
                  <a:lnTo>
                    <a:pt x="0" y="0"/>
                  </a:lnTo>
                  <a:lnTo>
                    <a:pt x="15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38" name="Freeform 94"/>
            <p:cNvSpPr>
              <a:spLocks/>
            </p:cNvSpPr>
            <p:nvPr/>
          </p:nvSpPr>
          <p:spPr bwMode="auto">
            <a:xfrm>
              <a:off x="3773" y="957"/>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9" name="Freeform 95"/>
            <p:cNvSpPr>
              <a:spLocks/>
            </p:cNvSpPr>
            <p:nvPr/>
          </p:nvSpPr>
          <p:spPr bwMode="auto">
            <a:xfrm>
              <a:off x="2348" y="999"/>
              <a:ext cx="1190" cy="890"/>
            </a:xfrm>
            <a:custGeom>
              <a:avLst/>
              <a:gdLst>
                <a:gd name="T0" fmla="*/ 0 w 1190"/>
                <a:gd name="T1" fmla="*/ 890 h 890"/>
                <a:gd name="T2" fmla="*/ 1190 w 1190"/>
                <a:gd name="T3" fmla="*/ 0 h 890"/>
                <a:gd name="T4" fmla="*/ 0 w 1190"/>
                <a:gd name="T5" fmla="*/ 890 h 890"/>
                <a:gd name="T6" fmla="*/ 771 w 1190"/>
                <a:gd name="T7" fmla="*/ 311 h 890"/>
              </a:gdLst>
              <a:ahLst/>
              <a:cxnLst>
                <a:cxn ang="0">
                  <a:pos x="T0" y="T1"/>
                </a:cxn>
                <a:cxn ang="0">
                  <a:pos x="T2" y="T3"/>
                </a:cxn>
                <a:cxn ang="0">
                  <a:pos x="T4" y="T5"/>
                </a:cxn>
                <a:cxn ang="0">
                  <a:pos x="T6" y="T7"/>
                </a:cxn>
              </a:cxnLst>
              <a:rect l="0" t="0" r="r" b="b"/>
              <a:pathLst>
                <a:path w="1190" h="890">
                  <a:moveTo>
                    <a:pt x="0" y="890"/>
                  </a:moveTo>
                  <a:lnTo>
                    <a:pt x="1190" y="0"/>
                  </a:lnTo>
                  <a:lnTo>
                    <a:pt x="0" y="890"/>
                  </a:lnTo>
                  <a:lnTo>
                    <a:pt x="771" y="311"/>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0" name="Freeform 96"/>
            <p:cNvSpPr>
              <a:spLocks/>
            </p:cNvSpPr>
            <p:nvPr/>
          </p:nvSpPr>
          <p:spPr bwMode="auto">
            <a:xfrm>
              <a:off x="3085" y="1268"/>
              <a:ext cx="93" cy="84"/>
            </a:xfrm>
            <a:custGeom>
              <a:avLst/>
              <a:gdLst>
                <a:gd name="T0" fmla="*/ 0 w 93"/>
                <a:gd name="T1" fmla="*/ 17 h 84"/>
                <a:gd name="T2" fmla="*/ 93 w 93"/>
                <a:gd name="T3" fmla="*/ 0 h 84"/>
                <a:gd name="T4" fmla="*/ 51 w 93"/>
                <a:gd name="T5" fmla="*/ 84 h 84"/>
                <a:gd name="T6" fmla="*/ 0 w 93"/>
                <a:gd name="T7" fmla="*/ 17 h 84"/>
              </a:gdLst>
              <a:ahLst/>
              <a:cxnLst>
                <a:cxn ang="0">
                  <a:pos x="T0" y="T1"/>
                </a:cxn>
                <a:cxn ang="0">
                  <a:pos x="T2" y="T3"/>
                </a:cxn>
                <a:cxn ang="0">
                  <a:pos x="T4" y="T5"/>
                </a:cxn>
                <a:cxn ang="0">
                  <a:pos x="T6" y="T7"/>
                </a:cxn>
              </a:cxnLst>
              <a:rect l="0" t="0" r="r" b="b"/>
              <a:pathLst>
                <a:path w="93" h="84">
                  <a:moveTo>
                    <a:pt x="0" y="17"/>
                  </a:moveTo>
                  <a:lnTo>
                    <a:pt x="93" y="0"/>
                  </a:lnTo>
                  <a:lnTo>
                    <a:pt x="51" y="84"/>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241" name="Group 97"/>
          <p:cNvGrpSpPr>
            <a:grpSpLocks/>
          </p:cNvGrpSpPr>
          <p:nvPr/>
        </p:nvGrpSpPr>
        <p:grpSpPr bwMode="auto">
          <a:xfrm>
            <a:off x="7159631" y="2461156"/>
            <a:ext cx="477838" cy="487363"/>
            <a:chOff x="3550" y="1125"/>
            <a:chExt cx="301" cy="307"/>
          </a:xfrm>
        </p:grpSpPr>
        <p:sp>
          <p:nvSpPr>
            <p:cNvPr id="6242" name="Rectangle 98"/>
            <p:cNvSpPr>
              <a:spLocks noChangeArrowheads="1"/>
            </p:cNvSpPr>
            <p:nvPr/>
          </p:nvSpPr>
          <p:spPr bwMode="auto">
            <a:xfrm>
              <a:off x="3772" y="1125"/>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6243" name="Rectangle 99"/>
            <p:cNvSpPr>
              <a:spLocks noChangeArrowheads="1"/>
            </p:cNvSpPr>
            <p:nvPr/>
          </p:nvSpPr>
          <p:spPr bwMode="auto">
            <a:xfrm>
              <a:off x="3735" y="1277"/>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6244" name="Rectangle 100"/>
            <p:cNvSpPr>
              <a:spLocks noChangeArrowheads="1"/>
            </p:cNvSpPr>
            <p:nvPr/>
          </p:nvSpPr>
          <p:spPr bwMode="auto">
            <a:xfrm>
              <a:off x="3550" y="1141"/>
              <a:ext cx="22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grpSp>
      <p:grpSp>
        <p:nvGrpSpPr>
          <p:cNvPr id="6245" name="Group 101"/>
          <p:cNvGrpSpPr>
            <a:grpSpLocks/>
          </p:cNvGrpSpPr>
          <p:nvPr/>
        </p:nvGrpSpPr>
        <p:grpSpPr bwMode="auto">
          <a:xfrm>
            <a:off x="7121531" y="3207282"/>
            <a:ext cx="484188" cy="487363"/>
            <a:chOff x="3526" y="1595"/>
            <a:chExt cx="305" cy="307"/>
          </a:xfrm>
        </p:grpSpPr>
        <p:sp>
          <p:nvSpPr>
            <p:cNvPr id="6246" name="Rectangle 102"/>
            <p:cNvSpPr>
              <a:spLocks noChangeArrowheads="1"/>
            </p:cNvSpPr>
            <p:nvPr/>
          </p:nvSpPr>
          <p:spPr bwMode="auto">
            <a:xfrm>
              <a:off x="3752" y="1595"/>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2</a:t>
              </a:r>
              <a:endParaRPr kumimoji="1" lang="zh-CN" altLang="en-US" b="1"/>
            </a:p>
          </p:txBody>
        </p:sp>
        <p:sp>
          <p:nvSpPr>
            <p:cNvPr id="6247" name="Rectangle 103"/>
            <p:cNvSpPr>
              <a:spLocks noChangeArrowheads="1"/>
            </p:cNvSpPr>
            <p:nvPr/>
          </p:nvSpPr>
          <p:spPr bwMode="auto">
            <a:xfrm>
              <a:off x="3712" y="1747"/>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6248" name="Rectangle 104"/>
            <p:cNvSpPr>
              <a:spLocks noChangeArrowheads="1"/>
            </p:cNvSpPr>
            <p:nvPr/>
          </p:nvSpPr>
          <p:spPr bwMode="auto">
            <a:xfrm>
              <a:off x="3526" y="1611"/>
              <a:ext cx="22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grpSp>
      <p:grpSp>
        <p:nvGrpSpPr>
          <p:cNvPr id="6249" name="Group 105"/>
          <p:cNvGrpSpPr>
            <a:grpSpLocks/>
          </p:cNvGrpSpPr>
          <p:nvPr/>
        </p:nvGrpSpPr>
        <p:grpSpPr bwMode="auto">
          <a:xfrm>
            <a:off x="7793039" y="1341966"/>
            <a:ext cx="1703387" cy="1185863"/>
            <a:chOff x="3949" y="420"/>
            <a:chExt cx="1073" cy="747"/>
          </a:xfrm>
        </p:grpSpPr>
        <p:grpSp>
          <p:nvGrpSpPr>
            <p:cNvPr id="6250" name="Group 106"/>
            <p:cNvGrpSpPr>
              <a:grpSpLocks/>
            </p:cNvGrpSpPr>
            <p:nvPr/>
          </p:nvGrpSpPr>
          <p:grpSpPr bwMode="auto">
            <a:xfrm>
              <a:off x="3949" y="420"/>
              <a:ext cx="595" cy="747"/>
              <a:chOff x="3949" y="420"/>
              <a:chExt cx="595" cy="747"/>
            </a:xfrm>
          </p:grpSpPr>
          <p:sp>
            <p:nvSpPr>
              <p:cNvPr id="6251" name="Rectangle 107"/>
              <p:cNvSpPr>
                <a:spLocks noChangeArrowheads="1"/>
              </p:cNvSpPr>
              <p:nvPr/>
            </p:nvSpPr>
            <p:spPr bwMode="auto">
              <a:xfrm>
                <a:off x="3949" y="420"/>
                <a:ext cx="595" cy="747"/>
              </a:xfrm>
              <a:prstGeom prst="rect">
                <a:avLst/>
              </a:prstGeom>
              <a:solidFill>
                <a:srgbClr val="FFFFFF"/>
              </a:solidFill>
              <a:ln w="12700">
                <a:solidFill>
                  <a:srgbClr val="000000"/>
                </a:solidFill>
                <a:miter lim="800000"/>
                <a:headEnd/>
                <a:tailEnd/>
              </a:ln>
            </p:spPr>
            <p:txBody>
              <a:bodyPr/>
              <a:lstStyle/>
              <a:p>
                <a:endParaRPr lang="zh-CN" altLang="en-US"/>
              </a:p>
            </p:txBody>
          </p:sp>
          <p:sp>
            <p:nvSpPr>
              <p:cNvPr id="6252" name="Rectangle 108"/>
              <p:cNvSpPr>
                <a:spLocks noChangeArrowheads="1"/>
              </p:cNvSpPr>
              <p:nvPr/>
            </p:nvSpPr>
            <p:spPr bwMode="auto">
              <a:xfrm>
                <a:off x="4092" y="546"/>
                <a:ext cx="36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800" b="1">
                    <a:solidFill>
                      <a:srgbClr val="000000"/>
                    </a:solidFill>
                  </a:rPr>
                  <a:t>2</a:t>
                </a:r>
                <a:r>
                  <a:rPr kumimoji="1" lang="zh-CN" altLang="en-US" sz="2800" b="1">
                    <a:solidFill>
                      <a:srgbClr val="000000"/>
                    </a:solidFill>
                    <a:latin typeface="Arial" panose="020B0604020202020204" pitchFamily="34" charset="0"/>
                  </a:rPr>
                  <a:t>点</a:t>
                </a:r>
                <a:endParaRPr kumimoji="1" lang="zh-CN" altLang="en-US" sz="2800">
                  <a:solidFill>
                    <a:srgbClr val="000000"/>
                  </a:solidFill>
                  <a:latin typeface="Arial" panose="020B0604020202020204" pitchFamily="34" charset="0"/>
                </a:endParaRPr>
              </a:p>
            </p:txBody>
          </p:sp>
          <p:sp>
            <p:nvSpPr>
              <p:cNvPr id="6253" name="Rectangle 109"/>
              <p:cNvSpPr>
                <a:spLocks noChangeArrowheads="1"/>
              </p:cNvSpPr>
              <p:nvPr/>
            </p:nvSpPr>
            <p:spPr bwMode="auto">
              <a:xfrm>
                <a:off x="4058" y="798"/>
                <a:ext cx="4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600" b="1">
                    <a:solidFill>
                      <a:srgbClr val="000000"/>
                    </a:solidFill>
                  </a:rPr>
                  <a:t>DFT</a:t>
                </a:r>
                <a:endParaRPr kumimoji="1" lang="en-US" altLang="zh-CN" b="1"/>
              </a:p>
            </p:txBody>
          </p:sp>
        </p:grpSp>
        <p:grpSp>
          <p:nvGrpSpPr>
            <p:cNvPr id="6254" name="Group 110"/>
            <p:cNvGrpSpPr>
              <a:grpSpLocks/>
            </p:cNvGrpSpPr>
            <p:nvPr/>
          </p:nvGrpSpPr>
          <p:grpSpPr bwMode="auto">
            <a:xfrm>
              <a:off x="4544" y="513"/>
              <a:ext cx="478" cy="528"/>
              <a:chOff x="4544" y="513"/>
              <a:chExt cx="478" cy="528"/>
            </a:xfrm>
          </p:grpSpPr>
          <p:sp>
            <p:nvSpPr>
              <p:cNvPr id="6255" name="Freeform 111"/>
              <p:cNvSpPr>
                <a:spLocks/>
              </p:cNvSpPr>
              <p:nvPr/>
            </p:nvSpPr>
            <p:spPr bwMode="auto">
              <a:xfrm>
                <a:off x="4544" y="555"/>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56" name="Freeform 112"/>
              <p:cNvSpPr>
                <a:spLocks/>
              </p:cNvSpPr>
              <p:nvPr/>
            </p:nvSpPr>
            <p:spPr bwMode="auto">
              <a:xfrm>
                <a:off x="4754" y="513"/>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7" name="Freeform 113"/>
              <p:cNvSpPr>
                <a:spLocks/>
              </p:cNvSpPr>
              <p:nvPr/>
            </p:nvSpPr>
            <p:spPr bwMode="auto">
              <a:xfrm>
                <a:off x="4544" y="999"/>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58" name="Freeform 114"/>
              <p:cNvSpPr>
                <a:spLocks/>
              </p:cNvSpPr>
              <p:nvPr/>
            </p:nvSpPr>
            <p:spPr bwMode="auto">
              <a:xfrm>
                <a:off x="4754" y="957"/>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6259" name="Group 115"/>
          <p:cNvGrpSpPr>
            <a:grpSpLocks/>
          </p:cNvGrpSpPr>
          <p:nvPr/>
        </p:nvGrpSpPr>
        <p:grpSpPr bwMode="auto">
          <a:xfrm>
            <a:off x="5251451" y="1556278"/>
            <a:ext cx="2595563" cy="1701800"/>
            <a:chOff x="2348" y="555"/>
            <a:chExt cx="1635" cy="1072"/>
          </a:xfrm>
        </p:grpSpPr>
        <p:grpSp>
          <p:nvGrpSpPr>
            <p:cNvPr id="6260" name="Group 116"/>
            <p:cNvGrpSpPr>
              <a:grpSpLocks/>
            </p:cNvGrpSpPr>
            <p:nvPr/>
          </p:nvGrpSpPr>
          <p:grpSpPr bwMode="auto">
            <a:xfrm>
              <a:off x="2348" y="555"/>
              <a:ext cx="1635" cy="931"/>
              <a:chOff x="2348" y="555"/>
              <a:chExt cx="1635" cy="931"/>
            </a:xfrm>
          </p:grpSpPr>
          <p:sp>
            <p:nvSpPr>
              <p:cNvPr id="6261" name="Freeform 117"/>
              <p:cNvSpPr>
                <a:spLocks/>
              </p:cNvSpPr>
              <p:nvPr/>
            </p:nvSpPr>
            <p:spPr bwMode="auto">
              <a:xfrm>
                <a:off x="2348" y="1444"/>
                <a:ext cx="1308" cy="1"/>
              </a:xfrm>
              <a:custGeom>
                <a:avLst/>
                <a:gdLst>
                  <a:gd name="T0" fmla="*/ 0 w 1308"/>
                  <a:gd name="T1" fmla="*/ 1308 w 1308"/>
                  <a:gd name="T2" fmla="*/ 0 w 1308"/>
                  <a:gd name="T3" fmla="*/ 905 w 1308"/>
                </a:gdLst>
                <a:ahLst/>
                <a:cxnLst>
                  <a:cxn ang="0">
                    <a:pos x="T0" y="0"/>
                  </a:cxn>
                  <a:cxn ang="0">
                    <a:pos x="T1" y="0"/>
                  </a:cxn>
                  <a:cxn ang="0">
                    <a:pos x="T2" y="0"/>
                  </a:cxn>
                  <a:cxn ang="0">
                    <a:pos x="T3" y="0"/>
                  </a:cxn>
                </a:cxnLst>
                <a:rect l="0" t="0" r="r" b="b"/>
                <a:pathLst>
                  <a:path w="1308">
                    <a:moveTo>
                      <a:pt x="0" y="0"/>
                    </a:moveTo>
                    <a:lnTo>
                      <a:pt x="1308" y="0"/>
                    </a:lnTo>
                    <a:lnTo>
                      <a:pt x="0" y="0"/>
                    </a:lnTo>
                    <a:lnTo>
                      <a:pt x="905"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62" name="Freeform 118"/>
              <p:cNvSpPr>
                <a:spLocks/>
              </p:cNvSpPr>
              <p:nvPr/>
            </p:nvSpPr>
            <p:spPr bwMode="auto">
              <a:xfrm>
                <a:off x="3245" y="1402"/>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3" name="Freeform 119"/>
              <p:cNvSpPr>
                <a:spLocks/>
              </p:cNvSpPr>
              <p:nvPr/>
            </p:nvSpPr>
            <p:spPr bwMode="auto">
              <a:xfrm>
                <a:off x="3656" y="1444"/>
                <a:ext cx="327" cy="1"/>
              </a:xfrm>
              <a:custGeom>
                <a:avLst/>
                <a:gdLst>
                  <a:gd name="T0" fmla="*/ 0 w 327"/>
                  <a:gd name="T1" fmla="*/ 327 w 327"/>
                  <a:gd name="T2" fmla="*/ 0 w 327"/>
                  <a:gd name="T3" fmla="*/ 150 w 327"/>
                </a:gdLst>
                <a:ahLst/>
                <a:cxnLst>
                  <a:cxn ang="0">
                    <a:pos x="T0" y="0"/>
                  </a:cxn>
                  <a:cxn ang="0">
                    <a:pos x="T1" y="0"/>
                  </a:cxn>
                  <a:cxn ang="0">
                    <a:pos x="T2" y="0"/>
                  </a:cxn>
                  <a:cxn ang="0">
                    <a:pos x="T3" y="0"/>
                  </a:cxn>
                </a:cxnLst>
                <a:rect l="0" t="0" r="r" b="b"/>
                <a:pathLst>
                  <a:path w="327">
                    <a:moveTo>
                      <a:pt x="0" y="0"/>
                    </a:moveTo>
                    <a:lnTo>
                      <a:pt x="327" y="0"/>
                    </a:lnTo>
                    <a:lnTo>
                      <a:pt x="0" y="0"/>
                    </a:lnTo>
                    <a:lnTo>
                      <a:pt x="15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64" name="Freeform 120"/>
              <p:cNvSpPr>
                <a:spLocks/>
              </p:cNvSpPr>
              <p:nvPr/>
            </p:nvSpPr>
            <p:spPr bwMode="auto">
              <a:xfrm>
                <a:off x="3798" y="1402"/>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5" name="Freeform 121"/>
              <p:cNvSpPr>
                <a:spLocks/>
              </p:cNvSpPr>
              <p:nvPr/>
            </p:nvSpPr>
            <p:spPr bwMode="auto">
              <a:xfrm>
                <a:off x="2348" y="555"/>
                <a:ext cx="1190" cy="889"/>
              </a:xfrm>
              <a:custGeom>
                <a:avLst/>
                <a:gdLst>
                  <a:gd name="T0" fmla="*/ 0 w 1190"/>
                  <a:gd name="T1" fmla="*/ 0 h 889"/>
                  <a:gd name="T2" fmla="*/ 1190 w 1190"/>
                  <a:gd name="T3" fmla="*/ 889 h 889"/>
                  <a:gd name="T4" fmla="*/ 0 w 1190"/>
                  <a:gd name="T5" fmla="*/ 0 h 889"/>
                  <a:gd name="T6" fmla="*/ 771 w 1190"/>
                  <a:gd name="T7" fmla="*/ 579 h 889"/>
                </a:gdLst>
                <a:ahLst/>
                <a:cxnLst>
                  <a:cxn ang="0">
                    <a:pos x="T0" y="T1"/>
                  </a:cxn>
                  <a:cxn ang="0">
                    <a:pos x="T2" y="T3"/>
                  </a:cxn>
                  <a:cxn ang="0">
                    <a:pos x="T4" y="T5"/>
                  </a:cxn>
                  <a:cxn ang="0">
                    <a:pos x="T6" y="T7"/>
                  </a:cxn>
                </a:cxnLst>
                <a:rect l="0" t="0" r="r" b="b"/>
                <a:pathLst>
                  <a:path w="1190" h="889">
                    <a:moveTo>
                      <a:pt x="0" y="0"/>
                    </a:moveTo>
                    <a:lnTo>
                      <a:pt x="1190" y="889"/>
                    </a:lnTo>
                    <a:lnTo>
                      <a:pt x="0" y="0"/>
                    </a:lnTo>
                    <a:lnTo>
                      <a:pt x="771" y="57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66" name="Freeform 122"/>
              <p:cNvSpPr>
                <a:spLocks/>
              </p:cNvSpPr>
              <p:nvPr/>
            </p:nvSpPr>
            <p:spPr bwMode="auto">
              <a:xfrm>
                <a:off x="3085" y="1092"/>
                <a:ext cx="93" cy="84"/>
              </a:xfrm>
              <a:custGeom>
                <a:avLst/>
                <a:gdLst>
                  <a:gd name="T0" fmla="*/ 51 w 93"/>
                  <a:gd name="T1" fmla="*/ 0 h 84"/>
                  <a:gd name="T2" fmla="*/ 93 w 93"/>
                  <a:gd name="T3" fmla="*/ 84 h 84"/>
                  <a:gd name="T4" fmla="*/ 0 w 93"/>
                  <a:gd name="T5" fmla="*/ 67 h 84"/>
                  <a:gd name="T6" fmla="*/ 51 w 93"/>
                  <a:gd name="T7" fmla="*/ 0 h 84"/>
                </a:gdLst>
                <a:ahLst/>
                <a:cxnLst>
                  <a:cxn ang="0">
                    <a:pos x="T0" y="T1"/>
                  </a:cxn>
                  <a:cxn ang="0">
                    <a:pos x="T2" y="T3"/>
                  </a:cxn>
                  <a:cxn ang="0">
                    <a:pos x="T4" y="T5"/>
                  </a:cxn>
                  <a:cxn ang="0">
                    <a:pos x="T6" y="T7"/>
                  </a:cxn>
                </a:cxnLst>
                <a:rect l="0" t="0" r="r" b="b"/>
                <a:pathLst>
                  <a:path w="93" h="84">
                    <a:moveTo>
                      <a:pt x="51" y="0"/>
                    </a:moveTo>
                    <a:lnTo>
                      <a:pt x="93" y="84"/>
                    </a:lnTo>
                    <a:lnTo>
                      <a:pt x="0" y="67"/>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267" name="Rectangle 123"/>
            <p:cNvSpPr>
              <a:spLocks noChangeArrowheads="1"/>
            </p:cNvSpPr>
            <p:nvPr/>
          </p:nvSpPr>
          <p:spPr bwMode="auto">
            <a:xfrm>
              <a:off x="3303" y="1425"/>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grpSp>
      <p:grpSp>
        <p:nvGrpSpPr>
          <p:cNvPr id="6268" name="Group 124"/>
          <p:cNvGrpSpPr>
            <a:grpSpLocks/>
          </p:cNvGrpSpPr>
          <p:nvPr/>
        </p:nvGrpSpPr>
        <p:grpSpPr bwMode="auto">
          <a:xfrm>
            <a:off x="5251451" y="2261129"/>
            <a:ext cx="2595563" cy="1709737"/>
            <a:chOff x="2348" y="999"/>
            <a:chExt cx="1635" cy="1077"/>
          </a:xfrm>
        </p:grpSpPr>
        <p:grpSp>
          <p:nvGrpSpPr>
            <p:cNvPr id="6269" name="Group 125"/>
            <p:cNvGrpSpPr>
              <a:grpSpLocks/>
            </p:cNvGrpSpPr>
            <p:nvPr/>
          </p:nvGrpSpPr>
          <p:grpSpPr bwMode="auto">
            <a:xfrm>
              <a:off x="2348" y="999"/>
              <a:ext cx="1635" cy="932"/>
              <a:chOff x="2348" y="999"/>
              <a:chExt cx="1635" cy="932"/>
            </a:xfrm>
          </p:grpSpPr>
          <p:sp>
            <p:nvSpPr>
              <p:cNvPr id="6270" name="Freeform 126"/>
              <p:cNvSpPr>
                <a:spLocks/>
              </p:cNvSpPr>
              <p:nvPr/>
            </p:nvSpPr>
            <p:spPr bwMode="auto">
              <a:xfrm>
                <a:off x="2348" y="1889"/>
                <a:ext cx="1308" cy="1"/>
              </a:xfrm>
              <a:custGeom>
                <a:avLst/>
                <a:gdLst>
                  <a:gd name="T0" fmla="*/ 0 w 1308"/>
                  <a:gd name="T1" fmla="*/ 1308 w 1308"/>
                  <a:gd name="T2" fmla="*/ 0 w 1308"/>
                  <a:gd name="T3" fmla="*/ 905 w 1308"/>
                </a:gdLst>
                <a:ahLst/>
                <a:cxnLst>
                  <a:cxn ang="0">
                    <a:pos x="T0" y="0"/>
                  </a:cxn>
                  <a:cxn ang="0">
                    <a:pos x="T1" y="0"/>
                  </a:cxn>
                  <a:cxn ang="0">
                    <a:pos x="T2" y="0"/>
                  </a:cxn>
                  <a:cxn ang="0">
                    <a:pos x="T3" y="0"/>
                  </a:cxn>
                </a:cxnLst>
                <a:rect l="0" t="0" r="r" b="b"/>
                <a:pathLst>
                  <a:path w="1308">
                    <a:moveTo>
                      <a:pt x="0" y="0"/>
                    </a:moveTo>
                    <a:lnTo>
                      <a:pt x="1308" y="0"/>
                    </a:lnTo>
                    <a:lnTo>
                      <a:pt x="0" y="0"/>
                    </a:lnTo>
                    <a:lnTo>
                      <a:pt x="905"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71" name="Freeform 127"/>
              <p:cNvSpPr>
                <a:spLocks/>
              </p:cNvSpPr>
              <p:nvPr/>
            </p:nvSpPr>
            <p:spPr bwMode="auto">
              <a:xfrm>
                <a:off x="3245" y="1847"/>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2" name="Freeform 128"/>
              <p:cNvSpPr>
                <a:spLocks/>
              </p:cNvSpPr>
              <p:nvPr/>
            </p:nvSpPr>
            <p:spPr bwMode="auto">
              <a:xfrm>
                <a:off x="3656" y="1889"/>
                <a:ext cx="327" cy="1"/>
              </a:xfrm>
              <a:custGeom>
                <a:avLst/>
                <a:gdLst>
                  <a:gd name="T0" fmla="*/ 0 w 327"/>
                  <a:gd name="T1" fmla="*/ 327 w 327"/>
                  <a:gd name="T2" fmla="*/ 0 w 327"/>
                  <a:gd name="T3" fmla="*/ 150 w 327"/>
                </a:gdLst>
                <a:ahLst/>
                <a:cxnLst>
                  <a:cxn ang="0">
                    <a:pos x="T0" y="0"/>
                  </a:cxn>
                  <a:cxn ang="0">
                    <a:pos x="T1" y="0"/>
                  </a:cxn>
                  <a:cxn ang="0">
                    <a:pos x="T2" y="0"/>
                  </a:cxn>
                  <a:cxn ang="0">
                    <a:pos x="T3" y="0"/>
                  </a:cxn>
                </a:cxnLst>
                <a:rect l="0" t="0" r="r" b="b"/>
                <a:pathLst>
                  <a:path w="327">
                    <a:moveTo>
                      <a:pt x="0" y="0"/>
                    </a:moveTo>
                    <a:lnTo>
                      <a:pt x="327" y="0"/>
                    </a:lnTo>
                    <a:lnTo>
                      <a:pt x="0" y="0"/>
                    </a:lnTo>
                    <a:lnTo>
                      <a:pt x="15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73" name="Freeform 129"/>
              <p:cNvSpPr>
                <a:spLocks/>
              </p:cNvSpPr>
              <p:nvPr/>
            </p:nvSpPr>
            <p:spPr bwMode="auto">
              <a:xfrm>
                <a:off x="3798" y="1847"/>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4" name="Freeform 130"/>
              <p:cNvSpPr>
                <a:spLocks/>
              </p:cNvSpPr>
              <p:nvPr/>
            </p:nvSpPr>
            <p:spPr bwMode="auto">
              <a:xfrm>
                <a:off x="2348" y="999"/>
                <a:ext cx="1190" cy="890"/>
              </a:xfrm>
              <a:custGeom>
                <a:avLst/>
                <a:gdLst>
                  <a:gd name="T0" fmla="*/ 0 w 1190"/>
                  <a:gd name="T1" fmla="*/ 0 h 890"/>
                  <a:gd name="T2" fmla="*/ 1190 w 1190"/>
                  <a:gd name="T3" fmla="*/ 890 h 890"/>
                  <a:gd name="T4" fmla="*/ 0 w 1190"/>
                  <a:gd name="T5" fmla="*/ 0 h 890"/>
                  <a:gd name="T6" fmla="*/ 771 w 1190"/>
                  <a:gd name="T7" fmla="*/ 580 h 890"/>
                </a:gdLst>
                <a:ahLst/>
                <a:cxnLst>
                  <a:cxn ang="0">
                    <a:pos x="T0" y="T1"/>
                  </a:cxn>
                  <a:cxn ang="0">
                    <a:pos x="T2" y="T3"/>
                  </a:cxn>
                  <a:cxn ang="0">
                    <a:pos x="T4" y="T5"/>
                  </a:cxn>
                  <a:cxn ang="0">
                    <a:pos x="T6" y="T7"/>
                  </a:cxn>
                </a:cxnLst>
                <a:rect l="0" t="0" r="r" b="b"/>
                <a:pathLst>
                  <a:path w="1190" h="890">
                    <a:moveTo>
                      <a:pt x="0" y="0"/>
                    </a:moveTo>
                    <a:lnTo>
                      <a:pt x="1190" y="890"/>
                    </a:lnTo>
                    <a:lnTo>
                      <a:pt x="0" y="0"/>
                    </a:lnTo>
                    <a:lnTo>
                      <a:pt x="771" y="58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75" name="Freeform 131"/>
              <p:cNvSpPr>
                <a:spLocks/>
              </p:cNvSpPr>
              <p:nvPr/>
            </p:nvSpPr>
            <p:spPr bwMode="auto">
              <a:xfrm>
                <a:off x="3085" y="1537"/>
                <a:ext cx="93" cy="84"/>
              </a:xfrm>
              <a:custGeom>
                <a:avLst/>
                <a:gdLst>
                  <a:gd name="T0" fmla="*/ 51 w 93"/>
                  <a:gd name="T1" fmla="*/ 0 h 84"/>
                  <a:gd name="T2" fmla="*/ 93 w 93"/>
                  <a:gd name="T3" fmla="*/ 84 h 84"/>
                  <a:gd name="T4" fmla="*/ 0 w 93"/>
                  <a:gd name="T5" fmla="*/ 67 h 84"/>
                  <a:gd name="T6" fmla="*/ 51 w 93"/>
                  <a:gd name="T7" fmla="*/ 0 h 84"/>
                </a:gdLst>
                <a:ahLst/>
                <a:cxnLst>
                  <a:cxn ang="0">
                    <a:pos x="T0" y="T1"/>
                  </a:cxn>
                  <a:cxn ang="0">
                    <a:pos x="T2" y="T3"/>
                  </a:cxn>
                  <a:cxn ang="0">
                    <a:pos x="T4" y="T5"/>
                  </a:cxn>
                  <a:cxn ang="0">
                    <a:pos x="T6" y="T7"/>
                  </a:cxn>
                </a:cxnLst>
                <a:rect l="0" t="0" r="r" b="b"/>
                <a:pathLst>
                  <a:path w="93" h="84">
                    <a:moveTo>
                      <a:pt x="51" y="0"/>
                    </a:moveTo>
                    <a:lnTo>
                      <a:pt x="93" y="84"/>
                    </a:lnTo>
                    <a:lnTo>
                      <a:pt x="0" y="67"/>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276" name="Rectangle 132"/>
            <p:cNvSpPr>
              <a:spLocks noChangeArrowheads="1"/>
            </p:cNvSpPr>
            <p:nvPr/>
          </p:nvSpPr>
          <p:spPr bwMode="auto">
            <a:xfrm>
              <a:off x="3303" y="1874"/>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grpSp>
      <p:grpSp>
        <p:nvGrpSpPr>
          <p:cNvPr id="6277" name="Group 133"/>
          <p:cNvGrpSpPr>
            <a:grpSpLocks/>
          </p:cNvGrpSpPr>
          <p:nvPr/>
        </p:nvGrpSpPr>
        <p:grpSpPr bwMode="auto">
          <a:xfrm>
            <a:off x="5251450" y="4313765"/>
            <a:ext cx="2541588" cy="2463800"/>
            <a:chOff x="2348" y="2292"/>
            <a:chExt cx="1601" cy="1552"/>
          </a:xfrm>
        </p:grpSpPr>
        <p:sp>
          <p:nvSpPr>
            <p:cNvPr id="6278" name="Freeform 134"/>
            <p:cNvSpPr>
              <a:spLocks/>
            </p:cNvSpPr>
            <p:nvPr/>
          </p:nvSpPr>
          <p:spPr bwMode="auto">
            <a:xfrm>
              <a:off x="2348" y="3232"/>
              <a:ext cx="1282" cy="1"/>
            </a:xfrm>
            <a:custGeom>
              <a:avLst/>
              <a:gdLst>
                <a:gd name="T0" fmla="*/ 0 w 1282"/>
                <a:gd name="T1" fmla="*/ 1282 w 1282"/>
                <a:gd name="T2" fmla="*/ 0 w 1282"/>
                <a:gd name="T3" fmla="*/ 888 w 1282"/>
              </a:gdLst>
              <a:ahLst/>
              <a:cxnLst>
                <a:cxn ang="0">
                  <a:pos x="T0" y="0"/>
                </a:cxn>
                <a:cxn ang="0">
                  <a:pos x="T1" y="0"/>
                </a:cxn>
                <a:cxn ang="0">
                  <a:pos x="T2" y="0"/>
                </a:cxn>
                <a:cxn ang="0">
                  <a:pos x="T3" y="0"/>
                </a:cxn>
              </a:cxnLst>
              <a:rect l="0" t="0" r="r" b="b"/>
              <a:pathLst>
                <a:path w="1282">
                  <a:moveTo>
                    <a:pt x="0" y="0"/>
                  </a:moveTo>
                  <a:lnTo>
                    <a:pt x="1282" y="0"/>
                  </a:lnTo>
                  <a:lnTo>
                    <a:pt x="0" y="0"/>
                  </a:lnTo>
                  <a:lnTo>
                    <a:pt x="88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279" name="Group 135"/>
            <p:cNvGrpSpPr>
              <a:grpSpLocks/>
            </p:cNvGrpSpPr>
            <p:nvPr/>
          </p:nvGrpSpPr>
          <p:grpSpPr bwMode="auto">
            <a:xfrm>
              <a:off x="2348" y="2292"/>
              <a:ext cx="1601" cy="1552"/>
              <a:chOff x="2348" y="2292"/>
              <a:chExt cx="1601" cy="1552"/>
            </a:xfrm>
          </p:grpSpPr>
          <p:sp>
            <p:nvSpPr>
              <p:cNvPr id="6280" name="Freeform 136"/>
              <p:cNvSpPr>
                <a:spLocks/>
              </p:cNvSpPr>
              <p:nvPr/>
            </p:nvSpPr>
            <p:spPr bwMode="auto">
              <a:xfrm>
                <a:off x="2348" y="2334"/>
                <a:ext cx="1282" cy="1"/>
              </a:xfrm>
              <a:custGeom>
                <a:avLst/>
                <a:gdLst>
                  <a:gd name="T0" fmla="*/ 0 w 1282"/>
                  <a:gd name="T1" fmla="*/ 1282 w 1282"/>
                  <a:gd name="T2" fmla="*/ 0 w 1282"/>
                  <a:gd name="T3" fmla="*/ 888 w 1282"/>
                </a:gdLst>
                <a:ahLst/>
                <a:cxnLst>
                  <a:cxn ang="0">
                    <a:pos x="T0" y="0"/>
                  </a:cxn>
                  <a:cxn ang="0">
                    <a:pos x="T1" y="0"/>
                  </a:cxn>
                  <a:cxn ang="0">
                    <a:pos x="T2" y="0"/>
                  </a:cxn>
                  <a:cxn ang="0">
                    <a:pos x="T3" y="0"/>
                  </a:cxn>
                </a:cxnLst>
                <a:rect l="0" t="0" r="r" b="b"/>
                <a:pathLst>
                  <a:path w="1282">
                    <a:moveTo>
                      <a:pt x="0" y="0"/>
                    </a:moveTo>
                    <a:lnTo>
                      <a:pt x="1282" y="0"/>
                    </a:lnTo>
                    <a:lnTo>
                      <a:pt x="0" y="0"/>
                    </a:lnTo>
                    <a:lnTo>
                      <a:pt x="88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81" name="Freeform 137"/>
              <p:cNvSpPr>
                <a:spLocks/>
              </p:cNvSpPr>
              <p:nvPr/>
            </p:nvSpPr>
            <p:spPr bwMode="auto">
              <a:xfrm>
                <a:off x="2348" y="2787"/>
                <a:ext cx="1282" cy="1"/>
              </a:xfrm>
              <a:custGeom>
                <a:avLst/>
                <a:gdLst>
                  <a:gd name="T0" fmla="*/ 0 w 1282"/>
                  <a:gd name="T1" fmla="*/ 1282 w 1282"/>
                  <a:gd name="T2" fmla="*/ 0 w 1282"/>
                  <a:gd name="T3" fmla="*/ 888 w 1282"/>
                </a:gdLst>
                <a:ahLst/>
                <a:cxnLst>
                  <a:cxn ang="0">
                    <a:pos x="T0" y="0"/>
                  </a:cxn>
                  <a:cxn ang="0">
                    <a:pos x="T1" y="0"/>
                  </a:cxn>
                  <a:cxn ang="0">
                    <a:pos x="T2" y="0"/>
                  </a:cxn>
                  <a:cxn ang="0">
                    <a:pos x="T3" y="0"/>
                  </a:cxn>
                </a:cxnLst>
                <a:rect l="0" t="0" r="r" b="b"/>
                <a:pathLst>
                  <a:path w="1282">
                    <a:moveTo>
                      <a:pt x="0" y="0"/>
                    </a:moveTo>
                    <a:lnTo>
                      <a:pt x="1282" y="0"/>
                    </a:lnTo>
                    <a:lnTo>
                      <a:pt x="0" y="0"/>
                    </a:lnTo>
                    <a:lnTo>
                      <a:pt x="88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82" name="Freeform 138"/>
              <p:cNvSpPr>
                <a:spLocks/>
              </p:cNvSpPr>
              <p:nvPr/>
            </p:nvSpPr>
            <p:spPr bwMode="auto">
              <a:xfrm>
                <a:off x="2348" y="3677"/>
                <a:ext cx="1282" cy="1"/>
              </a:xfrm>
              <a:custGeom>
                <a:avLst/>
                <a:gdLst>
                  <a:gd name="T0" fmla="*/ 0 w 1282"/>
                  <a:gd name="T1" fmla="*/ 1282 w 1282"/>
                  <a:gd name="T2" fmla="*/ 0 w 1282"/>
                  <a:gd name="T3" fmla="*/ 888 w 1282"/>
                </a:gdLst>
                <a:ahLst/>
                <a:cxnLst>
                  <a:cxn ang="0">
                    <a:pos x="T0" y="0"/>
                  </a:cxn>
                  <a:cxn ang="0">
                    <a:pos x="T1" y="0"/>
                  </a:cxn>
                  <a:cxn ang="0">
                    <a:pos x="T2" y="0"/>
                  </a:cxn>
                  <a:cxn ang="0">
                    <a:pos x="T3" y="0"/>
                  </a:cxn>
                </a:cxnLst>
                <a:rect l="0" t="0" r="r" b="b"/>
                <a:pathLst>
                  <a:path w="1282">
                    <a:moveTo>
                      <a:pt x="0" y="0"/>
                    </a:moveTo>
                    <a:lnTo>
                      <a:pt x="1282" y="0"/>
                    </a:lnTo>
                    <a:lnTo>
                      <a:pt x="0" y="0"/>
                    </a:lnTo>
                    <a:lnTo>
                      <a:pt x="88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83" name="Freeform 139"/>
              <p:cNvSpPr>
                <a:spLocks/>
              </p:cNvSpPr>
              <p:nvPr/>
            </p:nvSpPr>
            <p:spPr bwMode="auto">
              <a:xfrm>
                <a:off x="2348" y="2334"/>
                <a:ext cx="1190" cy="898"/>
              </a:xfrm>
              <a:custGeom>
                <a:avLst/>
                <a:gdLst>
                  <a:gd name="T0" fmla="*/ 0 w 1190"/>
                  <a:gd name="T1" fmla="*/ 0 h 898"/>
                  <a:gd name="T2" fmla="*/ 1190 w 1190"/>
                  <a:gd name="T3" fmla="*/ 898 h 898"/>
                  <a:gd name="T4" fmla="*/ 0 w 1190"/>
                  <a:gd name="T5" fmla="*/ 0 h 898"/>
                  <a:gd name="T6" fmla="*/ 771 w 1190"/>
                  <a:gd name="T7" fmla="*/ 588 h 898"/>
                </a:gdLst>
                <a:ahLst/>
                <a:cxnLst>
                  <a:cxn ang="0">
                    <a:pos x="T0" y="T1"/>
                  </a:cxn>
                  <a:cxn ang="0">
                    <a:pos x="T2" y="T3"/>
                  </a:cxn>
                  <a:cxn ang="0">
                    <a:pos x="T4" y="T5"/>
                  </a:cxn>
                  <a:cxn ang="0">
                    <a:pos x="T6" y="T7"/>
                  </a:cxn>
                </a:cxnLst>
                <a:rect l="0" t="0" r="r" b="b"/>
                <a:pathLst>
                  <a:path w="1190" h="898">
                    <a:moveTo>
                      <a:pt x="0" y="0"/>
                    </a:moveTo>
                    <a:lnTo>
                      <a:pt x="1190" y="898"/>
                    </a:lnTo>
                    <a:lnTo>
                      <a:pt x="0" y="0"/>
                    </a:lnTo>
                    <a:lnTo>
                      <a:pt x="771" y="58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84" name="Freeform 140"/>
              <p:cNvSpPr>
                <a:spLocks/>
              </p:cNvSpPr>
              <p:nvPr/>
            </p:nvSpPr>
            <p:spPr bwMode="auto">
              <a:xfrm>
                <a:off x="2348" y="2787"/>
                <a:ext cx="1190" cy="890"/>
              </a:xfrm>
              <a:custGeom>
                <a:avLst/>
                <a:gdLst>
                  <a:gd name="T0" fmla="*/ 0 w 1190"/>
                  <a:gd name="T1" fmla="*/ 0 h 890"/>
                  <a:gd name="T2" fmla="*/ 1190 w 1190"/>
                  <a:gd name="T3" fmla="*/ 890 h 890"/>
                  <a:gd name="T4" fmla="*/ 0 w 1190"/>
                  <a:gd name="T5" fmla="*/ 0 h 890"/>
                  <a:gd name="T6" fmla="*/ 771 w 1190"/>
                  <a:gd name="T7" fmla="*/ 579 h 890"/>
                </a:gdLst>
                <a:ahLst/>
                <a:cxnLst>
                  <a:cxn ang="0">
                    <a:pos x="T0" y="T1"/>
                  </a:cxn>
                  <a:cxn ang="0">
                    <a:pos x="T2" y="T3"/>
                  </a:cxn>
                  <a:cxn ang="0">
                    <a:pos x="T4" y="T5"/>
                  </a:cxn>
                  <a:cxn ang="0">
                    <a:pos x="T6" y="T7"/>
                  </a:cxn>
                </a:cxnLst>
                <a:rect l="0" t="0" r="r" b="b"/>
                <a:pathLst>
                  <a:path w="1190" h="890">
                    <a:moveTo>
                      <a:pt x="0" y="0"/>
                    </a:moveTo>
                    <a:lnTo>
                      <a:pt x="1190" y="890"/>
                    </a:lnTo>
                    <a:lnTo>
                      <a:pt x="0" y="0"/>
                    </a:lnTo>
                    <a:lnTo>
                      <a:pt x="771" y="57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85" name="Freeform 141"/>
              <p:cNvSpPr>
                <a:spLocks/>
              </p:cNvSpPr>
              <p:nvPr/>
            </p:nvSpPr>
            <p:spPr bwMode="auto">
              <a:xfrm>
                <a:off x="2348" y="2334"/>
                <a:ext cx="1190" cy="898"/>
              </a:xfrm>
              <a:custGeom>
                <a:avLst/>
                <a:gdLst>
                  <a:gd name="T0" fmla="*/ 0 w 1190"/>
                  <a:gd name="T1" fmla="*/ 898 h 898"/>
                  <a:gd name="T2" fmla="*/ 1190 w 1190"/>
                  <a:gd name="T3" fmla="*/ 0 h 898"/>
                  <a:gd name="T4" fmla="*/ 0 w 1190"/>
                  <a:gd name="T5" fmla="*/ 898 h 898"/>
                  <a:gd name="T6" fmla="*/ 771 w 1190"/>
                  <a:gd name="T7" fmla="*/ 319 h 898"/>
                </a:gdLst>
                <a:ahLst/>
                <a:cxnLst>
                  <a:cxn ang="0">
                    <a:pos x="T0" y="T1"/>
                  </a:cxn>
                  <a:cxn ang="0">
                    <a:pos x="T2" y="T3"/>
                  </a:cxn>
                  <a:cxn ang="0">
                    <a:pos x="T4" y="T5"/>
                  </a:cxn>
                  <a:cxn ang="0">
                    <a:pos x="T6" y="T7"/>
                  </a:cxn>
                </a:cxnLst>
                <a:rect l="0" t="0" r="r" b="b"/>
                <a:pathLst>
                  <a:path w="1190" h="898">
                    <a:moveTo>
                      <a:pt x="0" y="898"/>
                    </a:moveTo>
                    <a:lnTo>
                      <a:pt x="1190" y="0"/>
                    </a:lnTo>
                    <a:lnTo>
                      <a:pt x="0" y="898"/>
                    </a:lnTo>
                    <a:lnTo>
                      <a:pt x="771" y="31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86" name="Freeform 142"/>
              <p:cNvSpPr>
                <a:spLocks/>
              </p:cNvSpPr>
              <p:nvPr/>
            </p:nvSpPr>
            <p:spPr bwMode="auto">
              <a:xfrm>
                <a:off x="2348" y="2787"/>
                <a:ext cx="1190" cy="890"/>
              </a:xfrm>
              <a:custGeom>
                <a:avLst/>
                <a:gdLst>
                  <a:gd name="T0" fmla="*/ 0 w 1190"/>
                  <a:gd name="T1" fmla="*/ 890 h 890"/>
                  <a:gd name="T2" fmla="*/ 1190 w 1190"/>
                  <a:gd name="T3" fmla="*/ 0 h 890"/>
                  <a:gd name="T4" fmla="*/ 0 w 1190"/>
                  <a:gd name="T5" fmla="*/ 890 h 890"/>
                  <a:gd name="T6" fmla="*/ 771 w 1190"/>
                  <a:gd name="T7" fmla="*/ 311 h 890"/>
                </a:gdLst>
                <a:ahLst/>
                <a:cxnLst>
                  <a:cxn ang="0">
                    <a:pos x="T0" y="T1"/>
                  </a:cxn>
                  <a:cxn ang="0">
                    <a:pos x="T2" y="T3"/>
                  </a:cxn>
                  <a:cxn ang="0">
                    <a:pos x="T4" y="T5"/>
                  </a:cxn>
                  <a:cxn ang="0">
                    <a:pos x="T6" y="T7"/>
                  </a:cxn>
                </a:cxnLst>
                <a:rect l="0" t="0" r="r" b="b"/>
                <a:pathLst>
                  <a:path w="1190" h="890">
                    <a:moveTo>
                      <a:pt x="0" y="890"/>
                    </a:moveTo>
                    <a:lnTo>
                      <a:pt x="1190" y="0"/>
                    </a:lnTo>
                    <a:lnTo>
                      <a:pt x="0" y="890"/>
                    </a:lnTo>
                    <a:lnTo>
                      <a:pt x="771" y="311"/>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287" name="Group 143"/>
              <p:cNvGrpSpPr>
                <a:grpSpLocks/>
              </p:cNvGrpSpPr>
              <p:nvPr/>
            </p:nvGrpSpPr>
            <p:grpSpPr bwMode="auto">
              <a:xfrm>
                <a:off x="3085" y="2292"/>
                <a:ext cx="864" cy="1552"/>
                <a:chOff x="3085" y="2292"/>
                <a:chExt cx="864" cy="1552"/>
              </a:xfrm>
            </p:grpSpPr>
            <p:sp>
              <p:nvSpPr>
                <p:cNvPr id="6288" name="Freeform 144"/>
                <p:cNvSpPr>
                  <a:spLocks/>
                </p:cNvSpPr>
                <p:nvPr/>
              </p:nvSpPr>
              <p:spPr bwMode="auto">
                <a:xfrm>
                  <a:off x="3228" y="2292"/>
                  <a:ext cx="84" cy="92"/>
                </a:xfrm>
                <a:custGeom>
                  <a:avLst/>
                  <a:gdLst>
                    <a:gd name="T0" fmla="*/ 0 w 84"/>
                    <a:gd name="T1" fmla="*/ 0 h 92"/>
                    <a:gd name="T2" fmla="*/ 84 w 84"/>
                    <a:gd name="T3" fmla="*/ 42 h 92"/>
                    <a:gd name="T4" fmla="*/ 0 w 84"/>
                    <a:gd name="T5" fmla="*/ 92 h 92"/>
                    <a:gd name="T6" fmla="*/ 0 w 84"/>
                    <a:gd name="T7" fmla="*/ 0 h 92"/>
                  </a:gdLst>
                  <a:ahLst/>
                  <a:cxnLst>
                    <a:cxn ang="0">
                      <a:pos x="T0" y="T1"/>
                    </a:cxn>
                    <a:cxn ang="0">
                      <a:pos x="T2" y="T3"/>
                    </a:cxn>
                    <a:cxn ang="0">
                      <a:pos x="T4" y="T5"/>
                    </a:cxn>
                    <a:cxn ang="0">
                      <a:pos x="T6" y="T7"/>
                    </a:cxn>
                  </a:cxnLst>
                  <a:rect l="0" t="0" r="r" b="b"/>
                  <a:pathLst>
                    <a:path w="84" h="92">
                      <a:moveTo>
                        <a:pt x="0" y="0"/>
                      </a:moveTo>
                      <a:lnTo>
                        <a:pt x="84" y="42"/>
                      </a:lnTo>
                      <a:lnTo>
                        <a:pt x="0" y="9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9" name="Freeform 145"/>
                <p:cNvSpPr>
                  <a:spLocks/>
                </p:cNvSpPr>
                <p:nvPr/>
              </p:nvSpPr>
              <p:spPr bwMode="auto">
                <a:xfrm>
                  <a:off x="3630" y="2334"/>
                  <a:ext cx="319" cy="1"/>
                </a:xfrm>
                <a:custGeom>
                  <a:avLst/>
                  <a:gdLst>
                    <a:gd name="T0" fmla="*/ 0 w 319"/>
                    <a:gd name="T1" fmla="*/ 319 w 319"/>
                    <a:gd name="T2" fmla="*/ 0 w 319"/>
                    <a:gd name="T3" fmla="*/ 151 w 319"/>
                  </a:gdLst>
                  <a:ahLst/>
                  <a:cxnLst>
                    <a:cxn ang="0">
                      <a:pos x="T0" y="0"/>
                    </a:cxn>
                    <a:cxn ang="0">
                      <a:pos x="T1" y="0"/>
                    </a:cxn>
                    <a:cxn ang="0">
                      <a:pos x="T2" y="0"/>
                    </a:cxn>
                    <a:cxn ang="0">
                      <a:pos x="T3" y="0"/>
                    </a:cxn>
                  </a:cxnLst>
                  <a:rect l="0" t="0" r="r" b="b"/>
                  <a:pathLst>
                    <a:path w="319">
                      <a:moveTo>
                        <a:pt x="0" y="0"/>
                      </a:moveTo>
                      <a:lnTo>
                        <a:pt x="319" y="0"/>
                      </a:lnTo>
                      <a:lnTo>
                        <a:pt x="0" y="0"/>
                      </a:lnTo>
                      <a:lnTo>
                        <a:pt x="15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90" name="Freeform 146"/>
                <p:cNvSpPr>
                  <a:spLocks/>
                </p:cNvSpPr>
                <p:nvPr/>
              </p:nvSpPr>
              <p:spPr bwMode="auto">
                <a:xfrm>
                  <a:off x="3773" y="2292"/>
                  <a:ext cx="84" cy="92"/>
                </a:xfrm>
                <a:custGeom>
                  <a:avLst/>
                  <a:gdLst>
                    <a:gd name="T0" fmla="*/ 0 w 84"/>
                    <a:gd name="T1" fmla="*/ 0 h 92"/>
                    <a:gd name="T2" fmla="*/ 84 w 84"/>
                    <a:gd name="T3" fmla="*/ 42 h 92"/>
                    <a:gd name="T4" fmla="*/ 0 w 84"/>
                    <a:gd name="T5" fmla="*/ 92 h 92"/>
                    <a:gd name="T6" fmla="*/ 0 w 84"/>
                    <a:gd name="T7" fmla="*/ 0 h 92"/>
                  </a:gdLst>
                  <a:ahLst/>
                  <a:cxnLst>
                    <a:cxn ang="0">
                      <a:pos x="T0" y="T1"/>
                    </a:cxn>
                    <a:cxn ang="0">
                      <a:pos x="T2" y="T3"/>
                    </a:cxn>
                    <a:cxn ang="0">
                      <a:pos x="T4" y="T5"/>
                    </a:cxn>
                    <a:cxn ang="0">
                      <a:pos x="T6" y="T7"/>
                    </a:cxn>
                  </a:cxnLst>
                  <a:rect l="0" t="0" r="r" b="b"/>
                  <a:pathLst>
                    <a:path w="84" h="92">
                      <a:moveTo>
                        <a:pt x="0" y="0"/>
                      </a:moveTo>
                      <a:lnTo>
                        <a:pt x="84" y="42"/>
                      </a:lnTo>
                      <a:lnTo>
                        <a:pt x="0" y="9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1" name="Freeform 147"/>
                <p:cNvSpPr>
                  <a:spLocks/>
                </p:cNvSpPr>
                <p:nvPr/>
              </p:nvSpPr>
              <p:spPr bwMode="auto">
                <a:xfrm>
                  <a:off x="3228" y="2745"/>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2" name="Freeform 148"/>
                <p:cNvSpPr>
                  <a:spLocks/>
                </p:cNvSpPr>
                <p:nvPr/>
              </p:nvSpPr>
              <p:spPr bwMode="auto">
                <a:xfrm>
                  <a:off x="3630" y="2787"/>
                  <a:ext cx="319" cy="1"/>
                </a:xfrm>
                <a:custGeom>
                  <a:avLst/>
                  <a:gdLst>
                    <a:gd name="T0" fmla="*/ 0 w 319"/>
                    <a:gd name="T1" fmla="*/ 319 w 319"/>
                    <a:gd name="T2" fmla="*/ 0 w 319"/>
                    <a:gd name="T3" fmla="*/ 151 w 319"/>
                  </a:gdLst>
                  <a:ahLst/>
                  <a:cxnLst>
                    <a:cxn ang="0">
                      <a:pos x="T0" y="0"/>
                    </a:cxn>
                    <a:cxn ang="0">
                      <a:pos x="T1" y="0"/>
                    </a:cxn>
                    <a:cxn ang="0">
                      <a:pos x="T2" y="0"/>
                    </a:cxn>
                    <a:cxn ang="0">
                      <a:pos x="T3" y="0"/>
                    </a:cxn>
                  </a:cxnLst>
                  <a:rect l="0" t="0" r="r" b="b"/>
                  <a:pathLst>
                    <a:path w="319">
                      <a:moveTo>
                        <a:pt x="0" y="0"/>
                      </a:moveTo>
                      <a:lnTo>
                        <a:pt x="319" y="0"/>
                      </a:lnTo>
                      <a:lnTo>
                        <a:pt x="0" y="0"/>
                      </a:lnTo>
                      <a:lnTo>
                        <a:pt x="15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93" name="Freeform 149"/>
                <p:cNvSpPr>
                  <a:spLocks/>
                </p:cNvSpPr>
                <p:nvPr/>
              </p:nvSpPr>
              <p:spPr bwMode="auto">
                <a:xfrm>
                  <a:off x="3773" y="2745"/>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4" name="Freeform 150"/>
                <p:cNvSpPr>
                  <a:spLocks/>
                </p:cNvSpPr>
                <p:nvPr/>
              </p:nvSpPr>
              <p:spPr bwMode="auto">
                <a:xfrm>
                  <a:off x="3228" y="3190"/>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5" name="Freeform 151"/>
                <p:cNvSpPr>
                  <a:spLocks/>
                </p:cNvSpPr>
                <p:nvPr/>
              </p:nvSpPr>
              <p:spPr bwMode="auto">
                <a:xfrm>
                  <a:off x="3630" y="3232"/>
                  <a:ext cx="319" cy="1"/>
                </a:xfrm>
                <a:custGeom>
                  <a:avLst/>
                  <a:gdLst>
                    <a:gd name="T0" fmla="*/ 0 w 319"/>
                    <a:gd name="T1" fmla="*/ 319 w 319"/>
                    <a:gd name="T2" fmla="*/ 0 w 319"/>
                    <a:gd name="T3" fmla="*/ 151 w 319"/>
                  </a:gdLst>
                  <a:ahLst/>
                  <a:cxnLst>
                    <a:cxn ang="0">
                      <a:pos x="T0" y="0"/>
                    </a:cxn>
                    <a:cxn ang="0">
                      <a:pos x="T1" y="0"/>
                    </a:cxn>
                    <a:cxn ang="0">
                      <a:pos x="T2" y="0"/>
                    </a:cxn>
                    <a:cxn ang="0">
                      <a:pos x="T3" y="0"/>
                    </a:cxn>
                  </a:cxnLst>
                  <a:rect l="0" t="0" r="r" b="b"/>
                  <a:pathLst>
                    <a:path w="319">
                      <a:moveTo>
                        <a:pt x="0" y="0"/>
                      </a:moveTo>
                      <a:lnTo>
                        <a:pt x="319" y="0"/>
                      </a:lnTo>
                      <a:lnTo>
                        <a:pt x="0" y="0"/>
                      </a:lnTo>
                      <a:lnTo>
                        <a:pt x="15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96" name="Freeform 152"/>
                <p:cNvSpPr>
                  <a:spLocks/>
                </p:cNvSpPr>
                <p:nvPr/>
              </p:nvSpPr>
              <p:spPr bwMode="auto">
                <a:xfrm>
                  <a:off x="3773" y="3190"/>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7" name="Freeform 153"/>
                <p:cNvSpPr>
                  <a:spLocks/>
                </p:cNvSpPr>
                <p:nvPr/>
              </p:nvSpPr>
              <p:spPr bwMode="auto">
                <a:xfrm>
                  <a:off x="3228" y="3635"/>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8" name="Freeform 154"/>
                <p:cNvSpPr>
                  <a:spLocks/>
                </p:cNvSpPr>
                <p:nvPr/>
              </p:nvSpPr>
              <p:spPr bwMode="auto">
                <a:xfrm>
                  <a:off x="3630" y="3677"/>
                  <a:ext cx="319" cy="1"/>
                </a:xfrm>
                <a:custGeom>
                  <a:avLst/>
                  <a:gdLst>
                    <a:gd name="T0" fmla="*/ 0 w 319"/>
                    <a:gd name="T1" fmla="*/ 319 w 319"/>
                    <a:gd name="T2" fmla="*/ 0 w 319"/>
                    <a:gd name="T3" fmla="*/ 151 w 319"/>
                  </a:gdLst>
                  <a:ahLst/>
                  <a:cxnLst>
                    <a:cxn ang="0">
                      <a:pos x="T0" y="0"/>
                    </a:cxn>
                    <a:cxn ang="0">
                      <a:pos x="T1" y="0"/>
                    </a:cxn>
                    <a:cxn ang="0">
                      <a:pos x="T2" y="0"/>
                    </a:cxn>
                    <a:cxn ang="0">
                      <a:pos x="T3" y="0"/>
                    </a:cxn>
                  </a:cxnLst>
                  <a:rect l="0" t="0" r="r" b="b"/>
                  <a:pathLst>
                    <a:path w="319">
                      <a:moveTo>
                        <a:pt x="0" y="0"/>
                      </a:moveTo>
                      <a:lnTo>
                        <a:pt x="319" y="0"/>
                      </a:lnTo>
                      <a:lnTo>
                        <a:pt x="0" y="0"/>
                      </a:lnTo>
                      <a:lnTo>
                        <a:pt x="15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99" name="Freeform 155"/>
                <p:cNvSpPr>
                  <a:spLocks/>
                </p:cNvSpPr>
                <p:nvPr/>
              </p:nvSpPr>
              <p:spPr bwMode="auto">
                <a:xfrm>
                  <a:off x="3773" y="3635"/>
                  <a:ext cx="84" cy="84"/>
                </a:xfrm>
                <a:custGeom>
                  <a:avLst/>
                  <a:gdLst>
                    <a:gd name="T0" fmla="*/ 0 w 84"/>
                    <a:gd name="T1" fmla="*/ 0 h 84"/>
                    <a:gd name="T2" fmla="*/ 84 w 84"/>
                    <a:gd name="T3" fmla="*/ 42 h 84"/>
                    <a:gd name="T4" fmla="*/ 0 w 84"/>
                    <a:gd name="T5" fmla="*/ 84 h 84"/>
                    <a:gd name="T6" fmla="*/ 0 w 84"/>
                    <a:gd name="T7" fmla="*/ 0 h 84"/>
                  </a:gdLst>
                  <a:ahLst/>
                  <a:cxnLst>
                    <a:cxn ang="0">
                      <a:pos x="T0" y="T1"/>
                    </a:cxn>
                    <a:cxn ang="0">
                      <a:pos x="T2" y="T3"/>
                    </a:cxn>
                    <a:cxn ang="0">
                      <a:pos x="T4" y="T5"/>
                    </a:cxn>
                    <a:cxn ang="0">
                      <a:pos x="T6" y="T7"/>
                    </a:cxn>
                  </a:cxnLst>
                  <a:rect l="0" t="0" r="r" b="b"/>
                  <a:pathLst>
                    <a:path w="84" h="84">
                      <a:moveTo>
                        <a:pt x="0" y="0"/>
                      </a:moveTo>
                      <a:lnTo>
                        <a:pt x="84"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0" name="Freeform 156"/>
                <p:cNvSpPr>
                  <a:spLocks/>
                </p:cNvSpPr>
                <p:nvPr/>
              </p:nvSpPr>
              <p:spPr bwMode="auto">
                <a:xfrm>
                  <a:off x="3085" y="2880"/>
                  <a:ext cx="93" cy="84"/>
                </a:xfrm>
                <a:custGeom>
                  <a:avLst/>
                  <a:gdLst>
                    <a:gd name="T0" fmla="*/ 51 w 93"/>
                    <a:gd name="T1" fmla="*/ 0 h 84"/>
                    <a:gd name="T2" fmla="*/ 93 w 93"/>
                    <a:gd name="T3" fmla="*/ 84 h 84"/>
                    <a:gd name="T4" fmla="*/ 0 w 93"/>
                    <a:gd name="T5" fmla="*/ 67 h 84"/>
                    <a:gd name="T6" fmla="*/ 51 w 93"/>
                    <a:gd name="T7" fmla="*/ 0 h 84"/>
                  </a:gdLst>
                  <a:ahLst/>
                  <a:cxnLst>
                    <a:cxn ang="0">
                      <a:pos x="T0" y="T1"/>
                    </a:cxn>
                    <a:cxn ang="0">
                      <a:pos x="T2" y="T3"/>
                    </a:cxn>
                    <a:cxn ang="0">
                      <a:pos x="T4" y="T5"/>
                    </a:cxn>
                    <a:cxn ang="0">
                      <a:pos x="T6" y="T7"/>
                    </a:cxn>
                  </a:cxnLst>
                  <a:rect l="0" t="0" r="r" b="b"/>
                  <a:pathLst>
                    <a:path w="93" h="84">
                      <a:moveTo>
                        <a:pt x="51" y="0"/>
                      </a:moveTo>
                      <a:lnTo>
                        <a:pt x="93" y="84"/>
                      </a:lnTo>
                      <a:lnTo>
                        <a:pt x="0" y="67"/>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1" name="Freeform 157"/>
                <p:cNvSpPr>
                  <a:spLocks/>
                </p:cNvSpPr>
                <p:nvPr/>
              </p:nvSpPr>
              <p:spPr bwMode="auto">
                <a:xfrm>
                  <a:off x="3085" y="3325"/>
                  <a:ext cx="93" cy="83"/>
                </a:xfrm>
                <a:custGeom>
                  <a:avLst/>
                  <a:gdLst>
                    <a:gd name="T0" fmla="*/ 51 w 93"/>
                    <a:gd name="T1" fmla="*/ 0 h 83"/>
                    <a:gd name="T2" fmla="*/ 93 w 93"/>
                    <a:gd name="T3" fmla="*/ 83 h 83"/>
                    <a:gd name="T4" fmla="*/ 0 w 93"/>
                    <a:gd name="T5" fmla="*/ 67 h 83"/>
                    <a:gd name="T6" fmla="*/ 51 w 93"/>
                    <a:gd name="T7" fmla="*/ 0 h 83"/>
                  </a:gdLst>
                  <a:ahLst/>
                  <a:cxnLst>
                    <a:cxn ang="0">
                      <a:pos x="T0" y="T1"/>
                    </a:cxn>
                    <a:cxn ang="0">
                      <a:pos x="T2" y="T3"/>
                    </a:cxn>
                    <a:cxn ang="0">
                      <a:pos x="T4" y="T5"/>
                    </a:cxn>
                    <a:cxn ang="0">
                      <a:pos x="T6" y="T7"/>
                    </a:cxn>
                  </a:cxnLst>
                  <a:rect l="0" t="0" r="r" b="b"/>
                  <a:pathLst>
                    <a:path w="93" h="83">
                      <a:moveTo>
                        <a:pt x="51" y="0"/>
                      </a:moveTo>
                      <a:lnTo>
                        <a:pt x="93" y="83"/>
                      </a:lnTo>
                      <a:lnTo>
                        <a:pt x="0" y="67"/>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2" name="Freeform 158"/>
                <p:cNvSpPr>
                  <a:spLocks/>
                </p:cNvSpPr>
                <p:nvPr/>
              </p:nvSpPr>
              <p:spPr bwMode="auto">
                <a:xfrm>
                  <a:off x="3085" y="2603"/>
                  <a:ext cx="93" cy="92"/>
                </a:xfrm>
                <a:custGeom>
                  <a:avLst/>
                  <a:gdLst>
                    <a:gd name="T0" fmla="*/ 0 w 93"/>
                    <a:gd name="T1" fmla="*/ 16 h 92"/>
                    <a:gd name="T2" fmla="*/ 93 w 93"/>
                    <a:gd name="T3" fmla="*/ 0 h 92"/>
                    <a:gd name="T4" fmla="*/ 51 w 93"/>
                    <a:gd name="T5" fmla="*/ 92 h 92"/>
                    <a:gd name="T6" fmla="*/ 0 w 93"/>
                    <a:gd name="T7" fmla="*/ 16 h 92"/>
                  </a:gdLst>
                  <a:ahLst/>
                  <a:cxnLst>
                    <a:cxn ang="0">
                      <a:pos x="T0" y="T1"/>
                    </a:cxn>
                    <a:cxn ang="0">
                      <a:pos x="T2" y="T3"/>
                    </a:cxn>
                    <a:cxn ang="0">
                      <a:pos x="T4" y="T5"/>
                    </a:cxn>
                    <a:cxn ang="0">
                      <a:pos x="T6" y="T7"/>
                    </a:cxn>
                  </a:cxnLst>
                  <a:rect l="0" t="0" r="r" b="b"/>
                  <a:pathLst>
                    <a:path w="93" h="92">
                      <a:moveTo>
                        <a:pt x="0" y="16"/>
                      </a:moveTo>
                      <a:lnTo>
                        <a:pt x="93" y="0"/>
                      </a:lnTo>
                      <a:lnTo>
                        <a:pt x="51" y="92"/>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3" name="Freeform 159"/>
                <p:cNvSpPr>
                  <a:spLocks/>
                </p:cNvSpPr>
                <p:nvPr/>
              </p:nvSpPr>
              <p:spPr bwMode="auto">
                <a:xfrm>
                  <a:off x="3085" y="3056"/>
                  <a:ext cx="93" cy="84"/>
                </a:xfrm>
                <a:custGeom>
                  <a:avLst/>
                  <a:gdLst>
                    <a:gd name="T0" fmla="*/ 0 w 93"/>
                    <a:gd name="T1" fmla="*/ 17 h 84"/>
                    <a:gd name="T2" fmla="*/ 93 w 93"/>
                    <a:gd name="T3" fmla="*/ 0 h 84"/>
                    <a:gd name="T4" fmla="*/ 51 w 93"/>
                    <a:gd name="T5" fmla="*/ 84 h 84"/>
                    <a:gd name="T6" fmla="*/ 0 w 93"/>
                    <a:gd name="T7" fmla="*/ 17 h 84"/>
                  </a:gdLst>
                  <a:ahLst/>
                  <a:cxnLst>
                    <a:cxn ang="0">
                      <a:pos x="T0" y="T1"/>
                    </a:cxn>
                    <a:cxn ang="0">
                      <a:pos x="T2" y="T3"/>
                    </a:cxn>
                    <a:cxn ang="0">
                      <a:pos x="T4" y="T5"/>
                    </a:cxn>
                    <a:cxn ang="0">
                      <a:pos x="T6" y="T7"/>
                    </a:cxn>
                  </a:cxnLst>
                  <a:rect l="0" t="0" r="r" b="b"/>
                  <a:pathLst>
                    <a:path w="93" h="84">
                      <a:moveTo>
                        <a:pt x="0" y="17"/>
                      </a:moveTo>
                      <a:lnTo>
                        <a:pt x="93" y="0"/>
                      </a:lnTo>
                      <a:lnTo>
                        <a:pt x="51" y="84"/>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4" name="Rectangle 160"/>
                <p:cNvSpPr>
                  <a:spLocks noChangeArrowheads="1"/>
                </p:cNvSpPr>
                <p:nvPr/>
              </p:nvSpPr>
              <p:spPr bwMode="auto">
                <a:xfrm>
                  <a:off x="3727" y="3376"/>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2</a:t>
                  </a:r>
                  <a:endParaRPr kumimoji="1" lang="zh-CN" altLang="en-US" b="1"/>
                </a:p>
              </p:txBody>
            </p:sp>
            <p:sp>
              <p:nvSpPr>
                <p:cNvPr id="6305" name="Rectangle 161"/>
                <p:cNvSpPr>
                  <a:spLocks noChangeArrowheads="1"/>
                </p:cNvSpPr>
                <p:nvPr/>
              </p:nvSpPr>
              <p:spPr bwMode="auto">
                <a:xfrm>
                  <a:off x="3687" y="3531"/>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6306" name="Rectangle 162"/>
                <p:cNvSpPr>
                  <a:spLocks noChangeArrowheads="1"/>
                </p:cNvSpPr>
                <p:nvPr/>
              </p:nvSpPr>
              <p:spPr bwMode="auto">
                <a:xfrm>
                  <a:off x="3501" y="3393"/>
                  <a:ext cx="23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W</a:t>
                  </a:r>
                  <a:endParaRPr kumimoji="1" lang="en-US" altLang="zh-CN" b="1"/>
                </a:p>
              </p:txBody>
            </p:sp>
            <p:sp>
              <p:nvSpPr>
                <p:cNvPr id="6307" name="Rectangle 163"/>
                <p:cNvSpPr>
                  <a:spLocks noChangeArrowheads="1"/>
                </p:cNvSpPr>
                <p:nvPr/>
              </p:nvSpPr>
              <p:spPr bwMode="auto">
                <a:xfrm>
                  <a:off x="3722" y="2931"/>
                  <a:ext cx="7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6308" name="Rectangle 164"/>
                <p:cNvSpPr>
                  <a:spLocks noChangeArrowheads="1"/>
                </p:cNvSpPr>
                <p:nvPr/>
              </p:nvSpPr>
              <p:spPr bwMode="auto">
                <a:xfrm>
                  <a:off x="3685" y="3086"/>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6309" name="Rectangle 165"/>
                <p:cNvSpPr>
                  <a:spLocks noChangeArrowheads="1"/>
                </p:cNvSpPr>
                <p:nvPr/>
              </p:nvSpPr>
              <p:spPr bwMode="auto">
                <a:xfrm>
                  <a:off x="3500" y="2948"/>
                  <a:ext cx="23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b="1" i="1">
                      <a:solidFill>
                        <a:srgbClr val="000000"/>
                      </a:solidFill>
                    </a:rPr>
                    <a:t>W</a:t>
                  </a:r>
                  <a:endParaRPr kumimoji="1" lang="en-US" altLang="zh-CN" b="1"/>
                </a:p>
              </p:txBody>
            </p:sp>
            <p:sp>
              <p:nvSpPr>
                <p:cNvPr id="6310" name="Rectangle 166"/>
                <p:cNvSpPr>
                  <a:spLocks noChangeArrowheads="1"/>
                </p:cNvSpPr>
                <p:nvPr/>
              </p:nvSpPr>
              <p:spPr bwMode="auto">
                <a:xfrm>
                  <a:off x="3303" y="3217"/>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6311" name="Rectangle 167"/>
                <p:cNvSpPr>
                  <a:spLocks noChangeArrowheads="1"/>
                </p:cNvSpPr>
                <p:nvPr/>
              </p:nvSpPr>
              <p:spPr bwMode="auto">
                <a:xfrm>
                  <a:off x="3303" y="3642"/>
                  <a:ext cx="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grpSp>
        </p:grpSp>
      </p:grpSp>
      <p:grpSp>
        <p:nvGrpSpPr>
          <p:cNvPr id="6312" name="Group 168"/>
          <p:cNvGrpSpPr>
            <a:grpSpLocks/>
          </p:cNvGrpSpPr>
          <p:nvPr/>
        </p:nvGrpSpPr>
        <p:grpSpPr bwMode="auto">
          <a:xfrm>
            <a:off x="7793039" y="2727853"/>
            <a:ext cx="1703387" cy="1185862"/>
            <a:chOff x="3949" y="1293"/>
            <a:chExt cx="1073" cy="747"/>
          </a:xfrm>
        </p:grpSpPr>
        <p:grpSp>
          <p:nvGrpSpPr>
            <p:cNvPr id="6313" name="Group 169"/>
            <p:cNvGrpSpPr>
              <a:grpSpLocks/>
            </p:cNvGrpSpPr>
            <p:nvPr/>
          </p:nvGrpSpPr>
          <p:grpSpPr bwMode="auto">
            <a:xfrm>
              <a:off x="4544" y="1402"/>
              <a:ext cx="478" cy="529"/>
              <a:chOff x="4544" y="1402"/>
              <a:chExt cx="478" cy="529"/>
            </a:xfrm>
          </p:grpSpPr>
          <p:sp>
            <p:nvSpPr>
              <p:cNvPr id="6314" name="Freeform 170"/>
              <p:cNvSpPr>
                <a:spLocks/>
              </p:cNvSpPr>
              <p:nvPr/>
            </p:nvSpPr>
            <p:spPr bwMode="auto">
              <a:xfrm>
                <a:off x="4544" y="1444"/>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15" name="Freeform 171"/>
              <p:cNvSpPr>
                <a:spLocks/>
              </p:cNvSpPr>
              <p:nvPr/>
            </p:nvSpPr>
            <p:spPr bwMode="auto">
              <a:xfrm>
                <a:off x="4754" y="1402"/>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6" name="Freeform 172"/>
              <p:cNvSpPr>
                <a:spLocks/>
              </p:cNvSpPr>
              <p:nvPr/>
            </p:nvSpPr>
            <p:spPr bwMode="auto">
              <a:xfrm>
                <a:off x="4544" y="1889"/>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17" name="Freeform 173"/>
              <p:cNvSpPr>
                <a:spLocks/>
              </p:cNvSpPr>
              <p:nvPr/>
            </p:nvSpPr>
            <p:spPr bwMode="auto">
              <a:xfrm>
                <a:off x="4754" y="1847"/>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318" name="Group 174"/>
            <p:cNvGrpSpPr>
              <a:grpSpLocks/>
            </p:cNvGrpSpPr>
            <p:nvPr/>
          </p:nvGrpSpPr>
          <p:grpSpPr bwMode="auto">
            <a:xfrm>
              <a:off x="3949" y="1293"/>
              <a:ext cx="595" cy="747"/>
              <a:chOff x="3949" y="1293"/>
              <a:chExt cx="595" cy="747"/>
            </a:xfrm>
          </p:grpSpPr>
          <p:sp>
            <p:nvSpPr>
              <p:cNvPr id="6319" name="Rectangle 175"/>
              <p:cNvSpPr>
                <a:spLocks noChangeArrowheads="1"/>
              </p:cNvSpPr>
              <p:nvPr/>
            </p:nvSpPr>
            <p:spPr bwMode="auto">
              <a:xfrm>
                <a:off x="3949" y="1293"/>
                <a:ext cx="595" cy="747"/>
              </a:xfrm>
              <a:prstGeom prst="rect">
                <a:avLst/>
              </a:prstGeom>
              <a:solidFill>
                <a:srgbClr val="FFFFFF"/>
              </a:solidFill>
              <a:ln w="12700">
                <a:solidFill>
                  <a:srgbClr val="000000"/>
                </a:solidFill>
                <a:miter lim="800000"/>
                <a:headEnd/>
                <a:tailEnd/>
              </a:ln>
            </p:spPr>
            <p:txBody>
              <a:bodyPr/>
              <a:lstStyle/>
              <a:p>
                <a:endParaRPr lang="zh-CN" altLang="en-US"/>
              </a:p>
            </p:txBody>
          </p:sp>
          <p:sp>
            <p:nvSpPr>
              <p:cNvPr id="6320" name="Rectangle 176"/>
              <p:cNvSpPr>
                <a:spLocks noChangeArrowheads="1"/>
              </p:cNvSpPr>
              <p:nvPr/>
            </p:nvSpPr>
            <p:spPr bwMode="auto">
              <a:xfrm>
                <a:off x="4092" y="1419"/>
                <a:ext cx="34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600" b="1">
                    <a:solidFill>
                      <a:srgbClr val="000000"/>
                    </a:solidFill>
                  </a:rPr>
                  <a:t>2</a:t>
                </a:r>
                <a:r>
                  <a:rPr kumimoji="1" lang="zh-CN" altLang="en-US" sz="2700" b="1">
                    <a:solidFill>
                      <a:srgbClr val="000000"/>
                    </a:solidFill>
                    <a:latin typeface="Arial" panose="020B0604020202020204" pitchFamily="34" charset="0"/>
                  </a:rPr>
                  <a:t>点</a:t>
                </a:r>
                <a:endParaRPr kumimoji="1" lang="zh-CN" altLang="en-US" sz="2700">
                  <a:solidFill>
                    <a:srgbClr val="000000"/>
                  </a:solidFill>
                  <a:latin typeface="Arial" panose="020B0604020202020204" pitchFamily="34" charset="0"/>
                </a:endParaRPr>
              </a:p>
            </p:txBody>
          </p:sp>
          <p:sp>
            <p:nvSpPr>
              <p:cNvPr id="6321" name="Rectangle 177"/>
              <p:cNvSpPr>
                <a:spLocks noChangeArrowheads="1"/>
              </p:cNvSpPr>
              <p:nvPr/>
            </p:nvSpPr>
            <p:spPr bwMode="auto">
              <a:xfrm>
                <a:off x="4058" y="1671"/>
                <a:ext cx="4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600" b="1">
                    <a:solidFill>
                      <a:srgbClr val="000000"/>
                    </a:solidFill>
                  </a:rPr>
                  <a:t>DFT</a:t>
                </a:r>
                <a:endParaRPr kumimoji="1" lang="en-US" altLang="zh-CN" b="1"/>
              </a:p>
            </p:txBody>
          </p:sp>
        </p:grpSp>
      </p:grpSp>
      <p:grpSp>
        <p:nvGrpSpPr>
          <p:cNvPr id="6322" name="Group 178"/>
          <p:cNvGrpSpPr>
            <a:grpSpLocks/>
          </p:cNvGrpSpPr>
          <p:nvPr/>
        </p:nvGrpSpPr>
        <p:grpSpPr bwMode="auto">
          <a:xfrm>
            <a:off x="7793039" y="4153428"/>
            <a:ext cx="1703387" cy="1173162"/>
            <a:chOff x="3949" y="2191"/>
            <a:chExt cx="1073" cy="739"/>
          </a:xfrm>
        </p:grpSpPr>
        <p:grpSp>
          <p:nvGrpSpPr>
            <p:cNvPr id="6323" name="Group 179"/>
            <p:cNvGrpSpPr>
              <a:grpSpLocks/>
            </p:cNvGrpSpPr>
            <p:nvPr/>
          </p:nvGrpSpPr>
          <p:grpSpPr bwMode="auto">
            <a:xfrm>
              <a:off x="4544" y="2292"/>
              <a:ext cx="478" cy="537"/>
              <a:chOff x="4544" y="2292"/>
              <a:chExt cx="478" cy="537"/>
            </a:xfrm>
          </p:grpSpPr>
          <p:sp>
            <p:nvSpPr>
              <p:cNvPr id="6324" name="Freeform 180"/>
              <p:cNvSpPr>
                <a:spLocks/>
              </p:cNvSpPr>
              <p:nvPr/>
            </p:nvSpPr>
            <p:spPr bwMode="auto">
              <a:xfrm>
                <a:off x="4544" y="2334"/>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25" name="Freeform 181"/>
              <p:cNvSpPr>
                <a:spLocks/>
              </p:cNvSpPr>
              <p:nvPr/>
            </p:nvSpPr>
            <p:spPr bwMode="auto">
              <a:xfrm>
                <a:off x="4754" y="2292"/>
                <a:ext cx="92" cy="92"/>
              </a:xfrm>
              <a:custGeom>
                <a:avLst/>
                <a:gdLst>
                  <a:gd name="T0" fmla="*/ 0 w 92"/>
                  <a:gd name="T1" fmla="*/ 0 h 92"/>
                  <a:gd name="T2" fmla="*/ 92 w 92"/>
                  <a:gd name="T3" fmla="*/ 42 h 92"/>
                  <a:gd name="T4" fmla="*/ 0 w 92"/>
                  <a:gd name="T5" fmla="*/ 92 h 92"/>
                  <a:gd name="T6" fmla="*/ 0 w 92"/>
                  <a:gd name="T7" fmla="*/ 0 h 92"/>
                </a:gdLst>
                <a:ahLst/>
                <a:cxnLst>
                  <a:cxn ang="0">
                    <a:pos x="T0" y="T1"/>
                  </a:cxn>
                  <a:cxn ang="0">
                    <a:pos x="T2" y="T3"/>
                  </a:cxn>
                  <a:cxn ang="0">
                    <a:pos x="T4" y="T5"/>
                  </a:cxn>
                  <a:cxn ang="0">
                    <a:pos x="T6" y="T7"/>
                  </a:cxn>
                </a:cxnLst>
                <a:rect l="0" t="0" r="r" b="b"/>
                <a:pathLst>
                  <a:path w="92" h="92">
                    <a:moveTo>
                      <a:pt x="0" y="0"/>
                    </a:moveTo>
                    <a:lnTo>
                      <a:pt x="92" y="42"/>
                    </a:lnTo>
                    <a:lnTo>
                      <a:pt x="0" y="9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26" name="Freeform 182"/>
              <p:cNvSpPr>
                <a:spLocks/>
              </p:cNvSpPr>
              <p:nvPr/>
            </p:nvSpPr>
            <p:spPr bwMode="auto">
              <a:xfrm>
                <a:off x="4544" y="2787"/>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27" name="Freeform 183"/>
              <p:cNvSpPr>
                <a:spLocks/>
              </p:cNvSpPr>
              <p:nvPr/>
            </p:nvSpPr>
            <p:spPr bwMode="auto">
              <a:xfrm>
                <a:off x="4754" y="2745"/>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328" name="Group 184"/>
            <p:cNvGrpSpPr>
              <a:grpSpLocks/>
            </p:cNvGrpSpPr>
            <p:nvPr/>
          </p:nvGrpSpPr>
          <p:grpSpPr bwMode="auto">
            <a:xfrm>
              <a:off x="3949" y="2191"/>
              <a:ext cx="595" cy="739"/>
              <a:chOff x="3949" y="2191"/>
              <a:chExt cx="595" cy="739"/>
            </a:xfrm>
          </p:grpSpPr>
          <p:sp>
            <p:nvSpPr>
              <p:cNvPr id="6329" name="Rectangle 185"/>
              <p:cNvSpPr>
                <a:spLocks noChangeArrowheads="1"/>
              </p:cNvSpPr>
              <p:nvPr/>
            </p:nvSpPr>
            <p:spPr bwMode="auto">
              <a:xfrm>
                <a:off x="3949" y="2191"/>
                <a:ext cx="595" cy="739"/>
              </a:xfrm>
              <a:prstGeom prst="rect">
                <a:avLst/>
              </a:prstGeom>
              <a:solidFill>
                <a:srgbClr val="FFFFFF"/>
              </a:solidFill>
              <a:ln w="12700">
                <a:solidFill>
                  <a:srgbClr val="000000"/>
                </a:solidFill>
                <a:miter lim="800000"/>
                <a:headEnd/>
                <a:tailEnd/>
              </a:ln>
            </p:spPr>
            <p:txBody>
              <a:bodyPr/>
              <a:lstStyle/>
              <a:p>
                <a:endParaRPr lang="zh-CN" altLang="en-US"/>
              </a:p>
            </p:txBody>
          </p:sp>
          <p:sp>
            <p:nvSpPr>
              <p:cNvPr id="6330" name="Rectangle 186"/>
              <p:cNvSpPr>
                <a:spLocks noChangeArrowheads="1"/>
              </p:cNvSpPr>
              <p:nvPr/>
            </p:nvSpPr>
            <p:spPr bwMode="auto">
              <a:xfrm>
                <a:off x="4092" y="2317"/>
                <a:ext cx="34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600" b="1">
                    <a:solidFill>
                      <a:srgbClr val="000000"/>
                    </a:solidFill>
                  </a:rPr>
                  <a:t>2</a:t>
                </a:r>
                <a:r>
                  <a:rPr kumimoji="1" lang="zh-CN" altLang="en-US" sz="2700" b="1">
                    <a:solidFill>
                      <a:srgbClr val="000000"/>
                    </a:solidFill>
                    <a:latin typeface="Arial" panose="020B0604020202020204" pitchFamily="34" charset="0"/>
                  </a:rPr>
                  <a:t>点</a:t>
                </a:r>
                <a:endParaRPr kumimoji="1" lang="zh-CN" altLang="en-US" sz="2700">
                  <a:solidFill>
                    <a:srgbClr val="000000"/>
                  </a:solidFill>
                  <a:latin typeface="Arial" panose="020B0604020202020204" pitchFamily="34" charset="0"/>
                </a:endParaRPr>
              </a:p>
            </p:txBody>
          </p:sp>
          <p:sp>
            <p:nvSpPr>
              <p:cNvPr id="6331" name="Rectangle 187"/>
              <p:cNvSpPr>
                <a:spLocks noChangeArrowheads="1"/>
              </p:cNvSpPr>
              <p:nvPr/>
            </p:nvSpPr>
            <p:spPr bwMode="auto">
              <a:xfrm>
                <a:off x="4058" y="2569"/>
                <a:ext cx="4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600" b="1">
                    <a:solidFill>
                      <a:srgbClr val="000000"/>
                    </a:solidFill>
                  </a:rPr>
                  <a:t>DFT</a:t>
                </a:r>
                <a:endParaRPr kumimoji="1" lang="en-US" altLang="zh-CN" b="1"/>
              </a:p>
            </p:txBody>
          </p:sp>
        </p:grpSp>
      </p:grpSp>
      <p:grpSp>
        <p:nvGrpSpPr>
          <p:cNvPr id="6332" name="Group 188"/>
          <p:cNvGrpSpPr>
            <a:grpSpLocks/>
          </p:cNvGrpSpPr>
          <p:nvPr/>
        </p:nvGrpSpPr>
        <p:grpSpPr bwMode="auto">
          <a:xfrm>
            <a:off x="7793039" y="5566303"/>
            <a:ext cx="1703387" cy="1185862"/>
            <a:chOff x="3949" y="3081"/>
            <a:chExt cx="1073" cy="747"/>
          </a:xfrm>
        </p:grpSpPr>
        <p:grpSp>
          <p:nvGrpSpPr>
            <p:cNvPr id="6333" name="Group 189"/>
            <p:cNvGrpSpPr>
              <a:grpSpLocks/>
            </p:cNvGrpSpPr>
            <p:nvPr/>
          </p:nvGrpSpPr>
          <p:grpSpPr bwMode="auto">
            <a:xfrm>
              <a:off x="4544" y="3190"/>
              <a:ext cx="478" cy="529"/>
              <a:chOff x="4544" y="3190"/>
              <a:chExt cx="478" cy="529"/>
            </a:xfrm>
          </p:grpSpPr>
          <p:sp>
            <p:nvSpPr>
              <p:cNvPr id="6334" name="Freeform 190"/>
              <p:cNvSpPr>
                <a:spLocks/>
              </p:cNvSpPr>
              <p:nvPr/>
            </p:nvSpPr>
            <p:spPr bwMode="auto">
              <a:xfrm>
                <a:off x="4544" y="3232"/>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35" name="Freeform 191"/>
              <p:cNvSpPr>
                <a:spLocks/>
              </p:cNvSpPr>
              <p:nvPr/>
            </p:nvSpPr>
            <p:spPr bwMode="auto">
              <a:xfrm>
                <a:off x="4754" y="3190"/>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36" name="Freeform 192"/>
              <p:cNvSpPr>
                <a:spLocks/>
              </p:cNvSpPr>
              <p:nvPr/>
            </p:nvSpPr>
            <p:spPr bwMode="auto">
              <a:xfrm>
                <a:off x="4544" y="3677"/>
                <a:ext cx="478" cy="1"/>
              </a:xfrm>
              <a:custGeom>
                <a:avLst/>
                <a:gdLst>
                  <a:gd name="T0" fmla="*/ 0 w 478"/>
                  <a:gd name="T1" fmla="*/ 478 w 478"/>
                  <a:gd name="T2" fmla="*/ 0 w 478"/>
                  <a:gd name="T3" fmla="*/ 227 w 478"/>
                </a:gdLst>
                <a:ahLst/>
                <a:cxnLst>
                  <a:cxn ang="0">
                    <a:pos x="T0" y="0"/>
                  </a:cxn>
                  <a:cxn ang="0">
                    <a:pos x="T1" y="0"/>
                  </a:cxn>
                  <a:cxn ang="0">
                    <a:pos x="T2" y="0"/>
                  </a:cxn>
                  <a:cxn ang="0">
                    <a:pos x="T3" y="0"/>
                  </a:cxn>
                </a:cxnLst>
                <a:rect l="0" t="0" r="r" b="b"/>
                <a:pathLst>
                  <a:path w="478">
                    <a:moveTo>
                      <a:pt x="0" y="0"/>
                    </a:moveTo>
                    <a:lnTo>
                      <a:pt x="478" y="0"/>
                    </a:lnTo>
                    <a:lnTo>
                      <a:pt x="0" y="0"/>
                    </a:lnTo>
                    <a:lnTo>
                      <a:pt x="22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37" name="Freeform 193"/>
              <p:cNvSpPr>
                <a:spLocks/>
              </p:cNvSpPr>
              <p:nvPr/>
            </p:nvSpPr>
            <p:spPr bwMode="auto">
              <a:xfrm>
                <a:off x="4754" y="3635"/>
                <a:ext cx="92" cy="84"/>
              </a:xfrm>
              <a:custGeom>
                <a:avLst/>
                <a:gdLst>
                  <a:gd name="T0" fmla="*/ 0 w 92"/>
                  <a:gd name="T1" fmla="*/ 0 h 84"/>
                  <a:gd name="T2" fmla="*/ 92 w 92"/>
                  <a:gd name="T3" fmla="*/ 42 h 84"/>
                  <a:gd name="T4" fmla="*/ 0 w 92"/>
                  <a:gd name="T5" fmla="*/ 84 h 84"/>
                  <a:gd name="T6" fmla="*/ 0 w 92"/>
                  <a:gd name="T7" fmla="*/ 0 h 84"/>
                </a:gdLst>
                <a:ahLst/>
                <a:cxnLst>
                  <a:cxn ang="0">
                    <a:pos x="T0" y="T1"/>
                  </a:cxn>
                  <a:cxn ang="0">
                    <a:pos x="T2" y="T3"/>
                  </a:cxn>
                  <a:cxn ang="0">
                    <a:pos x="T4" y="T5"/>
                  </a:cxn>
                  <a:cxn ang="0">
                    <a:pos x="T6" y="T7"/>
                  </a:cxn>
                </a:cxnLst>
                <a:rect l="0" t="0" r="r" b="b"/>
                <a:pathLst>
                  <a:path w="92" h="84">
                    <a:moveTo>
                      <a:pt x="0" y="0"/>
                    </a:moveTo>
                    <a:lnTo>
                      <a:pt x="92"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338" name="Group 194"/>
            <p:cNvGrpSpPr>
              <a:grpSpLocks/>
            </p:cNvGrpSpPr>
            <p:nvPr/>
          </p:nvGrpSpPr>
          <p:grpSpPr bwMode="auto">
            <a:xfrm>
              <a:off x="3949" y="3081"/>
              <a:ext cx="595" cy="747"/>
              <a:chOff x="3949" y="3081"/>
              <a:chExt cx="595" cy="747"/>
            </a:xfrm>
          </p:grpSpPr>
          <p:sp>
            <p:nvSpPr>
              <p:cNvPr id="6339" name="Rectangle 195"/>
              <p:cNvSpPr>
                <a:spLocks noChangeArrowheads="1"/>
              </p:cNvSpPr>
              <p:nvPr/>
            </p:nvSpPr>
            <p:spPr bwMode="auto">
              <a:xfrm>
                <a:off x="3949" y="3081"/>
                <a:ext cx="595" cy="747"/>
              </a:xfrm>
              <a:prstGeom prst="rect">
                <a:avLst/>
              </a:prstGeom>
              <a:solidFill>
                <a:srgbClr val="FFFFFF"/>
              </a:solidFill>
              <a:ln w="12700">
                <a:solidFill>
                  <a:srgbClr val="000000"/>
                </a:solidFill>
                <a:miter lim="800000"/>
                <a:headEnd/>
                <a:tailEnd/>
              </a:ln>
            </p:spPr>
            <p:txBody>
              <a:bodyPr/>
              <a:lstStyle/>
              <a:p>
                <a:endParaRPr lang="zh-CN" altLang="en-US"/>
              </a:p>
            </p:txBody>
          </p:sp>
          <p:sp>
            <p:nvSpPr>
              <p:cNvPr id="6340" name="Rectangle 196"/>
              <p:cNvSpPr>
                <a:spLocks noChangeArrowheads="1"/>
              </p:cNvSpPr>
              <p:nvPr/>
            </p:nvSpPr>
            <p:spPr bwMode="auto">
              <a:xfrm>
                <a:off x="4092" y="3207"/>
                <a:ext cx="34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600" b="1">
                    <a:solidFill>
                      <a:srgbClr val="000000"/>
                    </a:solidFill>
                  </a:rPr>
                  <a:t>2</a:t>
                </a:r>
                <a:r>
                  <a:rPr kumimoji="1" lang="zh-CN" altLang="en-US" sz="2700" b="1">
                    <a:solidFill>
                      <a:srgbClr val="000000"/>
                    </a:solidFill>
                    <a:latin typeface="Arial" panose="020B0604020202020204" pitchFamily="34" charset="0"/>
                  </a:rPr>
                  <a:t>点</a:t>
                </a:r>
                <a:endParaRPr kumimoji="1" lang="zh-CN" altLang="en-US" sz="2700">
                  <a:solidFill>
                    <a:srgbClr val="000000"/>
                  </a:solidFill>
                  <a:latin typeface="Arial" panose="020B0604020202020204" pitchFamily="34" charset="0"/>
                </a:endParaRPr>
              </a:p>
            </p:txBody>
          </p:sp>
          <p:sp>
            <p:nvSpPr>
              <p:cNvPr id="6341" name="Rectangle 197"/>
              <p:cNvSpPr>
                <a:spLocks noChangeArrowheads="1"/>
              </p:cNvSpPr>
              <p:nvPr/>
            </p:nvSpPr>
            <p:spPr bwMode="auto">
              <a:xfrm>
                <a:off x="4058" y="3458"/>
                <a:ext cx="4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600" b="1">
                    <a:solidFill>
                      <a:srgbClr val="000000"/>
                    </a:solidFill>
                  </a:rPr>
                  <a:t>DFT</a:t>
                </a:r>
                <a:endParaRPr kumimoji="1" lang="en-US" altLang="zh-CN" b="1"/>
              </a:p>
            </p:txBody>
          </p:sp>
        </p:grpSp>
      </p:grpSp>
      <p:grpSp>
        <p:nvGrpSpPr>
          <p:cNvPr id="198" name="Group 2"/>
          <p:cNvGrpSpPr>
            <a:grpSpLocks/>
          </p:cNvGrpSpPr>
          <p:nvPr/>
        </p:nvGrpSpPr>
        <p:grpSpPr bwMode="auto">
          <a:xfrm>
            <a:off x="74920" y="109540"/>
            <a:ext cx="11313434" cy="1304927"/>
            <a:chOff x="-1139" y="30"/>
            <a:chExt cx="6417" cy="822"/>
          </a:xfrm>
        </p:grpSpPr>
        <p:graphicFrame>
          <p:nvGraphicFramePr>
            <p:cNvPr id="199" name="Object 3"/>
            <p:cNvGraphicFramePr>
              <a:graphicFrameLocks noChangeAspect="1"/>
            </p:cNvGraphicFramePr>
            <p:nvPr>
              <p:extLst>
                <p:ext uri="{D42A27DB-BD31-4B8C-83A1-F6EECF244321}">
                  <p14:modId xmlns:p14="http://schemas.microsoft.com/office/powerpoint/2010/main" val="2157016775"/>
                </p:ext>
              </p:extLst>
            </p:nvPr>
          </p:nvGraphicFramePr>
          <p:xfrm>
            <a:off x="-1120" y="30"/>
            <a:ext cx="2864" cy="558"/>
          </p:xfrm>
          <a:graphic>
            <a:graphicData uri="http://schemas.openxmlformats.org/presentationml/2006/ole">
              <mc:AlternateContent xmlns:mc="http://schemas.openxmlformats.org/markup-compatibility/2006">
                <mc:Choice xmlns:v="urn:schemas-microsoft-com:vml" Requires="v">
                  <p:oleObj spid="_x0000_s45097" name="Equation" r:id="rId3" imgW="2273040" imgH="444240" progId="Equation.DSMT4">
                    <p:embed/>
                  </p:oleObj>
                </mc:Choice>
                <mc:Fallback>
                  <p:oleObj name="Equation" r:id="rId3" imgW="2273040" imgH="444240" progId="Equation.DSMT4">
                    <p:embed/>
                    <p:pic>
                      <p:nvPicPr>
                        <p:cNvPr id="5123" name="Object 3"/>
                        <p:cNvPicPr>
                          <a:picLocks noChangeAspect="1" noChangeArrowheads="1"/>
                        </p:cNvPicPr>
                        <p:nvPr/>
                      </p:nvPicPr>
                      <p:blipFill>
                        <a:blip r:embed="rId4"/>
                        <a:srcRect/>
                        <a:stretch>
                          <a:fillRect/>
                        </a:stretch>
                      </p:blipFill>
                      <p:spPr bwMode="auto">
                        <a:xfrm>
                          <a:off x="-1120" y="30"/>
                          <a:ext cx="2864" cy="55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 name="Object 4"/>
            <p:cNvGraphicFramePr>
              <a:graphicFrameLocks noChangeAspect="1"/>
            </p:cNvGraphicFramePr>
            <p:nvPr>
              <p:extLst>
                <p:ext uri="{D42A27DB-BD31-4B8C-83A1-F6EECF244321}">
                  <p14:modId xmlns:p14="http://schemas.microsoft.com/office/powerpoint/2010/main" val="2521362746"/>
                </p:ext>
              </p:extLst>
            </p:nvPr>
          </p:nvGraphicFramePr>
          <p:xfrm>
            <a:off x="1900" y="32"/>
            <a:ext cx="3378" cy="558"/>
          </p:xfrm>
          <a:graphic>
            <a:graphicData uri="http://schemas.openxmlformats.org/presentationml/2006/ole">
              <mc:AlternateContent xmlns:mc="http://schemas.openxmlformats.org/markup-compatibility/2006">
                <mc:Choice xmlns:v="urn:schemas-microsoft-com:vml" Requires="v">
                  <p:oleObj spid="_x0000_s45098" name="Equation" r:id="rId5" imgW="2679480" imgH="444240" progId="Equation.DSMT4">
                    <p:embed/>
                  </p:oleObj>
                </mc:Choice>
                <mc:Fallback>
                  <p:oleObj name="Equation" r:id="rId5" imgW="2679480" imgH="444240" progId="Equation.DSMT4">
                    <p:embed/>
                    <p:pic>
                      <p:nvPicPr>
                        <p:cNvPr id="5124" name="Object 4"/>
                        <p:cNvPicPr>
                          <a:picLocks noChangeAspect="1" noChangeArrowheads="1"/>
                        </p:cNvPicPr>
                        <p:nvPr/>
                      </p:nvPicPr>
                      <p:blipFill>
                        <a:blip r:embed="rId6"/>
                        <a:srcRect/>
                        <a:stretch>
                          <a:fillRect/>
                        </a:stretch>
                      </p:blipFill>
                      <p:spPr bwMode="auto">
                        <a:xfrm>
                          <a:off x="1900" y="32"/>
                          <a:ext cx="3378" cy="55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1" name="Object 5"/>
            <p:cNvGraphicFramePr>
              <a:graphicFrameLocks noChangeAspect="1"/>
            </p:cNvGraphicFramePr>
            <p:nvPr>
              <p:extLst>
                <p:ext uri="{D42A27DB-BD31-4B8C-83A1-F6EECF244321}">
                  <p14:modId xmlns:p14="http://schemas.microsoft.com/office/powerpoint/2010/main" val="689789510"/>
                </p:ext>
              </p:extLst>
            </p:nvPr>
          </p:nvGraphicFramePr>
          <p:xfrm>
            <a:off x="-1139" y="598"/>
            <a:ext cx="1422" cy="254"/>
          </p:xfrm>
          <a:graphic>
            <a:graphicData uri="http://schemas.openxmlformats.org/presentationml/2006/ole">
              <mc:AlternateContent xmlns:mc="http://schemas.openxmlformats.org/markup-compatibility/2006">
                <mc:Choice xmlns:v="urn:schemas-microsoft-com:vml" Requires="v">
                  <p:oleObj spid="_x0000_s45099" name="公式" r:id="rId7" imgW="1129810" imgH="203112" progId="Equation.3">
                    <p:embed/>
                  </p:oleObj>
                </mc:Choice>
                <mc:Fallback>
                  <p:oleObj name="公式" r:id="rId7" imgW="1129810" imgH="203112" progId="Equation.3">
                    <p:embed/>
                    <p:pic>
                      <p:nvPicPr>
                        <p:cNvPr id="5125"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9" y="598"/>
                          <a:ext cx="1422" cy="254"/>
                        </a:xfrm>
                        <a:prstGeom prst="rect">
                          <a:avLst/>
                        </a:prstGeom>
                        <a:solidFill>
                          <a:srgbClr val="FFFF99"/>
                        </a:solidFill>
                      </p:spPr>
                    </p:pic>
                  </p:oleObj>
                </mc:Fallback>
              </mc:AlternateContent>
            </a:graphicData>
          </a:graphic>
        </p:graphicFrame>
      </p:grpSp>
    </p:spTree>
    <p:extLst>
      <p:ext uri="{BB962C8B-B14F-4D97-AF65-F5344CB8AC3E}">
        <p14:creationId xmlns:p14="http://schemas.microsoft.com/office/powerpoint/2010/main" val="2227822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49"/>
                                        </p:tgtEl>
                                        <p:attrNameLst>
                                          <p:attrName>style.visibility</p:attrName>
                                        </p:attrNameLst>
                                      </p:cBhvr>
                                      <p:to>
                                        <p:strVal val="visible"/>
                                      </p:to>
                                    </p:set>
                                    <p:animEffect transition="in" filter="blinds(horizontal)">
                                      <p:cBhvr>
                                        <p:cTn id="7" dur="500"/>
                                        <p:tgtEl>
                                          <p:spTgt spid="62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blinds(horizontal)">
                                      <p:cBhvr>
                                        <p:cTn id="12" dur="500"/>
                                        <p:tgtEl>
                                          <p:spTgt spid="61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blinds(horizontal)">
                                      <p:cBhvr>
                                        <p:cTn id="17" dur="500"/>
                                        <p:tgtEl>
                                          <p:spTgt spid="61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312"/>
                                        </p:tgtEl>
                                        <p:attrNameLst>
                                          <p:attrName>style.visibility</p:attrName>
                                        </p:attrNameLst>
                                      </p:cBhvr>
                                      <p:to>
                                        <p:strVal val="visible"/>
                                      </p:to>
                                    </p:set>
                                    <p:animEffect transition="in" filter="blinds(horizontal)">
                                      <p:cBhvr>
                                        <p:cTn id="22" dur="500"/>
                                        <p:tgtEl>
                                          <p:spTgt spid="63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9"/>
                                        </p:tgtEl>
                                        <p:attrNameLst>
                                          <p:attrName>style.visibility</p:attrName>
                                        </p:attrNameLst>
                                      </p:cBhvr>
                                      <p:to>
                                        <p:strVal val="visible"/>
                                      </p:to>
                                    </p:set>
                                    <p:animEffect transition="in" filter="blinds(horizontal)">
                                      <p:cBhvr>
                                        <p:cTn id="27" dur="500"/>
                                        <p:tgtEl>
                                          <p:spTgt spid="614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7"/>
                                        </p:tgtEl>
                                        <p:attrNameLst>
                                          <p:attrName>style.visibility</p:attrName>
                                        </p:attrNameLst>
                                      </p:cBhvr>
                                      <p:to>
                                        <p:strVal val="visible"/>
                                      </p:to>
                                    </p:set>
                                    <p:animEffect transition="in" filter="blinds(horizontal)">
                                      <p:cBhvr>
                                        <p:cTn id="32" dur="500"/>
                                        <p:tgtEl>
                                          <p:spTgt spid="61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322"/>
                                        </p:tgtEl>
                                        <p:attrNameLst>
                                          <p:attrName>style.visibility</p:attrName>
                                        </p:attrNameLst>
                                      </p:cBhvr>
                                      <p:to>
                                        <p:strVal val="visible"/>
                                      </p:to>
                                    </p:set>
                                    <p:animEffect transition="in" filter="blinds(horizontal)">
                                      <p:cBhvr>
                                        <p:cTn id="37" dur="500"/>
                                        <p:tgtEl>
                                          <p:spTgt spid="63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50"/>
                                        </p:tgtEl>
                                        <p:attrNameLst>
                                          <p:attrName>style.visibility</p:attrName>
                                        </p:attrNameLst>
                                      </p:cBhvr>
                                      <p:to>
                                        <p:strVal val="visible"/>
                                      </p:to>
                                    </p:set>
                                    <p:animEffect transition="in" filter="blinds(horizontal)">
                                      <p:cBhvr>
                                        <p:cTn id="42" dur="500"/>
                                        <p:tgtEl>
                                          <p:spTgt spid="61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51"/>
                                        </p:tgtEl>
                                        <p:attrNameLst>
                                          <p:attrName>style.visibility</p:attrName>
                                        </p:attrNameLst>
                                      </p:cBhvr>
                                      <p:to>
                                        <p:strVal val="visible"/>
                                      </p:to>
                                    </p:set>
                                    <p:animEffect transition="in" filter="blinds(horizontal)">
                                      <p:cBhvr>
                                        <p:cTn id="47" dur="500"/>
                                        <p:tgtEl>
                                          <p:spTgt spid="615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6332"/>
                                        </p:tgtEl>
                                        <p:attrNameLst>
                                          <p:attrName>style.visibility</p:attrName>
                                        </p:attrNameLst>
                                      </p:cBhvr>
                                      <p:to>
                                        <p:strVal val="visible"/>
                                      </p:to>
                                    </p:set>
                                    <p:animEffect transition="in" filter="blinds(horizontal)">
                                      <p:cBhvr>
                                        <p:cTn id="52" dur="500"/>
                                        <p:tgtEl>
                                          <p:spTgt spid="633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152"/>
                                        </p:tgtEl>
                                        <p:attrNameLst>
                                          <p:attrName>style.visibility</p:attrName>
                                        </p:attrNameLst>
                                      </p:cBhvr>
                                      <p:to>
                                        <p:strVal val="visible"/>
                                      </p:to>
                                    </p:set>
                                    <p:animEffect transition="in" filter="blinds(horizontal)">
                                      <p:cBhvr>
                                        <p:cTn id="57" dur="500"/>
                                        <p:tgtEl>
                                          <p:spTgt spid="615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153"/>
                                        </p:tgtEl>
                                        <p:attrNameLst>
                                          <p:attrName>style.visibility</p:attrName>
                                        </p:attrNameLst>
                                      </p:cBhvr>
                                      <p:to>
                                        <p:strVal val="visible"/>
                                      </p:to>
                                    </p:set>
                                    <p:animEffect transition="in" filter="blinds(horizontal)">
                                      <p:cBhvr>
                                        <p:cTn id="62" dur="500"/>
                                        <p:tgtEl>
                                          <p:spTgt spid="615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6227"/>
                                        </p:tgtEl>
                                        <p:attrNameLst>
                                          <p:attrName>style.visibility</p:attrName>
                                        </p:attrNameLst>
                                      </p:cBhvr>
                                      <p:to>
                                        <p:strVal val="visible"/>
                                      </p:to>
                                    </p:set>
                                    <p:animEffect transition="in" filter="blinds(horizontal)">
                                      <p:cBhvr>
                                        <p:cTn id="67" dur="500"/>
                                        <p:tgtEl>
                                          <p:spTgt spid="622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6234"/>
                                        </p:tgtEl>
                                        <p:attrNameLst>
                                          <p:attrName>style.visibility</p:attrName>
                                        </p:attrNameLst>
                                      </p:cBhvr>
                                      <p:to>
                                        <p:strVal val="visible"/>
                                      </p:to>
                                    </p:set>
                                    <p:animEffect transition="in" filter="blinds(horizontal)">
                                      <p:cBhvr>
                                        <p:cTn id="72" dur="500"/>
                                        <p:tgtEl>
                                          <p:spTgt spid="623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6259"/>
                                        </p:tgtEl>
                                        <p:attrNameLst>
                                          <p:attrName>style.visibility</p:attrName>
                                        </p:attrNameLst>
                                      </p:cBhvr>
                                      <p:to>
                                        <p:strVal val="visible"/>
                                      </p:to>
                                    </p:set>
                                    <p:animEffect transition="in" filter="blinds(horizontal)">
                                      <p:cBhvr>
                                        <p:cTn id="77" dur="500"/>
                                        <p:tgtEl>
                                          <p:spTgt spid="625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6241"/>
                                        </p:tgtEl>
                                        <p:attrNameLst>
                                          <p:attrName>style.visibility</p:attrName>
                                        </p:attrNameLst>
                                      </p:cBhvr>
                                      <p:to>
                                        <p:strVal val="visible"/>
                                      </p:to>
                                    </p:set>
                                    <p:animEffect transition="in" filter="blinds(horizontal)">
                                      <p:cBhvr>
                                        <p:cTn id="82" dur="500"/>
                                        <p:tgtEl>
                                          <p:spTgt spid="624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6268"/>
                                        </p:tgtEl>
                                        <p:attrNameLst>
                                          <p:attrName>style.visibility</p:attrName>
                                        </p:attrNameLst>
                                      </p:cBhvr>
                                      <p:to>
                                        <p:strVal val="visible"/>
                                      </p:to>
                                    </p:set>
                                    <p:animEffect transition="in" filter="blinds(horizontal)">
                                      <p:cBhvr>
                                        <p:cTn id="87" dur="500"/>
                                        <p:tgtEl>
                                          <p:spTgt spid="626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6245"/>
                                        </p:tgtEl>
                                        <p:attrNameLst>
                                          <p:attrName>style.visibility</p:attrName>
                                        </p:attrNameLst>
                                      </p:cBhvr>
                                      <p:to>
                                        <p:strVal val="visible"/>
                                      </p:to>
                                    </p:set>
                                    <p:animEffect transition="in" filter="blinds(horizontal)">
                                      <p:cBhvr>
                                        <p:cTn id="92" dur="500"/>
                                        <p:tgtEl>
                                          <p:spTgt spid="624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6277"/>
                                        </p:tgtEl>
                                        <p:attrNameLst>
                                          <p:attrName>style.visibility</p:attrName>
                                        </p:attrNameLst>
                                      </p:cBhvr>
                                      <p:to>
                                        <p:strVal val="visible"/>
                                      </p:to>
                                    </p:set>
                                    <p:animEffect transition="in" filter="blinds(horizontal)">
                                      <p:cBhvr>
                                        <p:cTn id="97" dur="500"/>
                                        <p:tgtEl>
                                          <p:spTgt spid="6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7" grpId="0" autoUpdateAnimBg="0"/>
      <p:bldP spid="6148" grpId="0" autoUpdateAnimBg="0"/>
      <p:bldP spid="6149" grpId="0" autoUpdateAnimBg="0"/>
      <p:bldP spid="6150" grpId="0" autoUpdateAnimBg="0"/>
      <p:bldP spid="6151" grpId="0" autoUpdateAnimBg="0"/>
      <p:bldP spid="6152" grpId="0" autoUpdateAnimBg="0"/>
      <p:bldP spid="615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reeform 2"/>
          <p:cNvSpPr>
            <a:spLocks/>
          </p:cNvSpPr>
          <p:nvPr/>
        </p:nvSpPr>
        <p:spPr bwMode="auto">
          <a:xfrm>
            <a:off x="2668589" y="1884364"/>
            <a:ext cx="1849437" cy="1587"/>
          </a:xfrm>
          <a:custGeom>
            <a:avLst/>
            <a:gdLst>
              <a:gd name="T0" fmla="*/ 0 w 1165"/>
              <a:gd name="T1" fmla="*/ 1165 w 1165"/>
              <a:gd name="T2" fmla="*/ 0 w 1165"/>
              <a:gd name="T3" fmla="*/ 743 w 1165"/>
            </a:gdLst>
            <a:ahLst/>
            <a:cxnLst>
              <a:cxn ang="0">
                <a:pos x="T0" y="0"/>
              </a:cxn>
              <a:cxn ang="0">
                <a:pos x="T1" y="0"/>
              </a:cxn>
              <a:cxn ang="0">
                <a:pos x="T2" y="0"/>
              </a:cxn>
              <a:cxn ang="0">
                <a:pos x="T3" y="0"/>
              </a:cxn>
            </a:cxnLst>
            <a:rect l="0" t="0" r="r" b="b"/>
            <a:pathLst>
              <a:path w="1165">
                <a:moveTo>
                  <a:pt x="0" y="0"/>
                </a:moveTo>
                <a:lnTo>
                  <a:pt x="1165" y="0"/>
                </a:lnTo>
                <a:lnTo>
                  <a:pt x="0" y="0"/>
                </a:lnTo>
                <a:lnTo>
                  <a:pt x="7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1" name="Freeform 3"/>
          <p:cNvSpPr>
            <a:spLocks/>
          </p:cNvSpPr>
          <p:nvPr/>
        </p:nvSpPr>
        <p:spPr bwMode="auto">
          <a:xfrm>
            <a:off x="3835401" y="1819276"/>
            <a:ext cx="131763"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2" name="Freeform 4"/>
          <p:cNvSpPr>
            <a:spLocks/>
          </p:cNvSpPr>
          <p:nvPr/>
        </p:nvSpPr>
        <p:spPr bwMode="auto">
          <a:xfrm>
            <a:off x="2668589" y="2579689"/>
            <a:ext cx="1849437" cy="1587"/>
          </a:xfrm>
          <a:custGeom>
            <a:avLst/>
            <a:gdLst>
              <a:gd name="T0" fmla="*/ 0 w 1165"/>
              <a:gd name="T1" fmla="*/ 1165 w 1165"/>
              <a:gd name="T2" fmla="*/ 0 w 1165"/>
              <a:gd name="T3" fmla="*/ 743 w 1165"/>
            </a:gdLst>
            <a:ahLst/>
            <a:cxnLst>
              <a:cxn ang="0">
                <a:pos x="T0" y="0"/>
              </a:cxn>
              <a:cxn ang="0">
                <a:pos x="T1" y="0"/>
              </a:cxn>
              <a:cxn ang="0">
                <a:pos x="T2" y="0"/>
              </a:cxn>
              <a:cxn ang="0">
                <a:pos x="T3" y="0"/>
              </a:cxn>
            </a:cxnLst>
            <a:rect l="0" t="0" r="r" b="b"/>
            <a:pathLst>
              <a:path w="1165">
                <a:moveTo>
                  <a:pt x="0" y="0"/>
                </a:moveTo>
                <a:lnTo>
                  <a:pt x="1165" y="0"/>
                </a:lnTo>
                <a:lnTo>
                  <a:pt x="0" y="0"/>
                </a:lnTo>
                <a:lnTo>
                  <a:pt x="7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3" name="Freeform 5"/>
          <p:cNvSpPr>
            <a:spLocks/>
          </p:cNvSpPr>
          <p:nvPr/>
        </p:nvSpPr>
        <p:spPr bwMode="auto">
          <a:xfrm>
            <a:off x="3835401" y="2513013"/>
            <a:ext cx="131763" cy="131762"/>
          </a:xfrm>
          <a:custGeom>
            <a:avLst/>
            <a:gdLst>
              <a:gd name="T0" fmla="*/ 0 w 83"/>
              <a:gd name="T1" fmla="*/ 0 h 83"/>
              <a:gd name="T2" fmla="*/ 83 w 83"/>
              <a:gd name="T3" fmla="*/ 42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4" name="Freeform 6"/>
          <p:cNvSpPr>
            <a:spLocks/>
          </p:cNvSpPr>
          <p:nvPr/>
        </p:nvSpPr>
        <p:spPr bwMode="auto">
          <a:xfrm>
            <a:off x="2668589" y="3273425"/>
            <a:ext cx="1849437" cy="1588"/>
          </a:xfrm>
          <a:custGeom>
            <a:avLst/>
            <a:gdLst>
              <a:gd name="T0" fmla="*/ 0 w 1165"/>
              <a:gd name="T1" fmla="*/ 1165 w 1165"/>
              <a:gd name="T2" fmla="*/ 0 w 1165"/>
              <a:gd name="T3" fmla="*/ 743 w 1165"/>
            </a:gdLst>
            <a:ahLst/>
            <a:cxnLst>
              <a:cxn ang="0">
                <a:pos x="T0" y="0"/>
              </a:cxn>
              <a:cxn ang="0">
                <a:pos x="T1" y="0"/>
              </a:cxn>
              <a:cxn ang="0">
                <a:pos x="T2" y="0"/>
              </a:cxn>
              <a:cxn ang="0">
                <a:pos x="T3" y="0"/>
              </a:cxn>
            </a:cxnLst>
            <a:rect l="0" t="0" r="r" b="b"/>
            <a:pathLst>
              <a:path w="1165">
                <a:moveTo>
                  <a:pt x="0" y="0"/>
                </a:moveTo>
                <a:lnTo>
                  <a:pt x="1165" y="0"/>
                </a:lnTo>
                <a:lnTo>
                  <a:pt x="0" y="0"/>
                </a:lnTo>
                <a:lnTo>
                  <a:pt x="7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5" name="Freeform 7"/>
          <p:cNvSpPr>
            <a:spLocks/>
          </p:cNvSpPr>
          <p:nvPr/>
        </p:nvSpPr>
        <p:spPr bwMode="auto">
          <a:xfrm>
            <a:off x="3835401" y="3208338"/>
            <a:ext cx="131763" cy="131762"/>
          </a:xfrm>
          <a:custGeom>
            <a:avLst/>
            <a:gdLst>
              <a:gd name="T0" fmla="*/ 0 w 83"/>
              <a:gd name="T1" fmla="*/ 0 h 83"/>
              <a:gd name="T2" fmla="*/ 83 w 83"/>
              <a:gd name="T3" fmla="*/ 41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6" name="Freeform 8"/>
          <p:cNvSpPr>
            <a:spLocks/>
          </p:cNvSpPr>
          <p:nvPr/>
        </p:nvSpPr>
        <p:spPr bwMode="auto">
          <a:xfrm>
            <a:off x="2668589" y="3968750"/>
            <a:ext cx="1849437" cy="1588"/>
          </a:xfrm>
          <a:custGeom>
            <a:avLst/>
            <a:gdLst>
              <a:gd name="T0" fmla="*/ 0 w 1165"/>
              <a:gd name="T1" fmla="*/ 1165 w 1165"/>
              <a:gd name="T2" fmla="*/ 0 w 1165"/>
              <a:gd name="T3" fmla="*/ 743 w 1165"/>
            </a:gdLst>
            <a:ahLst/>
            <a:cxnLst>
              <a:cxn ang="0">
                <a:pos x="T0" y="0"/>
              </a:cxn>
              <a:cxn ang="0">
                <a:pos x="T1" y="0"/>
              </a:cxn>
              <a:cxn ang="0">
                <a:pos x="T2" y="0"/>
              </a:cxn>
              <a:cxn ang="0">
                <a:pos x="T3" y="0"/>
              </a:cxn>
            </a:cxnLst>
            <a:rect l="0" t="0" r="r" b="b"/>
            <a:pathLst>
              <a:path w="1165">
                <a:moveTo>
                  <a:pt x="0" y="0"/>
                </a:moveTo>
                <a:lnTo>
                  <a:pt x="1165" y="0"/>
                </a:lnTo>
                <a:lnTo>
                  <a:pt x="0" y="0"/>
                </a:lnTo>
                <a:lnTo>
                  <a:pt x="7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7" name="Freeform 9"/>
          <p:cNvSpPr>
            <a:spLocks/>
          </p:cNvSpPr>
          <p:nvPr/>
        </p:nvSpPr>
        <p:spPr bwMode="auto">
          <a:xfrm>
            <a:off x="3835401" y="3903664"/>
            <a:ext cx="131763" cy="142875"/>
          </a:xfrm>
          <a:custGeom>
            <a:avLst/>
            <a:gdLst>
              <a:gd name="T0" fmla="*/ 0 w 83"/>
              <a:gd name="T1" fmla="*/ 0 h 90"/>
              <a:gd name="T2" fmla="*/ 83 w 83"/>
              <a:gd name="T3" fmla="*/ 41 h 90"/>
              <a:gd name="T4" fmla="*/ 0 w 83"/>
              <a:gd name="T5" fmla="*/ 90 h 90"/>
              <a:gd name="T6" fmla="*/ 0 w 83"/>
              <a:gd name="T7" fmla="*/ 0 h 90"/>
            </a:gdLst>
            <a:ahLst/>
            <a:cxnLst>
              <a:cxn ang="0">
                <a:pos x="T0" y="T1"/>
              </a:cxn>
              <a:cxn ang="0">
                <a:pos x="T2" y="T3"/>
              </a:cxn>
              <a:cxn ang="0">
                <a:pos x="T4" y="T5"/>
              </a:cxn>
              <a:cxn ang="0">
                <a:pos x="T6" y="T7"/>
              </a:cxn>
            </a:cxnLst>
            <a:rect l="0" t="0" r="r" b="b"/>
            <a:pathLst>
              <a:path w="83" h="90">
                <a:moveTo>
                  <a:pt x="0" y="0"/>
                </a:moveTo>
                <a:lnTo>
                  <a:pt x="83" y="41"/>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78" name="Freeform 10"/>
          <p:cNvSpPr>
            <a:spLocks/>
          </p:cNvSpPr>
          <p:nvPr/>
        </p:nvSpPr>
        <p:spPr bwMode="auto">
          <a:xfrm>
            <a:off x="2668589" y="4676775"/>
            <a:ext cx="1849437" cy="1588"/>
          </a:xfrm>
          <a:custGeom>
            <a:avLst/>
            <a:gdLst>
              <a:gd name="T0" fmla="*/ 0 w 1165"/>
              <a:gd name="T1" fmla="*/ 1165 w 1165"/>
              <a:gd name="T2" fmla="*/ 0 w 1165"/>
              <a:gd name="T3" fmla="*/ 743 w 1165"/>
            </a:gdLst>
            <a:ahLst/>
            <a:cxnLst>
              <a:cxn ang="0">
                <a:pos x="T0" y="0"/>
              </a:cxn>
              <a:cxn ang="0">
                <a:pos x="T1" y="0"/>
              </a:cxn>
              <a:cxn ang="0">
                <a:pos x="T2" y="0"/>
              </a:cxn>
              <a:cxn ang="0">
                <a:pos x="T3" y="0"/>
              </a:cxn>
            </a:cxnLst>
            <a:rect l="0" t="0" r="r" b="b"/>
            <a:pathLst>
              <a:path w="1165">
                <a:moveTo>
                  <a:pt x="0" y="0"/>
                </a:moveTo>
                <a:lnTo>
                  <a:pt x="1165" y="0"/>
                </a:lnTo>
                <a:lnTo>
                  <a:pt x="0" y="0"/>
                </a:lnTo>
                <a:lnTo>
                  <a:pt x="7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9" name="Freeform 11"/>
          <p:cNvSpPr>
            <a:spLocks/>
          </p:cNvSpPr>
          <p:nvPr/>
        </p:nvSpPr>
        <p:spPr bwMode="auto">
          <a:xfrm>
            <a:off x="3835401" y="4611689"/>
            <a:ext cx="131763"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0" name="Freeform 12"/>
          <p:cNvSpPr>
            <a:spLocks/>
          </p:cNvSpPr>
          <p:nvPr/>
        </p:nvSpPr>
        <p:spPr bwMode="auto">
          <a:xfrm>
            <a:off x="2668589" y="5372100"/>
            <a:ext cx="1849437" cy="1588"/>
          </a:xfrm>
          <a:custGeom>
            <a:avLst/>
            <a:gdLst>
              <a:gd name="T0" fmla="*/ 0 w 1165"/>
              <a:gd name="T1" fmla="*/ 1165 w 1165"/>
              <a:gd name="T2" fmla="*/ 0 w 1165"/>
              <a:gd name="T3" fmla="*/ 743 w 1165"/>
            </a:gdLst>
            <a:ahLst/>
            <a:cxnLst>
              <a:cxn ang="0">
                <a:pos x="T0" y="0"/>
              </a:cxn>
              <a:cxn ang="0">
                <a:pos x="T1" y="0"/>
              </a:cxn>
              <a:cxn ang="0">
                <a:pos x="T2" y="0"/>
              </a:cxn>
              <a:cxn ang="0">
                <a:pos x="T3" y="0"/>
              </a:cxn>
            </a:cxnLst>
            <a:rect l="0" t="0" r="r" b="b"/>
            <a:pathLst>
              <a:path w="1165">
                <a:moveTo>
                  <a:pt x="0" y="0"/>
                </a:moveTo>
                <a:lnTo>
                  <a:pt x="1165" y="0"/>
                </a:lnTo>
                <a:lnTo>
                  <a:pt x="0" y="0"/>
                </a:lnTo>
                <a:lnTo>
                  <a:pt x="7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81" name="Freeform 13"/>
          <p:cNvSpPr>
            <a:spLocks/>
          </p:cNvSpPr>
          <p:nvPr/>
        </p:nvSpPr>
        <p:spPr bwMode="auto">
          <a:xfrm>
            <a:off x="3835401" y="5305426"/>
            <a:ext cx="131763" cy="131763"/>
          </a:xfrm>
          <a:custGeom>
            <a:avLst/>
            <a:gdLst>
              <a:gd name="T0" fmla="*/ 0 w 83"/>
              <a:gd name="T1" fmla="*/ 0 h 83"/>
              <a:gd name="T2" fmla="*/ 83 w 83"/>
              <a:gd name="T3" fmla="*/ 42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2" name="Freeform 14"/>
          <p:cNvSpPr>
            <a:spLocks/>
          </p:cNvSpPr>
          <p:nvPr/>
        </p:nvSpPr>
        <p:spPr bwMode="auto">
          <a:xfrm>
            <a:off x="2668589" y="6065839"/>
            <a:ext cx="1849437" cy="1587"/>
          </a:xfrm>
          <a:custGeom>
            <a:avLst/>
            <a:gdLst>
              <a:gd name="T0" fmla="*/ 0 w 1165"/>
              <a:gd name="T1" fmla="*/ 1165 w 1165"/>
              <a:gd name="T2" fmla="*/ 0 w 1165"/>
              <a:gd name="T3" fmla="*/ 743 w 1165"/>
            </a:gdLst>
            <a:ahLst/>
            <a:cxnLst>
              <a:cxn ang="0">
                <a:pos x="T0" y="0"/>
              </a:cxn>
              <a:cxn ang="0">
                <a:pos x="T1" y="0"/>
              </a:cxn>
              <a:cxn ang="0">
                <a:pos x="T2" y="0"/>
              </a:cxn>
              <a:cxn ang="0">
                <a:pos x="T3" y="0"/>
              </a:cxn>
            </a:cxnLst>
            <a:rect l="0" t="0" r="r" b="b"/>
            <a:pathLst>
              <a:path w="1165">
                <a:moveTo>
                  <a:pt x="0" y="0"/>
                </a:moveTo>
                <a:lnTo>
                  <a:pt x="1165" y="0"/>
                </a:lnTo>
                <a:lnTo>
                  <a:pt x="0" y="0"/>
                </a:lnTo>
                <a:lnTo>
                  <a:pt x="7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83" name="Freeform 15"/>
          <p:cNvSpPr>
            <a:spLocks/>
          </p:cNvSpPr>
          <p:nvPr/>
        </p:nvSpPr>
        <p:spPr bwMode="auto">
          <a:xfrm>
            <a:off x="3835401" y="6000751"/>
            <a:ext cx="131763"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4" name="Freeform 16"/>
          <p:cNvSpPr>
            <a:spLocks/>
          </p:cNvSpPr>
          <p:nvPr/>
        </p:nvSpPr>
        <p:spPr bwMode="auto">
          <a:xfrm>
            <a:off x="4518025" y="1884364"/>
            <a:ext cx="471488" cy="1587"/>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85" name="Freeform 17"/>
          <p:cNvSpPr>
            <a:spLocks/>
          </p:cNvSpPr>
          <p:nvPr/>
        </p:nvSpPr>
        <p:spPr bwMode="auto">
          <a:xfrm>
            <a:off x="4713288" y="1819276"/>
            <a:ext cx="131762"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6" name="Freeform 18"/>
          <p:cNvSpPr>
            <a:spLocks/>
          </p:cNvSpPr>
          <p:nvPr/>
        </p:nvSpPr>
        <p:spPr bwMode="auto">
          <a:xfrm>
            <a:off x="4518025" y="2579689"/>
            <a:ext cx="471488" cy="1587"/>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87" name="Freeform 19"/>
          <p:cNvSpPr>
            <a:spLocks/>
          </p:cNvSpPr>
          <p:nvPr/>
        </p:nvSpPr>
        <p:spPr bwMode="auto">
          <a:xfrm>
            <a:off x="4713288" y="2513013"/>
            <a:ext cx="131762" cy="131762"/>
          </a:xfrm>
          <a:custGeom>
            <a:avLst/>
            <a:gdLst>
              <a:gd name="T0" fmla="*/ 0 w 83"/>
              <a:gd name="T1" fmla="*/ 0 h 83"/>
              <a:gd name="T2" fmla="*/ 83 w 83"/>
              <a:gd name="T3" fmla="*/ 42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8" name="Freeform 20"/>
          <p:cNvSpPr>
            <a:spLocks/>
          </p:cNvSpPr>
          <p:nvPr/>
        </p:nvSpPr>
        <p:spPr bwMode="auto">
          <a:xfrm>
            <a:off x="4518025" y="3273425"/>
            <a:ext cx="471488" cy="1588"/>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89" name="Freeform 21"/>
          <p:cNvSpPr>
            <a:spLocks/>
          </p:cNvSpPr>
          <p:nvPr/>
        </p:nvSpPr>
        <p:spPr bwMode="auto">
          <a:xfrm>
            <a:off x="4713288" y="3208338"/>
            <a:ext cx="131762" cy="131762"/>
          </a:xfrm>
          <a:custGeom>
            <a:avLst/>
            <a:gdLst>
              <a:gd name="T0" fmla="*/ 0 w 83"/>
              <a:gd name="T1" fmla="*/ 0 h 83"/>
              <a:gd name="T2" fmla="*/ 83 w 83"/>
              <a:gd name="T3" fmla="*/ 41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0" name="Freeform 22"/>
          <p:cNvSpPr>
            <a:spLocks/>
          </p:cNvSpPr>
          <p:nvPr/>
        </p:nvSpPr>
        <p:spPr bwMode="auto">
          <a:xfrm>
            <a:off x="4518025" y="3968750"/>
            <a:ext cx="471488" cy="1588"/>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91" name="Freeform 23"/>
          <p:cNvSpPr>
            <a:spLocks/>
          </p:cNvSpPr>
          <p:nvPr/>
        </p:nvSpPr>
        <p:spPr bwMode="auto">
          <a:xfrm>
            <a:off x="4713288" y="3903664"/>
            <a:ext cx="131762" cy="142875"/>
          </a:xfrm>
          <a:custGeom>
            <a:avLst/>
            <a:gdLst>
              <a:gd name="T0" fmla="*/ 0 w 83"/>
              <a:gd name="T1" fmla="*/ 0 h 90"/>
              <a:gd name="T2" fmla="*/ 83 w 83"/>
              <a:gd name="T3" fmla="*/ 41 h 90"/>
              <a:gd name="T4" fmla="*/ 0 w 83"/>
              <a:gd name="T5" fmla="*/ 90 h 90"/>
              <a:gd name="T6" fmla="*/ 0 w 83"/>
              <a:gd name="T7" fmla="*/ 0 h 90"/>
            </a:gdLst>
            <a:ahLst/>
            <a:cxnLst>
              <a:cxn ang="0">
                <a:pos x="T0" y="T1"/>
              </a:cxn>
              <a:cxn ang="0">
                <a:pos x="T2" y="T3"/>
              </a:cxn>
              <a:cxn ang="0">
                <a:pos x="T4" y="T5"/>
              </a:cxn>
              <a:cxn ang="0">
                <a:pos x="T6" y="T7"/>
              </a:cxn>
            </a:cxnLst>
            <a:rect l="0" t="0" r="r" b="b"/>
            <a:pathLst>
              <a:path w="83" h="90">
                <a:moveTo>
                  <a:pt x="0" y="0"/>
                </a:moveTo>
                <a:lnTo>
                  <a:pt x="83" y="41"/>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2" name="Freeform 24"/>
          <p:cNvSpPr>
            <a:spLocks/>
          </p:cNvSpPr>
          <p:nvPr/>
        </p:nvSpPr>
        <p:spPr bwMode="auto">
          <a:xfrm>
            <a:off x="4518025" y="4676775"/>
            <a:ext cx="471488" cy="1588"/>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93" name="Freeform 25"/>
          <p:cNvSpPr>
            <a:spLocks/>
          </p:cNvSpPr>
          <p:nvPr/>
        </p:nvSpPr>
        <p:spPr bwMode="auto">
          <a:xfrm>
            <a:off x="4713288" y="4611689"/>
            <a:ext cx="131762"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4" name="Freeform 26"/>
          <p:cNvSpPr>
            <a:spLocks/>
          </p:cNvSpPr>
          <p:nvPr/>
        </p:nvSpPr>
        <p:spPr bwMode="auto">
          <a:xfrm>
            <a:off x="4518025" y="5372100"/>
            <a:ext cx="471488" cy="1588"/>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95" name="Freeform 27"/>
          <p:cNvSpPr>
            <a:spLocks/>
          </p:cNvSpPr>
          <p:nvPr/>
        </p:nvSpPr>
        <p:spPr bwMode="auto">
          <a:xfrm>
            <a:off x="4713288" y="5305426"/>
            <a:ext cx="131762" cy="131763"/>
          </a:xfrm>
          <a:custGeom>
            <a:avLst/>
            <a:gdLst>
              <a:gd name="T0" fmla="*/ 0 w 83"/>
              <a:gd name="T1" fmla="*/ 0 h 83"/>
              <a:gd name="T2" fmla="*/ 83 w 83"/>
              <a:gd name="T3" fmla="*/ 42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6" name="Freeform 28"/>
          <p:cNvSpPr>
            <a:spLocks/>
          </p:cNvSpPr>
          <p:nvPr/>
        </p:nvSpPr>
        <p:spPr bwMode="auto">
          <a:xfrm>
            <a:off x="4518025" y="6065839"/>
            <a:ext cx="471488" cy="1587"/>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97" name="Freeform 29"/>
          <p:cNvSpPr>
            <a:spLocks/>
          </p:cNvSpPr>
          <p:nvPr/>
        </p:nvSpPr>
        <p:spPr bwMode="auto">
          <a:xfrm>
            <a:off x="4713288" y="6000751"/>
            <a:ext cx="131762"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8" name="Freeform 30"/>
          <p:cNvSpPr>
            <a:spLocks/>
          </p:cNvSpPr>
          <p:nvPr/>
        </p:nvSpPr>
        <p:spPr bwMode="auto">
          <a:xfrm>
            <a:off x="2668589" y="1189038"/>
            <a:ext cx="1849437" cy="2779712"/>
          </a:xfrm>
          <a:custGeom>
            <a:avLst/>
            <a:gdLst>
              <a:gd name="T0" fmla="*/ 0 w 1165"/>
              <a:gd name="T1" fmla="*/ 1751 h 1751"/>
              <a:gd name="T2" fmla="*/ 1165 w 1165"/>
              <a:gd name="T3" fmla="*/ 0 h 1751"/>
              <a:gd name="T4" fmla="*/ 0 w 1165"/>
              <a:gd name="T5" fmla="*/ 1751 h 1751"/>
              <a:gd name="T6" fmla="*/ 776 w 1165"/>
              <a:gd name="T7" fmla="*/ 587 h 1751"/>
            </a:gdLst>
            <a:ahLst/>
            <a:cxnLst>
              <a:cxn ang="0">
                <a:pos x="T0" y="T1"/>
              </a:cxn>
              <a:cxn ang="0">
                <a:pos x="T2" y="T3"/>
              </a:cxn>
              <a:cxn ang="0">
                <a:pos x="T4" y="T5"/>
              </a:cxn>
              <a:cxn ang="0">
                <a:pos x="T6" y="T7"/>
              </a:cxn>
            </a:cxnLst>
            <a:rect l="0" t="0" r="r" b="b"/>
            <a:pathLst>
              <a:path w="1165" h="1751">
                <a:moveTo>
                  <a:pt x="0" y="1751"/>
                </a:moveTo>
                <a:lnTo>
                  <a:pt x="1165" y="0"/>
                </a:lnTo>
                <a:lnTo>
                  <a:pt x="0" y="1751"/>
                </a:lnTo>
                <a:lnTo>
                  <a:pt x="776" y="587"/>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99" name="Freeform 31"/>
          <p:cNvSpPr>
            <a:spLocks/>
          </p:cNvSpPr>
          <p:nvPr/>
        </p:nvSpPr>
        <p:spPr bwMode="auto">
          <a:xfrm>
            <a:off x="3835401" y="2028826"/>
            <a:ext cx="131763" cy="144463"/>
          </a:xfrm>
          <a:custGeom>
            <a:avLst/>
            <a:gdLst>
              <a:gd name="T0" fmla="*/ 0 w 83"/>
              <a:gd name="T1" fmla="*/ 41 h 91"/>
              <a:gd name="T2" fmla="*/ 83 w 83"/>
              <a:gd name="T3" fmla="*/ 0 h 91"/>
              <a:gd name="T4" fmla="*/ 66 w 83"/>
              <a:gd name="T5" fmla="*/ 91 h 91"/>
              <a:gd name="T6" fmla="*/ 0 w 83"/>
              <a:gd name="T7" fmla="*/ 41 h 91"/>
            </a:gdLst>
            <a:ahLst/>
            <a:cxnLst>
              <a:cxn ang="0">
                <a:pos x="T0" y="T1"/>
              </a:cxn>
              <a:cxn ang="0">
                <a:pos x="T2" y="T3"/>
              </a:cxn>
              <a:cxn ang="0">
                <a:pos x="T4" y="T5"/>
              </a:cxn>
              <a:cxn ang="0">
                <a:pos x="T6" y="T7"/>
              </a:cxn>
            </a:cxnLst>
            <a:rect l="0" t="0" r="r" b="b"/>
            <a:pathLst>
              <a:path w="83" h="91">
                <a:moveTo>
                  <a:pt x="0" y="41"/>
                </a:moveTo>
                <a:lnTo>
                  <a:pt x="83" y="0"/>
                </a:lnTo>
                <a:lnTo>
                  <a:pt x="66" y="91"/>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0" name="Freeform 32"/>
          <p:cNvSpPr>
            <a:spLocks/>
          </p:cNvSpPr>
          <p:nvPr/>
        </p:nvSpPr>
        <p:spPr bwMode="auto">
          <a:xfrm>
            <a:off x="2668589" y="1884363"/>
            <a:ext cx="1849437" cy="2792412"/>
          </a:xfrm>
          <a:custGeom>
            <a:avLst/>
            <a:gdLst>
              <a:gd name="T0" fmla="*/ 0 w 1165"/>
              <a:gd name="T1" fmla="*/ 1759 h 1759"/>
              <a:gd name="T2" fmla="*/ 1165 w 1165"/>
              <a:gd name="T3" fmla="*/ 0 h 1759"/>
              <a:gd name="T4" fmla="*/ 0 w 1165"/>
              <a:gd name="T5" fmla="*/ 1759 h 1759"/>
              <a:gd name="T6" fmla="*/ 776 w 1165"/>
              <a:gd name="T7" fmla="*/ 586 h 1759"/>
            </a:gdLst>
            <a:ahLst/>
            <a:cxnLst>
              <a:cxn ang="0">
                <a:pos x="T0" y="T1"/>
              </a:cxn>
              <a:cxn ang="0">
                <a:pos x="T2" y="T3"/>
              </a:cxn>
              <a:cxn ang="0">
                <a:pos x="T4" y="T5"/>
              </a:cxn>
              <a:cxn ang="0">
                <a:pos x="T6" y="T7"/>
              </a:cxn>
            </a:cxnLst>
            <a:rect l="0" t="0" r="r" b="b"/>
            <a:pathLst>
              <a:path w="1165" h="1759">
                <a:moveTo>
                  <a:pt x="0" y="1759"/>
                </a:moveTo>
                <a:lnTo>
                  <a:pt x="1165" y="0"/>
                </a:lnTo>
                <a:lnTo>
                  <a:pt x="0" y="1759"/>
                </a:lnTo>
                <a:lnTo>
                  <a:pt x="776" y="58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1" name="Freeform 33"/>
          <p:cNvSpPr>
            <a:spLocks/>
          </p:cNvSpPr>
          <p:nvPr/>
        </p:nvSpPr>
        <p:spPr bwMode="auto">
          <a:xfrm>
            <a:off x="3835401" y="2722563"/>
            <a:ext cx="131763" cy="144462"/>
          </a:xfrm>
          <a:custGeom>
            <a:avLst/>
            <a:gdLst>
              <a:gd name="T0" fmla="*/ 0 w 83"/>
              <a:gd name="T1" fmla="*/ 42 h 91"/>
              <a:gd name="T2" fmla="*/ 83 w 83"/>
              <a:gd name="T3" fmla="*/ 0 h 91"/>
              <a:gd name="T4" fmla="*/ 66 w 83"/>
              <a:gd name="T5" fmla="*/ 91 h 91"/>
              <a:gd name="T6" fmla="*/ 0 w 83"/>
              <a:gd name="T7" fmla="*/ 42 h 91"/>
            </a:gdLst>
            <a:ahLst/>
            <a:cxnLst>
              <a:cxn ang="0">
                <a:pos x="T0" y="T1"/>
              </a:cxn>
              <a:cxn ang="0">
                <a:pos x="T2" y="T3"/>
              </a:cxn>
              <a:cxn ang="0">
                <a:pos x="T4" y="T5"/>
              </a:cxn>
              <a:cxn ang="0">
                <a:pos x="T6" y="T7"/>
              </a:cxn>
            </a:cxnLst>
            <a:rect l="0" t="0" r="r" b="b"/>
            <a:pathLst>
              <a:path w="83" h="91">
                <a:moveTo>
                  <a:pt x="0" y="42"/>
                </a:moveTo>
                <a:lnTo>
                  <a:pt x="83" y="0"/>
                </a:lnTo>
                <a:lnTo>
                  <a:pt x="66" y="91"/>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2" name="Freeform 34"/>
          <p:cNvSpPr>
            <a:spLocks/>
          </p:cNvSpPr>
          <p:nvPr/>
        </p:nvSpPr>
        <p:spPr bwMode="auto">
          <a:xfrm>
            <a:off x="2668589" y="2579688"/>
            <a:ext cx="1849437" cy="2792412"/>
          </a:xfrm>
          <a:custGeom>
            <a:avLst/>
            <a:gdLst>
              <a:gd name="T0" fmla="*/ 0 w 1165"/>
              <a:gd name="T1" fmla="*/ 1759 h 1759"/>
              <a:gd name="T2" fmla="*/ 1165 w 1165"/>
              <a:gd name="T3" fmla="*/ 0 h 1759"/>
              <a:gd name="T4" fmla="*/ 0 w 1165"/>
              <a:gd name="T5" fmla="*/ 1759 h 1759"/>
              <a:gd name="T6" fmla="*/ 776 w 1165"/>
              <a:gd name="T7" fmla="*/ 586 h 1759"/>
            </a:gdLst>
            <a:ahLst/>
            <a:cxnLst>
              <a:cxn ang="0">
                <a:pos x="T0" y="T1"/>
              </a:cxn>
              <a:cxn ang="0">
                <a:pos x="T2" y="T3"/>
              </a:cxn>
              <a:cxn ang="0">
                <a:pos x="T4" y="T5"/>
              </a:cxn>
              <a:cxn ang="0">
                <a:pos x="T6" y="T7"/>
              </a:cxn>
            </a:cxnLst>
            <a:rect l="0" t="0" r="r" b="b"/>
            <a:pathLst>
              <a:path w="1165" h="1759">
                <a:moveTo>
                  <a:pt x="0" y="1759"/>
                </a:moveTo>
                <a:lnTo>
                  <a:pt x="1165" y="0"/>
                </a:lnTo>
                <a:lnTo>
                  <a:pt x="0" y="1759"/>
                </a:lnTo>
                <a:lnTo>
                  <a:pt x="776" y="58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3" name="Freeform 35"/>
          <p:cNvSpPr>
            <a:spLocks/>
          </p:cNvSpPr>
          <p:nvPr/>
        </p:nvSpPr>
        <p:spPr bwMode="auto">
          <a:xfrm>
            <a:off x="3835401" y="3417888"/>
            <a:ext cx="131763" cy="144462"/>
          </a:xfrm>
          <a:custGeom>
            <a:avLst/>
            <a:gdLst>
              <a:gd name="T0" fmla="*/ 0 w 83"/>
              <a:gd name="T1" fmla="*/ 50 h 91"/>
              <a:gd name="T2" fmla="*/ 83 w 83"/>
              <a:gd name="T3" fmla="*/ 0 h 91"/>
              <a:gd name="T4" fmla="*/ 66 w 83"/>
              <a:gd name="T5" fmla="*/ 91 h 91"/>
              <a:gd name="T6" fmla="*/ 0 w 83"/>
              <a:gd name="T7" fmla="*/ 50 h 91"/>
            </a:gdLst>
            <a:ahLst/>
            <a:cxnLst>
              <a:cxn ang="0">
                <a:pos x="T0" y="T1"/>
              </a:cxn>
              <a:cxn ang="0">
                <a:pos x="T2" y="T3"/>
              </a:cxn>
              <a:cxn ang="0">
                <a:pos x="T4" y="T5"/>
              </a:cxn>
              <a:cxn ang="0">
                <a:pos x="T6" y="T7"/>
              </a:cxn>
            </a:cxnLst>
            <a:rect l="0" t="0" r="r" b="b"/>
            <a:pathLst>
              <a:path w="83" h="91">
                <a:moveTo>
                  <a:pt x="0" y="50"/>
                </a:moveTo>
                <a:lnTo>
                  <a:pt x="83" y="0"/>
                </a:lnTo>
                <a:lnTo>
                  <a:pt x="66" y="91"/>
                </a:lnTo>
                <a:lnTo>
                  <a:pt x="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4" name="Freeform 36"/>
          <p:cNvSpPr>
            <a:spLocks/>
          </p:cNvSpPr>
          <p:nvPr/>
        </p:nvSpPr>
        <p:spPr bwMode="auto">
          <a:xfrm>
            <a:off x="2668589" y="3287714"/>
            <a:ext cx="1849437" cy="2778125"/>
          </a:xfrm>
          <a:custGeom>
            <a:avLst/>
            <a:gdLst>
              <a:gd name="T0" fmla="*/ 0 w 1165"/>
              <a:gd name="T1" fmla="*/ 1750 h 1750"/>
              <a:gd name="T2" fmla="*/ 1165 w 1165"/>
              <a:gd name="T3" fmla="*/ 0 h 1750"/>
              <a:gd name="T4" fmla="*/ 0 w 1165"/>
              <a:gd name="T5" fmla="*/ 1750 h 1750"/>
              <a:gd name="T6" fmla="*/ 776 w 1165"/>
              <a:gd name="T7" fmla="*/ 586 h 1750"/>
            </a:gdLst>
            <a:ahLst/>
            <a:cxnLst>
              <a:cxn ang="0">
                <a:pos x="T0" y="T1"/>
              </a:cxn>
              <a:cxn ang="0">
                <a:pos x="T2" y="T3"/>
              </a:cxn>
              <a:cxn ang="0">
                <a:pos x="T4" y="T5"/>
              </a:cxn>
              <a:cxn ang="0">
                <a:pos x="T6" y="T7"/>
              </a:cxn>
            </a:cxnLst>
            <a:rect l="0" t="0" r="r" b="b"/>
            <a:pathLst>
              <a:path w="1165" h="1750">
                <a:moveTo>
                  <a:pt x="0" y="1750"/>
                </a:moveTo>
                <a:lnTo>
                  <a:pt x="1165" y="0"/>
                </a:lnTo>
                <a:lnTo>
                  <a:pt x="0" y="1750"/>
                </a:lnTo>
                <a:lnTo>
                  <a:pt x="776" y="58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5" name="Freeform 37"/>
          <p:cNvSpPr>
            <a:spLocks/>
          </p:cNvSpPr>
          <p:nvPr/>
        </p:nvSpPr>
        <p:spPr bwMode="auto">
          <a:xfrm>
            <a:off x="3835401" y="4125913"/>
            <a:ext cx="131763" cy="144462"/>
          </a:xfrm>
          <a:custGeom>
            <a:avLst/>
            <a:gdLst>
              <a:gd name="T0" fmla="*/ 0 w 83"/>
              <a:gd name="T1" fmla="*/ 41 h 91"/>
              <a:gd name="T2" fmla="*/ 83 w 83"/>
              <a:gd name="T3" fmla="*/ 0 h 91"/>
              <a:gd name="T4" fmla="*/ 66 w 83"/>
              <a:gd name="T5" fmla="*/ 91 h 91"/>
              <a:gd name="T6" fmla="*/ 0 w 83"/>
              <a:gd name="T7" fmla="*/ 41 h 91"/>
            </a:gdLst>
            <a:ahLst/>
            <a:cxnLst>
              <a:cxn ang="0">
                <a:pos x="T0" y="T1"/>
              </a:cxn>
              <a:cxn ang="0">
                <a:pos x="T2" y="T3"/>
              </a:cxn>
              <a:cxn ang="0">
                <a:pos x="T4" y="T5"/>
              </a:cxn>
              <a:cxn ang="0">
                <a:pos x="T6" y="T7"/>
              </a:cxn>
            </a:cxnLst>
            <a:rect l="0" t="0" r="r" b="b"/>
            <a:pathLst>
              <a:path w="83" h="91">
                <a:moveTo>
                  <a:pt x="0" y="41"/>
                </a:moveTo>
                <a:lnTo>
                  <a:pt x="83" y="0"/>
                </a:lnTo>
                <a:lnTo>
                  <a:pt x="66" y="91"/>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6" name="Freeform 38"/>
          <p:cNvSpPr>
            <a:spLocks/>
          </p:cNvSpPr>
          <p:nvPr/>
        </p:nvSpPr>
        <p:spPr bwMode="auto">
          <a:xfrm>
            <a:off x="2668589" y="1189038"/>
            <a:ext cx="1849437" cy="2779712"/>
          </a:xfrm>
          <a:custGeom>
            <a:avLst/>
            <a:gdLst>
              <a:gd name="T0" fmla="*/ 0 w 1165"/>
              <a:gd name="T1" fmla="*/ 0 h 1751"/>
              <a:gd name="T2" fmla="*/ 1165 w 1165"/>
              <a:gd name="T3" fmla="*/ 1751 h 1751"/>
              <a:gd name="T4" fmla="*/ 0 w 1165"/>
              <a:gd name="T5" fmla="*/ 0 h 1751"/>
              <a:gd name="T6" fmla="*/ 776 w 1165"/>
              <a:gd name="T7" fmla="*/ 1165 h 1751"/>
            </a:gdLst>
            <a:ahLst/>
            <a:cxnLst>
              <a:cxn ang="0">
                <a:pos x="T0" y="T1"/>
              </a:cxn>
              <a:cxn ang="0">
                <a:pos x="T2" y="T3"/>
              </a:cxn>
              <a:cxn ang="0">
                <a:pos x="T4" y="T5"/>
              </a:cxn>
              <a:cxn ang="0">
                <a:pos x="T6" y="T7"/>
              </a:cxn>
            </a:cxnLst>
            <a:rect l="0" t="0" r="r" b="b"/>
            <a:pathLst>
              <a:path w="1165" h="1751">
                <a:moveTo>
                  <a:pt x="0" y="0"/>
                </a:moveTo>
                <a:lnTo>
                  <a:pt x="1165" y="1751"/>
                </a:lnTo>
                <a:lnTo>
                  <a:pt x="0" y="0"/>
                </a:lnTo>
                <a:lnTo>
                  <a:pt x="776" y="116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7" name="Freeform 39"/>
          <p:cNvSpPr>
            <a:spLocks/>
          </p:cNvSpPr>
          <p:nvPr/>
        </p:nvSpPr>
        <p:spPr bwMode="auto">
          <a:xfrm>
            <a:off x="3835401" y="2986088"/>
            <a:ext cx="131763" cy="157162"/>
          </a:xfrm>
          <a:custGeom>
            <a:avLst/>
            <a:gdLst>
              <a:gd name="T0" fmla="*/ 66 w 83"/>
              <a:gd name="T1" fmla="*/ 0 h 99"/>
              <a:gd name="T2" fmla="*/ 83 w 83"/>
              <a:gd name="T3" fmla="*/ 99 h 99"/>
              <a:gd name="T4" fmla="*/ 0 w 83"/>
              <a:gd name="T5" fmla="*/ 49 h 99"/>
              <a:gd name="T6" fmla="*/ 66 w 83"/>
              <a:gd name="T7" fmla="*/ 0 h 99"/>
            </a:gdLst>
            <a:ahLst/>
            <a:cxnLst>
              <a:cxn ang="0">
                <a:pos x="T0" y="T1"/>
              </a:cxn>
              <a:cxn ang="0">
                <a:pos x="T2" y="T3"/>
              </a:cxn>
              <a:cxn ang="0">
                <a:pos x="T4" y="T5"/>
              </a:cxn>
              <a:cxn ang="0">
                <a:pos x="T6" y="T7"/>
              </a:cxn>
            </a:cxnLst>
            <a:rect l="0" t="0" r="r" b="b"/>
            <a:pathLst>
              <a:path w="83" h="99">
                <a:moveTo>
                  <a:pt x="66" y="0"/>
                </a:moveTo>
                <a:lnTo>
                  <a:pt x="83" y="99"/>
                </a:lnTo>
                <a:lnTo>
                  <a:pt x="0" y="49"/>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8" name="Freeform 40"/>
          <p:cNvSpPr>
            <a:spLocks/>
          </p:cNvSpPr>
          <p:nvPr/>
        </p:nvSpPr>
        <p:spPr bwMode="auto">
          <a:xfrm>
            <a:off x="2668589" y="1871663"/>
            <a:ext cx="1849437" cy="2805112"/>
          </a:xfrm>
          <a:custGeom>
            <a:avLst/>
            <a:gdLst>
              <a:gd name="T0" fmla="*/ 0 w 1165"/>
              <a:gd name="T1" fmla="*/ 0 h 1767"/>
              <a:gd name="T2" fmla="*/ 1165 w 1165"/>
              <a:gd name="T3" fmla="*/ 1767 h 1767"/>
              <a:gd name="T4" fmla="*/ 0 w 1165"/>
              <a:gd name="T5" fmla="*/ 0 h 1767"/>
              <a:gd name="T6" fmla="*/ 776 w 1165"/>
              <a:gd name="T7" fmla="*/ 1172 h 1767"/>
            </a:gdLst>
            <a:ahLst/>
            <a:cxnLst>
              <a:cxn ang="0">
                <a:pos x="T0" y="T1"/>
              </a:cxn>
              <a:cxn ang="0">
                <a:pos x="T2" y="T3"/>
              </a:cxn>
              <a:cxn ang="0">
                <a:pos x="T4" y="T5"/>
              </a:cxn>
              <a:cxn ang="0">
                <a:pos x="T6" y="T7"/>
              </a:cxn>
            </a:cxnLst>
            <a:rect l="0" t="0" r="r" b="b"/>
            <a:pathLst>
              <a:path w="1165" h="1767">
                <a:moveTo>
                  <a:pt x="0" y="0"/>
                </a:moveTo>
                <a:lnTo>
                  <a:pt x="1165" y="1767"/>
                </a:lnTo>
                <a:lnTo>
                  <a:pt x="0" y="0"/>
                </a:lnTo>
                <a:lnTo>
                  <a:pt x="776" y="117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09" name="Freeform 41"/>
          <p:cNvSpPr>
            <a:spLocks/>
          </p:cNvSpPr>
          <p:nvPr/>
        </p:nvSpPr>
        <p:spPr bwMode="auto">
          <a:xfrm>
            <a:off x="3835401" y="3679826"/>
            <a:ext cx="131763" cy="157163"/>
          </a:xfrm>
          <a:custGeom>
            <a:avLst/>
            <a:gdLst>
              <a:gd name="T0" fmla="*/ 66 w 83"/>
              <a:gd name="T1" fmla="*/ 0 h 99"/>
              <a:gd name="T2" fmla="*/ 83 w 83"/>
              <a:gd name="T3" fmla="*/ 99 h 99"/>
              <a:gd name="T4" fmla="*/ 0 w 83"/>
              <a:gd name="T5" fmla="*/ 50 h 99"/>
              <a:gd name="T6" fmla="*/ 66 w 83"/>
              <a:gd name="T7" fmla="*/ 0 h 99"/>
            </a:gdLst>
            <a:ahLst/>
            <a:cxnLst>
              <a:cxn ang="0">
                <a:pos x="T0" y="T1"/>
              </a:cxn>
              <a:cxn ang="0">
                <a:pos x="T2" y="T3"/>
              </a:cxn>
              <a:cxn ang="0">
                <a:pos x="T4" y="T5"/>
              </a:cxn>
              <a:cxn ang="0">
                <a:pos x="T6" y="T7"/>
              </a:cxn>
            </a:cxnLst>
            <a:rect l="0" t="0" r="r" b="b"/>
            <a:pathLst>
              <a:path w="83" h="99">
                <a:moveTo>
                  <a:pt x="66" y="0"/>
                </a:moveTo>
                <a:lnTo>
                  <a:pt x="83" y="99"/>
                </a:lnTo>
                <a:lnTo>
                  <a:pt x="0" y="50"/>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0" name="Freeform 42"/>
          <p:cNvSpPr>
            <a:spLocks/>
          </p:cNvSpPr>
          <p:nvPr/>
        </p:nvSpPr>
        <p:spPr bwMode="auto">
          <a:xfrm>
            <a:off x="2668589" y="2579688"/>
            <a:ext cx="1849437" cy="2792412"/>
          </a:xfrm>
          <a:custGeom>
            <a:avLst/>
            <a:gdLst>
              <a:gd name="T0" fmla="*/ 0 w 1165"/>
              <a:gd name="T1" fmla="*/ 0 h 1759"/>
              <a:gd name="T2" fmla="*/ 1165 w 1165"/>
              <a:gd name="T3" fmla="*/ 1759 h 1759"/>
              <a:gd name="T4" fmla="*/ 0 w 1165"/>
              <a:gd name="T5" fmla="*/ 0 h 1759"/>
              <a:gd name="T6" fmla="*/ 776 w 1165"/>
              <a:gd name="T7" fmla="*/ 1172 h 1759"/>
            </a:gdLst>
            <a:ahLst/>
            <a:cxnLst>
              <a:cxn ang="0">
                <a:pos x="T0" y="T1"/>
              </a:cxn>
              <a:cxn ang="0">
                <a:pos x="T2" y="T3"/>
              </a:cxn>
              <a:cxn ang="0">
                <a:pos x="T4" y="T5"/>
              </a:cxn>
              <a:cxn ang="0">
                <a:pos x="T6" y="T7"/>
              </a:cxn>
            </a:cxnLst>
            <a:rect l="0" t="0" r="r" b="b"/>
            <a:pathLst>
              <a:path w="1165" h="1759">
                <a:moveTo>
                  <a:pt x="0" y="0"/>
                </a:moveTo>
                <a:lnTo>
                  <a:pt x="1165" y="1759"/>
                </a:lnTo>
                <a:lnTo>
                  <a:pt x="0" y="0"/>
                </a:lnTo>
                <a:lnTo>
                  <a:pt x="776" y="117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11" name="Freeform 43"/>
          <p:cNvSpPr>
            <a:spLocks/>
          </p:cNvSpPr>
          <p:nvPr/>
        </p:nvSpPr>
        <p:spPr bwMode="auto">
          <a:xfrm>
            <a:off x="3835401" y="4387851"/>
            <a:ext cx="131763" cy="144463"/>
          </a:xfrm>
          <a:custGeom>
            <a:avLst/>
            <a:gdLst>
              <a:gd name="T0" fmla="*/ 66 w 83"/>
              <a:gd name="T1" fmla="*/ 0 h 91"/>
              <a:gd name="T2" fmla="*/ 83 w 83"/>
              <a:gd name="T3" fmla="*/ 91 h 91"/>
              <a:gd name="T4" fmla="*/ 0 w 83"/>
              <a:gd name="T5" fmla="*/ 41 h 91"/>
              <a:gd name="T6" fmla="*/ 66 w 83"/>
              <a:gd name="T7" fmla="*/ 0 h 91"/>
            </a:gdLst>
            <a:ahLst/>
            <a:cxnLst>
              <a:cxn ang="0">
                <a:pos x="T0" y="T1"/>
              </a:cxn>
              <a:cxn ang="0">
                <a:pos x="T2" y="T3"/>
              </a:cxn>
              <a:cxn ang="0">
                <a:pos x="T4" y="T5"/>
              </a:cxn>
              <a:cxn ang="0">
                <a:pos x="T6" y="T7"/>
              </a:cxn>
            </a:cxnLst>
            <a:rect l="0" t="0" r="r" b="b"/>
            <a:pathLst>
              <a:path w="83" h="91">
                <a:moveTo>
                  <a:pt x="66" y="0"/>
                </a:moveTo>
                <a:lnTo>
                  <a:pt x="83" y="91"/>
                </a:lnTo>
                <a:lnTo>
                  <a:pt x="0" y="41"/>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2" name="Freeform 44"/>
          <p:cNvSpPr>
            <a:spLocks/>
          </p:cNvSpPr>
          <p:nvPr/>
        </p:nvSpPr>
        <p:spPr bwMode="auto">
          <a:xfrm>
            <a:off x="2668589" y="3273426"/>
            <a:ext cx="1849437" cy="2792413"/>
          </a:xfrm>
          <a:custGeom>
            <a:avLst/>
            <a:gdLst>
              <a:gd name="T0" fmla="*/ 0 w 1165"/>
              <a:gd name="T1" fmla="*/ 0 h 1759"/>
              <a:gd name="T2" fmla="*/ 1165 w 1165"/>
              <a:gd name="T3" fmla="*/ 1759 h 1759"/>
              <a:gd name="T4" fmla="*/ 0 w 1165"/>
              <a:gd name="T5" fmla="*/ 0 h 1759"/>
              <a:gd name="T6" fmla="*/ 776 w 1165"/>
              <a:gd name="T7" fmla="*/ 1173 h 1759"/>
            </a:gdLst>
            <a:ahLst/>
            <a:cxnLst>
              <a:cxn ang="0">
                <a:pos x="T0" y="T1"/>
              </a:cxn>
              <a:cxn ang="0">
                <a:pos x="T2" y="T3"/>
              </a:cxn>
              <a:cxn ang="0">
                <a:pos x="T4" y="T5"/>
              </a:cxn>
              <a:cxn ang="0">
                <a:pos x="T6" y="T7"/>
              </a:cxn>
            </a:cxnLst>
            <a:rect l="0" t="0" r="r" b="b"/>
            <a:pathLst>
              <a:path w="1165" h="1759">
                <a:moveTo>
                  <a:pt x="0" y="0"/>
                </a:moveTo>
                <a:lnTo>
                  <a:pt x="1165" y="1759"/>
                </a:lnTo>
                <a:lnTo>
                  <a:pt x="0" y="0"/>
                </a:lnTo>
                <a:lnTo>
                  <a:pt x="776" y="117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13" name="Freeform 45"/>
          <p:cNvSpPr>
            <a:spLocks/>
          </p:cNvSpPr>
          <p:nvPr/>
        </p:nvSpPr>
        <p:spPr bwMode="auto">
          <a:xfrm>
            <a:off x="3835401" y="5083176"/>
            <a:ext cx="131763" cy="144463"/>
          </a:xfrm>
          <a:custGeom>
            <a:avLst/>
            <a:gdLst>
              <a:gd name="T0" fmla="*/ 66 w 83"/>
              <a:gd name="T1" fmla="*/ 0 h 91"/>
              <a:gd name="T2" fmla="*/ 83 w 83"/>
              <a:gd name="T3" fmla="*/ 91 h 91"/>
              <a:gd name="T4" fmla="*/ 0 w 83"/>
              <a:gd name="T5" fmla="*/ 41 h 91"/>
              <a:gd name="T6" fmla="*/ 66 w 83"/>
              <a:gd name="T7" fmla="*/ 0 h 91"/>
            </a:gdLst>
            <a:ahLst/>
            <a:cxnLst>
              <a:cxn ang="0">
                <a:pos x="T0" y="T1"/>
              </a:cxn>
              <a:cxn ang="0">
                <a:pos x="T2" y="T3"/>
              </a:cxn>
              <a:cxn ang="0">
                <a:pos x="T4" y="T5"/>
              </a:cxn>
              <a:cxn ang="0">
                <a:pos x="T6" y="T7"/>
              </a:cxn>
            </a:cxnLst>
            <a:rect l="0" t="0" r="r" b="b"/>
            <a:pathLst>
              <a:path w="83" h="91">
                <a:moveTo>
                  <a:pt x="66" y="0"/>
                </a:moveTo>
                <a:lnTo>
                  <a:pt x="83" y="91"/>
                </a:lnTo>
                <a:lnTo>
                  <a:pt x="0" y="41"/>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4" name="Rectangle 46"/>
          <p:cNvSpPr>
            <a:spLocks noChangeArrowheads="1"/>
          </p:cNvSpPr>
          <p:nvPr/>
        </p:nvSpPr>
        <p:spPr bwMode="auto">
          <a:xfrm>
            <a:off x="4946650" y="3476626"/>
            <a:ext cx="1410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rPr>
              <a:t>0</a:t>
            </a:r>
            <a:endParaRPr kumimoji="1" lang="zh-CN" altLang="en-US" b="1"/>
          </a:p>
        </p:txBody>
      </p:sp>
      <p:sp>
        <p:nvSpPr>
          <p:cNvPr id="7215" name="Rectangle 47"/>
          <p:cNvSpPr>
            <a:spLocks noChangeArrowheads="1"/>
          </p:cNvSpPr>
          <p:nvPr/>
        </p:nvSpPr>
        <p:spPr bwMode="auto">
          <a:xfrm>
            <a:off x="4878388" y="3752851"/>
            <a:ext cx="1875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N</a:t>
            </a:r>
            <a:endParaRPr kumimoji="1" lang="en-US" altLang="zh-CN" b="1"/>
          </a:p>
        </p:txBody>
      </p:sp>
      <p:sp>
        <p:nvSpPr>
          <p:cNvPr id="7216" name="Rectangle 48"/>
          <p:cNvSpPr>
            <a:spLocks noChangeArrowheads="1"/>
          </p:cNvSpPr>
          <p:nvPr/>
        </p:nvSpPr>
        <p:spPr bwMode="auto">
          <a:xfrm>
            <a:off x="4540251" y="3506788"/>
            <a:ext cx="4135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100" b="1" i="1">
                <a:solidFill>
                  <a:srgbClr val="000000"/>
                </a:solidFill>
              </a:rPr>
              <a:t>W</a:t>
            </a:r>
            <a:endParaRPr kumimoji="1" lang="en-US" altLang="zh-CN" b="1"/>
          </a:p>
        </p:txBody>
      </p:sp>
      <p:sp>
        <p:nvSpPr>
          <p:cNvPr id="7217" name="Rectangle 49"/>
          <p:cNvSpPr>
            <a:spLocks noChangeArrowheads="1"/>
          </p:cNvSpPr>
          <p:nvPr/>
        </p:nvSpPr>
        <p:spPr bwMode="auto">
          <a:xfrm>
            <a:off x="4927600" y="4171951"/>
            <a:ext cx="1410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rPr>
              <a:t>1</a:t>
            </a:r>
            <a:endParaRPr kumimoji="1" lang="zh-CN" altLang="en-US" b="1"/>
          </a:p>
        </p:txBody>
      </p:sp>
      <p:sp>
        <p:nvSpPr>
          <p:cNvPr id="7218" name="Rectangle 50"/>
          <p:cNvSpPr>
            <a:spLocks noChangeArrowheads="1"/>
          </p:cNvSpPr>
          <p:nvPr/>
        </p:nvSpPr>
        <p:spPr bwMode="auto">
          <a:xfrm>
            <a:off x="4879975" y="4448176"/>
            <a:ext cx="1875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N</a:t>
            </a:r>
            <a:endParaRPr kumimoji="1" lang="en-US" altLang="zh-CN" b="1"/>
          </a:p>
        </p:txBody>
      </p:sp>
      <p:sp>
        <p:nvSpPr>
          <p:cNvPr id="7219" name="Rectangle 51"/>
          <p:cNvSpPr>
            <a:spLocks noChangeArrowheads="1"/>
          </p:cNvSpPr>
          <p:nvPr/>
        </p:nvSpPr>
        <p:spPr bwMode="auto">
          <a:xfrm>
            <a:off x="4540251" y="4202113"/>
            <a:ext cx="4135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100" b="1" i="1">
                <a:solidFill>
                  <a:srgbClr val="000000"/>
                </a:solidFill>
              </a:rPr>
              <a:t>W</a:t>
            </a:r>
            <a:endParaRPr kumimoji="1" lang="en-US" altLang="zh-CN" b="1"/>
          </a:p>
        </p:txBody>
      </p:sp>
      <p:sp>
        <p:nvSpPr>
          <p:cNvPr id="7220" name="Rectangle 52"/>
          <p:cNvSpPr>
            <a:spLocks noChangeArrowheads="1"/>
          </p:cNvSpPr>
          <p:nvPr/>
        </p:nvSpPr>
        <p:spPr bwMode="auto">
          <a:xfrm>
            <a:off x="4956175" y="4867276"/>
            <a:ext cx="1410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rPr>
              <a:t>2</a:t>
            </a:r>
            <a:endParaRPr kumimoji="1" lang="zh-CN" altLang="en-US" b="1"/>
          </a:p>
        </p:txBody>
      </p:sp>
      <p:sp>
        <p:nvSpPr>
          <p:cNvPr id="7221" name="Rectangle 53"/>
          <p:cNvSpPr>
            <a:spLocks noChangeArrowheads="1"/>
          </p:cNvSpPr>
          <p:nvPr/>
        </p:nvSpPr>
        <p:spPr bwMode="auto">
          <a:xfrm>
            <a:off x="4881563" y="5143501"/>
            <a:ext cx="1875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N</a:t>
            </a:r>
            <a:endParaRPr kumimoji="1" lang="en-US" altLang="zh-CN" b="1"/>
          </a:p>
        </p:txBody>
      </p:sp>
      <p:sp>
        <p:nvSpPr>
          <p:cNvPr id="7222" name="Rectangle 54"/>
          <p:cNvSpPr>
            <a:spLocks noChangeArrowheads="1"/>
          </p:cNvSpPr>
          <p:nvPr/>
        </p:nvSpPr>
        <p:spPr bwMode="auto">
          <a:xfrm>
            <a:off x="4541839" y="4897438"/>
            <a:ext cx="4135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100" b="1" i="1">
                <a:solidFill>
                  <a:srgbClr val="000000"/>
                </a:solidFill>
              </a:rPr>
              <a:t>W</a:t>
            </a:r>
            <a:endParaRPr kumimoji="1" lang="en-US" altLang="zh-CN" b="1"/>
          </a:p>
        </p:txBody>
      </p:sp>
      <p:sp>
        <p:nvSpPr>
          <p:cNvPr id="7223" name="Rectangle 55"/>
          <p:cNvSpPr>
            <a:spLocks noChangeArrowheads="1"/>
          </p:cNvSpPr>
          <p:nvPr/>
        </p:nvSpPr>
        <p:spPr bwMode="auto">
          <a:xfrm>
            <a:off x="4938713" y="5561014"/>
            <a:ext cx="1410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b="1">
                <a:solidFill>
                  <a:srgbClr val="000000"/>
                </a:solidFill>
              </a:rPr>
              <a:t>3</a:t>
            </a:r>
            <a:endParaRPr kumimoji="1" lang="zh-CN" altLang="en-US" b="1"/>
          </a:p>
        </p:txBody>
      </p:sp>
      <p:sp>
        <p:nvSpPr>
          <p:cNvPr id="7224" name="Rectangle 56"/>
          <p:cNvSpPr>
            <a:spLocks noChangeArrowheads="1"/>
          </p:cNvSpPr>
          <p:nvPr/>
        </p:nvSpPr>
        <p:spPr bwMode="auto">
          <a:xfrm>
            <a:off x="4875213" y="5837239"/>
            <a:ext cx="1875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N</a:t>
            </a:r>
            <a:endParaRPr kumimoji="1" lang="en-US" altLang="zh-CN" b="1"/>
          </a:p>
        </p:txBody>
      </p:sp>
      <p:sp>
        <p:nvSpPr>
          <p:cNvPr id="7225" name="Rectangle 57"/>
          <p:cNvSpPr>
            <a:spLocks noChangeArrowheads="1"/>
          </p:cNvSpPr>
          <p:nvPr/>
        </p:nvSpPr>
        <p:spPr bwMode="auto">
          <a:xfrm>
            <a:off x="4540251" y="5591175"/>
            <a:ext cx="4135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100" b="1" i="1">
                <a:solidFill>
                  <a:srgbClr val="000000"/>
                </a:solidFill>
              </a:rPr>
              <a:t>W</a:t>
            </a:r>
            <a:endParaRPr kumimoji="1" lang="en-US" altLang="zh-CN" b="1"/>
          </a:p>
        </p:txBody>
      </p:sp>
      <p:sp>
        <p:nvSpPr>
          <p:cNvPr id="7226" name="Rectangle 58"/>
          <p:cNvSpPr>
            <a:spLocks noChangeArrowheads="1"/>
          </p:cNvSpPr>
          <p:nvPr/>
        </p:nvSpPr>
        <p:spPr bwMode="auto">
          <a:xfrm>
            <a:off x="2711451" y="6057901"/>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227" name="Rectangle 59"/>
          <p:cNvSpPr>
            <a:spLocks noChangeArrowheads="1"/>
          </p:cNvSpPr>
          <p:nvPr/>
        </p:nvSpPr>
        <p:spPr bwMode="auto">
          <a:xfrm>
            <a:off x="2701926" y="5330826"/>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228" name="Rectangle 60"/>
          <p:cNvSpPr>
            <a:spLocks noChangeArrowheads="1"/>
          </p:cNvSpPr>
          <p:nvPr/>
        </p:nvSpPr>
        <p:spPr bwMode="auto">
          <a:xfrm>
            <a:off x="2711451" y="4635501"/>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229" name="Rectangle 61"/>
          <p:cNvSpPr>
            <a:spLocks noChangeArrowheads="1"/>
          </p:cNvSpPr>
          <p:nvPr/>
        </p:nvSpPr>
        <p:spPr bwMode="auto">
          <a:xfrm>
            <a:off x="2720976" y="3911601"/>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230" name="Rectangle 62"/>
          <p:cNvSpPr>
            <a:spLocks noChangeArrowheads="1"/>
          </p:cNvSpPr>
          <p:nvPr/>
        </p:nvSpPr>
        <p:spPr bwMode="auto">
          <a:xfrm>
            <a:off x="1660525" y="914401"/>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[0]</a:t>
            </a:r>
            <a:endParaRPr kumimoji="1" lang="en-US" altLang="zh-CN" b="1"/>
          </a:p>
        </p:txBody>
      </p:sp>
      <p:sp>
        <p:nvSpPr>
          <p:cNvPr id="7231" name="Rectangle 63"/>
          <p:cNvSpPr>
            <a:spLocks noChangeArrowheads="1"/>
          </p:cNvSpPr>
          <p:nvPr/>
        </p:nvSpPr>
        <p:spPr bwMode="auto">
          <a:xfrm>
            <a:off x="1660525" y="3011489"/>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[3]</a:t>
            </a:r>
            <a:endParaRPr kumimoji="1" lang="en-US" altLang="zh-CN" b="1"/>
          </a:p>
        </p:txBody>
      </p:sp>
      <p:sp>
        <p:nvSpPr>
          <p:cNvPr id="7232" name="Rectangle 64"/>
          <p:cNvSpPr>
            <a:spLocks noChangeArrowheads="1"/>
          </p:cNvSpPr>
          <p:nvPr/>
        </p:nvSpPr>
        <p:spPr bwMode="auto">
          <a:xfrm>
            <a:off x="1660525" y="1622426"/>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[1]</a:t>
            </a:r>
            <a:endParaRPr kumimoji="1" lang="en-US" altLang="zh-CN" b="1"/>
          </a:p>
        </p:txBody>
      </p:sp>
      <p:sp>
        <p:nvSpPr>
          <p:cNvPr id="7233" name="Rectangle 65"/>
          <p:cNvSpPr>
            <a:spLocks noChangeArrowheads="1"/>
          </p:cNvSpPr>
          <p:nvPr/>
        </p:nvSpPr>
        <p:spPr bwMode="auto">
          <a:xfrm>
            <a:off x="1660525" y="2316164"/>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[2]</a:t>
            </a:r>
            <a:endParaRPr kumimoji="1" lang="en-US" altLang="zh-CN" b="1"/>
          </a:p>
        </p:txBody>
      </p:sp>
      <p:sp>
        <p:nvSpPr>
          <p:cNvPr id="7234" name="Rectangle 66"/>
          <p:cNvSpPr>
            <a:spLocks noChangeArrowheads="1"/>
          </p:cNvSpPr>
          <p:nvPr/>
        </p:nvSpPr>
        <p:spPr bwMode="auto">
          <a:xfrm>
            <a:off x="1660525" y="3706814"/>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[4]</a:t>
            </a:r>
            <a:endParaRPr kumimoji="1" lang="en-US" altLang="zh-CN" b="1"/>
          </a:p>
        </p:txBody>
      </p:sp>
      <p:sp>
        <p:nvSpPr>
          <p:cNvPr id="7235" name="Rectangle 67"/>
          <p:cNvSpPr>
            <a:spLocks noChangeArrowheads="1"/>
          </p:cNvSpPr>
          <p:nvPr/>
        </p:nvSpPr>
        <p:spPr bwMode="auto">
          <a:xfrm>
            <a:off x="1660525" y="4400551"/>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[5]</a:t>
            </a:r>
            <a:endParaRPr kumimoji="1" lang="en-US" altLang="zh-CN" b="1"/>
          </a:p>
        </p:txBody>
      </p:sp>
      <p:sp>
        <p:nvSpPr>
          <p:cNvPr id="7236" name="Rectangle 68"/>
          <p:cNvSpPr>
            <a:spLocks noChangeArrowheads="1"/>
          </p:cNvSpPr>
          <p:nvPr/>
        </p:nvSpPr>
        <p:spPr bwMode="auto">
          <a:xfrm>
            <a:off x="1660525" y="5095876"/>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[6]</a:t>
            </a:r>
            <a:endParaRPr kumimoji="1" lang="en-US" altLang="zh-CN" b="1"/>
          </a:p>
        </p:txBody>
      </p:sp>
      <p:sp>
        <p:nvSpPr>
          <p:cNvPr id="7237" name="Rectangle 69"/>
          <p:cNvSpPr>
            <a:spLocks noChangeArrowheads="1"/>
          </p:cNvSpPr>
          <p:nvPr/>
        </p:nvSpPr>
        <p:spPr bwMode="auto">
          <a:xfrm>
            <a:off x="1660525" y="5803901"/>
            <a:ext cx="450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i="1">
                <a:solidFill>
                  <a:srgbClr val="000000"/>
                </a:solidFill>
              </a:rPr>
              <a:t>x</a:t>
            </a:r>
            <a:r>
              <a:rPr kumimoji="1" lang="en-US" altLang="zh-CN" b="1">
                <a:solidFill>
                  <a:srgbClr val="000000"/>
                </a:solidFill>
              </a:rPr>
              <a:t>[7]</a:t>
            </a:r>
            <a:endParaRPr kumimoji="1" lang="en-US" altLang="zh-CN" b="1"/>
          </a:p>
        </p:txBody>
      </p:sp>
      <p:sp>
        <p:nvSpPr>
          <p:cNvPr id="7238" name="Freeform 70"/>
          <p:cNvSpPr>
            <a:spLocks/>
          </p:cNvSpPr>
          <p:nvPr/>
        </p:nvSpPr>
        <p:spPr bwMode="auto">
          <a:xfrm>
            <a:off x="2668589" y="1189039"/>
            <a:ext cx="1849437" cy="1587"/>
          </a:xfrm>
          <a:custGeom>
            <a:avLst/>
            <a:gdLst>
              <a:gd name="T0" fmla="*/ 0 w 1165"/>
              <a:gd name="T1" fmla="*/ 1165 w 1165"/>
              <a:gd name="T2" fmla="*/ 0 w 1165"/>
              <a:gd name="T3" fmla="*/ 801 w 1165"/>
            </a:gdLst>
            <a:ahLst/>
            <a:cxnLst>
              <a:cxn ang="0">
                <a:pos x="T0" y="0"/>
              </a:cxn>
              <a:cxn ang="0">
                <a:pos x="T1" y="0"/>
              </a:cxn>
              <a:cxn ang="0">
                <a:pos x="T2" y="0"/>
              </a:cxn>
              <a:cxn ang="0">
                <a:pos x="T3" y="0"/>
              </a:cxn>
            </a:cxnLst>
            <a:rect l="0" t="0" r="r" b="b"/>
            <a:pathLst>
              <a:path w="1165">
                <a:moveTo>
                  <a:pt x="0" y="0"/>
                </a:moveTo>
                <a:lnTo>
                  <a:pt x="1165"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39" name="Freeform 71"/>
          <p:cNvSpPr>
            <a:spLocks/>
          </p:cNvSpPr>
          <p:nvPr/>
        </p:nvSpPr>
        <p:spPr bwMode="auto">
          <a:xfrm>
            <a:off x="3927476" y="1123951"/>
            <a:ext cx="131763" cy="131763"/>
          </a:xfrm>
          <a:custGeom>
            <a:avLst/>
            <a:gdLst>
              <a:gd name="T0" fmla="*/ 0 w 83"/>
              <a:gd name="T1" fmla="*/ 0 h 83"/>
              <a:gd name="T2" fmla="*/ 83 w 83"/>
              <a:gd name="T3" fmla="*/ 41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0" name="Freeform 72"/>
          <p:cNvSpPr>
            <a:spLocks/>
          </p:cNvSpPr>
          <p:nvPr/>
        </p:nvSpPr>
        <p:spPr bwMode="auto">
          <a:xfrm>
            <a:off x="4518025" y="1189039"/>
            <a:ext cx="471488" cy="1587"/>
          </a:xfrm>
          <a:custGeom>
            <a:avLst/>
            <a:gdLst>
              <a:gd name="T0" fmla="*/ 0 w 297"/>
              <a:gd name="T1" fmla="*/ 297 w 297"/>
              <a:gd name="T2" fmla="*/ 0 w 297"/>
              <a:gd name="T3" fmla="*/ 132 w 297"/>
            </a:gdLst>
            <a:ahLst/>
            <a:cxnLst>
              <a:cxn ang="0">
                <a:pos x="T0" y="0"/>
              </a:cxn>
              <a:cxn ang="0">
                <a:pos x="T1" y="0"/>
              </a:cxn>
              <a:cxn ang="0">
                <a:pos x="T2" y="0"/>
              </a:cxn>
              <a:cxn ang="0">
                <a:pos x="T3" y="0"/>
              </a:cxn>
            </a:cxnLst>
            <a:rect l="0" t="0" r="r" b="b"/>
            <a:pathLst>
              <a:path w="297">
                <a:moveTo>
                  <a:pt x="0" y="0"/>
                </a:moveTo>
                <a:lnTo>
                  <a:pt x="297" y="0"/>
                </a:lnTo>
                <a:lnTo>
                  <a:pt x="0" y="0"/>
                </a:lnTo>
                <a:lnTo>
                  <a:pt x="13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41" name="Freeform 73"/>
          <p:cNvSpPr>
            <a:spLocks/>
          </p:cNvSpPr>
          <p:nvPr/>
        </p:nvSpPr>
        <p:spPr bwMode="auto">
          <a:xfrm>
            <a:off x="4713288" y="1123951"/>
            <a:ext cx="131762" cy="131763"/>
          </a:xfrm>
          <a:custGeom>
            <a:avLst/>
            <a:gdLst>
              <a:gd name="T0" fmla="*/ 0 w 83"/>
              <a:gd name="T1" fmla="*/ 0 h 83"/>
              <a:gd name="T2" fmla="*/ 83 w 83"/>
              <a:gd name="T3" fmla="*/ 41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2" name="Freeform 74"/>
          <p:cNvSpPr>
            <a:spLocks/>
          </p:cNvSpPr>
          <p:nvPr/>
        </p:nvSpPr>
        <p:spPr bwMode="auto">
          <a:xfrm>
            <a:off x="4989513" y="1189039"/>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43" name="Freeform 75"/>
          <p:cNvSpPr>
            <a:spLocks/>
          </p:cNvSpPr>
          <p:nvPr/>
        </p:nvSpPr>
        <p:spPr bwMode="auto">
          <a:xfrm>
            <a:off x="6246813" y="1123951"/>
            <a:ext cx="131762" cy="131763"/>
          </a:xfrm>
          <a:custGeom>
            <a:avLst/>
            <a:gdLst>
              <a:gd name="T0" fmla="*/ 0 w 83"/>
              <a:gd name="T1" fmla="*/ 0 h 83"/>
              <a:gd name="T2" fmla="*/ 83 w 83"/>
              <a:gd name="T3" fmla="*/ 41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4" name="Freeform 76"/>
          <p:cNvSpPr>
            <a:spLocks/>
          </p:cNvSpPr>
          <p:nvPr/>
        </p:nvSpPr>
        <p:spPr bwMode="auto">
          <a:xfrm>
            <a:off x="6850064" y="1189039"/>
            <a:ext cx="458787" cy="1587"/>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45" name="Freeform 77"/>
          <p:cNvSpPr>
            <a:spLocks/>
          </p:cNvSpPr>
          <p:nvPr/>
        </p:nvSpPr>
        <p:spPr bwMode="auto">
          <a:xfrm>
            <a:off x="7034214" y="1123951"/>
            <a:ext cx="130175" cy="131763"/>
          </a:xfrm>
          <a:custGeom>
            <a:avLst/>
            <a:gdLst>
              <a:gd name="T0" fmla="*/ 0 w 82"/>
              <a:gd name="T1" fmla="*/ 0 h 83"/>
              <a:gd name="T2" fmla="*/ 82 w 82"/>
              <a:gd name="T3" fmla="*/ 41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6" name="Freeform 78"/>
          <p:cNvSpPr>
            <a:spLocks/>
          </p:cNvSpPr>
          <p:nvPr/>
        </p:nvSpPr>
        <p:spPr bwMode="auto">
          <a:xfrm>
            <a:off x="4989513" y="1884364"/>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47" name="Freeform 79"/>
          <p:cNvSpPr>
            <a:spLocks/>
          </p:cNvSpPr>
          <p:nvPr/>
        </p:nvSpPr>
        <p:spPr bwMode="auto">
          <a:xfrm>
            <a:off x="6246813" y="1819276"/>
            <a:ext cx="131762"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8" name="Freeform 80"/>
          <p:cNvSpPr>
            <a:spLocks/>
          </p:cNvSpPr>
          <p:nvPr/>
        </p:nvSpPr>
        <p:spPr bwMode="auto">
          <a:xfrm>
            <a:off x="6850064" y="1884364"/>
            <a:ext cx="458787" cy="1587"/>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49" name="Freeform 81"/>
          <p:cNvSpPr>
            <a:spLocks/>
          </p:cNvSpPr>
          <p:nvPr/>
        </p:nvSpPr>
        <p:spPr bwMode="auto">
          <a:xfrm>
            <a:off x="7034214" y="1819276"/>
            <a:ext cx="130175" cy="130175"/>
          </a:xfrm>
          <a:custGeom>
            <a:avLst/>
            <a:gdLst>
              <a:gd name="T0" fmla="*/ 0 w 82"/>
              <a:gd name="T1" fmla="*/ 0 h 82"/>
              <a:gd name="T2" fmla="*/ 82 w 82"/>
              <a:gd name="T3" fmla="*/ 41 h 82"/>
              <a:gd name="T4" fmla="*/ 0 w 82"/>
              <a:gd name="T5" fmla="*/ 82 h 82"/>
              <a:gd name="T6" fmla="*/ 0 w 82"/>
              <a:gd name="T7" fmla="*/ 0 h 82"/>
            </a:gdLst>
            <a:ahLst/>
            <a:cxnLst>
              <a:cxn ang="0">
                <a:pos x="T0" y="T1"/>
              </a:cxn>
              <a:cxn ang="0">
                <a:pos x="T2" y="T3"/>
              </a:cxn>
              <a:cxn ang="0">
                <a:pos x="T4" y="T5"/>
              </a:cxn>
              <a:cxn ang="0">
                <a:pos x="T6" y="T7"/>
              </a:cxn>
            </a:cxnLst>
            <a:rect l="0" t="0" r="r" b="b"/>
            <a:pathLst>
              <a:path w="82" h="82">
                <a:moveTo>
                  <a:pt x="0" y="0"/>
                </a:moveTo>
                <a:lnTo>
                  <a:pt x="82"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0" name="Freeform 82"/>
          <p:cNvSpPr>
            <a:spLocks/>
          </p:cNvSpPr>
          <p:nvPr/>
        </p:nvSpPr>
        <p:spPr bwMode="auto">
          <a:xfrm>
            <a:off x="4989513" y="2579689"/>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1" name="Freeform 83"/>
          <p:cNvSpPr>
            <a:spLocks/>
          </p:cNvSpPr>
          <p:nvPr/>
        </p:nvSpPr>
        <p:spPr bwMode="auto">
          <a:xfrm>
            <a:off x="6246813" y="2513013"/>
            <a:ext cx="131762" cy="131762"/>
          </a:xfrm>
          <a:custGeom>
            <a:avLst/>
            <a:gdLst>
              <a:gd name="T0" fmla="*/ 0 w 83"/>
              <a:gd name="T1" fmla="*/ 0 h 83"/>
              <a:gd name="T2" fmla="*/ 83 w 83"/>
              <a:gd name="T3" fmla="*/ 42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2" name="Freeform 84"/>
          <p:cNvSpPr>
            <a:spLocks/>
          </p:cNvSpPr>
          <p:nvPr/>
        </p:nvSpPr>
        <p:spPr bwMode="auto">
          <a:xfrm>
            <a:off x="6850064" y="2579689"/>
            <a:ext cx="458787" cy="1587"/>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3" name="Freeform 85"/>
          <p:cNvSpPr>
            <a:spLocks/>
          </p:cNvSpPr>
          <p:nvPr/>
        </p:nvSpPr>
        <p:spPr bwMode="auto">
          <a:xfrm>
            <a:off x="7034214" y="2513013"/>
            <a:ext cx="130175" cy="131762"/>
          </a:xfrm>
          <a:custGeom>
            <a:avLst/>
            <a:gdLst>
              <a:gd name="T0" fmla="*/ 0 w 82"/>
              <a:gd name="T1" fmla="*/ 0 h 83"/>
              <a:gd name="T2" fmla="*/ 82 w 82"/>
              <a:gd name="T3" fmla="*/ 42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4" name="Freeform 86"/>
          <p:cNvSpPr>
            <a:spLocks/>
          </p:cNvSpPr>
          <p:nvPr/>
        </p:nvSpPr>
        <p:spPr bwMode="auto">
          <a:xfrm>
            <a:off x="4989513" y="3273425"/>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5" name="Freeform 87"/>
          <p:cNvSpPr>
            <a:spLocks/>
          </p:cNvSpPr>
          <p:nvPr/>
        </p:nvSpPr>
        <p:spPr bwMode="auto">
          <a:xfrm>
            <a:off x="6246813" y="3208338"/>
            <a:ext cx="131762" cy="131762"/>
          </a:xfrm>
          <a:custGeom>
            <a:avLst/>
            <a:gdLst>
              <a:gd name="T0" fmla="*/ 0 w 83"/>
              <a:gd name="T1" fmla="*/ 0 h 83"/>
              <a:gd name="T2" fmla="*/ 83 w 83"/>
              <a:gd name="T3" fmla="*/ 41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6" name="Freeform 88"/>
          <p:cNvSpPr>
            <a:spLocks/>
          </p:cNvSpPr>
          <p:nvPr/>
        </p:nvSpPr>
        <p:spPr bwMode="auto">
          <a:xfrm>
            <a:off x="6850064" y="3273425"/>
            <a:ext cx="458787" cy="1588"/>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7" name="Freeform 89"/>
          <p:cNvSpPr>
            <a:spLocks/>
          </p:cNvSpPr>
          <p:nvPr/>
        </p:nvSpPr>
        <p:spPr bwMode="auto">
          <a:xfrm>
            <a:off x="7034214" y="3208338"/>
            <a:ext cx="130175" cy="131762"/>
          </a:xfrm>
          <a:custGeom>
            <a:avLst/>
            <a:gdLst>
              <a:gd name="T0" fmla="*/ 0 w 82"/>
              <a:gd name="T1" fmla="*/ 0 h 83"/>
              <a:gd name="T2" fmla="*/ 82 w 82"/>
              <a:gd name="T3" fmla="*/ 41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8" name="Freeform 90"/>
          <p:cNvSpPr>
            <a:spLocks/>
          </p:cNvSpPr>
          <p:nvPr/>
        </p:nvSpPr>
        <p:spPr bwMode="auto">
          <a:xfrm>
            <a:off x="4989513" y="3968750"/>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9" name="Freeform 91"/>
          <p:cNvSpPr>
            <a:spLocks/>
          </p:cNvSpPr>
          <p:nvPr/>
        </p:nvSpPr>
        <p:spPr bwMode="auto">
          <a:xfrm>
            <a:off x="6246813" y="3903664"/>
            <a:ext cx="131762" cy="142875"/>
          </a:xfrm>
          <a:custGeom>
            <a:avLst/>
            <a:gdLst>
              <a:gd name="T0" fmla="*/ 0 w 83"/>
              <a:gd name="T1" fmla="*/ 0 h 90"/>
              <a:gd name="T2" fmla="*/ 83 w 83"/>
              <a:gd name="T3" fmla="*/ 41 h 90"/>
              <a:gd name="T4" fmla="*/ 0 w 83"/>
              <a:gd name="T5" fmla="*/ 90 h 90"/>
              <a:gd name="T6" fmla="*/ 0 w 83"/>
              <a:gd name="T7" fmla="*/ 0 h 90"/>
            </a:gdLst>
            <a:ahLst/>
            <a:cxnLst>
              <a:cxn ang="0">
                <a:pos x="T0" y="T1"/>
              </a:cxn>
              <a:cxn ang="0">
                <a:pos x="T2" y="T3"/>
              </a:cxn>
              <a:cxn ang="0">
                <a:pos x="T4" y="T5"/>
              </a:cxn>
              <a:cxn ang="0">
                <a:pos x="T6" y="T7"/>
              </a:cxn>
            </a:cxnLst>
            <a:rect l="0" t="0" r="r" b="b"/>
            <a:pathLst>
              <a:path w="83" h="90">
                <a:moveTo>
                  <a:pt x="0" y="0"/>
                </a:moveTo>
                <a:lnTo>
                  <a:pt x="83" y="41"/>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0" name="Freeform 92"/>
          <p:cNvSpPr>
            <a:spLocks/>
          </p:cNvSpPr>
          <p:nvPr/>
        </p:nvSpPr>
        <p:spPr bwMode="auto">
          <a:xfrm>
            <a:off x="6850064" y="3968750"/>
            <a:ext cx="458787" cy="1588"/>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61" name="Freeform 93"/>
          <p:cNvSpPr>
            <a:spLocks/>
          </p:cNvSpPr>
          <p:nvPr/>
        </p:nvSpPr>
        <p:spPr bwMode="auto">
          <a:xfrm>
            <a:off x="7034214" y="3903664"/>
            <a:ext cx="130175" cy="142875"/>
          </a:xfrm>
          <a:custGeom>
            <a:avLst/>
            <a:gdLst>
              <a:gd name="T0" fmla="*/ 0 w 82"/>
              <a:gd name="T1" fmla="*/ 0 h 90"/>
              <a:gd name="T2" fmla="*/ 82 w 82"/>
              <a:gd name="T3" fmla="*/ 41 h 90"/>
              <a:gd name="T4" fmla="*/ 0 w 82"/>
              <a:gd name="T5" fmla="*/ 90 h 90"/>
              <a:gd name="T6" fmla="*/ 0 w 82"/>
              <a:gd name="T7" fmla="*/ 0 h 90"/>
            </a:gdLst>
            <a:ahLst/>
            <a:cxnLst>
              <a:cxn ang="0">
                <a:pos x="T0" y="T1"/>
              </a:cxn>
              <a:cxn ang="0">
                <a:pos x="T2" y="T3"/>
              </a:cxn>
              <a:cxn ang="0">
                <a:pos x="T4" y="T5"/>
              </a:cxn>
              <a:cxn ang="0">
                <a:pos x="T6" y="T7"/>
              </a:cxn>
            </a:cxnLst>
            <a:rect l="0" t="0" r="r" b="b"/>
            <a:pathLst>
              <a:path w="82" h="90">
                <a:moveTo>
                  <a:pt x="0" y="0"/>
                </a:moveTo>
                <a:lnTo>
                  <a:pt x="82" y="41"/>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2" name="Freeform 94"/>
          <p:cNvSpPr>
            <a:spLocks/>
          </p:cNvSpPr>
          <p:nvPr/>
        </p:nvSpPr>
        <p:spPr bwMode="auto">
          <a:xfrm>
            <a:off x="4989513" y="4676775"/>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63" name="Freeform 95"/>
          <p:cNvSpPr>
            <a:spLocks/>
          </p:cNvSpPr>
          <p:nvPr/>
        </p:nvSpPr>
        <p:spPr bwMode="auto">
          <a:xfrm>
            <a:off x="6246813" y="4611689"/>
            <a:ext cx="131762"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4" name="Freeform 96"/>
          <p:cNvSpPr>
            <a:spLocks/>
          </p:cNvSpPr>
          <p:nvPr/>
        </p:nvSpPr>
        <p:spPr bwMode="auto">
          <a:xfrm>
            <a:off x="6850064" y="4676775"/>
            <a:ext cx="458787" cy="1588"/>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65" name="Freeform 97"/>
          <p:cNvSpPr>
            <a:spLocks/>
          </p:cNvSpPr>
          <p:nvPr/>
        </p:nvSpPr>
        <p:spPr bwMode="auto">
          <a:xfrm>
            <a:off x="7034214" y="4611689"/>
            <a:ext cx="130175" cy="130175"/>
          </a:xfrm>
          <a:custGeom>
            <a:avLst/>
            <a:gdLst>
              <a:gd name="T0" fmla="*/ 0 w 82"/>
              <a:gd name="T1" fmla="*/ 0 h 82"/>
              <a:gd name="T2" fmla="*/ 82 w 82"/>
              <a:gd name="T3" fmla="*/ 41 h 82"/>
              <a:gd name="T4" fmla="*/ 0 w 82"/>
              <a:gd name="T5" fmla="*/ 82 h 82"/>
              <a:gd name="T6" fmla="*/ 0 w 82"/>
              <a:gd name="T7" fmla="*/ 0 h 82"/>
            </a:gdLst>
            <a:ahLst/>
            <a:cxnLst>
              <a:cxn ang="0">
                <a:pos x="T0" y="T1"/>
              </a:cxn>
              <a:cxn ang="0">
                <a:pos x="T2" y="T3"/>
              </a:cxn>
              <a:cxn ang="0">
                <a:pos x="T4" y="T5"/>
              </a:cxn>
              <a:cxn ang="0">
                <a:pos x="T6" y="T7"/>
              </a:cxn>
            </a:cxnLst>
            <a:rect l="0" t="0" r="r" b="b"/>
            <a:pathLst>
              <a:path w="82" h="82">
                <a:moveTo>
                  <a:pt x="0" y="0"/>
                </a:moveTo>
                <a:lnTo>
                  <a:pt x="82"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6" name="Freeform 98"/>
          <p:cNvSpPr>
            <a:spLocks/>
          </p:cNvSpPr>
          <p:nvPr/>
        </p:nvSpPr>
        <p:spPr bwMode="auto">
          <a:xfrm>
            <a:off x="4989513" y="5372100"/>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67" name="Freeform 99"/>
          <p:cNvSpPr>
            <a:spLocks/>
          </p:cNvSpPr>
          <p:nvPr/>
        </p:nvSpPr>
        <p:spPr bwMode="auto">
          <a:xfrm>
            <a:off x="6246813" y="5305426"/>
            <a:ext cx="131762" cy="131763"/>
          </a:xfrm>
          <a:custGeom>
            <a:avLst/>
            <a:gdLst>
              <a:gd name="T0" fmla="*/ 0 w 83"/>
              <a:gd name="T1" fmla="*/ 0 h 83"/>
              <a:gd name="T2" fmla="*/ 83 w 83"/>
              <a:gd name="T3" fmla="*/ 42 h 83"/>
              <a:gd name="T4" fmla="*/ 0 w 83"/>
              <a:gd name="T5" fmla="*/ 83 h 83"/>
              <a:gd name="T6" fmla="*/ 0 w 83"/>
              <a:gd name="T7" fmla="*/ 0 h 83"/>
            </a:gdLst>
            <a:ahLst/>
            <a:cxnLst>
              <a:cxn ang="0">
                <a:pos x="T0" y="T1"/>
              </a:cxn>
              <a:cxn ang="0">
                <a:pos x="T2" y="T3"/>
              </a:cxn>
              <a:cxn ang="0">
                <a:pos x="T4" y="T5"/>
              </a:cxn>
              <a:cxn ang="0">
                <a:pos x="T6" y="T7"/>
              </a:cxn>
            </a:cxnLst>
            <a:rect l="0" t="0" r="r" b="b"/>
            <a:pathLst>
              <a:path w="83" h="83">
                <a:moveTo>
                  <a:pt x="0" y="0"/>
                </a:moveTo>
                <a:lnTo>
                  <a:pt x="83"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8" name="Freeform 100"/>
          <p:cNvSpPr>
            <a:spLocks/>
          </p:cNvSpPr>
          <p:nvPr/>
        </p:nvSpPr>
        <p:spPr bwMode="auto">
          <a:xfrm>
            <a:off x="6850064" y="5372100"/>
            <a:ext cx="458787" cy="1588"/>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69" name="Freeform 101"/>
          <p:cNvSpPr>
            <a:spLocks/>
          </p:cNvSpPr>
          <p:nvPr/>
        </p:nvSpPr>
        <p:spPr bwMode="auto">
          <a:xfrm>
            <a:off x="7034214" y="5305426"/>
            <a:ext cx="130175" cy="131763"/>
          </a:xfrm>
          <a:custGeom>
            <a:avLst/>
            <a:gdLst>
              <a:gd name="T0" fmla="*/ 0 w 82"/>
              <a:gd name="T1" fmla="*/ 0 h 83"/>
              <a:gd name="T2" fmla="*/ 82 w 82"/>
              <a:gd name="T3" fmla="*/ 42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0" name="Freeform 102"/>
          <p:cNvSpPr>
            <a:spLocks/>
          </p:cNvSpPr>
          <p:nvPr/>
        </p:nvSpPr>
        <p:spPr bwMode="auto">
          <a:xfrm>
            <a:off x="4989513" y="6065839"/>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 name="Freeform 103"/>
          <p:cNvSpPr>
            <a:spLocks/>
          </p:cNvSpPr>
          <p:nvPr/>
        </p:nvSpPr>
        <p:spPr bwMode="auto">
          <a:xfrm>
            <a:off x="6246813" y="6000751"/>
            <a:ext cx="131762" cy="130175"/>
          </a:xfrm>
          <a:custGeom>
            <a:avLst/>
            <a:gdLst>
              <a:gd name="T0" fmla="*/ 0 w 83"/>
              <a:gd name="T1" fmla="*/ 0 h 82"/>
              <a:gd name="T2" fmla="*/ 83 w 83"/>
              <a:gd name="T3" fmla="*/ 41 h 82"/>
              <a:gd name="T4" fmla="*/ 0 w 83"/>
              <a:gd name="T5" fmla="*/ 82 h 82"/>
              <a:gd name="T6" fmla="*/ 0 w 83"/>
              <a:gd name="T7" fmla="*/ 0 h 82"/>
            </a:gdLst>
            <a:ahLst/>
            <a:cxnLst>
              <a:cxn ang="0">
                <a:pos x="T0" y="T1"/>
              </a:cxn>
              <a:cxn ang="0">
                <a:pos x="T2" y="T3"/>
              </a:cxn>
              <a:cxn ang="0">
                <a:pos x="T4" y="T5"/>
              </a:cxn>
              <a:cxn ang="0">
                <a:pos x="T6" y="T7"/>
              </a:cxn>
            </a:cxnLst>
            <a:rect l="0" t="0" r="r" b="b"/>
            <a:pathLst>
              <a:path w="83" h="82">
                <a:moveTo>
                  <a:pt x="0" y="0"/>
                </a:moveTo>
                <a:lnTo>
                  <a:pt x="83"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 name="Freeform 104"/>
          <p:cNvSpPr>
            <a:spLocks/>
          </p:cNvSpPr>
          <p:nvPr/>
        </p:nvSpPr>
        <p:spPr bwMode="auto">
          <a:xfrm>
            <a:off x="6850064" y="6065839"/>
            <a:ext cx="458787" cy="1587"/>
          </a:xfrm>
          <a:custGeom>
            <a:avLst/>
            <a:gdLst>
              <a:gd name="T0" fmla="*/ 0 w 289"/>
              <a:gd name="T1" fmla="*/ 289 w 289"/>
              <a:gd name="T2" fmla="*/ 0 w 289"/>
              <a:gd name="T3" fmla="*/ 124 w 289"/>
            </a:gdLst>
            <a:ahLst/>
            <a:cxnLst>
              <a:cxn ang="0">
                <a:pos x="T0" y="0"/>
              </a:cxn>
              <a:cxn ang="0">
                <a:pos x="T1" y="0"/>
              </a:cxn>
              <a:cxn ang="0">
                <a:pos x="T2" y="0"/>
              </a:cxn>
              <a:cxn ang="0">
                <a:pos x="T3" y="0"/>
              </a:cxn>
            </a:cxnLst>
            <a:rect l="0" t="0" r="r" b="b"/>
            <a:pathLst>
              <a:path w="289">
                <a:moveTo>
                  <a:pt x="0" y="0"/>
                </a:moveTo>
                <a:lnTo>
                  <a:pt x="289" y="0"/>
                </a:lnTo>
                <a:lnTo>
                  <a:pt x="0" y="0"/>
                </a:lnTo>
                <a:lnTo>
                  <a:pt x="12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3" name="Freeform 105"/>
          <p:cNvSpPr>
            <a:spLocks/>
          </p:cNvSpPr>
          <p:nvPr/>
        </p:nvSpPr>
        <p:spPr bwMode="auto">
          <a:xfrm>
            <a:off x="7034214" y="6000751"/>
            <a:ext cx="130175" cy="130175"/>
          </a:xfrm>
          <a:custGeom>
            <a:avLst/>
            <a:gdLst>
              <a:gd name="T0" fmla="*/ 0 w 82"/>
              <a:gd name="T1" fmla="*/ 0 h 82"/>
              <a:gd name="T2" fmla="*/ 82 w 82"/>
              <a:gd name="T3" fmla="*/ 41 h 82"/>
              <a:gd name="T4" fmla="*/ 0 w 82"/>
              <a:gd name="T5" fmla="*/ 82 h 82"/>
              <a:gd name="T6" fmla="*/ 0 w 82"/>
              <a:gd name="T7" fmla="*/ 0 h 82"/>
            </a:gdLst>
            <a:ahLst/>
            <a:cxnLst>
              <a:cxn ang="0">
                <a:pos x="T0" y="T1"/>
              </a:cxn>
              <a:cxn ang="0">
                <a:pos x="T2" y="T3"/>
              </a:cxn>
              <a:cxn ang="0">
                <a:pos x="T4" y="T5"/>
              </a:cxn>
              <a:cxn ang="0">
                <a:pos x="T6" y="T7"/>
              </a:cxn>
            </a:cxnLst>
            <a:rect l="0" t="0" r="r" b="b"/>
            <a:pathLst>
              <a:path w="82" h="82">
                <a:moveTo>
                  <a:pt x="0" y="0"/>
                </a:moveTo>
                <a:lnTo>
                  <a:pt x="82"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4" name="Freeform 106"/>
          <p:cNvSpPr>
            <a:spLocks/>
          </p:cNvSpPr>
          <p:nvPr/>
        </p:nvSpPr>
        <p:spPr bwMode="auto">
          <a:xfrm>
            <a:off x="4989513" y="1189038"/>
            <a:ext cx="1860550" cy="1390650"/>
          </a:xfrm>
          <a:custGeom>
            <a:avLst/>
            <a:gdLst>
              <a:gd name="T0" fmla="*/ 0 w 1172"/>
              <a:gd name="T1" fmla="*/ 0 h 876"/>
              <a:gd name="T2" fmla="*/ 1172 w 1172"/>
              <a:gd name="T3" fmla="*/ 876 h 876"/>
              <a:gd name="T4" fmla="*/ 0 w 1172"/>
              <a:gd name="T5" fmla="*/ 0 h 876"/>
              <a:gd name="T6" fmla="*/ 759 w 1172"/>
              <a:gd name="T7" fmla="*/ 570 h 876"/>
            </a:gdLst>
            <a:ahLst/>
            <a:cxnLst>
              <a:cxn ang="0">
                <a:pos x="T0" y="T1"/>
              </a:cxn>
              <a:cxn ang="0">
                <a:pos x="T2" y="T3"/>
              </a:cxn>
              <a:cxn ang="0">
                <a:pos x="T4" y="T5"/>
              </a:cxn>
              <a:cxn ang="0">
                <a:pos x="T6" y="T7"/>
              </a:cxn>
            </a:cxnLst>
            <a:rect l="0" t="0" r="r" b="b"/>
            <a:pathLst>
              <a:path w="1172" h="876">
                <a:moveTo>
                  <a:pt x="0" y="0"/>
                </a:moveTo>
                <a:lnTo>
                  <a:pt x="1172" y="876"/>
                </a:lnTo>
                <a:lnTo>
                  <a:pt x="0" y="0"/>
                </a:lnTo>
                <a:lnTo>
                  <a:pt x="759" y="57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5" name="Freeform 107"/>
          <p:cNvSpPr>
            <a:spLocks/>
          </p:cNvSpPr>
          <p:nvPr/>
        </p:nvSpPr>
        <p:spPr bwMode="auto">
          <a:xfrm>
            <a:off x="6142038" y="2028826"/>
            <a:ext cx="144462" cy="130175"/>
          </a:xfrm>
          <a:custGeom>
            <a:avLst/>
            <a:gdLst>
              <a:gd name="T0" fmla="*/ 50 w 91"/>
              <a:gd name="T1" fmla="*/ 0 h 82"/>
              <a:gd name="T2" fmla="*/ 91 w 91"/>
              <a:gd name="T3" fmla="*/ 82 h 82"/>
              <a:gd name="T4" fmla="*/ 0 w 91"/>
              <a:gd name="T5" fmla="*/ 66 h 82"/>
              <a:gd name="T6" fmla="*/ 50 w 91"/>
              <a:gd name="T7" fmla="*/ 0 h 82"/>
            </a:gdLst>
            <a:ahLst/>
            <a:cxnLst>
              <a:cxn ang="0">
                <a:pos x="T0" y="T1"/>
              </a:cxn>
              <a:cxn ang="0">
                <a:pos x="T2" y="T3"/>
              </a:cxn>
              <a:cxn ang="0">
                <a:pos x="T4" y="T5"/>
              </a:cxn>
              <a:cxn ang="0">
                <a:pos x="T6" y="T7"/>
              </a:cxn>
            </a:cxnLst>
            <a:rect l="0" t="0" r="r" b="b"/>
            <a:pathLst>
              <a:path w="91" h="82">
                <a:moveTo>
                  <a:pt x="50" y="0"/>
                </a:moveTo>
                <a:lnTo>
                  <a:pt x="91" y="82"/>
                </a:lnTo>
                <a:lnTo>
                  <a:pt x="0" y="66"/>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 name="Freeform 108"/>
          <p:cNvSpPr>
            <a:spLocks/>
          </p:cNvSpPr>
          <p:nvPr/>
        </p:nvSpPr>
        <p:spPr bwMode="auto">
          <a:xfrm>
            <a:off x="4989513" y="1884363"/>
            <a:ext cx="1860550" cy="1389062"/>
          </a:xfrm>
          <a:custGeom>
            <a:avLst/>
            <a:gdLst>
              <a:gd name="T0" fmla="*/ 0 w 1172"/>
              <a:gd name="T1" fmla="*/ 0 h 875"/>
              <a:gd name="T2" fmla="*/ 1172 w 1172"/>
              <a:gd name="T3" fmla="*/ 875 h 875"/>
              <a:gd name="T4" fmla="*/ 0 w 1172"/>
              <a:gd name="T5" fmla="*/ 0 h 875"/>
              <a:gd name="T6" fmla="*/ 759 w 1172"/>
              <a:gd name="T7" fmla="*/ 570 h 875"/>
            </a:gdLst>
            <a:ahLst/>
            <a:cxnLst>
              <a:cxn ang="0">
                <a:pos x="T0" y="T1"/>
              </a:cxn>
              <a:cxn ang="0">
                <a:pos x="T2" y="T3"/>
              </a:cxn>
              <a:cxn ang="0">
                <a:pos x="T4" y="T5"/>
              </a:cxn>
              <a:cxn ang="0">
                <a:pos x="T6" y="T7"/>
              </a:cxn>
            </a:cxnLst>
            <a:rect l="0" t="0" r="r" b="b"/>
            <a:pathLst>
              <a:path w="1172" h="875">
                <a:moveTo>
                  <a:pt x="0" y="0"/>
                </a:moveTo>
                <a:lnTo>
                  <a:pt x="1172" y="875"/>
                </a:lnTo>
                <a:lnTo>
                  <a:pt x="0" y="0"/>
                </a:lnTo>
                <a:lnTo>
                  <a:pt x="759" y="57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7" name="Freeform 109"/>
          <p:cNvSpPr>
            <a:spLocks/>
          </p:cNvSpPr>
          <p:nvPr/>
        </p:nvSpPr>
        <p:spPr bwMode="auto">
          <a:xfrm>
            <a:off x="6142038" y="2722563"/>
            <a:ext cx="144462" cy="131762"/>
          </a:xfrm>
          <a:custGeom>
            <a:avLst/>
            <a:gdLst>
              <a:gd name="T0" fmla="*/ 50 w 91"/>
              <a:gd name="T1" fmla="*/ 0 h 83"/>
              <a:gd name="T2" fmla="*/ 91 w 91"/>
              <a:gd name="T3" fmla="*/ 83 h 83"/>
              <a:gd name="T4" fmla="*/ 0 w 91"/>
              <a:gd name="T5" fmla="*/ 66 h 83"/>
              <a:gd name="T6" fmla="*/ 50 w 91"/>
              <a:gd name="T7" fmla="*/ 0 h 83"/>
            </a:gdLst>
            <a:ahLst/>
            <a:cxnLst>
              <a:cxn ang="0">
                <a:pos x="T0" y="T1"/>
              </a:cxn>
              <a:cxn ang="0">
                <a:pos x="T2" y="T3"/>
              </a:cxn>
              <a:cxn ang="0">
                <a:pos x="T4" y="T5"/>
              </a:cxn>
              <a:cxn ang="0">
                <a:pos x="T6" y="T7"/>
              </a:cxn>
            </a:cxnLst>
            <a:rect l="0" t="0" r="r" b="b"/>
            <a:pathLst>
              <a:path w="91" h="83">
                <a:moveTo>
                  <a:pt x="50" y="0"/>
                </a:moveTo>
                <a:lnTo>
                  <a:pt x="91" y="83"/>
                </a:lnTo>
                <a:lnTo>
                  <a:pt x="0" y="66"/>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8" name="Freeform 110"/>
          <p:cNvSpPr>
            <a:spLocks/>
          </p:cNvSpPr>
          <p:nvPr/>
        </p:nvSpPr>
        <p:spPr bwMode="auto">
          <a:xfrm>
            <a:off x="4989513" y="3968750"/>
            <a:ext cx="1860550" cy="1403350"/>
          </a:xfrm>
          <a:custGeom>
            <a:avLst/>
            <a:gdLst>
              <a:gd name="T0" fmla="*/ 0 w 1172"/>
              <a:gd name="T1" fmla="*/ 0 h 884"/>
              <a:gd name="T2" fmla="*/ 1172 w 1172"/>
              <a:gd name="T3" fmla="*/ 884 h 884"/>
              <a:gd name="T4" fmla="*/ 0 w 1172"/>
              <a:gd name="T5" fmla="*/ 0 h 884"/>
              <a:gd name="T6" fmla="*/ 759 w 1172"/>
              <a:gd name="T7" fmla="*/ 578 h 884"/>
            </a:gdLst>
            <a:ahLst/>
            <a:cxnLst>
              <a:cxn ang="0">
                <a:pos x="T0" y="T1"/>
              </a:cxn>
              <a:cxn ang="0">
                <a:pos x="T2" y="T3"/>
              </a:cxn>
              <a:cxn ang="0">
                <a:pos x="T4" y="T5"/>
              </a:cxn>
              <a:cxn ang="0">
                <a:pos x="T6" y="T7"/>
              </a:cxn>
            </a:cxnLst>
            <a:rect l="0" t="0" r="r" b="b"/>
            <a:pathLst>
              <a:path w="1172" h="884">
                <a:moveTo>
                  <a:pt x="0" y="0"/>
                </a:moveTo>
                <a:lnTo>
                  <a:pt x="1172" y="884"/>
                </a:lnTo>
                <a:lnTo>
                  <a:pt x="0" y="0"/>
                </a:lnTo>
                <a:lnTo>
                  <a:pt x="759" y="57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9" name="Freeform 111"/>
          <p:cNvSpPr>
            <a:spLocks/>
          </p:cNvSpPr>
          <p:nvPr/>
        </p:nvSpPr>
        <p:spPr bwMode="auto">
          <a:xfrm>
            <a:off x="6142038" y="4821239"/>
            <a:ext cx="144462" cy="130175"/>
          </a:xfrm>
          <a:custGeom>
            <a:avLst/>
            <a:gdLst>
              <a:gd name="T0" fmla="*/ 50 w 91"/>
              <a:gd name="T1" fmla="*/ 0 h 82"/>
              <a:gd name="T2" fmla="*/ 91 w 91"/>
              <a:gd name="T3" fmla="*/ 82 h 82"/>
              <a:gd name="T4" fmla="*/ 0 w 91"/>
              <a:gd name="T5" fmla="*/ 66 h 82"/>
              <a:gd name="T6" fmla="*/ 50 w 91"/>
              <a:gd name="T7" fmla="*/ 0 h 82"/>
            </a:gdLst>
            <a:ahLst/>
            <a:cxnLst>
              <a:cxn ang="0">
                <a:pos x="T0" y="T1"/>
              </a:cxn>
              <a:cxn ang="0">
                <a:pos x="T2" y="T3"/>
              </a:cxn>
              <a:cxn ang="0">
                <a:pos x="T4" y="T5"/>
              </a:cxn>
              <a:cxn ang="0">
                <a:pos x="T6" y="T7"/>
              </a:cxn>
            </a:cxnLst>
            <a:rect l="0" t="0" r="r" b="b"/>
            <a:pathLst>
              <a:path w="91" h="82">
                <a:moveTo>
                  <a:pt x="50" y="0"/>
                </a:moveTo>
                <a:lnTo>
                  <a:pt x="91" y="82"/>
                </a:lnTo>
                <a:lnTo>
                  <a:pt x="0" y="66"/>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0" name="Freeform 112"/>
          <p:cNvSpPr>
            <a:spLocks/>
          </p:cNvSpPr>
          <p:nvPr/>
        </p:nvSpPr>
        <p:spPr bwMode="auto">
          <a:xfrm>
            <a:off x="4989513" y="4676776"/>
            <a:ext cx="1860550" cy="1389063"/>
          </a:xfrm>
          <a:custGeom>
            <a:avLst/>
            <a:gdLst>
              <a:gd name="T0" fmla="*/ 0 w 1172"/>
              <a:gd name="T1" fmla="*/ 0 h 875"/>
              <a:gd name="T2" fmla="*/ 1172 w 1172"/>
              <a:gd name="T3" fmla="*/ 875 h 875"/>
              <a:gd name="T4" fmla="*/ 0 w 1172"/>
              <a:gd name="T5" fmla="*/ 0 h 875"/>
              <a:gd name="T6" fmla="*/ 759 w 1172"/>
              <a:gd name="T7" fmla="*/ 570 h 875"/>
            </a:gdLst>
            <a:ahLst/>
            <a:cxnLst>
              <a:cxn ang="0">
                <a:pos x="T0" y="T1"/>
              </a:cxn>
              <a:cxn ang="0">
                <a:pos x="T2" y="T3"/>
              </a:cxn>
              <a:cxn ang="0">
                <a:pos x="T4" y="T5"/>
              </a:cxn>
              <a:cxn ang="0">
                <a:pos x="T6" y="T7"/>
              </a:cxn>
            </a:cxnLst>
            <a:rect l="0" t="0" r="r" b="b"/>
            <a:pathLst>
              <a:path w="1172" h="875">
                <a:moveTo>
                  <a:pt x="0" y="0"/>
                </a:moveTo>
                <a:lnTo>
                  <a:pt x="1172" y="875"/>
                </a:lnTo>
                <a:lnTo>
                  <a:pt x="0" y="0"/>
                </a:lnTo>
                <a:lnTo>
                  <a:pt x="759" y="57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81" name="Freeform 113"/>
          <p:cNvSpPr>
            <a:spLocks/>
          </p:cNvSpPr>
          <p:nvPr/>
        </p:nvSpPr>
        <p:spPr bwMode="auto">
          <a:xfrm>
            <a:off x="6142038" y="5514976"/>
            <a:ext cx="144462" cy="131763"/>
          </a:xfrm>
          <a:custGeom>
            <a:avLst/>
            <a:gdLst>
              <a:gd name="T0" fmla="*/ 50 w 91"/>
              <a:gd name="T1" fmla="*/ 0 h 83"/>
              <a:gd name="T2" fmla="*/ 91 w 91"/>
              <a:gd name="T3" fmla="*/ 83 h 83"/>
              <a:gd name="T4" fmla="*/ 0 w 91"/>
              <a:gd name="T5" fmla="*/ 66 h 83"/>
              <a:gd name="T6" fmla="*/ 50 w 91"/>
              <a:gd name="T7" fmla="*/ 0 h 83"/>
            </a:gdLst>
            <a:ahLst/>
            <a:cxnLst>
              <a:cxn ang="0">
                <a:pos x="T0" y="T1"/>
              </a:cxn>
              <a:cxn ang="0">
                <a:pos x="T2" y="T3"/>
              </a:cxn>
              <a:cxn ang="0">
                <a:pos x="T4" y="T5"/>
              </a:cxn>
              <a:cxn ang="0">
                <a:pos x="T6" y="T7"/>
              </a:cxn>
            </a:cxnLst>
            <a:rect l="0" t="0" r="r" b="b"/>
            <a:pathLst>
              <a:path w="91" h="83">
                <a:moveTo>
                  <a:pt x="50" y="0"/>
                </a:moveTo>
                <a:lnTo>
                  <a:pt x="91" y="83"/>
                </a:lnTo>
                <a:lnTo>
                  <a:pt x="0" y="66"/>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2" name="Freeform 114"/>
          <p:cNvSpPr>
            <a:spLocks/>
          </p:cNvSpPr>
          <p:nvPr/>
        </p:nvSpPr>
        <p:spPr bwMode="auto">
          <a:xfrm>
            <a:off x="4989513" y="1189038"/>
            <a:ext cx="1860550" cy="1390650"/>
          </a:xfrm>
          <a:custGeom>
            <a:avLst/>
            <a:gdLst>
              <a:gd name="T0" fmla="*/ 0 w 1172"/>
              <a:gd name="T1" fmla="*/ 876 h 876"/>
              <a:gd name="T2" fmla="*/ 1172 w 1172"/>
              <a:gd name="T3" fmla="*/ 0 h 876"/>
              <a:gd name="T4" fmla="*/ 0 w 1172"/>
              <a:gd name="T5" fmla="*/ 876 h 876"/>
              <a:gd name="T6" fmla="*/ 759 w 1172"/>
              <a:gd name="T7" fmla="*/ 306 h 876"/>
            </a:gdLst>
            <a:ahLst/>
            <a:cxnLst>
              <a:cxn ang="0">
                <a:pos x="T0" y="T1"/>
              </a:cxn>
              <a:cxn ang="0">
                <a:pos x="T2" y="T3"/>
              </a:cxn>
              <a:cxn ang="0">
                <a:pos x="T4" y="T5"/>
              </a:cxn>
              <a:cxn ang="0">
                <a:pos x="T6" y="T7"/>
              </a:cxn>
            </a:cxnLst>
            <a:rect l="0" t="0" r="r" b="b"/>
            <a:pathLst>
              <a:path w="1172" h="876">
                <a:moveTo>
                  <a:pt x="0" y="876"/>
                </a:moveTo>
                <a:lnTo>
                  <a:pt x="1172" y="0"/>
                </a:lnTo>
                <a:lnTo>
                  <a:pt x="0" y="876"/>
                </a:lnTo>
                <a:lnTo>
                  <a:pt x="759" y="30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83" name="Freeform 115"/>
          <p:cNvSpPr>
            <a:spLocks/>
          </p:cNvSpPr>
          <p:nvPr/>
        </p:nvSpPr>
        <p:spPr bwMode="auto">
          <a:xfrm>
            <a:off x="6142038" y="1609726"/>
            <a:ext cx="144462" cy="130175"/>
          </a:xfrm>
          <a:custGeom>
            <a:avLst/>
            <a:gdLst>
              <a:gd name="T0" fmla="*/ 0 w 91"/>
              <a:gd name="T1" fmla="*/ 16 h 82"/>
              <a:gd name="T2" fmla="*/ 91 w 91"/>
              <a:gd name="T3" fmla="*/ 0 h 82"/>
              <a:gd name="T4" fmla="*/ 50 w 91"/>
              <a:gd name="T5" fmla="*/ 82 h 82"/>
              <a:gd name="T6" fmla="*/ 0 w 91"/>
              <a:gd name="T7" fmla="*/ 16 h 82"/>
            </a:gdLst>
            <a:ahLst/>
            <a:cxnLst>
              <a:cxn ang="0">
                <a:pos x="T0" y="T1"/>
              </a:cxn>
              <a:cxn ang="0">
                <a:pos x="T2" y="T3"/>
              </a:cxn>
              <a:cxn ang="0">
                <a:pos x="T4" y="T5"/>
              </a:cxn>
              <a:cxn ang="0">
                <a:pos x="T6" y="T7"/>
              </a:cxn>
            </a:cxnLst>
            <a:rect l="0" t="0" r="r" b="b"/>
            <a:pathLst>
              <a:path w="91" h="82">
                <a:moveTo>
                  <a:pt x="0" y="16"/>
                </a:moveTo>
                <a:lnTo>
                  <a:pt x="91" y="0"/>
                </a:lnTo>
                <a:lnTo>
                  <a:pt x="50" y="82"/>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4" name="Freeform 116"/>
          <p:cNvSpPr>
            <a:spLocks/>
          </p:cNvSpPr>
          <p:nvPr/>
        </p:nvSpPr>
        <p:spPr bwMode="auto">
          <a:xfrm>
            <a:off x="4989513" y="1884363"/>
            <a:ext cx="1860550" cy="1389062"/>
          </a:xfrm>
          <a:custGeom>
            <a:avLst/>
            <a:gdLst>
              <a:gd name="T0" fmla="*/ 0 w 1172"/>
              <a:gd name="T1" fmla="*/ 875 h 875"/>
              <a:gd name="T2" fmla="*/ 1172 w 1172"/>
              <a:gd name="T3" fmla="*/ 0 h 875"/>
              <a:gd name="T4" fmla="*/ 0 w 1172"/>
              <a:gd name="T5" fmla="*/ 875 h 875"/>
              <a:gd name="T6" fmla="*/ 759 w 1172"/>
              <a:gd name="T7" fmla="*/ 305 h 875"/>
            </a:gdLst>
            <a:ahLst/>
            <a:cxnLst>
              <a:cxn ang="0">
                <a:pos x="T0" y="T1"/>
              </a:cxn>
              <a:cxn ang="0">
                <a:pos x="T2" y="T3"/>
              </a:cxn>
              <a:cxn ang="0">
                <a:pos x="T4" y="T5"/>
              </a:cxn>
              <a:cxn ang="0">
                <a:pos x="T6" y="T7"/>
              </a:cxn>
            </a:cxnLst>
            <a:rect l="0" t="0" r="r" b="b"/>
            <a:pathLst>
              <a:path w="1172" h="875">
                <a:moveTo>
                  <a:pt x="0" y="875"/>
                </a:moveTo>
                <a:lnTo>
                  <a:pt x="1172" y="0"/>
                </a:lnTo>
                <a:lnTo>
                  <a:pt x="0" y="875"/>
                </a:lnTo>
                <a:lnTo>
                  <a:pt x="759" y="30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85" name="Freeform 117"/>
          <p:cNvSpPr>
            <a:spLocks/>
          </p:cNvSpPr>
          <p:nvPr/>
        </p:nvSpPr>
        <p:spPr bwMode="auto">
          <a:xfrm>
            <a:off x="6142038" y="2303463"/>
            <a:ext cx="144462" cy="131762"/>
          </a:xfrm>
          <a:custGeom>
            <a:avLst/>
            <a:gdLst>
              <a:gd name="T0" fmla="*/ 0 w 91"/>
              <a:gd name="T1" fmla="*/ 17 h 83"/>
              <a:gd name="T2" fmla="*/ 91 w 91"/>
              <a:gd name="T3" fmla="*/ 0 h 83"/>
              <a:gd name="T4" fmla="*/ 50 w 91"/>
              <a:gd name="T5" fmla="*/ 83 h 83"/>
              <a:gd name="T6" fmla="*/ 0 w 91"/>
              <a:gd name="T7" fmla="*/ 17 h 83"/>
            </a:gdLst>
            <a:ahLst/>
            <a:cxnLst>
              <a:cxn ang="0">
                <a:pos x="T0" y="T1"/>
              </a:cxn>
              <a:cxn ang="0">
                <a:pos x="T2" y="T3"/>
              </a:cxn>
              <a:cxn ang="0">
                <a:pos x="T4" y="T5"/>
              </a:cxn>
              <a:cxn ang="0">
                <a:pos x="T6" y="T7"/>
              </a:cxn>
            </a:cxnLst>
            <a:rect l="0" t="0" r="r" b="b"/>
            <a:pathLst>
              <a:path w="91" h="83">
                <a:moveTo>
                  <a:pt x="0" y="17"/>
                </a:moveTo>
                <a:lnTo>
                  <a:pt x="91" y="0"/>
                </a:lnTo>
                <a:lnTo>
                  <a:pt x="50" y="83"/>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6" name="Freeform 118"/>
          <p:cNvSpPr>
            <a:spLocks/>
          </p:cNvSpPr>
          <p:nvPr/>
        </p:nvSpPr>
        <p:spPr bwMode="auto">
          <a:xfrm>
            <a:off x="4989513" y="3968750"/>
            <a:ext cx="1860550" cy="1403350"/>
          </a:xfrm>
          <a:custGeom>
            <a:avLst/>
            <a:gdLst>
              <a:gd name="T0" fmla="*/ 0 w 1172"/>
              <a:gd name="T1" fmla="*/ 884 h 884"/>
              <a:gd name="T2" fmla="*/ 1172 w 1172"/>
              <a:gd name="T3" fmla="*/ 0 h 884"/>
              <a:gd name="T4" fmla="*/ 0 w 1172"/>
              <a:gd name="T5" fmla="*/ 884 h 884"/>
              <a:gd name="T6" fmla="*/ 759 w 1172"/>
              <a:gd name="T7" fmla="*/ 314 h 884"/>
            </a:gdLst>
            <a:ahLst/>
            <a:cxnLst>
              <a:cxn ang="0">
                <a:pos x="T0" y="T1"/>
              </a:cxn>
              <a:cxn ang="0">
                <a:pos x="T2" y="T3"/>
              </a:cxn>
              <a:cxn ang="0">
                <a:pos x="T4" y="T5"/>
              </a:cxn>
              <a:cxn ang="0">
                <a:pos x="T6" y="T7"/>
              </a:cxn>
            </a:cxnLst>
            <a:rect l="0" t="0" r="r" b="b"/>
            <a:pathLst>
              <a:path w="1172" h="884">
                <a:moveTo>
                  <a:pt x="0" y="884"/>
                </a:moveTo>
                <a:lnTo>
                  <a:pt x="1172" y="0"/>
                </a:lnTo>
                <a:lnTo>
                  <a:pt x="0" y="884"/>
                </a:lnTo>
                <a:lnTo>
                  <a:pt x="759" y="31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87" name="Freeform 119"/>
          <p:cNvSpPr>
            <a:spLocks/>
          </p:cNvSpPr>
          <p:nvPr/>
        </p:nvSpPr>
        <p:spPr bwMode="auto">
          <a:xfrm>
            <a:off x="6142038" y="4387851"/>
            <a:ext cx="144462" cy="144463"/>
          </a:xfrm>
          <a:custGeom>
            <a:avLst/>
            <a:gdLst>
              <a:gd name="T0" fmla="*/ 0 w 91"/>
              <a:gd name="T1" fmla="*/ 17 h 91"/>
              <a:gd name="T2" fmla="*/ 91 w 91"/>
              <a:gd name="T3" fmla="*/ 0 h 91"/>
              <a:gd name="T4" fmla="*/ 50 w 91"/>
              <a:gd name="T5" fmla="*/ 91 h 91"/>
              <a:gd name="T6" fmla="*/ 0 w 91"/>
              <a:gd name="T7" fmla="*/ 17 h 91"/>
            </a:gdLst>
            <a:ahLst/>
            <a:cxnLst>
              <a:cxn ang="0">
                <a:pos x="T0" y="T1"/>
              </a:cxn>
              <a:cxn ang="0">
                <a:pos x="T2" y="T3"/>
              </a:cxn>
              <a:cxn ang="0">
                <a:pos x="T4" y="T5"/>
              </a:cxn>
              <a:cxn ang="0">
                <a:pos x="T6" y="T7"/>
              </a:cxn>
            </a:cxnLst>
            <a:rect l="0" t="0" r="r" b="b"/>
            <a:pathLst>
              <a:path w="91" h="91">
                <a:moveTo>
                  <a:pt x="0" y="17"/>
                </a:moveTo>
                <a:lnTo>
                  <a:pt x="91" y="0"/>
                </a:lnTo>
                <a:lnTo>
                  <a:pt x="50" y="91"/>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 name="Freeform 120"/>
          <p:cNvSpPr>
            <a:spLocks/>
          </p:cNvSpPr>
          <p:nvPr/>
        </p:nvSpPr>
        <p:spPr bwMode="auto">
          <a:xfrm>
            <a:off x="4989513" y="4676776"/>
            <a:ext cx="1860550" cy="1389063"/>
          </a:xfrm>
          <a:custGeom>
            <a:avLst/>
            <a:gdLst>
              <a:gd name="T0" fmla="*/ 0 w 1172"/>
              <a:gd name="T1" fmla="*/ 875 h 875"/>
              <a:gd name="T2" fmla="*/ 1172 w 1172"/>
              <a:gd name="T3" fmla="*/ 0 h 875"/>
              <a:gd name="T4" fmla="*/ 0 w 1172"/>
              <a:gd name="T5" fmla="*/ 875 h 875"/>
              <a:gd name="T6" fmla="*/ 759 w 1172"/>
              <a:gd name="T7" fmla="*/ 305 h 875"/>
            </a:gdLst>
            <a:ahLst/>
            <a:cxnLst>
              <a:cxn ang="0">
                <a:pos x="T0" y="T1"/>
              </a:cxn>
              <a:cxn ang="0">
                <a:pos x="T2" y="T3"/>
              </a:cxn>
              <a:cxn ang="0">
                <a:pos x="T4" y="T5"/>
              </a:cxn>
              <a:cxn ang="0">
                <a:pos x="T6" y="T7"/>
              </a:cxn>
            </a:cxnLst>
            <a:rect l="0" t="0" r="r" b="b"/>
            <a:pathLst>
              <a:path w="1172" h="875">
                <a:moveTo>
                  <a:pt x="0" y="875"/>
                </a:moveTo>
                <a:lnTo>
                  <a:pt x="1172" y="0"/>
                </a:lnTo>
                <a:lnTo>
                  <a:pt x="0" y="875"/>
                </a:lnTo>
                <a:lnTo>
                  <a:pt x="759" y="30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89" name="Freeform 121"/>
          <p:cNvSpPr>
            <a:spLocks/>
          </p:cNvSpPr>
          <p:nvPr/>
        </p:nvSpPr>
        <p:spPr bwMode="auto">
          <a:xfrm>
            <a:off x="6142038" y="5095876"/>
            <a:ext cx="144462" cy="131763"/>
          </a:xfrm>
          <a:custGeom>
            <a:avLst/>
            <a:gdLst>
              <a:gd name="T0" fmla="*/ 0 w 91"/>
              <a:gd name="T1" fmla="*/ 17 h 83"/>
              <a:gd name="T2" fmla="*/ 91 w 91"/>
              <a:gd name="T3" fmla="*/ 0 h 83"/>
              <a:gd name="T4" fmla="*/ 50 w 91"/>
              <a:gd name="T5" fmla="*/ 83 h 83"/>
              <a:gd name="T6" fmla="*/ 0 w 91"/>
              <a:gd name="T7" fmla="*/ 17 h 83"/>
            </a:gdLst>
            <a:ahLst/>
            <a:cxnLst>
              <a:cxn ang="0">
                <a:pos x="T0" y="T1"/>
              </a:cxn>
              <a:cxn ang="0">
                <a:pos x="T2" y="T3"/>
              </a:cxn>
              <a:cxn ang="0">
                <a:pos x="T4" y="T5"/>
              </a:cxn>
              <a:cxn ang="0">
                <a:pos x="T6" y="T7"/>
              </a:cxn>
            </a:cxnLst>
            <a:rect l="0" t="0" r="r" b="b"/>
            <a:pathLst>
              <a:path w="91" h="83">
                <a:moveTo>
                  <a:pt x="0" y="17"/>
                </a:moveTo>
                <a:lnTo>
                  <a:pt x="91" y="0"/>
                </a:lnTo>
                <a:lnTo>
                  <a:pt x="50" y="83"/>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0" name="Rectangle 122"/>
          <p:cNvSpPr>
            <a:spLocks noChangeArrowheads="1"/>
          </p:cNvSpPr>
          <p:nvPr/>
        </p:nvSpPr>
        <p:spPr bwMode="auto">
          <a:xfrm>
            <a:off x="7229475" y="2108201"/>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7291" name="Rectangle 123"/>
          <p:cNvSpPr>
            <a:spLocks noChangeArrowheads="1"/>
          </p:cNvSpPr>
          <p:nvPr/>
        </p:nvSpPr>
        <p:spPr bwMode="auto">
          <a:xfrm>
            <a:off x="7170738" y="2351089"/>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292" name="Rectangle 124"/>
          <p:cNvSpPr>
            <a:spLocks noChangeArrowheads="1"/>
          </p:cNvSpPr>
          <p:nvPr/>
        </p:nvSpPr>
        <p:spPr bwMode="auto">
          <a:xfrm>
            <a:off x="6881813" y="2135188"/>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293" name="Rectangle 125"/>
          <p:cNvSpPr>
            <a:spLocks noChangeArrowheads="1"/>
          </p:cNvSpPr>
          <p:nvPr/>
        </p:nvSpPr>
        <p:spPr bwMode="auto">
          <a:xfrm>
            <a:off x="7237413" y="2801939"/>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2</a:t>
            </a:r>
            <a:endParaRPr kumimoji="1" lang="zh-CN" altLang="en-US" b="1"/>
          </a:p>
        </p:txBody>
      </p:sp>
      <p:sp>
        <p:nvSpPr>
          <p:cNvPr id="7294" name="Rectangle 126"/>
          <p:cNvSpPr>
            <a:spLocks noChangeArrowheads="1"/>
          </p:cNvSpPr>
          <p:nvPr/>
        </p:nvSpPr>
        <p:spPr bwMode="auto">
          <a:xfrm>
            <a:off x="7173913" y="3044826"/>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295" name="Rectangle 127"/>
          <p:cNvSpPr>
            <a:spLocks noChangeArrowheads="1"/>
          </p:cNvSpPr>
          <p:nvPr/>
        </p:nvSpPr>
        <p:spPr bwMode="auto">
          <a:xfrm>
            <a:off x="6883400" y="2828925"/>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296" name="Rectangle 128"/>
          <p:cNvSpPr>
            <a:spLocks noChangeArrowheads="1"/>
          </p:cNvSpPr>
          <p:nvPr/>
        </p:nvSpPr>
        <p:spPr bwMode="auto">
          <a:xfrm>
            <a:off x="7237413" y="5591176"/>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2</a:t>
            </a:r>
            <a:endParaRPr kumimoji="1" lang="zh-CN" altLang="en-US" b="1"/>
          </a:p>
        </p:txBody>
      </p:sp>
      <p:sp>
        <p:nvSpPr>
          <p:cNvPr id="7297" name="Rectangle 129"/>
          <p:cNvSpPr>
            <a:spLocks noChangeArrowheads="1"/>
          </p:cNvSpPr>
          <p:nvPr/>
        </p:nvSpPr>
        <p:spPr bwMode="auto">
          <a:xfrm>
            <a:off x="7173913" y="5827714"/>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298" name="Rectangle 130"/>
          <p:cNvSpPr>
            <a:spLocks noChangeArrowheads="1"/>
          </p:cNvSpPr>
          <p:nvPr/>
        </p:nvSpPr>
        <p:spPr bwMode="auto">
          <a:xfrm>
            <a:off x="6883400" y="5618163"/>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299" name="Rectangle 131"/>
          <p:cNvSpPr>
            <a:spLocks noChangeArrowheads="1"/>
          </p:cNvSpPr>
          <p:nvPr/>
        </p:nvSpPr>
        <p:spPr bwMode="auto">
          <a:xfrm>
            <a:off x="7229475" y="4897439"/>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7300" name="Rectangle 132"/>
          <p:cNvSpPr>
            <a:spLocks noChangeArrowheads="1"/>
          </p:cNvSpPr>
          <p:nvPr/>
        </p:nvSpPr>
        <p:spPr bwMode="auto">
          <a:xfrm>
            <a:off x="7170738" y="5133976"/>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301" name="Rectangle 133"/>
          <p:cNvSpPr>
            <a:spLocks noChangeArrowheads="1"/>
          </p:cNvSpPr>
          <p:nvPr/>
        </p:nvSpPr>
        <p:spPr bwMode="auto">
          <a:xfrm>
            <a:off x="6881813" y="4924425"/>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302" name="Freeform 134"/>
          <p:cNvSpPr>
            <a:spLocks/>
          </p:cNvSpPr>
          <p:nvPr/>
        </p:nvSpPr>
        <p:spPr bwMode="auto">
          <a:xfrm>
            <a:off x="7308850" y="1189039"/>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03" name="Freeform 135"/>
          <p:cNvSpPr>
            <a:spLocks/>
          </p:cNvSpPr>
          <p:nvPr/>
        </p:nvSpPr>
        <p:spPr bwMode="auto">
          <a:xfrm>
            <a:off x="8567739" y="1123951"/>
            <a:ext cx="130175" cy="131763"/>
          </a:xfrm>
          <a:custGeom>
            <a:avLst/>
            <a:gdLst>
              <a:gd name="T0" fmla="*/ 0 w 82"/>
              <a:gd name="T1" fmla="*/ 0 h 83"/>
              <a:gd name="T2" fmla="*/ 82 w 82"/>
              <a:gd name="T3" fmla="*/ 41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4" name="Freeform 136"/>
          <p:cNvSpPr>
            <a:spLocks/>
          </p:cNvSpPr>
          <p:nvPr/>
        </p:nvSpPr>
        <p:spPr bwMode="auto">
          <a:xfrm>
            <a:off x="9169400" y="1189039"/>
            <a:ext cx="458788" cy="1587"/>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05" name="Freeform 137"/>
          <p:cNvSpPr>
            <a:spLocks/>
          </p:cNvSpPr>
          <p:nvPr/>
        </p:nvSpPr>
        <p:spPr bwMode="auto">
          <a:xfrm>
            <a:off x="9353551" y="1123951"/>
            <a:ext cx="144463" cy="131763"/>
          </a:xfrm>
          <a:custGeom>
            <a:avLst/>
            <a:gdLst>
              <a:gd name="T0" fmla="*/ 0 w 91"/>
              <a:gd name="T1" fmla="*/ 0 h 83"/>
              <a:gd name="T2" fmla="*/ 91 w 91"/>
              <a:gd name="T3" fmla="*/ 41 h 83"/>
              <a:gd name="T4" fmla="*/ 0 w 91"/>
              <a:gd name="T5" fmla="*/ 83 h 83"/>
              <a:gd name="T6" fmla="*/ 0 w 91"/>
              <a:gd name="T7" fmla="*/ 0 h 83"/>
            </a:gdLst>
            <a:ahLst/>
            <a:cxnLst>
              <a:cxn ang="0">
                <a:pos x="T0" y="T1"/>
              </a:cxn>
              <a:cxn ang="0">
                <a:pos x="T2" y="T3"/>
              </a:cxn>
              <a:cxn ang="0">
                <a:pos x="T4" y="T5"/>
              </a:cxn>
              <a:cxn ang="0">
                <a:pos x="T6" y="T7"/>
              </a:cxn>
            </a:cxnLst>
            <a:rect l="0" t="0" r="r" b="b"/>
            <a:pathLst>
              <a:path w="91" h="83">
                <a:moveTo>
                  <a:pt x="0" y="0"/>
                </a:moveTo>
                <a:lnTo>
                  <a:pt x="91"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6" name="Rectangle 138"/>
          <p:cNvSpPr>
            <a:spLocks noChangeArrowheads="1"/>
          </p:cNvSpPr>
          <p:nvPr/>
        </p:nvSpPr>
        <p:spPr bwMode="auto">
          <a:xfrm>
            <a:off x="9812339" y="979489"/>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X[0]</a:t>
            </a:r>
            <a:endParaRPr kumimoji="1" lang="en-US" altLang="zh-CN" b="1"/>
          </a:p>
        </p:txBody>
      </p:sp>
      <p:sp>
        <p:nvSpPr>
          <p:cNvPr id="7307" name="Rectangle 139"/>
          <p:cNvSpPr>
            <a:spLocks noChangeArrowheads="1"/>
          </p:cNvSpPr>
          <p:nvPr/>
        </p:nvSpPr>
        <p:spPr bwMode="auto">
          <a:xfrm>
            <a:off x="9812339" y="3063876"/>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X[6]</a:t>
            </a:r>
            <a:endParaRPr kumimoji="1" lang="en-US" altLang="zh-CN" b="1"/>
          </a:p>
        </p:txBody>
      </p:sp>
      <p:sp>
        <p:nvSpPr>
          <p:cNvPr id="7308" name="Rectangle 140"/>
          <p:cNvSpPr>
            <a:spLocks noChangeArrowheads="1"/>
          </p:cNvSpPr>
          <p:nvPr/>
        </p:nvSpPr>
        <p:spPr bwMode="auto">
          <a:xfrm>
            <a:off x="9812339" y="1674814"/>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X[4]</a:t>
            </a:r>
            <a:endParaRPr kumimoji="1" lang="en-US" altLang="zh-CN" b="1"/>
          </a:p>
        </p:txBody>
      </p:sp>
      <p:sp>
        <p:nvSpPr>
          <p:cNvPr id="7309" name="Rectangle 141"/>
          <p:cNvSpPr>
            <a:spLocks noChangeArrowheads="1"/>
          </p:cNvSpPr>
          <p:nvPr/>
        </p:nvSpPr>
        <p:spPr bwMode="auto">
          <a:xfrm>
            <a:off x="9812339" y="2368551"/>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X[2]</a:t>
            </a:r>
            <a:endParaRPr kumimoji="1" lang="en-US" altLang="zh-CN" b="1"/>
          </a:p>
        </p:txBody>
      </p:sp>
      <p:sp>
        <p:nvSpPr>
          <p:cNvPr id="7310" name="Rectangle 142"/>
          <p:cNvSpPr>
            <a:spLocks noChangeArrowheads="1"/>
          </p:cNvSpPr>
          <p:nvPr/>
        </p:nvSpPr>
        <p:spPr bwMode="auto">
          <a:xfrm>
            <a:off x="9812339" y="3759201"/>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X[1]</a:t>
            </a:r>
            <a:endParaRPr kumimoji="1" lang="en-US" altLang="zh-CN" b="1"/>
          </a:p>
        </p:txBody>
      </p:sp>
      <p:sp>
        <p:nvSpPr>
          <p:cNvPr id="7311" name="Rectangle 143"/>
          <p:cNvSpPr>
            <a:spLocks noChangeArrowheads="1"/>
          </p:cNvSpPr>
          <p:nvPr/>
        </p:nvSpPr>
        <p:spPr bwMode="auto">
          <a:xfrm>
            <a:off x="9812339" y="4452939"/>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X[5]</a:t>
            </a:r>
            <a:endParaRPr kumimoji="1" lang="en-US" altLang="zh-CN" b="1"/>
          </a:p>
        </p:txBody>
      </p:sp>
      <p:sp>
        <p:nvSpPr>
          <p:cNvPr id="7312" name="Rectangle 144"/>
          <p:cNvSpPr>
            <a:spLocks noChangeArrowheads="1"/>
          </p:cNvSpPr>
          <p:nvPr/>
        </p:nvSpPr>
        <p:spPr bwMode="auto">
          <a:xfrm>
            <a:off x="9812339" y="5160964"/>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X[3]</a:t>
            </a:r>
            <a:endParaRPr kumimoji="1" lang="en-US" altLang="zh-CN" b="1"/>
          </a:p>
        </p:txBody>
      </p:sp>
      <p:sp>
        <p:nvSpPr>
          <p:cNvPr id="7313" name="Rectangle 145"/>
          <p:cNvSpPr>
            <a:spLocks noChangeArrowheads="1"/>
          </p:cNvSpPr>
          <p:nvPr/>
        </p:nvSpPr>
        <p:spPr bwMode="auto">
          <a:xfrm>
            <a:off x="9812339" y="5856289"/>
            <a:ext cx="480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b="1">
                <a:solidFill>
                  <a:srgbClr val="000000"/>
                </a:solidFill>
              </a:rPr>
              <a:t>X[7]</a:t>
            </a:r>
            <a:endParaRPr kumimoji="1" lang="en-US" altLang="zh-CN" b="1"/>
          </a:p>
        </p:txBody>
      </p:sp>
      <p:sp>
        <p:nvSpPr>
          <p:cNvPr id="7314" name="Freeform 146"/>
          <p:cNvSpPr>
            <a:spLocks/>
          </p:cNvSpPr>
          <p:nvPr/>
        </p:nvSpPr>
        <p:spPr bwMode="auto">
          <a:xfrm>
            <a:off x="7308850" y="1884364"/>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15" name="Freeform 147"/>
          <p:cNvSpPr>
            <a:spLocks/>
          </p:cNvSpPr>
          <p:nvPr/>
        </p:nvSpPr>
        <p:spPr bwMode="auto">
          <a:xfrm>
            <a:off x="8567739" y="1819276"/>
            <a:ext cx="130175" cy="130175"/>
          </a:xfrm>
          <a:custGeom>
            <a:avLst/>
            <a:gdLst>
              <a:gd name="T0" fmla="*/ 0 w 82"/>
              <a:gd name="T1" fmla="*/ 0 h 82"/>
              <a:gd name="T2" fmla="*/ 82 w 82"/>
              <a:gd name="T3" fmla="*/ 41 h 82"/>
              <a:gd name="T4" fmla="*/ 0 w 82"/>
              <a:gd name="T5" fmla="*/ 82 h 82"/>
              <a:gd name="T6" fmla="*/ 0 w 82"/>
              <a:gd name="T7" fmla="*/ 0 h 82"/>
            </a:gdLst>
            <a:ahLst/>
            <a:cxnLst>
              <a:cxn ang="0">
                <a:pos x="T0" y="T1"/>
              </a:cxn>
              <a:cxn ang="0">
                <a:pos x="T2" y="T3"/>
              </a:cxn>
              <a:cxn ang="0">
                <a:pos x="T4" y="T5"/>
              </a:cxn>
              <a:cxn ang="0">
                <a:pos x="T6" y="T7"/>
              </a:cxn>
            </a:cxnLst>
            <a:rect l="0" t="0" r="r" b="b"/>
            <a:pathLst>
              <a:path w="82" h="82">
                <a:moveTo>
                  <a:pt x="0" y="0"/>
                </a:moveTo>
                <a:lnTo>
                  <a:pt x="82"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6" name="Freeform 148"/>
          <p:cNvSpPr>
            <a:spLocks/>
          </p:cNvSpPr>
          <p:nvPr/>
        </p:nvSpPr>
        <p:spPr bwMode="auto">
          <a:xfrm>
            <a:off x="9169400" y="1884364"/>
            <a:ext cx="458788" cy="1587"/>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17" name="Freeform 149"/>
          <p:cNvSpPr>
            <a:spLocks/>
          </p:cNvSpPr>
          <p:nvPr/>
        </p:nvSpPr>
        <p:spPr bwMode="auto">
          <a:xfrm>
            <a:off x="9353551" y="1819276"/>
            <a:ext cx="144463" cy="130175"/>
          </a:xfrm>
          <a:custGeom>
            <a:avLst/>
            <a:gdLst>
              <a:gd name="T0" fmla="*/ 0 w 91"/>
              <a:gd name="T1" fmla="*/ 0 h 82"/>
              <a:gd name="T2" fmla="*/ 91 w 91"/>
              <a:gd name="T3" fmla="*/ 41 h 82"/>
              <a:gd name="T4" fmla="*/ 0 w 91"/>
              <a:gd name="T5" fmla="*/ 82 h 82"/>
              <a:gd name="T6" fmla="*/ 0 w 91"/>
              <a:gd name="T7" fmla="*/ 0 h 82"/>
            </a:gdLst>
            <a:ahLst/>
            <a:cxnLst>
              <a:cxn ang="0">
                <a:pos x="T0" y="T1"/>
              </a:cxn>
              <a:cxn ang="0">
                <a:pos x="T2" y="T3"/>
              </a:cxn>
              <a:cxn ang="0">
                <a:pos x="T4" y="T5"/>
              </a:cxn>
              <a:cxn ang="0">
                <a:pos x="T6" y="T7"/>
              </a:cxn>
            </a:cxnLst>
            <a:rect l="0" t="0" r="r" b="b"/>
            <a:pathLst>
              <a:path w="91" h="82">
                <a:moveTo>
                  <a:pt x="0" y="0"/>
                </a:moveTo>
                <a:lnTo>
                  <a:pt x="91"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8" name="Freeform 150"/>
          <p:cNvSpPr>
            <a:spLocks/>
          </p:cNvSpPr>
          <p:nvPr/>
        </p:nvSpPr>
        <p:spPr bwMode="auto">
          <a:xfrm>
            <a:off x="7308850" y="2579689"/>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19" name="Freeform 151"/>
          <p:cNvSpPr>
            <a:spLocks/>
          </p:cNvSpPr>
          <p:nvPr/>
        </p:nvSpPr>
        <p:spPr bwMode="auto">
          <a:xfrm>
            <a:off x="8567739" y="2513013"/>
            <a:ext cx="130175" cy="131762"/>
          </a:xfrm>
          <a:custGeom>
            <a:avLst/>
            <a:gdLst>
              <a:gd name="T0" fmla="*/ 0 w 82"/>
              <a:gd name="T1" fmla="*/ 0 h 83"/>
              <a:gd name="T2" fmla="*/ 82 w 82"/>
              <a:gd name="T3" fmla="*/ 42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0" name="Freeform 152"/>
          <p:cNvSpPr>
            <a:spLocks/>
          </p:cNvSpPr>
          <p:nvPr/>
        </p:nvSpPr>
        <p:spPr bwMode="auto">
          <a:xfrm>
            <a:off x="9169400" y="2579689"/>
            <a:ext cx="458788" cy="1587"/>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21" name="Freeform 153"/>
          <p:cNvSpPr>
            <a:spLocks/>
          </p:cNvSpPr>
          <p:nvPr/>
        </p:nvSpPr>
        <p:spPr bwMode="auto">
          <a:xfrm>
            <a:off x="9353551" y="2513013"/>
            <a:ext cx="144463" cy="131762"/>
          </a:xfrm>
          <a:custGeom>
            <a:avLst/>
            <a:gdLst>
              <a:gd name="T0" fmla="*/ 0 w 91"/>
              <a:gd name="T1" fmla="*/ 0 h 83"/>
              <a:gd name="T2" fmla="*/ 91 w 91"/>
              <a:gd name="T3" fmla="*/ 42 h 83"/>
              <a:gd name="T4" fmla="*/ 0 w 91"/>
              <a:gd name="T5" fmla="*/ 83 h 83"/>
              <a:gd name="T6" fmla="*/ 0 w 91"/>
              <a:gd name="T7" fmla="*/ 0 h 83"/>
            </a:gdLst>
            <a:ahLst/>
            <a:cxnLst>
              <a:cxn ang="0">
                <a:pos x="T0" y="T1"/>
              </a:cxn>
              <a:cxn ang="0">
                <a:pos x="T2" y="T3"/>
              </a:cxn>
              <a:cxn ang="0">
                <a:pos x="T4" y="T5"/>
              </a:cxn>
              <a:cxn ang="0">
                <a:pos x="T6" y="T7"/>
              </a:cxn>
            </a:cxnLst>
            <a:rect l="0" t="0" r="r" b="b"/>
            <a:pathLst>
              <a:path w="91" h="83">
                <a:moveTo>
                  <a:pt x="0" y="0"/>
                </a:moveTo>
                <a:lnTo>
                  <a:pt x="91"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2" name="Freeform 154"/>
          <p:cNvSpPr>
            <a:spLocks/>
          </p:cNvSpPr>
          <p:nvPr/>
        </p:nvSpPr>
        <p:spPr bwMode="auto">
          <a:xfrm>
            <a:off x="7308850" y="3273425"/>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23" name="Freeform 155"/>
          <p:cNvSpPr>
            <a:spLocks/>
          </p:cNvSpPr>
          <p:nvPr/>
        </p:nvSpPr>
        <p:spPr bwMode="auto">
          <a:xfrm>
            <a:off x="8567739" y="3208338"/>
            <a:ext cx="130175" cy="131762"/>
          </a:xfrm>
          <a:custGeom>
            <a:avLst/>
            <a:gdLst>
              <a:gd name="T0" fmla="*/ 0 w 82"/>
              <a:gd name="T1" fmla="*/ 0 h 83"/>
              <a:gd name="T2" fmla="*/ 82 w 82"/>
              <a:gd name="T3" fmla="*/ 41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4" name="Freeform 156"/>
          <p:cNvSpPr>
            <a:spLocks/>
          </p:cNvSpPr>
          <p:nvPr/>
        </p:nvSpPr>
        <p:spPr bwMode="auto">
          <a:xfrm>
            <a:off x="9169400" y="3273425"/>
            <a:ext cx="458788" cy="1588"/>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25" name="Freeform 157"/>
          <p:cNvSpPr>
            <a:spLocks/>
          </p:cNvSpPr>
          <p:nvPr/>
        </p:nvSpPr>
        <p:spPr bwMode="auto">
          <a:xfrm>
            <a:off x="9353551" y="3208338"/>
            <a:ext cx="144463" cy="131762"/>
          </a:xfrm>
          <a:custGeom>
            <a:avLst/>
            <a:gdLst>
              <a:gd name="T0" fmla="*/ 0 w 91"/>
              <a:gd name="T1" fmla="*/ 0 h 83"/>
              <a:gd name="T2" fmla="*/ 91 w 91"/>
              <a:gd name="T3" fmla="*/ 41 h 83"/>
              <a:gd name="T4" fmla="*/ 0 w 91"/>
              <a:gd name="T5" fmla="*/ 83 h 83"/>
              <a:gd name="T6" fmla="*/ 0 w 91"/>
              <a:gd name="T7" fmla="*/ 0 h 83"/>
            </a:gdLst>
            <a:ahLst/>
            <a:cxnLst>
              <a:cxn ang="0">
                <a:pos x="T0" y="T1"/>
              </a:cxn>
              <a:cxn ang="0">
                <a:pos x="T2" y="T3"/>
              </a:cxn>
              <a:cxn ang="0">
                <a:pos x="T4" y="T5"/>
              </a:cxn>
              <a:cxn ang="0">
                <a:pos x="T6" y="T7"/>
              </a:cxn>
            </a:cxnLst>
            <a:rect l="0" t="0" r="r" b="b"/>
            <a:pathLst>
              <a:path w="91" h="83">
                <a:moveTo>
                  <a:pt x="0" y="0"/>
                </a:moveTo>
                <a:lnTo>
                  <a:pt x="91" y="41"/>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6" name="Freeform 158"/>
          <p:cNvSpPr>
            <a:spLocks/>
          </p:cNvSpPr>
          <p:nvPr/>
        </p:nvSpPr>
        <p:spPr bwMode="auto">
          <a:xfrm>
            <a:off x="7308850" y="3968750"/>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27" name="Freeform 159"/>
          <p:cNvSpPr>
            <a:spLocks/>
          </p:cNvSpPr>
          <p:nvPr/>
        </p:nvSpPr>
        <p:spPr bwMode="auto">
          <a:xfrm>
            <a:off x="8567739" y="3903664"/>
            <a:ext cx="130175" cy="142875"/>
          </a:xfrm>
          <a:custGeom>
            <a:avLst/>
            <a:gdLst>
              <a:gd name="T0" fmla="*/ 0 w 82"/>
              <a:gd name="T1" fmla="*/ 0 h 90"/>
              <a:gd name="T2" fmla="*/ 82 w 82"/>
              <a:gd name="T3" fmla="*/ 41 h 90"/>
              <a:gd name="T4" fmla="*/ 0 w 82"/>
              <a:gd name="T5" fmla="*/ 90 h 90"/>
              <a:gd name="T6" fmla="*/ 0 w 82"/>
              <a:gd name="T7" fmla="*/ 0 h 90"/>
            </a:gdLst>
            <a:ahLst/>
            <a:cxnLst>
              <a:cxn ang="0">
                <a:pos x="T0" y="T1"/>
              </a:cxn>
              <a:cxn ang="0">
                <a:pos x="T2" y="T3"/>
              </a:cxn>
              <a:cxn ang="0">
                <a:pos x="T4" y="T5"/>
              </a:cxn>
              <a:cxn ang="0">
                <a:pos x="T6" y="T7"/>
              </a:cxn>
            </a:cxnLst>
            <a:rect l="0" t="0" r="r" b="b"/>
            <a:pathLst>
              <a:path w="82" h="90">
                <a:moveTo>
                  <a:pt x="0" y="0"/>
                </a:moveTo>
                <a:lnTo>
                  <a:pt x="82" y="41"/>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8" name="Freeform 160"/>
          <p:cNvSpPr>
            <a:spLocks/>
          </p:cNvSpPr>
          <p:nvPr/>
        </p:nvSpPr>
        <p:spPr bwMode="auto">
          <a:xfrm>
            <a:off x="9169400" y="3968750"/>
            <a:ext cx="458788" cy="1588"/>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29" name="Freeform 161"/>
          <p:cNvSpPr>
            <a:spLocks/>
          </p:cNvSpPr>
          <p:nvPr/>
        </p:nvSpPr>
        <p:spPr bwMode="auto">
          <a:xfrm>
            <a:off x="9353551" y="3903664"/>
            <a:ext cx="144463" cy="142875"/>
          </a:xfrm>
          <a:custGeom>
            <a:avLst/>
            <a:gdLst>
              <a:gd name="T0" fmla="*/ 0 w 91"/>
              <a:gd name="T1" fmla="*/ 0 h 90"/>
              <a:gd name="T2" fmla="*/ 91 w 91"/>
              <a:gd name="T3" fmla="*/ 41 h 90"/>
              <a:gd name="T4" fmla="*/ 0 w 91"/>
              <a:gd name="T5" fmla="*/ 90 h 90"/>
              <a:gd name="T6" fmla="*/ 0 w 91"/>
              <a:gd name="T7" fmla="*/ 0 h 90"/>
            </a:gdLst>
            <a:ahLst/>
            <a:cxnLst>
              <a:cxn ang="0">
                <a:pos x="T0" y="T1"/>
              </a:cxn>
              <a:cxn ang="0">
                <a:pos x="T2" y="T3"/>
              </a:cxn>
              <a:cxn ang="0">
                <a:pos x="T4" y="T5"/>
              </a:cxn>
              <a:cxn ang="0">
                <a:pos x="T6" y="T7"/>
              </a:cxn>
            </a:cxnLst>
            <a:rect l="0" t="0" r="r" b="b"/>
            <a:pathLst>
              <a:path w="91" h="90">
                <a:moveTo>
                  <a:pt x="0" y="0"/>
                </a:moveTo>
                <a:lnTo>
                  <a:pt x="91" y="41"/>
                </a:lnTo>
                <a:lnTo>
                  <a:pt x="0" y="9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0" name="Freeform 162"/>
          <p:cNvSpPr>
            <a:spLocks/>
          </p:cNvSpPr>
          <p:nvPr/>
        </p:nvSpPr>
        <p:spPr bwMode="auto">
          <a:xfrm>
            <a:off x="7308850" y="4676775"/>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31" name="Freeform 163"/>
          <p:cNvSpPr>
            <a:spLocks/>
          </p:cNvSpPr>
          <p:nvPr/>
        </p:nvSpPr>
        <p:spPr bwMode="auto">
          <a:xfrm>
            <a:off x="8567739" y="4611689"/>
            <a:ext cx="130175" cy="130175"/>
          </a:xfrm>
          <a:custGeom>
            <a:avLst/>
            <a:gdLst>
              <a:gd name="T0" fmla="*/ 0 w 82"/>
              <a:gd name="T1" fmla="*/ 0 h 82"/>
              <a:gd name="T2" fmla="*/ 82 w 82"/>
              <a:gd name="T3" fmla="*/ 41 h 82"/>
              <a:gd name="T4" fmla="*/ 0 w 82"/>
              <a:gd name="T5" fmla="*/ 82 h 82"/>
              <a:gd name="T6" fmla="*/ 0 w 82"/>
              <a:gd name="T7" fmla="*/ 0 h 82"/>
            </a:gdLst>
            <a:ahLst/>
            <a:cxnLst>
              <a:cxn ang="0">
                <a:pos x="T0" y="T1"/>
              </a:cxn>
              <a:cxn ang="0">
                <a:pos x="T2" y="T3"/>
              </a:cxn>
              <a:cxn ang="0">
                <a:pos x="T4" y="T5"/>
              </a:cxn>
              <a:cxn ang="0">
                <a:pos x="T6" y="T7"/>
              </a:cxn>
            </a:cxnLst>
            <a:rect l="0" t="0" r="r" b="b"/>
            <a:pathLst>
              <a:path w="82" h="82">
                <a:moveTo>
                  <a:pt x="0" y="0"/>
                </a:moveTo>
                <a:lnTo>
                  <a:pt x="82"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2" name="Freeform 164"/>
          <p:cNvSpPr>
            <a:spLocks/>
          </p:cNvSpPr>
          <p:nvPr/>
        </p:nvSpPr>
        <p:spPr bwMode="auto">
          <a:xfrm>
            <a:off x="9169400" y="4676775"/>
            <a:ext cx="458788" cy="1588"/>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33" name="Freeform 165"/>
          <p:cNvSpPr>
            <a:spLocks/>
          </p:cNvSpPr>
          <p:nvPr/>
        </p:nvSpPr>
        <p:spPr bwMode="auto">
          <a:xfrm>
            <a:off x="9353551" y="4611689"/>
            <a:ext cx="144463" cy="130175"/>
          </a:xfrm>
          <a:custGeom>
            <a:avLst/>
            <a:gdLst>
              <a:gd name="T0" fmla="*/ 0 w 91"/>
              <a:gd name="T1" fmla="*/ 0 h 82"/>
              <a:gd name="T2" fmla="*/ 91 w 91"/>
              <a:gd name="T3" fmla="*/ 41 h 82"/>
              <a:gd name="T4" fmla="*/ 0 w 91"/>
              <a:gd name="T5" fmla="*/ 82 h 82"/>
              <a:gd name="T6" fmla="*/ 0 w 91"/>
              <a:gd name="T7" fmla="*/ 0 h 82"/>
            </a:gdLst>
            <a:ahLst/>
            <a:cxnLst>
              <a:cxn ang="0">
                <a:pos x="T0" y="T1"/>
              </a:cxn>
              <a:cxn ang="0">
                <a:pos x="T2" y="T3"/>
              </a:cxn>
              <a:cxn ang="0">
                <a:pos x="T4" y="T5"/>
              </a:cxn>
              <a:cxn ang="0">
                <a:pos x="T6" y="T7"/>
              </a:cxn>
            </a:cxnLst>
            <a:rect l="0" t="0" r="r" b="b"/>
            <a:pathLst>
              <a:path w="91" h="82">
                <a:moveTo>
                  <a:pt x="0" y="0"/>
                </a:moveTo>
                <a:lnTo>
                  <a:pt x="91"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4" name="Freeform 166"/>
          <p:cNvSpPr>
            <a:spLocks/>
          </p:cNvSpPr>
          <p:nvPr/>
        </p:nvSpPr>
        <p:spPr bwMode="auto">
          <a:xfrm>
            <a:off x="7308850" y="5372100"/>
            <a:ext cx="1860550" cy="1588"/>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35" name="Freeform 167"/>
          <p:cNvSpPr>
            <a:spLocks/>
          </p:cNvSpPr>
          <p:nvPr/>
        </p:nvSpPr>
        <p:spPr bwMode="auto">
          <a:xfrm>
            <a:off x="8567739" y="5305426"/>
            <a:ext cx="130175" cy="131763"/>
          </a:xfrm>
          <a:custGeom>
            <a:avLst/>
            <a:gdLst>
              <a:gd name="T0" fmla="*/ 0 w 82"/>
              <a:gd name="T1" fmla="*/ 0 h 83"/>
              <a:gd name="T2" fmla="*/ 82 w 82"/>
              <a:gd name="T3" fmla="*/ 42 h 83"/>
              <a:gd name="T4" fmla="*/ 0 w 82"/>
              <a:gd name="T5" fmla="*/ 83 h 83"/>
              <a:gd name="T6" fmla="*/ 0 w 82"/>
              <a:gd name="T7" fmla="*/ 0 h 83"/>
            </a:gdLst>
            <a:ahLst/>
            <a:cxnLst>
              <a:cxn ang="0">
                <a:pos x="T0" y="T1"/>
              </a:cxn>
              <a:cxn ang="0">
                <a:pos x="T2" y="T3"/>
              </a:cxn>
              <a:cxn ang="0">
                <a:pos x="T4" y="T5"/>
              </a:cxn>
              <a:cxn ang="0">
                <a:pos x="T6" y="T7"/>
              </a:cxn>
            </a:cxnLst>
            <a:rect l="0" t="0" r="r" b="b"/>
            <a:pathLst>
              <a:path w="82" h="83">
                <a:moveTo>
                  <a:pt x="0" y="0"/>
                </a:moveTo>
                <a:lnTo>
                  <a:pt x="82"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6" name="Freeform 168"/>
          <p:cNvSpPr>
            <a:spLocks/>
          </p:cNvSpPr>
          <p:nvPr/>
        </p:nvSpPr>
        <p:spPr bwMode="auto">
          <a:xfrm>
            <a:off x="9169400" y="5372100"/>
            <a:ext cx="458788" cy="1588"/>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37" name="Freeform 169"/>
          <p:cNvSpPr>
            <a:spLocks/>
          </p:cNvSpPr>
          <p:nvPr/>
        </p:nvSpPr>
        <p:spPr bwMode="auto">
          <a:xfrm>
            <a:off x="9353551" y="5305426"/>
            <a:ext cx="144463" cy="131763"/>
          </a:xfrm>
          <a:custGeom>
            <a:avLst/>
            <a:gdLst>
              <a:gd name="T0" fmla="*/ 0 w 91"/>
              <a:gd name="T1" fmla="*/ 0 h 83"/>
              <a:gd name="T2" fmla="*/ 91 w 91"/>
              <a:gd name="T3" fmla="*/ 42 h 83"/>
              <a:gd name="T4" fmla="*/ 0 w 91"/>
              <a:gd name="T5" fmla="*/ 83 h 83"/>
              <a:gd name="T6" fmla="*/ 0 w 91"/>
              <a:gd name="T7" fmla="*/ 0 h 83"/>
            </a:gdLst>
            <a:ahLst/>
            <a:cxnLst>
              <a:cxn ang="0">
                <a:pos x="T0" y="T1"/>
              </a:cxn>
              <a:cxn ang="0">
                <a:pos x="T2" y="T3"/>
              </a:cxn>
              <a:cxn ang="0">
                <a:pos x="T4" y="T5"/>
              </a:cxn>
              <a:cxn ang="0">
                <a:pos x="T6" y="T7"/>
              </a:cxn>
            </a:cxnLst>
            <a:rect l="0" t="0" r="r" b="b"/>
            <a:pathLst>
              <a:path w="91" h="83">
                <a:moveTo>
                  <a:pt x="0" y="0"/>
                </a:moveTo>
                <a:lnTo>
                  <a:pt x="91" y="42"/>
                </a:lnTo>
                <a:lnTo>
                  <a:pt x="0" y="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8" name="Freeform 170"/>
          <p:cNvSpPr>
            <a:spLocks/>
          </p:cNvSpPr>
          <p:nvPr/>
        </p:nvSpPr>
        <p:spPr bwMode="auto">
          <a:xfrm>
            <a:off x="7308850" y="6065839"/>
            <a:ext cx="1860550" cy="1587"/>
          </a:xfrm>
          <a:custGeom>
            <a:avLst/>
            <a:gdLst>
              <a:gd name="T0" fmla="*/ 0 w 1172"/>
              <a:gd name="T1" fmla="*/ 1172 w 1172"/>
              <a:gd name="T2" fmla="*/ 0 w 1172"/>
              <a:gd name="T3" fmla="*/ 801 w 1172"/>
            </a:gdLst>
            <a:ahLst/>
            <a:cxnLst>
              <a:cxn ang="0">
                <a:pos x="T0" y="0"/>
              </a:cxn>
              <a:cxn ang="0">
                <a:pos x="T1" y="0"/>
              </a:cxn>
              <a:cxn ang="0">
                <a:pos x="T2" y="0"/>
              </a:cxn>
              <a:cxn ang="0">
                <a:pos x="T3" y="0"/>
              </a:cxn>
            </a:cxnLst>
            <a:rect l="0" t="0" r="r" b="b"/>
            <a:pathLst>
              <a:path w="1172">
                <a:moveTo>
                  <a:pt x="0" y="0"/>
                </a:moveTo>
                <a:lnTo>
                  <a:pt x="1172" y="0"/>
                </a:lnTo>
                <a:lnTo>
                  <a:pt x="0" y="0"/>
                </a:lnTo>
                <a:lnTo>
                  <a:pt x="801"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39" name="Freeform 171"/>
          <p:cNvSpPr>
            <a:spLocks/>
          </p:cNvSpPr>
          <p:nvPr/>
        </p:nvSpPr>
        <p:spPr bwMode="auto">
          <a:xfrm>
            <a:off x="8567739" y="6000751"/>
            <a:ext cx="130175" cy="130175"/>
          </a:xfrm>
          <a:custGeom>
            <a:avLst/>
            <a:gdLst>
              <a:gd name="T0" fmla="*/ 0 w 82"/>
              <a:gd name="T1" fmla="*/ 0 h 82"/>
              <a:gd name="T2" fmla="*/ 82 w 82"/>
              <a:gd name="T3" fmla="*/ 41 h 82"/>
              <a:gd name="T4" fmla="*/ 0 w 82"/>
              <a:gd name="T5" fmla="*/ 82 h 82"/>
              <a:gd name="T6" fmla="*/ 0 w 82"/>
              <a:gd name="T7" fmla="*/ 0 h 82"/>
            </a:gdLst>
            <a:ahLst/>
            <a:cxnLst>
              <a:cxn ang="0">
                <a:pos x="T0" y="T1"/>
              </a:cxn>
              <a:cxn ang="0">
                <a:pos x="T2" y="T3"/>
              </a:cxn>
              <a:cxn ang="0">
                <a:pos x="T4" y="T5"/>
              </a:cxn>
              <a:cxn ang="0">
                <a:pos x="T6" y="T7"/>
              </a:cxn>
            </a:cxnLst>
            <a:rect l="0" t="0" r="r" b="b"/>
            <a:pathLst>
              <a:path w="82" h="82">
                <a:moveTo>
                  <a:pt x="0" y="0"/>
                </a:moveTo>
                <a:lnTo>
                  <a:pt x="82"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0" name="Freeform 172"/>
          <p:cNvSpPr>
            <a:spLocks/>
          </p:cNvSpPr>
          <p:nvPr/>
        </p:nvSpPr>
        <p:spPr bwMode="auto">
          <a:xfrm>
            <a:off x="9169400" y="6065839"/>
            <a:ext cx="458788" cy="1587"/>
          </a:xfrm>
          <a:custGeom>
            <a:avLst/>
            <a:gdLst>
              <a:gd name="T0" fmla="*/ 0 w 289"/>
              <a:gd name="T1" fmla="*/ 289 w 289"/>
              <a:gd name="T2" fmla="*/ 0 w 289"/>
              <a:gd name="T3" fmla="*/ 133 w 289"/>
            </a:gdLst>
            <a:ahLst/>
            <a:cxnLst>
              <a:cxn ang="0">
                <a:pos x="T0" y="0"/>
              </a:cxn>
              <a:cxn ang="0">
                <a:pos x="T1" y="0"/>
              </a:cxn>
              <a:cxn ang="0">
                <a:pos x="T2" y="0"/>
              </a:cxn>
              <a:cxn ang="0">
                <a:pos x="T3" y="0"/>
              </a:cxn>
            </a:cxnLst>
            <a:rect l="0" t="0" r="r" b="b"/>
            <a:pathLst>
              <a:path w="289">
                <a:moveTo>
                  <a:pt x="0" y="0"/>
                </a:moveTo>
                <a:lnTo>
                  <a:pt x="289" y="0"/>
                </a:lnTo>
                <a:lnTo>
                  <a:pt x="0" y="0"/>
                </a:lnTo>
                <a:lnTo>
                  <a:pt x="13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41" name="Freeform 173"/>
          <p:cNvSpPr>
            <a:spLocks/>
          </p:cNvSpPr>
          <p:nvPr/>
        </p:nvSpPr>
        <p:spPr bwMode="auto">
          <a:xfrm>
            <a:off x="9353551" y="6000751"/>
            <a:ext cx="144463" cy="130175"/>
          </a:xfrm>
          <a:custGeom>
            <a:avLst/>
            <a:gdLst>
              <a:gd name="T0" fmla="*/ 0 w 91"/>
              <a:gd name="T1" fmla="*/ 0 h 82"/>
              <a:gd name="T2" fmla="*/ 91 w 91"/>
              <a:gd name="T3" fmla="*/ 41 h 82"/>
              <a:gd name="T4" fmla="*/ 0 w 91"/>
              <a:gd name="T5" fmla="*/ 82 h 82"/>
              <a:gd name="T6" fmla="*/ 0 w 91"/>
              <a:gd name="T7" fmla="*/ 0 h 82"/>
            </a:gdLst>
            <a:ahLst/>
            <a:cxnLst>
              <a:cxn ang="0">
                <a:pos x="T0" y="T1"/>
              </a:cxn>
              <a:cxn ang="0">
                <a:pos x="T2" y="T3"/>
              </a:cxn>
              <a:cxn ang="0">
                <a:pos x="T4" y="T5"/>
              </a:cxn>
              <a:cxn ang="0">
                <a:pos x="T6" y="T7"/>
              </a:cxn>
            </a:cxnLst>
            <a:rect l="0" t="0" r="r" b="b"/>
            <a:pathLst>
              <a:path w="91" h="82">
                <a:moveTo>
                  <a:pt x="0" y="0"/>
                </a:moveTo>
                <a:lnTo>
                  <a:pt x="91" y="41"/>
                </a:lnTo>
                <a:lnTo>
                  <a:pt x="0"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2" name="Freeform 174"/>
          <p:cNvSpPr>
            <a:spLocks/>
          </p:cNvSpPr>
          <p:nvPr/>
        </p:nvSpPr>
        <p:spPr bwMode="auto">
          <a:xfrm>
            <a:off x="7308850" y="1189039"/>
            <a:ext cx="1860550" cy="695325"/>
          </a:xfrm>
          <a:custGeom>
            <a:avLst/>
            <a:gdLst>
              <a:gd name="T0" fmla="*/ 0 w 1172"/>
              <a:gd name="T1" fmla="*/ 0 h 438"/>
              <a:gd name="T2" fmla="*/ 1172 w 1172"/>
              <a:gd name="T3" fmla="*/ 438 h 438"/>
              <a:gd name="T4" fmla="*/ 0 w 1172"/>
              <a:gd name="T5" fmla="*/ 0 h 438"/>
              <a:gd name="T6" fmla="*/ 751 w 1172"/>
              <a:gd name="T7" fmla="*/ 281 h 438"/>
            </a:gdLst>
            <a:ahLst/>
            <a:cxnLst>
              <a:cxn ang="0">
                <a:pos x="T0" y="T1"/>
              </a:cxn>
              <a:cxn ang="0">
                <a:pos x="T2" y="T3"/>
              </a:cxn>
              <a:cxn ang="0">
                <a:pos x="T4" y="T5"/>
              </a:cxn>
              <a:cxn ang="0">
                <a:pos x="T6" y="T7"/>
              </a:cxn>
            </a:cxnLst>
            <a:rect l="0" t="0" r="r" b="b"/>
            <a:pathLst>
              <a:path w="1172" h="438">
                <a:moveTo>
                  <a:pt x="0" y="0"/>
                </a:moveTo>
                <a:lnTo>
                  <a:pt x="1172" y="438"/>
                </a:lnTo>
                <a:lnTo>
                  <a:pt x="0" y="0"/>
                </a:lnTo>
                <a:lnTo>
                  <a:pt x="751" y="281"/>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43" name="Freeform 175"/>
          <p:cNvSpPr>
            <a:spLocks/>
          </p:cNvSpPr>
          <p:nvPr/>
        </p:nvSpPr>
        <p:spPr bwMode="auto">
          <a:xfrm>
            <a:off x="8462964" y="1570039"/>
            <a:ext cx="142875" cy="117475"/>
          </a:xfrm>
          <a:custGeom>
            <a:avLst/>
            <a:gdLst>
              <a:gd name="T0" fmla="*/ 24 w 90"/>
              <a:gd name="T1" fmla="*/ 0 h 74"/>
              <a:gd name="T2" fmla="*/ 90 w 90"/>
              <a:gd name="T3" fmla="*/ 66 h 74"/>
              <a:gd name="T4" fmla="*/ 0 w 90"/>
              <a:gd name="T5" fmla="*/ 74 h 74"/>
              <a:gd name="T6" fmla="*/ 24 w 90"/>
              <a:gd name="T7" fmla="*/ 0 h 74"/>
            </a:gdLst>
            <a:ahLst/>
            <a:cxnLst>
              <a:cxn ang="0">
                <a:pos x="T0" y="T1"/>
              </a:cxn>
              <a:cxn ang="0">
                <a:pos x="T2" y="T3"/>
              </a:cxn>
              <a:cxn ang="0">
                <a:pos x="T4" y="T5"/>
              </a:cxn>
              <a:cxn ang="0">
                <a:pos x="T6" y="T7"/>
              </a:cxn>
            </a:cxnLst>
            <a:rect l="0" t="0" r="r" b="b"/>
            <a:pathLst>
              <a:path w="90" h="74">
                <a:moveTo>
                  <a:pt x="24" y="0"/>
                </a:moveTo>
                <a:lnTo>
                  <a:pt x="90" y="66"/>
                </a:lnTo>
                <a:lnTo>
                  <a:pt x="0" y="7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4" name="Freeform 176"/>
          <p:cNvSpPr>
            <a:spLocks/>
          </p:cNvSpPr>
          <p:nvPr/>
        </p:nvSpPr>
        <p:spPr bwMode="auto">
          <a:xfrm>
            <a:off x="7308850" y="1189039"/>
            <a:ext cx="1860550" cy="695325"/>
          </a:xfrm>
          <a:custGeom>
            <a:avLst/>
            <a:gdLst>
              <a:gd name="T0" fmla="*/ 0 w 1172"/>
              <a:gd name="T1" fmla="*/ 438 h 438"/>
              <a:gd name="T2" fmla="*/ 1172 w 1172"/>
              <a:gd name="T3" fmla="*/ 0 h 438"/>
              <a:gd name="T4" fmla="*/ 0 w 1172"/>
              <a:gd name="T5" fmla="*/ 438 h 438"/>
              <a:gd name="T6" fmla="*/ 751 w 1172"/>
              <a:gd name="T7" fmla="*/ 157 h 438"/>
            </a:gdLst>
            <a:ahLst/>
            <a:cxnLst>
              <a:cxn ang="0">
                <a:pos x="T0" y="T1"/>
              </a:cxn>
              <a:cxn ang="0">
                <a:pos x="T2" y="T3"/>
              </a:cxn>
              <a:cxn ang="0">
                <a:pos x="T4" y="T5"/>
              </a:cxn>
              <a:cxn ang="0">
                <a:pos x="T6" y="T7"/>
              </a:cxn>
            </a:cxnLst>
            <a:rect l="0" t="0" r="r" b="b"/>
            <a:pathLst>
              <a:path w="1172" h="438">
                <a:moveTo>
                  <a:pt x="0" y="438"/>
                </a:moveTo>
                <a:lnTo>
                  <a:pt x="1172" y="0"/>
                </a:lnTo>
                <a:lnTo>
                  <a:pt x="0" y="438"/>
                </a:lnTo>
                <a:lnTo>
                  <a:pt x="751" y="157"/>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45" name="Freeform 177"/>
          <p:cNvSpPr>
            <a:spLocks/>
          </p:cNvSpPr>
          <p:nvPr/>
        </p:nvSpPr>
        <p:spPr bwMode="auto">
          <a:xfrm>
            <a:off x="8462964" y="1385889"/>
            <a:ext cx="142875" cy="117475"/>
          </a:xfrm>
          <a:custGeom>
            <a:avLst/>
            <a:gdLst>
              <a:gd name="T0" fmla="*/ 0 w 90"/>
              <a:gd name="T1" fmla="*/ 0 h 74"/>
              <a:gd name="T2" fmla="*/ 90 w 90"/>
              <a:gd name="T3" fmla="*/ 8 h 74"/>
              <a:gd name="T4" fmla="*/ 24 w 90"/>
              <a:gd name="T5" fmla="*/ 74 h 74"/>
              <a:gd name="T6" fmla="*/ 0 w 90"/>
              <a:gd name="T7" fmla="*/ 0 h 74"/>
            </a:gdLst>
            <a:ahLst/>
            <a:cxnLst>
              <a:cxn ang="0">
                <a:pos x="T0" y="T1"/>
              </a:cxn>
              <a:cxn ang="0">
                <a:pos x="T2" y="T3"/>
              </a:cxn>
              <a:cxn ang="0">
                <a:pos x="T4" y="T5"/>
              </a:cxn>
              <a:cxn ang="0">
                <a:pos x="T6" y="T7"/>
              </a:cxn>
            </a:cxnLst>
            <a:rect l="0" t="0" r="r" b="b"/>
            <a:pathLst>
              <a:path w="90" h="74">
                <a:moveTo>
                  <a:pt x="0" y="0"/>
                </a:moveTo>
                <a:lnTo>
                  <a:pt x="90" y="8"/>
                </a:lnTo>
                <a:lnTo>
                  <a:pt x="24" y="7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6" name="Freeform 178"/>
          <p:cNvSpPr>
            <a:spLocks/>
          </p:cNvSpPr>
          <p:nvPr/>
        </p:nvSpPr>
        <p:spPr bwMode="auto">
          <a:xfrm>
            <a:off x="7308850" y="2579689"/>
            <a:ext cx="1860550" cy="693737"/>
          </a:xfrm>
          <a:custGeom>
            <a:avLst/>
            <a:gdLst>
              <a:gd name="T0" fmla="*/ 0 w 1172"/>
              <a:gd name="T1" fmla="*/ 0 h 437"/>
              <a:gd name="T2" fmla="*/ 1172 w 1172"/>
              <a:gd name="T3" fmla="*/ 437 h 437"/>
              <a:gd name="T4" fmla="*/ 0 w 1172"/>
              <a:gd name="T5" fmla="*/ 0 h 437"/>
              <a:gd name="T6" fmla="*/ 751 w 1172"/>
              <a:gd name="T7" fmla="*/ 280 h 437"/>
            </a:gdLst>
            <a:ahLst/>
            <a:cxnLst>
              <a:cxn ang="0">
                <a:pos x="T0" y="T1"/>
              </a:cxn>
              <a:cxn ang="0">
                <a:pos x="T2" y="T3"/>
              </a:cxn>
              <a:cxn ang="0">
                <a:pos x="T4" y="T5"/>
              </a:cxn>
              <a:cxn ang="0">
                <a:pos x="T6" y="T7"/>
              </a:cxn>
            </a:cxnLst>
            <a:rect l="0" t="0" r="r" b="b"/>
            <a:pathLst>
              <a:path w="1172" h="437">
                <a:moveTo>
                  <a:pt x="0" y="0"/>
                </a:moveTo>
                <a:lnTo>
                  <a:pt x="1172" y="437"/>
                </a:lnTo>
                <a:lnTo>
                  <a:pt x="0" y="0"/>
                </a:lnTo>
                <a:lnTo>
                  <a:pt x="751" y="28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47" name="Freeform 179"/>
          <p:cNvSpPr>
            <a:spLocks/>
          </p:cNvSpPr>
          <p:nvPr/>
        </p:nvSpPr>
        <p:spPr bwMode="auto">
          <a:xfrm>
            <a:off x="8462964" y="2959101"/>
            <a:ext cx="142875" cy="131763"/>
          </a:xfrm>
          <a:custGeom>
            <a:avLst/>
            <a:gdLst>
              <a:gd name="T0" fmla="*/ 24 w 90"/>
              <a:gd name="T1" fmla="*/ 0 h 83"/>
              <a:gd name="T2" fmla="*/ 90 w 90"/>
              <a:gd name="T3" fmla="*/ 66 h 83"/>
              <a:gd name="T4" fmla="*/ 0 w 90"/>
              <a:gd name="T5" fmla="*/ 83 h 83"/>
              <a:gd name="T6" fmla="*/ 24 w 90"/>
              <a:gd name="T7" fmla="*/ 0 h 83"/>
            </a:gdLst>
            <a:ahLst/>
            <a:cxnLst>
              <a:cxn ang="0">
                <a:pos x="T0" y="T1"/>
              </a:cxn>
              <a:cxn ang="0">
                <a:pos x="T2" y="T3"/>
              </a:cxn>
              <a:cxn ang="0">
                <a:pos x="T4" y="T5"/>
              </a:cxn>
              <a:cxn ang="0">
                <a:pos x="T6" y="T7"/>
              </a:cxn>
            </a:cxnLst>
            <a:rect l="0" t="0" r="r" b="b"/>
            <a:pathLst>
              <a:path w="90" h="83">
                <a:moveTo>
                  <a:pt x="24" y="0"/>
                </a:moveTo>
                <a:lnTo>
                  <a:pt x="90" y="66"/>
                </a:lnTo>
                <a:lnTo>
                  <a:pt x="0" y="83"/>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8" name="Freeform 180"/>
          <p:cNvSpPr>
            <a:spLocks/>
          </p:cNvSpPr>
          <p:nvPr/>
        </p:nvSpPr>
        <p:spPr bwMode="auto">
          <a:xfrm>
            <a:off x="7308850" y="2579689"/>
            <a:ext cx="1860550" cy="693737"/>
          </a:xfrm>
          <a:custGeom>
            <a:avLst/>
            <a:gdLst>
              <a:gd name="T0" fmla="*/ 0 w 1172"/>
              <a:gd name="T1" fmla="*/ 437 h 437"/>
              <a:gd name="T2" fmla="*/ 1172 w 1172"/>
              <a:gd name="T3" fmla="*/ 0 h 437"/>
              <a:gd name="T4" fmla="*/ 0 w 1172"/>
              <a:gd name="T5" fmla="*/ 437 h 437"/>
              <a:gd name="T6" fmla="*/ 751 w 1172"/>
              <a:gd name="T7" fmla="*/ 156 h 437"/>
            </a:gdLst>
            <a:ahLst/>
            <a:cxnLst>
              <a:cxn ang="0">
                <a:pos x="T0" y="T1"/>
              </a:cxn>
              <a:cxn ang="0">
                <a:pos x="T2" y="T3"/>
              </a:cxn>
              <a:cxn ang="0">
                <a:pos x="T4" y="T5"/>
              </a:cxn>
              <a:cxn ang="0">
                <a:pos x="T6" y="T7"/>
              </a:cxn>
            </a:cxnLst>
            <a:rect l="0" t="0" r="r" b="b"/>
            <a:pathLst>
              <a:path w="1172" h="437">
                <a:moveTo>
                  <a:pt x="0" y="437"/>
                </a:moveTo>
                <a:lnTo>
                  <a:pt x="1172" y="0"/>
                </a:lnTo>
                <a:lnTo>
                  <a:pt x="0" y="437"/>
                </a:lnTo>
                <a:lnTo>
                  <a:pt x="751" y="15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49" name="Freeform 181"/>
          <p:cNvSpPr>
            <a:spLocks/>
          </p:cNvSpPr>
          <p:nvPr/>
        </p:nvSpPr>
        <p:spPr bwMode="auto">
          <a:xfrm>
            <a:off x="8462964" y="2774951"/>
            <a:ext cx="142875" cy="119063"/>
          </a:xfrm>
          <a:custGeom>
            <a:avLst/>
            <a:gdLst>
              <a:gd name="T0" fmla="*/ 0 w 90"/>
              <a:gd name="T1" fmla="*/ 0 h 75"/>
              <a:gd name="T2" fmla="*/ 90 w 90"/>
              <a:gd name="T3" fmla="*/ 9 h 75"/>
              <a:gd name="T4" fmla="*/ 24 w 90"/>
              <a:gd name="T5" fmla="*/ 75 h 75"/>
              <a:gd name="T6" fmla="*/ 0 w 90"/>
              <a:gd name="T7" fmla="*/ 0 h 75"/>
            </a:gdLst>
            <a:ahLst/>
            <a:cxnLst>
              <a:cxn ang="0">
                <a:pos x="T0" y="T1"/>
              </a:cxn>
              <a:cxn ang="0">
                <a:pos x="T2" y="T3"/>
              </a:cxn>
              <a:cxn ang="0">
                <a:pos x="T4" y="T5"/>
              </a:cxn>
              <a:cxn ang="0">
                <a:pos x="T6" y="T7"/>
              </a:cxn>
            </a:cxnLst>
            <a:rect l="0" t="0" r="r" b="b"/>
            <a:pathLst>
              <a:path w="90" h="75">
                <a:moveTo>
                  <a:pt x="0" y="0"/>
                </a:moveTo>
                <a:lnTo>
                  <a:pt x="90" y="9"/>
                </a:lnTo>
                <a:lnTo>
                  <a:pt x="24" y="7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0" name="Freeform 182"/>
          <p:cNvSpPr>
            <a:spLocks/>
          </p:cNvSpPr>
          <p:nvPr/>
        </p:nvSpPr>
        <p:spPr bwMode="auto">
          <a:xfrm>
            <a:off x="7308850" y="3968751"/>
            <a:ext cx="1860550" cy="708025"/>
          </a:xfrm>
          <a:custGeom>
            <a:avLst/>
            <a:gdLst>
              <a:gd name="T0" fmla="*/ 0 w 1172"/>
              <a:gd name="T1" fmla="*/ 0 h 446"/>
              <a:gd name="T2" fmla="*/ 1172 w 1172"/>
              <a:gd name="T3" fmla="*/ 446 h 446"/>
              <a:gd name="T4" fmla="*/ 0 w 1172"/>
              <a:gd name="T5" fmla="*/ 0 h 446"/>
              <a:gd name="T6" fmla="*/ 751 w 1172"/>
              <a:gd name="T7" fmla="*/ 289 h 446"/>
            </a:gdLst>
            <a:ahLst/>
            <a:cxnLst>
              <a:cxn ang="0">
                <a:pos x="T0" y="T1"/>
              </a:cxn>
              <a:cxn ang="0">
                <a:pos x="T2" y="T3"/>
              </a:cxn>
              <a:cxn ang="0">
                <a:pos x="T4" y="T5"/>
              </a:cxn>
              <a:cxn ang="0">
                <a:pos x="T6" y="T7"/>
              </a:cxn>
            </a:cxnLst>
            <a:rect l="0" t="0" r="r" b="b"/>
            <a:pathLst>
              <a:path w="1172" h="446">
                <a:moveTo>
                  <a:pt x="0" y="0"/>
                </a:moveTo>
                <a:lnTo>
                  <a:pt x="1172" y="446"/>
                </a:lnTo>
                <a:lnTo>
                  <a:pt x="0" y="0"/>
                </a:lnTo>
                <a:lnTo>
                  <a:pt x="751" y="28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51" name="Freeform 183"/>
          <p:cNvSpPr>
            <a:spLocks/>
          </p:cNvSpPr>
          <p:nvPr/>
        </p:nvSpPr>
        <p:spPr bwMode="auto">
          <a:xfrm>
            <a:off x="8462964" y="4348163"/>
            <a:ext cx="142875" cy="131762"/>
          </a:xfrm>
          <a:custGeom>
            <a:avLst/>
            <a:gdLst>
              <a:gd name="T0" fmla="*/ 24 w 90"/>
              <a:gd name="T1" fmla="*/ 0 h 83"/>
              <a:gd name="T2" fmla="*/ 90 w 90"/>
              <a:gd name="T3" fmla="*/ 75 h 83"/>
              <a:gd name="T4" fmla="*/ 0 w 90"/>
              <a:gd name="T5" fmla="*/ 83 h 83"/>
              <a:gd name="T6" fmla="*/ 24 w 90"/>
              <a:gd name="T7" fmla="*/ 0 h 83"/>
            </a:gdLst>
            <a:ahLst/>
            <a:cxnLst>
              <a:cxn ang="0">
                <a:pos x="T0" y="T1"/>
              </a:cxn>
              <a:cxn ang="0">
                <a:pos x="T2" y="T3"/>
              </a:cxn>
              <a:cxn ang="0">
                <a:pos x="T4" y="T5"/>
              </a:cxn>
              <a:cxn ang="0">
                <a:pos x="T6" y="T7"/>
              </a:cxn>
            </a:cxnLst>
            <a:rect l="0" t="0" r="r" b="b"/>
            <a:pathLst>
              <a:path w="90" h="83">
                <a:moveTo>
                  <a:pt x="24" y="0"/>
                </a:moveTo>
                <a:lnTo>
                  <a:pt x="90" y="75"/>
                </a:lnTo>
                <a:lnTo>
                  <a:pt x="0" y="83"/>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2" name="Freeform 184"/>
          <p:cNvSpPr>
            <a:spLocks/>
          </p:cNvSpPr>
          <p:nvPr/>
        </p:nvSpPr>
        <p:spPr bwMode="auto">
          <a:xfrm>
            <a:off x="7308850" y="3968751"/>
            <a:ext cx="1860550" cy="708025"/>
          </a:xfrm>
          <a:custGeom>
            <a:avLst/>
            <a:gdLst>
              <a:gd name="T0" fmla="*/ 0 w 1172"/>
              <a:gd name="T1" fmla="*/ 446 h 446"/>
              <a:gd name="T2" fmla="*/ 1172 w 1172"/>
              <a:gd name="T3" fmla="*/ 0 h 446"/>
              <a:gd name="T4" fmla="*/ 0 w 1172"/>
              <a:gd name="T5" fmla="*/ 446 h 446"/>
              <a:gd name="T6" fmla="*/ 751 w 1172"/>
              <a:gd name="T7" fmla="*/ 165 h 446"/>
            </a:gdLst>
            <a:ahLst/>
            <a:cxnLst>
              <a:cxn ang="0">
                <a:pos x="T0" y="T1"/>
              </a:cxn>
              <a:cxn ang="0">
                <a:pos x="T2" y="T3"/>
              </a:cxn>
              <a:cxn ang="0">
                <a:pos x="T4" y="T5"/>
              </a:cxn>
              <a:cxn ang="0">
                <a:pos x="T6" y="T7"/>
              </a:cxn>
            </a:cxnLst>
            <a:rect l="0" t="0" r="r" b="b"/>
            <a:pathLst>
              <a:path w="1172" h="446">
                <a:moveTo>
                  <a:pt x="0" y="446"/>
                </a:moveTo>
                <a:lnTo>
                  <a:pt x="1172" y="0"/>
                </a:lnTo>
                <a:lnTo>
                  <a:pt x="0" y="446"/>
                </a:lnTo>
                <a:lnTo>
                  <a:pt x="751" y="16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53" name="Freeform 185"/>
          <p:cNvSpPr>
            <a:spLocks/>
          </p:cNvSpPr>
          <p:nvPr/>
        </p:nvSpPr>
        <p:spPr bwMode="auto">
          <a:xfrm>
            <a:off x="8462964" y="4165601"/>
            <a:ext cx="142875" cy="130175"/>
          </a:xfrm>
          <a:custGeom>
            <a:avLst/>
            <a:gdLst>
              <a:gd name="T0" fmla="*/ 0 w 90"/>
              <a:gd name="T1" fmla="*/ 0 h 82"/>
              <a:gd name="T2" fmla="*/ 90 w 90"/>
              <a:gd name="T3" fmla="*/ 8 h 82"/>
              <a:gd name="T4" fmla="*/ 24 w 90"/>
              <a:gd name="T5" fmla="*/ 82 h 82"/>
              <a:gd name="T6" fmla="*/ 0 w 90"/>
              <a:gd name="T7" fmla="*/ 0 h 82"/>
            </a:gdLst>
            <a:ahLst/>
            <a:cxnLst>
              <a:cxn ang="0">
                <a:pos x="T0" y="T1"/>
              </a:cxn>
              <a:cxn ang="0">
                <a:pos x="T2" y="T3"/>
              </a:cxn>
              <a:cxn ang="0">
                <a:pos x="T4" y="T5"/>
              </a:cxn>
              <a:cxn ang="0">
                <a:pos x="T6" y="T7"/>
              </a:cxn>
            </a:cxnLst>
            <a:rect l="0" t="0" r="r" b="b"/>
            <a:pathLst>
              <a:path w="90" h="82">
                <a:moveTo>
                  <a:pt x="0" y="0"/>
                </a:moveTo>
                <a:lnTo>
                  <a:pt x="90" y="8"/>
                </a:lnTo>
                <a:lnTo>
                  <a:pt x="24" y="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4" name="Freeform 186"/>
          <p:cNvSpPr>
            <a:spLocks/>
          </p:cNvSpPr>
          <p:nvPr/>
        </p:nvSpPr>
        <p:spPr bwMode="auto">
          <a:xfrm>
            <a:off x="7308850" y="5372100"/>
            <a:ext cx="1860550" cy="693738"/>
          </a:xfrm>
          <a:custGeom>
            <a:avLst/>
            <a:gdLst>
              <a:gd name="T0" fmla="*/ 0 w 1172"/>
              <a:gd name="T1" fmla="*/ 0 h 437"/>
              <a:gd name="T2" fmla="*/ 1172 w 1172"/>
              <a:gd name="T3" fmla="*/ 437 h 437"/>
              <a:gd name="T4" fmla="*/ 0 w 1172"/>
              <a:gd name="T5" fmla="*/ 0 h 437"/>
              <a:gd name="T6" fmla="*/ 751 w 1172"/>
              <a:gd name="T7" fmla="*/ 280 h 437"/>
            </a:gdLst>
            <a:ahLst/>
            <a:cxnLst>
              <a:cxn ang="0">
                <a:pos x="T0" y="T1"/>
              </a:cxn>
              <a:cxn ang="0">
                <a:pos x="T2" y="T3"/>
              </a:cxn>
              <a:cxn ang="0">
                <a:pos x="T4" y="T5"/>
              </a:cxn>
              <a:cxn ang="0">
                <a:pos x="T6" y="T7"/>
              </a:cxn>
            </a:cxnLst>
            <a:rect l="0" t="0" r="r" b="b"/>
            <a:pathLst>
              <a:path w="1172" h="437">
                <a:moveTo>
                  <a:pt x="0" y="0"/>
                </a:moveTo>
                <a:lnTo>
                  <a:pt x="1172" y="437"/>
                </a:lnTo>
                <a:lnTo>
                  <a:pt x="0" y="0"/>
                </a:lnTo>
                <a:lnTo>
                  <a:pt x="751" y="28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55" name="Freeform 187"/>
          <p:cNvSpPr>
            <a:spLocks/>
          </p:cNvSpPr>
          <p:nvPr/>
        </p:nvSpPr>
        <p:spPr bwMode="auto">
          <a:xfrm>
            <a:off x="8462964" y="5751514"/>
            <a:ext cx="142875" cy="117475"/>
          </a:xfrm>
          <a:custGeom>
            <a:avLst/>
            <a:gdLst>
              <a:gd name="T0" fmla="*/ 24 w 90"/>
              <a:gd name="T1" fmla="*/ 0 h 74"/>
              <a:gd name="T2" fmla="*/ 90 w 90"/>
              <a:gd name="T3" fmla="*/ 66 h 74"/>
              <a:gd name="T4" fmla="*/ 0 w 90"/>
              <a:gd name="T5" fmla="*/ 74 h 74"/>
              <a:gd name="T6" fmla="*/ 24 w 90"/>
              <a:gd name="T7" fmla="*/ 0 h 74"/>
            </a:gdLst>
            <a:ahLst/>
            <a:cxnLst>
              <a:cxn ang="0">
                <a:pos x="T0" y="T1"/>
              </a:cxn>
              <a:cxn ang="0">
                <a:pos x="T2" y="T3"/>
              </a:cxn>
              <a:cxn ang="0">
                <a:pos x="T4" y="T5"/>
              </a:cxn>
              <a:cxn ang="0">
                <a:pos x="T6" y="T7"/>
              </a:cxn>
            </a:cxnLst>
            <a:rect l="0" t="0" r="r" b="b"/>
            <a:pathLst>
              <a:path w="90" h="74">
                <a:moveTo>
                  <a:pt x="24" y="0"/>
                </a:moveTo>
                <a:lnTo>
                  <a:pt x="90" y="66"/>
                </a:lnTo>
                <a:lnTo>
                  <a:pt x="0" y="74"/>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6" name="Freeform 188"/>
          <p:cNvSpPr>
            <a:spLocks/>
          </p:cNvSpPr>
          <p:nvPr/>
        </p:nvSpPr>
        <p:spPr bwMode="auto">
          <a:xfrm>
            <a:off x="7308850" y="5372100"/>
            <a:ext cx="1860550" cy="693738"/>
          </a:xfrm>
          <a:custGeom>
            <a:avLst/>
            <a:gdLst>
              <a:gd name="T0" fmla="*/ 0 w 1172"/>
              <a:gd name="T1" fmla="*/ 437 h 437"/>
              <a:gd name="T2" fmla="*/ 1172 w 1172"/>
              <a:gd name="T3" fmla="*/ 0 h 437"/>
              <a:gd name="T4" fmla="*/ 0 w 1172"/>
              <a:gd name="T5" fmla="*/ 437 h 437"/>
              <a:gd name="T6" fmla="*/ 751 w 1172"/>
              <a:gd name="T7" fmla="*/ 156 h 437"/>
            </a:gdLst>
            <a:ahLst/>
            <a:cxnLst>
              <a:cxn ang="0">
                <a:pos x="T0" y="T1"/>
              </a:cxn>
              <a:cxn ang="0">
                <a:pos x="T2" y="T3"/>
              </a:cxn>
              <a:cxn ang="0">
                <a:pos x="T4" y="T5"/>
              </a:cxn>
              <a:cxn ang="0">
                <a:pos x="T6" y="T7"/>
              </a:cxn>
            </a:cxnLst>
            <a:rect l="0" t="0" r="r" b="b"/>
            <a:pathLst>
              <a:path w="1172" h="437">
                <a:moveTo>
                  <a:pt x="0" y="437"/>
                </a:moveTo>
                <a:lnTo>
                  <a:pt x="1172" y="0"/>
                </a:lnTo>
                <a:lnTo>
                  <a:pt x="0" y="437"/>
                </a:lnTo>
                <a:lnTo>
                  <a:pt x="751" y="15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57" name="Freeform 189"/>
          <p:cNvSpPr>
            <a:spLocks/>
          </p:cNvSpPr>
          <p:nvPr/>
        </p:nvSpPr>
        <p:spPr bwMode="auto">
          <a:xfrm>
            <a:off x="8462964" y="5567363"/>
            <a:ext cx="142875" cy="119062"/>
          </a:xfrm>
          <a:custGeom>
            <a:avLst/>
            <a:gdLst>
              <a:gd name="T0" fmla="*/ 0 w 90"/>
              <a:gd name="T1" fmla="*/ 0 h 75"/>
              <a:gd name="T2" fmla="*/ 90 w 90"/>
              <a:gd name="T3" fmla="*/ 9 h 75"/>
              <a:gd name="T4" fmla="*/ 24 w 90"/>
              <a:gd name="T5" fmla="*/ 75 h 75"/>
              <a:gd name="T6" fmla="*/ 0 w 90"/>
              <a:gd name="T7" fmla="*/ 0 h 75"/>
            </a:gdLst>
            <a:ahLst/>
            <a:cxnLst>
              <a:cxn ang="0">
                <a:pos x="T0" y="T1"/>
              </a:cxn>
              <a:cxn ang="0">
                <a:pos x="T2" y="T3"/>
              </a:cxn>
              <a:cxn ang="0">
                <a:pos x="T4" y="T5"/>
              </a:cxn>
              <a:cxn ang="0">
                <a:pos x="T6" y="T7"/>
              </a:cxn>
            </a:cxnLst>
            <a:rect l="0" t="0" r="r" b="b"/>
            <a:pathLst>
              <a:path w="90" h="75">
                <a:moveTo>
                  <a:pt x="0" y="0"/>
                </a:moveTo>
                <a:lnTo>
                  <a:pt x="90" y="9"/>
                </a:lnTo>
                <a:lnTo>
                  <a:pt x="24" y="7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8" name="Rectangle 190"/>
          <p:cNvSpPr>
            <a:spLocks noChangeArrowheads="1"/>
          </p:cNvSpPr>
          <p:nvPr/>
        </p:nvSpPr>
        <p:spPr bwMode="auto">
          <a:xfrm>
            <a:off x="9536113" y="1423989"/>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7359" name="Rectangle 191"/>
          <p:cNvSpPr>
            <a:spLocks noChangeArrowheads="1"/>
          </p:cNvSpPr>
          <p:nvPr/>
        </p:nvSpPr>
        <p:spPr bwMode="auto">
          <a:xfrm>
            <a:off x="9477375" y="1660526"/>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360" name="Rectangle 192"/>
          <p:cNvSpPr>
            <a:spLocks noChangeArrowheads="1"/>
          </p:cNvSpPr>
          <p:nvPr/>
        </p:nvSpPr>
        <p:spPr bwMode="auto">
          <a:xfrm>
            <a:off x="9188450" y="1450975"/>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361" name="Rectangle 193"/>
          <p:cNvSpPr>
            <a:spLocks noChangeArrowheads="1"/>
          </p:cNvSpPr>
          <p:nvPr/>
        </p:nvSpPr>
        <p:spPr bwMode="auto">
          <a:xfrm>
            <a:off x="9536113" y="2811464"/>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7362" name="Rectangle 194"/>
          <p:cNvSpPr>
            <a:spLocks noChangeArrowheads="1"/>
          </p:cNvSpPr>
          <p:nvPr/>
        </p:nvSpPr>
        <p:spPr bwMode="auto">
          <a:xfrm>
            <a:off x="9477375" y="3048001"/>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363" name="Rectangle 195"/>
          <p:cNvSpPr>
            <a:spLocks noChangeArrowheads="1"/>
          </p:cNvSpPr>
          <p:nvPr/>
        </p:nvSpPr>
        <p:spPr bwMode="auto">
          <a:xfrm>
            <a:off x="9188450" y="2838450"/>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364" name="Rectangle 196"/>
          <p:cNvSpPr>
            <a:spLocks noChangeArrowheads="1"/>
          </p:cNvSpPr>
          <p:nvPr/>
        </p:nvSpPr>
        <p:spPr bwMode="auto">
          <a:xfrm>
            <a:off x="9536113" y="4205289"/>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7365" name="Rectangle 197"/>
          <p:cNvSpPr>
            <a:spLocks noChangeArrowheads="1"/>
          </p:cNvSpPr>
          <p:nvPr/>
        </p:nvSpPr>
        <p:spPr bwMode="auto">
          <a:xfrm>
            <a:off x="9477375" y="4448176"/>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366" name="Rectangle 198"/>
          <p:cNvSpPr>
            <a:spLocks noChangeArrowheads="1"/>
          </p:cNvSpPr>
          <p:nvPr/>
        </p:nvSpPr>
        <p:spPr bwMode="auto">
          <a:xfrm>
            <a:off x="9188450" y="4232275"/>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367" name="Rectangle 199"/>
          <p:cNvSpPr>
            <a:spLocks noChangeArrowheads="1"/>
          </p:cNvSpPr>
          <p:nvPr/>
        </p:nvSpPr>
        <p:spPr bwMode="auto">
          <a:xfrm>
            <a:off x="9536113" y="5594351"/>
            <a:ext cx="125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1600" b="1">
                <a:solidFill>
                  <a:srgbClr val="000000"/>
                </a:solidFill>
              </a:rPr>
              <a:t>0</a:t>
            </a:r>
            <a:endParaRPr kumimoji="1" lang="zh-CN" altLang="en-US" b="1"/>
          </a:p>
        </p:txBody>
      </p:sp>
      <p:sp>
        <p:nvSpPr>
          <p:cNvPr id="7368" name="Rectangle 200"/>
          <p:cNvSpPr>
            <a:spLocks noChangeArrowheads="1"/>
          </p:cNvSpPr>
          <p:nvPr/>
        </p:nvSpPr>
        <p:spPr bwMode="auto">
          <a:xfrm>
            <a:off x="9477375" y="5837239"/>
            <a:ext cx="1667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600" b="1" i="1">
                <a:solidFill>
                  <a:srgbClr val="000000"/>
                </a:solidFill>
              </a:rPr>
              <a:t>N</a:t>
            </a:r>
            <a:endParaRPr kumimoji="1" lang="en-US" altLang="zh-CN" b="1"/>
          </a:p>
        </p:txBody>
      </p:sp>
      <p:sp>
        <p:nvSpPr>
          <p:cNvPr id="7369" name="Rectangle 201"/>
          <p:cNvSpPr>
            <a:spLocks noChangeArrowheads="1"/>
          </p:cNvSpPr>
          <p:nvPr/>
        </p:nvSpPr>
        <p:spPr bwMode="auto">
          <a:xfrm>
            <a:off x="9188450" y="5621338"/>
            <a:ext cx="3606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700" b="1" i="1">
                <a:solidFill>
                  <a:srgbClr val="000000"/>
                </a:solidFill>
              </a:rPr>
              <a:t>W</a:t>
            </a:r>
            <a:endParaRPr kumimoji="1" lang="en-US" altLang="zh-CN" b="1"/>
          </a:p>
        </p:txBody>
      </p:sp>
      <p:sp>
        <p:nvSpPr>
          <p:cNvPr id="7370" name="Rectangle 202"/>
          <p:cNvSpPr>
            <a:spLocks noChangeArrowheads="1"/>
          </p:cNvSpPr>
          <p:nvPr/>
        </p:nvSpPr>
        <p:spPr bwMode="auto">
          <a:xfrm>
            <a:off x="8118476" y="1862139"/>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371" name="Rectangle 203"/>
          <p:cNvSpPr>
            <a:spLocks noChangeArrowheads="1"/>
          </p:cNvSpPr>
          <p:nvPr/>
        </p:nvSpPr>
        <p:spPr bwMode="auto">
          <a:xfrm>
            <a:off x="8204201" y="3241676"/>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372" name="Rectangle 204"/>
          <p:cNvSpPr>
            <a:spLocks noChangeArrowheads="1"/>
          </p:cNvSpPr>
          <p:nvPr/>
        </p:nvSpPr>
        <p:spPr bwMode="auto">
          <a:xfrm>
            <a:off x="8223251" y="4641851"/>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373" name="Rectangle 205"/>
          <p:cNvSpPr>
            <a:spLocks noChangeArrowheads="1"/>
          </p:cNvSpPr>
          <p:nvPr/>
        </p:nvSpPr>
        <p:spPr bwMode="auto">
          <a:xfrm>
            <a:off x="8066089" y="6029326"/>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374" name="Rectangle 206"/>
          <p:cNvSpPr>
            <a:spLocks noChangeArrowheads="1"/>
          </p:cNvSpPr>
          <p:nvPr/>
        </p:nvSpPr>
        <p:spPr bwMode="auto">
          <a:xfrm>
            <a:off x="6430964" y="2552701"/>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375" name="Rectangle 207"/>
          <p:cNvSpPr>
            <a:spLocks noChangeArrowheads="1"/>
          </p:cNvSpPr>
          <p:nvPr/>
        </p:nvSpPr>
        <p:spPr bwMode="auto">
          <a:xfrm>
            <a:off x="6430964" y="3236914"/>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376" name="Rectangle 208"/>
          <p:cNvSpPr>
            <a:spLocks noChangeArrowheads="1"/>
          </p:cNvSpPr>
          <p:nvPr/>
        </p:nvSpPr>
        <p:spPr bwMode="auto">
          <a:xfrm>
            <a:off x="6430964" y="5345114"/>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
        <p:nvSpPr>
          <p:cNvPr id="7377" name="Rectangle 209"/>
          <p:cNvSpPr>
            <a:spLocks noChangeArrowheads="1"/>
          </p:cNvSpPr>
          <p:nvPr/>
        </p:nvSpPr>
        <p:spPr bwMode="auto">
          <a:xfrm>
            <a:off x="6430964" y="6053139"/>
            <a:ext cx="2698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100" b="1">
                <a:solidFill>
                  <a:srgbClr val="000000"/>
                </a:solidFill>
                <a:latin typeface="宋体" panose="02010600030101010101" pitchFamily="2" charset="-122"/>
              </a:rPr>
              <a:t>-1</a:t>
            </a:r>
            <a:endParaRPr kumimoji="1" lang="zh-CN" altLang="en-US" b="1"/>
          </a:p>
        </p:txBody>
      </p:sp>
    </p:spTree>
    <p:extLst>
      <p:ext uri="{BB962C8B-B14F-4D97-AF65-F5344CB8AC3E}">
        <p14:creationId xmlns:p14="http://schemas.microsoft.com/office/powerpoint/2010/main" val="40800231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eaLnBrk="0" fontAlgn="base" hangingPunct="0">
              <a:spcBef>
                <a:spcPct val="0"/>
              </a:spcBef>
              <a:spcAft>
                <a:spcPct val="0"/>
              </a:spcAft>
            </a:pPr>
            <a:fld id="{8E688483-54E8-444F-A583-0A553B1CE948}" type="slidenum">
              <a:rPr lang="zh-CN" altLang="en-US" smtClean="0">
                <a:solidFill>
                  <a:srgbClr val="000000"/>
                </a:solidFill>
                <a:ea typeface="宋体" panose="02010600030101010101" pitchFamily="2" charset="-122"/>
              </a:rPr>
              <a:pPr eaLnBrk="0" fontAlgn="base" hangingPunct="0">
                <a:spcBef>
                  <a:spcPct val="0"/>
                </a:spcBef>
                <a:spcAft>
                  <a:spcPct val="0"/>
                </a:spcAft>
              </a:pPr>
              <a:t>6</a:t>
            </a:fld>
            <a:endParaRPr lang="en-US" altLang="zh-CN">
              <a:solidFill>
                <a:srgbClr val="000000"/>
              </a:solidFill>
              <a:ea typeface="宋体" panose="02010600030101010101" pitchFamily="2" charset="-122"/>
            </a:endParaRPr>
          </a:p>
        </p:txBody>
      </p:sp>
      <p:grpSp>
        <p:nvGrpSpPr>
          <p:cNvPr id="4" name="Group 3"/>
          <p:cNvGrpSpPr>
            <a:grpSpLocks/>
          </p:cNvGrpSpPr>
          <p:nvPr/>
        </p:nvGrpSpPr>
        <p:grpSpPr bwMode="auto">
          <a:xfrm>
            <a:off x="553508" y="160601"/>
            <a:ext cx="4711700" cy="3751263"/>
            <a:chOff x="2718" y="22"/>
            <a:chExt cx="2968" cy="2363"/>
          </a:xfrm>
        </p:grpSpPr>
        <p:sp>
          <p:nvSpPr>
            <p:cNvPr id="5" name="Line 4"/>
            <p:cNvSpPr>
              <a:spLocks noChangeShapeType="1"/>
            </p:cNvSpPr>
            <p:nvPr/>
          </p:nvSpPr>
          <p:spPr bwMode="auto">
            <a:xfrm>
              <a:off x="3205" y="2103"/>
              <a:ext cx="2266" cy="13"/>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 name="Freeform 5"/>
            <p:cNvSpPr>
              <a:spLocks/>
            </p:cNvSpPr>
            <p:nvPr/>
          </p:nvSpPr>
          <p:spPr bwMode="auto">
            <a:xfrm>
              <a:off x="5458" y="2078"/>
              <a:ext cx="109" cy="70"/>
            </a:xfrm>
            <a:custGeom>
              <a:avLst/>
              <a:gdLst>
                <a:gd name="T0" fmla="*/ 7 w 109"/>
                <a:gd name="T1" fmla="*/ 0 h 70"/>
                <a:gd name="T2" fmla="*/ 109 w 109"/>
                <a:gd name="T3" fmla="*/ 38 h 70"/>
                <a:gd name="T4" fmla="*/ 0 w 109"/>
                <a:gd name="T5" fmla="*/ 70 h 70"/>
                <a:gd name="T6" fmla="*/ 7 w 109"/>
                <a:gd name="T7" fmla="*/ 0 h 70"/>
              </a:gdLst>
              <a:ahLst/>
              <a:cxnLst>
                <a:cxn ang="0">
                  <a:pos x="T0" y="T1"/>
                </a:cxn>
                <a:cxn ang="0">
                  <a:pos x="T2" y="T3"/>
                </a:cxn>
                <a:cxn ang="0">
                  <a:pos x="T4" y="T5"/>
                </a:cxn>
                <a:cxn ang="0">
                  <a:pos x="T6" y="T7"/>
                </a:cxn>
              </a:cxnLst>
              <a:rect l="0" t="0" r="r" b="b"/>
              <a:pathLst>
                <a:path w="109" h="70">
                  <a:moveTo>
                    <a:pt x="7" y="0"/>
                  </a:moveTo>
                  <a:lnTo>
                    <a:pt x="109" y="38"/>
                  </a:lnTo>
                  <a:lnTo>
                    <a:pt x="0" y="7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 name="Line 6"/>
            <p:cNvSpPr>
              <a:spLocks noChangeShapeType="1"/>
            </p:cNvSpPr>
            <p:nvPr/>
          </p:nvSpPr>
          <p:spPr bwMode="auto">
            <a:xfrm flipV="1">
              <a:off x="3205" y="148"/>
              <a:ext cx="1" cy="195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8" name="Freeform 7"/>
            <p:cNvSpPr>
              <a:spLocks/>
            </p:cNvSpPr>
            <p:nvPr/>
          </p:nvSpPr>
          <p:spPr bwMode="auto">
            <a:xfrm>
              <a:off x="3173" y="51"/>
              <a:ext cx="70" cy="110"/>
            </a:xfrm>
            <a:custGeom>
              <a:avLst/>
              <a:gdLst>
                <a:gd name="T0" fmla="*/ 0 w 70"/>
                <a:gd name="T1" fmla="*/ 110 h 110"/>
                <a:gd name="T2" fmla="*/ 32 w 70"/>
                <a:gd name="T3" fmla="*/ 0 h 110"/>
                <a:gd name="T4" fmla="*/ 70 w 70"/>
                <a:gd name="T5" fmla="*/ 110 h 110"/>
                <a:gd name="T6" fmla="*/ 0 w 70"/>
                <a:gd name="T7" fmla="*/ 110 h 110"/>
              </a:gdLst>
              <a:ahLst/>
              <a:cxnLst>
                <a:cxn ang="0">
                  <a:pos x="T0" y="T1"/>
                </a:cxn>
                <a:cxn ang="0">
                  <a:pos x="T2" y="T3"/>
                </a:cxn>
                <a:cxn ang="0">
                  <a:pos x="T4" y="T5"/>
                </a:cxn>
                <a:cxn ang="0">
                  <a:pos x="T6" y="T7"/>
                </a:cxn>
              </a:cxnLst>
              <a:rect l="0" t="0" r="r" b="b"/>
              <a:pathLst>
                <a:path w="70" h="110">
                  <a:moveTo>
                    <a:pt x="0" y="110"/>
                  </a:moveTo>
                  <a:lnTo>
                    <a:pt x="32" y="0"/>
                  </a:lnTo>
                  <a:lnTo>
                    <a:pt x="70" y="110"/>
                  </a:lnTo>
                  <a:lnTo>
                    <a:pt x="0"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9" name="Rectangle 8"/>
            <p:cNvSpPr>
              <a:spLocks noChangeArrowheads="1"/>
            </p:cNvSpPr>
            <p:nvPr/>
          </p:nvSpPr>
          <p:spPr bwMode="auto">
            <a:xfrm>
              <a:off x="3044" y="386"/>
              <a:ext cx="6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1</a:t>
              </a:r>
            </a:p>
          </p:txBody>
        </p:sp>
        <p:sp>
          <p:nvSpPr>
            <p:cNvPr id="10" name="Rectangle 9"/>
            <p:cNvSpPr>
              <a:spLocks noChangeArrowheads="1"/>
            </p:cNvSpPr>
            <p:nvPr/>
          </p:nvSpPr>
          <p:spPr bwMode="auto">
            <a:xfrm>
              <a:off x="3166" y="210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1" name="Line 10"/>
            <p:cNvSpPr>
              <a:spLocks noChangeShapeType="1"/>
            </p:cNvSpPr>
            <p:nvPr/>
          </p:nvSpPr>
          <p:spPr bwMode="auto">
            <a:xfrm>
              <a:off x="4393" y="1917"/>
              <a:ext cx="114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2" name="Rectangle 11"/>
            <p:cNvSpPr>
              <a:spLocks noChangeArrowheads="1"/>
            </p:cNvSpPr>
            <p:nvPr/>
          </p:nvSpPr>
          <p:spPr bwMode="auto">
            <a:xfrm>
              <a:off x="3468" y="1653"/>
              <a:ext cx="29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宋体" panose="02010600030101010101" pitchFamily="2" charset="-122"/>
                  <a:ea typeface="+mn-ea"/>
                  <a:cs typeface="+mn-cs"/>
                </a:rPr>
                <a:t>通带</a:t>
              </a: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3" name="Rectangle 12"/>
            <p:cNvSpPr>
              <a:spLocks noChangeArrowheads="1"/>
            </p:cNvSpPr>
            <p:nvPr/>
          </p:nvSpPr>
          <p:spPr bwMode="auto">
            <a:xfrm>
              <a:off x="4399" y="1197"/>
              <a:ext cx="4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宋体" panose="02010600030101010101" pitchFamily="2" charset="-122"/>
                  <a:ea typeface="+mn-ea"/>
                  <a:cs typeface="+mn-cs"/>
                </a:rPr>
                <a:t>过渡带</a:t>
              </a: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4" name="Rectangle 13"/>
            <p:cNvSpPr>
              <a:spLocks noChangeArrowheads="1"/>
            </p:cNvSpPr>
            <p:nvPr/>
          </p:nvSpPr>
          <p:spPr bwMode="auto">
            <a:xfrm>
              <a:off x="4758" y="1647"/>
              <a:ext cx="29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阻带</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sp>
          <p:nvSpPr>
            <p:cNvPr id="15" name="Freeform 14"/>
            <p:cNvSpPr>
              <a:spLocks/>
            </p:cNvSpPr>
            <p:nvPr/>
          </p:nvSpPr>
          <p:spPr bwMode="auto">
            <a:xfrm>
              <a:off x="3205" y="508"/>
              <a:ext cx="2266" cy="1595"/>
            </a:xfrm>
            <a:custGeom>
              <a:avLst/>
              <a:gdLst>
                <a:gd name="T0" fmla="*/ 32 w 2266"/>
                <a:gd name="T1" fmla="*/ 0 h 1595"/>
                <a:gd name="T2" fmla="*/ 83 w 2266"/>
                <a:gd name="T3" fmla="*/ 7 h 1595"/>
                <a:gd name="T4" fmla="*/ 128 w 2266"/>
                <a:gd name="T5" fmla="*/ 26 h 1595"/>
                <a:gd name="T6" fmla="*/ 180 w 2266"/>
                <a:gd name="T7" fmla="*/ 45 h 1595"/>
                <a:gd name="T8" fmla="*/ 224 w 2266"/>
                <a:gd name="T9" fmla="*/ 64 h 1595"/>
                <a:gd name="T10" fmla="*/ 269 w 2266"/>
                <a:gd name="T11" fmla="*/ 90 h 1595"/>
                <a:gd name="T12" fmla="*/ 321 w 2266"/>
                <a:gd name="T13" fmla="*/ 116 h 1595"/>
                <a:gd name="T14" fmla="*/ 366 w 2266"/>
                <a:gd name="T15" fmla="*/ 129 h 1595"/>
                <a:gd name="T16" fmla="*/ 417 w 2266"/>
                <a:gd name="T17" fmla="*/ 154 h 1595"/>
                <a:gd name="T18" fmla="*/ 462 w 2266"/>
                <a:gd name="T19" fmla="*/ 167 h 1595"/>
                <a:gd name="T20" fmla="*/ 513 w 2266"/>
                <a:gd name="T21" fmla="*/ 174 h 1595"/>
                <a:gd name="T22" fmla="*/ 558 w 2266"/>
                <a:gd name="T23" fmla="*/ 174 h 1595"/>
                <a:gd name="T24" fmla="*/ 610 w 2266"/>
                <a:gd name="T25" fmla="*/ 154 h 1595"/>
                <a:gd name="T26" fmla="*/ 655 w 2266"/>
                <a:gd name="T27" fmla="*/ 129 h 1595"/>
                <a:gd name="T28" fmla="*/ 706 w 2266"/>
                <a:gd name="T29" fmla="*/ 97 h 1595"/>
                <a:gd name="T30" fmla="*/ 732 w 2266"/>
                <a:gd name="T31" fmla="*/ 64 h 1595"/>
                <a:gd name="T32" fmla="*/ 764 w 2266"/>
                <a:gd name="T33" fmla="*/ 32 h 1595"/>
                <a:gd name="T34" fmla="*/ 815 w 2266"/>
                <a:gd name="T35" fmla="*/ 0 h 1595"/>
                <a:gd name="T36" fmla="*/ 847 w 2266"/>
                <a:gd name="T37" fmla="*/ 26 h 1595"/>
                <a:gd name="T38" fmla="*/ 886 w 2266"/>
                <a:gd name="T39" fmla="*/ 97 h 1595"/>
                <a:gd name="T40" fmla="*/ 911 w 2266"/>
                <a:gd name="T41" fmla="*/ 225 h 1595"/>
                <a:gd name="T42" fmla="*/ 944 w 2266"/>
                <a:gd name="T43" fmla="*/ 399 h 1595"/>
                <a:gd name="T44" fmla="*/ 982 w 2266"/>
                <a:gd name="T45" fmla="*/ 598 h 1595"/>
                <a:gd name="T46" fmla="*/ 1008 w 2266"/>
                <a:gd name="T47" fmla="*/ 785 h 1595"/>
                <a:gd name="T48" fmla="*/ 1040 w 2266"/>
                <a:gd name="T49" fmla="*/ 952 h 1595"/>
                <a:gd name="T50" fmla="*/ 1066 w 2266"/>
                <a:gd name="T51" fmla="*/ 1094 h 1595"/>
                <a:gd name="T52" fmla="*/ 1104 w 2266"/>
                <a:gd name="T53" fmla="*/ 1209 h 1595"/>
                <a:gd name="T54" fmla="*/ 1123 w 2266"/>
                <a:gd name="T55" fmla="*/ 1312 h 1595"/>
                <a:gd name="T56" fmla="*/ 1162 w 2266"/>
                <a:gd name="T57" fmla="*/ 1383 h 1595"/>
                <a:gd name="T58" fmla="*/ 1188 w 2266"/>
                <a:gd name="T59" fmla="*/ 1447 h 1595"/>
                <a:gd name="T60" fmla="*/ 1220 w 2266"/>
                <a:gd name="T61" fmla="*/ 1499 h 1595"/>
                <a:gd name="T62" fmla="*/ 1245 w 2266"/>
                <a:gd name="T63" fmla="*/ 1537 h 1595"/>
                <a:gd name="T64" fmla="*/ 1284 w 2266"/>
                <a:gd name="T65" fmla="*/ 1570 h 1595"/>
                <a:gd name="T66" fmla="*/ 1316 w 2266"/>
                <a:gd name="T67" fmla="*/ 1582 h 1595"/>
                <a:gd name="T68" fmla="*/ 1354 w 2266"/>
                <a:gd name="T69" fmla="*/ 1557 h 1595"/>
                <a:gd name="T70" fmla="*/ 1406 w 2266"/>
                <a:gd name="T71" fmla="*/ 1531 h 1595"/>
                <a:gd name="T72" fmla="*/ 1451 w 2266"/>
                <a:gd name="T73" fmla="*/ 1505 h 1595"/>
                <a:gd name="T74" fmla="*/ 1502 w 2266"/>
                <a:gd name="T75" fmla="*/ 1486 h 1595"/>
                <a:gd name="T76" fmla="*/ 1547 w 2266"/>
                <a:gd name="T77" fmla="*/ 1473 h 1595"/>
                <a:gd name="T78" fmla="*/ 1592 w 2266"/>
                <a:gd name="T79" fmla="*/ 1460 h 1595"/>
                <a:gd name="T80" fmla="*/ 1643 w 2266"/>
                <a:gd name="T81" fmla="*/ 1454 h 1595"/>
                <a:gd name="T82" fmla="*/ 1688 w 2266"/>
                <a:gd name="T83" fmla="*/ 1447 h 1595"/>
                <a:gd name="T84" fmla="*/ 1740 w 2266"/>
                <a:gd name="T85" fmla="*/ 1447 h 1595"/>
                <a:gd name="T86" fmla="*/ 1785 w 2266"/>
                <a:gd name="T87" fmla="*/ 1441 h 1595"/>
                <a:gd name="T88" fmla="*/ 1836 w 2266"/>
                <a:gd name="T89" fmla="*/ 1441 h 1595"/>
                <a:gd name="T90" fmla="*/ 1881 w 2266"/>
                <a:gd name="T91" fmla="*/ 1441 h 1595"/>
                <a:gd name="T92" fmla="*/ 1932 w 2266"/>
                <a:gd name="T93" fmla="*/ 1441 h 1595"/>
                <a:gd name="T94" fmla="*/ 1977 w 2266"/>
                <a:gd name="T95" fmla="*/ 1441 h 1595"/>
                <a:gd name="T96" fmla="*/ 2029 w 2266"/>
                <a:gd name="T97" fmla="*/ 1441 h 1595"/>
                <a:gd name="T98" fmla="*/ 2073 w 2266"/>
                <a:gd name="T99" fmla="*/ 1441 h 1595"/>
                <a:gd name="T100" fmla="*/ 2125 w 2266"/>
                <a:gd name="T101" fmla="*/ 1441 h 1595"/>
                <a:gd name="T102" fmla="*/ 2170 w 2266"/>
                <a:gd name="T103" fmla="*/ 1441 h 1595"/>
                <a:gd name="T104" fmla="*/ 2221 w 2266"/>
                <a:gd name="T105" fmla="*/ 1441 h 1595"/>
                <a:gd name="T106" fmla="*/ 2266 w 2266"/>
                <a:gd name="T107" fmla="*/ 1441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66" h="1595">
                  <a:moveTo>
                    <a:pt x="0" y="0"/>
                  </a:moveTo>
                  <a:lnTo>
                    <a:pt x="6" y="0"/>
                  </a:lnTo>
                  <a:lnTo>
                    <a:pt x="19" y="0"/>
                  </a:lnTo>
                  <a:lnTo>
                    <a:pt x="32" y="0"/>
                  </a:lnTo>
                  <a:lnTo>
                    <a:pt x="45" y="7"/>
                  </a:lnTo>
                  <a:lnTo>
                    <a:pt x="58" y="7"/>
                  </a:lnTo>
                  <a:lnTo>
                    <a:pt x="70" y="7"/>
                  </a:lnTo>
                  <a:lnTo>
                    <a:pt x="83" y="7"/>
                  </a:lnTo>
                  <a:lnTo>
                    <a:pt x="90" y="19"/>
                  </a:lnTo>
                  <a:lnTo>
                    <a:pt x="102" y="19"/>
                  </a:lnTo>
                  <a:lnTo>
                    <a:pt x="115" y="26"/>
                  </a:lnTo>
                  <a:lnTo>
                    <a:pt x="128" y="26"/>
                  </a:lnTo>
                  <a:lnTo>
                    <a:pt x="141" y="32"/>
                  </a:lnTo>
                  <a:lnTo>
                    <a:pt x="154" y="32"/>
                  </a:lnTo>
                  <a:lnTo>
                    <a:pt x="167" y="45"/>
                  </a:lnTo>
                  <a:lnTo>
                    <a:pt x="180" y="45"/>
                  </a:lnTo>
                  <a:lnTo>
                    <a:pt x="186" y="52"/>
                  </a:lnTo>
                  <a:lnTo>
                    <a:pt x="199" y="58"/>
                  </a:lnTo>
                  <a:lnTo>
                    <a:pt x="212" y="64"/>
                  </a:lnTo>
                  <a:lnTo>
                    <a:pt x="224" y="64"/>
                  </a:lnTo>
                  <a:lnTo>
                    <a:pt x="237" y="71"/>
                  </a:lnTo>
                  <a:lnTo>
                    <a:pt x="250" y="84"/>
                  </a:lnTo>
                  <a:lnTo>
                    <a:pt x="263" y="84"/>
                  </a:lnTo>
                  <a:lnTo>
                    <a:pt x="269" y="90"/>
                  </a:lnTo>
                  <a:lnTo>
                    <a:pt x="282" y="97"/>
                  </a:lnTo>
                  <a:lnTo>
                    <a:pt x="295" y="109"/>
                  </a:lnTo>
                  <a:lnTo>
                    <a:pt x="308" y="109"/>
                  </a:lnTo>
                  <a:lnTo>
                    <a:pt x="321" y="116"/>
                  </a:lnTo>
                  <a:lnTo>
                    <a:pt x="334" y="122"/>
                  </a:lnTo>
                  <a:lnTo>
                    <a:pt x="346" y="122"/>
                  </a:lnTo>
                  <a:lnTo>
                    <a:pt x="359" y="129"/>
                  </a:lnTo>
                  <a:lnTo>
                    <a:pt x="366" y="129"/>
                  </a:lnTo>
                  <a:lnTo>
                    <a:pt x="379" y="142"/>
                  </a:lnTo>
                  <a:lnTo>
                    <a:pt x="391" y="148"/>
                  </a:lnTo>
                  <a:lnTo>
                    <a:pt x="404" y="148"/>
                  </a:lnTo>
                  <a:lnTo>
                    <a:pt x="417" y="154"/>
                  </a:lnTo>
                  <a:lnTo>
                    <a:pt x="430" y="154"/>
                  </a:lnTo>
                  <a:lnTo>
                    <a:pt x="443" y="167"/>
                  </a:lnTo>
                  <a:lnTo>
                    <a:pt x="456" y="167"/>
                  </a:lnTo>
                  <a:lnTo>
                    <a:pt x="462" y="167"/>
                  </a:lnTo>
                  <a:lnTo>
                    <a:pt x="475" y="174"/>
                  </a:lnTo>
                  <a:lnTo>
                    <a:pt x="488" y="174"/>
                  </a:lnTo>
                  <a:lnTo>
                    <a:pt x="501" y="174"/>
                  </a:lnTo>
                  <a:lnTo>
                    <a:pt x="513" y="174"/>
                  </a:lnTo>
                  <a:lnTo>
                    <a:pt x="526" y="174"/>
                  </a:lnTo>
                  <a:lnTo>
                    <a:pt x="539" y="174"/>
                  </a:lnTo>
                  <a:lnTo>
                    <a:pt x="552" y="174"/>
                  </a:lnTo>
                  <a:lnTo>
                    <a:pt x="558" y="174"/>
                  </a:lnTo>
                  <a:lnTo>
                    <a:pt x="571" y="167"/>
                  </a:lnTo>
                  <a:lnTo>
                    <a:pt x="584" y="167"/>
                  </a:lnTo>
                  <a:lnTo>
                    <a:pt x="597" y="167"/>
                  </a:lnTo>
                  <a:lnTo>
                    <a:pt x="610" y="154"/>
                  </a:lnTo>
                  <a:lnTo>
                    <a:pt x="623" y="148"/>
                  </a:lnTo>
                  <a:lnTo>
                    <a:pt x="635" y="148"/>
                  </a:lnTo>
                  <a:lnTo>
                    <a:pt x="648" y="142"/>
                  </a:lnTo>
                  <a:lnTo>
                    <a:pt x="655" y="129"/>
                  </a:lnTo>
                  <a:lnTo>
                    <a:pt x="667" y="122"/>
                  </a:lnTo>
                  <a:lnTo>
                    <a:pt x="680" y="116"/>
                  </a:lnTo>
                  <a:lnTo>
                    <a:pt x="693" y="109"/>
                  </a:lnTo>
                  <a:lnTo>
                    <a:pt x="706" y="97"/>
                  </a:lnTo>
                  <a:lnTo>
                    <a:pt x="706" y="90"/>
                  </a:lnTo>
                  <a:lnTo>
                    <a:pt x="719" y="84"/>
                  </a:lnTo>
                  <a:lnTo>
                    <a:pt x="732" y="71"/>
                  </a:lnTo>
                  <a:lnTo>
                    <a:pt x="732" y="64"/>
                  </a:lnTo>
                  <a:lnTo>
                    <a:pt x="745" y="58"/>
                  </a:lnTo>
                  <a:lnTo>
                    <a:pt x="751" y="52"/>
                  </a:lnTo>
                  <a:lnTo>
                    <a:pt x="751" y="45"/>
                  </a:lnTo>
                  <a:lnTo>
                    <a:pt x="764" y="32"/>
                  </a:lnTo>
                  <a:lnTo>
                    <a:pt x="777" y="26"/>
                  </a:lnTo>
                  <a:lnTo>
                    <a:pt x="789" y="19"/>
                  </a:lnTo>
                  <a:lnTo>
                    <a:pt x="802" y="7"/>
                  </a:lnTo>
                  <a:lnTo>
                    <a:pt x="815" y="0"/>
                  </a:lnTo>
                  <a:lnTo>
                    <a:pt x="828" y="0"/>
                  </a:lnTo>
                  <a:lnTo>
                    <a:pt x="841" y="7"/>
                  </a:lnTo>
                  <a:lnTo>
                    <a:pt x="847" y="19"/>
                  </a:lnTo>
                  <a:lnTo>
                    <a:pt x="847" y="26"/>
                  </a:lnTo>
                  <a:lnTo>
                    <a:pt x="860" y="32"/>
                  </a:lnTo>
                  <a:lnTo>
                    <a:pt x="873" y="52"/>
                  </a:lnTo>
                  <a:lnTo>
                    <a:pt x="873" y="71"/>
                  </a:lnTo>
                  <a:lnTo>
                    <a:pt x="886" y="97"/>
                  </a:lnTo>
                  <a:lnTo>
                    <a:pt x="899" y="122"/>
                  </a:lnTo>
                  <a:lnTo>
                    <a:pt x="899" y="154"/>
                  </a:lnTo>
                  <a:lnTo>
                    <a:pt x="911" y="187"/>
                  </a:lnTo>
                  <a:lnTo>
                    <a:pt x="911" y="225"/>
                  </a:lnTo>
                  <a:lnTo>
                    <a:pt x="924" y="264"/>
                  </a:lnTo>
                  <a:lnTo>
                    <a:pt x="931" y="315"/>
                  </a:lnTo>
                  <a:lnTo>
                    <a:pt x="931" y="354"/>
                  </a:lnTo>
                  <a:lnTo>
                    <a:pt x="944" y="399"/>
                  </a:lnTo>
                  <a:lnTo>
                    <a:pt x="956" y="457"/>
                  </a:lnTo>
                  <a:lnTo>
                    <a:pt x="956" y="502"/>
                  </a:lnTo>
                  <a:lnTo>
                    <a:pt x="969" y="553"/>
                  </a:lnTo>
                  <a:lnTo>
                    <a:pt x="982" y="598"/>
                  </a:lnTo>
                  <a:lnTo>
                    <a:pt x="982" y="650"/>
                  </a:lnTo>
                  <a:lnTo>
                    <a:pt x="995" y="701"/>
                  </a:lnTo>
                  <a:lnTo>
                    <a:pt x="995" y="740"/>
                  </a:lnTo>
                  <a:lnTo>
                    <a:pt x="1008" y="785"/>
                  </a:lnTo>
                  <a:lnTo>
                    <a:pt x="1021" y="830"/>
                  </a:lnTo>
                  <a:lnTo>
                    <a:pt x="1021" y="868"/>
                  </a:lnTo>
                  <a:lnTo>
                    <a:pt x="1027" y="913"/>
                  </a:lnTo>
                  <a:lnTo>
                    <a:pt x="1040" y="952"/>
                  </a:lnTo>
                  <a:lnTo>
                    <a:pt x="1040" y="991"/>
                  </a:lnTo>
                  <a:lnTo>
                    <a:pt x="1053" y="1029"/>
                  </a:lnTo>
                  <a:lnTo>
                    <a:pt x="1053" y="1061"/>
                  </a:lnTo>
                  <a:lnTo>
                    <a:pt x="1066" y="1094"/>
                  </a:lnTo>
                  <a:lnTo>
                    <a:pt x="1078" y="1126"/>
                  </a:lnTo>
                  <a:lnTo>
                    <a:pt x="1078" y="1158"/>
                  </a:lnTo>
                  <a:lnTo>
                    <a:pt x="1091" y="1184"/>
                  </a:lnTo>
                  <a:lnTo>
                    <a:pt x="1104" y="1209"/>
                  </a:lnTo>
                  <a:lnTo>
                    <a:pt x="1104" y="1235"/>
                  </a:lnTo>
                  <a:lnTo>
                    <a:pt x="1117" y="1254"/>
                  </a:lnTo>
                  <a:lnTo>
                    <a:pt x="1123" y="1280"/>
                  </a:lnTo>
                  <a:lnTo>
                    <a:pt x="1123" y="1312"/>
                  </a:lnTo>
                  <a:lnTo>
                    <a:pt x="1136" y="1325"/>
                  </a:lnTo>
                  <a:lnTo>
                    <a:pt x="1136" y="1351"/>
                  </a:lnTo>
                  <a:lnTo>
                    <a:pt x="1149" y="1364"/>
                  </a:lnTo>
                  <a:lnTo>
                    <a:pt x="1162" y="1383"/>
                  </a:lnTo>
                  <a:lnTo>
                    <a:pt x="1162" y="1396"/>
                  </a:lnTo>
                  <a:lnTo>
                    <a:pt x="1175" y="1415"/>
                  </a:lnTo>
                  <a:lnTo>
                    <a:pt x="1188" y="1434"/>
                  </a:lnTo>
                  <a:lnTo>
                    <a:pt x="1188" y="1447"/>
                  </a:lnTo>
                  <a:lnTo>
                    <a:pt x="1200" y="1454"/>
                  </a:lnTo>
                  <a:lnTo>
                    <a:pt x="1213" y="1473"/>
                  </a:lnTo>
                  <a:lnTo>
                    <a:pt x="1213" y="1479"/>
                  </a:lnTo>
                  <a:lnTo>
                    <a:pt x="1220" y="1499"/>
                  </a:lnTo>
                  <a:lnTo>
                    <a:pt x="1220" y="1505"/>
                  </a:lnTo>
                  <a:lnTo>
                    <a:pt x="1232" y="1518"/>
                  </a:lnTo>
                  <a:lnTo>
                    <a:pt x="1245" y="1531"/>
                  </a:lnTo>
                  <a:lnTo>
                    <a:pt x="1245" y="1537"/>
                  </a:lnTo>
                  <a:lnTo>
                    <a:pt x="1258" y="1544"/>
                  </a:lnTo>
                  <a:lnTo>
                    <a:pt x="1271" y="1557"/>
                  </a:lnTo>
                  <a:lnTo>
                    <a:pt x="1271" y="1563"/>
                  </a:lnTo>
                  <a:lnTo>
                    <a:pt x="1284" y="1570"/>
                  </a:lnTo>
                  <a:lnTo>
                    <a:pt x="1284" y="1582"/>
                  </a:lnTo>
                  <a:lnTo>
                    <a:pt x="1297" y="1582"/>
                  </a:lnTo>
                  <a:lnTo>
                    <a:pt x="1309" y="1595"/>
                  </a:lnTo>
                  <a:lnTo>
                    <a:pt x="1316" y="1582"/>
                  </a:lnTo>
                  <a:lnTo>
                    <a:pt x="1329" y="1582"/>
                  </a:lnTo>
                  <a:lnTo>
                    <a:pt x="1329" y="1570"/>
                  </a:lnTo>
                  <a:lnTo>
                    <a:pt x="1342" y="1563"/>
                  </a:lnTo>
                  <a:lnTo>
                    <a:pt x="1354" y="1557"/>
                  </a:lnTo>
                  <a:lnTo>
                    <a:pt x="1367" y="1544"/>
                  </a:lnTo>
                  <a:lnTo>
                    <a:pt x="1380" y="1537"/>
                  </a:lnTo>
                  <a:lnTo>
                    <a:pt x="1393" y="1531"/>
                  </a:lnTo>
                  <a:lnTo>
                    <a:pt x="1406" y="1531"/>
                  </a:lnTo>
                  <a:lnTo>
                    <a:pt x="1412" y="1518"/>
                  </a:lnTo>
                  <a:lnTo>
                    <a:pt x="1425" y="1518"/>
                  </a:lnTo>
                  <a:lnTo>
                    <a:pt x="1438" y="1518"/>
                  </a:lnTo>
                  <a:lnTo>
                    <a:pt x="1451" y="1505"/>
                  </a:lnTo>
                  <a:lnTo>
                    <a:pt x="1464" y="1505"/>
                  </a:lnTo>
                  <a:lnTo>
                    <a:pt x="1476" y="1499"/>
                  </a:lnTo>
                  <a:lnTo>
                    <a:pt x="1489" y="1499"/>
                  </a:lnTo>
                  <a:lnTo>
                    <a:pt x="1502" y="1486"/>
                  </a:lnTo>
                  <a:lnTo>
                    <a:pt x="1509" y="1479"/>
                  </a:lnTo>
                  <a:lnTo>
                    <a:pt x="1521" y="1479"/>
                  </a:lnTo>
                  <a:lnTo>
                    <a:pt x="1534" y="1479"/>
                  </a:lnTo>
                  <a:lnTo>
                    <a:pt x="1547" y="1473"/>
                  </a:lnTo>
                  <a:lnTo>
                    <a:pt x="1560" y="1473"/>
                  </a:lnTo>
                  <a:lnTo>
                    <a:pt x="1573" y="1473"/>
                  </a:lnTo>
                  <a:lnTo>
                    <a:pt x="1586" y="1460"/>
                  </a:lnTo>
                  <a:lnTo>
                    <a:pt x="1592" y="1460"/>
                  </a:lnTo>
                  <a:lnTo>
                    <a:pt x="1605" y="1460"/>
                  </a:lnTo>
                  <a:lnTo>
                    <a:pt x="1618" y="1460"/>
                  </a:lnTo>
                  <a:lnTo>
                    <a:pt x="1630" y="1454"/>
                  </a:lnTo>
                  <a:lnTo>
                    <a:pt x="1643" y="1454"/>
                  </a:lnTo>
                  <a:lnTo>
                    <a:pt x="1656" y="1454"/>
                  </a:lnTo>
                  <a:lnTo>
                    <a:pt x="1669" y="1454"/>
                  </a:lnTo>
                  <a:lnTo>
                    <a:pt x="1682" y="1454"/>
                  </a:lnTo>
                  <a:lnTo>
                    <a:pt x="1688" y="1447"/>
                  </a:lnTo>
                  <a:lnTo>
                    <a:pt x="1701" y="1447"/>
                  </a:lnTo>
                  <a:lnTo>
                    <a:pt x="1714" y="1447"/>
                  </a:lnTo>
                  <a:lnTo>
                    <a:pt x="1727" y="1447"/>
                  </a:lnTo>
                  <a:lnTo>
                    <a:pt x="1740" y="1447"/>
                  </a:lnTo>
                  <a:lnTo>
                    <a:pt x="1752" y="1447"/>
                  </a:lnTo>
                  <a:lnTo>
                    <a:pt x="1765" y="1447"/>
                  </a:lnTo>
                  <a:lnTo>
                    <a:pt x="1778" y="1447"/>
                  </a:lnTo>
                  <a:lnTo>
                    <a:pt x="1785" y="1441"/>
                  </a:lnTo>
                  <a:lnTo>
                    <a:pt x="1797" y="1441"/>
                  </a:lnTo>
                  <a:lnTo>
                    <a:pt x="1810" y="1441"/>
                  </a:lnTo>
                  <a:lnTo>
                    <a:pt x="1823" y="1441"/>
                  </a:lnTo>
                  <a:lnTo>
                    <a:pt x="1836" y="1441"/>
                  </a:lnTo>
                  <a:lnTo>
                    <a:pt x="1849" y="1441"/>
                  </a:lnTo>
                  <a:lnTo>
                    <a:pt x="1862" y="1441"/>
                  </a:lnTo>
                  <a:lnTo>
                    <a:pt x="1874" y="1441"/>
                  </a:lnTo>
                  <a:lnTo>
                    <a:pt x="1881" y="1441"/>
                  </a:lnTo>
                  <a:lnTo>
                    <a:pt x="1894" y="1441"/>
                  </a:lnTo>
                  <a:lnTo>
                    <a:pt x="1907" y="1441"/>
                  </a:lnTo>
                  <a:lnTo>
                    <a:pt x="1919" y="1441"/>
                  </a:lnTo>
                  <a:lnTo>
                    <a:pt x="1932" y="1441"/>
                  </a:lnTo>
                  <a:lnTo>
                    <a:pt x="1945" y="1441"/>
                  </a:lnTo>
                  <a:lnTo>
                    <a:pt x="1958" y="1441"/>
                  </a:lnTo>
                  <a:lnTo>
                    <a:pt x="1971" y="1441"/>
                  </a:lnTo>
                  <a:lnTo>
                    <a:pt x="1977" y="1441"/>
                  </a:lnTo>
                  <a:lnTo>
                    <a:pt x="1990" y="1441"/>
                  </a:lnTo>
                  <a:lnTo>
                    <a:pt x="2003" y="1441"/>
                  </a:lnTo>
                  <a:lnTo>
                    <a:pt x="2016" y="1441"/>
                  </a:lnTo>
                  <a:lnTo>
                    <a:pt x="2029" y="1441"/>
                  </a:lnTo>
                  <a:lnTo>
                    <a:pt x="2041" y="1441"/>
                  </a:lnTo>
                  <a:lnTo>
                    <a:pt x="2054" y="1441"/>
                  </a:lnTo>
                  <a:lnTo>
                    <a:pt x="2067" y="1441"/>
                  </a:lnTo>
                  <a:lnTo>
                    <a:pt x="2073" y="1441"/>
                  </a:lnTo>
                  <a:lnTo>
                    <a:pt x="2086" y="1441"/>
                  </a:lnTo>
                  <a:lnTo>
                    <a:pt x="2099" y="1441"/>
                  </a:lnTo>
                  <a:lnTo>
                    <a:pt x="2112" y="1441"/>
                  </a:lnTo>
                  <a:lnTo>
                    <a:pt x="2125" y="1441"/>
                  </a:lnTo>
                  <a:lnTo>
                    <a:pt x="2138" y="1441"/>
                  </a:lnTo>
                  <a:lnTo>
                    <a:pt x="2151" y="1441"/>
                  </a:lnTo>
                  <a:lnTo>
                    <a:pt x="2163" y="1441"/>
                  </a:lnTo>
                  <a:lnTo>
                    <a:pt x="2170" y="1441"/>
                  </a:lnTo>
                  <a:lnTo>
                    <a:pt x="2183" y="1441"/>
                  </a:lnTo>
                  <a:lnTo>
                    <a:pt x="2195" y="1441"/>
                  </a:lnTo>
                  <a:lnTo>
                    <a:pt x="2208" y="1441"/>
                  </a:lnTo>
                  <a:lnTo>
                    <a:pt x="2221" y="1441"/>
                  </a:lnTo>
                  <a:lnTo>
                    <a:pt x="2234" y="1441"/>
                  </a:lnTo>
                  <a:lnTo>
                    <a:pt x="2247" y="1441"/>
                  </a:lnTo>
                  <a:lnTo>
                    <a:pt x="2253" y="1441"/>
                  </a:lnTo>
                  <a:lnTo>
                    <a:pt x="2266" y="1441"/>
                  </a:lnTo>
                </a:path>
              </a:pathLst>
            </a:custGeom>
            <a:noFill/>
            <a:ln w="301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6" name="Line 15"/>
            <p:cNvSpPr>
              <a:spLocks noChangeShapeType="1"/>
            </p:cNvSpPr>
            <p:nvPr/>
          </p:nvSpPr>
          <p:spPr bwMode="auto">
            <a:xfrm>
              <a:off x="3205" y="508"/>
              <a:ext cx="91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7" name="Line 16"/>
            <p:cNvSpPr>
              <a:spLocks noChangeShapeType="1"/>
            </p:cNvSpPr>
            <p:nvPr/>
          </p:nvSpPr>
          <p:spPr bwMode="auto">
            <a:xfrm>
              <a:off x="3205" y="688"/>
              <a:ext cx="91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8" name="Line 17"/>
            <p:cNvSpPr>
              <a:spLocks noChangeShapeType="1"/>
            </p:cNvSpPr>
            <p:nvPr/>
          </p:nvSpPr>
          <p:spPr bwMode="auto">
            <a:xfrm flipV="1">
              <a:off x="3205" y="437"/>
              <a:ext cx="70"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19" name="Line 18"/>
            <p:cNvSpPr>
              <a:spLocks noChangeShapeType="1"/>
            </p:cNvSpPr>
            <p:nvPr/>
          </p:nvSpPr>
          <p:spPr bwMode="auto">
            <a:xfrm flipV="1">
              <a:off x="3436" y="437"/>
              <a:ext cx="64"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20" name="Line 19"/>
            <p:cNvSpPr>
              <a:spLocks noChangeShapeType="1"/>
            </p:cNvSpPr>
            <p:nvPr/>
          </p:nvSpPr>
          <p:spPr bwMode="auto">
            <a:xfrm flipV="1">
              <a:off x="3661" y="437"/>
              <a:ext cx="70"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21" name="Line 20"/>
            <p:cNvSpPr>
              <a:spLocks noChangeShapeType="1"/>
            </p:cNvSpPr>
            <p:nvPr/>
          </p:nvSpPr>
          <p:spPr bwMode="auto">
            <a:xfrm flipV="1">
              <a:off x="3892" y="437"/>
              <a:ext cx="64"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22" name="Line 21"/>
            <p:cNvSpPr>
              <a:spLocks noChangeShapeType="1"/>
            </p:cNvSpPr>
            <p:nvPr/>
          </p:nvSpPr>
          <p:spPr bwMode="auto">
            <a:xfrm>
              <a:off x="3205" y="688"/>
              <a:ext cx="70"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23" name="Line 22"/>
            <p:cNvSpPr>
              <a:spLocks noChangeShapeType="1"/>
            </p:cNvSpPr>
            <p:nvPr/>
          </p:nvSpPr>
          <p:spPr bwMode="auto">
            <a:xfrm>
              <a:off x="3436" y="688"/>
              <a:ext cx="64"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24" name="Line 23"/>
            <p:cNvSpPr>
              <a:spLocks noChangeShapeType="1"/>
            </p:cNvSpPr>
            <p:nvPr/>
          </p:nvSpPr>
          <p:spPr bwMode="auto">
            <a:xfrm>
              <a:off x="3661" y="688"/>
              <a:ext cx="70"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25" name="Line 24"/>
            <p:cNvSpPr>
              <a:spLocks noChangeShapeType="1"/>
            </p:cNvSpPr>
            <p:nvPr/>
          </p:nvSpPr>
          <p:spPr bwMode="auto">
            <a:xfrm>
              <a:off x="3892" y="688"/>
              <a:ext cx="64"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26" name="Rectangle 25"/>
            <p:cNvSpPr>
              <a:spLocks noChangeArrowheads="1"/>
            </p:cNvSpPr>
            <p:nvPr/>
          </p:nvSpPr>
          <p:spPr bwMode="auto">
            <a:xfrm>
              <a:off x="3793" y="66"/>
              <a:ext cx="5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a:t>
              </a:r>
            </a:p>
          </p:txBody>
        </p:sp>
        <p:sp>
          <p:nvSpPr>
            <p:cNvPr id="27" name="Rectangle 26"/>
            <p:cNvSpPr>
              <a:spLocks noChangeArrowheads="1"/>
            </p:cNvSpPr>
            <p:nvPr/>
          </p:nvSpPr>
          <p:spPr bwMode="auto">
            <a:xfrm>
              <a:off x="3451" y="66"/>
              <a:ext cx="5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a:t>
              </a:r>
            </a:p>
          </p:txBody>
        </p:sp>
        <p:sp>
          <p:nvSpPr>
            <p:cNvPr id="28" name="Rectangle 27"/>
            <p:cNvSpPr>
              <a:spLocks noChangeArrowheads="1"/>
            </p:cNvSpPr>
            <p:nvPr/>
          </p:nvSpPr>
          <p:spPr bwMode="auto">
            <a:xfrm>
              <a:off x="3671" y="22"/>
              <a:ext cx="10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sz="1600" dirty="0">
                  <a:solidFill>
                    <a:srgbClr val="71777D"/>
                  </a:solidFill>
                  <a:latin typeface="Arial" panose="020B0604020202020204" pitchFamily="34" charset="0"/>
                </a:rPr>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sp>
          <p:nvSpPr>
            <p:cNvPr id="29" name="Rectangle 28"/>
            <p:cNvSpPr>
              <a:spLocks noChangeArrowheads="1"/>
            </p:cNvSpPr>
            <p:nvPr/>
          </p:nvSpPr>
          <p:spPr bwMode="auto">
            <a:xfrm>
              <a:off x="3635" y="37"/>
              <a:ext cx="5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Comic Sans MS"/>
                  <a:ea typeface="+mn-ea"/>
                  <a:cs typeface="+mn-cs"/>
                </a:rPr>
                <a:t>j</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0" name="Rectangle 29"/>
            <p:cNvSpPr>
              <a:spLocks noChangeArrowheads="1"/>
            </p:cNvSpPr>
            <p:nvPr/>
          </p:nvSpPr>
          <p:spPr bwMode="auto">
            <a:xfrm>
              <a:off x="3517" y="66"/>
              <a:ext cx="8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e</a:t>
              </a:r>
            </a:p>
          </p:txBody>
        </p:sp>
        <p:sp>
          <p:nvSpPr>
            <p:cNvPr id="31" name="Rectangle 30"/>
            <p:cNvSpPr>
              <a:spLocks noChangeArrowheads="1"/>
            </p:cNvSpPr>
            <p:nvPr/>
          </p:nvSpPr>
          <p:spPr bwMode="auto">
            <a:xfrm>
              <a:off x="3285" y="66"/>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a:ln>
                    <a:noFill/>
                  </a:ln>
                  <a:solidFill>
                    <a:srgbClr val="000000"/>
                  </a:solidFill>
                  <a:effectLst/>
                  <a:uLnTx/>
                  <a:uFillTx/>
                  <a:latin typeface="Comic Sans MS"/>
                  <a:ea typeface="+mn-ea"/>
                  <a:cs typeface="+mn-cs"/>
                </a:rPr>
                <a:t>H</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2" name="Line 31"/>
            <p:cNvSpPr>
              <a:spLocks noChangeShapeType="1"/>
            </p:cNvSpPr>
            <p:nvPr/>
          </p:nvSpPr>
          <p:spPr bwMode="auto">
            <a:xfrm>
              <a:off x="4116" y="39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3" name="Line 32"/>
            <p:cNvSpPr>
              <a:spLocks noChangeShapeType="1"/>
            </p:cNvSpPr>
            <p:nvPr/>
          </p:nvSpPr>
          <p:spPr bwMode="auto">
            <a:xfrm>
              <a:off x="4116" y="540"/>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4" name="Line 33"/>
            <p:cNvSpPr>
              <a:spLocks noChangeShapeType="1"/>
            </p:cNvSpPr>
            <p:nvPr/>
          </p:nvSpPr>
          <p:spPr bwMode="auto">
            <a:xfrm>
              <a:off x="4116" y="688"/>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5" name="Line 34"/>
            <p:cNvSpPr>
              <a:spLocks noChangeShapeType="1"/>
            </p:cNvSpPr>
            <p:nvPr/>
          </p:nvSpPr>
          <p:spPr bwMode="auto">
            <a:xfrm>
              <a:off x="4116" y="836"/>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6" name="Line 35"/>
            <p:cNvSpPr>
              <a:spLocks noChangeShapeType="1"/>
            </p:cNvSpPr>
            <p:nvPr/>
          </p:nvSpPr>
          <p:spPr bwMode="auto">
            <a:xfrm>
              <a:off x="4116" y="98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7" name="Line 36"/>
            <p:cNvSpPr>
              <a:spLocks noChangeShapeType="1"/>
            </p:cNvSpPr>
            <p:nvPr/>
          </p:nvSpPr>
          <p:spPr bwMode="auto">
            <a:xfrm>
              <a:off x="4116" y="113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8" name="Line 37"/>
            <p:cNvSpPr>
              <a:spLocks noChangeShapeType="1"/>
            </p:cNvSpPr>
            <p:nvPr/>
          </p:nvSpPr>
          <p:spPr bwMode="auto">
            <a:xfrm>
              <a:off x="4116" y="1280"/>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39" name="Line 38"/>
            <p:cNvSpPr>
              <a:spLocks noChangeShapeType="1"/>
            </p:cNvSpPr>
            <p:nvPr/>
          </p:nvSpPr>
          <p:spPr bwMode="auto">
            <a:xfrm>
              <a:off x="4116" y="1428"/>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0" name="Line 39"/>
            <p:cNvSpPr>
              <a:spLocks noChangeShapeType="1"/>
            </p:cNvSpPr>
            <p:nvPr/>
          </p:nvSpPr>
          <p:spPr bwMode="auto">
            <a:xfrm>
              <a:off x="4116" y="1576"/>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1" name="Line 40"/>
            <p:cNvSpPr>
              <a:spLocks noChangeShapeType="1"/>
            </p:cNvSpPr>
            <p:nvPr/>
          </p:nvSpPr>
          <p:spPr bwMode="auto">
            <a:xfrm>
              <a:off x="4116" y="172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2" name="Line 41"/>
            <p:cNvSpPr>
              <a:spLocks noChangeShapeType="1"/>
            </p:cNvSpPr>
            <p:nvPr/>
          </p:nvSpPr>
          <p:spPr bwMode="auto">
            <a:xfrm>
              <a:off x="4116" y="187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3" name="Line 42"/>
            <p:cNvSpPr>
              <a:spLocks noChangeShapeType="1"/>
            </p:cNvSpPr>
            <p:nvPr/>
          </p:nvSpPr>
          <p:spPr bwMode="auto">
            <a:xfrm>
              <a:off x="4116" y="2020"/>
              <a:ext cx="1" cy="83"/>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4" name="Line 43"/>
            <p:cNvSpPr>
              <a:spLocks noChangeShapeType="1"/>
            </p:cNvSpPr>
            <p:nvPr/>
          </p:nvSpPr>
          <p:spPr bwMode="auto">
            <a:xfrm flipV="1">
              <a:off x="4393" y="2013"/>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5" name="Line 44"/>
            <p:cNvSpPr>
              <a:spLocks noChangeShapeType="1"/>
            </p:cNvSpPr>
            <p:nvPr/>
          </p:nvSpPr>
          <p:spPr bwMode="auto">
            <a:xfrm flipV="1">
              <a:off x="4393" y="1865"/>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6" name="Line 45"/>
            <p:cNvSpPr>
              <a:spLocks noChangeShapeType="1"/>
            </p:cNvSpPr>
            <p:nvPr/>
          </p:nvSpPr>
          <p:spPr bwMode="auto">
            <a:xfrm flipV="1">
              <a:off x="4393" y="1717"/>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7" name="Line 46"/>
            <p:cNvSpPr>
              <a:spLocks noChangeShapeType="1"/>
            </p:cNvSpPr>
            <p:nvPr/>
          </p:nvSpPr>
          <p:spPr bwMode="auto">
            <a:xfrm flipV="1">
              <a:off x="4393" y="1569"/>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8" name="Line 47"/>
            <p:cNvSpPr>
              <a:spLocks noChangeShapeType="1"/>
            </p:cNvSpPr>
            <p:nvPr/>
          </p:nvSpPr>
          <p:spPr bwMode="auto">
            <a:xfrm flipV="1">
              <a:off x="4393" y="1421"/>
              <a:ext cx="1" cy="9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49" name="Line 48"/>
            <p:cNvSpPr>
              <a:spLocks noChangeShapeType="1"/>
            </p:cNvSpPr>
            <p:nvPr/>
          </p:nvSpPr>
          <p:spPr bwMode="auto">
            <a:xfrm flipV="1">
              <a:off x="4393" y="127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0" name="Line 49"/>
            <p:cNvSpPr>
              <a:spLocks noChangeShapeType="1"/>
            </p:cNvSpPr>
            <p:nvPr/>
          </p:nvSpPr>
          <p:spPr bwMode="auto">
            <a:xfrm flipV="1">
              <a:off x="4393" y="1126"/>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1" name="Line 50"/>
            <p:cNvSpPr>
              <a:spLocks noChangeShapeType="1"/>
            </p:cNvSpPr>
            <p:nvPr/>
          </p:nvSpPr>
          <p:spPr bwMode="auto">
            <a:xfrm flipV="1">
              <a:off x="4393" y="978"/>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2" name="Line 51"/>
            <p:cNvSpPr>
              <a:spLocks noChangeShapeType="1"/>
            </p:cNvSpPr>
            <p:nvPr/>
          </p:nvSpPr>
          <p:spPr bwMode="auto">
            <a:xfrm flipV="1">
              <a:off x="4393" y="830"/>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3" name="Line 52"/>
            <p:cNvSpPr>
              <a:spLocks noChangeShapeType="1"/>
            </p:cNvSpPr>
            <p:nvPr/>
          </p:nvSpPr>
          <p:spPr bwMode="auto">
            <a:xfrm flipV="1">
              <a:off x="4393" y="68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4" name="Line 53"/>
            <p:cNvSpPr>
              <a:spLocks noChangeShapeType="1"/>
            </p:cNvSpPr>
            <p:nvPr/>
          </p:nvSpPr>
          <p:spPr bwMode="auto">
            <a:xfrm flipV="1">
              <a:off x="4393" y="53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 name="Line 54"/>
            <p:cNvSpPr>
              <a:spLocks noChangeShapeType="1"/>
            </p:cNvSpPr>
            <p:nvPr/>
          </p:nvSpPr>
          <p:spPr bwMode="auto">
            <a:xfrm flipV="1">
              <a:off x="4393" y="392"/>
              <a:ext cx="1" cy="8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6" name="Line 55"/>
            <p:cNvSpPr>
              <a:spLocks noChangeShapeType="1"/>
            </p:cNvSpPr>
            <p:nvPr/>
          </p:nvSpPr>
          <p:spPr bwMode="auto">
            <a:xfrm>
              <a:off x="4116" y="1306"/>
              <a:ext cx="27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7" name="Freeform 56"/>
            <p:cNvSpPr>
              <a:spLocks/>
            </p:cNvSpPr>
            <p:nvPr/>
          </p:nvSpPr>
          <p:spPr bwMode="auto">
            <a:xfrm>
              <a:off x="4116" y="1254"/>
              <a:ext cx="52" cy="103"/>
            </a:xfrm>
            <a:custGeom>
              <a:avLst/>
              <a:gdLst>
                <a:gd name="T0" fmla="*/ 52 w 52"/>
                <a:gd name="T1" fmla="*/ 0 h 103"/>
                <a:gd name="T2" fmla="*/ 0 w 52"/>
                <a:gd name="T3" fmla="*/ 52 h 103"/>
                <a:gd name="T4" fmla="*/ 52 w 52"/>
                <a:gd name="T5" fmla="*/ 103 h 103"/>
              </a:gdLst>
              <a:ahLst/>
              <a:cxnLst>
                <a:cxn ang="0">
                  <a:pos x="T0" y="T1"/>
                </a:cxn>
                <a:cxn ang="0">
                  <a:pos x="T2" y="T3"/>
                </a:cxn>
                <a:cxn ang="0">
                  <a:pos x="T4" y="T5"/>
                </a:cxn>
              </a:cxnLst>
              <a:rect l="0" t="0" r="r" b="b"/>
              <a:pathLst>
                <a:path w="52" h="103">
                  <a:moveTo>
                    <a:pt x="52" y="0"/>
                  </a:moveTo>
                  <a:lnTo>
                    <a:pt x="0" y="52"/>
                  </a:lnTo>
                  <a:lnTo>
                    <a:pt x="52" y="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8" name="Freeform 57"/>
            <p:cNvSpPr>
              <a:spLocks/>
            </p:cNvSpPr>
            <p:nvPr/>
          </p:nvSpPr>
          <p:spPr bwMode="auto">
            <a:xfrm>
              <a:off x="4341" y="1254"/>
              <a:ext cx="52" cy="103"/>
            </a:xfrm>
            <a:custGeom>
              <a:avLst/>
              <a:gdLst>
                <a:gd name="T0" fmla="*/ 0 w 52"/>
                <a:gd name="T1" fmla="*/ 103 h 103"/>
                <a:gd name="T2" fmla="*/ 52 w 52"/>
                <a:gd name="T3" fmla="*/ 52 h 103"/>
                <a:gd name="T4" fmla="*/ 0 w 52"/>
                <a:gd name="T5" fmla="*/ 0 h 103"/>
              </a:gdLst>
              <a:ahLst/>
              <a:cxnLst>
                <a:cxn ang="0">
                  <a:pos x="T0" y="T1"/>
                </a:cxn>
                <a:cxn ang="0">
                  <a:pos x="T2" y="T3"/>
                </a:cxn>
                <a:cxn ang="0">
                  <a:pos x="T4" y="T5"/>
                </a:cxn>
              </a:cxnLst>
              <a:rect l="0" t="0" r="r" b="b"/>
              <a:pathLst>
                <a:path w="52" h="103">
                  <a:moveTo>
                    <a:pt x="0" y="103"/>
                  </a:moveTo>
                  <a:lnTo>
                    <a:pt x="52" y="52"/>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9" name="Line 58"/>
            <p:cNvSpPr>
              <a:spLocks noChangeShapeType="1"/>
            </p:cNvSpPr>
            <p:nvPr/>
          </p:nvSpPr>
          <p:spPr bwMode="auto">
            <a:xfrm>
              <a:off x="4393" y="1762"/>
              <a:ext cx="34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0" name="Freeform 59"/>
            <p:cNvSpPr>
              <a:spLocks/>
            </p:cNvSpPr>
            <p:nvPr/>
          </p:nvSpPr>
          <p:spPr bwMode="auto">
            <a:xfrm>
              <a:off x="4393" y="1711"/>
              <a:ext cx="51" cy="103"/>
            </a:xfrm>
            <a:custGeom>
              <a:avLst/>
              <a:gdLst>
                <a:gd name="T0" fmla="*/ 51 w 51"/>
                <a:gd name="T1" fmla="*/ 0 h 103"/>
                <a:gd name="T2" fmla="*/ 0 w 51"/>
                <a:gd name="T3" fmla="*/ 51 h 103"/>
                <a:gd name="T4" fmla="*/ 51 w 51"/>
                <a:gd name="T5" fmla="*/ 103 h 103"/>
              </a:gdLst>
              <a:ahLst/>
              <a:cxnLst>
                <a:cxn ang="0">
                  <a:pos x="T0" y="T1"/>
                </a:cxn>
                <a:cxn ang="0">
                  <a:pos x="T2" y="T3"/>
                </a:cxn>
                <a:cxn ang="0">
                  <a:pos x="T4" y="T5"/>
                </a:cxn>
              </a:cxnLst>
              <a:rect l="0" t="0" r="r" b="b"/>
              <a:pathLst>
                <a:path w="51" h="103">
                  <a:moveTo>
                    <a:pt x="51" y="0"/>
                  </a:moveTo>
                  <a:lnTo>
                    <a:pt x="0" y="51"/>
                  </a:lnTo>
                  <a:lnTo>
                    <a:pt x="51" y="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1" name="Line 60"/>
            <p:cNvSpPr>
              <a:spLocks noChangeShapeType="1"/>
            </p:cNvSpPr>
            <p:nvPr/>
          </p:nvSpPr>
          <p:spPr bwMode="auto">
            <a:xfrm flipH="1">
              <a:off x="5144" y="1762"/>
              <a:ext cx="34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2" name="Freeform 61"/>
            <p:cNvSpPr>
              <a:spLocks/>
            </p:cNvSpPr>
            <p:nvPr/>
          </p:nvSpPr>
          <p:spPr bwMode="auto">
            <a:xfrm>
              <a:off x="5433" y="1711"/>
              <a:ext cx="51" cy="103"/>
            </a:xfrm>
            <a:custGeom>
              <a:avLst/>
              <a:gdLst>
                <a:gd name="T0" fmla="*/ 0 w 51"/>
                <a:gd name="T1" fmla="*/ 103 h 103"/>
                <a:gd name="T2" fmla="*/ 51 w 51"/>
                <a:gd name="T3" fmla="*/ 51 h 103"/>
                <a:gd name="T4" fmla="*/ 0 w 51"/>
                <a:gd name="T5" fmla="*/ 0 h 103"/>
              </a:gdLst>
              <a:ahLst/>
              <a:cxnLst>
                <a:cxn ang="0">
                  <a:pos x="T0" y="T1"/>
                </a:cxn>
                <a:cxn ang="0">
                  <a:pos x="T2" y="T3"/>
                </a:cxn>
                <a:cxn ang="0">
                  <a:pos x="T4" y="T5"/>
                </a:cxn>
              </a:cxnLst>
              <a:rect l="0" t="0" r="r" b="b"/>
              <a:pathLst>
                <a:path w="51" h="103">
                  <a:moveTo>
                    <a:pt x="0" y="103"/>
                  </a:moveTo>
                  <a:lnTo>
                    <a:pt x="51" y="51"/>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3" name="Line 62"/>
            <p:cNvSpPr>
              <a:spLocks noChangeShapeType="1"/>
            </p:cNvSpPr>
            <p:nvPr/>
          </p:nvSpPr>
          <p:spPr bwMode="auto">
            <a:xfrm>
              <a:off x="3205" y="1762"/>
              <a:ext cx="23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4" name="Freeform 63"/>
            <p:cNvSpPr>
              <a:spLocks/>
            </p:cNvSpPr>
            <p:nvPr/>
          </p:nvSpPr>
          <p:spPr bwMode="auto">
            <a:xfrm>
              <a:off x="3205" y="1711"/>
              <a:ext cx="51" cy="103"/>
            </a:xfrm>
            <a:custGeom>
              <a:avLst/>
              <a:gdLst>
                <a:gd name="T0" fmla="*/ 51 w 51"/>
                <a:gd name="T1" fmla="*/ 0 h 103"/>
                <a:gd name="T2" fmla="*/ 0 w 51"/>
                <a:gd name="T3" fmla="*/ 51 h 103"/>
                <a:gd name="T4" fmla="*/ 51 w 51"/>
                <a:gd name="T5" fmla="*/ 103 h 103"/>
              </a:gdLst>
              <a:ahLst/>
              <a:cxnLst>
                <a:cxn ang="0">
                  <a:pos x="T0" y="T1"/>
                </a:cxn>
                <a:cxn ang="0">
                  <a:pos x="T2" y="T3"/>
                </a:cxn>
                <a:cxn ang="0">
                  <a:pos x="T4" y="T5"/>
                </a:cxn>
              </a:cxnLst>
              <a:rect l="0" t="0" r="r" b="b"/>
              <a:pathLst>
                <a:path w="51" h="103">
                  <a:moveTo>
                    <a:pt x="51" y="0"/>
                  </a:moveTo>
                  <a:lnTo>
                    <a:pt x="0" y="51"/>
                  </a:lnTo>
                  <a:lnTo>
                    <a:pt x="51" y="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5" name="Line 64"/>
            <p:cNvSpPr>
              <a:spLocks noChangeShapeType="1"/>
            </p:cNvSpPr>
            <p:nvPr/>
          </p:nvSpPr>
          <p:spPr bwMode="auto">
            <a:xfrm flipH="1">
              <a:off x="3892" y="1762"/>
              <a:ext cx="22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6" name="Freeform 65"/>
            <p:cNvSpPr>
              <a:spLocks/>
            </p:cNvSpPr>
            <p:nvPr/>
          </p:nvSpPr>
          <p:spPr bwMode="auto">
            <a:xfrm>
              <a:off x="4065" y="1711"/>
              <a:ext cx="51" cy="103"/>
            </a:xfrm>
            <a:custGeom>
              <a:avLst/>
              <a:gdLst>
                <a:gd name="T0" fmla="*/ 0 w 51"/>
                <a:gd name="T1" fmla="*/ 103 h 103"/>
                <a:gd name="T2" fmla="*/ 51 w 51"/>
                <a:gd name="T3" fmla="*/ 51 h 103"/>
                <a:gd name="T4" fmla="*/ 0 w 51"/>
                <a:gd name="T5" fmla="*/ 0 h 103"/>
              </a:gdLst>
              <a:ahLst/>
              <a:cxnLst>
                <a:cxn ang="0">
                  <a:pos x="T0" y="T1"/>
                </a:cxn>
                <a:cxn ang="0">
                  <a:pos x="T2" y="T3"/>
                </a:cxn>
                <a:cxn ang="0">
                  <a:pos x="T4" y="T5"/>
                </a:cxn>
              </a:cxnLst>
              <a:rect l="0" t="0" r="r" b="b"/>
              <a:pathLst>
                <a:path w="51" h="103">
                  <a:moveTo>
                    <a:pt x="0" y="103"/>
                  </a:moveTo>
                  <a:lnTo>
                    <a:pt x="51" y="51"/>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7" name="Rectangle 66"/>
            <p:cNvSpPr>
              <a:spLocks noChangeArrowheads="1"/>
            </p:cNvSpPr>
            <p:nvPr/>
          </p:nvSpPr>
          <p:spPr bwMode="auto">
            <a:xfrm>
              <a:off x="4203" y="2228"/>
              <a:ext cx="6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p</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68" name="Rectangle 67"/>
            <p:cNvSpPr>
              <a:spLocks noChangeArrowheads="1"/>
            </p:cNvSpPr>
            <p:nvPr/>
          </p:nvSpPr>
          <p:spPr bwMode="auto">
            <a:xfrm>
              <a:off x="4027" y="2102"/>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dirty="0"/>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sp>
          <p:nvSpPr>
            <p:cNvPr id="69" name="Rectangle 68"/>
            <p:cNvSpPr>
              <a:spLocks noChangeArrowheads="1"/>
            </p:cNvSpPr>
            <p:nvPr/>
          </p:nvSpPr>
          <p:spPr bwMode="auto">
            <a:xfrm>
              <a:off x="4485" y="2230"/>
              <a:ext cx="6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s</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0" name="Rectangle 69"/>
            <p:cNvSpPr>
              <a:spLocks noChangeArrowheads="1"/>
            </p:cNvSpPr>
            <p:nvPr/>
          </p:nvSpPr>
          <p:spPr bwMode="auto">
            <a:xfrm>
              <a:off x="4329" y="2102"/>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dirty="0"/>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sp>
          <p:nvSpPr>
            <p:cNvPr id="71" name="Rectangle 70"/>
            <p:cNvSpPr>
              <a:spLocks noChangeArrowheads="1"/>
            </p:cNvSpPr>
            <p:nvPr/>
          </p:nvSpPr>
          <p:spPr bwMode="auto">
            <a:xfrm>
              <a:off x="3114" y="1888"/>
              <a:ext cx="6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s</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2" name="Rectangle 71"/>
            <p:cNvSpPr>
              <a:spLocks noChangeArrowheads="1"/>
            </p:cNvSpPr>
            <p:nvPr/>
          </p:nvSpPr>
          <p:spPr bwMode="auto">
            <a:xfrm>
              <a:off x="2997" y="1761"/>
              <a:ext cx="7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a:ln>
                    <a:noFill/>
                  </a:ln>
                  <a:solidFill>
                    <a:srgbClr val="000000"/>
                  </a:solidFill>
                  <a:effectLst/>
                  <a:uLnTx/>
                  <a:uFillTx/>
                  <a:latin typeface="Symbol" panose="05050102010706020507" pitchFamily="18" charset="2"/>
                  <a:ea typeface="+mn-ea"/>
                  <a:cs typeface="+mn-cs"/>
                </a:rPr>
                <a:t>d</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3" name="Line 72"/>
            <p:cNvSpPr>
              <a:spLocks noChangeShapeType="1"/>
            </p:cNvSpPr>
            <p:nvPr/>
          </p:nvSpPr>
          <p:spPr bwMode="auto">
            <a:xfrm>
              <a:off x="3205" y="1917"/>
              <a:ext cx="7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4" name="Rectangle 73"/>
            <p:cNvSpPr>
              <a:spLocks noChangeArrowheads="1"/>
            </p:cNvSpPr>
            <p:nvPr/>
          </p:nvSpPr>
          <p:spPr bwMode="auto">
            <a:xfrm>
              <a:off x="3098" y="707"/>
              <a:ext cx="6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p</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5" name="Rectangle 74"/>
            <p:cNvSpPr>
              <a:spLocks noChangeArrowheads="1"/>
            </p:cNvSpPr>
            <p:nvPr/>
          </p:nvSpPr>
          <p:spPr bwMode="auto">
            <a:xfrm>
              <a:off x="2962" y="578"/>
              <a:ext cx="7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a:ln>
                    <a:noFill/>
                  </a:ln>
                  <a:solidFill>
                    <a:srgbClr val="000000"/>
                  </a:solidFill>
                  <a:effectLst/>
                  <a:uLnTx/>
                  <a:uFillTx/>
                  <a:latin typeface="Symbol" panose="05050102010706020507" pitchFamily="18" charset="2"/>
                  <a:ea typeface="+mn-ea"/>
                  <a:cs typeface="+mn-cs"/>
                </a:rPr>
                <a:t>d</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6" name="Rectangle 75"/>
            <p:cNvSpPr>
              <a:spLocks noChangeArrowheads="1"/>
            </p:cNvSpPr>
            <p:nvPr/>
          </p:nvSpPr>
          <p:spPr bwMode="auto">
            <a:xfrm>
              <a:off x="2833" y="578"/>
              <a:ext cx="8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Symbol" panose="05050102010706020507" pitchFamily="18" charset="2"/>
                  <a:ea typeface="+mn-ea"/>
                  <a:cs typeface="+mn-cs"/>
                </a:rPr>
                <a:t>-</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77" name="Rectangle 76"/>
            <p:cNvSpPr>
              <a:spLocks noChangeArrowheads="1"/>
            </p:cNvSpPr>
            <p:nvPr/>
          </p:nvSpPr>
          <p:spPr bwMode="auto">
            <a:xfrm>
              <a:off x="2718" y="600"/>
              <a:ext cx="6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1</a:t>
              </a:r>
            </a:p>
          </p:txBody>
        </p:sp>
        <p:sp>
          <p:nvSpPr>
            <p:cNvPr id="78" name="Rectangle 77"/>
            <p:cNvSpPr>
              <a:spLocks noChangeArrowheads="1"/>
            </p:cNvSpPr>
            <p:nvPr/>
          </p:nvSpPr>
          <p:spPr bwMode="auto">
            <a:xfrm>
              <a:off x="5574" y="1982"/>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dirty="0"/>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grpSp>
      <p:grpSp>
        <p:nvGrpSpPr>
          <p:cNvPr id="79" name="Group 78"/>
          <p:cNvGrpSpPr>
            <a:grpSpLocks/>
          </p:cNvGrpSpPr>
          <p:nvPr/>
        </p:nvGrpSpPr>
        <p:grpSpPr bwMode="auto">
          <a:xfrm>
            <a:off x="3559973" y="195011"/>
            <a:ext cx="2214563" cy="533400"/>
            <a:chOff x="512" y="623"/>
            <a:chExt cx="1395" cy="336"/>
          </a:xfrm>
        </p:grpSpPr>
        <p:grpSp>
          <p:nvGrpSpPr>
            <p:cNvPr id="80" name="Group 79"/>
            <p:cNvGrpSpPr>
              <a:grpSpLocks/>
            </p:cNvGrpSpPr>
            <p:nvPr/>
          </p:nvGrpSpPr>
          <p:grpSpPr bwMode="auto">
            <a:xfrm>
              <a:off x="512" y="623"/>
              <a:ext cx="299" cy="336"/>
              <a:chOff x="512" y="623"/>
              <a:chExt cx="299" cy="336"/>
            </a:xfrm>
          </p:grpSpPr>
          <p:sp>
            <p:nvSpPr>
              <p:cNvPr id="82" name="Rectangle 80"/>
              <p:cNvSpPr>
                <a:spLocks noChangeArrowheads="1"/>
              </p:cNvSpPr>
              <p:nvPr/>
            </p:nvSpPr>
            <p:spPr bwMode="auto">
              <a:xfrm>
                <a:off x="729" y="775"/>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900" b="0" i="1" u="none" strike="noStrike" kern="1200" cap="none" spc="0" normalizeH="0" baseline="0" noProof="0">
                    <a:ln>
                      <a:noFill/>
                    </a:ln>
                    <a:solidFill>
                      <a:srgbClr val="000000"/>
                    </a:solidFill>
                    <a:effectLst/>
                    <a:uLnTx/>
                    <a:uFillTx/>
                    <a:latin typeface="Comic Sans MS"/>
                    <a:ea typeface="+mn-ea"/>
                    <a:cs typeface="+mn-cs"/>
                  </a:rPr>
                  <a:t>p</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83" name="Rectangle 81"/>
              <p:cNvSpPr>
                <a:spLocks noChangeArrowheads="1"/>
              </p:cNvSpPr>
              <p:nvPr/>
            </p:nvSpPr>
            <p:spPr bwMode="auto">
              <a:xfrm>
                <a:off x="512" y="623"/>
                <a:ext cx="2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sz="3200" dirty="0">
                    <a:solidFill>
                      <a:srgbClr val="71777D"/>
                    </a:solidFill>
                    <a:latin typeface="Arial" panose="020B0604020202020204" pitchFamily="34" charset="0"/>
                  </a:rPr>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grpSp>
        <p:sp>
          <p:nvSpPr>
            <p:cNvPr id="81" name="Rectangle 82"/>
            <p:cNvSpPr>
              <a:spLocks noChangeArrowheads="1"/>
            </p:cNvSpPr>
            <p:nvPr/>
          </p:nvSpPr>
          <p:spPr bwMode="auto">
            <a:xfrm>
              <a:off x="816" y="672"/>
              <a:ext cx="109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通带截止频率</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grpSp>
      <p:sp>
        <p:nvSpPr>
          <p:cNvPr id="84" name="Rectangle 83"/>
          <p:cNvSpPr>
            <a:spLocks noChangeArrowheads="1"/>
          </p:cNvSpPr>
          <p:nvPr/>
        </p:nvSpPr>
        <p:spPr bwMode="auto">
          <a:xfrm>
            <a:off x="3574262" y="1018036"/>
            <a:ext cx="3392487" cy="28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lvl="0">
              <a:defRPr/>
            </a:pPr>
            <a:r>
              <a:rPr lang="el-GR" altLang="zh-CN" dirty="0"/>
              <a:t>ω</a:t>
            </a:r>
            <a:r>
              <a:rPr kumimoji="0" lang="en-US" altLang="zh-CN" sz="2800" b="0" i="1" u="none" strike="noStrike" kern="1200" cap="none" spc="0" normalizeH="0" baseline="-25000" noProof="0" dirty="0" smtClean="0">
                <a:ln>
                  <a:noFill/>
                </a:ln>
                <a:solidFill>
                  <a:srgbClr val="000000"/>
                </a:solidFill>
                <a:effectLst/>
                <a:uLnTx/>
                <a:uFillTx/>
                <a:latin typeface="Comic Sans MS"/>
                <a:ea typeface="+mn-ea"/>
                <a:cs typeface="+mn-cs"/>
              </a:rPr>
              <a:t>s</a:t>
            </a: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阻带截止频率</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grpSp>
        <p:nvGrpSpPr>
          <p:cNvPr id="85" name="Group 78"/>
          <p:cNvGrpSpPr>
            <a:grpSpLocks/>
          </p:cNvGrpSpPr>
          <p:nvPr/>
        </p:nvGrpSpPr>
        <p:grpSpPr bwMode="auto">
          <a:xfrm>
            <a:off x="3588280" y="1499301"/>
            <a:ext cx="1752600" cy="533400"/>
            <a:chOff x="512" y="623"/>
            <a:chExt cx="1104" cy="336"/>
          </a:xfrm>
        </p:grpSpPr>
        <p:grpSp>
          <p:nvGrpSpPr>
            <p:cNvPr id="86" name="Group 79"/>
            <p:cNvGrpSpPr>
              <a:grpSpLocks/>
            </p:cNvGrpSpPr>
            <p:nvPr/>
          </p:nvGrpSpPr>
          <p:grpSpPr bwMode="auto">
            <a:xfrm>
              <a:off x="512" y="623"/>
              <a:ext cx="299" cy="336"/>
              <a:chOff x="512" y="623"/>
              <a:chExt cx="299" cy="336"/>
            </a:xfrm>
          </p:grpSpPr>
          <p:sp>
            <p:nvSpPr>
              <p:cNvPr id="88" name="Rectangle 80"/>
              <p:cNvSpPr>
                <a:spLocks noChangeArrowheads="1"/>
              </p:cNvSpPr>
              <p:nvPr/>
            </p:nvSpPr>
            <p:spPr bwMode="auto">
              <a:xfrm>
                <a:off x="729" y="775"/>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900" b="0" i="1" u="none" strike="noStrike" kern="1200" cap="none" spc="0" normalizeH="0" baseline="0" noProof="0">
                    <a:ln>
                      <a:noFill/>
                    </a:ln>
                    <a:solidFill>
                      <a:srgbClr val="000000"/>
                    </a:solidFill>
                    <a:effectLst/>
                    <a:uLnTx/>
                    <a:uFillTx/>
                    <a:latin typeface="Comic Sans MS"/>
                    <a:ea typeface="+mn-ea"/>
                    <a:cs typeface="+mn-cs"/>
                  </a:rPr>
                  <a:t>p</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89" name="Rectangle 81"/>
              <p:cNvSpPr>
                <a:spLocks noChangeArrowheads="1"/>
              </p:cNvSpPr>
              <p:nvPr/>
            </p:nvSpPr>
            <p:spPr bwMode="auto">
              <a:xfrm>
                <a:off x="512" y="623"/>
                <a:ext cx="1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n-US" altLang="zh-CN" sz="3200" noProof="0" dirty="0">
                    <a:solidFill>
                      <a:srgbClr val="71777D"/>
                    </a:solidFill>
                    <a:latin typeface="Arial" panose="020B0604020202020204" pitchFamily="34" charset="0"/>
                  </a:rPr>
                  <a:t>A</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grpSp>
        <p:sp>
          <p:nvSpPr>
            <p:cNvPr id="87" name="Rectangle 82"/>
            <p:cNvSpPr>
              <a:spLocks noChangeArrowheads="1"/>
            </p:cNvSpPr>
            <p:nvPr/>
          </p:nvSpPr>
          <p:spPr bwMode="auto">
            <a:xfrm>
              <a:off x="816" y="672"/>
              <a:ext cx="8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0" lang="zh-CN" altLang="en-US" sz="1800" b="0"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通带衰减</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grpSp>
      <p:sp>
        <p:nvSpPr>
          <p:cNvPr id="90" name="Rectangle 83"/>
          <p:cNvSpPr>
            <a:spLocks noChangeArrowheads="1"/>
          </p:cNvSpPr>
          <p:nvPr/>
        </p:nvSpPr>
        <p:spPr bwMode="auto">
          <a:xfrm>
            <a:off x="3602569" y="2322326"/>
            <a:ext cx="3392487" cy="28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lvl="0">
              <a:defRPr/>
            </a:pPr>
            <a:r>
              <a:rPr lang="en-US" altLang="zh-CN" noProof="0" dirty="0"/>
              <a:t>A</a:t>
            </a:r>
            <a:r>
              <a:rPr kumimoji="0" lang="en-US" altLang="zh-CN" sz="2800" b="0" i="1" u="none" strike="noStrike" kern="1200" cap="none" spc="0" normalizeH="0" baseline="-25000" noProof="0" dirty="0" smtClean="0">
                <a:ln>
                  <a:noFill/>
                </a:ln>
                <a:solidFill>
                  <a:srgbClr val="000000"/>
                </a:solidFill>
                <a:effectLst/>
                <a:uLnTx/>
                <a:uFillTx/>
                <a:latin typeface="Comic Sans MS"/>
                <a:ea typeface="+mn-ea"/>
                <a:cs typeface="+mn-cs"/>
              </a:rPr>
              <a:t>s</a:t>
            </a: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0" lang="zh-CN" altLang="en-US" sz="1800" b="0"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阻带衰减</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pic>
        <p:nvPicPr>
          <p:cNvPr id="91" name="图片 90"/>
          <p:cNvPicPr>
            <a:picLocks noChangeAspect="1"/>
          </p:cNvPicPr>
          <p:nvPr/>
        </p:nvPicPr>
        <p:blipFill>
          <a:blip r:embed="rId3"/>
          <a:stretch>
            <a:fillRect/>
          </a:stretch>
        </p:blipFill>
        <p:spPr>
          <a:xfrm>
            <a:off x="6765395" y="323262"/>
            <a:ext cx="3846909" cy="3225064"/>
          </a:xfrm>
          <a:prstGeom prst="rect">
            <a:avLst/>
          </a:prstGeom>
        </p:spPr>
      </p:pic>
      <p:sp>
        <p:nvSpPr>
          <p:cNvPr id="92" name="矩形 91"/>
          <p:cNvSpPr/>
          <p:nvPr/>
        </p:nvSpPr>
        <p:spPr>
          <a:xfrm>
            <a:off x="764387" y="4174873"/>
            <a:ext cx="3541354" cy="369332"/>
          </a:xfrm>
          <a:prstGeom prst="rect">
            <a:avLst/>
          </a:prstGeom>
        </p:spPr>
        <p:txBody>
          <a:bodyPr wrap="none">
            <a:spAutoFit/>
          </a:bodyPr>
          <a:lstStyle/>
          <a:p>
            <a:r>
              <a:rPr kumimoji="1" lang="zh-CN" altLang="en-US" b="1" dirty="0">
                <a:solidFill>
                  <a:srgbClr val="000000"/>
                </a:solidFill>
                <a:latin typeface="Times New Roman" panose="02020603050405020304" pitchFamily="18" charset="0"/>
                <a:ea typeface="宋体" panose="02010600030101010101" pitchFamily="2" charset="-122"/>
              </a:rPr>
              <a:t>（</a:t>
            </a:r>
            <a:r>
              <a:rPr kumimoji="1" lang="en-US" altLang="zh-CN" b="1" dirty="0">
                <a:solidFill>
                  <a:srgbClr val="000000"/>
                </a:solidFill>
                <a:latin typeface="Times New Roman" panose="02020603050405020304" pitchFamily="18" charset="0"/>
                <a:ea typeface="宋体" panose="02010600030101010101" pitchFamily="2" charset="-122"/>
              </a:rPr>
              <a:t>1</a:t>
            </a:r>
            <a:r>
              <a:rPr kumimoji="1" lang="zh-CN" altLang="en-US" b="1" dirty="0">
                <a:solidFill>
                  <a:srgbClr val="000000"/>
                </a:solidFill>
                <a:latin typeface="Times New Roman" panose="02020603050405020304" pitchFamily="18" charset="0"/>
                <a:ea typeface="宋体" panose="02010600030101010101" pitchFamily="2" charset="-122"/>
              </a:rPr>
              <a:t>） 在 </a:t>
            </a:r>
            <a:r>
              <a:rPr kumimoji="1" lang="en-US" altLang="zh-CN" b="1" i="1" dirty="0">
                <a:solidFill>
                  <a:srgbClr val="000000"/>
                </a:solidFill>
                <a:latin typeface="Times New Roman" panose="02020603050405020304" pitchFamily="18" charset="0"/>
                <a:ea typeface="宋体" panose="02010600030101010101" pitchFamily="2" charset="-122"/>
              </a:rPr>
              <a:t>Ω</a:t>
            </a:r>
            <a:r>
              <a:rPr kumimoji="1" lang="en-US" altLang="zh-CN" b="1" dirty="0">
                <a:solidFill>
                  <a:srgbClr val="000000"/>
                </a:solidFill>
                <a:latin typeface="Times New Roman" panose="02020603050405020304" pitchFamily="18" charset="0"/>
                <a:ea typeface="宋体" panose="02010600030101010101" pitchFamily="2" charset="-122"/>
              </a:rPr>
              <a:t>=</a:t>
            </a:r>
            <a:r>
              <a:rPr kumimoji="1" lang="en-US" altLang="zh-CN" b="1" i="1" dirty="0" err="1">
                <a:solidFill>
                  <a:srgbClr val="000000"/>
                </a:solidFill>
                <a:latin typeface="Times New Roman" panose="02020603050405020304" pitchFamily="18" charset="0"/>
                <a:ea typeface="宋体" panose="02010600030101010101" pitchFamily="2" charset="-122"/>
              </a:rPr>
              <a:t>Ω</a:t>
            </a:r>
            <a:r>
              <a:rPr kumimoji="1" lang="en-US" altLang="zh-CN" b="1" baseline="-25000" dirty="0" err="1">
                <a:solidFill>
                  <a:srgbClr val="000000"/>
                </a:solidFill>
                <a:latin typeface="Times New Roman" panose="02020603050405020304" pitchFamily="18" charset="0"/>
                <a:ea typeface="宋体" panose="02010600030101010101" pitchFamily="2" charset="-122"/>
              </a:rPr>
              <a:t>p</a:t>
            </a:r>
            <a:r>
              <a:rPr kumimoji="1" lang="en-US" altLang="zh-CN" b="1" dirty="0">
                <a:solidFill>
                  <a:srgbClr val="000000"/>
                </a:solidFill>
                <a:latin typeface="Times New Roman" panose="02020603050405020304" pitchFamily="18" charset="0"/>
                <a:ea typeface="宋体" panose="02010600030101010101" pitchFamily="2" charset="-122"/>
              </a:rPr>
              <a:t>, -10lg|</a:t>
            </a:r>
            <a:r>
              <a:rPr kumimoji="1" lang="en-US" altLang="zh-CN" b="1" i="1" dirty="0">
                <a:solidFill>
                  <a:srgbClr val="000000"/>
                </a:solidFill>
                <a:latin typeface="Times New Roman" panose="02020603050405020304" pitchFamily="18" charset="0"/>
                <a:ea typeface="宋体" panose="02010600030101010101" pitchFamily="2" charset="-122"/>
              </a:rPr>
              <a:t>H</a:t>
            </a:r>
            <a:r>
              <a:rPr kumimoji="1" lang="en-US" altLang="zh-CN" b="1" baseline="-25000" dirty="0">
                <a:solidFill>
                  <a:srgbClr val="000000"/>
                </a:solidFill>
                <a:latin typeface="Times New Roman" panose="02020603050405020304" pitchFamily="18" charset="0"/>
                <a:ea typeface="宋体" panose="02010600030101010101" pitchFamily="2" charset="-122"/>
              </a:rPr>
              <a:t>a</a:t>
            </a:r>
            <a:r>
              <a:rPr kumimoji="1" lang="en-US" altLang="zh-CN" b="1" dirty="0">
                <a:solidFill>
                  <a:srgbClr val="000000"/>
                </a:solidFill>
                <a:latin typeface="Times New Roman" panose="02020603050405020304" pitchFamily="18" charset="0"/>
                <a:ea typeface="宋体" panose="02010600030101010101" pitchFamily="2" charset="-122"/>
              </a:rPr>
              <a:t>(</a:t>
            </a:r>
            <a:r>
              <a:rPr kumimoji="1" lang="en-US" altLang="zh-CN" b="1" dirty="0" err="1">
                <a:solidFill>
                  <a:srgbClr val="000000"/>
                </a:solidFill>
                <a:latin typeface="Times New Roman" panose="02020603050405020304" pitchFamily="18" charset="0"/>
                <a:ea typeface="宋体" panose="02010600030101010101" pitchFamily="2" charset="-122"/>
              </a:rPr>
              <a:t>j</a:t>
            </a:r>
            <a:r>
              <a:rPr kumimoji="1" lang="en-US" altLang="zh-CN" b="1" i="1" dirty="0" err="1">
                <a:solidFill>
                  <a:srgbClr val="000000"/>
                </a:solidFill>
                <a:latin typeface="Times New Roman" panose="02020603050405020304" pitchFamily="18" charset="0"/>
                <a:ea typeface="宋体" panose="02010600030101010101" pitchFamily="2" charset="-122"/>
              </a:rPr>
              <a:t>Ω</a:t>
            </a:r>
            <a:r>
              <a:rPr kumimoji="1" lang="en-US" altLang="zh-CN" b="1" dirty="0">
                <a:solidFill>
                  <a:srgbClr val="000000"/>
                </a:solidFill>
                <a:latin typeface="Times New Roman" panose="02020603050405020304" pitchFamily="18" charset="0"/>
                <a:ea typeface="宋体" panose="02010600030101010101" pitchFamily="2" charset="-122"/>
              </a:rPr>
              <a:t>)|</a:t>
            </a:r>
            <a:r>
              <a:rPr kumimoji="1" lang="en-US" altLang="zh-CN" b="1" baseline="30000" dirty="0">
                <a:solidFill>
                  <a:srgbClr val="000000"/>
                </a:solidFill>
                <a:latin typeface="Times New Roman" panose="02020603050405020304" pitchFamily="18" charset="0"/>
                <a:ea typeface="宋体" panose="02010600030101010101" pitchFamily="2" charset="-122"/>
              </a:rPr>
              <a:t>2</a:t>
            </a:r>
            <a:r>
              <a:rPr kumimoji="1" lang="en-US" altLang="zh-CN" b="1" dirty="0">
                <a:solidFill>
                  <a:srgbClr val="000000"/>
                </a:solidFill>
                <a:latin typeface="Times New Roman" panose="02020603050405020304" pitchFamily="18" charset="0"/>
                <a:ea typeface="宋体" panose="02010600030101010101" pitchFamily="2" charset="-122"/>
              </a:rPr>
              <a:t>=</a:t>
            </a:r>
            <a:r>
              <a:rPr kumimoji="1" lang="en-US" altLang="zh-CN" b="1" i="1" dirty="0" err="1">
                <a:solidFill>
                  <a:srgbClr val="000000"/>
                </a:solidFill>
                <a:latin typeface="Times New Roman" panose="02020603050405020304" pitchFamily="18" charset="0"/>
                <a:ea typeface="宋体" panose="02010600030101010101" pitchFamily="2" charset="-122"/>
              </a:rPr>
              <a:t>A</a:t>
            </a:r>
            <a:r>
              <a:rPr kumimoji="1" lang="en-US" altLang="zh-CN" b="1" baseline="-25000" dirty="0" err="1">
                <a:solidFill>
                  <a:srgbClr val="000000"/>
                </a:solidFill>
                <a:latin typeface="Times New Roman" panose="02020603050405020304" pitchFamily="18" charset="0"/>
                <a:ea typeface="宋体" panose="02010600030101010101" pitchFamily="2" charset="-122"/>
              </a:rPr>
              <a:t>p</a:t>
            </a:r>
            <a:r>
              <a:rPr kumimoji="1" lang="en-US" altLang="zh-CN" b="1" dirty="0">
                <a:solidFill>
                  <a:srgbClr val="000000"/>
                </a:solidFill>
                <a:latin typeface="Times New Roman" panose="02020603050405020304" pitchFamily="18" charset="0"/>
                <a:ea typeface="宋体" panose="02010600030101010101" pitchFamily="2" charset="-122"/>
              </a:rPr>
              <a:t>,</a:t>
            </a:r>
            <a:endParaRPr lang="zh-CN" altLang="en-US" dirty="0"/>
          </a:p>
        </p:txBody>
      </p:sp>
      <p:sp>
        <p:nvSpPr>
          <p:cNvPr id="93" name="矩形 92"/>
          <p:cNvSpPr/>
          <p:nvPr/>
        </p:nvSpPr>
        <p:spPr>
          <a:xfrm>
            <a:off x="764387" y="4821501"/>
            <a:ext cx="3374642" cy="369332"/>
          </a:xfrm>
          <a:prstGeom prst="rect">
            <a:avLst/>
          </a:prstGeom>
        </p:spPr>
        <p:txBody>
          <a:bodyPr wrap="none">
            <a:spAutoFit/>
          </a:bodyPr>
          <a:lstStyle/>
          <a:p>
            <a:r>
              <a:rPr kumimoji="1" lang="zh-CN" altLang="en-US" b="1" dirty="0">
                <a:solidFill>
                  <a:srgbClr val="000000"/>
                </a:solidFill>
                <a:latin typeface="Times New Roman" panose="02020603050405020304" pitchFamily="18" charset="0"/>
              </a:rPr>
              <a:t>（</a:t>
            </a:r>
            <a:r>
              <a:rPr kumimoji="1" lang="en-US" altLang="zh-CN" b="1" dirty="0">
                <a:solidFill>
                  <a:srgbClr val="000000"/>
                </a:solidFill>
                <a:latin typeface="Times New Roman" panose="02020603050405020304" pitchFamily="18" charset="0"/>
              </a:rPr>
              <a:t>2</a:t>
            </a:r>
            <a:r>
              <a:rPr kumimoji="1" lang="zh-CN" altLang="en-US" b="1" dirty="0">
                <a:solidFill>
                  <a:srgbClr val="000000"/>
                </a:solidFill>
                <a:latin typeface="Times New Roman" panose="02020603050405020304" pitchFamily="18" charset="0"/>
              </a:rPr>
              <a:t>） 在</a:t>
            </a:r>
            <a:r>
              <a:rPr kumimoji="1" lang="en-US" altLang="zh-CN" b="1" i="1" dirty="0">
                <a:solidFill>
                  <a:srgbClr val="000000"/>
                </a:solidFill>
                <a:latin typeface="Times New Roman" panose="02020603050405020304" pitchFamily="18" charset="0"/>
              </a:rPr>
              <a:t>Ω</a:t>
            </a:r>
            <a:r>
              <a:rPr kumimoji="1" lang="en-US" altLang="zh-CN" b="1" dirty="0">
                <a:solidFill>
                  <a:srgbClr val="000000"/>
                </a:solidFill>
                <a:latin typeface="Times New Roman" panose="02020603050405020304" pitchFamily="18" charset="0"/>
              </a:rPr>
              <a:t>=</a:t>
            </a:r>
            <a:r>
              <a:rPr kumimoji="1" lang="en-US" altLang="zh-CN" b="1" i="1" dirty="0" err="1">
                <a:solidFill>
                  <a:srgbClr val="000000"/>
                </a:solidFill>
                <a:latin typeface="Times New Roman" panose="02020603050405020304" pitchFamily="18" charset="0"/>
              </a:rPr>
              <a:t>Ω</a:t>
            </a:r>
            <a:r>
              <a:rPr kumimoji="1" lang="en-US" altLang="zh-CN" b="1" baseline="-25000" dirty="0" err="1">
                <a:solidFill>
                  <a:srgbClr val="000000"/>
                </a:solidFill>
                <a:latin typeface="Times New Roman" panose="02020603050405020304" pitchFamily="18" charset="0"/>
              </a:rPr>
              <a:t>s</a:t>
            </a:r>
            <a:r>
              <a:rPr kumimoji="1" lang="en-US" altLang="zh-CN" b="1" dirty="0">
                <a:solidFill>
                  <a:srgbClr val="000000"/>
                </a:solidFill>
                <a:latin typeface="Times New Roman" panose="02020603050405020304" pitchFamily="18" charset="0"/>
              </a:rPr>
              <a:t>, -10lg|</a:t>
            </a:r>
            <a:r>
              <a:rPr kumimoji="1" lang="en-US" altLang="zh-CN" b="1" i="1" dirty="0">
                <a:solidFill>
                  <a:srgbClr val="000000"/>
                </a:solidFill>
                <a:latin typeface="Times New Roman" panose="02020603050405020304" pitchFamily="18" charset="0"/>
              </a:rPr>
              <a:t>H</a:t>
            </a:r>
            <a:r>
              <a:rPr kumimoji="1" lang="en-US" altLang="zh-CN" b="1" baseline="-25000" dirty="0">
                <a:solidFill>
                  <a:srgbClr val="000000"/>
                </a:solidFill>
                <a:latin typeface="Times New Roman" panose="02020603050405020304" pitchFamily="18" charset="0"/>
              </a:rPr>
              <a:t>a</a:t>
            </a:r>
            <a:r>
              <a:rPr kumimoji="1" lang="en-US" altLang="zh-CN" b="1" dirty="0">
                <a:solidFill>
                  <a:srgbClr val="000000"/>
                </a:solidFill>
                <a:latin typeface="Times New Roman" panose="02020603050405020304" pitchFamily="18" charset="0"/>
              </a:rPr>
              <a:t>(</a:t>
            </a:r>
            <a:r>
              <a:rPr kumimoji="1" lang="en-US" altLang="zh-CN" b="1" dirty="0" err="1">
                <a:solidFill>
                  <a:srgbClr val="000000"/>
                </a:solidFill>
                <a:latin typeface="Times New Roman" panose="02020603050405020304" pitchFamily="18" charset="0"/>
              </a:rPr>
              <a:t>j</a:t>
            </a:r>
            <a:r>
              <a:rPr kumimoji="1" lang="en-US" altLang="zh-CN" b="1" i="1" dirty="0" err="1">
                <a:solidFill>
                  <a:srgbClr val="000000"/>
                </a:solidFill>
                <a:latin typeface="Times New Roman" panose="02020603050405020304" pitchFamily="18" charset="0"/>
              </a:rPr>
              <a:t>Ω</a:t>
            </a:r>
            <a:r>
              <a:rPr kumimoji="1" lang="en-US" altLang="zh-CN" b="1" dirty="0">
                <a:solidFill>
                  <a:srgbClr val="000000"/>
                </a:solidFill>
                <a:latin typeface="Times New Roman" panose="02020603050405020304" pitchFamily="18" charset="0"/>
              </a:rPr>
              <a:t>)|</a:t>
            </a:r>
            <a:r>
              <a:rPr kumimoji="1" lang="en-US" altLang="zh-CN" b="1" baseline="30000" dirty="0">
                <a:solidFill>
                  <a:srgbClr val="000000"/>
                </a:solidFill>
                <a:latin typeface="Times New Roman" panose="02020603050405020304" pitchFamily="18" charset="0"/>
              </a:rPr>
              <a:t>2</a:t>
            </a:r>
            <a:r>
              <a:rPr kumimoji="1" lang="en-US" altLang="zh-CN" b="1" dirty="0">
                <a:solidFill>
                  <a:srgbClr val="000000"/>
                </a:solidFill>
                <a:latin typeface="Times New Roman" panose="02020603050405020304" pitchFamily="18" charset="0"/>
              </a:rPr>
              <a:t>=</a:t>
            </a:r>
            <a:r>
              <a:rPr kumimoji="1" lang="en-US" altLang="zh-CN" b="1" i="1" dirty="0">
                <a:solidFill>
                  <a:srgbClr val="000000"/>
                </a:solidFill>
                <a:latin typeface="Times New Roman" panose="02020603050405020304" pitchFamily="18" charset="0"/>
              </a:rPr>
              <a:t>A</a:t>
            </a:r>
            <a:r>
              <a:rPr kumimoji="1" lang="en-US" altLang="zh-CN" b="1" baseline="-25000" dirty="0">
                <a:solidFill>
                  <a:srgbClr val="000000"/>
                </a:solidFill>
                <a:latin typeface="Times New Roman" panose="02020603050405020304" pitchFamily="18" charset="0"/>
              </a:rPr>
              <a:t>s</a:t>
            </a:r>
            <a:endParaRPr lang="zh-CN" altLang="en-US" b="1" dirty="0"/>
          </a:p>
        </p:txBody>
      </p:sp>
      <p:graphicFrame>
        <p:nvGraphicFramePr>
          <p:cNvPr id="94" name="Object 11"/>
          <p:cNvGraphicFramePr>
            <a:graphicFrameLocks noChangeAspect="1"/>
          </p:cNvGraphicFramePr>
          <p:nvPr>
            <p:extLst>
              <p:ext uri="{D42A27DB-BD31-4B8C-83A1-F6EECF244321}">
                <p14:modId xmlns:p14="http://schemas.microsoft.com/office/powerpoint/2010/main" val="811568996"/>
              </p:ext>
            </p:extLst>
          </p:nvPr>
        </p:nvGraphicFramePr>
        <p:xfrm>
          <a:off x="5561541" y="3756289"/>
          <a:ext cx="3549650" cy="862013"/>
        </p:xfrm>
        <a:graphic>
          <a:graphicData uri="http://schemas.openxmlformats.org/presentationml/2006/ole">
            <mc:AlternateContent xmlns:mc="http://schemas.openxmlformats.org/markup-compatibility/2006">
              <mc:Choice xmlns:v="urn:schemas-microsoft-com:vml" Requires="v">
                <p:oleObj spid="_x0000_s46115" name="Equation" r:id="rId4" imgW="2095500" imgH="508000" progId="Equation.DSMT4">
                  <p:embed/>
                </p:oleObj>
              </mc:Choice>
              <mc:Fallback>
                <p:oleObj name="Equation" r:id="rId4" imgW="2095500" imgH="508000" progId="Equation.DSMT4">
                  <p:embed/>
                  <p:pic>
                    <p:nvPicPr>
                      <p:cNvPr id="132104"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1541" y="3756289"/>
                        <a:ext cx="3549650"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 name="Object 5"/>
          <p:cNvGraphicFramePr>
            <a:graphicFrameLocks noChangeAspect="1"/>
          </p:cNvGraphicFramePr>
          <p:nvPr>
            <p:extLst>
              <p:ext uri="{D42A27DB-BD31-4B8C-83A1-F6EECF244321}">
                <p14:modId xmlns:p14="http://schemas.microsoft.com/office/powerpoint/2010/main" val="808039714"/>
              </p:ext>
            </p:extLst>
          </p:nvPr>
        </p:nvGraphicFramePr>
        <p:xfrm>
          <a:off x="5640849" y="4882092"/>
          <a:ext cx="3048000" cy="1206500"/>
        </p:xfrm>
        <a:graphic>
          <a:graphicData uri="http://schemas.openxmlformats.org/presentationml/2006/ole">
            <mc:AlternateContent xmlns:mc="http://schemas.openxmlformats.org/markup-compatibility/2006">
              <mc:Choice xmlns:v="urn:schemas-microsoft-com:vml" Requires="v">
                <p:oleObj spid="_x0000_s46116" name="Equation" r:id="rId6" imgW="1155700" imgH="457200" progId="Equation.DSMT4">
                  <p:embed/>
                </p:oleObj>
              </mc:Choice>
              <mc:Fallback>
                <p:oleObj name="Equation" r:id="rId6" imgW="1155700" imgH="457200" progId="Equation.DSMT4">
                  <p:embed/>
                  <p:pic>
                    <p:nvPicPr>
                      <p:cNvPr id="133124"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0849" y="4882092"/>
                        <a:ext cx="3048000" cy="120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 name="Object 8"/>
          <p:cNvGraphicFramePr>
            <a:graphicFrameLocks noChangeAspect="1"/>
          </p:cNvGraphicFramePr>
          <p:nvPr>
            <p:extLst>
              <p:ext uri="{D42A27DB-BD31-4B8C-83A1-F6EECF244321}">
                <p14:modId xmlns:p14="http://schemas.microsoft.com/office/powerpoint/2010/main" val="912084267"/>
              </p:ext>
            </p:extLst>
          </p:nvPr>
        </p:nvGraphicFramePr>
        <p:xfrm>
          <a:off x="8859309" y="5015442"/>
          <a:ext cx="3014663" cy="1139825"/>
        </p:xfrm>
        <a:graphic>
          <a:graphicData uri="http://schemas.openxmlformats.org/presentationml/2006/ole">
            <mc:AlternateContent xmlns:mc="http://schemas.openxmlformats.org/markup-compatibility/2006">
              <mc:Choice xmlns:v="urn:schemas-microsoft-com:vml" Requires="v">
                <p:oleObj spid="_x0000_s46117" name="Equation" r:id="rId8" imgW="1143000" imgH="431800" progId="Equation.DSMT4">
                  <p:embed/>
                </p:oleObj>
              </mc:Choice>
              <mc:Fallback>
                <p:oleObj name="Equation" r:id="rId8" imgW="1143000" imgH="431800" progId="Equation.DSMT4">
                  <p:embed/>
                  <p:pic>
                    <p:nvPicPr>
                      <p:cNvPr id="133126"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59309" y="5015442"/>
                        <a:ext cx="3014663"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7" name="Group 86"/>
          <p:cNvGrpSpPr>
            <a:grpSpLocks/>
          </p:cNvGrpSpPr>
          <p:nvPr/>
        </p:nvGrpSpPr>
        <p:grpSpPr bwMode="auto">
          <a:xfrm>
            <a:off x="315879" y="5400669"/>
            <a:ext cx="6019800" cy="550862"/>
            <a:chOff x="384" y="2880"/>
            <a:chExt cx="3792" cy="347"/>
          </a:xfrm>
        </p:grpSpPr>
        <p:graphicFrame>
          <p:nvGraphicFramePr>
            <p:cNvPr id="98" name="Object 87"/>
            <p:cNvGraphicFramePr>
              <a:graphicFrameLocks noChangeAspect="1"/>
            </p:cNvGraphicFramePr>
            <p:nvPr/>
          </p:nvGraphicFramePr>
          <p:xfrm>
            <a:off x="384" y="2880"/>
            <a:ext cx="2097" cy="347"/>
          </p:xfrm>
          <a:graphic>
            <a:graphicData uri="http://schemas.openxmlformats.org/presentationml/2006/ole">
              <mc:AlternateContent xmlns:mc="http://schemas.openxmlformats.org/markup-compatibility/2006">
                <mc:Choice xmlns:v="urn:schemas-microsoft-com:vml" Requires="v">
                  <p:oleObj spid="_x0000_s46118" name="Equation" r:id="rId10" imgW="1447560" imgH="241200" progId="Equation.DSMT4">
                    <p:embed/>
                  </p:oleObj>
                </mc:Choice>
                <mc:Fallback>
                  <p:oleObj name="Equation" r:id="rId10" imgW="1447560" imgH="241200" progId="Equation.DSMT4">
                    <p:embed/>
                    <p:pic>
                      <p:nvPicPr>
                        <p:cNvPr id="55383" name="Object 8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 y="2880"/>
                          <a:ext cx="2097"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 name="Text Box 88"/>
            <p:cNvSpPr txBox="1">
              <a:spLocks noChangeArrowheads="1"/>
            </p:cNvSpPr>
            <p:nvPr/>
          </p:nvSpPr>
          <p:spPr bwMode="auto">
            <a:xfrm>
              <a:off x="2544" y="2880"/>
              <a:ext cx="16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omic Sans MS"/>
                  <a:ea typeface="+mn-ea"/>
                  <a:cs typeface="+mn-cs"/>
                </a:rPr>
                <a:t>通带衰减</a:t>
              </a:r>
              <a:r>
                <a:rPr kumimoji="0" lang="en-US" altLang="zh-CN" sz="1800" b="0" i="0" u="none" strike="noStrike" kern="1200" cap="none" spc="0" normalizeH="0" baseline="0" noProof="0" dirty="0">
                  <a:ln>
                    <a:noFill/>
                  </a:ln>
                  <a:solidFill>
                    <a:srgbClr val="000000"/>
                  </a:solidFill>
                  <a:effectLst/>
                  <a:uLnTx/>
                  <a:uFillTx/>
                  <a:latin typeface="Comic Sans MS"/>
                  <a:ea typeface="+mn-ea"/>
                  <a:cs typeface="+mn-cs"/>
                </a:rPr>
                <a:t>(dB)</a:t>
              </a:r>
            </a:p>
          </p:txBody>
        </p:sp>
      </p:grpSp>
      <p:grpSp>
        <p:nvGrpSpPr>
          <p:cNvPr id="100" name="Group 89"/>
          <p:cNvGrpSpPr>
            <a:grpSpLocks/>
          </p:cNvGrpSpPr>
          <p:nvPr/>
        </p:nvGrpSpPr>
        <p:grpSpPr bwMode="auto">
          <a:xfrm>
            <a:off x="239679" y="6103937"/>
            <a:ext cx="5486400" cy="525463"/>
            <a:chOff x="336" y="3312"/>
            <a:chExt cx="3456" cy="331"/>
          </a:xfrm>
        </p:grpSpPr>
        <p:graphicFrame>
          <p:nvGraphicFramePr>
            <p:cNvPr id="101" name="Object 90"/>
            <p:cNvGraphicFramePr>
              <a:graphicFrameLocks noChangeAspect="1"/>
            </p:cNvGraphicFramePr>
            <p:nvPr/>
          </p:nvGraphicFramePr>
          <p:xfrm>
            <a:off x="336" y="3312"/>
            <a:ext cx="1601" cy="331"/>
          </p:xfrm>
          <a:graphic>
            <a:graphicData uri="http://schemas.openxmlformats.org/presentationml/2006/ole">
              <mc:AlternateContent xmlns:mc="http://schemas.openxmlformats.org/markup-compatibility/2006">
                <mc:Choice xmlns:v="urn:schemas-microsoft-com:vml" Requires="v">
                  <p:oleObj spid="_x0000_s46119" name="公式" r:id="rId12" imgW="1104840" imgH="228600" progId="Equation.3">
                    <p:embed/>
                  </p:oleObj>
                </mc:Choice>
                <mc:Fallback>
                  <p:oleObj name="公式" r:id="rId12" imgW="1104840" imgH="228600" progId="Equation.3">
                    <p:embed/>
                    <p:pic>
                      <p:nvPicPr>
                        <p:cNvPr id="55386" name="Object 9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6" y="3312"/>
                          <a:ext cx="1601"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 name="Text Box 91"/>
            <p:cNvSpPr txBox="1">
              <a:spLocks noChangeArrowheads="1"/>
            </p:cNvSpPr>
            <p:nvPr/>
          </p:nvSpPr>
          <p:spPr bwMode="auto">
            <a:xfrm>
              <a:off x="2544" y="3360"/>
              <a:ext cx="124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Comic Sans MS"/>
                  <a:ea typeface="+mn-ea"/>
                  <a:cs typeface="+mn-cs"/>
                </a:rPr>
                <a:t>阻带衰减</a:t>
              </a: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(dB)</a:t>
              </a:r>
            </a:p>
          </p:txBody>
        </p:sp>
      </p:grpSp>
    </p:spTree>
    <p:extLst>
      <p:ext uri="{BB962C8B-B14F-4D97-AF65-F5344CB8AC3E}">
        <p14:creationId xmlns:p14="http://schemas.microsoft.com/office/powerpoint/2010/main" val="84479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0-#ppt_w/2"/>
                                          </p:val>
                                        </p:tav>
                                        <p:tav tm="100000">
                                          <p:val>
                                            <p:strVal val="#ppt_x"/>
                                          </p:val>
                                        </p:tav>
                                      </p:tavLst>
                                    </p:anim>
                                    <p:anim calcmode="lin" valueType="num">
                                      <p:cBhvr additive="base">
                                        <p:cTn id="8" dur="500" fill="hold"/>
                                        <p:tgtEl>
                                          <p:spTgt spid="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4"/>
                                        </p:tgtEl>
                                        <p:attrNameLst>
                                          <p:attrName>style.visibility</p:attrName>
                                        </p:attrNameLst>
                                      </p:cBhvr>
                                      <p:to>
                                        <p:strVal val="visible"/>
                                      </p:to>
                                    </p:set>
                                    <p:anim calcmode="lin" valueType="num">
                                      <p:cBhvr additive="base">
                                        <p:cTn id="13" dur="500" fill="hold"/>
                                        <p:tgtEl>
                                          <p:spTgt spid="84"/>
                                        </p:tgtEl>
                                        <p:attrNameLst>
                                          <p:attrName>ppt_x</p:attrName>
                                        </p:attrNameLst>
                                      </p:cBhvr>
                                      <p:tavLst>
                                        <p:tav tm="0">
                                          <p:val>
                                            <p:strVal val="0-#ppt_w/2"/>
                                          </p:val>
                                        </p:tav>
                                        <p:tav tm="100000">
                                          <p:val>
                                            <p:strVal val="#ppt_x"/>
                                          </p:val>
                                        </p:tav>
                                      </p:tavLst>
                                    </p:anim>
                                    <p:anim calcmode="lin" valueType="num">
                                      <p:cBhvr additive="base">
                                        <p:cTn id="14"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anim calcmode="lin" valueType="num">
                                      <p:cBhvr additive="base">
                                        <p:cTn id="19" dur="500" fill="hold"/>
                                        <p:tgtEl>
                                          <p:spTgt spid="85"/>
                                        </p:tgtEl>
                                        <p:attrNameLst>
                                          <p:attrName>ppt_x</p:attrName>
                                        </p:attrNameLst>
                                      </p:cBhvr>
                                      <p:tavLst>
                                        <p:tav tm="0">
                                          <p:val>
                                            <p:strVal val="0-#ppt_w/2"/>
                                          </p:val>
                                        </p:tav>
                                        <p:tav tm="100000">
                                          <p:val>
                                            <p:strVal val="#ppt_x"/>
                                          </p:val>
                                        </p:tav>
                                      </p:tavLst>
                                    </p:anim>
                                    <p:anim calcmode="lin" valueType="num">
                                      <p:cBhvr additive="base">
                                        <p:cTn id="20"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0"/>
                                        </p:tgtEl>
                                        <p:attrNameLst>
                                          <p:attrName>style.visibility</p:attrName>
                                        </p:attrNameLst>
                                      </p:cBhvr>
                                      <p:to>
                                        <p:strVal val="visible"/>
                                      </p:to>
                                    </p:set>
                                    <p:anim calcmode="lin" valueType="num">
                                      <p:cBhvr additive="base">
                                        <p:cTn id="25" dur="500" fill="hold"/>
                                        <p:tgtEl>
                                          <p:spTgt spid="90"/>
                                        </p:tgtEl>
                                        <p:attrNameLst>
                                          <p:attrName>ppt_x</p:attrName>
                                        </p:attrNameLst>
                                      </p:cBhvr>
                                      <p:tavLst>
                                        <p:tav tm="0">
                                          <p:val>
                                            <p:strVal val="0-#ppt_w/2"/>
                                          </p:val>
                                        </p:tav>
                                        <p:tav tm="100000">
                                          <p:val>
                                            <p:strVal val="#ppt_x"/>
                                          </p:val>
                                        </p:tav>
                                      </p:tavLst>
                                    </p:anim>
                                    <p:anim calcmode="lin" valueType="num">
                                      <p:cBhvr additive="base">
                                        <p:cTn id="26"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7"/>
                                        </p:tgtEl>
                                        <p:attrNameLst>
                                          <p:attrName>style.visibility</p:attrName>
                                        </p:attrNameLst>
                                      </p:cBhvr>
                                      <p:to>
                                        <p:strVal val="visible"/>
                                      </p:to>
                                    </p:set>
                                    <p:anim calcmode="lin" valueType="num">
                                      <p:cBhvr additive="base">
                                        <p:cTn id="31" dur="500" fill="hold"/>
                                        <p:tgtEl>
                                          <p:spTgt spid="97"/>
                                        </p:tgtEl>
                                        <p:attrNameLst>
                                          <p:attrName>ppt_x</p:attrName>
                                        </p:attrNameLst>
                                      </p:cBhvr>
                                      <p:tavLst>
                                        <p:tav tm="0">
                                          <p:val>
                                            <p:strVal val="0-#ppt_w/2"/>
                                          </p:val>
                                        </p:tav>
                                        <p:tav tm="100000">
                                          <p:val>
                                            <p:strVal val="#ppt_x"/>
                                          </p:val>
                                        </p:tav>
                                      </p:tavLst>
                                    </p:anim>
                                    <p:anim calcmode="lin" valueType="num">
                                      <p:cBhvr additive="base">
                                        <p:cTn id="32"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0"/>
                                        </p:tgtEl>
                                        <p:attrNameLst>
                                          <p:attrName>style.visibility</p:attrName>
                                        </p:attrNameLst>
                                      </p:cBhvr>
                                      <p:to>
                                        <p:strVal val="visible"/>
                                      </p:to>
                                    </p:set>
                                    <p:anim calcmode="lin" valueType="num">
                                      <p:cBhvr additive="base">
                                        <p:cTn id="37" dur="500" fill="hold"/>
                                        <p:tgtEl>
                                          <p:spTgt spid="100"/>
                                        </p:tgtEl>
                                        <p:attrNameLst>
                                          <p:attrName>ppt_x</p:attrName>
                                        </p:attrNameLst>
                                      </p:cBhvr>
                                      <p:tavLst>
                                        <p:tav tm="0">
                                          <p:val>
                                            <p:strVal val="0-#ppt_w/2"/>
                                          </p:val>
                                        </p:tav>
                                        <p:tav tm="100000">
                                          <p:val>
                                            <p:strVal val="#ppt_x"/>
                                          </p:val>
                                        </p:tav>
                                      </p:tavLst>
                                    </p:anim>
                                    <p:anim calcmode="lin" valueType="num">
                                      <p:cBhvr additive="base">
                                        <p:cTn id="38" dur="500" fill="hold"/>
                                        <p:tgtEl>
                                          <p:spTgt spid="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utoUpdateAnimBg="0"/>
      <p:bldP spid="90"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eaLnBrk="0" fontAlgn="base" hangingPunct="0">
              <a:spcBef>
                <a:spcPct val="0"/>
              </a:spcBef>
              <a:spcAft>
                <a:spcPct val="0"/>
              </a:spcAft>
            </a:pPr>
            <a:fld id="{8E688483-54E8-444F-A583-0A553B1CE948}" type="slidenum">
              <a:rPr lang="zh-CN" altLang="en-US" smtClean="0">
                <a:solidFill>
                  <a:srgbClr val="000000"/>
                </a:solidFill>
                <a:ea typeface="宋体" panose="02010600030101010101" pitchFamily="2" charset="-122"/>
              </a:rPr>
              <a:pPr eaLnBrk="0" fontAlgn="base" hangingPunct="0">
                <a:spcBef>
                  <a:spcPct val="0"/>
                </a:spcBef>
                <a:spcAft>
                  <a:spcPct val="0"/>
                </a:spcAft>
              </a:pPr>
              <a:t>7</a:t>
            </a:fld>
            <a:endParaRPr lang="en-US" altLang="zh-CN">
              <a:solidFill>
                <a:srgbClr val="000000"/>
              </a:solidFill>
              <a:ea typeface="宋体" panose="02010600030101010101" pitchFamily="2" charset="-122"/>
            </a:endParaRPr>
          </a:p>
        </p:txBody>
      </p:sp>
      <p:graphicFrame>
        <p:nvGraphicFramePr>
          <p:cNvPr id="3" name="Object 5"/>
          <p:cNvGraphicFramePr>
            <a:graphicFrameLocks noChangeAspect="1"/>
          </p:cNvGraphicFramePr>
          <p:nvPr>
            <p:extLst>
              <p:ext uri="{D42A27DB-BD31-4B8C-83A1-F6EECF244321}">
                <p14:modId xmlns:p14="http://schemas.microsoft.com/office/powerpoint/2010/main" val="2542145722"/>
              </p:ext>
            </p:extLst>
          </p:nvPr>
        </p:nvGraphicFramePr>
        <p:xfrm>
          <a:off x="4715934" y="2204484"/>
          <a:ext cx="3352800" cy="863600"/>
        </p:xfrm>
        <a:graphic>
          <a:graphicData uri="http://schemas.openxmlformats.org/presentationml/2006/ole">
            <mc:AlternateContent xmlns:mc="http://schemas.openxmlformats.org/markup-compatibility/2006">
              <mc:Choice xmlns:v="urn:schemas-microsoft-com:vml" Requires="v">
                <p:oleObj spid="_x0000_s47134" name="Equation" r:id="rId3" imgW="1676400" imgH="431800" progId="Equation.DSMT4">
                  <p:embed/>
                </p:oleObj>
              </mc:Choice>
              <mc:Fallback>
                <p:oleObj name="Equation" r:id="rId3" imgW="1676400" imgH="431800" progId="Equation.DSMT4">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5934" y="2204484"/>
                        <a:ext cx="33528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5"/>
          <p:cNvGraphicFramePr>
            <a:graphicFrameLocks noChangeAspect="1"/>
          </p:cNvGraphicFramePr>
          <p:nvPr>
            <p:extLst>
              <p:ext uri="{D42A27DB-BD31-4B8C-83A1-F6EECF244321}">
                <p14:modId xmlns:p14="http://schemas.microsoft.com/office/powerpoint/2010/main" val="2627650982"/>
              </p:ext>
            </p:extLst>
          </p:nvPr>
        </p:nvGraphicFramePr>
        <p:xfrm>
          <a:off x="1363134" y="3993271"/>
          <a:ext cx="3352800" cy="1289050"/>
        </p:xfrm>
        <a:graphic>
          <a:graphicData uri="http://schemas.openxmlformats.org/presentationml/2006/ole">
            <mc:AlternateContent xmlns:mc="http://schemas.openxmlformats.org/markup-compatibility/2006">
              <mc:Choice xmlns:v="urn:schemas-microsoft-com:vml" Requires="v">
                <p:oleObj spid="_x0000_s47135" name="Equation" r:id="rId5" imgW="1816100" imgH="698500" progId="Equation.DSMT4">
                  <p:embed/>
                </p:oleObj>
              </mc:Choice>
              <mc:Fallback>
                <p:oleObj name="Equation" r:id="rId5" imgW="1816100" imgH="698500" progId="Equation.DSMT4">
                  <p:embed/>
                  <p:pic>
                    <p:nvPicPr>
                      <p:cNvPr id="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3134" y="3993271"/>
                        <a:ext cx="335280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2890847854"/>
              </p:ext>
            </p:extLst>
          </p:nvPr>
        </p:nvGraphicFramePr>
        <p:xfrm>
          <a:off x="5413924" y="3971130"/>
          <a:ext cx="3962400" cy="727075"/>
        </p:xfrm>
        <a:graphic>
          <a:graphicData uri="http://schemas.openxmlformats.org/presentationml/2006/ole">
            <mc:AlternateContent xmlns:mc="http://schemas.openxmlformats.org/markup-compatibility/2006">
              <mc:Choice xmlns:v="urn:schemas-microsoft-com:vml" Requires="v">
                <p:oleObj spid="_x0000_s47136" name="Equation" r:id="rId7" imgW="2006600" imgH="368300" progId="Equation.DSMT4">
                  <p:embed/>
                </p:oleObj>
              </mc:Choice>
              <mc:Fallback>
                <p:oleObj name="Equation" r:id="rId7" imgW="2006600" imgH="368300" progId="Equation.DSMT4">
                  <p:embed/>
                  <p:pic>
                    <p:nvPicPr>
                      <p:cNvPr id="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3924" y="3971130"/>
                        <a:ext cx="396240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文本框 6"/>
          <p:cNvSpPr txBox="1"/>
          <p:nvPr/>
        </p:nvSpPr>
        <p:spPr>
          <a:xfrm>
            <a:off x="474133" y="1558074"/>
            <a:ext cx="9495367" cy="461665"/>
          </a:xfrm>
          <a:prstGeom prst="rect">
            <a:avLst/>
          </a:prstGeom>
          <a:noFill/>
        </p:spPr>
        <p:txBody>
          <a:bodyPr wrap="square" rtlCol="0">
            <a:spAutoFit/>
          </a:bodyPr>
          <a:lstStyle/>
          <a:p>
            <a:r>
              <a:rPr lang="zh-CN" altLang="en-US" sz="2400" dirty="0" smtClean="0"/>
              <a:t>第一步根据求出的</a:t>
            </a:r>
            <a:r>
              <a:rPr lang="en-US" altLang="zh-CN" sz="2400" dirty="0" smtClean="0"/>
              <a:t>N</a:t>
            </a:r>
            <a:r>
              <a:rPr lang="zh-CN" altLang="en-US" sz="2400" dirty="0" smtClean="0"/>
              <a:t>和</a:t>
            </a:r>
            <a:r>
              <a:rPr lang="el-GR" altLang="zh-CN" sz="2400" dirty="0" smtClean="0"/>
              <a:t>Ω</a:t>
            </a:r>
            <a:r>
              <a:rPr lang="en-US" altLang="zh-CN" sz="2400" dirty="0" smtClean="0"/>
              <a:t>c</a:t>
            </a:r>
            <a:r>
              <a:rPr lang="zh-CN" altLang="en-US" sz="2400" dirty="0" smtClean="0"/>
              <a:t>，求出模拟系统频率响应函数</a:t>
            </a:r>
            <a:endParaRPr lang="zh-CN" altLang="en-US" sz="2400" dirty="0"/>
          </a:p>
        </p:txBody>
      </p:sp>
      <p:sp>
        <p:nvSpPr>
          <p:cNvPr id="8" name="文本框 7"/>
          <p:cNvSpPr txBox="1"/>
          <p:nvPr/>
        </p:nvSpPr>
        <p:spPr>
          <a:xfrm>
            <a:off x="503767" y="3112584"/>
            <a:ext cx="9495367" cy="830997"/>
          </a:xfrm>
          <a:prstGeom prst="rect">
            <a:avLst/>
          </a:prstGeom>
          <a:noFill/>
        </p:spPr>
        <p:txBody>
          <a:bodyPr wrap="square" rtlCol="0">
            <a:spAutoFit/>
          </a:bodyPr>
          <a:lstStyle/>
          <a:p>
            <a:r>
              <a:rPr lang="zh-CN" altLang="en-US" sz="2400" dirty="0" smtClean="0"/>
              <a:t>第二步根据模拟系统频率响应函数和系统函数关系，选出极点并求出系统函数</a:t>
            </a:r>
            <a:endParaRPr lang="zh-CN" altLang="en-US" sz="2400" dirty="0"/>
          </a:p>
        </p:txBody>
      </p:sp>
      <p:sp>
        <p:nvSpPr>
          <p:cNvPr id="9" name="标题 1"/>
          <p:cNvSpPr txBox="1">
            <a:spLocks/>
          </p:cNvSpPr>
          <p:nvPr/>
        </p:nvSpPr>
        <p:spPr>
          <a:xfrm>
            <a:off x="474133" y="571914"/>
            <a:ext cx="4313237" cy="439737"/>
          </a:xfrm>
          <a:prstGeom prst="rect">
            <a:avLst/>
          </a:prstGeom>
        </p:spPr>
        <p:txBody>
          <a:bodyPr/>
          <a:lst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a:lstStyle>
          <a:p>
            <a:r>
              <a:rPr lang="zh-CN" altLang="en-US" sz="4000" kern="0" dirty="0" smtClean="0"/>
              <a:t>求模拟系统函数</a:t>
            </a:r>
            <a:endParaRPr lang="zh-CN" altLang="en-US" sz="4000" kern="0" dirty="0"/>
          </a:p>
        </p:txBody>
      </p:sp>
      <p:graphicFrame>
        <p:nvGraphicFramePr>
          <p:cNvPr id="10" name="Object 5"/>
          <p:cNvGraphicFramePr>
            <a:graphicFrameLocks noChangeAspect="1"/>
          </p:cNvGraphicFramePr>
          <p:nvPr>
            <p:extLst>
              <p:ext uri="{D42A27DB-BD31-4B8C-83A1-F6EECF244321}">
                <p14:modId xmlns:p14="http://schemas.microsoft.com/office/powerpoint/2010/main" val="1445112272"/>
              </p:ext>
            </p:extLst>
          </p:nvPr>
        </p:nvGraphicFramePr>
        <p:xfrm>
          <a:off x="1464733" y="5282321"/>
          <a:ext cx="2895600" cy="1506537"/>
        </p:xfrm>
        <a:graphic>
          <a:graphicData uri="http://schemas.openxmlformats.org/presentationml/2006/ole">
            <mc:AlternateContent xmlns:mc="http://schemas.openxmlformats.org/markup-compatibility/2006">
              <mc:Choice xmlns:v="urn:schemas-microsoft-com:vml" Requires="v">
                <p:oleObj spid="_x0000_s47137" name="Equation" r:id="rId9" imgW="1244600" imgH="647700" progId="Equation.DSMT4">
                  <p:embed/>
                </p:oleObj>
              </mc:Choice>
              <mc:Fallback>
                <p:oleObj name="Equation" r:id="rId9" imgW="1244600" imgH="647700" progId="Equation.DSMT4">
                  <p:embed/>
                  <p:pic>
                    <p:nvPicPr>
                      <p:cNvPr id="9"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64733" y="5282321"/>
                        <a:ext cx="2895600" cy="1506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741579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
          <p:cNvSpPr>
            <a:spLocks noGrp="1"/>
          </p:cNvSpPr>
          <p:nvPr>
            <p:ph type="title"/>
          </p:nvPr>
        </p:nvSpPr>
        <p:spPr>
          <a:xfrm>
            <a:off x="2819400" y="304800"/>
            <a:ext cx="7239000" cy="914400"/>
          </a:xfrm>
        </p:spPr>
        <p:txBody>
          <a:bodyPr/>
          <a:lstStyle/>
          <a:p>
            <a:r>
              <a:rPr lang="zh-CN" altLang="en-US" dirty="0" smtClean="0">
                <a:ea typeface="宋体" panose="02010600030101010101" pitchFamily="2" charset="-122"/>
              </a:rPr>
              <a:t>模拟滤波器的数字化方法</a:t>
            </a:r>
          </a:p>
        </p:txBody>
      </p:sp>
      <p:sp>
        <p:nvSpPr>
          <p:cNvPr id="14233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0FAE950-CAD8-4FF0-A186-8968BD5F297D}"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2340" name="Text Box 4"/>
          <p:cNvSpPr txBox="1">
            <a:spLocks noChangeArrowheads="1"/>
          </p:cNvSpPr>
          <p:nvPr/>
        </p:nvSpPr>
        <p:spPr bwMode="auto">
          <a:xfrm>
            <a:off x="1968500" y="1038225"/>
            <a:ext cx="8231188"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just" defTabSz="914400" rtl="0" eaLnBrk="1" fontAlgn="base" latinLnBrk="0" hangingPunct="1">
              <a:lnSpc>
                <a:spcPct val="130000"/>
              </a:lnSpc>
              <a:spcBef>
                <a:spcPct val="50000"/>
              </a:spcBef>
              <a:spcAft>
                <a:spcPct val="0"/>
              </a:spcAft>
              <a:buClrTx/>
              <a:buSzTx/>
              <a:buFontTx/>
              <a:buNone/>
              <a:tabLst/>
              <a:defRPr/>
            </a:pPr>
            <a:endPar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H</a:t>
            </a:r>
            <a:r>
              <a:rPr kumimoji="1" lang="en-US" altLang="zh-CN" sz="20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nT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设模拟滤波器的系统函数</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只有单阶极点，</a:t>
            </a:r>
            <a:endPar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因此可将 </a:t>
            </a:r>
          </a:p>
        </p:txBody>
      </p:sp>
      <p:graphicFrame>
        <p:nvGraphicFramePr>
          <p:cNvPr id="142341" name="Object 5"/>
          <p:cNvGraphicFramePr>
            <a:graphicFrameLocks noChangeAspect="1"/>
          </p:cNvGraphicFramePr>
          <p:nvPr/>
        </p:nvGraphicFramePr>
        <p:xfrm>
          <a:off x="3124200" y="3124200"/>
          <a:ext cx="1798638" cy="723900"/>
        </p:xfrm>
        <a:graphic>
          <a:graphicData uri="http://schemas.openxmlformats.org/presentationml/2006/ole">
            <mc:AlternateContent xmlns:mc="http://schemas.openxmlformats.org/markup-compatibility/2006">
              <mc:Choice xmlns:v="urn:schemas-microsoft-com:vml" Requires="v">
                <p:oleObj spid="_x0000_s41062" name="Equation" r:id="rId3" imgW="1104900" imgH="444500" progId="Equation.3">
                  <p:embed/>
                </p:oleObj>
              </mc:Choice>
              <mc:Fallback>
                <p:oleObj name="Equation" r:id="rId3" imgW="1104900" imgH="444500" progId="Equation.3">
                  <p:embed/>
                  <p:pic>
                    <p:nvPicPr>
                      <p:cNvPr id="1423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3124200"/>
                        <a:ext cx="17986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2" name="右箭头 3"/>
          <p:cNvSpPr>
            <a:spLocks noChangeArrowheads="1"/>
          </p:cNvSpPr>
          <p:nvPr/>
        </p:nvSpPr>
        <p:spPr bwMode="auto">
          <a:xfrm>
            <a:off x="3157538" y="1905001"/>
            <a:ext cx="349250" cy="144463"/>
          </a:xfrm>
          <a:prstGeom prst="rightArrow">
            <a:avLst>
              <a:gd name="adj1" fmla="val 50000"/>
              <a:gd name="adj2" fmla="val 49952"/>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rPr>
              <a:t> </a:t>
            </a:r>
            <a:endPar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
        <p:nvSpPr>
          <p:cNvPr id="142343" name="右箭头 4"/>
          <p:cNvSpPr>
            <a:spLocks noChangeArrowheads="1"/>
          </p:cNvSpPr>
          <p:nvPr/>
        </p:nvSpPr>
        <p:spPr bwMode="auto">
          <a:xfrm>
            <a:off x="4132264" y="1917701"/>
            <a:ext cx="287337" cy="130175"/>
          </a:xfrm>
          <a:prstGeom prst="rightArrow">
            <a:avLst>
              <a:gd name="adj1" fmla="val 50000"/>
              <a:gd name="adj2" fmla="val 49981"/>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
        <p:nvSpPr>
          <p:cNvPr id="142344" name="右箭头 8"/>
          <p:cNvSpPr>
            <a:spLocks noChangeArrowheads="1"/>
          </p:cNvSpPr>
          <p:nvPr/>
        </p:nvSpPr>
        <p:spPr bwMode="auto">
          <a:xfrm>
            <a:off x="5894389" y="1912939"/>
            <a:ext cx="288925" cy="130175"/>
          </a:xfrm>
          <a:prstGeom prst="rightArrow">
            <a:avLst>
              <a:gd name="adj1" fmla="val 50000"/>
              <a:gd name="adj2" fmla="val 50258"/>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graphicFrame>
        <p:nvGraphicFramePr>
          <p:cNvPr id="142345" name="对象 5"/>
          <p:cNvGraphicFramePr>
            <a:graphicFrameLocks noChangeAspect="1"/>
          </p:cNvGraphicFramePr>
          <p:nvPr/>
        </p:nvGraphicFramePr>
        <p:xfrm>
          <a:off x="5562600" y="3106738"/>
          <a:ext cx="3714750" cy="779462"/>
        </p:xfrm>
        <a:graphic>
          <a:graphicData uri="http://schemas.openxmlformats.org/presentationml/2006/ole">
            <mc:AlternateContent xmlns:mc="http://schemas.openxmlformats.org/markup-compatibility/2006">
              <mc:Choice xmlns:v="urn:schemas-microsoft-com:vml" Requires="v">
                <p:oleObj spid="_x0000_s41063" name="Equation" r:id="rId5" imgW="2057400" imgH="431800" progId="Equation.3">
                  <p:embed/>
                </p:oleObj>
              </mc:Choice>
              <mc:Fallback>
                <p:oleObj name="Equation" r:id="rId5" imgW="2057400" imgH="431800" progId="Equation.3">
                  <p:embed/>
                  <p:pic>
                    <p:nvPicPr>
                      <p:cNvPr id="142345"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3106738"/>
                        <a:ext cx="3714750" cy="779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6" name="对象 10"/>
          <p:cNvGraphicFramePr>
            <a:graphicFrameLocks noChangeAspect="1"/>
          </p:cNvGraphicFramePr>
          <p:nvPr/>
        </p:nvGraphicFramePr>
        <p:xfrm>
          <a:off x="3073400" y="4041776"/>
          <a:ext cx="5308600" cy="758825"/>
        </p:xfrm>
        <a:graphic>
          <a:graphicData uri="http://schemas.openxmlformats.org/presentationml/2006/ole">
            <mc:AlternateContent xmlns:mc="http://schemas.openxmlformats.org/markup-compatibility/2006">
              <mc:Choice xmlns:v="urn:schemas-microsoft-com:vml" Requires="v">
                <p:oleObj spid="_x0000_s41064" name="Equation" r:id="rId7" imgW="3022600" imgH="431800" progId="Equation.3">
                  <p:embed/>
                </p:oleObj>
              </mc:Choice>
              <mc:Fallback>
                <p:oleObj name="Equation" r:id="rId7" imgW="3022600" imgH="431800" progId="Equation.3">
                  <p:embed/>
                  <p:pic>
                    <p:nvPicPr>
                      <p:cNvPr id="142346"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3400" y="4041776"/>
                        <a:ext cx="53086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7" name="右箭头 3"/>
          <p:cNvSpPr>
            <a:spLocks noChangeArrowheads="1"/>
          </p:cNvSpPr>
          <p:nvPr/>
        </p:nvSpPr>
        <p:spPr bwMode="auto">
          <a:xfrm>
            <a:off x="5105400" y="3429001"/>
            <a:ext cx="349250" cy="144463"/>
          </a:xfrm>
          <a:prstGeom prst="rightArrow">
            <a:avLst>
              <a:gd name="adj1" fmla="val 50000"/>
              <a:gd name="adj2" fmla="val 49952"/>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rPr>
              <a:t> </a:t>
            </a:r>
            <a:endPar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graphicFrame>
        <p:nvGraphicFramePr>
          <p:cNvPr id="142348" name="对象 12"/>
          <p:cNvGraphicFramePr>
            <a:graphicFrameLocks noChangeAspect="1"/>
          </p:cNvGraphicFramePr>
          <p:nvPr/>
        </p:nvGraphicFramePr>
        <p:xfrm>
          <a:off x="3124201" y="4984750"/>
          <a:ext cx="6005513" cy="1568450"/>
        </p:xfrm>
        <a:graphic>
          <a:graphicData uri="http://schemas.openxmlformats.org/presentationml/2006/ole">
            <mc:AlternateContent xmlns:mc="http://schemas.openxmlformats.org/markup-compatibility/2006">
              <mc:Choice xmlns:v="urn:schemas-microsoft-com:vml" Requires="v">
                <p:oleObj spid="_x0000_s41065" name="Equation" r:id="rId9" imgW="3695700" imgH="965200" progId="Equation.3">
                  <p:embed/>
                </p:oleObj>
              </mc:Choice>
              <mc:Fallback>
                <p:oleObj name="Equation" r:id="rId9" imgW="3695700" imgH="965200" progId="Equation.3">
                  <p:embed/>
                  <p:pic>
                    <p:nvPicPr>
                      <p:cNvPr id="142348"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1" y="4984750"/>
                        <a:ext cx="6005513" cy="156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389904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标题 1"/>
          <p:cNvSpPr>
            <a:spLocks noGrp="1"/>
          </p:cNvSpPr>
          <p:nvPr>
            <p:ph type="title"/>
          </p:nvPr>
        </p:nvSpPr>
        <p:spPr>
          <a:xfrm>
            <a:off x="2819400" y="457200"/>
            <a:ext cx="7239000" cy="914400"/>
          </a:xfrm>
        </p:spPr>
        <p:txBody>
          <a:bodyPr/>
          <a:lstStyle/>
          <a:p>
            <a:r>
              <a:rPr lang="zh-CN" altLang="en-US" smtClean="0">
                <a:ea typeface="宋体" panose="02010600030101010101" pitchFamily="2" charset="-122"/>
              </a:rPr>
              <a:t>例题</a:t>
            </a:r>
          </a:p>
        </p:txBody>
      </p:sp>
      <p:sp>
        <p:nvSpPr>
          <p:cNvPr id="14438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8BB95AE2-F5E1-4AFC-837D-9D1CAFC5D3F1}"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9</a:t>
            </a:fld>
            <a:endParaRPr lang="en-US" altLang="zh-CN" sz="1400" b="0">
              <a:solidFill>
                <a:srgbClr val="000000"/>
              </a:solidFill>
              <a:latin typeface="Times New Roman" panose="02020603050405020304" pitchFamily="18" charset="0"/>
            </a:endParaRPr>
          </a:p>
        </p:txBody>
      </p:sp>
      <p:sp>
        <p:nvSpPr>
          <p:cNvPr id="144388" name="Text Box 4"/>
          <p:cNvSpPr txBox="1">
            <a:spLocks noChangeArrowheads="1"/>
          </p:cNvSpPr>
          <p:nvPr/>
        </p:nvSpPr>
        <p:spPr bwMode="auto">
          <a:xfrm>
            <a:off x="1889126" y="1454150"/>
            <a:ext cx="37322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例 </a:t>
            </a: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设模拟滤波器的系统函数为 </a:t>
            </a:r>
          </a:p>
        </p:txBody>
      </p:sp>
      <p:graphicFrame>
        <p:nvGraphicFramePr>
          <p:cNvPr id="144389" name="Object 5"/>
          <p:cNvGraphicFramePr>
            <a:graphicFrameLocks noChangeAspect="1"/>
          </p:cNvGraphicFramePr>
          <p:nvPr/>
        </p:nvGraphicFramePr>
        <p:xfrm>
          <a:off x="4129088" y="1905001"/>
          <a:ext cx="3778250" cy="709613"/>
        </p:xfrm>
        <a:graphic>
          <a:graphicData uri="http://schemas.openxmlformats.org/presentationml/2006/ole">
            <mc:AlternateContent xmlns:mc="http://schemas.openxmlformats.org/markup-compatibility/2006">
              <mc:Choice xmlns:v="urn:schemas-microsoft-com:vml" Requires="v">
                <p:oleObj spid="_x0000_s34847" name="Equation" r:id="rId3" imgW="2095500" imgH="393700" progId="Equation.3">
                  <p:embed/>
                </p:oleObj>
              </mc:Choice>
              <mc:Fallback>
                <p:oleObj name="Equation" r:id="rId3" imgW="2095500" imgH="393700" progId="Equation.3">
                  <p:embed/>
                  <p:pic>
                    <p:nvPicPr>
                      <p:cNvPr id="14438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9088" y="1905001"/>
                        <a:ext cx="377825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0" name="Text Box 6"/>
          <p:cNvSpPr txBox="1">
            <a:spLocks noChangeArrowheads="1"/>
          </p:cNvSpPr>
          <p:nvPr/>
        </p:nvSpPr>
        <p:spPr bwMode="auto">
          <a:xfrm>
            <a:off x="1798638" y="2800350"/>
            <a:ext cx="81073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试利用脉冲响应不变法将</a:t>
            </a:r>
            <a:r>
              <a:rPr kumimoji="1" lang="en-US" altLang="zh-CN" i="1">
                <a:solidFill>
                  <a:srgbClr val="000000"/>
                </a:solidFill>
                <a:latin typeface="Times New Roman" panose="02020603050405020304" pitchFamily="18" charset="0"/>
              </a:rPr>
              <a:t>H</a:t>
            </a:r>
            <a:r>
              <a:rPr kumimoji="1" lang="en-US" altLang="zh-CN" baseline="-25000">
                <a:solidFill>
                  <a:srgbClr val="000000"/>
                </a:solidFill>
                <a:latin typeface="Times New Roman" panose="02020603050405020304" pitchFamily="18" charset="0"/>
              </a:rPr>
              <a:t>a</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s</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转换成</a:t>
            </a:r>
            <a:r>
              <a:rPr kumimoji="1" lang="en-US" altLang="zh-CN">
                <a:solidFill>
                  <a:srgbClr val="000000"/>
                </a:solidFill>
                <a:latin typeface="Times New Roman" panose="02020603050405020304" pitchFamily="18" charset="0"/>
              </a:rPr>
              <a:t>IIR</a:t>
            </a:r>
            <a:r>
              <a:rPr kumimoji="1" lang="zh-CN" altLang="en-US">
                <a:solidFill>
                  <a:srgbClr val="000000"/>
                </a:solidFill>
                <a:latin typeface="Times New Roman" panose="02020603050405020304" pitchFamily="18" charset="0"/>
              </a:rPr>
              <a:t>数字滤波器的系统函数</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z</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16296007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标题 1"/>
          <p:cNvSpPr>
            <a:spLocks noGrp="1"/>
          </p:cNvSpPr>
          <p:nvPr>
            <p:ph type="title"/>
          </p:nvPr>
        </p:nvSpPr>
        <p:spPr>
          <a:xfrm>
            <a:off x="2819400" y="457200"/>
            <a:ext cx="7239000" cy="914400"/>
          </a:xfrm>
        </p:spPr>
        <p:txBody>
          <a:bodyPr/>
          <a:lstStyle/>
          <a:p>
            <a:r>
              <a:rPr lang="zh-CN" altLang="en-US" smtClean="0">
                <a:ea typeface="宋体" panose="02010600030101010101" pitchFamily="2" charset="-122"/>
              </a:rPr>
              <a:t>例题</a:t>
            </a:r>
          </a:p>
        </p:txBody>
      </p:sp>
      <p:sp>
        <p:nvSpPr>
          <p:cNvPr id="14438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8BB95AE2-F5E1-4AFC-837D-9D1CAFC5D3F1}"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10</a:t>
            </a:fld>
            <a:endParaRPr lang="en-US" altLang="zh-CN" sz="1400" b="0">
              <a:solidFill>
                <a:srgbClr val="000000"/>
              </a:solidFill>
              <a:latin typeface="Times New Roman" panose="02020603050405020304" pitchFamily="18" charset="0"/>
            </a:endParaRPr>
          </a:p>
        </p:txBody>
      </p:sp>
      <p:sp>
        <p:nvSpPr>
          <p:cNvPr id="144388" name="Text Box 4"/>
          <p:cNvSpPr txBox="1">
            <a:spLocks noChangeArrowheads="1"/>
          </p:cNvSpPr>
          <p:nvPr/>
        </p:nvSpPr>
        <p:spPr bwMode="auto">
          <a:xfrm>
            <a:off x="1889126" y="1454150"/>
            <a:ext cx="37322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例 </a:t>
            </a: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设模拟滤波器的系统函数为 </a:t>
            </a:r>
          </a:p>
        </p:txBody>
      </p:sp>
      <p:graphicFrame>
        <p:nvGraphicFramePr>
          <p:cNvPr id="144389" name="Object 5"/>
          <p:cNvGraphicFramePr>
            <a:graphicFrameLocks noChangeAspect="1"/>
          </p:cNvGraphicFramePr>
          <p:nvPr/>
        </p:nvGraphicFramePr>
        <p:xfrm>
          <a:off x="4129088" y="1905001"/>
          <a:ext cx="3778250" cy="709613"/>
        </p:xfrm>
        <a:graphic>
          <a:graphicData uri="http://schemas.openxmlformats.org/presentationml/2006/ole">
            <mc:AlternateContent xmlns:mc="http://schemas.openxmlformats.org/markup-compatibility/2006">
              <mc:Choice xmlns:v="urn:schemas-microsoft-com:vml" Requires="v">
                <p:oleObj spid="_x0000_s17602" name="Equation" r:id="rId3" imgW="2095500" imgH="393700" progId="Equation.3">
                  <p:embed/>
                </p:oleObj>
              </mc:Choice>
              <mc:Fallback>
                <p:oleObj name="Equation" r:id="rId3" imgW="2095500" imgH="393700" progId="Equation.3">
                  <p:embed/>
                  <p:pic>
                    <p:nvPicPr>
                      <p:cNvPr id="14438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9088" y="1905001"/>
                        <a:ext cx="377825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0" name="Text Box 6"/>
          <p:cNvSpPr txBox="1">
            <a:spLocks noChangeArrowheads="1"/>
          </p:cNvSpPr>
          <p:nvPr/>
        </p:nvSpPr>
        <p:spPr bwMode="auto">
          <a:xfrm>
            <a:off x="1798638" y="2800350"/>
            <a:ext cx="81073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试利用脉冲响应不变法将</a:t>
            </a:r>
            <a:r>
              <a:rPr kumimoji="1" lang="en-US" altLang="zh-CN" i="1">
                <a:solidFill>
                  <a:srgbClr val="000000"/>
                </a:solidFill>
                <a:latin typeface="Times New Roman" panose="02020603050405020304" pitchFamily="18" charset="0"/>
              </a:rPr>
              <a:t>H</a:t>
            </a:r>
            <a:r>
              <a:rPr kumimoji="1" lang="en-US" altLang="zh-CN" baseline="-25000">
                <a:solidFill>
                  <a:srgbClr val="000000"/>
                </a:solidFill>
                <a:latin typeface="Times New Roman" panose="02020603050405020304" pitchFamily="18" charset="0"/>
              </a:rPr>
              <a:t>a</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s</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转换成</a:t>
            </a:r>
            <a:r>
              <a:rPr kumimoji="1" lang="en-US" altLang="zh-CN">
                <a:solidFill>
                  <a:srgbClr val="000000"/>
                </a:solidFill>
                <a:latin typeface="Times New Roman" panose="02020603050405020304" pitchFamily="18" charset="0"/>
              </a:rPr>
              <a:t>IIR</a:t>
            </a:r>
            <a:r>
              <a:rPr kumimoji="1" lang="zh-CN" altLang="en-US">
                <a:solidFill>
                  <a:srgbClr val="000000"/>
                </a:solidFill>
                <a:latin typeface="Times New Roman" panose="02020603050405020304" pitchFamily="18" charset="0"/>
              </a:rPr>
              <a:t>数字滤波器的系统函数</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z</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 </a:t>
            </a:r>
          </a:p>
        </p:txBody>
      </p:sp>
      <p:sp>
        <p:nvSpPr>
          <p:cNvPr id="144391" name="Text Box 7"/>
          <p:cNvSpPr txBox="1">
            <a:spLocks noChangeArrowheads="1"/>
          </p:cNvSpPr>
          <p:nvPr/>
        </p:nvSpPr>
        <p:spPr bwMode="auto">
          <a:xfrm>
            <a:off x="2149475" y="3352800"/>
            <a:ext cx="63134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解：  直接利用变换式可得到数字滤波器的系统函数为 </a:t>
            </a:r>
          </a:p>
        </p:txBody>
      </p:sp>
      <p:graphicFrame>
        <p:nvGraphicFramePr>
          <p:cNvPr id="144392" name="Object 8"/>
          <p:cNvGraphicFramePr>
            <a:graphicFrameLocks noChangeAspect="1"/>
          </p:cNvGraphicFramePr>
          <p:nvPr/>
        </p:nvGraphicFramePr>
        <p:xfrm>
          <a:off x="2965450" y="3733800"/>
          <a:ext cx="6413500" cy="776288"/>
        </p:xfrm>
        <a:graphic>
          <a:graphicData uri="http://schemas.openxmlformats.org/presentationml/2006/ole">
            <mc:AlternateContent xmlns:mc="http://schemas.openxmlformats.org/markup-compatibility/2006">
              <mc:Choice xmlns:v="urn:schemas-microsoft-com:vml" Requires="v">
                <p:oleObj spid="_x0000_s17603" name="Equation" r:id="rId5" imgW="3670300" imgH="444500" progId="Equation.3">
                  <p:embed/>
                </p:oleObj>
              </mc:Choice>
              <mc:Fallback>
                <p:oleObj name="Equation" r:id="rId5" imgW="3670300" imgH="444500" progId="Equation.3">
                  <p:embed/>
                  <p:pic>
                    <p:nvPicPr>
                      <p:cNvPr id="14439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5450" y="3733800"/>
                        <a:ext cx="6413500"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3" name="Text Box 9"/>
          <p:cNvSpPr txBox="1">
            <a:spLocks noChangeArrowheads="1"/>
          </p:cNvSpPr>
          <p:nvPr/>
        </p:nvSpPr>
        <p:spPr bwMode="auto">
          <a:xfrm>
            <a:off x="2674938" y="4572000"/>
            <a:ext cx="17129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zh-CN" altLang="en-US">
                <a:solidFill>
                  <a:srgbClr val="000000"/>
                </a:solidFill>
                <a:latin typeface="Times New Roman" panose="02020603050405020304" pitchFamily="18" charset="0"/>
              </a:rPr>
              <a:t>设</a:t>
            </a:r>
            <a:r>
              <a:rPr kumimoji="1" lang="en-US" altLang="zh-CN" i="1">
                <a:solidFill>
                  <a:srgbClr val="000000"/>
                </a:solidFill>
                <a:latin typeface="Times New Roman" panose="02020603050405020304" pitchFamily="18" charset="0"/>
              </a:rPr>
              <a:t>T</a:t>
            </a:r>
            <a:r>
              <a:rPr kumimoji="1" lang="en-US" altLang="zh-CN">
                <a:solidFill>
                  <a:srgbClr val="000000"/>
                </a:solidFill>
                <a:latin typeface="Times New Roman" panose="02020603050405020304" pitchFamily="18" charset="0"/>
              </a:rPr>
              <a:t>=1</a:t>
            </a:r>
            <a:r>
              <a:rPr kumimoji="1" lang="zh-CN" altLang="en-US">
                <a:solidFill>
                  <a:srgbClr val="000000"/>
                </a:solidFill>
                <a:latin typeface="Times New Roman" panose="02020603050405020304" pitchFamily="18" charset="0"/>
              </a:rPr>
              <a:t>，则有 </a:t>
            </a:r>
          </a:p>
        </p:txBody>
      </p:sp>
      <p:graphicFrame>
        <p:nvGraphicFramePr>
          <p:cNvPr id="144394" name="Object 10"/>
          <p:cNvGraphicFramePr>
            <a:graphicFrameLocks noChangeAspect="1"/>
          </p:cNvGraphicFramePr>
          <p:nvPr/>
        </p:nvGraphicFramePr>
        <p:xfrm>
          <a:off x="4311650" y="5029201"/>
          <a:ext cx="3949700" cy="771525"/>
        </p:xfrm>
        <a:graphic>
          <a:graphicData uri="http://schemas.openxmlformats.org/presentationml/2006/ole">
            <mc:AlternateContent xmlns:mc="http://schemas.openxmlformats.org/markup-compatibility/2006">
              <mc:Choice xmlns:v="urn:schemas-microsoft-com:vml" Requires="v">
                <p:oleObj spid="_x0000_s17604" name="Equation" r:id="rId7" imgW="2146300" imgH="419100" progId="Equation.3">
                  <p:embed/>
                </p:oleObj>
              </mc:Choice>
              <mc:Fallback>
                <p:oleObj name="Equation" r:id="rId7" imgW="2146300" imgH="419100" progId="Equation.3">
                  <p:embed/>
                  <p:pic>
                    <p:nvPicPr>
                      <p:cNvPr id="144394"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1650" y="5029201"/>
                        <a:ext cx="3949700"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32307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
          <p:cNvSpPr>
            <a:spLocks noGrp="1"/>
          </p:cNvSpPr>
          <p:nvPr>
            <p:ph type="title"/>
          </p:nvPr>
        </p:nvSpPr>
        <p:spPr>
          <a:xfrm>
            <a:off x="2819400" y="457200"/>
            <a:ext cx="7239000" cy="914400"/>
          </a:xfrm>
        </p:spPr>
        <p:txBody>
          <a:bodyPr/>
          <a:lstStyle/>
          <a:p>
            <a:r>
              <a:rPr lang="zh-CN" altLang="en-US" smtClean="0">
                <a:ea typeface="宋体" panose="02010600030101010101" pitchFamily="2" charset="-122"/>
              </a:rPr>
              <a:t>例题</a:t>
            </a:r>
          </a:p>
        </p:txBody>
      </p:sp>
      <p:sp>
        <p:nvSpPr>
          <p:cNvPr id="14541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71C81E19-7B17-4D08-8DD4-3A3EEE66C504}"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11</a:t>
            </a:fld>
            <a:endParaRPr lang="en-US" altLang="zh-CN" sz="1400" b="0">
              <a:solidFill>
                <a:srgbClr val="000000"/>
              </a:solidFill>
              <a:latin typeface="Times New Roman" panose="02020603050405020304" pitchFamily="18" charset="0"/>
            </a:endParaRPr>
          </a:p>
        </p:txBody>
      </p:sp>
      <p:graphicFrame>
        <p:nvGraphicFramePr>
          <p:cNvPr id="145412" name="对象 4"/>
          <p:cNvGraphicFramePr>
            <a:graphicFrameLocks noChangeAspect="1"/>
          </p:cNvGraphicFramePr>
          <p:nvPr/>
        </p:nvGraphicFramePr>
        <p:xfrm>
          <a:off x="2203450" y="4002088"/>
          <a:ext cx="3892550" cy="1484312"/>
        </p:xfrm>
        <a:graphic>
          <a:graphicData uri="http://schemas.openxmlformats.org/presentationml/2006/ole">
            <mc:AlternateContent xmlns:mc="http://schemas.openxmlformats.org/markup-compatibility/2006">
              <mc:Choice xmlns:v="urn:schemas-microsoft-com:vml" Requires="v">
                <p:oleObj spid="_x0000_s18626" name="Equation" r:id="rId3" imgW="2463800" imgH="939800" progId="Equation.3">
                  <p:embed/>
                </p:oleObj>
              </mc:Choice>
              <mc:Fallback>
                <p:oleObj name="Equation" r:id="rId3" imgW="2463800" imgH="939800" progId="Equation.3">
                  <p:embed/>
                  <p:pic>
                    <p:nvPicPr>
                      <p:cNvPr id="145412"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3450" y="4002088"/>
                        <a:ext cx="3892550" cy="148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45413" name="Picture 7" descr="5-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3676" y="1657350"/>
            <a:ext cx="305752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5414" name="对象 6"/>
          <p:cNvGraphicFramePr>
            <a:graphicFrameLocks noChangeAspect="1"/>
          </p:cNvGraphicFramePr>
          <p:nvPr/>
        </p:nvGraphicFramePr>
        <p:xfrm>
          <a:off x="2209800" y="1600201"/>
          <a:ext cx="3778250" cy="709613"/>
        </p:xfrm>
        <a:graphic>
          <a:graphicData uri="http://schemas.openxmlformats.org/presentationml/2006/ole">
            <mc:AlternateContent xmlns:mc="http://schemas.openxmlformats.org/markup-compatibility/2006">
              <mc:Choice xmlns:v="urn:schemas-microsoft-com:vml" Requires="v">
                <p:oleObj spid="_x0000_s18627" name="Equation" r:id="rId6" imgW="2095500" imgH="393700" progId="Equation.3">
                  <p:embed/>
                </p:oleObj>
              </mc:Choice>
              <mc:Fallback>
                <p:oleObj name="Equation" r:id="rId6" imgW="2095500" imgH="393700" progId="Equation.3">
                  <p:embed/>
                  <p:pic>
                    <p:nvPicPr>
                      <p:cNvPr id="145414"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1600201"/>
                        <a:ext cx="377825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15" name="对象 7"/>
          <p:cNvGraphicFramePr>
            <a:graphicFrameLocks noChangeAspect="1"/>
          </p:cNvGraphicFramePr>
          <p:nvPr/>
        </p:nvGraphicFramePr>
        <p:xfrm>
          <a:off x="2222500" y="2505076"/>
          <a:ext cx="3949700" cy="771525"/>
        </p:xfrm>
        <a:graphic>
          <a:graphicData uri="http://schemas.openxmlformats.org/presentationml/2006/ole">
            <mc:AlternateContent xmlns:mc="http://schemas.openxmlformats.org/markup-compatibility/2006">
              <mc:Choice xmlns:v="urn:schemas-microsoft-com:vml" Requires="v">
                <p:oleObj spid="_x0000_s18628" name="Equation" r:id="rId8" imgW="2146300" imgH="419100" progId="Equation.3">
                  <p:embed/>
                </p:oleObj>
              </mc:Choice>
              <mc:Fallback>
                <p:oleObj name="Equation" r:id="rId8" imgW="2146300" imgH="419100" progId="Equation.3">
                  <p:embed/>
                  <p:pic>
                    <p:nvPicPr>
                      <p:cNvPr id="145415" name="对象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22500" y="2505076"/>
                        <a:ext cx="3949700"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395566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p:cNvSpPr>
            <a:spLocks noGrp="1"/>
          </p:cNvSpPr>
          <p:nvPr>
            <p:ph type="title"/>
          </p:nvPr>
        </p:nvSpPr>
        <p:spPr>
          <a:xfrm>
            <a:off x="2819400" y="457200"/>
            <a:ext cx="7239000" cy="914400"/>
          </a:xfrm>
        </p:spPr>
        <p:txBody>
          <a:bodyPr/>
          <a:lstStyle/>
          <a:p>
            <a:r>
              <a:rPr lang="zh-CN" altLang="en-US" smtClean="0">
                <a:ea typeface="宋体" panose="02010600030101010101" pitchFamily="2" charset="-122"/>
              </a:rPr>
              <a:t>优缺点</a:t>
            </a:r>
          </a:p>
        </p:txBody>
      </p:sp>
      <p:sp>
        <p:nvSpPr>
          <p:cNvPr id="14643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8F24405E-6BBC-480F-95FD-E1277CEBB348}"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12</a:t>
            </a:fld>
            <a:endParaRPr lang="en-US" altLang="zh-CN" sz="1400" b="0">
              <a:solidFill>
                <a:srgbClr val="000000"/>
              </a:solidFill>
              <a:latin typeface="Times New Roman" panose="02020603050405020304" pitchFamily="18" charset="0"/>
            </a:endParaRPr>
          </a:p>
        </p:txBody>
      </p:sp>
      <p:sp>
        <p:nvSpPr>
          <p:cNvPr id="146436" name="Text Box 4"/>
          <p:cNvSpPr txBox="1">
            <a:spLocks noChangeArrowheads="1"/>
          </p:cNvSpPr>
          <p:nvPr/>
        </p:nvSpPr>
        <p:spPr bwMode="auto">
          <a:xfrm>
            <a:off x="1828801" y="2063750"/>
            <a:ext cx="8304213" cy="151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68000"/>
              </a:lnSpc>
              <a:spcBef>
                <a:spcPct val="50000"/>
              </a:spcBef>
              <a:spcAft>
                <a:spcPct val="0"/>
              </a:spcAft>
            </a:pPr>
            <a:r>
              <a:rPr kumimoji="1" lang="zh-CN" altLang="en-US" sz="2400">
                <a:solidFill>
                  <a:srgbClr val="000000"/>
                </a:solidFill>
                <a:latin typeface="Times New Roman" panose="02020603050405020304" pitchFamily="18" charset="0"/>
              </a:rPr>
              <a:t>        优点：模拟频率</a:t>
            </a:r>
            <a:r>
              <a:rPr kumimoji="1" lang="en-US" altLang="zh-CN" sz="2400">
                <a:solidFill>
                  <a:srgbClr val="000000"/>
                </a:solidFill>
                <a:latin typeface="Times New Roman" panose="02020603050405020304" pitchFamily="18" charset="0"/>
              </a:rPr>
              <a:t>Ω</a:t>
            </a:r>
            <a:r>
              <a:rPr kumimoji="1" lang="zh-CN" altLang="en-US" sz="2400">
                <a:solidFill>
                  <a:srgbClr val="000000"/>
                </a:solidFill>
                <a:latin typeface="Times New Roman" panose="02020603050405020304" pitchFamily="18" charset="0"/>
              </a:rPr>
              <a:t>和数字频率</a:t>
            </a:r>
            <a:r>
              <a:rPr kumimoji="1" lang="en-US" altLang="zh-CN" sz="2400">
                <a:solidFill>
                  <a:srgbClr val="000000"/>
                </a:solidFill>
                <a:latin typeface="Times New Roman" panose="02020603050405020304" pitchFamily="18" charset="0"/>
              </a:rPr>
              <a:t>ω</a:t>
            </a:r>
            <a:r>
              <a:rPr kumimoji="1" lang="zh-CN" altLang="en-US" sz="2400">
                <a:solidFill>
                  <a:srgbClr val="000000"/>
                </a:solidFill>
                <a:latin typeface="Times New Roman" panose="02020603050405020304" pitchFamily="18" charset="0"/>
              </a:rPr>
              <a:t>之间呈线性关系</a:t>
            </a:r>
            <a:r>
              <a:rPr kumimoji="1" lang="en-US" altLang="zh-CN" sz="2400" i="1">
                <a:solidFill>
                  <a:srgbClr val="000000"/>
                </a:solidFill>
                <a:latin typeface="Times New Roman" panose="02020603050405020304" pitchFamily="18" charset="0"/>
              </a:rPr>
              <a:t>ω</a:t>
            </a:r>
            <a:r>
              <a:rPr kumimoji="1" lang="en-US" altLang="zh-CN" sz="2400">
                <a:solidFill>
                  <a:srgbClr val="000000"/>
                </a:solidFill>
                <a:latin typeface="Times New Roman" panose="02020603050405020304" pitchFamily="18" charset="0"/>
              </a:rPr>
              <a:t>=</a:t>
            </a:r>
            <a:r>
              <a:rPr kumimoji="1" lang="en-US" altLang="zh-CN" sz="2400" i="1">
                <a:solidFill>
                  <a:srgbClr val="000000"/>
                </a:solidFill>
                <a:latin typeface="Times New Roman" panose="02020603050405020304" pitchFamily="18" charset="0"/>
              </a:rPr>
              <a:t>ΩT</a:t>
            </a:r>
            <a:endParaRPr kumimoji="1" lang="en-US" altLang="zh-CN" sz="2400">
              <a:solidFill>
                <a:srgbClr val="000000"/>
              </a:solidFill>
              <a:latin typeface="Times New Roman" panose="02020603050405020304" pitchFamily="18" charset="0"/>
            </a:endParaRPr>
          </a:p>
          <a:p>
            <a:pPr algn="just" fontAlgn="base">
              <a:lnSpc>
                <a:spcPct val="168000"/>
              </a:lnSpc>
              <a:spcBef>
                <a:spcPct val="50000"/>
              </a:spcBef>
              <a:spcAft>
                <a:spcPct val="0"/>
              </a:spcAft>
            </a:pPr>
            <a:r>
              <a:rPr kumimoji="1" lang="zh-CN" altLang="en-US" sz="2400">
                <a:solidFill>
                  <a:srgbClr val="000000"/>
                </a:solidFill>
                <a:latin typeface="Times New Roman" panose="02020603050405020304" pitchFamily="18" charset="0"/>
              </a:rPr>
              <a:t>        缺点：频率响应的混叠效应</a:t>
            </a:r>
          </a:p>
        </p:txBody>
      </p:sp>
    </p:spTree>
    <p:extLst>
      <p:ext uri="{BB962C8B-B14F-4D97-AF65-F5344CB8AC3E}">
        <p14:creationId xmlns:p14="http://schemas.microsoft.com/office/powerpoint/2010/main" val="8792891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83B9B9F4-A233-4B1F-90F4-342C3F8A1D3B}"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13</a:t>
            </a:fld>
            <a:endParaRPr lang="en-US" altLang="zh-CN" sz="1400" b="0">
              <a:solidFill>
                <a:srgbClr val="000000"/>
              </a:solidFill>
              <a:latin typeface="Times New Roman" panose="02020603050405020304" pitchFamily="18" charset="0"/>
            </a:endParaRPr>
          </a:p>
        </p:txBody>
      </p:sp>
      <p:sp>
        <p:nvSpPr>
          <p:cNvPr id="147459" name="Text Box 4"/>
          <p:cNvSpPr>
            <a:spLocks noGrp="1" noChangeArrowheads="1"/>
          </p:cNvSpPr>
          <p:nvPr>
            <p:ph type="title"/>
          </p:nvPr>
        </p:nvSpPr>
        <p:spPr>
          <a:xfrm>
            <a:off x="2819400" y="652464"/>
            <a:ext cx="7239000" cy="5238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en-US" altLang="zh-CN" dirty="0" smtClean="0">
                <a:solidFill>
                  <a:schemeClr val="tx1"/>
                </a:solidFill>
                <a:latin typeface="Times New Roman" panose="02020603050405020304" pitchFamily="18" charset="0"/>
                <a:ea typeface="宋体" panose="02010600030101010101" pitchFamily="2" charset="-122"/>
              </a:rPr>
              <a:t>6.5  </a:t>
            </a:r>
            <a:r>
              <a:rPr kumimoji="1" lang="zh-CN" altLang="en-US" dirty="0" smtClean="0">
                <a:solidFill>
                  <a:schemeClr val="tx1"/>
                </a:solidFill>
                <a:latin typeface="Times New Roman" panose="02020603050405020304" pitchFamily="18" charset="0"/>
                <a:ea typeface="宋体" panose="02010600030101010101" pitchFamily="2" charset="-122"/>
              </a:rPr>
              <a:t>用双线性变换法设计</a:t>
            </a:r>
            <a:r>
              <a:rPr kumimoji="1" lang="en-US" altLang="zh-CN" dirty="0" smtClean="0">
                <a:solidFill>
                  <a:schemeClr val="tx1"/>
                </a:solidFill>
                <a:latin typeface="Times New Roman" panose="02020603050405020304" pitchFamily="18" charset="0"/>
                <a:ea typeface="宋体" panose="02010600030101010101" pitchFamily="2" charset="-122"/>
              </a:rPr>
              <a:t>IIR</a:t>
            </a:r>
            <a:r>
              <a:rPr kumimoji="1" lang="zh-CN" altLang="en-US" dirty="0" smtClean="0">
                <a:solidFill>
                  <a:schemeClr val="tx1"/>
                </a:solidFill>
                <a:latin typeface="Times New Roman" panose="02020603050405020304" pitchFamily="18" charset="0"/>
                <a:ea typeface="宋体" panose="02010600030101010101" pitchFamily="2" charset="-122"/>
              </a:rPr>
              <a:t>数字滤波器 </a:t>
            </a:r>
          </a:p>
        </p:txBody>
      </p:sp>
      <p:sp>
        <p:nvSpPr>
          <p:cNvPr id="147460" name="Text Box 5"/>
          <p:cNvSpPr txBox="1">
            <a:spLocks noChangeArrowheads="1"/>
          </p:cNvSpPr>
          <p:nvPr/>
        </p:nvSpPr>
        <p:spPr bwMode="auto">
          <a:xfrm>
            <a:off x="2057400" y="1600200"/>
            <a:ext cx="6629400"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0000"/>
              </a:lnSpc>
              <a:spcBef>
                <a:spcPct val="50000"/>
              </a:spcBef>
              <a:spcAft>
                <a:spcPct val="0"/>
              </a:spcAft>
            </a:pPr>
            <a:r>
              <a:rPr kumimoji="1" lang="en-US" altLang="zh-CN" sz="2400">
                <a:solidFill>
                  <a:srgbClr val="000000"/>
                </a:solidFill>
                <a:latin typeface="Times New Roman" panose="02020603050405020304" pitchFamily="18" charset="0"/>
              </a:rPr>
              <a:t>1  </a:t>
            </a:r>
            <a:r>
              <a:rPr kumimoji="1" lang="zh-CN" altLang="en-US" sz="2400">
                <a:solidFill>
                  <a:srgbClr val="000000"/>
                </a:solidFill>
                <a:latin typeface="Times New Roman" panose="02020603050405020304" pitchFamily="18" charset="0"/>
              </a:rPr>
              <a:t>变换原理</a:t>
            </a:r>
          </a:p>
        </p:txBody>
      </p:sp>
      <p:pic>
        <p:nvPicPr>
          <p:cNvPr id="147461" name="Picture 7" descr="5-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1" y="2362200"/>
            <a:ext cx="7993063"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7462" name="对象 7"/>
          <p:cNvGraphicFramePr>
            <a:graphicFrameLocks noChangeAspect="1"/>
          </p:cNvGraphicFramePr>
          <p:nvPr/>
        </p:nvGraphicFramePr>
        <p:xfrm>
          <a:off x="2819401" y="5492750"/>
          <a:ext cx="1952625" cy="781050"/>
        </p:xfrm>
        <a:graphic>
          <a:graphicData uri="http://schemas.openxmlformats.org/presentationml/2006/ole">
            <mc:AlternateContent xmlns:mc="http://schemas.openxmlformats.org/markup-compatibility/2006">
              <mc:Choice xmlns:v="urn:schemas-microsoft-com:vml" Requires="v">
                <p:oleObj spid="_x0000_s19586" name="Equation" r:id="rId4" imgW="1079032" imgH="431613" progId="Equation.3">
                  <p:embed/>
                </p:oleObj>
              </mc:Choice>
              <mc:Fallback>
                <p:oleObj name="Equation" r:id="rId4" imgW="1079032" imgH="431613" progId="Equation.3">
                  <p:embed/>
                  <p:pic>
                    <p:nvPicPr>
                      <p:cNvPr id="147462"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1" y="5492750"/>
                        <a:ext cx="1952625"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3" name="对象 8"/>
          <p:cNvGraphicFramePr>
            <a:graphicFrameLocks noChangeAspect="1"/>
          </p:cNvGraphicFramePr>
          <p:nvPr/>
        </p:nvGraphicFramePr>
        <p:xfrm>
          <a:off x="6400801" y="5487988"/>
          <a:ext cx="1700213" cy="876300"/>
        </p:xfrm>
        <a:graphic>
          <a:graphicData uri="http://schemas.openxmlformats.org/presentationml/2006/ole">
            <mc:AlternateContent xmlns:mc="http://schemas.openxmlformats.org/markup-compatibility/2006">
              <mc:Choice xmlns:v="urn:schemas-microsoft-com:vml" Requires="v">
                <p:oleObj spid="_x0000_s19587" name="Equation" r:id="rId6" imgW="812447" imgH="418918" progId="Equation.3">
                  <p:embed/>
                </p:oleObj>
              </mc:Choice>
              <mc:Fallback>
                <p:oleObj name="Equation" r:id="rId6" imgW="812447" imgH="418918" progId="Equation.3">
                  <p:embed/>
                  <p:pic>
                    <p:nvPicPr>
                      <p:cNvPr id="147463"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0801" y="5487988"/>
                        <a:ext cx="1700213"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4" name="右箭头 3"/>
          <p:cNvSpPr>
            <a:spLocks noChangeArrowheads="1"/>
          </p:cNvSpPr>
          <p:nvPr/>
        </p:nvSpPr>
        <p:spPr bwMode="auto">
          <a:xfrm>
            <a:off x="5181600" y="5875338"/>
            <a:ext cx="1074738" cy="220662"/>
          </a:xfrm>
          <a:prstGeom prst="rightArrow">
            <a:avLst>
              <a:gd name="adj1" fmla="val 50000"/>
              <a:gd name="adj2" fmla="val 49923"/>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lang="en-US" altLang="zh-CN">
                <a:solidFill>
                  <a:srgbClr val="000000"/>
                </a:solidFill>
              </a:rPr>
              <a:t> </a:t>
            </a:r>
            <a:endParaRPr lang="zh-CN" altLang="en-US">
              <a:solidFill>
                <a:srgbClr val="000000"/>
              </a:solidFill>
            </a:endParaRPr>
          </a:p>
        </p:txBody>
      </p:sp>
      <p:sp>
        <p:nvSpPr>
          <p:cNvPr id="147465" name="TextBox 10"/>
          <p:cNvSpPr txBox="1">
            <a:spLocks noChangeArrowheads="1"/>
          </p:cNvSpPr>
          <p:nvPr/>
        </p:nvSpPr>
        <p:spPr bwMode="auto">
          <a:xfrm>
            <a:off x="8278814" y="5715000"/>
            <a:ext cx="1474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zh-CN" altLang="en-US">
                <a:solidFill>
                  <a:srgbClr val="000000"/>
                </a:solidFill>
              </a:rPr>
              <a:t>双线性变换</a:t>
            </a:r>
          </a:p>
        </p:txBody>
      </p:sp>
    </p:spTree>
    <p:extLst>
      <p:ext uri="{BB962C8B-B14F-4D97-AF65-F5344CB8AC3E}">
        <p14:creationId xmlns:p14="http://schemas.microsoft.com/office/powerpoint/2010/main" val="34098860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14</a:t>
            </a:fld>
            <a:endParaRPr lang="en-US" altLang="zh-CN">
              <a:solidFill>
                <a:srgbClr val="000000"/>
              </a:solidFill>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1439333" y="290897"/>
            <a:ext cx="9658227" cy="6499370"/>
          </a:xfrm>
          <a:prstGeom prst="rect">
            <a:avLst/>
          </a:prstGeom>
        </p:spPr>
      </p:pic>
    </p:spTree>
    <p:extLst>
      <p:ext uri="{BB962C8B-B14F-4D97-AF65-F5344CB8AC3E}">
        <p14:creationId xmlns:p14="http://schemas.microsoft.com/office/powerpoint/2010/main" val="170229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标题 1"/>
          <p:cNvSpPr>
            <a:spLocks noGrp="1"/>
          </p:cNvSpPr>
          <p:nvPr>
            <p:ph type="title"/>
          </p:nvPr>
        </p:nvSpPr>
        <p:spPr>
          <a:xfrm>
            <a:off x="2819400" y="457200"/>
            <a:ext cx="7239000" cy="914400"/>
          </a:xfrm>
        </p:spPr>
        <p:txBody>
          <a:bodyPr/>
          <a:lstStyle/>
          <a:p>
            <a:r>
              <a:rPr kumimoji="1" lang="en-US" altLang="zh-CN" smtClean="0">
                <a:solidFill>
                  <a:schemeClr val="tx1"/>
                </a:solidFill>
                <a:latin typeface="Times New Roman" panose="02020603050405020304" pitchFamily="18" charset="0"/>
                <a:ea typeface="宋体" panose="02010600030101010101" pitchFamily="2" charset="-122"/>
              </a:rPr>
              <a:t>6.5  </a:t>
            </a:r>
            <a:r>
              <a:rPr kumimoji="1" lang="zh-CN" altLang="en-US" smtClean="0">
                <a:solidFill>
                  <a:schemeClr val="tx1"/>
                </a:solidFill>
                <a:latin typeface="Times New Roman" panose="02020603050405020304" pitchFamily="18" charset="0"/>
                <a:ea typeface="宋体" panose="02010600030101010101" pitchFamily="2" charset="-122"/>
              </a:rPr>
              <a:t>用双线性变换法设计</a:t>
            </a:r>
            <a:r>
              <a:rPr kumimoji="1" lang="en-US" altLang="zh-CN" smtClean="0">
                <a:solidFill>
                  <a:schemeClr val="tx1"/>
                </a:solidFill>
                <a:latin typeface="Times New Roman" panose="02020603050405020304" pitchFamily="18" charset="0"/>
                <a:ea typeface="宋体" panose="02010600030101010101" pitchFamily="2" charset="-122"/>
              </a:rPr>
              <a:t>IIR</a:t>
            </a:r>
            <a:r>
              <a:rPr kumimoji="1" lang="zh-CN" altLang="en-US" smtClean="0">
                <a:solidFill>
                  <a:schemeClr val="tx1"/>
                </a:solidFill>
                <a:latin typeface="Times New Roman" panose="02020603050405020304" pitchFamily="18" charset="0"/>
                <a:ea typeface="宋体" panose="02010600030101010101" pitchFamily="2" charset="-122"/>
              </a:rPr>
              <a:t>数字滤波器 </a:t>
            </a:r>
            <a:endParaRPr lang="zh-CN" altLang="en-US" smtClean="0">
              <a:ea typeface="宋体" panose="02010600030101010101" pitchFamily="2" charset="-122"/>
            </a:endParaRPr>
          </a:p>
        </p:txBody>
      </p:sp>
      <p:sp>
        <p:nvSpPr>
          <p:cNvPr id="14848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491FEC9C-3C4E-4AA5-AF50-BB191C77721E}"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15</a:t>
            </a:fld>
            <a:endParaRPr lang="en-US" altLang="zh-CN" sz="1400" b="0">
              <a:solidFill>
                <a:srgbClr val="000000"/>
              </a:solidFill>
              <a:latin typeface="Times New Roman" panose="02020603050405020304" pitchFamily="18" charset="0"/>
            </a:endParaRPr>
          </a:p>
        </p:txBody>
      </p:sp>
      <p:sp>
        <p:nvSpPr>
          <p:cNvPr id="148484" name="Text Box 4"/>
          <p:cNvSpPr txBox="1">
            <a:spLocks noChangeArrowheads="1"/>
          </p:cNvSpPr>
          <p:nvPr/>
        </p:nvSpPr>
        <p:spPr bwMode="auto">
          <a:xfrm>
            <a:off x="2057400" y="1447801"/>
            <a:ext cx="75438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50000"/>
              </a:lnSpc>
              <a:spcBef>
                <a:spcPct val="50000"/>
              </a:spcBef>
              <a:spcAft>
                <a:spcPct val="0"/>
              </a:spcAft>
            </a:pPr>
            <a:r>
              <a:rPr kumimoji="1" lang="en-US" altLang="zh-CN" sz="2400">
                <a:solidFill>
                  <a:srgbClr val="000000"/>
                </a:solidFill>
                <a:latin typeface="Times New Roman" panose="02020603050405020304" pitchFamily="18" charset="0"/>
              </a:rPr>
              <a:t>2 </a:t>
            </a:r>
            <a:r>
              <a:rPr kumimoji="1" lang="zh-CN" altLang="en-US" sz="2400">
                <a:solidFill>
                  <a:srgbClr val="000000"/>
                </a:solidFill>
                <a:latin typeface="Times New Roman" panose="02020603050405020304" pitchFamily="18" charset="0"/>
              </a:rPr>
              <a:t>逼近的情况</a:t>
            </a:r>
          </a:p>
        </p:txBody>
      </p:sp>
      <p:graphicFrame>
        <p:nvGraphicFramePr>
          <p:cNvPr id="148485" name="对象 1"/>
          <p:cNvGraphicFramePr>
            <a:graphicFrameLocks noChangeAspect="1"/>
          </p:cNvGraphicFramePr>
          <p:nvPr/>
        </p:nvGraphicFramePr>
        <p:xfrm>
          <a:off x="3548064" y="2057400"/>
          <a:ext cx="3995737" cy="1485900"/>
        </p:xfrm>
        <a:graphic>
          <a:graphicData uri="http://schemas.openxmlformats.org/presentationml/2006/ole">
            <mc:AlternateContent xmlns:mc="http://schemas.openxmlformats.org/markup-compatibility/2006">
              <mc:Choice xmlns:v="urn:schemas-microsoft-com:vml" Requires="v">
                <p:oleObj spid="_x0000_s20610" name="Equation" r:id="rId3" imgW="1739900" imgH="647700" progId="Equation.DSMT4">
                  <p:embed/>
                </p:oleObj>
              </mc:Choice>
              <mc:Fallback>
                <p:oleObj name="Equation" r:id="rId3" imgW="1739900" imgH="647700" progId="Equation.DSMT4">
                  <p:embed/>
                  <p:pic>
                    <p:nvPicPr>
                      <p:cNvPr id="148485"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8064" y="2057400"/>
                        <a:ext cx="3995737" cy="148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86" name="对象 3"/>
          <p:cNvGraphicFramePr>
            <a:graphicFrameLocks noChangeAspect="1"/>
          </p:cNvGraphicFramePr>
          <p:nvPr/>
        </p:nvGraphicFramePr>
        <p:xfrm>
          <a:off x="4643438" y="4224338"/>
          <a:ext cx="2519362" cy="1801812"/>
        </p:xfrm>
        <a:graphic>
          <a:graphicData uri="http://schemas.openxmlformats.org/presentationml/2006/ole">
            <mc:AlternateContent xmlns:mc="http://schemas.openxmlformats.org/markup-compatibility/2006">
              <mc:Choice xmlns:v="urn:schemas-microsoft-com:vml" Requires="v">
                <p:oleObj spid="_x0000_s20611" name="Equation" r:id="rId5" imgW="1384300" imgH="990600" progId="Equation.3">
                  <p:embed/>
                </p:oleObj>
              </mc:Choice>
              <mc:Fallback>
                <p:oleObj name="Equation" r:id="rId5" imgW="1384300" imgH="990600" progId="Equation.3">
                  <p:embed/>
                  <p:pic>
                    <p:nvPicPr>
                      <p:cNvPr id="148486"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4224338"/>
                        <a:ext cx="2519362" cy="180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896315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
          <p:cNvSpPr>
            <a:spLocks noGrp="1"/>
          </p:cNvSpPr>
          <p:nvPr>
            <p:ph type="title"/>
          </p:nvPr>
        </p:nvSpPr>
        <p:spPr>
          <a:xfrm>
            <a:off x="2819400" y="457200"/>
            <a:ext cx="7239000" cy="914400"/>
          </a:xfrm>
        </p:spPr>
        <p:txBody>
          <a:bodyPr/>
          <a:lstStyle/>
          <a:p>
            <a:r>
              <a:rPr kumimoji="1" lang="en-US" altLang="zh-CN" dirty="0" smtClean="0">
                <a:solidFill>
                  <a:schemeClr val="tx1"/>
                </a:solidFill>
                <a:latin typeface="Times New Roman" panose="02020603050405020304" pitchFamily="18" charset="0"/>
                <a:ea typeface="宋体" panose="02010600030101010101" pitchFamily="2" charset="-122"/>
              </a:rPr>
              <a:t>6.5  </a:t>
            </a:r>
            <a:r>
              <a:rPr kumimoji="1" lang="zh-CN" altLang="en-US" dirty="0" smtClean="0">
                <a:solidFill>
                  <a:schemeClr val="tx1"/>
                </a:solidFill>
                <a:latin typeface="Times New Roman" panose="02020603050405020304" pitchFamily="18" charset="0"/>
                <a:ea typeface="宋体" panose="02010600030101010101" pitchFamily="2" charset="-122"/>
              </a:rPr>
              <a:t>用双线性变换法设计</a:t>
            </a:r>
            <a:r>
              <a:rPr kumimoji="1" lang="en-US" altLang="zh-CN" dirty="0" smtClean="0">
                <a:solidFill>
                  <a:schemeClr val="tx1"/>
                </a:solidFill>
                <a:latin typeface="Times New Roman" panose="02020603050405020304" pitchFamily="18" charset="0"/>
                <a:ea typeface="宋体" panose="02010600030101010101" pitchFamily="2" charset="-122"/>
              </a:rPr>
              <a:t>IIR</a:t>
            </a:r>
            <a:r>
              <a:rPr kumimoji="1" lang="zh-CN" altLang="en-US" dirty="0" smtClean="0">
                <a:solidFill>
                  <a:schemeClr val="tx1"/>
                </a:solidFill>
                <a:latin typeface="Times New Roman" panose="02020603050405020304" pitchFamily="18" charset="0"/>
                <a:ea typeface="宋体" panose="02010600030101010101" pitchFamily="2" charset="-122"/>
              </a:rPr>
              <a:t>数字滤波器 </a:t>
            </a:r>
            <a:endParaRPr lang="zh-CN" altLang="en-US" dirty="0" smtClean="0">
              <a:ea typeface="宋体" panose="02010600030101010101" pitchFamily="2" charset="-122"/>
            </a:endParaRPr>
          </a:p>
        </p:txBody>
      </p:sp>
      <p:sp>
        <p:nvSpPr>
          <p:cNvPr id="14950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3CDB936B-2246-4F8D-AE87-BF721BE4E882}"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16</a:t>
            </a:fld>
            <a:endParaRPr lang="en-US" altLang="zh-CN" sz="1400" b="0">
              <a:solidFill>
                <a:srgbClr val="000000"/>
              </a:solidFill>
              <a:latin typeface="Times New Roman" panose="02020603050405020304" pitchFamily="18" charset="0"/>
            </a:endParaRPr>
          </a:p>
        </p:txBody>
      </p:sp>
      <p:sp>
        <p:nvSpPr>
          <p:cNvPr id="149508" name="Text Box 4"/>
          <p:cNvSpPr txBox="1">
            <a:spLocks noChangeArrowheads="1"/>
          </p:cNvSpPr>
          <p:nvPr/>
        </p:nvSpPr>
        <p:spPr bwMode="auto">
          <a:xfrm>
            <a:off x="2041526" y="1370014"/>
            <a:ext cx="6950075"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8000"/>
              </a:lnSpc>
              <a:spcBef>
                <a:spcPct val="50000"/>
              </a:spcBef>
              <a:spcAft>
                <a:spcPct val="0"/>
              </a:spcAft>
            </a:pPr>
            <a:r>
              <a:rPr kumimoji="1" lang="en-US" altLang="zh-CN">
                <a:solidFill>
                  <a:srgbClr val="000000"/>
                </a:solidFill>
                <a:latin typeface="Times New Roman" panose="02020603050405020304" pitchFamily="18" charset="0"/>
              </a:rPr>
              <a:t>3 </a:t>
            </a:r>
            <a:r>
              <a:rPr kumimoji="1" lang="zh-CN" altLang="en-US">
                <a:solidFill>
                  <a:srgbClr val="000000"/>
                </a:solidFill>
                <a:latin typeface="Times New Roman" panose="02020603050405020304" pitchFamily="18" charset="0"/>
              </a:rPr>
              <a:t>优缺点</a:t>
            </a:r>
          </a:p>
          <a:p>
            <a:pPr algn="just" fontAlgn="base">
              <a:lnSpc>
                <a:spcPct val="138000"/>
              </a:lnSpc>
              <a:spcBef>
                <a:spcPct val="50000"/>
              </a:spcBef>
              <a:spcAft>
                <a:spcPct val="0"/>
              </a:spcAft>
            </a:pPr>
            <a:r>
              <a:rPr kumimoji="1" lang="zh-CN" altLang="en-US" sz="1800">
                <a:solidFill>
                  <a:srgbClr val="000000"/>
                </a:solidFill>
                <a:latin typeface="Times New Roman" panose="02020603050405020304" pitchFamily="18" charset="0"/>
              </a:rPr>
              <a:t>   优点</a:t>
            </a:r>
            <a:r>
              <a:rPr kumimoji="1" lang="en-US" altLang="zh-CN" sz="1800">
                <a:solidFill>
                  <a:srgbClr val="000000"/>
                </a:solidFill>
                <a:latin typeface="Times New Roman" panose="02020603050405020304" pitchFamily="18" charset="0"/>
              </a:rPr>
              <a:t>:</a:t>
            </a:r>
            <a:r>
              <a:rPr kumimoji="1" lang="zh-CN" altLang="en-US" sz="1800">
                <a:solidFill>
                  <a:srgbClr val="000000"/>
                </a:solidFill>
                <a:latin typeface="Times New Roman" panose="02020603050405020304" pitchFamily="18" charset="0"/>
              </a:rPr>
              <a:t>是避免了频率响应的混叠现象。</a:t>
            </a:r>
          </a:p>
        </p:txBody>
      </p:sp>
      <p:pic>
        <p:nvPicPr>
          <p:cNvPr id="149509" name="Picture 7" descr="5-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1427164"/>
            <a:ext cx="2833688" cy="322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10" name="Text Box 4"/>
          <p:cNvSpPr txBox="1">
            <a:spLocks noChangeArrowheads="1"/>
          </p:cNvSpPr>
          <p:nvPr/>
        </p:nvSpPr>
        <p:spPr bwMode="auto">
          <a:xfrm>
            <a:off x="1752600" y="2346326"/>
            <a:ext cx="4724400" cy="217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50000"/>
              </a:lnSpc>
              <a:spcBef>
                <a:spcPct val="50000"/>
              </a:spcBef>
              <a:spcAft>
                <a:spcPct val="0"/>
              </a:spcAft>
            </a:pPr>
            <a:r>
              <a:rPr kumimoji="1" lang="en-US" altLang="zh-CN" sz="1800">
                <a:solidFill>
                  <a:srgbClr val="000000"/>
                </a:solidFill>
                <a:latin typeface="Times New Roman" panose="02020603050405020304" pitchFamily="18" charset="0"/>
              </a:rPr>
              <a:t>        </a:t>
            </a:r>
            <a:r>
              <a:rPr kumimoji="1" lang="zh-CN" altLang="en-US" sz="1800">
                <a:solidFill>
                  <a:srgbClr val="000000"/>
                </a:solidFill>
                <a:latin typeface="Times New Roman" panose="02020603050405020304" pitchFamily="18" charset="0"/>
              </a:rPr>
              <a:t>缺点：非线性关系</a:t>
            </a:r>
            <a:endParaRPr kumimoji="1" lang="en-US" altLang="zh-CN" sz="1800">
              <a:solidFill>
                <a:srgbClr val="000000"/>
              </a:solidFill>
              <a:latin typeface="Times New Roman" panose="02020603050405020304" pitchFamily="18" charset="0"/>
            </a:endParaRPr>
          </a:p>
          <a:p>
            <a:pPr algn="just" fontAlgn="base">
              <a:lnSpc>
                <a:spcPct val="150000"/>
              </a:lnSpc>
              <a:spcBef>
                <a:spcPct val="0"/>
              </a:spcBef>
              <a:spcAft>
                <a:spcPct val="0"/>
              </a:spcAft>
            </a:pPr>
            <a:r>
              <a:rPr kumimoji="1" lang="en-US" altLang="zh-CN" sz="1800">
                <a:solidFill>
                  <a:srgbClr val="000000"/>
                </a:solidFill>
                <a:latin typeface="Times New Roman" panose="02020603050405020304" pitchFamily="18" charset="0"/>
              </a:rPr>
              <a:t>         1</a:t>
            </a:r>
            <a:r>
              <a:rPr kumimoji="1" lang="zh-CN" altLang="en-US" sz="1800">
                <a:solidFill>
                  <a:srgbClr val="000000"/>
                </a:solidFill>
                <a:latin typeface="Times New Roman" panose="02020603050405020304" pitchFamily="18" charset="0"/>
              </a:rPr>
              <a:t>）线性相位的模拟滤波器经双线性变换后得到非线性相位的数字滤波器，不再保持原有的线性相位了；</a:t>
            </a:r>
            <a:endParaRPr kumimoji="1" lang="en-US" altLang="zh-CN" sz="1800">
              <a:solidFill>
                <a:srgbClr val="000000"/>
              </a:solidFill>
              <a:latin typeface="Times New Roman" panose="02020603050405020304" pitchFamily="18" charset="0"/>
            </a:endParaRPr>
          </a:p>
          <a:p>
            <a:pPr algn="just" fontAlgn="base">
              <a:lnSpc>
                <a:spcPct val="150000"/>
              </a:lnSpc>
              <a:spcBef>
                <a:spcPct val="0"/>
              </a:spcBef>
              <a:spcAft>
                <a:spcPct val="0"/>
              </a:spcAft>
            </a:pPr>
            <a:r>
              <a:rPr kumimoji="1" lang="en-US" altLang="zh-CN" sz="1800">
                <a:solidFill>
                  <a:srgbClr val="000000"/>
                </a:solidFill>
                <a:latin typeface="Times New Roman" panose="02020603050405020304" pitchFamily="18" charset="0"/>
              </a:rPr>
              <a:t>         2</a:t>
            </a:r>
            <a:r>
              <a:rPr kumimoji="1" lang="zh-CN" altLang="en-US" sz="1800">
                <a:solidFill>
                  <a:srgbClr val="000000"/>
                </a:solidFill>
                <a:latin typeface="Times New Roman" panose="02020603050405020304" pitchFamily="18" charset="0"/>
              </a:rPr>
              <a:t>）畸变</a:t>
            </a:r>
          </a:p>
        </p:txBody>
      </p:sp>
      <p:pic>
        <p:nvPicPr>
          <p:cNvPr id="149511" name="Picture 7" descr="5-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638" y="4572001"/>
            <a:ext cx="6913562" cy="213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39278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标题 1"/>
          <p:cNvSpPr>
            <a:spLocks noGrp="1"/>
          </p:cNvSpPr>
          <p:nvPr>
            <p:ph type="title"/>
          </p:nvPr>
        </p:nvSpPr>
        <p:spPr>
          <a:xfrm>
            <a:off x="2819400" y="457200"/>
            <a:ext cx="7239000" cy="914400"/>
          </a:xfrm>
        </p:spPr>
        <p:txBody>
          <a:bodyPr/>
          <a:lstStyle/>
          <a:p>
            <a:r>
              <a:rPr kumimoji="1" lang="en-US" altLang="zh-CN" smtClean="0">
                <a:solidFill>
                  <a:schemeClr val="tx1"/>
                </a:solidFill>
                <a:latin typeface="Times New Roman" panose="02020603050405020304" pitchFamily="18" charset="0"/>
                <a:ea typeface="宋体" panose="02010600030101010101" pitchFamily="2" charset="-122"/>
              </a:rPr>
              <a:t>6.5  </a:t>
            </a:r>
            <a:r>
              <a:rPr kumimoji="1" lang="zh-CN" altLang="en-US" smtClean="0">
                <a:solidFill>
                  <a:schemeClr val="tx1"/>
                </a:solidFill>
                <a:latin typeface="Times New Roman" panose="02020603050405020304" pitchFamily="18" charset="0"/>
                <a:ea typeface="宋体" panose="02010600030101010101" pitchFamily="2" charset="-122"/>
              </a:rPr>
              <a:t>用双线性变换法设计</a:t>
            </a:r>
            <a:r>
              <a:rPr kumimoji="1" lang="en-US" altLang="zh-CN" smtClean="0">
                <a:solidFill>
                  <a:schemeClr val="tx1"/>
                </a:solidFill>
                <a:latin typeface="Times New Roman" panose="02020603050405020304" pitchFamily="18" charset="0"/>
                <a:ea typeface="宋体" panose="02010600030101010101" pitchFamily="2" charset="-122"/>
              </a:rPr>
              <a:t>IIR</a:t>
            </a:r>
            <a:r>
              <a:rPr kumimoji="1" lang="zh-CN" altLang="en-US" smtClean="0">
                <a:solidFill>
                  <a:schemeClr val="tx1"/>
                </a:solidFill>
                <a:latin typeface="Times New Roman" panose="02020603050405020304" pitchFamily="18" charset="0"/>
                <a:ea typeface="宋体" panose="02010600030101010101" pitchFamily="2" charset="-122"/>
              </a:rPr>
              <a:t>数字滤波器 </a:t>
            </a:r>
            <a:endParaRPr lang="zh-CN" altLang="en-US" smtClean="0">
              <a:ea typeface="宋体" panose="02010600030101010101" pitchFamily="2" charset="-122"/>
            </a:endParaRPr>
          </a:p>
        </p:txBody>
      </p:sp>
      <p:sp>
        <p:nvSpPr>
          <p:cNvPr id="15053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BB6A01BC-6484-4FE4-A89F-6553EA73B135}"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17</a:t>
            </a:fld>
            <a:endParaRPr lang="en-US" altLang="zh-CN" sz="1400" b="0">
              <a:solidFill>
                <a:srgbClr val="000000"/>
              </a:solidFill>
              <a:latin typeface="Times New Roman" panose="02020603050405020304" pitchFamily="18" charset="0"/>
            </a:endParaRPr>
          </a:p>
        </p:txBody>
      </p:sp>
      <p:sp>
        <p:nvSpPr>
          <p:cNvPr id="150532" name="Text Box 4"/>
          <p:cNvSpPr txBox="1">
            <a:spLocks noChangeArrowheads="1"/>
          </p:cNvSpPr>
          <p:nvPr/>
        </p:nvSpPr>
        <p:spPr bwMode="auto">
          <a:xfrm>
            <a:off x="1981200" y="1438276"/>
            <a:ext cx="81534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8000"/>
              </a:lnSpc>
              <a:spcBef>
                <a:spcPct val="50000"/>
              </a:spcBef>
              <a:spcAft>
                <a:spcPct val="0"/>
              </a:spcAft>
            </a:pPr>
            <a:r>
              <a:rPr kumimoji="1" lang="en-US" altLang="zh-CN">
                <a:solidFill>
                  <a:srgbClr val="000000"/>
                </a:solidFill>
                <a:latin typeface="Times New Roman" panose="02020603050405020304" pitchFamily="18" charset="0"/>
              </a:rPr>
              <a:t>4 </a:t>
            </a:r>
            <a:r>
              <a:rPr kumimoji="1" lang="zh-CN" altLang="en-US">
                <a:solidFill>
                  <a:srgbClr val="000000"/>
                </a:solidFill>
                <a:latin typeface="Times New Roman" panose="02020603050405020304" pitchFamily="18" charset="0"/>
              </a:rPr>
              <a:t>模拟滤波器的数字化方法</a:t>
            </a:r>
          </a:p>
        </p:txBody>
      </p:sp>
      <p:graphicFrame>
        <p:nvGraphicFramePr>
          <p:cNvPr id="150533" name="对象 7"/>
          <p:cNvGraphicFramePr>
            <a:graphicFrameLocks noChangeAspect="1"/>
          </p:cNvGraphicFramePr>
          <p:nvPr/>
        </p:nvGraphicFramePr>
        <p:xfrm>
          <a:off x="2774950" y="1981200"/>
          <a:ext cx="3778250" cy="781050"/>
        </p:xfrm>
        <a:graphic>
          <a:graphicData uri="http://schemas.openxmlformats.org/presentationml/2006/ole">
            <mc:AlternateContent xmlns:mc="http://schemas.openxmlformats.org/markup-compatibility/2006">
              <mc:Choice xmlns:v="urn:schemas-microsoft-com:vml" Requires="v">
                <p:oleObj spid="_x0000_s21634" name="Equation" r:id="rId3" imgW="2336800" imgH="482600" progId="Equation.3">
                  <p:embed/>
                </p:oleObj>
              </mc:Choice>
              <mc:Fallback>
                <p:oleObj name="Equation" r:id="rId3" imgW="2336800" imgH="482600" progId="Equation.3">
                  <p:embed/>
                  <p:pic>
                    <p:nvPicPr>
                      <p:cNvPr id="150533"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4950" y="1981200"/>
                        <a:ext cx="377825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0534" name="TextBox 8"/>
          <p:cNvSpPr txBox="1">
            <a:spLocks noChangeArrowheads="1"/>
          </p:cNvSpPr>
          <p:nvPr/>
        </p:nvSpPr>
        <p:spPr bwMode="auto">
          <a:xfrm>
            <a:off x="2438400" y="2667000"/>
            <a:ext cx="1346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zh-CN" altLang="en-US" sz="1800">
                <a:solidFill>
                  <a:srgbClr val="000000"/>
                </a:solidFill>
              </a:rPr>
              <a:t>具体过程：</a:t>
            </a:r>
          </a:p>
        </p:txBody>
      </p:sp>
      <p:sp>
        <p:nvSpPr>
          <p:cNvPr id="150535" name="Text Box 4"/>
          <p:cNvSpPr txBox="1">
            <a:spLocks noChangeArrowheads="1"/>
          </p:cNvSpPr>
          <p:nvPr/>
        </p:nvSpPr>
        <p:spPr bwMode="auto">
          <a:xfrm>
            <a:off x="1981200" y="2895601"/>
            <a:ext cx="7467600"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38000"/>
              </a:lnSpc>
              <a:spcBef>
                <a:spcPct val="50000"/>
              </a:spcBef>
              <a:spcAft>
                <a:spcPct val="0"/>
              </a:spcAft>
            </a:pPr>
            <a:r>
              <a:rPr kumimoji="1" lang="en-US" altLang="zh-CN" sz="2400">
                <a:solidFill>
                  <a:srgbClr val="000000"/>
                </a:solidFill>
                <a:latin typeface="Times New Roman" panose="02020603050405020304" pitchFamily="18" charset="0"/>
              </a:rPr>
              <a:t>     </a:t>
            </a:r>
            <a:r>
              <a:rPr kumimoji="1" lang="zh-CN" altLang="en-US" sz="1800">
                <a:solidFill>
                  <a:srgbClr val="000000"/>
                </a:solidFill>
                <a:latin typeface="Times New Roman" panose="02020603050405020304" pitchFamily="18" charset="0"/>
              </a:rPr>
              <a:t>（</a:t>
            </a:r>
            <a:r>
              <a:rPr kumimoji="1" lang="en-US" altLang="zh-CN" sz="1800">
                <a:solidFill>
                  <a:srgbClr val="000000"/>
                </a:solidFill>
                <a:latin typeface="Times New Roman" panose="02020603050405020304" pitchFamily="18" charset="0"/>
              </a:rPr>
              <a:t>1</a:t>
            </a:r>
            <a:r>
              <a:rPr kumimoji="1" lang="zh-CN" altLang="en-US" sz="1800">
                <a:solidFill>
                  <a:srgbClr val="000000"/>
                </a:solidFill>
                <a:latin typeface="Times New Roman" panose="02020603050405020304" pitchFamily="18" charset="0"/>
              </a:rPr>
              <a:t>） 如果给出的是待设计滤波器的数字域频率</a:t>
            </a:r>
            <a:r>
              <a:rPr kumimoji="1" lang="en-US" altLang="zh-CN" sz="1800" i="1">
                <a:solidFill>
                  <a:srgbClr val="000000"/>
                </a:solidFill>
                <a:latin typeface="Times New Roman" panose="02020603050405020304" pitchFamily="18" charset="0"/>
              </a:rPr>
              <a:t>ω</a:t>
            </a:r>
            <a:r>
              <a:rPr kumimoji="1" lang="zh-CN" altLang="en-US" sz="1800">
                <a:solidFill>
                  <a:srgbClr val="000000"/>
                </a:solidFill>
                <a:latin typeface="Times New Roman" panose="02020603050405020304" pitchFamily="18" charset="0"/>
              </a:rPr>
              <a:t>及采样频率</a:t>
            </a:r>
            <a:r>
              <a:rPr kumimoji="1" lang="en-US" altLang="zh-CN" sz="1800">
                <a:solidFill>
                  <a:srgbClr val="000000"/>
                </a:solidFill>
                <a:latin typeface="Times New Roman" panose="02020603050405020304" pitchFamily="18" charset="0"/>
              </a:rPr>
              <a:t>(1/</a:t>
            </a:r>
            <a:r>
              <a:rPr kumimoji="1" lang="en-US" altLang="zh-CN" sz="1800" i="1">
                <a:solidFill>
                  <a:srgbClr val="000000"/>
                </a:solidFill>
                <a:latin typeface="Times New Roman" panose="02020603050405020304" pitchFamily="18" charset="0"/>
              </a:rPr>
              <a:t>T</a:t>
            </a:r>
            <a:r>
              <a:rPr kumimoji="1" lang="en-US" altLang="zh-CN" sz="1800">
                <a:solidFill>
                  <a:srgbClr val="000000"/>
                </a:solidFill>
                <a:latin typeface="Times New Roman" panose="02020603050405020304" pitchFamily="18" charset="0"/>
              </a:rPr>
              <a:t>)</a:t>
            </a:r>
            <a:endParaRPr kumimoji="1" lang="zh-CN" altLang="en-US" sz="1800">
              <a:solidFill>
                <a:srgbClr val="000000"/>
              </a:solidFill>
              <a:latin typeface="Times New Roman" panose="02020603050405020304" pitchFamily="18" charset="0"/>
            </a:endParaRPr>
          </a:p>
        </p:txBody>
      </p:sp>
      <p:graphicFrame>
        <p:nvGraphicFramePr>
          <p:cNvPr id="150536" name="对象 10"/>
          <p:cNvGraphicFramePr>
            <a:graphicFrameLocks noChangeAspect="1"/>
          </p:cNvGraphicFramePr>
          <p:nvPr/>
        </p:nvGraphicFramePr>
        <p:xfrm>
          <a:off x="3106738" y="4127500"/>
          <a:ext cx="1465262" cy="673100"/>
        </p:xfrm>
        <a:graphic>
          <a:graphicData uri="http://schemas.openxmlformats.org/presentationml/2006/ole">
            <mc:AlternateContent xmlns:mc="http://schemas.openxmlformats.org/markup-compatibility/2006">
              <mc:Choice xmlns:v="urn:schemas-microsoft-com:vml" Requires="v">
                <p:oleObj spid="_x0000_s21635" name="Equation" r:id="rId5" imgW="939392" imgH="431613" progId="Equation.3">
                  <p:embed/>
                </p:oleObj>
              </mc:Choice>
              <mc:Fallback>
                <p:oleObj name="Equation" r:id="rId5" imgW="939392" imgH="431613" progId="Equation.3">
                  <p:embed/>
                  <p:pic>
                    <p:nvPicPr>
                      <p:cNvPr id="150536"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6738" y="4127500"/>
                        <a:ext cx="1465262"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0537" name="Picture 9" descr="5-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3484564"/>
            <a:ext cx="3506788" cy="322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99516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1"/>
          <p:cNvSpPr>
            <a:spLocks noGrp="1"/>
          </p:cNvSpPr>
          <p:nvPr>
            <p:ph type="title"/>
          </p:nvPr>
        </p:nvSpPr>
        <p:spPr>
          <a:xfrm>
            <a:off x="2743200" y="457200"/>
            <a:ext cx="7315200" cy="914400"/>
          </a:xfrm>
        </p:spPr>
        <p:txBody>
          <a:bodyPr/>
          <a:lstStyle/>
          <a:p>
            <a:r>
              <a:rPr kumimoji="1" lang="en-US" altLang="zh-CN" smtClean="0">
                <a:solidFill>
                  <a:schemeClr val="tx1"/>
                </a:solidFill>
                <a:latin typeface="Times New Roman" panose="02020603050405020304" pitchFamily="18" charset="0"/>
                <a:ea typeface="宋体" panose="02010600030101010101" pitchFamily="2" charset="-122"/>
              </a:rPr>
              <a:t>6.5  </a:t>
            </a:r>
            <a:r>
              <a:rPr kumimoji="1" lang="zh-CN" altLang="en-US" smtClean="0">
                <a:solidFill>
                  <a:schemeClr val="tx1"/>
                </a:solidFill>
                <a:latin typeface="Times New Roman" panose="02020603050405020304" pitchFamily="18" charset="0"/>
                <a:ea typeface="宋体" panose="02010600030101010101" pitchFamily="2" charset="-122"/>
              </a:rPr>
              <a:t>用双线性变换法设计</a:t>
            </a:r>
            <a:r>
              <a:rPr kumimoji="1" lang="en-US" altLang="zh-CN" smtClean="0">
                <a:solidFill>
                  <a:schemeClr val="tx1"/>
                </a:solidFill>
                <a:latin typeface="Times New Roman" panose="02020603050405020304" pitchFamily="18" charset="0"/>
                <a:ea typeface="宋体" panose="02010600030101010101" pitchFamily="2" charset="-122"/>
              </a:rPr>
              <a:t>IIR</a:t>
            </a:r>
            <a:r>
              <a:rPr kumimoji="1" lang="zh-CN" altLang="en-US" smtClean="0">
                <a:solidFill>
                  <a:schemeClr val="tx1"/>
                </a:solidFill>
                <a:latin typeface="Times New Roman" panose="02020603050405020304" pitchFamily="18" charset="0"/>
                <a:ea typeface="宋体" panose="02010600030101010101" pitchFamily="2" charset="-122"/>
              </a:rPr>
              <a:t>数字滤波器 </a:t>
            </a:r>
            <a:endParaRPr lang="zh-CN" altLang="en-US" smtClean="0">
              <a:ea typeface="宋体" panose="02010600030101010101" pitchFamily="2" charset="-122"/>
            </a:endParaRPr>
          </a:p>
        </p:txBody>
      </p:sp>
      <p:sp>
        <p:nvSpPr>
          <p:cNvPr id="15155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24CD99DA-73CA-4472-9A8A-BCAB291AF8A2}"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18</a:t>
            </a:fld>
            <a:endParaRPr lang="en-US" altLang="zh-CN" sz="1400" b="0">
              <a:solidFill>
                <a:srgbClr val="000000"/>
              </a:solidFill>
              <a:latin typeface="Times New Roman" panose="02020603050405020304" pitchFamily="18" charset="0"/>
            </a:endParaRPr>
          </a:p>
        </p:txBody>
      </p:sp>
      <p:sp>
        <p:nvSpPr>
          <p:cNvPr id="151556" name="Text Box 4"/>
          <p:cNvSpPr txBox="1">
            <a:spLocks noChangeArrowheads="1"/>
          </p:cNvSpPr>
          <p:nvPr/>
        </p:nvSpPr>
        <p:spPr bwMode="auto">
          <a:xfrm>
            <a:off x="1752600" y="1539876"/>
            <a:ext cx="86868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lnSpc>
                <a:spcPct val="150000"/>
              </a:lnSpc>
              <a:spcBef>
                <a:spcPct val="50000"/>
              </a:spcBef>
              <a:spcAft>
                <a:spcPct val="0"/>
              </a:spcAft>
            </a:pPr>
            <a:r>
              <a:rPr kumimoji="1" lang="en-US" altLang="zh-CN">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如果给出的是待设计滤波器的模拟域频率</a:t>
            </a:r>
            <a:r>
              <a:rPr kumimoji="1" lang="en-US" altLang="zh-CN" i="1">
                <a:solidFill>
                  <a:srgbClr val="000000"/>
                </a:solidFill>
                <a:latin typeface="Times New Roman" panose="02020603050405020304" pitchFamily="18" charset="0"/>
              </a:rPr>
              <a:t>f</a:t>
            </a:r>
            <a:r>
              <a:rPr kumimoji="1" lang="zh-CN" altLang="en-US">
                <a:solidFill>
                  <a:srgbClr val="000000"/>
                </a:solidFill>
                <a:latin typeface="Times New Roman" panose="02020603050405020304" pitchFamily="18" charset="0"/>
              </a:rPr>
              <a:t> </a:t>
            </a:r>
            <a:r>
              <a:rPr kumimoji="1" lang="zh-CN" altLang="en-US" sz="2400">
                <a:solidFill>
                  <a:srgbClr val="000000"/>
                </a:solidFill>
                <a:latin typeface="Times New Roman" panose="02020603050405020304" pitchFamily="18" charset="0"/>
              </a:rPr>
              <a:t></a:t>
            </a:r>
          </a:p>
        </p:txBody>
      </p:sp>
      <p:sp>
        <p:nvSpPr>
          <p:cNvPr id="151557" name="Text Box 5"/>
          <p:cNvSpPr txBox="1">
            <a:spLocks noChangeArrowheads="1"/>
          </p:cNvSpPr>
          <p:nvPr/>
        </p:nvSpPr>
        <p:spPr bwMode="auto">
          <a:xfrm>
            <a:off x="5105400" y="2133601"/>
            <a:ext cx="12715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fontAlgn="base">
              <a:spcBef>
                <a:spcPct val="0"/>
              </a:spcBef>
              <a:spcAft>
                <a:spcPct val="0"/>
              </a:spcAft>
            </a:pPr>
            <a:r>
              <a:rPr kumimoji="1" lang="en-US" altLang="zh-CN" sz="2400" i="1">
                <a:solidFill>
                  <a:srgbClr val="000000"/>
                </a:solidFill>
                <a:latin typeface="Times New Roman" panose="02020603050405020304" pitchFamily="18" charset="0"/>
              </a:rPr>
              <a:t>ω</a:t>
            </a:r>
            <a:r>
              <a:rPr kumimoji="1" lang="en-US" altLang="zh-CN" sz="2400">
                <a:solidFill>
                  <a:srgbClr val="000000"/>
                </a:solidFill>
                <a:latin typeface="Times New Roman" panose="02020603050405020304" pitchFamily="18" charset="0"/>
              </a:rPr>
              <a:t>=2π</a:t>
            </a:r>
            <a:r>
              <a:rPr kumimoji="1" lang="en-US" altLang="zh-CN" sz="2400" i="1">
                <a:solidFill>
                  <a:srgbClr val="000000"/>
                </a:solidFill>
                <a:latin typeface="Times New Roman" panose="02020603050405020304" pitchFamily="18" charset="0"/>
              </a:rPr>
              <a:t>fT </a:t>
            </a:r>
          </a:p>
        </p:txBody>
      </p:sp>
      <p:graphicFrame>
        <p:nvGraphicFramePr>
          <p:cNvPr id="151558" name="Object 8"/>
          <p:cNvGraphicFramePr>
            <a:graphicFrameLocks noChangeAspect="1"/>
          </p:cNvGraphicFramePr>
          <p:nvPr/>
        </p:nvGraphicFramePr>
        <p:xfrm>
          <a:off x="5160964" y="2667000"/>
          <a:ext cx="1717675" cy="788988"/>
        </p:xfrm>
        <a:graphic>
          <a:graphicData uri="http://schemas.openxmlformats.org/presentationml/2006/ole">
            <mc:AlternateContent xmlns:mc="http://schemas.openxmlformats.org/markup-compatibility/2006">
              <mc:Choice xmlns:v="urn:schemas-microsoft-com:vml" Requires="v">
                <p:oleObj spid="_x0000_s22722" name="Equation" r:id="rId3" imgW="939392" imgH="431613" progId="Equation.3">
                  <p:embed/>
                </p:oleObj>
              </mc:Choice>
              <mc:Fallback>
                <p:oleObj name="Equation" r:id="rId3" imgW="939392" imgH="431613" progId="Equation.3">
                  <p:embed/>
                  <p:pic>
                    <p:nvPicPr>
                      <p:cNvPr id="15155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964" y="2667000"/>
                        <a:ext cx="1717675"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59" name="TextBox 10"/>
          <p:cNvSpPr txBox="1">
            <a:spLocks noChangeArrowheads="1"/>
          </p:cNvSpPr>
          <p:nvPr/>
        </p:nvSpPr>
        <p:spPr bwMode="auto">
          <a:xfrm>
            <a:off x="2209800" y="3657600"/>
            <a:ext cx="576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zh-CN" altLang="en-US">
                <a:solidFill>
                  <a:srgbClr val="000000"/>
                </a:solidFill>
                <a:latin typeface="Times New Roman" panose="02020603050405020304" pitchFamily="18" charset="0"/>
                <a:cs typeface="Times New Roman" panose="02020603050405020304" pitchFamily="18" charset="0"/>
              </a:rPr>
              <a:t>（</a:t>
            </a:r>
            <a:r>
              <a:rPr lang="en-US" altLang="zh-CN">
                <a:solidFill>
                  <a:srgbClr val="000000"/>
                </a:solidFill>
                <a:latin typeface="Times New Roman" panose="02020603050405020304" pitchFamily="18" charset="0"/>
                <a:cs typeface="Times New Roman" panose="02020603050405020304" pitchFamily="18" charset="0"/>
              </a:rPr>
              <a:t>2</a:t>
            </a:r>
            <a:r>
              <a:rPr lang="zh-CN" altLang="en-US">
                <a:solidFill>
                  <a:srgbClr val="000000"/>
                </a:solidFill>
                <a:latin typeface="Times New Roman" panose="02020603050405020304" pitchFamily="18" charset="0"/>
                <a:cs typeface="Times New Roman" panose="02020603050405020304" pitchFamily="18" charset="0"/>
              </a:rPr>
              <a:t>） 按</a:t>
            </a:r>
            <a:r>
              <a:rPr lang="en-US" altLang="zh-CN" i="1">
                <a:solidFill>
                  <a:srgbClr val="000000"/>
                </a:solidFill>
                <a:latin typeface="Times New Roman" panose="02020603050405020304" pitchFamily="18" charset="0"/>
                <a:cs typeface="Times New Roman" panose="02020603050405020304" pitchFamily="18" charset="0"/>
              </a:rPr>
              <a:t>Ω</a:t>
            </a:r>
            <a:r>
              <a:rPr lang="zh-CN" altLang="en-US">
                <a:solidFill>
                  <a:srgbClr val="000000"/>
                </a:solidFill>
                <a:latin typeface="Times New Roman" panose="02020603050405020304" pitchFamily="18" charset="0"/>
                <a:cs typeface="Times New Roman" panose="02020603050405020304" pitchFamily="18" charset="0"/>
              </a:rPr>
              <a:t>指标设计模拟滤波器的系统函数</a:t>
            </a:r>
            <a:r>
              <a:rPr lang="en-US" altLang="zh-CN" i="1">
                <a:solidFill>
                  <a:srgbClr val="000000"/>
                </a:solidFill>
                <a:latin typeface="Times New Roman" panose="02020603050405020304" pitchFamily="18" charset="0"/>
                <a:cs typeface="Times New Roman" panose="02020603050405020304" pitchFamily="18" charset="0"/>
              </a:rPr>
              <a:t>H</a:t>
            </a:r>
            <a:r>
              <a:rPr lang="en-US" altLang="zh-CN" baseline="-25000">
                <a:solidFill>
                  <a:srgbClr val="000000"/>
                </a:solidFill>
                <a:latin typeface="Times New Roman" panose="02020603050405020304" pitchFamily="18" charset="0"/>
                <a:cs typeface="Times New Roman" panose="02020603050405020304" pitchFamily="18" charset="0"/>
              </a:rPr>
              <a:t>a</a:t>
            </a:r>
            <a:r>
              <a:rPr lang="en-US" altLang="zh-CN">
                <a:solidFill>
                  <a:srgbClr val="000000"/>
                </a:solidFill>
                <a:latin typeface="Times New Roman" panose="02020603050405020304" pitchFamily="18" charset="0"/>
                <a:cs typeface="Times New Roman" panose="02020603050405020304" pitchFamily="18" charset="0"/>
              </a:rPr>
              <a:t>(</a:t>
            </a:r>
            <a:r>
              <a:rPr lang="en-US" altLang="zh-CN" i="1">
                <a:solidFill>
                  <a:srgbClr val="000000"/>
                </a:solidFill>
                <a:latin typeface="Times New Roman" panose="02020603050405020304" pitchFamily="18" charset="0"/>
                <a:cs typeface="Times New Roman" panose="02020603050405020304" pitchFamily="18" charset="0"/>
              </a:rPr>
              <a:t>s</a:t>
            </a:r>
            <a:r>
              <a:rPr lang="en-US" altLang="zh-CN">
                <a:solidFill>
                  <a:srgbClr val="000000"/>
                </a:solidFill>
                <a:latin typeface="Times New Roman" panose="02020603050405020304" pitchFamily="18" charset="0"/>
                <a:cs typeface="Times New Roman" panose="02020603050405020304" pitchFamily="18" charset="0"/>
              </a:rPr>
              <a:t>)</a:t>
            </a:r>
            <a:r>
              <a:rPr lang="zh-CN" altLang="en-US">
                <a:solidFill>
                  <a:srgbClr val="000000"/>
                </a:solidFill>
                <a:latin typeface="Times New Roman" panose="02020603050405020304" pitchFamily="18" charset="0"/>
                <a:cs typeface="Times New Roman" panose="02020603050405020304" pitchFamily="18" charset="0"/>
              </a:rPr>
              <a:t>。</a:t>
            </a:r>
          </a:p>
        </p:txBody>
      </p:sp>
      <p:grpSp>
        <p:nvGrpSpPr>
          <p:cNvPr id="151560" name="Group 7"/>
          <p:cNvGrpSpPr>
            <a:grpSpLocks/>
          </p:cNvGrpSpPr>
          <p:nvPr/>
        </p:nvGrpSpPr>
        <p:grpSpPr bwMode="auto">
          <a:xfrm>
            <a:off x="1676400" y="4495801"/>
            <a:ext cx="7315200" cy="714375"/>
            <a:chOff x="144" y="480"/>
            <a:chExt cx="4608" cy="450"/>
          </a:xfrm>
        </p:grpSpPr>
        <p:sp>
          <p:nvSpPr>
            <p:cNvPr id="151562" name="Text Box 4"/>
            <p:cNvSpPr txBox="1">
              <a:spLocks noChangeArrowheads="1"/>
            </p:cNvSpPr>
            <p:nvPr/>
          </p:nvSpPr>
          <p:spPr bwMode="auto">
            <a:xfrm>
              <a:off x="144" y="560"/>
              <a:ext cx="46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fontAlgn="base">
                <a:spcBef>
                  <a:spcPct val="50000"/>
                </a:spcBef>
                <a:spcAft>
                  <a:spcPct val="0"/>
                </a:spcAft>
              </a:pPr>
              <a:r>
                <a:rPr kumimoji="1" lang="en-US" altLang="zh-CN" sz="2400">
                  <a:solidFill>
                    <a:srgbClr val="000000"/>
                  </a:solidFill>
                  <a:latin typeface="Times New Roman" panose="02020603050405020304" pitchFamily="18" charset="0"/>
                </a:rPr>
                <a:t>       </a:t>
              </a: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3</a:t>
              </a:r>
              <a:r>
                <a:rPr kumimoji="1" lang="zh-CN" altLang="en-US">
                  <a:solidFill>
                    <a:srgbClr val="000000"/>
                  </a:solidFill>
                  <a:latin typeface="Times New Roman" panose="02020603050405020304" pitchFamily="18" charset="0"/>
                </a:rPr>
                <a:t>）将                          代入</a:t>
              </a:r>
              <a:r>
                <a:rPr kumimoji="1" lang="en-US" altLang="zh-CN" i="1">
                  <a:solidFill>
                    <a:srgbClr val="000000"/>
                  </a:solidFill>
                  <a:latin typeface="Times New Roman" panose="02020603050405020304" pitchFamily="18" charset="0"/>
                </a:rPr>
                <a:t>H</a:t>
              </a:r>
              <a:r>
                <a:rPr kumimoji="1" lang="en-US" altLang="zh-CN" baseline="-25000">
                  <a:solidFill>
                    <a:srgbClr val="000000"/>
                  </a:solidFill>
                  <a:latin typeface="Times New Roman" panose="02020603050405020304" pitchFamily="18" charset="0"/>
                </a:rPr>
                <a:t>a</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s</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，得</a:t>
              </a:r>
              <a:r>
                <a:rPr kumimoji="1" lang="en-US" altLang="zh-CN" i="1">
                  <a:solidFill>
                    <a:srgbClr val="000000"/>
                  </a:solidFill>
                  <a:latin typeface="Times New Roman" panose="02020603050405020304" pitchFamily="18" charset="0"/>
                </a:rPr>
                <a:t>H</a:t>
              </a:r>
              <a:r>
                <a:rPr kumimoji="1" lang="en-US" altLang="zh-CN">
                  <a:solidFill>
                    <a:srgbClr val="000000"/>
                  </a:solidFill>
                  <a:latin typeface="Times New Roman" panose="02020603050405020304" pitchFamily="18" charset="0"/>
                </a:rPr>
                <a:t>(</a:t>
              </a:r>
              <a:r>
                <a:rPr kumimoji="1" lang="en-US" altLang="zh-CN" i="1">
                  <a:solidFill>
                    <a:srgbClr val="000000"/>
                  </a:solidFill>
                  <a:latin typeface="Times New Roman" panose="02020603050405020304" pitchFamily="18" charset="0"/>
                </a:rPr>
                <a:t>z</a:t>
              </a:r>
              <a:r>
                <a:rPr kumimoji="1" lang="en-US" altLang="zh-CN">
                  <a:solidFill>
                    <a:srgbClr val="000000"/>
                  </a:solidFill>
                  <a:latin typeface="Times New Roman" panose="02020603050405020304" pitchFamily="18" charset="0"/>
                </a:rPr>
                <a:t>)</a:t>
              </a:r>
              <a:r>
                <a:rPr kumimoji="1" lang="zh-CN" altLang="en-US">
                  <a:solidFill>
                    <a:srgbClr val="000000"/>
                  </a:solidFill>
                  <a:latin typeface="Times New Roman" panose="02020603050405020304" pitchFamily="18" charset="0"/>
                </a:rPr>
                <a:t>为 </a:t>
              </a:r>
            </a:p>
          </p:txBody>
        </p:sp>
        <p:graphicFrame>
          <p:nvGraphicFramePr>
            <p:cNvPr id="151563" name="Object 5"/>
            <p:cNvGraphicFramePr>
              <a:graphicFrameLocks noChangeAspect="1"/>
            </p:cNvGraphicFramePr>
            <p:nvPr/>
          </p:nvGraphicFramePr>
          <p:xfrm>
            <a:off x="1196" y="480"/>
            <a:ext cx="873" cy="450"/>
          </p:xfrm>
          <a:graphic>
            <a:graphicData uri="http://schemas.openxmlformats.org/presentationml/2006/ole">
              <mc:AlternateContent xmlns:mc="http://schemas.openxmlformats.org/markup-compatibility/2006">
                <mc:Choice xmlns:v="urn:schemas-microsoft-com:vml" Requires="v">
                  <p:oleObj spid="_x0000_s22723" name="Equation" r:id="rId5" imgW="812447" imgH="418918" progId="Equation.3">
                    <p:embed/>
                  </p:oleObj>
                </mc:Choice>
                <mc:Fallback>
                  <p:oleObj name="Equation" r:id="rId5" imgW="812447" imgH="418918" progId="Equation.3">
                    <p:embed/>
                    <p:pic>
                      <p:nvPicPr>
                        <p:cNvPr id="15156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6" y="480"/>
                          <a:ext cx="873" cy="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51561" name="Object 6"/>
          <p:cNvGraphicFramePr>
            <a:graphicFrameLocks noChangeAspect="1"/>
          </p:cNvGraphicFramePr>
          <p:nvPr/>
        </p:nvGraphicFramePr>
        <p:xfrm>
          <a:off x="3352801" y="5334001"/>
          <a:ext cx="3851275" cy="815975"/>
        </p:xfrm>
        <a:graphic>
          <a:graphicData uri="http://schemas.openxmlformats.org/presentationml/2006/ole">
            <mc:AlternateContent xmlns:mc="http://schemas.openxmlformats.org/markup-compatibility/2006">
              <mc:Choice xmlns:v="urn:schemas-microsoft-com:vml" Requires="v">
                <p:oleObj spid="_x0000_s22724" name="Equation" r:id="rId7" imgW="2336800" imgH="495300" progId="Equation.3">
                  <p:embed/>
                </p:oleObj>
              </mc:Choice>
              <mc:Fallback>
                <p:oleObj name="Equation" r:id="rId7" imgW="2336800" imgH="495300" progId="Equation.3">
                  <p:embed/>
                  <p:pic>
                    <p:nvPicPr>
                      <p:cNvPr id="151561"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1" y="5334001"/>
                        <a:ext cx="3851275"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1947088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2766"/>
  <p:tag name="KSO_WM_TAG_VERSION" val="1.0"/>
  <p:tag name="KSO_WM_SLIDE_ID" val="custom20182766_12"/>
  <p:tag name="KSO_WM_SLIDE_INDEX" val="12"/>
  <p:tag name="KSO_WM_SLIDE_ITEM_CNT" val="2"/>
  <p:tag name="KSO_WM_SLIDE_LAYOUT" val="a_b"/>
  <p:tag name="KSO_WM_SLIDE_LAYOUT_CNT" val="1_1"/>
  <p:tag name="KSO_WM_SLIDE_TYPE" val="sectionTitle"/>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2766"/>
  <p:tag name="KSO_WM_UNIT_TYPE" val="a"/>
  <p:tag name="KSO_WM_UNIT_INDEX" val="1"/>
  <p:tag name="KSO_WM_UNIT_ID" val="custom20182766_12*a*1"/>
  <p:tag name="KSO_WM_UNIT_LAYERLEVEL" val="1"/>
  <p:tag name="KSO_WM_UNIT_VALUE" val="9"/>
  <p:tag name="KSO_WM_UNIT_ISCONTENTSTITLE" val="0"/>
  <p:tag name="KSO_WM_UNIT_HIGHLIGHT" val="0"/>
  <p:tag name="KSO_WM_UNIT_COMPATIBLE" val="0"/>
  <p:tag name="KSO_WM_UNIT_CLEAR" val="0"/>
  <p:tag name="KSO_WM_BEAUTIFY_FLAG" val="#wm#"/>
  <p:tag name="KSO_WM_TAG_VERSION" val="1.0"/>
  <p:tag name="KSO_WM_UNIT_PRESET_TEXT" val="SECTION TITLE"/>
</p:tagLst>
</file>

<file path=ppt/theme/theme1.xml><?xml version="1.0" encoding="utf-8"?>
<a:theme xmlns:a="http://schemas.openxmlformats.org/drawingml/2006/main" name="icfp99">
  <a:themeElements>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icfp99">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lnDef>
  </a:objectDefaults>
  <a:extraClrSchemeLst>
    <a:extraClrScheme>
      <a:clrScheme name="icfp99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cfp99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cfp99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cfp99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cfp9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cfp9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cfp9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TotalTime>
  <Words>689</Words>
  <Application>Microsoft Office PowerPoint</Application>
  <PresentationFormat>宽屏</PresentationFormat>
  <Paragraphs>259</Paragraphs>
  <Slides>18</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18</vt:i4>
      </vt:variant>
    </vt:vector>
  </HeadingPairs>
  <TitlesOfParts>
    <vt:vector size="31" baseType="lpstr">
      <vt:lpstr>等线</vt:lpstr>
      <vt:lpstr>微软雅黑</vt:lpstr>
      <vt:lpstr>宋体</vt:lpstr>
      <vt:lpstr>Arial</vt:lpstr>
      <vt:lpstr>Calibri</vt:lpstr>
      <vt:lpstr>Comic Sans MS</vt:lpstr>
      <vt:lpstr>Symbol</vt:lpstr>
      <vt:lpstr>Times New Roman</vt:lpstr>
      <vt:lpstr>Wingdings</vt:lpstr>
      <vt:lpstr>icfp99</vt:lpstr>
      <vt:lpstr>MathType 7.0 Equation</vt:lpstr>
      <vt:lpstr>公式</vt:lpstr>
      <vt:lpstr>Equation</vt:lpstr>
      <vt:lpstr>IIR滤波器</vt:lpstr>
      <vt:lpstr>复习</vt:lpstr>
      <vt:lpstr>PowerPoint 演示文稿</vt:lpstr>
      <vt:lpstr>PowerPoint 演示文稿</vt:lpstr>
      <vt:lpstr>PowerPoint 演示文稿</vt:lpstr>
      <vt:lpstr>PowerPoint 演示文稿</vt:lpstr>
      <vt:lpstr>PowerPoint 演示文稿</vt:lpstr>
      <vt:lpstr>模拟滤波器的数字化方法</vt:lpstr>
      <vt:lpstr>例题</vt:lpstr>
      <vt:lpstr>例题</vt:lpstr>
      <vt:lpstr>例题</vt:lpstr>
      <vt:lpstr>优缺点</vt:lpstr>
      <vt:lpstr>6.5  用双线性变换法设计IIR数字滤波器 </vt:lpstr>
      <vt:lpstr>PowerPoint 演示文稿</vt:lpstr>
      <vt:lpstr>6.5  用双线性变换法设计IIR数字滤波器 </vt:lpstr>
      <vt:lpstr>6.5  用双线性变换法设计IIR数字滤波器 </vt:lpstr>
      <vt:lpstr>6.5  用双线性变换法设计IIR数字滤波器 </vt:lpstr>
      <vt:lpstr>6.5  用双线性变换法设计IIR数字滤波器 </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IIR数字滤波器的设计方法 </dc:title>
  <dc:creator>Administrator</dc:creator>
  <cp:lastModifiedBy>CHAO WU</cp:lastModifiedBy>
  <cp:revision>51</cp:revision>
  <dcterms:created xsi:type="dcterms:W3CDTF">2020-08-06T07:37:53Z</dcterms:created>
  <dcterms:modified xsi:type="dcterms:W3CDTF">2022-11-14T11:33:56Z</dcterms:modified>
</cp:coreProperties>
</file>