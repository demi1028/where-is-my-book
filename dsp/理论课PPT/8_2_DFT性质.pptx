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  <p:sldMasterId id="2147483722" r:id="rId2"/>
    <p:sldMasterId id="2147483735" r:id="rId3"/>
  </p:sldMasterIdLst>
  <p:notesMasterIdLst>
    <p:notesMasterId r:id="rId33"/>
  </p:notesMasterIdLst>
  <p:sldIdLst>
    <p:sldId id="392" r:id="rId4"/>
    <p:sldId id="393" r:id="rId5"/>
    <p:sldId id="394" r:id="rId6"/>
    <p:sldId id="395" r:id="rId7"/>
    <p:sldId id="396" r:id="rId8"/>
    <p:sldId id="397" r:id="rId9"/>
    <p:sldId id="398" r:id="rId10"/>
    <p:sldId id="399" r:id="rId11"/>
    <p:sldId id="400" r:id="rId12"/>
    <p:sldId id="401" r:id="rId13"/>
    <p:sldId id="370" r:id="rId14"/>
    <p:sldId id="371" r:id="rId15"/>
    <p:sldId id="372" r:id="rId16"/>
    <p:sldId id="373" r:id="rId17"/>
    <p:sldId id="374" r:id="rId18"/>
    <p:sldId id="375" r:id="rId19"/>
    <p:sldId id="402" r:id="rId20"/>
    <p:sldId id="403" r:id="rId21"/>
    <p:sldId id="404" r:id="rId22"/>
    <p:sldId id="405" r:id="rId23"/>
    <p:sldId id="406" r:id="rId24"/>
    <p:sldId id="407" r:id="rId25"/>
    <p:sldId id="408" r:id="rId26"/>
    <p:sldId id="409" r:id="rId27"/>
    <p:sldId id="410" r:id="rId28"/>
    <p:sldId id="411" r:id="rId29"/>
    <p:sldId id="412" r:id="rId30"/>
    <p:sldId id="413" r:id="rId31"/>
    <p:sldId id="414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5" autoAdjust="0"/>
    <p:restoredTop sz="94660"/>
  </p:normalViewPr>
  <p:slideViewPr>
    <p:cSldViewPr snapToGrid="0">
      <p:cViewPr varScale="1">
        <p:scale>
          <a:sx n="75" d="100"/>
          <a:sy n="75" d="100"/>
        </p:scale>
        <p:origin x="31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viewProps" Target="view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7" Type="http://schemas.openxmlformats.org/officeDocument/2006/relationships/image" Target="../media/image8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6" Type="http://schemas.openxmlformats.org/officeDocument/2006/relationships/image" Target="../media/image15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8.wmf"/><Relationship Id="rId1" Type="http://schemas.openxmlformats.org/officeDocument/2006/relationships/image" Target="../media/image3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6" Type="http://schemas.openxmlformats.org/officeDocument/2006/relationships/image" Target="../media/image15.wmf"/><Relationship Id="rId5" Type="http://schemas.openxmlformats.org/officeDocument/2006/relationships/image" Target="../media/image14.wmf"/><Relationship Id="rId4" Type="http://schemas.openxmlformats.org/officeDocument/2006/relationships/image" Target="../media/image18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image" Target="../media/image21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Relationship Id="rId4" Type="http://schemas.openxmlformats.org/officeDocument/2006/relationships/image" Target="../media/image29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" Type="http://schemas.openxmlformats.org/officeDocument/2006/relationships/image" Target="../media/image30.emf"/><Relationship Id="rId4" Type="http://schemas.openxmlformats.org/officeDocument/2006/relationships/image" Target="../media/image33.e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7" Type="http://schemas.openxmlformats.org/officeDocument/2006/relationships/image" Target="../media/image40.emf"/><Relationship Id="rId2" Type="http://schemas.openxmlformats.org/officeDocument/2006/relationships/image" Target="../media/image35.emf"/><Relationship Id="rId1" Type="http://schemas.openxmlformats.org/officeDocument/2006/relationships/image" Target="../media/image34.emf"/><Relationship Id="rId6" Type="http://schemas.openxmlformats.org/officeDocument/2006/relationships/image" Target="../media/image39.emf"/><Relationship Id="rId5" Type="http://schemas.openxmlformats.org/officeDocument/2006/relationships/image" Target="../media/image38.emf"/><Relationship Id="rId4" Type="http://schemas.openxmlformats.org/officeDocument/2006/relationships/image" Target="../media/image37.e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48.emf"/><Relationship Id="rId3" Type="http://schemas.openxmlformats.org/officeDocument/2006/relationships/image" Target="../media/image43.emf"/><Relationship Id="rId7" Type="http://schemas.openxmlformats.org/officeDocument/2006/relationships/image" Target="../media/image47.emf"/><Relationship Id="rId2" Type="http://schemas.openxmlformats.org/officeDocument/2006/relationships/image" Target="../media/image42.emf"/><Relationship Id="rId1" Type="http://schemas.openxmlformats.org/officeDocument/2006/relationships/image" Target="../media/image41.emf"/><Relationship Id="rId6" Type="http://schemas.openxmlformats.org/officeDocument/2006/relationships/image" Target="../media/image46.emf"/><Relationship Id="rId5" Type="http://schemas.openxmlformats.org/officeDocument/2006/relationships/image" Target="../media/image45.emf"/><Relationship Id="rId4" Type="http://schemas.openxmlformats.org/officeDocument/2006/relationships/image" Target="../media/image44.emf"/><Relationship Id="rId9" Type="http://schemas.openxmlformats.org/officeDocument/2006/relationships/image" Target="../media/image49.e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image" Target="../media/image51.emf"/><Relationship Id="rId1" Type="http://schemas.openxmlformats.org/officeDocument/2006/relationships/image" Target="../media/image50.emf"/><Relationship Id="rId5" Type="http://schemas.openxmlformats.org/officeDocument/2006/relationships/image" Target="../media/image54.emf"/><Relationship Id="rId4" Type="http://schemas.openxmlformats.org/officeDocument/2006/relationships/image" Target="../media/image53.e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Relationship Id="rId4" Type="http://schemas.openxmlformats.org/officeDocument/2006/relationships/image" Target="../media/image58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Relationship Id="rId4" Type="http://schemas.openxmlformats.org/officeDocument/2006/relationships/image" Target="../media/image62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68.wmf"/><Relationship Id="rId1" Type="http://schemas.openxmlformats.org/officeDocument/2006/relationships/image" Target="../media/image67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71.wmf"/><Relationship Id="rId2" Type="http://schemas.openxmlformats.org/officeDocument/2006/relationships/image" Target="../media/image60.wmf"/><Relationship Id="rId1" Type="http://schemas.openxmlformats.org/officeDocument/2006/relationships/image" Target="../media/image56.wmf"/><Relationship Id="rId4" Type="http://schemas.openxmlformats.org/officeDocument/2006/relationships/image" Target="../media/image72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74.wmf"/><Relationship Id="rId1" Type="http://schemas.openxmlformats.org/officeDocument/2006/relationships/image" Target="../media/image73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8.wmf"/><Relationship Id="rId2" Type="http://schemas.openxmlformats.org/officeDocument/2006/relationships/image" Target="../media/image77.wmf"/><Relationship Id="rId1" Type="http://schemas.openxmlformats.org/officeDocument/2006/relationships/image" Target="../media/image57.wmf"/><Relationship Id="rId5" Type="http://schemas.openxmlformats.org/officeDocument/2006/relationships/image" Target="../media/image62.wmf"/><Relationship Id="rId4" Type="http://schemas.openxmlformats.org/officeDocument/2006/relationships/image" Target="../media/image65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7.wmf"/><Relationship Id="rId13" Type="http://schemas.openxmlformats.org/officeDocument/2006/relationships/image" Target="../media/image92.wmf"/><Relationship Id="rId3" Type="http://schemas.openxmlformats.org/officeDocument/2006/relationships/image" Target="../media/image82.wmf"/><Relationship Id="rId7" Type="http://schemas.openxmlformats.org/officeDocument/2006/relationships/image" Target="../media/image86.wmf"/><Relationship Id="rId12" Type="http://schemas.openxmlformats.org/officeDocument/2006/relationships/image" Target="../media/image91.wmf"/><Relationship Id="rId2" Type="http://schemas.openxmlformats.org/officeDocument/2006/relationships/image" Target="../media/image81.wmf"/><Relationship Id="rId1" Type="http://schemas.openxmlformats.org/officeDocument/2006/relationships/image" Target="../media/image80.wmf"/><Relationship Id="rId6" Type="http://schemas.openxmlformats.org/officeDocument/2006/relationships/image" Target="../media/image85.wmf"/><Relationship Id="rId11" Type="http://schemas.openxmlformats.org/officeDocument/2006/relationships/image" Target="../media/image90.wmf"/><Relationship Id="rId5" Type="http://schemas.openxmlformats.org/officeDocument/2006/relationships/image" Target="../media/image84.wmf"/><Relationship Id="rId15" Type="http://schemas.openxmlformats.org/officeDocument/2006/relationships/image" Target="../media/image94.wmf"/><Relationship Id="rId10" Type="http://schemas.openxmlformats.org/officeDocument/2006/relationships/image" Target="../media/image89.png"/><Relationship Id="rId4" Type="http://schemas.openxmlformats.org/officeDocument/2006/relationships/image" Target="../media/image83.png"/><Relationship Id="rId9" Type="http://schemas.openxmlformats.org/officeDocument/2006/relationships/image" Target="../media/image88.wmf"/><Relationship Id="rId14" Type="http://schemas.openxmlformats.org/officeDocument/2006/relationships/image" Target="../media/image93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wmf"/><Relationship Id="rId3" Type="http://schemas.openxmlformats.org/officeDocument/2006/relationships/image" Target="../media/image98.wmf"/><Relationship Id="rId7" Type="http://schemas.openxmlformats.org/officeDocument/2006/relationships/image" Target="../media/image80.wmf"/><Relationship Id="rId2" Type="http://schemas.openxmlformats.org/officeDocument/2006/relationships/image" Target="../media/image97.wmf"/><Relationship Id="rId1" Type="http://schemas.openxmlformats.org/officeDocument/2006/relationships/image" Target="../media/image96.emf"/><Relationship Id="rId6" Type="http://schemas.openxmlformats.org/officeDocument/2006/relationships/image" Target="../media/image101.wmf"/><Relationship Id="rId5" Type="http://schemas.openxmlformats.org/officeDocument/2006/relationships/image" Target="../media/image100.wmf"/><Relationship Id="rId4" Type="http://schemas.openxmlformats.org/officeDocument/2006/relationships/image" Target="../media/image99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wmf"/><Relationship Id="rId7" Type="http://schemas.openxmlformats.org/officeDocument/2006/relationships/image" Target="../media/image109.wmf"/><Relationship Id="rId2" Type="http://schemas.openxmlformats.org/officeDocument/2006/relationships/image" Target="../media/image105.wmf"/><Relationship Id="rId1" Type="http://schemas.openxmlformats.org/officeDocument/2006/relationships/image" Target="../media/image104.emf"/><Relationship Id="rId6" Type="http://schemas.openxmlformats.org/officeDocument/2006/relationships/image" Target="../media/image108.wmf"/><Relationship Id="rId5" Type="http://schemas.openxmlformats.org/officeDocument/2006/relationships/image" Target="../media/image80.wmf"/><Relationship Id="rId4" Type="http://schemas.openxmlformats.org/officeDocument/2006/relationships/image" Target="../media/image107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wmf"/><Relationship Id="rId3" Type="http://schemas.openxmlformats.org/officeDocument/2006/relationships/image" Target="../media/image106.wmf"/><Relationship Id="rId7" Type="http://schemas.openxmlformats.org/officeDocument/2006/relationships/image" Target="../media/image80.wmf"/><Relationship Id="rId2" Type="http://schemas.openxmlformats.org/officeDocument/2006/relationships/image" Target="../media/image112.wmf"/><Relationship Id="rId1" Type="http://schemas.openxmlformats.org/officeDocument/2006/relationships/image" Target="../media/image111.emf"/><Relationship Id="rId6" Type="http://schemas.openxmlformats.org/officeDocument/2006/relationships/image" Target="../media/image114.wmf"/><Relationship Id="rId5" Type="http://schemas.openxmlformats.org/officeDocument/2006/relationships/image" Target="../media/image113.wmf"/><Relationship Id="rId4" Type="http://schemas.openxmlformats.org/officeDocument/2006/relationships/image" Target="../media/image10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F058FF-8803-41B6-8250-B0AAA5482101}" type="datetimeFigureOut">
              <a:rPr lang="zh-CN" altLang="en-US" smtClean="0"/>
              <a:t>2022/10/15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6584C1-775B-4727-B9BE-6E8AEA61F6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3523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4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7112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EB89419-C344-40C6-B4AF-B64360F5EC64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2022/10/15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248400"/>
            <a:ext cx="5486400" cy="45720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9408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D0EC15D-9C77-4188-80FD-534CB4D62597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2606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67" y="165100"/>
            <a:ext cx="1405467" cy="105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1009DD4-B744-4A5A-9BCF-2BE1219C8786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2022/10/15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25163F-56F0-4728-A241-57C30AA276FE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65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DB5375B-8E09-4DD8-A950-D279B55D1AF6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2022/10/15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84607E7-4DB9-45E5-BF73-16A5A03CEE1A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8325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600200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EA3D01B-CED5-4F8A-B6C8-7E3E79320ED9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2022/10/15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D40AEE6-7319-4B5B-93D0-3548900E185A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5989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440ECF-C06C-4365-A82F-7FCF58AB175D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2022/10/15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1916CC5-3ED3-4E00-85B5-005DC67C0A92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3500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AF378D-529B-499C-888D-96616A7FD7B3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2022/10/15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47B3999-57F6-416E-A1A2-5253D300C464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2174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9C2F7E0-74B7-4DF6-835D-211E54381D8A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2022/10/15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688483-54E8-444F-A583-0A553B1CE948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3164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221B5CF-6445-489A-A45C-4EC7F4623F90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2022/10/15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114EFF-8E6F-4E42-8213-F37E8D3AB8CE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342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4BE24FC-2A45-4A55-B139-5F9494B1CB54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2022/10/15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8908285-CA4E-423B-8642-8726C1B3382C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6736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1BEAA45-778A-4741-845A-F018261E7A96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2022/10/15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13AA134-3FB7-4864-BDD9-113D7FC3B5CA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4542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15400" y="457200"/>
            <a:ext cx="2768600" cy="55626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8102600" cy="55626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DC5DBC-5A12-4956-B0A7-3CBFEBC2F06C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2022/10/15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F6064C9-616C-418B-B0ED-83E8E1DAAE91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67011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769600" cy="914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435600" cy="4419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600200"/>
            <a:ext cx="5435600" cy="4419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603FB61-C213-45FB-A763-B77CDEFEA231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2022/10/15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CD01B68-6309-4BDA-8324-A2F95C8B936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85830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0F7221-778F-4F51-B63F-4316D596745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049860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21C2C2-583A-4F9A-AEDA-164BE3CA972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97649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2E29DD-9DE7-4D3C-8718-DCA41574F3A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32227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A8E294-19B6-42B3-8876-7787FE83DCB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90274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758D9A-FC59-482C-B6CD-56F888AAE70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84974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719543-8D69-4398-A2B0-15915C5D06B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08928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55B735-57F0-4BCE-8437-619F9B9B6D1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14887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58AB07-C7A8-428C-ADD3-F89C09881C7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06504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7751CF-7F85-4190-BB44-B7AE4C8D670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50195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5A8189-163A-465C-B3E0-39C64080F97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64882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49A8F-BF93-4118-83E0-FE6C3419E88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2309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914400" y="609600"/>
            <a:ext cx="10363200" cy="54864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20ABDDD-4646-4BEE-92BC-0B8112B8385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02625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E64550-A7EC-46B8-90B6-280296C6837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36952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C5BAD9-020F-4F51-8FF0-B15F3530B46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886454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3320A0-1A0C-43E1-B4D2-5D20D04E475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986058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8B5C80-BDC5-4049-9ECA-A8F6EAE77BF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182055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093B5-BA23-4CB8-B315-1A94F6157AF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669455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FA2AF1-B3D7-4052-8A07-C56FA75D91D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89613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9FCBE2-CE59-4D7E-91C4-D1DE9329DC6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1841875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736951-DBDF-48D7-8600-4D0D3C33E7B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825144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52344B-D668-41C9-8609-6661236F60A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388565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39CD6B-52E7-43C3-9631-37327EE45FB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869680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DE160D-B227-4AFD-AACE-BF4CE24AA01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1681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457200"/>
            <a:ext cx="10769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1074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17600" y="6172200"/>
            <a:ext cx="203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Times New Roman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5F930D0-305E-4488-9A18-18976C29D3C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2022/10/15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54400" y="61722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Times New Roman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45600" y="6172200"/>
            <a:ext cx="172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FF258E-67CD-4D95-B960-4634DDA92658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609600" y="1371600"/>
            <a:ext cx="10769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3749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9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9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defRPr sz="9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B70EED5-5C51-44C5-B9A5-8F8621D1327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5213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</p:sldLayoutIdLst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</a:defRPr>
      </a:lvl9pPr>
    </p:titleStyle>
    <p:bodyStyle>
      <a:lvl1pPr marL="171450" indent="-171450" algn="l" defTabSz="685800" rtl="0" fontAlgn="base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D58FE72-403D-44B7-89D6-852C60531FB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5248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</p:sldLayoutIdLst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8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4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9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openxmlformats.org/officeDocument/2006/relationships/oleObject" Target="../embeddings/oleObject14.bin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4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1.wmf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13.wmf"/><Relationship Id="rId4" Type="http://schemas.openxmlformats.org/officeDocument/2006/relationships/image" Target="../media/image10.wmf"/><Relationship Id="rId9" Type="http://schemas.openxmlformats.org/officeDocument/2006/relationships/oleObject" Target="../embeddings/oleObject12.bin"/><Relationship Id="rId14" Type="http://schemas.openxmlformats.org/officeDocument/2006/relationships/image" Target="../media/image15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20.bin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6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8.wmf"/><Relationship Id="rId11" Type="http://schemas.openxmlformats.org/officeDocument/2006/relationships/oleObject" Target="../embeddings/oleObject19.bin"/><Relationship Id="rId5" Type="http://schemas.openxmlformats.org/officeDocument/2006/relationships/oleObject" Target="../embeddings/oleObject16.bin"/><Relationship Id="rId10" Type="http://schemas.openxmlformats.org/officeDocument/2006/relationships/image" Target="../media/image5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18.bin"/><Relationship Id="rId14" Type="http://schemas.openxmlformats.org/officeDocument/2006/relationships/image" Target="../media/image7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openxmlformats.org/officeDocument/2006/relationships/oleObject" Target="../embeddings/oleObject26.bin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14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7.wmf"/><Relationship Id="rId11" Type="http://schemas.openxmlformats.org/officeDocument/2006/relationships/oleObject" Target="../embeddings/oleObject25.bin"/><Relationship Id="rId5" Type="http://schemas.openxmlformats.org/officeDocument/2006/relationships/oleObject" Target="../embeddings/oleObject22.bin"/><Relationship Id="rId10" Type="http://schemas.openxmlformats.org/officeDocument/2006/relationships/image" Target="../media/image18.w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24.bin"/><Relationship Id="rId14" Type="http://schemas.openxmlformats.org/officeDocument/2006/relationships/image" Target="../media/image15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20.emf"/><Relationship Id="rId4" Type="http://schemas.openxmlformats.org/officeDocument/2006/relationships/image" Target="../media/image19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2.e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21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7" Type="http://schemas.openxmlformats.org/officeDocument/2006/relationships/image" Target="../media/image25.e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23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33.bin"/><Relationship Id="rId10" Type="http://schemas.openxmlformats.org/officeDocument/2006/relationships/image" Target="../media/image29.wmf"/><Relationship Id="rId4" Type="http://schemas.openxmlformats.org/officeDocument/2006/relationships/image" Target="../media/image26.wmf"/><Relationship Id="rId9" Type="http://schemas.openxmlformats.org/officeDocument/2006/relationships/oleObject" Target="../embeddings/oleObject35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3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1.emf"/><Relationship Id="rId5" Type="http://schemas.openxmlformats.org/officeDocument/2006/relationships/oleObject" Target="../embeddings/oleObject37.bin"/><Relationship Id="rId10" Type="http://schemas.openxmlformats.org/officeDocument/2006/relationships/image" Target="../media/image33.emf"/><Relationship Id="rId4" Type="http://schemas.openxmlformats.org/officeDocument/2006/relationships/image" Target="../media/image30.emf"/><Relationship Id="rId9" Type="http://schemas.openxmlformats.org/officeDocument/2006/relationships/oleObject" Target="../embeddings/oleObject39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13" Type="http://schemas.openxmlformats.org/officeDocument/2006/relationships/oleObject" Target="../embeddings/oleObject45.bin"/><Relationship Id="rId3" Type="http://schemas.openxmlformats.org/officeDocument/2006/relationships/oleObject" Target="../embeddings/oleObject40.bin"/><Relationship Id="rId7" Type="http://schemas.openxmlformats.org/officeDocument/2006/relationships/oleObject" Target="../embeddings/oleObject42.bin"/><Relationship Id="rId12" Type="http://schemas.openxmlformats.org/officeDocument/2006/relationships/image" Target="../media/image38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0.e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5.emf"/><Relationship Id="rId11" Type="http://schemas.openxmlformats.org/officeDocument/2006/relationships/oleObject" Target="../embeddings/oleObject44.bin"/><Relationship Id="rId5" Type="http://schemas.openxmlformats.org/officeDocument/2006/relationships/oleObject" Target="../embeddings/oleObject41.bin"/><Relationship Id="rId15" Type="http://schemas.openxmlformats.org/officeDocument/2006/relationships/oleObject" Target="../embeddings/oleObject46.bin"/><Relationship Id="rId10" Type="http://schemas.openxmlformats.org/officeDocument/2006/relationships/image" Target="../media/image37.emf"/><Relationship Id="rId4" Type="http://schemas.openxmlformats.org/officeDocument/2006/relationships/image" Target="../media/image34.emf"/><Relationship Id="rId9" Type="http://schemas.openxmlformats.org/officeDocument/2006/relationships/oleObject" Target="../embeddings/oleObject43.bin"/><Relationship Id="rId14" Type="http://schemas.openxmlformats.org/officeDocument/2006/relationships/image" Target="../media/image39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emf"/><Relationship Id="rId13" Type="http://schemas.openxmlformats.org/officeDocument/2006/relationships/oleObject" Target="../embeddings/oleObject52.bin"/><Relationship Id="rId18" Type="http://schemas.openxmlformats.org/officeDocument/2006/relationships/image" Target="../media/image48.emf"/><Relationship Id="rId3" Type="http://schemas.openxmlformats.org/officeDocument/2006/relationships/oleObject" Target="../embeddings/oleObject47.bin"/><Relationship Id="rId7" Type="http://schemas.openxmlformats.org/officeDocument/2006/relationships/oleObject" Target="../embeddings/oleObject49.bin"/><Relationship Id="rId12" Type="http://schemas.openxmlformats.org/officeDocument/2006/relationships/image" Target="../media/image45.emf"/><Relationship Id="rId17" Type="http://schemas.openxmlformats.org/officeDocument/2006/relationships/oleObject" Target="../embeddings/oleObject5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7.emf"/><Relationship Id="rId20" Type="http://schemas.openxmlformats.org/officeDocument/2006/relationships/image" Target="../media/image49.e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42.emf"/><Relationship Id="rId11" Type="http://schemas.openxmlformats.org/officeDocument/2006/relationships/oleObject" Target="../embeddings/oleObject51.bin"/><Relationship Id="rId5" Type="http://schemas.openxmlformats.org/officeDocument/2006/relationships/oleObject" Target="../embeddings/oleObject48.bin"/><Relationship Id="rId15" Type="http://schemas.openxmlformats.org/officeDocument/2006/relationships/oleObject" Target="../embeddings/oleObject53.bin"/><Relationship Id="rId10" Type="http://schemas.openxmlformats.org/officeDocument/2006/relationships/image" Target="../media/image44.emf"/><Relationship Id="rId19" Type="http://schemas.openxmlformats.org/officeDocument/2006/relationships/oleObject" Target="../embeddings/oleObject55.bin"/><Relationship Id="rId4" Type="http://schemas.openxmlformats.org/officeDocument/2006/relationships/image" Target="../media/image41.emf"/><Relationship Id="rId9" Type="http://schemas.openxmlformats.org/officeDocument/2006/relationships/oleObject" Target="../embeddings/oleObject50.bin"/><Relationship Id="rId14" Type="http://schemas.openxmlformats.org/officeDocument/2006/relationships/image" Target="../media/image46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emf"/><Relationship Id="rId3" Type="http://schemas.openxmlformats.org/officeDocument/2006/relationships/oleObject" Target="../embeddings/oleObject56.bin"/><Relationship Id="rId7" Type="http://schemas.openxmlformats.org/officeDocument/2006/relationships/oleObject" Target="../embeddings/oleObject58.bin"/><Relationship Id="rId12" Type="http://schemas.openxmlformats.org/officeDocument/2006/relationships/image" Target="../media/image54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51.emf"/><Relationship Id="rId11" Type="http://schemas.openxmlformats.org/officeDocument/2006/relationships/oleObject" Target="../embeddings/oleObject60.bin"/><Relationship Id="rId5" Type="http://schemas.openxmlformats.org/officeDocument/2006/relationships/oleObject" Target="../embeddings/oleObject57.bin"/><Relationship Id="rId10" Type="http://schemas.openxmlformats.org/officeDocument/2006/relationships/image" Target="../media/image53.emf"/><Relationship Id="rId4" Type="http://schemas.openxmlformats.org/officeDocument/2006/relationships/image" Target="../media/image50.emf"/><Relationship Id="rId9" Type="http://schemas.openxmlformats.org/officeDocument/2006/relationships/oleObject" Target="../embeddings/oleObject59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3" Type="http://schemas.openxmlformats.org/officeDocument/2006/relationships/oleObject" Target="../embeddings/oleObject61.bin"/><Relationship Id="rId7" Type="http://schemas.openxmlformats.org/officeDocument/2006/relationships/oleObject" Target="../embeddings/oleObject63.bin"/><Relationship Id="rId2" Type="http://schemas.openxmlformats.org/officeDocument/2006/relationships/slideLayout" Target="../slideLayouts/slideLayout31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56.wmf"/><Relationship Id="rId5" Type="http://schemas.openxmlformats.org/officeDocument/2006/relationships/oleObject" Target="../embeddings/oleObject62.bin"/><Relationship Id="rId10" Type="http://schemas.openxmlformats.org/officeDocument/2006/relationships/image" Target="../media/image58.wmf"/><Relationship Id="rId4" Type="http://schemas.openxmlformats.org/officeDocument/2006/relationships/image" Target="../media/image55.wmf"/><Relationship Id="rId9" Type="http://schemas.openxmlformats.org/officeDocument/2006/relationships/oleObject" Target="../embeddings/oleObject64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3" Type="http://schemas.openxmlformats.org/officeDocument/2006/relationships/oleObject" Target="../embeddings/oleObject65.bin"/><Relationship Id="rId7" Type="http://schemas.openxmlformats.org/officeDocument/2006/relationships/oleObject" Target="../embeddings/oleObject67.bin"/><Relationship Id="rId2" Type="http://schemas.openxmlformats.org/officeDocument/2006/relationships/slideLayout" Target="../slideLayouts/slideLayout31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60.wmf"/><Relationship Id="rId5" Type="http://schemas.openxmlformats.org/officeDocument/2006/relationships/oleObject" Target="../embeddings/oleObject66.bin"/><Relationship Id="rId10" Type="http://schemas.openxmlformats.org/officeDocument/2006/relationships/image" Target="../media/image62.wmf"/><Relationship Id="rId4" Type="http://schemas.openxmlformats.org/officeDocument/2006/relationships/image" Target="../media/image59.wmf"/><Relationship Id="rId9" Type="http://schemas.openxmlformats.org/officeDocument/2006/relationships/oleObject" Target="../embeddings/oleObject68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3" Type="http://schemas.openxmlformats.org/officeDocument/2006/relationships/oleObject" Target="../embeddings/oleObject69.bin"/><Relationship Id="rId7" Type="http://schemas.openxmlformats.org/officeDocument/2006/relationships/oleObject" Target="../embeddings/oleObject71.bin"/><Relationship Id="rId2" Type="http://schemas.openxmlformats.org/officeDocument/2006/relationships/slideLayout" Target="../slideLayouts/slideLayout31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64.wmf"/><Relationship Id="rId5" Type="http://schemas.openxmlformats.org/officeDocument/2006/relationships/oleObject" Target="../embeddings/oleObject70.bin"/><Relationship Id="rId4" Type="http://schemas.openxmlformats.org/officeDocument/2006/relationships/image" Target="../media/image63.wmf"/><Relationship Id="rId9" Type="http://schemas.openxmlformats.org/officeDocument/2006/relationships/image" Target="../media/image66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emf"/><Relationship Id="rId3" Type="http://schemas.openxmlformats.org/officeDocument/2006/relationships/oleObject" Target="../embeddings/oleObject72.bin"/><Relationship Id="rId7" Type="http://schemas.openxmlformats.org/officeDocument/2006/relationships/image" Target="../media/image69.emf"/><Relationship Id="rId2" Type="http://schemas.openxmlformats.org/officeDocument/2006/relationships/slideLayout" Target="../slideLayouts/slideLayout31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68.wmf"/><Relationship Id="rId5" Type="http://schemas.openxmlformats.org/officeDocument/2006/relationships/oleObject" Target="../embeddings/oleObject73.bin"/><Relationship Id="rId4" Type="http://schemas.openxmlformats.org/officeDocument/2006/relationships/image" Target="../media/image67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3" Type="http://schemas.openxmlformats.org/officeDocument/2006/relationships/oleObject" Target="../embeddings/oleObject74.bin"/><Relationship Id="rId7" Type="http://schemas.openxmlformats.org/officeDocument/2006/relationships/oleObject" Target="../embeddings/oleObject76.bin"/><Relationship Id="rId2" Type="http://schemas.openxmlformats.org/officeDocument/2006/relationships/slideLayout" Target="../slideLayouts/slideLayout31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60.wmf"/><Relationship Id="rId5" Type="http://schemas.openxmlformats.org/officeDocument/2006/relationships/oleObject" Target="../embeddings/oleObject75.bin"/><Relationship Id="rId10" Type="http://schemas.openxmlformats.org/officeDocument/2006/relationships/image" Target="../media/image72.wmf"/><Relationship Id="rId4" Type="http://schemas.openxmlformats.org/officeDocument/2006/relationships/image" Target="../media/image56.wmf"/><Relationship Id="rId9" Type="http://schemas.openxmlformats.org/officeDocument/2006/relationships/oleObject" Target="../embeddings/oleObject77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emf"/><Relationship Id="rId3" Type="http://schemas.openxmlformats.org/officeDocument/2006/relationships/oleObject" Target="../embeddings/oleObject78.bin"/><Relationship Id="rId7" Type="http://schemas.openxmlformats.org/officeDocument/2006/relationships/image" Target="../media/image75.emf"/><Relationship Id="rId2" Type="http://schemas.openxmlformats.org/officeDocument/2006/relationships/slideLayout" Target="../slideLayouts/slideLayout31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74.wmf"/><Relationship Id="rId5" Type="http://schemas.openxmlformats.org/officeDocument/2006/relationships/oleObject" Target="../embeddings/oleObject79.bin"/><Relationship Id="rId4" Type="http://schemas.openxmlformats.org/officeDocument/2006/relationships/image" Target="../media/image73.w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13" Type="http://schemas.openxmlformats.org/officeDocument/2006/relationships/image" Target="../media/image79.emf"/><Relationship Id="rId3" Type="http://schemas.openxmlformats.org/officeDocument/2006/relationships/oleObject" Target="../embeddings/oleObject80.bin"/><Relationship Id="rId7" Type="http://schemas.openxmlformats.org/officeDocument/2006/relationships/oleObject" Target="../embeddings/oleObject82.bin"/><Relationship Id="rId12" Type="http://schemas.openxmlformats.org/officeDocument/2006/relationships/image" Target="../media/image62.wmf"/><Relationship Id="rId2" Type="http://schemas.openxmlformats.org/officeDocument/2006/relationships/slideLayout" Target="../slideLayouts/slideLayout31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77.wmf"/><Relationship Id="rId11" Type="http://schemas.openxmlformats.org/officeDocument/2006/relationships/oleObject" Target="../embeddings/oleObject84.bin"/><Relationship Id="rId5" Type="http://schemas.openxmlformats.org/officeDocument/2006/relationships/oleObject" Target="../embeddings/oleObject81.bin"/><Relationship Id="rId15" Type="http://schemas.openxmlformats.org/officeDocument/2006/relationships/image" Target="../media/image70.emf"/><Relationship Id="rId10" Type="http://schemas.openxmlformats.org/officeDocument/2006/relationships/image" Target="../media/image65.wmf"/><Relationship Id="rId4" Type="http://schemas.openxmlformats.org/officeDocument/2006/relationships/image" Target="../media/image57.wmf"/><Relationship Id="rId9" Type="http://schemas.openxmlformats.org/officeDocument/2006/relationships/oleObject" Target="../embeddings/oleObject83.bin"/><Relationship Id="rId14" Type="http://schemas.openxmlformats.org/officeDocument/2006/relationships/image" Target="../media/image69.emf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90.bin"/><Relationship Id="rId18" Type="http://schemas.openxmlformats.org/officeDocument/2006/relationships/image" Target="../media/image87.wmf"/><Relationship Id="rId26" Type="http://schemas.openxmlformats.org/officeDocument/2006/relationships/image" Target="../media/image91.wmf"/><Relationship Id="rId3" Type="http://schemas.openxmlformats.org/officeDocument/2006/relationships/oleObject" Target="../embeddings/oleObject85.bin"/><Relationship Id="rId21" Type="http://schemas.openxmlformats.org/officeDocument/2006/relationships/oleObject" Target="../embeddings/oleObject94.bin"/><Relationship Id="rId7" Type="http://schemas.openxmlformats.org/officeDocument/2006/relationships/oleObject" Target="../embeddings/oleObject87.bin"/><Relationship Id="rId12" Type="http://schemas.openxmlformats.org/officeDocument/2006/relationships/image" Target="../media/image84.wmf"/><Relationship Id="rId17" Type="http://schemas.openxmlformats.org/officeDocument/2006/relationships/oleObject" Target="../embeddings/oleObject92.bin"/><Relationship Id="rId25" Type="http://schemas.openxmlformats.org/officeDocument/2006/relationships/oleObject" Target="../embeddings/oleObject96.bin"/><Relationship Id="rId33" Type="http://schemas.openxmlformats.org/officeDocument/2006/relationships/image" Target="../media/image95.emf"/><Relationship Id="rId2" Type="http://schemas.openxmlformats.org/officeDocument/2006/relationships/slideLayout" Target="../slideLayouts/slideLayout31.xml"/><Relationship Id="rId16" Type="http://schemas.openxmlformats.org/officeDocument/2006/relationships/image" Target="../media/image86.wmf"/><Relationship Id="rId20" Type="http://schemas.openxmlformats.org/officeDocument/2006/relationships/image" Target="../media/image88.wmf"/><Relationship Id="rId29" Type="http://schemas.openxmlformats.org/officeDocument/2006/relationships/oleObject" Target="../embeddings/oleObject98.bin"/><Relationship Id="rId1" Type="http://schemas.openxmlformats.org/officeDocument/2006/relationships/vmlDrawing" Target="../drawings/vmlDrawing21.vml"/><Relationship Id="rId6" Type="http://schemas.openxmlformats.org/officeDocument/2006/relationships/image" Target="../media/image81.wmf"/><Relationship Id="rId11" Type="http://schemas.openxmlformats.org/officeDocument/2006/relationships/oleObject" Target="../embeddings/oleObject89.bin"/><Relationship Id="rId24" Type="http://schemas.openxmlformats.org/officeDocument/2006/relationships/image" Target="../media/image90.wmf"/><Relationship Id="rId32" Type="http://schemas.openxmlformats.org/officeDocument/2006/relationships/image" Target="../media/image94.wmf"/><Relationship Id="rId5" Type="http://schemas.openxmlformats.org/officeDocument/2006/relationships/oleObject" Target="../embeddings/oleObject86.bin"/><Relationship Id="rId15" Type="http://schemas.openxmlformats.org/officeDocument/2006/relationships/oleObject" Target="../embeddings/oleObject91.bin"/><Relationship Id="rId23" Type="http://schemas.openxmlformats.org/officeDocument/2006/relationships/oleObject" Target="../embeddings/oleObject95.bin"/><Relationship Id="rId28" Type="http://schemas.openxmlformats.org/officeDocument/2006/relationships/image" Target="../media/image92.wmf"/><Relationship Id="rId10" Type="http://schemas.openxmlformats.org/officeDocument/2006/relationships/image" Target="../media/image83.png"/><Relationship Id="rId19" Type="http://schemas.openxmlformats.org/officeDocument/2006/relationships/oleObject" Target="../embeddings/oleObject93.bin"/><Relationship Id="rId31" Type="http://schemas.openxmlformats.org/officeDocument/2006/relationships/oleObject" Target="../embeddings/oleObject99.bin"/><Relationship Id="rId4" Type="http://schemas.openxmlformats.org/officeDocument/2006/relationships/image" Target="../media/image80.wmf"/><Relationship Id="rId9" Type="http://schemas.openxmlformats.org/officeDocument/2006/relationships/oleObject" Target="../embeddings/oleObject88.bin"/><Relationship Id="rId14" Type="http://schemas.openxmlformats.org/officeDocument/2006/relationships/image" Target="../media/image85.wmf"/><Relationship Id="rId22" Type="http://schemas.openxmlformats.org/officeDocument/2006/relationships/image" Target="../media/image89.png"/><Relationship Id="rId27" Type="http://schemas.openxmlformats.org/officeDocument/2006/relationships/oleObject" Target="../embeddings/oleObject97.bin"/><Relationship Id="rId30" Type="http://schemas.openxmlformats.org/officeDocument/2006/relationships/image" Target="../media/image93.wmf"/><Relationship Id="rId8" Type="http://schemas.openxmlformats.org/officeDocument/2006/relationships/image" Target="../media/image82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wmf"/><Relationship Id="rId13" Type="http://schemas.openxmlformats.org/officeDocument/2006/relationships/oleObject" Target="../embeddings/oleObject105.bin"/><Relationship Id="rId18" Type="http://schemas.openxmlformats.org/officeDocument/2006/relationships/image" Target="../media/image102.wmf"/><Relationship Id="rId3" Type="http://schemas.openxmlformats.org/officeDocument/2006/relationships/oleObject" Target="../embeddings/oleObject100.bin"/><Relationship Id="rId7" Type="http://schemas.openxmlformats.org/officeDocument/2006/relationships/oleObject" Target="../embeddings/oleObject102.bin"/><Relationship Id="rId12" Type="http://schemas.openxmlformats.org/officeDocument/2006/relationships/image" Target="../media/image100.wmf"/><Relationship Id="rId17" Type="http://schemas.openxmlformats.org/officeDocument/2006/relationships/oleObject" Target="../embeddings/oleObject107.bin"/><Relationship Id="rId2" Type="http://schemas.openxmlformats.org/officeDocument/2006/relationships/slideLayout" Target="../slideLayouts/slideLayout31.xml"/><Relationship Id="rId16" Type="http://schemas.openxmlformats.org/officeDocument/2006/relationships/image" Target="../media/image80.w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97.wmf"/><Relationship Id="rId11" Type="http://schemas.openxmlformats.org/officeDocument/2006/relationships/oleObject" Target="../embeddings/oleObject104.bin"/><Relationship Id="rId5" Type="http://schemas.openxmlformats.org/officeDocument/2006/relationships/oleObject" Target="../embeddings/oleObject101.bin"/><Relationship Id="rId15" Type="http://schemas.openxmlformats.org/officeDocument/2006/relationships/oleObject" Target="../embeddings/oleObject106.bin"/><Relationship Id="rId10" Type="http://schemas.openxmlformats.org/officeDocument/2006/relationships/image" Target="../media/image99.wmf"/><Relationship Id="rId19" Type="http://schemas.openxmlformats.org/officeDocument/2006/relationships/image" Target="../media/image103.emf"/><Relationship Id="rId4" Type="http://schemas.openxmlformats.org/officeDocument/2006/relationships/image" Target="../media/image96.emf"/><Relationship Id="rId9" Type="http://schemas.openxmlformats.org/officeDocument/2006/relationships/oleObject" Target="../embeddings/oleObject103.bin"/><Relationship Id="rId14" Type="http://schemas.openxmlformats.org/officeDocument/2006/relationships/image" Target="../media/image101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wmf"/><Relationship Id="rId13" Type="http://schemas.openxmlformats.org/officeDocument/2006/relationships/oleObject" Target="../embeddings/oleObject113.bin"/><Relationship Id="rId3" Type="http://schemas.openxmlformats.org/officeDocument/2006/relationships/oleObject" Target="../embeddings/oleObject108.bin"/><Relationship Id="rId7" Type="http://schemas.openxmlformats.org/officeDocument/2006/relationships/oleObject" Target="../embeddings/oleObject110.bin"/><Relationship Id="rId12" Type="http://schemas.openxmlformats.org/officeDocument/2006/relationships/image" Target="../media/image80.wmf"/><Relationship Id="rId17" Type="http://schemas.openxmlformats.org/officeDocument/2006/relationships/image" Target="../media/image110.emf"/><Relationship Id="rId2" Type="http://schemas.openxmlformats.org/officeDocument/2006/relationships/slideLayout" Target="../slideLayouts/slideLayout31.xml"/><Relationship Id="rId16" Type="http://schemas.openxmlformats.org/officeDocument/2006/relationships/image" Target="../media/image109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05.wmf"/><Relationship Id="rId11" Type="http://schemas.openxmlformats.org/officeDocument/2006/relationships/oleObject" Target="../embeddings/oleObject112.bin"/><Relationship Id="rId5" Type="http://schemas.openxmlformats.org/officeDocument/2006/relationships/oleObject" Target="../embeddings/oleObject109.bin"/><Relationship Id="rId15" Type="http://schemas.openxmlformats.org/officeDocument/2006/relationships/oleObject" Target="../embeddings/oleObject114.bin"/><Relationship Id="rId10" Type="http://schemas.openxmlformats.org/officeDocument/2006/relationships/image" Target="../media/image107.wmf"/><Relationship Id="rId4" Type="http://schemas.openxmlformats.org/officeDocument/2006/relationships/image" Target="../media/image104.emf"/><Relationship Id="rId9" Type="http://schemas.openxmlformats.org/officeDocument/2006/relationships/oleObject" Target="../embeddings/oleObject111.bin"/><Relationship Id="rId14" Type="http://schemas.openxmlformats.org/officeDocument/2006/relationships/image" Target="../media/image108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wmf"/><Relationship Id="rId13" Type="http://schemas.openxmlformats.org/officeDocument/2006/relationships/oleObject" Target="../embeddings/oleObject120.bin"/><Relationship Id="rId18" Type="http://schemas.openxmlformats.org/officeDocument/2006/relationships/image" Target="../media/image115.wmf"/><Relationship Id="rId3" Type="http://schemas.openxmlformats.org/officeDocument/2006/relationships/oleObject" Target="../embeddings/oleObject115.bin"/><Relationship Id="rId7" Type="http://schemas.openxmlformats.org/officeDocument/2006/relationships/oleObject" Target="../embeddings/oleObject117.bin"/><Relationship Id="rId12" Type="http://schemas.openxmlformats.org/officeDocument/2006/relationships/image" Target="../media/image113.wmf"/><Relationship Id="rId17" Type="http://schemas.openxmlformats.org/officeDocument/2006/relationships/oleObject" Target="../embeddings/oleObject122.bin"/><Relationship Id="rId2" Type="http://schemas.openxmlformats.org/officeDocument/2006/relationships/slideLayout" Target="../slideLayouts/slideLayout31.xml"/><Relationship Id="rId16" Type="http://schemas.openxmlformats.org/officeDocument/2006/relationships/image" Target="../media/image80.w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12.wmf"/><Relationship Id="rId11" Type="http://schemas.openxmlformats.org/officeDocument/2006/relationships/oleObject" Target="../embeddings/oleObject119.bin"/><Relationship Id="rId5" Type="http://schemas.openxmlformats.org/officeDocument/2006/relationships/oleObject" Target="../embeddings/oleObject116.bin"/><Relationship Id="rId15" Type="http://schemas.openxmlformats.org/officeDocument/2006/relationships/oleObject" Target="../embeddings/oleObject121.bin"/><Relationship Id="rId10" Type="http://schemas.openxmlformats.org/officeDocument/2006/relationships/image" Target="../media/image107.wmf"/><Relationship Id="rId19" Type="http://schemas.openxmlformats.org/officeDocument/2006/relationships/image" Target="../media/image110.emf"/><Relationship Id="rId4" Type="http://schemas.openxmlformats.org/officeDocument/2006/relationships/image" Target="../media/image111.emf"/><Relationship Id="rId9" Type="http://schemas.openxmlformats.org/officeDocument/2006/relationships/oleObject" Target="../embeddings/oleObject118.bin"/><Relationship Id="rId14" Type="http://schemas.openxmlformats.org/officeDocument/2006/relationships/image" Target="../media/image114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7"/>
          <p:cNvSpPr txBox="1">
            <a:spLocks noChangeArrowheads="1"/>
          </p:cNvSpPr>
          <p:nvPr/>
        </p:nvSpPr>
        <p:spPr bwMode="auto">
          <a:xfrm>
            <a:off x="2640013" y="188913"/>
            <a:ext cx="7315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dirty="0">
                <a:solidFill>
                  <a:prstClr val="black"/>
                </a:solidFill>
              </a:rPr>
              <a:t>例：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x</a:t>
            </a:r>
            <a:r>
              <a:rPr lang="en-US" altLang="zh-CN" sz="2900" baseline="-25000" dirty="0" smtClean="0">
                <a:solidFill>
                  <a:prstClr val="black"/>
                </a:solidFill>
              </a:rPr>
              <a:t>1</a:t>
            </a:r>
            <a:r>
              <a:rPr lang="en-US" altLang="zh-CN" sz="2800" dirty="0" smtClean="0">
                <a:solidFill>
                  <a:prstClr val="black"/>
                </a:solidFill>
              </a:rPr>
              <a:t>[n]={</a:t>
            </a:r>
            <a:r>
              <a:rPr lang="en-US" altLang="zh-CN" sz="2800" dirty="0">
                <a:solidFill>
                  <a:prstClr val="black"/>
                </a:solidFill>
              </a:rPr>
              <a:t>1,1,1},  </a:t>
            </a:r>
            <a:r>
              <a:rPr lang="en-US" altLang="zh-CN" sz="2800" i="1" dirty="0">
                <a:solidFill>
                  <a:prstClr val="black"/>
                </a:solidFill>
              </a:rPr>
              <a:t>x</a:t>
            </a:r>
            <a:r>
              <a:rPr lang="en-US" altLang="zh-CN" sz="2800" dirty="0">
                <a:solidFill>
                  <a:prstClr val="black"/>
                </a:solidFill>
              </a:rPr>
              <a:t> </a:t>
            </a:r>
            <a:r>
              <a:rPr lang="en-US" altLang="zh-CN" sz="2900" baseline="-25000" dirty="0" smtClean="0">
                <a:solidFill>
                  <a:prstClr val="black"/>
                </a:solidFill>
              </a:rPr>
              <a:t>2</a:t>
            </a:r>
            <a:r>
              <a:rPr lang="en-US" altLang="zh-CN" sz="2800" dirty="0" smtClean="0">
                <a:solidFill>
                  <a:prstClr val="black"/>
                </a:solidFill>
              </a:rPr>
              <a:t>[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n</a:t>
            </a:r>
            <a:r>
              <a:rPr lang="en-US" altLang="zh-CN" sz="2800" dirty="0" smtClean="0">
                <a:solidFill>
                  <a:prstClr val="black"/>
                </a:solidFill>
              </a:rPr>
              <a:t>]={</a:t>
            </a:r>
            <a:r>
              <a:rPr lang="en-US" altLang="zh-CN" sz="2800" dirty="0">
                <a:solidFill>
                  <a:prstClr val="black"/>
                </a:solidFill>
              </a:rPr>
              <a:t>1,1,0,1} , </a:t>
            </a:r>
            <a:r>
              <a:rPr lang="zh-CN" altLang="en-US" sz="2800" dirty="0">
                <a:solidFill>
                  <a:prstClr val="black"/>
                </a:solidFill>
              </a:rPr>
              <a:t>计算</a:t>
            </a:r>
          </a:p>
        </p:txBody>
      </p:sp>
      <p:sp>
        <p:nvSpPr>
          <p:cNvPr id="5123" name="Rectangle 28"/>
          <p:cNvSpPr>
            <a:spLocks noChangeArrowheads="1"/>
          </p:cNvSpPr>
          <p:nvPr/>
        </p:nvSpPr>
        <p:spPr bwMode="auto">
          <a:xfrm>
            <a:off x="3143251" y="765176"/>
            <a:ext cx="43211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prstClr val="black"/>
                </a:solidFill>
              </a:rPr>
              <a:t>(1)</a:t>
            </a:r>
            <a:r>
              <a:rPr lang="en-US" altLang="zh-CN" sz="2800" i="1" dirty="0">
                <a:solidFill>
                  <a:prstClr val="black"/>
                </a:solidFill>
              </a:rPr>
              <a:t> 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x</a:t>
            </a:r>
            <a:r>
              <a:rPr lang="en-US" altLang="zh-CN" sz="2800" baseline="-25000" dirty="0" smtClean="0">
                <a:solidFill>
                  <a:prstClr val="black"/>
                </a:solidFill>
              </a:rPr>
              <a:t>1</a:t>
            </a:r>
            <a:r>
              <a:rPr lang="en-US" altLang="zh-CN" sz="2800" dirty="0" smtClean="0">
                <a:solidFill>
                  <a:prstClr val="black"/>
                </a:solidFill>
              </a:rPr>
              <a:t>[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n</a:t>
            </a:r>
            <a:r>
              <a:rPr lang="en-US" altLang="zh-CN" sz="2800" dirty="0" smtClean="0">
                <a:solidFill>
                  <a:prstClr val="black"/>
                </a:solidFill>
              </a:rPr>
              <a:t>]</a:t>
            </a:r>
            <a:r>
              <a:rPr lang="zh-CN" altLang="en-US" sz="2800" dirty="0">
                <a:solidFill>
                  <a:prstClr val="black"/>
                </a:solidFill>
              </a:rPr>
              <a:t>和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x</a:t>
            </a:r>
            <a:r>
              <a:rPr lang="en-US" altLang="zh-CN" sz="2800" baseline="-25000" dirty="0" smtClean="0">
                <a:solidFill>
                  <a:prstClr val="black"/>
                </a:solidFill>
              </a:rPr>
              <a:t>2</a:t>
            </a:r>
            <a:r>
              <a:rPr lang="en-US" altLang="zh-CN" sz="2800" dirty="0" smtClean="0">
                <a:solidFill>
                  <a:prstClr val="black"/>
                </a:solidFill>
              </a:rPr>
              <a:t>[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n</a:t>
            </a:r>
            <a:r>
              <a:rPr lang="en-US" altLang="zh-CN" sz="2800" dirty="0" smtClean="0">
                <a:solidFill>
                  <a:prstClr val="black"/>
                </a:solidFill>
              </a:rPr>
              <a:t>]</a:t>
            </a:r>
            <a:r>
              <a:rPr lang="zh-CN" altLang="en-US" sz="2800" dirty="0">
                <a:solidFill>
                  <a:prstClr val="black"/>
                </a:solidFill>
              </a:rPr>
              <a:t>的线性卷积</a:t>
            </a:r>
          </a:p>
        </p:txBody>
      </p:sp>
      <p:sp>
        <p:nvSpPr>
          <p:cNvPr id="5124" name="Text Box 29"/>
          <p:cNvSpPr txBox="1">
            <a:spLocks noChangeArrowheads="1"/>
          </p:cNvSpPr>
          <p:nvPr/>
        </p:nvSpPr>
        <p:spPr bwMode="auto">
          <a:xfrm>
            <a:off x="3143251" y="1412876"/>
            <a:ext cx="56165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800" dirty="0">
                <a:solidFill>
                  <a:prstClr val="black"/>
                </a:solidFill>
              </a:rPr>
              <a:t>(2)</a:t>
            </a:r>
            <a:r>
              <a:rPr lang="en-US" altLang="zh-CN" sz="2800" i="1" dirty="0">
                <a:solidFill>
                  <a:prstClr val="black"/>
                </a:solidFill>
              </a:rPr>
              <a:t> 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x</a:t>
            </a:r>
            <a:r>
              <a:rPr lang="en-US" altLang="zh-CN" sz="2800" baseline="-25000" dirty="0" smtClean="0">
                <a:solidFill>
                  <a:prstClr val="black"/>
                </a:solidFill>
              </a:rPr>
              <a:t>1</a:t>
            </a:r>
            <a:r>
              <a:rPr lang="en-US" altLang="zh-CN" sz="2800" dirty="0" smtClean="0">
                <a:solidFill>
                  <a:prstClr val="black"/>
                </a:solidFill>
              </a:rPr>
              <a:t>[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n</a:t>
            </a:r>
            <a:r>
              <a:rPr lang="en-US" altLang="zh-CN" sz="2800" dirty="0" smtClean="0">
                <a:solidFill>
                  <a:prstClr val="black"/>
                </a:solidFill>
              </a:rPr>
              <a:t>]</a:t>
            </a:r>
            <a:r>
              <a:rPr lang="zh-CN" altLang="en-US" sz="2800" dirty="0">
                <a:solidFill>
                  <a:prstClr val="black"/>
                </a:solidFill>
              </a:rPr>
              <a:t>和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x</a:t>
            </a:r>
            <a:r>
              <a:rPr lang="en-US" altLang="zh-CN" sz="2800" baseline="-25000" dirty="0" smtClean="0">
                <a:solidFill>
                  <a:prstClr val="black"/>
                </a:solidFill>
              </a:rPr>
              <a:t>2</a:t>
            </a:r>
            <a:r>
              <a:rPr lang="en-US" altLang="zh-CN" sz="2800" dirty="0" smtClean="0">
                <a:solidFill>
                  <a:prstClr val="black"/>
                </a:solidFill>
              </a:rPr>
              <a:t>[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n</a:t>
            </a:r>
            <a:r>
              <a:rPr lang="en-US" altLang="zh-CN" sz="2800" dirty="0" smtClean="0">
                <a:solidFill>
                  <a:prstClr val="black"/>
                </a:solidFill>
              </a:rPr>
              <a:t>]</a:t>
            </a:r>
            <a:r>
              <a:rPr lang="zh-CN" altLang="en-US" sz="2800" dirty="0">
                <a:solidFill>
                  <a:prstClr val="black"/>
                </a:solidFill>
              </a:rPr>
              <a:t>的</a:t>
            </a:r>
            <a:r>
              <a:rPr lang="en-US" altLang="zh-CN" sz="2800" dirty="0">
                <a:solidFill>
                  <a:prstClr val="black"/>
                </a:solidFill>
              </a:rPr>
              <a:t>4</a:t>
            </a:r>
            <a:r>
              <a:rPr lang="zh-CN" altLang="en-US" sz="2800" dirty="0">
                <a:solidFill>
                  <a:prstClr val="black"/>
                </a:solidFill>
              </a:rPr>
              <a:t>点循环卷积</a:t>
            </a:r>
          </a:p>
        </p:txBody>
      </p:sp>
      <p:sp>
        <p:nvSpPr>
          <p:cNvPr id="5125" name="Text Box 30"/>
          <p:cNvSpPr txBox="1">
            <a:spLocks noChangeArrowheads="1"/>
          </p:cNvSpPr>
          <p:nvPr/>
        </p:nvSpPr>
        <p:spPr bwMode="auto">
          <a:xfrm>
            <a:off x="3143250" y="1989138"/>
            <a:ext cx="655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800" dirty="0">
                <a:solidFill>
                  <a:prstClr val="black"/>
                </a:solidFill>
              </a:rPr>
              <a:t>(3)</a:t>
            </a:r>
            <a:r>
              <a:rPr lang="en-US" altLang="zh-CN" sz="2800" i="1" dirty="0">
                <a:solidFill>
                  <a:prstClr val="black"/>
                </a:solidFill>
              </a:rPr>
              <a:t> 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x</a:t>
            </a:r>
            <a:r>
              <a:rPr lang="en-US" altLang="zh-CN" sz="2800" baseline="-25000" dirty="0" smtClean="0">
                <a:solidFill>
                  <a:prstClr val="black"/>
                </a:solidFill>
              </a:rPr>
              <a:t>1</a:t>
            </a:r>
            <a:r>
              <a:rPr lang="en-US" altLang="zh-CN" sz="2800" dirty="0" smtClean="0">
                <a:solidFill>
                  <a:prstClr val="black"/>
                </a:solidFill>
              </a:rPr>
              <a:t>[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n</a:t>
            </a:r>
            <a:r>
              <a:rPr lang="en-US" altLang="zh-CN" sz="2800" dirty="0" smtClean="0">
                <a:solidFill>
                  <a:prstClr val="black"/>
                </a:solidFill>
              </a:rPr>
              <a:t>]</a:t>
            </a:r>
            <a:r>
              <a:rPr lang="zh-CN" altLang="en-US" sz="2800" dirty="0">
                <a:solidFill>
                  <a:prstClr val="black"/>
                </a:solidFill>
              </a:rPr>
              <a:t>和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x</a:t>
            </a:r>
            <a:r>
              <a:rPr lang="en-US" altLang="zh-CN" sz="2800" baseline="-25000" dirty="0" smtClean="0">
                <a:solidFill>
                  <a:prstClr val="black"/>
                </a:solidFill>
              </a:rPr>
              <a:t>2</a:t>
            </a:r>
            <a:r>
              <a:rPr lang="en-US" altLang="zh-CN" sz="2800" dirty="0" smtClean="0">
                <a:solidFill>
                  <a:prstClr val="black"/>
                </a:solidFill>
              </a:rPr>
              <a:t>[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n</a:t>
            </a:r>
            <a:r>
              <a:rPr lang="en-US" altLang="zh-CN" sz="2800" dirty="0" smtClean="0">
                <a:solidFill>
                  <a:prstClr val="black"/>
                </a:solidFill>
              </a:rPr>
              <a:t>]</a:t>
            </a:r>
            <a:r>
              <a:rPr lang="zh-CN" altLang="en-US" sz="2800" dirty="0">
                <a:solidFill>
                  <a:prstClr val="black"/>
                </a:solidFill>
              </a:rPr>
              <a:t>的</a:t>
            </a:r>
            <a:r>
              <a:rPr lang="en-US" altLang="zh-CN" sz="2800" dirty="0">
                <a:solidFill>
                  <a:prstClr val="black"/>
                </a:solidFill>
              </a:rPr>
              <a:t>5</a:t>
            </a:r>
            <a:r>
              <a:rPr lang="zh-CN" altLang="en-US" sz="2800" dirty="0">
                <a:solidFill>
                  <a:prstClr val="black"/>
                </a:solidFill>
              </a:rPr>
              <a:t>点、</a:t>
            </a:r>
            <a:r>
              <a:rPr lang="en-US" altLang="zh-CN" sz="2800" dirty="0">
                <a:solidFill>
                  <a:prstClr val="black"/>
                </a:solidFill>
              </a:rPr>
              <a:t>6</a:t>
            </a:r>
            <a:r>
              <a:rPr lang="zh-CN" altLang="en-US" sz="2800" dirty="0">
                <a:solidFill>
                  <a:prstClr val="black"/>
                </a:solidFill>
              </a:rPr>
              <a:t>点和</a:t>
            </a:r>
            <a:r>
              <a:rPr lang="en-US" altLang="zh-CN" sz="2800" dirty="0">
                <a:solidFill>
                  <a:prstClr val="black"/>
                </a:solidFill>
              </a:rPr>
              <a:t>7</a:t>
            </a:r>
            <a:r>
              <a:rPr lang="zh-CN" altLang="en-US" sz="2800" dirty="0">
                <a:solidFill>
                  <a:prstClr val="black"/>
                </a:solidFill>
              </a:rPr>
              <a:t>点循环卷积</a:t>
            </a:r>
          </a:p>
        </p:txBody>
      </p:sp>
    </p:spTree>
    <p:extLst>
      <p:ext uri="{BB962C8B-B14F-4D97-AF65-F5344CB8AC3E}">
        <p14:creationId xmlns:p14="http://schemas.microsoft.com/office/powerpoint/2010/main" val="3340818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7" name="Text Box 7"/>
          <p:cNvSpPr txBox="1">
            <a:spLocks noChangeArrowheads="1"/>
          </p:cNvSpPr>
          <p:nvPr/>
        </p:nvSpPr>
        <p:spPr bwMode="auto">
          <a:xfrm>
            <a:off x="2640013" y="188913"/>
            <a:ext cx="7315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dirty="0">
                <a:solidFill>
                  <a:prstClr val="black"/>
                </a:solidFill>
              </a:rPr>
              <a:t>例：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x</a:t>
            </a:r>
            <a:r>
              <a:rPr lang="en-US" altLang="zh-CN" sz="2900" baseline="-25000" dirty="0" smtClean="0">
                <a:solidFill>
                  <a:prstClr val="black"/>
                </a:solidFill>
              </a:rPr>
              <a:t>1</a:t>
            </a:r>
            <a:r>
              <a:rPr lang="en-US" altLang="zh-CN" sz="2800" dirty="0" smtClean="0">
                <a:solidFill>
                  <a:prstClr val="black"/>
                </a:solidFill>
              </a:rPr>
              <a:t>[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n</a:t>
            </a:r>
            <a:r>
              <a:rPr lang="en-US" altLang="zh-CN" sz="2800" dirty="0" smtClean="0">
                <a:solidFill>
                  <a:prstClr val="black"/>
                </a:solidFill>
              </a:rPr>
              <a:t>]={</a:t>
            </a:r>
            <a:r>
              <a:rPr lang="en-US" altLang="zh-CN" sz="2800" dirty="0">
                <a:solidFill>
                  <a:prstClr val="black"/>
                </a:solidFill>
              </a:rPr>
              <a:t>1,1,1},  </a:t>
            </a:r>
            <a:r>
              <a:rPr lang="en-US" altLang="zh-CN" sz="2800" i="1" dirty="0">
                <a:solidFill>
                  <a:prstClr val="black"/>
                </a:solidFill>
              </a:rPr>
              <a:t>x</a:t>
            </a:r>
            <a:r>
              <a:rPr lang="en-US" altLang="zh-CN" sz="2800" dirty="0">
                <a:solidFill>
                  <a:prstClr val="black"/>
                </a:solidFill>
              </a:rPr>
              <a:t> </a:t>
            </a:r>
            <a:r>
              <a:rPr lang="en-US" altLang="zh-CN" sz="2900" baseline="-25000" dirty="0" smtClean="0">
                <a:solidFill>
                  <a:prstClr val="black"/>
                </a:solidFill>
              </a:rPr>
              <a:t>2</a:t>
            </a:r>
            <a:r>
              <a:rPr lang="en-US" altLang="zh-CN" sz="2800" dirty="0" smtClean="0">
                <a:solidFill>
                  <a:prstClr val="black"/>
                </a:solidFill>
              </a:rPr>
              <a:t>[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n</a:t>
            </a:r>
            <a:r>
              <a:rPr lang="en-US" altLang="zh-CN" sz="2800" dirty="0" smtClean="0">
                <a:solidFill>
                  <a:prstClr val="black"/>
                </a:solidFill>
              </a:rPr>
              <a:t>]={</a:t>
            </a:r>
            <a:r>
              <a:rPr lang="en-US" altLang="zh-CN" sz="2800" dirty="0">
                <a:solidFill>
                  <a:prstClr val="black"/>
                </a:solidFill>
              </a:rPr>
              <a:t>1,1,0,1} , </a:t>
            </a:r>
            <a:r>
              <a:rPr lang="zh-CN" altLang="en-US" sz="2800" dirty="0">
                <a:solidFill>
                  <a:prstClr val="black"/>
                </a:solidFill>
              </a:rPr>
              <a:t>计算</a:t>
            </a:r>
          </a:p>
        </p:txBody>
      </p:sp>
      <p:sp>
        <p:nvSpPr>
          <p:cNvPr id="6147" name="Rectangle 9"/>
          <p:cNvSpPr>
            <a:spLocks noChangeArrowheads="1"/>
          </p:cNvSpPr>
          <p:nvPr/>
        </p:nvSpPr>
        <p:spPr bwMode="auto">
          <a:xfrm>
            <a:off x="1676400" y="2560638"/>
            <a:ext cx="8915400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148" name="Text Box 15"/>
          <p:cNvSpPr txBox="1">
            <a:spLocks noChangeArrowheads="1"/>
          </p:cNvSpPr>
          <p:nvPr/>
        </p:nvSpPr>
        <p:spPr bwMode="auto">
          <a:xfrm>
            <a:off x="2208213" y="2636838"/>
            <a:ext cx="16557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>
                <a:solidFill>
                  <a:prstClr val="black"/>
                </a:solidFill>
              </a:rPr>
              <a:t>解</a:t>
            </a:r>
            <a:r>
              <a:rPr lang="en-US" altLang="zh-CN" sz="2800">
                <a:solidFill>
                  <a:prstClr val="black"/>
                </a:solidFill>
              </a:rPr>
              <a:t>:</a:t>
            </a:r>
          </a:p>
        </p:txBody>
      </p:sp>
      <p:graphicFrame>
        <p:nvGraphicFramePr>
          <p:cNvPr id="6149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5536864"/>
              </p:ext>
            </p:extLst>
          </p:nvPr>
        </p:nvGraphicFramePr>
        <p:xfrm>
          <a:off x="2540000" y="2673350"/>
          <a:ext cx="5973763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0" name="Equation" r:id="rId3" imgW="1904760" imgH="228600" progId="Equation.DSMT4">
                  <p:embed/>
                </p:oleObj>
              </mc:Choice>
              <mc:Fallback>
                <p:oleObj name="Equation" r:id="rId3" imgW="1904760" imgH="228600" progId="Equation.DSMT4">
                  <p:embed/>
                  <p:pic>
                    <p:nvPicPr>
                      <p:cNvPr id="6149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000" y="2673350"/>
                        <a:ext cx="5973763" cy="60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0" name="Text Box 18"/>
          <p:cNvSpPr txBox="1">
            <a:spLocks noChangeArrowheads="1"/>
          </p:cNvSpPr>
          <p:nvPr/>
        </p:nvSpPr>
        <p:spPr bwMode="auto">
          <a:xfrm>
            <a:off x="3071814" y="3500438"/>
            <a:ext cx="56165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800" i="1" dirty="0" smtClean="0">
                <a:solidFill>
                  <a:prstClr val="black"/>
                </a:solidFill>
              </a:rPr>
              <a:t>x</a:t>
            </a:r>
            <a:r>
              <a:rPr lang="en-US" altLang="zh-CN" sz="2800" baseline="-25000" dirty="0" smtClean="0">
                <a:solidFill>
                  <a:prstClr val="black"/>
                </a:solidFill>
              </a:rPr>
              <a:t>1</a:t>
            </a:r>
            <a:r>
              <a:rPr lang="en-US" altLang="zh-CN" sz="2800" dirty="0" smtClean="0">
                <a:solidFill>
                  <a:prstClr val="black"/>
                </a:solidFill>
              </a:rPr>
              <a:t>[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n</a:t>
            </a:r>
            <a:r>
              <a:rPr lang="en-US" altLang="zh-CN" sz="2800" dirty="0" smtClean="0">
                <a:solidFill>
                  <a:prstClr val="black"/>
                </a:solidFill>
              </a:rPr>
              <a:t>]</a:t>
            </a:r>
            <a:r>
              <a:rPr lang="zh-CN" altLang="en-US" sz="2800" dirty="0">
                <a:solidFill>
                  <a:prstClr val="black"/>
                </a:solidFill>
              </a:rPr>
              <a:t>和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x</a:t>
            </a:r>
            <a:r>
              <a:rPr lang="en-US" altLang="zh-CN" sz="2800" baseline="-25000" dirty="0" smtClean="0">
                <a:solidFill>
                  <a:prstClr val="black"/>
                </a:solidFill>
              </a:rPr>
              <a:t>2</a:t>
            </a:r>
            <a:r>
              <a:rPr lang="en-US" altLang="zh-CN" sz="2800" dirty="0" smtClean="0">
                <a:solidFill>
                  <a:prstClr val="black"/>
                </a:solidFill>
              </a:rPr>
              <a:t>[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n</a:t>
            </a:r>
            <a:r>
              <a:rPr lang="en-US" altLang="zh-CN" sz="2800" dirty="0" smtClean="0">
                <a:solidFill>
                  <a:prstClr val="black"/>
                </a:solidFill>
              </a:rPr>
              <a:t>]</a:t>
            </a:r>
            <a:r>
              <a:rPr lang="zh-CN" altLang="en-US" sz="2800" dirty="0">
                <a:solidFill>
                  <a:prstClr val="black"/>
                </a:solidFill>
              </a:rPr>
              <a:t>的</a:t>
            </a:r>
            <a:r>
              <a:rPr lang="en-US" altLang="zh-CN" sz="2800" dirty="0">
                <a:solidFill>
                  <a:prstClr val="black"/>
                </a:solidFill>
              </a:rPr>
              <a:t>4</a:t>
            </a:r>
            <a:r>
              <a:rPr lang="zh-CN" altLang="en-US" sz="2800" dirty="0">
                <a:solidFill>
                  <a:prstClr val="black"/>
                </a:solidFill>
              </a:rPr>
              <a:t>点循环卷积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y</a:t>
            </a:r>
            <a:r>
              <a:rPr lang="en-US" altLang="zh-CN" sz="2800" dirty="0" smtClean="0">
                <a:solidFill>
                  <a:prstClr val="black"/>
                </a:solidFill>
              </a:rPr>
              <a:t>[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n</a:t>
            </a:r>
            <a:r>
              <a:rPr lang="en-US" altLang="zh-CN" sz="2800" dirty="0" smtClean="0">
                <a:solidFill>
                  <a:prstClr val="black"/>
                </a:solidFill>
              </a:rPr>
              <a:t>]</a:t>
            </a:r>
            <a:r>
              <a:rPr lang="zh-CN" altLang="en-US" sz="2800" dirty="0">
                <a:solidFill>
                  <a:prstClr val="black"/>
                </a:solidFill>
              </a:rPr>
              <a:t>为</a:t>
            </a:r>
          </a:p>
        </p:txBody>
      </p:sp>
      <p:graphicFrame>
        <p:nvGraphicFramePr>
          <p:cNvPr id="6151" name="Object 20"/>
          <p:cNvGraphicFramePr>
            <a:graphicFrameLocks noChangeAspect="1"/>
          </p:cNvGraphicFramePr>
          <p:nvPr/>
        </p:nvGraphicFramePr>
        <p:xfrm>
          <a:off x="1992313" y="4365625"/>
          <a:ext cx="1223962" cy="194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1" name="公式" r:id="rId5" imgW="558800" imgH="914400" progId="Equation.3">
                  <p:embed/>
                </p:oleObj>
              </mc:Choice>
              <mc:Fallback>
                <p:oleObj name="公式" r:id="rId5" imgW="558800" imgH="914400" progId="Equation.3">
                  <p:embed/>
                  <p:pic>
                    <p:nvPicPr>
                      <p:cNvPr id="6151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4365625"/>
                        <a:ext cx="1223962" cy="194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21" name="Object 21"/>
          <p:cNvGraphicFramePr>
            <a:graphicFrameLocks noChangeAspect="1"/>
          </p:cNvGraphicFramePr>
          <p:nvPr/>
        </p:nvGraphicFramePr>
        <p:xfrm>
          <a:off x="5808663" y="4314826"/>
          <a:ext cx="811212" cy="192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2" name="公式" r:id="rId7" imgW="495085" imgH="939392" progId="Equation.3">
                  <p:embed/>
                </p:oleObj>
              </mc:Choice>
              <mc:Fallback>
                <p:oleObj name="公式" r:id="rId7" imgW="495085" imgH="939392" progId="Equation.3">
                  <p:embed/>
                  <p:pic>
                    <p:nvPicPr>
                      <p:cNvPr id="76821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8663" y="4314826"/>
                        <a:ext cx="811212" cy="1922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22" name="Object 22"/>
          <p:cNvGraphicFramePr>
            <a:graphicFrameLocks noChangeAspect="1"/>
          </p:cNvGraphicFramePr>
          <p:nvPr/>
        </p:nvGraphicFramePr>
        <p:xfrm>
          <a:off x="6672264" y="4437064"/>
          <a:ext cx="2016125" cy="179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3" name="公式" r:id="rId9" imgW="1028700" imgH="914400" progId="Equation.3">
                  <p:embed/>
                </p:oleObj>
              </mc:Choice>
              <mc:Fallback>
                <p:oleObj name="公式" r:id="rId9" imgW="1028700" imgH="914400" progId="Equation.3">
                  <p:embed/>
                  <p:pic>
                    <p:nvPicPr>
                      <p:cNvPr id="76822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2264" y="4437064"/>
                        <a:ext cx="2016125" cy="179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23" name="Object 23"/>
          <p:cNvGraphicFramePr>
            <a:graphicFrameLocks noChangeAspect="1"/>
          </p:cNvGraphicFramePr>
          <p:nvPr/>
        </p:nvGraphicFramePr>
        <p:xfrm>
          <a:off x="8688388" y="4365625"/>
          <a:ext cx="519112" cy="186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4" name="公式" r:id="rId11" imgW="254000" imgH="914400" progId="Equation.3">
                  <p:embed/>
                </p:oleObj>
              </mc:Choice>
              <mc:Fallback>
                <p:oleObj name="公式" r:id="rId11" imgW="254000" imgH="914400" progId="Equation.3">
                  <p:embed/>
                  <p:pic>
                    <p:nvPicPr>
                      <p:cNvPr id="76823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8388" y="4365625"/>
                        <a:ext cx="519112" cy="186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24" name="Object 24"/>
          <p:cNvGraphicFramePr>
            <a:graphicFrameLocks noChangeAspect="1"/>
          </p:cNvGraphicFramePr>
          <p:nvPr/>
        </p:nvGraphicFramePr>
        <p:xfrm>
          <a:off x="9191626" y="4437064"/>
          <a:ext cx="701675" cy="172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5" name="Equation" r:id="rId13" imgW="342751" imgH="850531" progId="Equation.3">
                  <p:embed/>
                </p:oleObj>
              </mc:Choice>
              <mc:Fallback>
                <p:oleObj name="Equation" r:id="rId13" imgW="342751" imgH="850531" progId="Equation.3">
                  <p:embed/>
                  <p:pic>
                    <p:nvPicPr>
                      <p:cNvPr id="76824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91626" y="4437064"/>
                        <a:ext cx="701675" cy="172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25" name="Object 25"/>
          <p:cNvGraphicFramePr>
            <a:graphicFrameLocks noGrp="1" noChangeAspect="1"/>
          </p:cNvGraphicFramePr>
          <p:nvPr>
            <p:ph/>
          </p:nvPr>
        </p:nvGraphicFramePr>
        <p:xfrm>
          <a:off x="3216275" y="4630738"/>
          <a:ext cx="2592388" cy="1350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6" name="公式" r:id="rId15" imgW="1803400" imgH="939800" progId="Equation.3">
                  <p:embed/>
                </p:oleObj>
              </mc:Choice>
              <mc:Fallback>
                <p:oleObj name="公式" r:id="rId15" imgW="1803400" imgH="939800" progId="Equation.3">
                  <p:embed/>
                  <p:pic>
                    <p:nvPicPr>
                      <p:cNvPr id="76825" name="Object 2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5" y="4630738"/>
                        <a:ext cx="2592388" cy="1350962"/>
                      </a:xfrm>
                      <a:prstGeom prst="rect">
                        <a:avLst/>
                      </a:prstGeom>
                      <a:solidFill>
                        <a:schemeClr val="hlink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7" name="Rectangle 28"/>
          <p:cNvSpPr>
            <a:spLocks noChangeArrowheads="1"/>
          </p:cNvSpPr>
          <p:nvPr/>
        </p:nvSpPr>
        <p:spPr bwMode="auto">
          <a:xfrm>
            <a:off x="3143251" y="765176"/>
            <a:ext cx="43211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prstClr val="black"/>
                </a:solidFill>
              </a:rPr>
              <a:t>(1)</a:t>
            </a:r>
            <a:r>
              <a:rPr lang="en-US" altLang="zh-CN" sz="2800" i="1" dirty="0">
                <a:solidFill>
                  <a:prstClr val="black"/>
                </a:solidFill>
              </a:rPr>
              <a:t> 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x</a:t>
            </a:r>
            <a:r>
              <a:rPr lang="en-US" altLang="zh-CN" sz="2800" baseline="-25000" dirty="0" smtClean="0">
                <a:solidFill>
                  <a:prstClr val="black"/>
                </a:solidFill>
              </a:rPr>
              <a:t>1</a:t>
            </a:r>
            <a:r>
              <a:rPr lang="en-US" altLang="zh-CN" sz="2800" dirty="0" smtClean="0">
                <a:solidFill>
                  <a:prstClr val="black"/>
                </a:solidFill>
              </a:rPr>
              <a:t>[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n</a:t>
            </a:r>
            <a:r>
              <a:rPr lang="en-US" altLang="zh-CN" sz="2800" dirty="0" smtClean="0">
                <a:solidFill>
                  <a:prstClr val="black"/>
                </a:solidFill>
              </a:rPr>
              <a:t>]</a:t>
            </a:r>
            <a:r>
              <a:rPr lang="zh-CN" altLang="en-US" sz="2800" dirty="0">
                <a:solidFill>
                  <a:prstClr val="black"/>
                </a:solidFill>
              </a:rPr>
              <a:t>和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x</a:t>
            </a:r>
            <a:r>
              <a:rPr lang="en-US" altLang="zh-CN" sz="2800" baseline="-25000" dirty="0" smtClean="0">
                <a:solidFill>
                  <a:prstClr val="black"/>
                </a:solidFill>
              </a:rPr>
              <a:t>2</a:t>
            </a:r>
            <a:r>
              <a:rPr lang="en-US" altLang="zh-CN" sz="2800" dirty="0" smtClean="0">
                <a:solidFill>
                  <a:prstClr val="black"/>
                </a:solidFill>
              </a:rPr>
              <a:t>[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n</a:t>
            </a:r>
            <a:r>
              <a:rPr lang="en-US" altLang="zh-CN" sz="2800" dirty="0" smtClean="0">
                <a:solidFill>
                  <a:prstClr val="black"/>
                </a:solidFill>
              </a:rPr>
              <a:t>]</a:t>
            </a:r>
            <a:r>
              <a:rPr lang="zh-CN" altLang="en-US" sz="2800" dirty="0">
                <a:solidFill>
                  <a:prstClr val="black"/>
                </a:solidFill>
              </a:rPr>
              <a:t>的线性卷积</a:t>
            </a:r>
          </a:p>
        </p:txBody>
      </p:sp>
      <p:sp>
        <p:nvSpPr>
          <p:cNvPr id="6158" name="Text Box 29"/>
          <p:cNvSpPr txBox="1">
            <a:spLocks noChangeArrowheads="1"/>
          </p:cNvSpPr>
          <p:nvPr/>
        </p:nvSpPr>
        <p:spPr bwMode="auto">
          <a:xfrm>
            <a:off x="3143251" y="1412876"/>
            <a:ext cx="56165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800" dirty="0">
                <a:solidFill>
                  <a:prstClr val="black"/>
                </a:solidFill>
              </a:rPr>
              <a:t>(2)</a:t>
            </a:r>
            <a:r>
              <a:rPr lang="en-US" altLang="zh-CN" sz="2800" i="1" dirty="0">
                <a:solidFill>
                  <a:prstClr val="black"/>
                </a:solidFill>
              </a:rPr>
              <a:t> 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x</a:t>
            </a:r>
            <a:r>
              <a:rPr lang="en-US" altLang="zh-CN" sz="2800" baseline="-25000" dirty="0" smtClean="0">
                <a:solidFill>
                  <a:prstClr val="black"/>
                </a:solidFill>
              </a:rPr>
              <a:t>1</a:t>
            </a:r>
            <a:r>
              <a:rPr lang="en-US" altLang="zh-CN" sz="2800" dirty="0" smtClean="0">
                <a:solidFill>
                  <a:prstClr val="black"/>
                </a:solidFill>
              </a:rPr>
              <a:t>[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n</a:t>
            </a:r>
            <a:r>
              <a:rPr lang="en-US" altLang="zh-CN" sz="2800" dirty="0" smtClean="0">
                <a:solidFill>
                  <a:prstClr val="black"/>
                </a:solidFill>
              </a:rPr>
              <a:t>]</a:t>
            </a:r>
            <a:r>
              <a:rPr lang="zh-CN" altLang="en-US" sz="2800" dirty="0">
                <a:solidFill>
                  <a:prstClr val="black"/>
                </a:solidFill>
              </a:rPr>
              <a:t>和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x</a:t>
            </a:r>
            <a:r>
              <a:rPr lang="en-US" altLang="zh-CN" sz="2800" baseline="-25000" dirty="0" smtClean="0">
                <a:solidFill>
                  <a:prstClr val="black"/>
                </a:solidFill>
              </a:rPr>
              <a:t>2</a:t>
            </a:r>
            <a:r>
              <a:rPr lang="en-US" altLang="zh-CN" sz="2800" dirty="0" smtClean="0">
                <a:solidFill>
                  <a:prstClr val="black"/>
                </a:solidFill>
              </a:rPr>
              <a:t>[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n</a:t>
            </a:r>
            <a:r>
              <a:rPr lang="en-US" altLang="zh-CN" sz="2800" dirty="0" smtClean="0">
                <a:solidFill>
                  <a:prstClr val="black"/>
                </a:solidFill>
              </a:rPr>
              <a:t>]</a:t>
            </a:r>
            <a:r>
              <a:rPr lang="zh-CN" altLang="en-US" sz="2800" dirty="0">
                <a:solidFill>
                  <a:prstClr val="black"/>
                </a:solidFill>
              </a:rPr>
              <a:t>的</a:t>
            </a:r>
            <a:r>
              <a:rPr lang="en-US" altLang="zh-CN" sz="2800" dirty="0">
                <a:solidFill>
                  <a:prstClr val="black"/>
                </a:solidFill>
              </a:rPr>
              <a:t>4</a:t>
            </a:r>
            <a:r>
              <a:rPr lang="zh-CN" altLang="en-US" sz="2800" dirty="0">
                <a:solidFill>
                  <a:prstClr val="black"/>
                </a:solidFill>
              </a:rPr>
              <a:t>点循环卷积</a:t>
            </a:r>
          </a:p>
        </p:txBody>
      </p:sp>
      <p:sp>
        <p:nvSpPr>
          <p:cNvPr id="6159" name="Text Box 30"/>
          <p:cNvSpPr txBox="1">
            <a:spLocks noChangeArrowheads="1"/>
          </p:cNvSpPr>
          <p:nvPr/>
        </p:nvSpPr>
        <p:spPr bwMode="auto">
          <a:xfrm>
            <a:off x="3143250" y="1989138"/>
            <a:ext cx="655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800" dirty="0">
                <a:solidFill>
                  <a:prstClr val="black"/>
                </a:solidFill>
              </a:rPr>
              <a:t>(3)</a:t>
            </a:r>
            <a:r>
              <a:rPr lang="en-US" altLang="zh-CN" sz="2800" i="1" dirty="0">
                <a:solidFill>
                  <a:prstClr val="black"/>
                </a:solidFill>
              </a:rPr>
              <a:t> 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x</a:t>
            </a:r>
            <a:r>
              <a:rPr lang="en-US" altLang="zh-CN" sz="2800" baseline="-25000" dirty="0" smtClean="0">
                <a:solidFill>
                  <a:prstClr val="black"/>
                </a:solidFill>
              </a:rPr>
              <a:t>1</a:t>
            </a:r>
            <a:r>
              <a:rPr lang="en-US" altLang="zh-CN" sz="2800" dirty="0" smtClean="0">
                <a:solidFill>
                  <a:prstClr val="black"/>
                </a:solidFill>
              </a:rPr>
              <a:t>[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n</a:t>
            </a:r>
            <a:r>
              <a:rPr lang="en-US" altLang="zh-CN" sz="2800" dirty="0" smtClean="0">
                <a:solidFill>
                  <a:prstClr val="black"/>
                </a:solidFill>
              </a:rPr>
              <a:t>]</a:t>
            </a:r>
            <a:r>
              <a:rPr lang="zh-CN" altLang="en-US" sz="2800" dirty="0">
                <a:solidFill>
                  <a:prstClr val="black"/>
                </a:solidFill>
              </a:rPr>
              <a:t>和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x</a:t>
            </a:r>
            <a:r>
              <a:rPr lang="en-US" altLang="zh-CN" sz="2800" baseline="-25000" dirty="0" smtClean="0">
                <a:solidFill>
                  <a:prstClr val="black"/>
                </a:solidFill>
              </a:rPr>
              <a:t>2</a:t>
            </a:r>
            <a:r>
              <a:rPr lang="en-US" altLang="zh-CN" sz="2800" dirty="0" smtClean="0">
                <a:solidFill>
                  <a:prstClr val="black"/>
                </a:solidFill>
              </a:rPr>
              <a:t>[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n</a:t>
            </a:r>
            <a:r>
              <a:rPr lang="en-US" altLang="zh-CN" sz="2800" dirty="0" smtClean="0">
                <a:solidFill>
                  <a:prstClr val="black"/>
                </a:solidFill>
              </a:rPr>
              <a:t>]</a:t>
            </a:r>
            <a:r>
              <a:rPr lang="zh-CN" altLang="en-US" sz="2800" dirty="0">
                <a:solidFill>
                  <a:prstClr val="black"/>
                </a:solidFill>
              </a:rPr>
              <a:t>的</a:t>
            </a:r>
            <a:r>
              <a:rPr lang="en-US" altLang="zh-CN" sz="2800" dirty="0">
                <a:solidFill>
                  <a:prstClr val="black"/>
                </a:solidFill>
              </a:rPr>
              <a:t>5</a:t>
            </a:r>
            <a:r>
              <a:rPr lang="zh-CN" altLang="en-US" sz="2800" dirty="0">
                <a:solidFill>
                  <a:prstClr val="black"/>
                </a:solidFill>
              </a:rPr>
              <a:t>点、</a:t>
            </a:r>
            <a:r>
              <a:rPr lang="en-US" altLang="zh-CN" sz="2800" dirty="0">
                <a:solidFill>
                  <a:prstClr val="black"/>
                </a:solidFill>
              </a:rPr>
              <a:t>6</a:t>
            </a:r>
            <a:r>
              <a:rPr lang="zh-CN" altLang="en-US" sz="2800" dirty="0">
                <a:solidFill>
                  <a:prstClr val="black"/>
                </a:solidFill>
              </a:rPr>
              <a:t>点和</a:t>
            </a:r>
            <a:r>
              <a:rPr lang="en-US" altLang="zh-CN" sz="2800" dirty="0">
                <a:solidFill>
                  <a:prstClr val="black"/>
                </a:solidFill>
              </a:rPr>
              <a:t>7</a:t>
            </a:r>
            <a:r>
              <a:rPr lang="zh-CN" altLang="en-US" sz="2800" dirty="0">
                <a:solidFill>
                  <a:prstClr val="black"/>
                </a:solidFill>
              </a:rPr>
              <a:t>点循环卷积</a:t>
            </a:r>
          </a:p>
        </p:txBody>
      </p:sp>
    </p:spTree>
    <p:extLst>
      <p:ext uri="{BB962C8B-B14F-4D97-AF65-F5344CB8AC3E}">
        <p14:creationId xmlns:p14="http://schemas.microsoft.com/office/powerpoint/2010/main" val="3647499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76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76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76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76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76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76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7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ext Box 2"/>
          <p:cNvSpPr txBox="1">
            <a:spLocks noChangeArrowheads="1"/>
          </p:cNvSpPr>
          <p:nvPr/>
        </p:nvSpPr>
        <p:spPr bwMode="auto">
          <a:xfrm>
            <a:off x="2640013" y="188913"/>
            <a:ext cx="7315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dirty="0">
                <a:solidFill>
                  <a:prstClr val="black"/>
                </a:solidFill>
              </a:rPr>
              <a:t>例：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x</a:t>
            </a:r>
            <a:r>
              <a:rPr lang="en-US" altLang="zh-CN" sz="2900" baseline="-25000" dirty="0" smtClean="0">
                <a:solidFill>
                  <a:prstClr val="black"/>
                </a:solidFill>
              </a:rPr>
              <a:t>1</a:t>
            </a:r>
            <a:r>
              <a:rPr lang="en-US" altLang="zh-CN" sz="2800" dirty="0" smtClean="0">
                <a:solidFill>
                  <a:prstClr val="black"/>
                </a:solidFill>
              </a:rPr>
              <a:t>[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n</a:t>
            </a:r>
            <a:r>
              <a:rPr lang="en-US" altLang="zh-CN" sz="2800" dirty="0" smtClean="0">
                <a:solidFill>
                  <a:prstClr val="black"/>
                </a:solidFill>
              </a:rPr>
              <a:t>]={</a:t>
            </a:r>
            <a:r>
              <a:rPr lang="en-US" altLang="zh-CN" sz="2800" dirty="0">
                <a:solidFill>
                  <a:prstClr val="black"/>
                </a:solidFill>
              </a:rPr>
              <a:t>1,1,1},  </a:t>
            </a:r>
            <a:r>
              <a:rPr lang="en-US" altLang="zh-CN" sz="2800" i="1" dirty="0">
                <a:solidFill>
                  <a:prstClr val="black"/>
                </a:solidFill>
              </a:rPr>
              <a:t>x</a:t>
            </a:r>
            <a:r>
              <a:rPr lang="en-US" altLang="zh-CN" sz="2800" dirty="0">
                <a:solidFill>
                  <a:prstClr val="black"/>
                </a:solidFill>
              </a:rPr>
              <a:t> </a:t>
            </a:r>
            <a:r>
              <a:rPr lang="en-US" altLang="zh-CN" sz="2900" baseline="-25000" dirty="0" smtClean="0">
                <a:solidFill>
                  <a:prstClr val="black"/>
                </a:solidFill>
              </a:rPr>
              <a:t>2</a:t>
            </a:r>
            <a:r>
              <a:rPr lang="en-US" altLang="zh-CN" sz="2800" dirty="0" smtClean="0">
                <a:solidFill>
                  <a:prstClr val="black"/>
                </a:solidFill>
              </a:rPr>
              <a:t>[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n</a:t>
            </a:r>
            <a:r>
              <a:rPr lang="en-US" altLang="zh-CN" sz="2800" dirty="0" smtClean="0">
                <a:solidFill>
                  <a:prstClr val="black"/>
                </a:solidFill>
              </a:rPr>
              <a:t>]={</a:t>
            </a:r>
            <a:r>
              <a:rPr lang="en-US" altLang="zh-CN" sz="2800" dirty="0">
                <a:solidFill>
                  <a:prstClr val="black"/>
                </a:solidFill>
              </a:rPr>
              <a:t>1,1,0,1} , </a:t>
            </a:r>
            <a:r>
              <a:rPr lang="zh-CN" altLang="en-US" sz="2800" dirty="0">
                <a:solidFill>
                  <a:prstClr val="black"/>
                </a:solidFill>
              </a:rPr>
              <a:t>计算</a:t>
            </a:r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1676400" y="2560638"/>
            <a:ext cx="8915400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2208213" y="2636838"/>
            <a:ext cx="16557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>
                <a:solidFill>
                  <a:prstClr val="black"/>
                </a:solidFill>
              </a:rPr>
              <a:t>解</a:t>
            </a:r>
            <a:r>
              <a:rPr lang="en-US" altLang="zh-CN" sz="2800">
                <a:solidFill>
                  <a:prstClr val="black"/>
                </a:solidFill>
              </a:rPr>
              <a:t>:</a:t>
            </a:r>
          </a:p>
        </p:txBody>
      </p:sp>
      <p:sp>
        <p:nvSpPr>
          <p:cNvPr id="7173" name="Text Box 6"/>
          <p:cNvSpPr txBox="1">
            <a:spLocks noChangeArrowheads="1"/>
          </p:cNvSpPr>
          <p:nvPr/>
        </p:nvSpPr>
        <p:spPr bwMode="auto">
          <a:xfrm>
            <a:off x="3071814" y="2781301"/>
            <a:ext cx="56165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800" i="1" dirty="0" smtClean="0">
                <a:solidFill>
                  <a:prstClr val="black"/>
                </a:solidFill>
              </a:rPr>
              <a:t>x</a:t>
            </a:r>
            <a:r>
              <a:rPr lang="en-US" altLang="zh-CN" sz="2800" baseline="-25000" dirty="0" smtClean="0">
                <a:solidFill>
                  <a:prstClr val="black"/>
                </a:solidFill>
              </a:rPr>
              <a:t>1</a:t>
            </a:r>
            <a:r>
              <a:rPr lang="en-US" altLang="zh-CN" sz="2800" dirty="0" smtClean="0">
                <a:solidFill>
                  <a:prstClr val="black"/>
                </a:solidFill>
              </a:rPr>
              <a:t>[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n</a:t>
            </a:r>
            <a:r>
              <a:rPr lang="en-US" altLang="zh-CN" sz="2800" dirty="0" smtClean="0">
                <a:solidFill>
                  <a:prstClr val="black"/>
                </a:solidFill>
              </a:rPr>
              <a:t>]</a:t>
            </a:r>
            <a:r>
              <a:rPr lang="zh-CN" altLang="en-US" sz="2800" dirty="0">
                <a:solidFill>
                  <a:prstClr val="black"/>
                </a:solidFill>
              </a:rPr>
              <a:t>和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x</a:t>
            </a:r>
            <a:r>
              <a:rPr lang="en-US" altLang="zh-CN" sz="2800" baseline="-25000" dirty="0" smtClean="0">
                <a:solidFill>
                  <a:prstClr val="black"/>
                </a:solidFill>
              </a:rPr>
              <a:t>2</a:t>
            </a:r>
            <a:r>
              <a:rPr lang="en-US" altLang="zh-CN" sz="2800" dirty="0" smtClean="0">
                <a:solidFill>
                  <a:prstClr val="black"/>
                </a:solidFill>
              </a:rPr>
              <a:t>[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n</a:t>
            </a:r>
            <a:r>
              <a:rPr lang="en-US" altLang="zh-CN" sz="2800" dirty="0" smtClean="0">
                <a:solidFill>
                  <a:prstClr val="black"/>
                </a:solidFill>
              </a:rPr>
              <a:t>]</a:t>
            </a:r>
            <a:r>
              <a:rPr lang="zh-CN" altLang="en-US" sz="2800" dirty="0">
                <a:solidFill>
                  <a:prstClr val="black"/>
                </a:solidFill>
              </a:rPr>
              <a:t>的</a:t>
            </a:r>
            <a:r>
              <a:rPr lang="en-US" altLang="zh-CN" sz="2800" dirty="0">
                <a:solidFill>
                  <a:prstClr val="black"/>
                </a:solidFill>
              </a:rPr>
              <a:t>5</a:t>
            </a:r>
            <a:r>
              <a:rPr lang="zh-CN" altLang="en-US" sz="2800" dirty="0">
                <a:solidFill>
                  <a:prstClr val="black"/>
                </a:solidFill>
              </a:rPr>
              <a:t>点循环卷积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y</a:t>
            </a:r>
            <a:r>
              <a:rPr lang="en-US" altLang="zh-CN" sz="2800" baseline="-25000" dirty="0" smtClean="0">
                <a:solidFill>
                  <a:prstClr val="black"/>
                </a:solidFill>
              </a:rPr>
              <a:t>5</a:t>
            </a:r>
            <a:r>
              <a:rPr lang="en-US" altLang="zh-CN" sz="2800" dirty="0" smtClean="0">
                <a:solidFill>
                  <a:prstClr val="black"/>
                </a:solidFill>
              </a:rPr>
              <a:t>[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n</a:t>
            </a:r>
            <a:r>
              <a:rPr lang="en-US" altLang="zh-CN" sz="2800" dirty="0" smtClean="0">
                <a:solidFill>
                  <a:prstClr val="black"/>
                </a:solidFill>
              </a:rPr>
              <a:t>]</a:t>
            </a:r>
            <a:r>
              <a:rPr lang="zh-CN" altLang="en-US" sz="2800" dirty="0">
                <a:solidFill>
                  <a:prstClr val="black"/>
                </a:solidFill>
              </a:rPr>
              <a:t>为</a:t>
            </a:r>
          </a:p>
        </p:txBody>
      </p:sp>
      <p:sp>
        <p:nvSpPr>
          <p:cNvPr id="7174" name="Rectangle 13"/>
          <p:cNvSpPr>
            <a:spLocks noChangeArrowheads="1"/>
          </p:cNvSpPr>
          <p:nvPr/>
        </p:nvSpPr>
        <p:spPr bwMode="auto">
          <a:xfrm>
            <a:off x="3143251" y="765176"/>
            <a:ext cx="43211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prstClr val="black"/>
                </a:solidFill>
              </a:rPr>
              <a:t>(1)</a:t>
            </a:r>
            <a:r>
              <a:rPr lang="en-US" altLang="zh-CN" sz="2800" i="1" dirty="0">
                <a:solidFill>
                  <a:prstClr val="black"/>
                </a:solidFill>
              </a:rPr>
              <a:t> 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x</a:t>
            </a:r>
            <a:r>
              <a:rPr lang="en-US" altLang="zh-CN" sz="2800" baseline="-25000" dirty="0" smtClean="0">
                <a:solidFill>
                  <a:prstClr val="black"/>
                </a:solidFill>
              </a:rPr>
              <a:t>1</a:t>
            </a:r>
            <a:r>
              <a:rPr lang="en-US" altLang="zh-CN" sz="2800" dirty="0" smtClean="0">
                <a:solidFill>
                  <a:prstClr val="black"/>
                </a:solidFill>
              </a:rPr>
              <a:t>[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n</a:t>
            </a:r>
            <a:r>
              <a:rPr lang="en-US" altLang="zh-CN" sz="2800" dirty="0" smtClean="0">
                <a:solidFill>
                  <a:prstClr val="black"/>
                </a:solidFill>
              </a:rPr>
              <a:t>]</a:t>
            </a:r>
            <a:r>
              <a:rPr lang="zh-CN" altLang="en-US" sz="2800" dirty="0">
                <a:solidFill>
                  <a:prstClr val="black"/>
                </a:solidFill>
              </a:rPr>
              <a:t>和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x</a:t>
            </a:r>
            <a:r>
              <a:rPr lang="en-US" altLang="zh-CN" sz="2800" baseline="-25000" dirty="0" smtClean="0">
                <a:solidFill>
                  <a:prstClr val="black"/>
                </a:solidFill>
              </a:rPr>
              <a:t>2</a:t>
            </a:r>
            <a:r>
              <a:rPr lang="en-US" altLang="zh-CN" sz="2800" dirty="0" smtClean="0">
                <a:solidFill>
                  <a:prstClr val="black"/>
                </a:solidFill>
              </a:rPr>
              <a:t>[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n</a:t>
            </a:r>
            <a:r>
              <a:rPr lang="en-US" altLang="zh-CN" sz="2800" dirty="0" smtClean="0">
                <a:solidFill>
                  <a:prstClr val="black"/>
                </a:solidFill>
              </a:rPr>
              <a:t>]</a:t>
            </a:r>
            <a:r>
              <a:rPr lang="zh-CN" altLang="en-US" sz="2800" dirty="0">
                <a:solidFill>
                  <a:prstClr val="black"/>
                </a:solidFill>
              </a:rPr>
              <a:t>的线性卷积</a:t>
            </a:r>
          </a:p>
        </p:txBody>
      </p:sp>
      <p:sp>
        <p:nvSpPr>
          <p:cNvPr id="7175" name="Text Box 14"/>
          <p:cNvSpPr txBox="1">
            <a:spLocks noChangeArrowheads="1"/>
          </p:cNvSpPr>
          <p:nvPr/>
        </p:nvSpPr>
        <p:spPr bwMode="auto">
          <a:xfrm>
            <a:off x="3143251" y="1412876"/>
            <a:ext cx="56165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800" dirty="0">
                <a:solidFill>
                  <a:prstClr val="black"/>
                </a:solidFill>
              </a:rPr>
              <a:t>(2)</a:t>
            </a:r>
            <a:r>
              <a:rPr lang="en-US" altLang="zh-CN" sz="2800" i="1" dirty="0">
                <a:solidFill>
                  <a:prstClr val="black"/>
                </a:solidFill>
              </a:rPr>
              <a:t> 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x</a:t>
            </a:r>
            <a:r>
              <a:rPr lang="en-US" altLang="zh-CN" sz="2800" baseline="-25000" dirty="0" smtClean="0">
                <a:solidFill>
                  <a:prstClr val="black"/>
                </a:solidFill>
              </a:rPr>
              <a:t>1</a:t>
            </a:r>
            <a:r>
              <a:rPr lang="en-US" altLang="zh-CN" sz="2800" dirty="0" smtClean="0">
                <a:solidFill>
                  <a:prstClr val="black"/>
                </a:solidFill>
              </a:rPr>
              <a:t>[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n</a:t>
            </a:r>
            <a:r>
              <a:rPr lang="en-US" altLang="zh-CN" sz="2800" dirty="0" smtClean="0">
                <a:solidFill>
                  <a:prstClr val="black"/>
                </a:solidFill>
              </a:rPr>
              <a:t>]</a:t>
            </a:r>
            <a:r>
              <a:rPr lang="zh-CN" altLang="en-US" sz="2800" dirty="0">
                <a:solidFill>
                  <a:prstClr val="black"/>
                </a:solidFill>
              </a:rPr>
              <a:t>和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x</a:t>
            </a:r>
            <a:r>
              <a:rPr lang="en-US" altLang="zh-CN" sz="2800" baseline="-25000" dirty="0" smtClean="0">
                <a:solidFill>
                  <a:prstClr val="black"/>
                </a:solidFill>
              </a:rPr>
              <a:t>2</a:t>
            </a:r>
            <a:r>
              <a:rPr lang="en-US" altLang="zh-CN" sz="2800" dirty="0" smtClean="0">
                <a:solidFill>
                  <a:prstClr val="black"/>
                </a:solidFill>
              </a:rPr>
              <a:t>[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n</a:t>
            </a:r>
            <a:r>
              <a:rPr lang="en-US" altLang="zh-CN" sz="2800" dirty="0" smtClean="0">
                <a:solidFill>
                  <a:prstClr val="black"/>
                </a:solidFill>
              </a:rPr>
              <a:t>]</a:t>
            </a:r>
            <a:r>
              <a:rPr lang="zh-CN" altLang="en-US" sz="2800" dirty="0">
                <a:solidFill>
                  <a:prstClr val="black"/>
                </a:solidFill>
              </a:rPr>
              <a:t>的</a:t>
            </a:r>
            <a:r>
              <a:rPr lang="en-US" altLang="zh-CN" sz="2800" dirty="0">
                <a:solidFill>
                  <a:prstClr val="black"/>
                </a:solidFill>
              </a:rPr>
              <a:t>4</a:t>
            </a:r>
            <a:r>
              <a:rPr lang="zh-CN" altLang="en-US" sz="2800" dirty="0">
                <a:solidFill>
                  <a:prstClr val="black"/>
                </a:solidFill>
              </a:rPr>
              <a:t>点循环卷积</a:t>
            </a:r>
          </a:p>
        </p:txBody>
      </p:sp>
      <p:sp>
        <p:nvSpPr>
          <p:cNvPr id="7176" name="Text Box 15"/>
          <p:cNvSpPr txBox="1">
            <a:spLocks noChangeArrowheads="1"/>
          </p:cNvSpPr>
          <p:nvPr/>
        </p:nvSpPr>
        <p:spPr bwMode="auto">
          <a:xfrm>
            <a:off x="3143250" y="1989138"/>
            <a:ext cx="655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800" dirty="0">
                <a:solidFill>
                  <a:prstClr val="black"/>
                </a:solidFill>
              </a:rPr>
              <a:t>(3)</a:t>
            </a:r>
            <a:r>
              <a:rPr lang="en-US" altLang="zh-CN" sz="2800" i="1" dirty="0">
                <a:solidFill>
                  <a:prstClr val="black"/>
                </a:solidFill>
              </a:rPr>
              <a:t> 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x</a:t>
            </a:r>
            <a:r>
              <a:rPr lang="en-US" altLang="zh-CN" sz="2800" baseline="-25000" dirty="0" smtClean="0">
                <a:solidFill>
                  <a:prstClr val="black"/>
                </a:solidFill>
              </a:rPr>
              <a:t>1</a:t>
            </a:r>
            <a:r>
              <a:rPr lang="en-US" altLang="zh-CN" sz="2800" dirty="0" smtClean="0">
                <a:solidFill>
                  <a:prstClr val="black"/>
                </a:solidFill>
              </a:rPr>
              <a:t>[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n</a:t>
            </a:r>
            <a:r>
              <a:rPr lang="en-US" altLang="zh-CN" sz="2800" dirty="0" smtClean="0">
                <a:solidFill>
                  <a:prstClr val="black"/>
                </a:solidFill>
              </a:rPr>
              <a:t>]</a:t>
            </a:r>
            <a:r>
              <a:rPr lang="zh-CN" altLang="en-US" sz="2800" dirty="0">
                <a:solidFill>
                  <a:prstClr val="black"/>
                </a:solidFill>
              </a:rPr>
              <a:t>和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x</a:t>
            </a:r>
            <a:r>
              <a:rPr lang="en-US" altLang="zh-CN" sz="2800" baseline="-25000" dirty="0" smtClean="0">
                <a:solidFill>
                  <a:prstClr val="black"/>
                </a:solidFill>
              </a:rPr>
              <a:t>2</a:t>
            </a:r>
            <a:r>
              <a:rPr lang="en-US" altLang="zh-CN" sz="2800" dirty="0" smtClean="0">
                <a:solidFill>
                  <a:prstClr val="black"/>
                </a:solidFill>
              </a:rPr>
              <a:t>[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n</a:t>
            </a:r>
            <a:r>
              <a:rPr lang="en-US" altLang="zh-CN" sz="2800" dirty="0" smtClean="0">
                <a:solidFill>
                  <a:prstClr val="black"/>
                </a:solidFill>
              </a:rPr>
              <a:t>]</a:t>
            </a:r>
            <a:r>
              <a:rPr lang="zh-CN" altLang="en-US" sz="2800" dirty="0">
                <a:solidFill>
                  <a:prstClr val="black"/>
                </a:solidFill>
              </a:rPr>
              <a:t>的</a:t>
            </a:r>
            <a:r>
              <a:rPr lang="en-US" altLang="zh-CN" sz="2800" dirty="0">
                <a:solidFill>
                  <a:prstClr val="black"/>
                </a:solidFill>
              </a:rPr>
              <a:t>5</a:t>
            </a:r>
            <a:r>
              <a:rPr lang="zh-CN" altLang="en-US" sz="2800" dirty="0">
                <a:solidFill>
                  <a:prstClr val="black"/>
                </a:solidFill>
              </a:rPr>
              <a:t>点、</a:t>
            </a:r>
            <a:r>
              <a:rPr lang="en-US" altLang="zh-CN" sz="2800" dirty="0">
                <a:solidFill>
                  <a:prstClr val="black"/>
                </a:solidFill>
              </a:rPr>
              <a:t>6</a:t>
            </a:r>
            <a:r>
              <a:rPr lang="zh-CN" altLang="en-US" sz="2800" dirty="0">
                <a:solidFill>
                  <a:prstClr val="black"/>
                </a:solidFill>
              </a:rPr>
              <a:t>点和</a:t>
            </a:r>
            <a:r>
              <a:rPr lang="en-US" altLang="zh-CN" sz="2800" dirty="0">
                <a:solidFill>
                  <a:prstClr val="black"/>
                </a:solidFill>
              </a:rPr>
              <a:t>7</a:t>
            </a:r>
            <a:r>
              <a:rPr lang="zh-CN" altLang="en-US" sz="2800" dirty="0">
                <a:solidFill>
                  <a:prstClr val="black"/>
                </a:solidFill>
              </a:rPr>
              <a:t>点循环卷积</a:t>
            </a:r>
          </a:p>
        </p:txBody>
      </p:sp>
      <p:sp>
        <p:nvSpPr>
          <p:cNvPr id="7177" name="Rectangle 17"/>
          <p:cNvSpPr>
            <a:spLocks noChangeArrowheads="1"/>
          </p:cNvSpPr>
          <p:nvPr/>
        </p:nvSpPr>
        <p:spPr bwMode="auto">
          <a:xfrm>
            <a:off x="3216276" y="3429001"/>
            <a:ext cx="376577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i="1" dirty="0" smtClean="0">
                <a:solidFill>
                  <a:prstClr val="black"/>
                </a:solidFill>
              </a:rPr>
              <a:t>y</a:t>
            </a:r>
            <a:r>
              <a:rPr lang="en-US" altLang="zh-CN" sz="2800" baseline="-25000" dirty="0" smtClean="0">
                <a:solidFill>
                  <a:prstClr val="black"/>
                </a:solidFill>
              </a:rPr>
              <a:t>5</a:t>
            </a:r>
            <a:r>
              <a:rPr lang="en-US" altLang="zh-CN" sz="2800" dirty="0" smtClean="0">
                <a:solidFill>
                  <a:prstClr val="black"/>
                </a:solidFill>
              </a:rPr>
              <a:t>[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n</a:t>
            </a:r>
            <a:r>
              <a:rPr lang="en-US" altLang="zh-CN" sz="2800" dirty="0" smtClean="0">
                <a:solidFill>
                  <a:prstClr val="black"/>
                </a:solidFill>
              </a:rPr>
              <a:t>]={</a:t>
            </a:r>
            <a:r>
              <a:rPr lang="en-US" altLang="zh-CN" sz="2800" dirty="0">
                <a:solidFill>
                  <a:prstClr val="black"/>
                </a:solidFill>
              </a:rPr>
              <a:t>2</a:t>
            </a:r>
            <a:r>
              <a:rPr lang="zh-CN" altLang="en-US" sz="2800" dirty="0">
                <a:solidFill>
                  <a:prstClr val="black"/>
                </a:solidFill>
              </a:rPr>
              <a:t>，</a:t>
            </a:r>
            <a:r>
              <a:rPr lang="en-US" altLang="zh-CN" sz="2800" dirty="0">
                <a:solidFill>
                  <a:prstClr val="black"/>
                </a:solidFill>
              </a:rPr>
              <a:t>2</a:t>
            </a:r>
            <a:r>
              <a:rPr lang="zh-CN" altLang="en-US" sz="2800" dirty="0">
                <a:solidFill>
                  <a:prstClr val="black"/>
                </a:solidFill>
              </a:rPr>
              <a:t>，</a:t>
            </a:r>
            <a:r>
              <a:rPr lang="en-US" altLang="zh-CN" sz="2800" dirty="0">
                <a:solidFill>
                  <a:prstClr val="black"/>
                </a:solidFill>
              </a:rPr>
              <a:t>2</a:t>
            </a:r>
            <a:r>
              <a:rPr lang="zh-CN" altLang="en-US" sz="2800" dirty="0">
                <a:solidFill>
                  <a:prstClr val="black"/>
                </a:solidFill>
              </a:rPr>
              <a:t>，</a:t>
            </a:r>
            <a:r>
              <a:rPr lang="en-US" altLang="zh-CN" sz="2800" dirty="0">
                <a:solidFill>
                  <a:prstClr val="black"/>
                </a:solidFill>
              </a:rPr>
              <a:t>2</a:t>
            </a:r>
            <a:r>
              <a:rPr lang="zh-CN" altLang="en-US" sz="2800" dirty="0">
                <a:solidFill>
                  <a:prstClr val="black"/>
                </a:solidFill>
              </a:rPr>
              <a:t>，</a:t>
            </a:r>
            <a:r>
              <a:rPr lang="en-US" altLang="zh-CN" sz="2800" dirty="0">
                <a:solidFill>
                  <a:prstClr val="black"/>
                </a:solidFill>
              </a:rPr>
              <a:t>1}</a:t>
            </a:r>
          </a:p>
        </p:txBody>
      </p:sp>
      <p:sp>
        <p:nvSpPr>
          <p:cNvPr id="7178" name="Text Box 18"/>
          <p:cNvSpPr txBox="1">
            <a:spLocks noChangeArrowheads="1"/>
          </p:cNvSpPr>
          <p:nvPr/>
        </p:nvSpPr>
        <p:spPr bwMode="auto">
          <a:xfrm>
            <a:off x="3143251" y="4149726"/>
            <a:ext cx="56165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800" i="1" dirty="0" smtClean="0">
                <a:solidFill>
                  <a:prstClr val="black"/>
                </a:solidFill>
              </a:rPr>
              <a:t>x</a:t>
            </a:r>
            <a:r>
              <a:rPr lang="en-US" altLang="zh-CN" sz="2800" baseline="-25000" dirty="0" smtClean="0">
                <a:solidFill>
                  <a:prstClr val="black"/>
                </a:solidFill>
              </a:rPr>
              <a:t>1</a:t>
            </a:r>
            <a:r>
              <a:rPr lang="en-US" altLang="zh-CN" sz="2800" dirty="0" smtClean="0">
                <a:solidFill>
                  <a:prstClr val="black"/>
                </a:solidFill>
              </a:rPr>
              <a:t>[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n</a:t>
            </a:r>
            <a:r>
              <a:rPr lang="en-US" altLang="zh-CN" sz="2800" dirty="0" smtClean="0">
                <a:solidFill>
                  <a:prstClr val="black"/>
                </a:solidFill>
              </a:rPr>
              <a:t>]</a:t>
            </a:r>
            <a:r>
              <a:rPr lang="zh-CN" altLang="en-US" sz="2800" dirty="0">
                <a:solidFill>
                  <a:prstClr val="black"/>
                </a:solidFill>
              </a:rPr>
              <a:t>和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x</a:t>
            </a:r>
            <a:r>
              <a:rPr lang="en-US" altLang="zh-CN" sz="2800" baseline="-25000" dirty="0" smtClean="0">
                <a:solidFill>
                  <a:prstClr val="black"/>
                </a:solidFill>
              </a:rPr>
              <a:t>2</a:t>
            </a:r>
            <a:r>
              <a:rPr lang="en-US" altLang="zh-CN" sz="2800" dirty="0" smtClean="0">
                <a:solidFill>
                  <a:prstClr val="black"/>
                </a:solidFill>
              </a:rPr>
              <a:t>[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n</a:t>
            </a:r>
            <a:r>
              <a:rPr lang="en-US" altLang="zh-CN" sz="2800" dirty="0" smtClean="0">
                <a:solidFill>
                  <a:prstClr val="black"/>
                </a:solidFill>
              </a:rPr>
              <a:t>]</a:t>
            </a:r>
            <a:r>
              <a:rPr lang="zh-CN" altLang="en-US" sz="2800" dirty="0">
                <a:solidFill>
                  <a:prstClr val="black"/>
                </a:solidFill>
              </a:rPr>
              <a:t>的</a:t>
            </a:r>
            <a:r>
              <a:rPr lang="en-US" altLang="zh-CN" sz="2800" dirty="0">
                <a:solidFill>
                  <a:prstClr val="black"/>
                </a:solidFill>
              </a:rPr>
              <a:t>6</a:t>
            </a:r>
            <a:r>
              <a:rPr lang="zh-CN" altLang="en-US" sz="2800" dirty="0">
                <a:solidFill>
                  <a:prstClr val="black"/>
                </a:solidFill>
              </a:rPr>
              <a:t>点循环卷积</a:t>
            </a:r>
            <a:r>
              <a:rPr lang="en-US" altLang="zh-CN" sz="2800" i="1" dirty="0">
                <a:solidFill>
                  <a:prstClr val="black"/>
                </a:solidFill>
              </a:rPr>
              <a:t>y</a:t>
            </a:r>
            <a:r>
              <a:rPr lang="en-US" altLang="zh-CN" sz="2800" baseline="-25000" dirty="0">
                <a:solidFill>
                  <a:prstClr val="black"/>
                </a:solidFill>
              </a:rPr>
              <a:t>6</a:t>
            </a:r>
            <a:r>
              <a:rPr lang="en-US" altLang="zh-CN" sz="2800" dirty="0">
                <a:solidFill>
                  <a:prstClr val="black"/>
                </a:solidFill>
              </a:rPr>
              <a:t>[</a:t>
            </a:r>
            <a:r>
              <a:rPr lang="en-US" altLang="zh-CN" sz="2800" i="1" dirty="0">
                <a:solidFill>
                  <a:prstClr val="black"/>
                </a:solidFill>
              </a:rPr>
              <a:t>k</a:t>
            </a:r>
            <a:r>
              <a:rPr lang="en-US" altLang="zh-CN" sz="2800" dirty="0">
                <a:solidFill>
                  <a:prstClr val="black"/>
                </a:solidFill>
              </a:rPr>
              <a:t>]</a:t>
            </a:r>
            <a:r>
              <a:rPr lang="zh-CN" altLang="en-US" sz="2800" dirty="0">
                <a:solidFill>
                  <a:prstClr val="black"/>
                </a:solidFill>
              </a:rPr>
              <a:t>为</a:t>
            </a:r>
          </a:p>
        </p:txBody>
      </p:sp>
      <p:sp>
        <p:nvSpPr>
          <p:cNvPr id="7179" name="Rectangle 19"/>
          <p:cNvSpPr>
            <a:spLocks noChangeArrowheads="1"/>
          </p:cNvSpPr>
          <p:nvPr/>
        </p:nvSpPr>
        <p:spPr bwMode="auto">
          <a:xfrm>
            <a:off x="3143251" y="4724401"/>
            <a:ext cx="430438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i="1" dirty="0" smtClean="0">
                <a:solidFill>
                  <a:prstClr val="black"/>
                </a:solidFill>
              </a:rPr>
              <a:t>y</a:t>
            </a:r>
            <a:r>
              <a:rPr lang="en-US" altLang="zh-CN" sz="2800" baseline="-25000" dirty="0" smtClean="0">
                <a:solidFill>
                  <a:prstClr val="black"/>
                </a:solidFill>
              </a:rPr>
              <a:t>6</a:t>
            </a:r>
            <a:r>
              <a:rPr lang="en-US" altLang="zh-CN" sz="2800" dirty="0" smtClean="0">
                <a:solidFill>
                  <a:prstClr val="black"/>
                </a:solidFill>
              </a:rPr>
              <a:t>[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n</a:t>
            </a:r>
            <a:r>
              <a:rPr lang="en-US" altLang="zh-CN" sz="2800" dirty="0" smtClean="0">
                <a:solidFill>
                  <a:prstClr val="black"/>
                </a:solidFill>
              </a:rPr>
              <a:t>]={</a:t>
            </a:r>
            <a:r>
              <a:rPr lang="en-US" altLang="zh-CN" sz="2800" dirty="0">
                <a:solidFill>
                  <a:prstClr val="black"/>
                </a:solidFill>
              </a:rPr>
              <a:t>1</a:t>
            </a:r>
            <a:r>
              <a:rPr lang="zh-CN" altLang="en-US" sz="2800" dirty="0">
                <a:solidFill>
                  <a:prstClr val="black"/>
                </a:solidFill>
              </a:rPr>
              <a:t>，</a:t>
            </a:r>
            <a:r>
              <a:rPr lang="en-US" altLang="zh-CN" sz="2800" dirty="0">
                <a:solidFill>
                  <a:prstClr val="black"/>
                </a:solidFill>
              </a:rPr>
              <a:t>2</a:t>
            </a:r>
            <a:r>
              <a:rPr lang="zh-CN" altLang="en-US" sz="2800" dirty="0">
                <a:solidFill>
                  <a:prstClr val="black"/>
                </a:solidFill>
              </a:rPr>
              <a:t>，</a:t>
            </a:r>
            <a:r>
              <a:rPr lang="en-US" altLang="zh-CN" sz="2800" dirty="0">
                <a:solidFill>
                  <a:prstClr val="black"/>
                </a:solidFill>
              </a:rPr>
              <a:t>2</a:t>
            </a:r>
            <a:r>
              <a:rPr lang="zh-CN" altLang="en-US" sz="2800" dirty="0">
                <a:solidFill>
                  <a:prstClr val="black"/>
                </a:solidFill>
              </a:rPr>
              <a:t>，</a:t>
            </a:r>
            <a:r>
              <a:rPr lang="en-US" altLang="zh-CN" sz="2800" dirty="0">
                <a:solidFill>
                  <a:prstClr val="black"/>
                </a:solidFill>
              </a:rPr>
              <a:t>2</a:t>
            </a:r>
            <a:r>
              <a:rPr lang="zh-CN" altLang="en-US" sz="2800" dirty="0">
                <a:solidFill>
                  <a:prstClr val="black"/>
                </a:solidFill>
              </a:rPr>
              <a:t>，</a:t>
            </a:r>
            <a:r>
              <a:rPr lang="en-US" altLang="zh-CN" sz="2800" dirty="0">
                <a:solidFill>
                  <a:prstClr val="black"/>
                </a:solidFill>
              </a:rPr>
              <a:t>1</a:t>
            </a:r>
            <a:r>
              <a:rPr lang="zh-CN" altLang="en-US" sz="2800" dirty="0">
                <a:solidFill>
                  <a:prstClr val="black"/>
                </a:solidFill>
              </a:rPr>
              <a:t>，</a:t>
            </a:r>
            <a:r>
              <a:rPr lang="en-US" altLang="zh-CN" sz="2800" dirty="0">
                <a:solidFill>
                  <a:prstClr val="black"/>
                </a:solidFill>
              </a:rPr>
              <a:t>1}</a:t>
            </a:r>
          </a:p>
        </p:txBody>
      </p:sp>
      <p:sp>
        <p:nvSpPr>
          <p:cNvPr id="7180" name="Text Box 20"/>
          <p:cNvSpPr txBox="1">
            <a:spLocks noChangeArrowheads="1"/>
          </p:cNvSpPr>
          <p:nvPr/>
        </p:nvSpPr>
        <p:spPr bwMode="auto">
          <a:xfrm>
            <a:off x="3143251" y="5445126"/>
            <a:ext cx="56165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800" i="1" dirty="0" smtClean="0">
                <a:solidFill>
                  <a:prstClr val="black"/>
                </a:solidFill>
              </a:rPr>
              <a:t>x</a:t>
            </a:r>
            <a:r>
              <a:rPr lang="en-US" altLang="zh-CN" sz="2800" baseline="-25000" dirty="0" smtClean="0">
                <a:solidFill>
                  <a:prstClr val="black"/>
                </a:solidFill>
              </a:rPr>
              <a:t>1</a:t>
            </a:r>
            <a:r>
              <a:rPr lang="en-US" altLang="zh-CN" sz="2800" dirty="0" smtClean="0">
                <a:solidFill>
                  <a:prstClr val="black"/>
                </a:solidFill>
              </a:rPr>
              <a:t>[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n</a:t>
            </a:r>
            <a:r>
              <a:rPr lang="en-US" altLang="zh-CN" sz="2800" dirty="0" smtClean="0">
                <a:solidFill>
                  <a:prstClr val="black"/>
                </a:solidFill>
              </a:rPr>
              <a:t>]</a:t>
            </a:r>
            <a:r>
              <a:rPr lang="zh-CN" altLang="en-US" sz="2800" dirty="0">
                <a:solidFill>
                  <a:prstClr val="black"/>
                </a:solidFill>
              </a:rPr>
              <a:t>和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x</a:t>
            </a:r>
            <a:r>
              <a:rPr lang="en-US" altLang="zh-CN" sz="2800" baseline="-25000" dirty="0" smtClean="0">
                <a:solidFill>
                  <a:prstClr val="black"/>
                </a:solidFill>
              </a:rPr>
              <a:t>2</a:t>
            </a:r>
            <a:r>
              <a:rPr lang="en-US" altLang="zh-CN" sz="2800" dirty="0" smtClean="0">
                <a:solidFill>
                  <a:prstClr val="black"/>
                </a:solidFill>
              </a:rPr>
              <a:t>[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n</a:t>
            </a:r>
            <a:r>
              <a:rPr lang="en-US" altLang="zh-CN" sz="2800" dirty="0" smtClean="0">
                <a:solidFill>
                  <a:prstClr val="black"/>
                </a:solidFill>
              </a:rPr>
              <a:t>]</a:t>
            </a:r>
            <a:r>
              <a:rPr lang="zh-CN" altLang="en-US" sz="2800" dirty="0">
                <a:solidFill>
                  <a:prstClr val="black"/>
                </a:solidFill>
              </a:rPr>
              <a:t>的</a:t>
            </a:r>
            <a:r>
              <a:rPr lang="en-US" altLang="zh-CN" sz="2800" dirty="0">
                <a:solidFill>
                  <a:prstClr val="black"/>
                </a:solidFill>
              </a:rPr>
              <a:t>7</a:t>
            </a:r>
            <a:r>
              <a:rPr lang="zh-CN" altLang="en-US" sz="2800" dirty="0">
                <a:solidFill>
                  <a:prstClr val="black"/>
                </a:solidFill>
              </a:rPr>
              <a:t>点循环卷积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y</a:t>
            </a:r>
            <a:r>
              <a:rPr lang="en-US" altLang="zh-CN" sz="2800" baseline="-25000" dirty="0" smtClean="0">
                <a:solidFill>
                  <a:prstClr val="black"/>
                </a:solidFill>
              </a:rPr>
              <a:t>7</a:t>
            </a:r>
            <a:r>
              <a:rPr lang="en-US" altLang="zh-CN" sz="2800" dirty="0" smtClean="0">
                <a:solidFill>
                  <a:prstClr val="black"/>
                </a:solidFill>
              </a:rPr>
              <a:t>[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n</a:t>
            </a:r>
            <a:r>
              <a:rPr lang="en-US" altLang="zh-CN" sz="2800" dirty="0" smtClean="0">
                <a:solidFill>
                  <a:prstClr val="black"/>
                </a:solidFill>
              </a:rPr>
              <a:t>]</a:t>
            </a:r>
            <a:r>
              <a:rPr lang="zh-CN" altLang="en-US" sz="2800" dirty="0">
                <a:solidFill>
                  <a:prstClr val="black"/>
                </a:solidFill>
              </a:rPr>
              <a:t>为</a:t>
            </a:r>
          </a:p>
        </p:txBody>
      </p:sp>
      <p:sp>
        <p:nvSpPr>
          <p:cNvPr id="7181" name="Rectangle 21"/>
          <p:cNvSpPr>
            <a:spLocks noChangeArrowheads="1"/>
          </p:cNvSpPr>
          <p:nvPr/>
        </p:nvSpPr>
        <p:spPr bwMode="auto">
          <a:xfrm>
            <a:off x="3216276" y="6021388"/>
            <a:ext cx="484299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i="1" dirty="0" smtClean="0">
                <a:solidFill>
                  <a:prstClr val="black"/>
                </a:solidFill>
              </a:rPr>
              <a:t>y</a:t>
            </a:r>
            <a:r>
              <a:rPr lang="en-US" altLang="zh-CN" sz="2800" baseline="-25000" dirty="0" smtClean="0">
                <a:solidFill>
                  <a:prstClr val="black"/>
                </a:solidFill>
              </a:rPr>
              <a:t>7</a:t>
            </a:r>
            <a:r>
              <a:rPr lang="en-US" altLang="zh-CN" sz="2800" dirty="0" smtClean="0">
                <a:solidFill>
                  <a:prstClr val="black"/>
                </a:solidFill>
              </a:rPr>
              <a:t>[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n</a:t>
            </a:r>
            <a:r>
              <a:rPr lang="en-US" altLang="zh-CN" sz="2800" dirty="0" smtClean="0">
                <a:solidFill>
                  <a:prstClr val="black"/>
                </a:solidFill>
              </a:rPr>
              <a:t>]={</a:t>
            </a:r>
            <a:r>
              <a:rPr lang="en-US" altLang="zh-CN" sz="2800" dirty="0">
                <a:solidFill>
                  <a:prstClr val="black"/>
                </a:solidFill>
              </a:rPr>
              <a:t>1</a:t>
            </a:r>
            <a:r>
              <a:rPr lang="zh-CN" altLang="en-US" sz="2800" dirty="0">
                <a:solidFill>
                  <a:prstClr val="black"/>
                </a:solidFill>
              </a:rPr>
              <a:t>，</a:t>
            </a:r>
            <a:r>
              <a:rPr lang="en-US" altLang="zh-CN" sz="2800" dirty="0">
                <a:solidFill>
                  <a:prstClr val="black"/>
                </a:solidFill>
              </a:rPr>
              <a:t>2</a:t>
            </a:r>
            <a:r>
              <a:rPr lang="zh-CN" altLang="en-US" sz="2800" dirty="0">
                <a:solidFill>
                  <a:prstClr val="black"/>
                </a:solidFill>
              </a:rPr>
              <a:t>，</a:t>
            </a:r>
            <a:r>
              <a:rPr lang="en-US" altLang="zh-CN" sz="2800" dirty="0">
                <a:solidFill>
                  <a:prstClr val="black"/>
                </a:solidFill>
              </a:rPr>
              <a:t>2</a:t>
            </a:r>
            <a:r>
              <a:rPr lang="zh-CN" altLang="en-US" sz="2800" dirty="0">
                <a:solidFill>
                  <a:prstClr val="black"/>
                </a:solidFill>
              </a:rPr>
              <a:t>，</a:t>
            </a:r>
            <a:r>
              <a:rPr lang="en-US" altLang="zh-CN" sz="2800" dirty="0">
                <a:solidFill>
                  <a:prstClr val="black"/>
                </a:solidFill>
              </a:rPr>
              <a:t>2</a:t>
            </a:r>
            <a:r>
              <a:rPr lang="zh-CN" altLang="en-US" sz="2800" dirty="0">
                <a:solidFill>
                  <a:prstClr val="black"/>
                </a:solidFill>
              </a:rPr>
              <a:t>，</a:t>
            </a:r>
            <a:r>
              <a:rPr lang="en-US" altLang="zh-CN" sz="2800" dirty="0">
                <a:solidFill>
                  <a:prstClr val="black"/>
                </a:solidFill>
              </a:rPr>
              <a:t>1</a:t>
            </a:r>
            <a:r>
              <a:rPr lang="zh-CN" altLang="en-US" sz="2800" dirty="0">
                <a:solidFill>
                  <a:prstClr val="black"/>
                </a:solidFill>
              </a:rPr>
              <a:t>，</a:t>
            </a:r>
            <a:r>
              <a:rPr lang="en-US" altLang="zh-CN" sz="2800" dirty="0">
                <a:solidFill>
                  <a:prstClr val="black"/>
                </a:solidFill>
              </a:rPr>
              <a:t>1</a:t>
            </a:r>
            <a:r>
              <a:rPr lang="zh-CN" altLang="en-US" sz="2800" dirty="0">
                <a:solidFill>
                  <a:prstClr val="black"/>
                </a:solidFill>
              </a:rPr>
              <a:t>，</a:t>
            </a:r>
            <a:r>
              <a:rPr lang="en-US" altLang="zh-CN" sz="2800" dirty="0">
                <a:solidFill>
                  <a:prstClr val="black"/>
                </a:solidFill>
              </a:rPr>
              <a:t>0}</a:t>
            </a:r>
          </a:p>
        </p:txBody>
      </p:sp>
    </p:spTree>
    <p:extLst>
      <p:ext uri="{BB962C8B-B14F-4D97-AF65-F5344CB8AC3E}">
        <p14:creationId xmlns:p14="http://schemas.microsoft.com/office/powerpoint/2010/main" val="2825484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78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0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ext Box 2"/>
          <p:cNvSpPr txBox="1">
            <a:spLocks noChangeArrowheads="1"/>
          </p:cNvSpPr>
          <p:nvPr/>
        </p:nvSpPr>
        <p:spPr bwMode="auto">
          <a:xfrm>
            <a:off x="2640013" y="188913"/>
            <a:ext cx="7315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dirty="0">
                <a:solidFill>
                  <a:prstClr val="black"/>
                </a:solidFill>
              </a:rPr>
              <a:t>例：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x</a:t>
            </a:r>
            <a:r>
              <a:rPr lang="en-US" altLang="zh-CN" sz="2900" baseline="-25000" dirty="0" smtClean="0">
                <a:solidFill>
                  <a:prstClr val="black"/>
                </a:solidFill>
              </a:rPr>
              <a:t>1</a:t>
            </a:r>
            <a:r>
              <a:rPr lang="en-US" altLang="zh-CN" sz="2800" dirty="0" smtClean="0">
                <a:solidFill>
                  <a:prstClr val="black"/>
                </a:solidFill>
              </a:rPr>
              <a:t>[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n</a:t>
            </a:r>
            <a:r>
              <a:rPr lang="en-US" altLang="zh-CN" sz="2800" dirty="0" smtClean="0">
                <a:solidFill>
                  <a:prstClr val="black"/>
                </a:solidFill>
              </a:rPr>
              <a:t>]={</a:t>
            </a:r>
            <a:r>
              <a:rPr lang="en-US" altLang="zh-CN" sz="2800" dirty="0">
                <a:solidFill>
                  <a:prstClr val="black"/>
                </a:solidFill>
              </a:rPr>
              <a:t>1,1,1},  </a:t>
            </a:r>
            <a:r>
              <a:rPr lang="en-US" altLang="zh-CN" sz="2800" i="1" dirty="0">
                <a:solidFill>
                  <a:prstClr val="black"/>
                </a:solidFill>
              </a:rPr>
              <a:t>x</a:t>
            </a:r>
            <a:r>
              <a:rPr lang="en-US" altLang="zh-CN" sz="2800" dirty="0">
                <a:solidFill>
                  <a:prstClr val="black"/>
                </a:solidFill>
              </a:rPr>
              <a:t> </a:t>
            </a:r>
            <a:r>
              <a:rPr lang="en-US" altLang="zh-CN" sz="2900" baseline="-25000" dirty="0" smtClean="0">
                <a:solidFill>
                  <a:prstClr val="black"/>
                </a:solidFill>
              </a:rPr>
              <a:t>2</a:t>
            </a:r>
            <a:r>
              <a:rPr lang="en-US" altLang="zh-CN" sz="2800" dirty="0" smtClean="0">
                <a:solidFill>
                  <a:prstClr val="black"/>
                </a:solidFill>
              </a:rPr>
              <a:t>[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n</a:t>
            </a:r>
            <a:r>
              <a:rPr lang="en-US" altLang="zh-CN" sz="2800" dirty="0" smtClean="0">
                <a:solidFill>
                  <a:prstClr val="black"/>
                </a:solidFill>
              </a:rPr>
              <a:t>]={</a:t>
            </a:r>
            <a:r>
              <a:rPr lang="en-US" altLang="zh-CN" sz="2800" dirty="0">
                <a:solidFill>
                  <a:prstClr val="black"/>
                </a:solidFill>
              </a:rPr>
              <a:t>1,1,0,1} , </a:t>
            </a:r>
            <a:r>
              <a:rPr lang="zh-CN" altLang="en-US" sz="2800" dirty="0">
                <a:solidFill>
                  <a:prstClr val="black"/>
                </a:solidFill>
              </a:rPr>
              <a:t>计算</a:t>
            </a:r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1676400" y="2560638"/>
            <a:ext cx="8915400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2208213" y="2636838"/>
            <a:ext cx="16557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>
                <a:solidFill>
                  <a:prstClr val="black"/>
                </a:solidFill>
              </a:rPr>
              <a:t>解</a:t>
            </a:r>
            <a:r>
              <a:rPr lang="en-US" altLang="zh-CN" sz="2800">
                <a:solidFill>
                  <a:prstClr val="black"/>
                </a:solidFill>
              </a:rPr>
              <a:t>:</a:t>
            </a:r>
          </a:p>
        </p:txBody>
      </p:sp>
      <p:sp>
        <p:nvSpPr>
          <p:cNvPr id="8197" name="Rectangle 6"/>
          <p:cNvSpPr>
            <a:spLocks noChangeArrowheads="1"/>
          </p:cNvSpPr>
          <p:nvPr/>
        </p:nvSpPr>
        <p:spPr bwMode="auto">
          <a:xfrm>
            <a:off x="3143251" y="765176"/>
            <a:ext cx="43211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prstClr val="black"/>
                </a:solidFill>
              </a:rPr>
              <a:t>(1)</a:t>
            </a:r>
            <a:r>
              <a:rPr lang="en-US" altLang="zh-CN" sz="2800" i="1" dirty="0">
                <a:solidFill>
                  <a:prstClr val="black"/>
                </a:solidFill>
              </a:rPr>
              <a:t> 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x</a:t>
            </a:r>
            <a:r>
              <a:rPr lang="en-US" altLang="zh-CN" sz="2800" baseline="-25000" dirty="0" smtClean="0">
                <a:solidFill>
                  <a:prstClr val="black"/>
                </a:solidFill>
              </a:rPr>
              <a:t>1</a:t>
            </a:r>
            <a:r>
              <a:rPr lang="en-US" altLang="zh-CN" sz="2800" dirty="0" smtClean="0">
                <a:solidFill>
                  <a:prstClr val="black"/>
                </a:solidFill>
              </a:rPr>
              <a:t>[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n</a:t>
            </a:r>
            <a:r>
              <a:rPr lang="en-US" altLang="zh-CN" sz="2800" dirty="0" smtClean="0">
                <a:solidFill>
                  <a:prstClr val="black"/>
                </a:solidFill>
              </a:rPr>
              <a:t>]</a:t>
            </a:r>
            <a:r>
              <a:rPr lang="zh-CN" altLang="en-US" sz="2800" dirty="0">
                <a:solidFill>
                  <a:prstClr val="black"/>
                </a:solidFill>
              </a:rPr>
              <a:t>和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x</a:t>
            </a:r>
            <a:r>
              <a:rPr lang="en-US" altLang="zh-CN" sz="2800" baseline="-25000" dirty="0" smtClean="0">
                <a:solidFill>
                  <a:prstClr val="black"/>
                </a:solidFill>
              </a:rPr>
              <a:t>2</a:t>
            </a:r>
            <a:r>
              <a:rPr lang="en-US" altLang="zh-CN" sz="2800" dirty="0" smtClean="0">
                <a:solidFill>
                  <a:prstClr val="black"/>
                </a:solidFill>
              </a:rPr>
              <a:t>[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n</a:t>
            </a:r>
            <a:r>
              <a:rPr lang="en-US" altLang="zh-CN" sz="2800" dirty="0" smtClean="0">
                <a:solidFill>
                  <a:prstClr val="black"/>
                </a:solidFill>
              </a:rPr>
              <a:t>]</a:t>
            </a:r>
            <a:r>
              <a:rPr lang="zh-CN" altLang="en-US" sz="2800" dirty="0">
                <a:solidFill>
                  <a:prstClr val="black"/>
                </a:solidFill>
              </a:rPr>
              <a:t>的线性卷积</a:t>
            </a:r>
          </a:p>
        </p:txBody>
      </p:sp>
      <p:sp>
        <p:nvSpPr>
          <p:cNvPr id="8198" name="Text Box 7"/>
          <p:cNvSpPr txBox="1">
            <a:spLocks noChangeArrowheads="1"/>
          </p:cNvSpPr>
          <p:nvPr/>
        </p:nvSpPr>
        <p:spPr bwMode="auto">
          <a:xfrm>
            <a:off x="3143251" y="1412876"/>
            <a:ext cx="56165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800" dirty="0">
                <a:solidFill>
                  <a:prstClr val="black"/>
                </a:solidFill>
              </a:rPr>
              <a:t>(2)</a:t>
            </a:r>
            <a:r>
              <a:rPr lang="en-US" altLang="zh-CN" sz="2800" i="1" dirty="0">
                <a:solidFill>
                  <a:prstClr val="black"/>
                </a:solidFill>
              </a:rPr>
              <a:t> 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x</a:t>
            </a:r>
            <a:r>
              <a:rPr lang="en-US" altLang="zh-CN" sz="2800" baseline="-25000" dirty="0" smtClean="0">
                <a:solidFill>
                  <a:prstClr val="black"/>
                </a:solidFill>
              </a:rPr>
              <a:t>1</a:t>
            </a:r>
            <a:r>
              <a:rPr lang="en-US" altLang="zh-CN" sz="2800" dirty="0" smtClean="0">
                <a:solidFill>
                  <a:prstClr val="black"/>
                </a:solidFill>
              </a:rPr>
              <a:t>[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n</a:t>
            </a:r>
            <a:r>
              <a:rPr lang="en-US" altLang="zh-CN" sz="2800" dirty="0" smtClean="0">
                <a:solidFill>
                  <a:prstClr val="black"/>
                </a:solidFill>
              </a:rPr>
              <a:t>]</a:t>
            </a:r>
            <a:r>
              <a:rPr lang="zh-CN" altLang="en-US" sz="2800" dirty="0">
                <a:solidFill>
                  <a:prstClr val="black"/>
                </a:solidFill>
              </a:rPr>
              <a:t>和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x</a:t>
            </a:r>
            <a:r>
              <a:rPr lang="en-US" altLang="zh-CN" sz="2800" baseline="-25000" dirty="0" smtClean="0">
                <a:solidFill>
                  <a:prstClr val="black"/>
                </a:solidFill>
              </a:rPr>
              <a:t>2</a:t>
            </a:r>
            <a:r>
              <a:rPr lang="en-US" altLang="zh-CN" sz="2800" dirty="0" smtClean="0">
                <a:solidFill>
                  <a:prstClr val="black"/>
                </a:solidFill>
              </a:rPr>
              <a:t>[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n</a:t>
            </a:r>
            <a:r>
              <a:rPr lang="en-US" altLang="zh-CN" sz="2800" dirty="0" smtClean="0">
                <a:solidFill>
                  <a:prstClr val="black"/>
                </a:solidFill>
              </a:rPr>
              <a:t>]</a:t>
            </a:r>
            <a:r>
              <a:rPr lang="zh-CN" altLang="en-US" sz="2800" dirty="0">
                <a:solidFill>
                  <a:prstClr val="black"/>
                </a:solidFill>
              </a:rPr>
              <a:t>的</a:t>
            </a:r>
            <a:r>
              <a:rPr lang="en-US" altLang="zh-CN" sz="2800" dirty="0">
                <a:solidFill>
                  <a:prstClr val="black"/>
                </a:solidFill>
              </a:rPr>
              <a:t>4</a:t>
            </a:r>
            <a:r>
              <a:rPr lang="zh-CN" altLang="en-US" sz="2800" dirty="0">
                <a:solidFill>
                  <a:prstClr val="black"/>
                </a:solidFill>
              </a:rPr>
              <a:t>点循环卷积</a:t>
            </a:r>
          </a:p>
        </p:txBody>
      </p:sp>
      <p:sp>
        <p:nvSpPr>
          <p:cNvPr id="8199" name="Text Box 8"/>
          <p:cNvSpPr txBox="1">
            <a:spLocks noChangeArrowheads="1"/>
          </p:cNvSpPr>
          <p:nvPr/>
        </p:nvSpPr>
        <p:spPr bwMode="auto">
          <a:xfrm>
            <a:off x="3143250" y="1989138"/>
            <a:ext cx="655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800" dirty="0">
                <a:solidFill>
                  <a:prstClr val="black"/>
                </a:solidFill>
              </a:rPr>
              <a:t>(3)</a:t>
            </a:r>
            <a:r>
              <a:rPr lang="en-US" altLang="zh-CN" sz="2800" i="1" dirty="0">
                <a:solidFill>
                  <a:prstClr val="black"/>
                </a:solidFill>
              </a:rPr>
              <a:t> 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x</a:t>
            </a:r>
            <a:r>
              <a:rPr lang="en-US" altLang="zh-CN" sz="2800" baseline="-25000" dirty="0" smtClean="0">
                <a:solidFill>
                  <a:prstClr val="black"/>
                </a:solidFill>
              </a:rPr>
              <a:t>1</a:t>
            </a:r>
            <a:r>
              <a:rPr lang="en-US" altLang="zh-CN" sz="2800" dirty="0" smtClean="0">
                <a:solidFill>
                  <a:prstClr val="black"/>
                </a:solidFill>
              </a:rPr>
              <a:t>[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n</a:t>
            </a:r>
            <a:r>
              <a:rPr lang="en-US" altLang="zh-CN" sz="2800" dirty="0" smtClean="0">
                <a:solidFill>
                  <a:prstClr val="black"/>
                </a:solidFill>
              </a:rPr>
              <a:t>]</a:t>
            </a:r>
            <a:r>
              <a:rPr lang="zh-CN" altLang="en-US" sz="2800" dirty="0">
                <a:solidFill>
                  <a:prstClr val="black"/>
                </a:solidFill>
              </a:rPr>
              <a:t>和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x</a:t>
            </a:r>
            <a:r>
              <a:rPr lang="en-US" altLang="zh-CN" sz="2800" baseline="-25000" dirty="0" smtClean="0">
                <a:solidFill>
                  <a:prstClr val="black"/>
                </a:solidFill>
              </a:rPr>
              <a:t>2</a:t>
            </a:r>
            <a:r>
              <a:rPr lang="en-US" altLang="zh-CN" sz="2800" dirty="0" smtClean="0">
                <a:solidFill>
                  <a:prstClr val="black"/>
                </a:solidFill>
              </a:rPr>
              <a:t>[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n</a:t>
            </a:r>
            <a:r>
              <a:rPr lang="en-US" altLang="zh-CN" sz="2800" dirty="0" smtClean="0">
                <a:solidFill>
                  <a:prstClr val="black"/>
                </a:solidFill>
              </a:rPr>
              <a:t>]</a:t>
            </a:r>
            <a:r>
              <a:rPr lang="zh-CN" altLang="en-US" sz="2800" dirty="0">
                <a:solidFill>
                  <a:prstClr val="black"/>
                </a:solidFill>
              </a:rPr>
              <a:t>的</a:t>
            </a:r>
            <a:r>
              <a:rPr lang="en-US" altLang="zh-CN" sz="2800" dirty="0">
                <a:solidFill>
                  <a:prstClr val="black"/>
                </a:solidFill>
              </a:rPr>
              <a:t>5</a:t>
            </a:r>
            <a:r>
              <a:rPr lang="zh-CN" altLang="en-US" sz="2800" dirty="0">
                <a:solidFill>
                  <a:prstClr val="black"/>
                </a:solidFill>
              </a:rPr>
              <a:t>点、</a:t>
            </a:r>
            <a:r>
              <a:rPr lang="en-US" altLang="zh-CN" sz="2800" dirty="0">
                <a:solidFill>
                  <a:prstClr val="black"/>
                </a:solidFill>
              </a:rPr>
              <a:t>6</a:t>
            </a:r>
            <a:r>
              <a:rPr lang="zh-CN" altLang="en-US" sz="2800" dirty="0">
                <a:solidFill>
                  <a:prstClr val="black"/>
                </a:solidFill>
              </a:rPr>
              <a:t>点和</a:t>
            </a:r>
            <a:r>
              <a:rPr lang="en-US" altLang="zh-CN" sz="2800" dirty="0">
                <a:solidFill>
                  <a:prstClr val="black"/>
                </a:solidFill>
              </a:rPr>
              <a:t>7</a:t>
            </a:r>
            <a:r>
              <a:rPr lang="zh-CN" altLang="en-US" sz="2800" dirty="0">
                <a:solidFill>
                  <a:prstClr val="black"/>
                </a:solidFill>
              </a:rPr>
              <a:t>点循环卷积</a:t>
            </a:r>
          </a:p>
        </p:txBody>
      </p:sp>
      <p:sp>
        <p:nvSpPr>
          <p:cNvPr id="8200" name="Text Box 10"/>
          <p:cNvSpPr txBox="1">
            <a:spLocks noChangeArrowheads="1"/>
          </p:cNvSpPr>
          <p:nvPr/>
        </p:nvSpPr>
        <p:spPr bwMode="auto">
          <a:xfrm>
            <a:off x="3143250" y="3213100"/>
            <a:ext cx="2160588" cy="1074738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30000"/>
              </a:spcBef>
              <a:spcAft>
                <a:spcPct val="0"/>
              </a:spcAft>
            </a:pPr>
            <a:r>
              <a:rPr lang="en-US" altLang="zh-CN" sz="2800" i="1" dirty="0" smtClean="0">
                <a:solidFill>
                  <a:prstClr val="black"/>
                </a:solidFill>
              </a:rPr>
              <a:t>x</a:t>
            </a:r>
            <a:r>
              <a:rPr lang="en-US" altLang="zh-CN" sz="2800" baseline="-25000" dirty="0" smtClean="0">
                <a:solidFill>
                  <a:prstClr val="black"/>
                </a:solidFill>
              </a:rPr>
              <a:t>1</a:t>
            </a:r>
            <a:r>
              <a:rPr lang="en-US" altLang="zh-CN" sz="2800" dirty="0" smtClean="0">
                <a:solidFill>
                  <a:prstClr val="black"/>
                </a:solidFill>
              </a:rPr>
              <a:t>[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n</a:t>
            </a:r>
            <a:r>
              <a:rPr lang="en-US" altLang="zh-CN" sz="2800" dirty="0" smtClean="0">
                <a:solidFill>
                  <a:prstClr val="black"/>
                </a:solidFill>
              </a:rPr>
              <a:t>]</a:t>
            </a:r>
            <a:r>
              <a:rPr lang="zh-CN" altLang="en-US" sz="2800" dirty="0">
                <a:solidFill>
                  <a:prstClr val="black"/>
                </a:solidFill>
              </a:rPr>
              <a:t>和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x</a:t>
            </a:r>
            <a:r>
              <a:rPr lang="en-US" altLang="zh-CN" sz="2800" baseline="-25000" dirty="0" smtClean="0">
                <a:solidFill>
                  <a:prstClr val="black"/>
                </a:solidFill>
              </a:rPr>
              <a:t>2</a:t>
            </a:r>
            <a:r>
              <a:rPr lang="en-US" altLang="zh-CN" sz="2800" dirty="0" smtClean="0">
                <a:solidFill>
                  <a:prstClr val="black"/>
                </a:solidFill>
              </a:rPr>
              <a:t>[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n</a:t>
            </a:r>
            <a:r>
              <a:rPr lang="en-US" altLang="zh-CN" sz="2800" dirty="0" smtClean="0">
                <a:solidFill>
                  <a:prstClr val="black"/>
                </a:solidFill>
              </a:rPr>
              <a:t>]</a:t>
            </a:r>
            <a:endParaRPr lang="en-US" altLang="zh-CN" sz="2800" dirty="0">
              <a:solidFill>
                <a:prstClr val="black"/>
              </a:solidFill>
            </a:endParaRPr>
          </a:p>
          <a:p>
            <a:pPr fontAlgn="base">
              <a:spcBef>
                <a:spcPct val="30000"/>
              </a:spcBef>
              <a:spcAft>
                <a:spcPct val="0"/>
              </a:spcAft>
            </a:pPr>
            <a:r>
              <a:rPr lang="en-US" altLang="zh-CN" sz="2800" dirty="0">
                <a:solidFill>
                  <a:prstClr val="black"/>
                </a:solidFill>
              </a:rPr>
              <a:t>6</a:t>
            </a:r>
            <a:r>
              <a:rPr lang="zh-CN" altLang="en-US" sz="2800" dirty="0">
                <a:solidFill>
                  <a:prstClr val="black"/>
                </a:solidFill>
              </a:rPr>
              <a:t>点循环卷积</a:t>
            </a:r>
          </a:p>
        </p:txBody>
      </p:sp>
      <p:sp>
        <p:nvSpPr>
          <p:cNvPr id="8201" name="Rectangle 11"/>
          <p:cNvSpPr>
            <a:spLocks noChangeArrowheads="1"/>
          </p:cNvSpPr>
          <p:nvPr/>
        </p:nvSpPr>
        <p:spPr bwMode="auto">
          <a:xfrm>
            <a:off x="3143251" y="4724401"/>
            <a:ext cx="430438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i="1" dirty="0" smtClean="0">
                <a:solidFill>
                  <a:prstClr val="black"/>
                </a:solidFill>
              </a:rPr>
              <a:t>y</a:t>
            </a:r>
            <a:r>
              <a:rPr lang="en-US" altLang="zh-CN" sz="2800" baseline="-25000" dirty="0" smtClean="0">
                <a:solidFill>
                  <a:prstClr val="black"/>
                </a:solidFill>
              </a:rPr>
              <a:t>6</a:t>
            </a:r>
            <a:r>
              <a:rPr lang="en-US" altLang="zh-CN" sz="2800" dirty="0" smtClean="0">
                <a:solidFill>
                  <a:prstClr val="black"/>
                </a:solidFill>
              </a:rPr>
              <a:t>[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n</a:t>
            </a:r>
            <a:r>
              <a:rPr lang="en-US" altLang="zh-CN" sz="2800" dirty="0" smtClean="0">
                <a:solidFill>
                  <a:prstClr val="black"/>
                </a:solidFill>
              </a:rPr>
              <a:t>]={</a:t>
            </a:r>
            <a:r>
              <a:rPr lang="en-US" altLang="zh-CN" sz="2800" dirty="0">
                <a:solidFill>
                  <a:prstClr val="black"/>
                </a:solidFill>
              </a:rPr>
              <a:t>1</a:t>
            </a:r>
            <a:r>
              <a:rPr lang="zh-CN" altLang="en-US" sz="2800" dirty="0">
                <a:solidFill>
                  <a:prstClr val="black"/>
                </a:solidFill>
              </a:rPr>
              <a:t>，</a:t>
            </a:r>
            <a:r>
              <a:rPr lang="en-US" altLang="zh-CN" sz="2800" dirty="0">
                <a:solidFill>
                  <a:prstClr val="black"/>
                </a:solidFill>
              </a:rPr>
              <a:t>2</a:t>
            </a:r>
            <a:r>
              <a:rPr lang="zh-CN" altLang="en-US" sz="2800" dirty="0">
                <a:solidFill>
                  <a:prstClr val="black"/>
                </a:solidFill>
              </a:rPr>
              <a:t>，</a:t>
            </a:r>
            <a:r>
              <a:rPr lang="en-US" altLang="zh-CN" sz="2800" dirty="0">
                <a:solidFill>
                  <a:prstClr val="black"/>
                </a:solidFill>
              </a:rPr>
              <a:t>2</a:t>
            </a:r>
            <a:r>
              <a:rPr lang="zh-CN" altLang="en-US" sz="2800" dirty="0">
                <a:solidFill>
                  <a:prstClr val="black"/>
                </a:solidFill>
              </a:rPr>
              <a:t>，</a:t>
            </a:r>
            <a:r>
              <a:rPr lang="en-US" altLang="zh-CN" sz="2800" dirty="0">
                <a:solidFill>
                  <a:prstClr val="black"/>
                </a:solidFill>
              </a:rPr>
              <a:t>2</a:t>
            </a:r>
            <a:r>
              <a:rPr lang="zh-CN" altLang="en-US" sz="2800" dirty="0">
                <a:solidFill>
                  <a:prstClr val="black"/>
                </a:solidFill>
              </a:rPr>
              <a:t>，</a:t>
            </a:r>
            <a:r>
              <a:rPr lang="en-US" altLang="zh-CN" sz="2800" dirty="0">
                <a:solidFill>
                  <a:prstClr val="black"/>
                </a:solidFill>
              </a:rPr>
              <a:t>1</a:t>
            </a:r>
            <a:r>
              <a:rPr lang="zh-CN" altLang="en-US" sz="2800" dirty="0">
                <a:solidFill>
                  <a:prstClr val="black"/>
                </a:solidFill>
              </a:rPr>
              <a:t>，</a:t>
            </a:r>
            <a:r>
              <a:rPr lang="en-US" altLang="zh-CN" sz="2800" dirty="0">
                <a:solidFill>
                  <a:prstClr val="black"/>
                </a:solidFill>
              </a:rPr>
              <a:t>1}</a:t>
            </a:r>
          </a:p>
        </p:txBody>
      </p:sp>
      <p:sp>
        <p:nvSpPr>
          <p:cNvPr id="8202" name="Rectangle 17"/>
          <p:cNvSpPr>
            <a:spLocks noChangeArrowheads="1"/>
          </p:cNvSpPr>
          <p:nvPr/>
        </p:nvSpPr>
        <p:spPr bwMode="auto">
          <a:xfrm>
            <a:off x="6600826" y="3284539"/>
            <a:ext cx="2016125" cy="1074737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30000"/>
              </a:spcBef>
              <a:spcAft>
                <a:spcPct val="0"/>
              </a:spcAft>
            </a:pPr>
            <a:r>
              <a:rPr lang="en-US" altLang="zh-CN" sz="2800" i="1" dirty="0" smtClean="0">
                <a:solidFill>
                  <a:prstClr val="black"/>
                </a:solidFill>
              </a:rPr>
              <a:t>x</a:t>
            </a:r>
            <a:r>
              <a:rPr lang="en-US" altLang="zh-CN" sz="2800" baseline="-25000" dirty="0" smtClean="0">
                <a:solidFill>
                  <a:prstClr val="black"/>
                </a:solidFill>
              </a:rPr>
              <a:t>1</a:t>
            </a:r>
            <a:r>
              <a:rPr lang="en-US" altLang="zh-CN" sz="2800" dirty="0" smtClean="0">
                <a:solidFill>
                  <a:prstClr val="black"/>
                </a:solidFill>
              </a:rPr>
              <a:t>[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n</a:t>
            </a:r>
            <a:r>
              <a:rPr lang="en-US" altLang="zh-CN" sz="2800" dirty="0" smtClean="0">
                <a:solidFill>
                  <a:prstClr val="black"/>
                </a:solidFill>
              </a:rPr>
              <a:t>]</a:t>
            </a:r>
            <a:r>
              <a:rPr lang="zh-CN" altLang="en-US" sz="2800" dirty="0">
                <a:solidFill>
                  <a:prstClr val="black"/>
                </a:solidFill>
              </a:rPr>
              <a:t>和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x</a:t>
            </a:r>
            <a:r>
              <a:rPr lang="en-US" altLang="zh-CN" sz="2800" baseline="-25000" dirty="0" smtClean="0">
                <a:solidFill>
                  <a:prstClr val="black"/>
                </a:solidFill>
              </a:rPr>
              <a:t>2</a:t>
            </a:r>
            <a:r>
              <a:rPr lang="en-US" altLang="zh-CN" sz="2800" dirty="0" smtClean="0">
                <a:solidFill>
                  <a:prstClr val="black"/>
                </a:solidFill>
              </a:rPr>
              <a:t>[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n</a:t>
            </a:r>
            <a:r>
              <a:rPr lang="en-US" altLang="zh-CN" sz="2800" dirty="0" smtClean="0">
                <a:solidFill>
                  <a:prstClr val="black"/>
                </a:solidFill>
              </a:rPr>
              <a:t>]</a:t>
            </a:r>
            <a:endParaRPr lang="en-US" altLang="zh-CN" sz="2800" dirty="0">
              <a:solidFill>
                <a:prstClr val="black"/>
              </a:solidFill>
            </a:endParaRPr>
          </a:p>
          <a:p>
            <a:pPr fontAlgn="base">
              <a:spcBef>
                <a:spcPct val="30000"/>
              </a:spcBef>
              <a:spcAft>
                <a:spcPct val="0"/>
              </a:spcAft>
            </a:pPr>
            <a:r>
              <a:rPr lang="zh-CN" altLang="en-US" sz="2800" dirty="0">
                <a:solidFill>
                  <a:prstClr val="black"/>
                </a:solidFill>
              </a:rPr>
              <a:t>线性卷积</a:t>
            </a:r>
          </a:p>
        </p:txBody>
      </p:sp>
      <p:sp>
        <p:nvSpPr>
          <p:cNvPr id="8203" name="AutoShape 18"/>
          <p:cNvSpPr>
            <a:spLocks noChangeArrowheads="1"/>
          </p:cNvSpPr>
          <p:nvPr/>
        </p:nvSpPr>
        <p:spPr bwMode="auto">
          <a:xfrm>
            <a:off x="5375276" y="3644901"/>
            <a:ext cx="1152525" cy="360363"/>
          </a:xfrm>
          <a:prstGeom prst="leftRightArrow">
            <a:avLst>
              <a:gd name="adj1" fmla="val 50000"/>
              <a:gd name="adj2" fmla="val 6396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  <p:graphicFrame>
        <p:nvGraphicFramePr>
          <p:cNvPr id="8204" name="Object 19"/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2435111176"/>
              </p:ext>
            </p:extLst>
          </p:nvPr>
        </p:nvGraphicFramePr>
        <p:xfrm>
          <a:off x="3073400" y="5462588"/>
          <a:ext cx="4173538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80" name="Equation" r:id="rId3" imgW="1904760" imgH="228600" progId="Equation.DSMT4">
                  <p:embed/>
                </p:oleObj>
              </mc:Choice>
              <mc:Fallback>
                <p:oleObj name="Equation" r:id="rId3" imgW="1904760" imgH="228600" progId="Equation.DSMT4">
                  <p:embed/>
                  <p:pic>
                    <p:nvPicPr>
                      <p:cNvPr id="8204" name="Object 1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3400" y="5462588"/>
                        <a:ext cx="4173538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38380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79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4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2608263" y="244475"/>
            <a:ext cx="7772400" cy="457200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2800" b="1">
                <a:ea typeface="华文中宋" panose="02010600040101010101" pitchFamily="2" charset="-122"/>
              </a:rPr>
              <a:t>线性卷积的矩阵表示</a:t>
            </a:r>
          </a:p>
        </p:txBody>
      </p:sp>
      <p:graphicFrame>
        <p:nvGraphicFramePr>
          <p:cNvPr id="9219" name="Object 3"/>
          <p:cNvGraphicFramePr>
            <a:graphicFrameLocks noChangeAspect="1"/>
          </p:cNvGraphicFramePr>
          <p:nvPr/>
        </p:nvGraphicFramePr>
        <p:xfrm>
          <a:off x="2133601" y="1066801"/>
          <a:ext cx="949325" cy="268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68" name="公式" r:id="rId3" imgW="431613" imgH="1320227" progId="Equation.3">
                  <p:embed/>
                </p:oleObj>
              </mc:Choice>
              <mc:Fallback>
                <p:oleObj name="公式" r:id="rId3" imgW="431613" imgH="1320227" progId="Equation.3">
                  <p:embed/>
                  <p:pic>
                    <p:nvPicPr>
                      <p:cNvPr id="921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1" y="1066801"/>
                        <a:ext cx="949325" cy="268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6" name="Object 4"/>
          <p:cNvGraphicFramePr>
            <a:graphicFrameLocks noChangeAspect="1"/>
          </p:cNvGraphicFramePr>
          <p:nvPr/>
        </p:nvGraphicFramePr>
        <p:xfrm>
          <a:off x="3048000" y="1066800"/>
          <a:ext cx="6178550" cy="2770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69" name="公式" r:id="rId5" imgW="2806700" imgH="1397000" progId="Equation.3">
                  <p:embed/>
                </p:oleObj>
              </mc:Choice>
              <mc:Fallback>
                <p:oleObj name="公式" r:id="rId5" imgW="2806700" imgH="1397000" progId="Equation.3">
                  <p:embed/>
                  <p:pic>
                    <p:nvPicPr>
                      <p:cNvPr id="5939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1066800"/>
                        <a:ext cx="6178550" cy="2770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7" name="Object 5"/>
          <p:cNvGraphicFramePr>
            <a:graphicFrameLocks noChangeAspect="1"/>
          </p:cNvGraphicFramePr>
          <p:nvPr/>
        </p:nvGraphicFramePr>
        <p:xfrm>
          <a:off x="9220201" y="990601"/>
          <a:ext cx="1089025" cy="281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70" name="公式" r:id="rId7" imgW="495085" imgH="1345616" progId="Equation.3">
                  <p:embed/>
                </p:oleObj>
              </mc:Choice>
              <mc:Fallback>
                <p:oleObj name="公式" r:id="rId7" imgW="495085" imgH="1345616" progId="Equation.3">
                  <p:embed/>
                  <p:pic>
                    <p:nvPicPr>
                      <p:cNvPr id="5939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0201" y="990601"/>
                        <a:ext cx="1089025" cy="281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8" name="Object 6"/>
          <p:cNvGraphicFramePr>
            <a:graphicFrameLocks noChangeAspect="1"/>
          </p:cNvGraphicFramePr>
          <p:nvPr/>
        </p:nvGraphicFramePr>
        <p:xfrm>
          <a:off x="3048000" y="3886200"/>
          <a:ext cx="3187700" cy="259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71" name="公式" r:id="rId9" imgW="1447800" imgH="1371600" progId="Equation.3">
                  <p:embed/>
                </p:oleObj>
              </mc:Choice>
              <mc:Fallback>
                <p:oleObj name="公式" r:id="rId9" imgW="1447800" imgH="1371600" progId="Equation.3">
                  <p:embed/>
                  <p:pic>
                    <p:nvPicPr>
                      <p:cNvPr id="5939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886200"/>
                        <a:ext cx="3187700" cy="259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9" name="Object 7"/>
          <p:cNvGraphicFramePr>
            <a:graphicFrameLocks noChangeAspect="1"/>
          </p:cNvGraphicFramePr>
          <p:nvPr/>
        </p:nvGraphicFramePr>
        <p:xfrm>
          <a:off x="6172201" y="3886200"/>
          <a:ext cx="557213" cy="259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72" name="公式" r:id="rId11" imgW="254000" imgH="1295400" progId="Equation.3">
                  <p:embed/>
                </p:oleObj>
              </mc:Choice>
              <mc:Fallback>
                <p:oleObj name="公式" r:id="rId11" imgW="254000" imgH="1295400" progId="Equation.3">
                  <p:embed/>
                  <p:pic>
                    <p:nvPicPr>
                      <p:cNvPr id="5939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1" y="3886200"/>
                        <a:ext cx="557213" cy="259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1" name="Object 9"/>
          <p:cNvGraphicFramePr>
            <a:graphicFrameLocks noChangeAspect="1"/>
          </p:cNvGraphicFramePr>
          <p:nvPr/>
        </p:nvGraphicFramePr>
        <p:xfrm>
          <a:off x="6707188" y="3867150"/>
          <a:ext cx="760412" cy="2609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73" name="Equation" r:id="rId13" imgW="342751" imgH="1269449" progId="Equation.3">
                  <p:embed/>
                </p:oleObj>
              </mc:Choice>
              <mc:Fallback>
                <p:oleObj name="Equation" r:id="rId13" imgW="342751" imgH="1269449" progId="Equation.3">
                  <p:embed/>
                  <p:pic>
                    <p:nvPicPr>
                      <p:cNvPr id="5940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7188" y="3867150"/>
                        <a:ext cx="760412" cy="2609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5" name="Rectangle 10"/>
          <p:cNvSpPr>
            <a:spLocks noChangeArrowheads="1"/>
          </p:cNvSpPr>
          <p:nvPr/>
        </p:nvSpPr>
        <p:spPr bwMode="auto">
          <a:xfrm>
            <a:off x="1676400" y="914400"/>
            <a:ext cx="8915400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0399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59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59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59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59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59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228600"/>
            <a:ext cx="7772400" cy="457200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2800" b="1">
                <a:ea typeface="华文中宋" panose="02010600040101010101" pitchFamily="2" charset="-122"/>
              </a:rPr>
              <a:t>循环卷积的矩阵表示</a:t>
            </a:r>
          </a:p>
        </p:txBody>
      </p:sp>
      <p:graphicFrame>
        <p:nvGraphicFramePr>
          <p:cNvPr id="10243" name="Object 9"/>
          <p:cNvGraphicFramePr>
            <a:graphicFrameLocks noChangeAspect="1"/>
          </p:cNvGraphicFramePr>
          <p:nvPr/>
        </p:nvGraphicFramePr>
        <p:xfrm>
          <a:off x="2906714" y="1524001"/>
          <a:ext cx="1233487" cy="201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92" name="公式" r:id="rId3" imgW="558800" imgH="914400" progId="Equation.3">
                  <p:embed/>
                </p:oleObj>
              </mc:Choice>
              <mc:Fallback>
                <p:oleObj name="公式" r:id="rId3" imgW="558800" imgH="914400" progId="Equation.3">
                  <p:embed/>
                  <p:pic>
                    <p:nvPicPr>
                      <p:cNvPr id="1024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6714" y="1524001"/>
                        <a:ext cx="1233487" cy="2011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6" name="Object 10"/>
          <p:cNvGraphicFramePr>
            <a:graphicFrameLocks noChangeAspect="1"/>
          </p:cNvGraphicFramePr>
          <p:nvPr/>
        </p:nvGraphicFramePr>
        <p:xfrm>
          <a:off x="4178301" y="1514476"/>
          <a:ext cx="3965575" cy="206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93" name="公式" r:id="rId5" imgW="1803400" imgH="939800" progId="Equation.3">
                  <p:embed/>
                </p:oleObj>
              </mc:Choice>
              <mc:Fallback>
                <p:oleObj name="公式" r:id="rId5" imgW="1803400" imgH="939800" progId="Equation.3">
                  <p:embed/>
                  <p:pic>
                    <p:nvPicPr>
                      <p:cNvPr id="6042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8301" y="1514476"/>
                        <a:ext cx="3965575" cy="2066925"/>
                      </a:xfrm>
                      <a:prstGeom prst="rect">
                        <a:avLst/>
                      </a:prstGeom>
                      <a:solidFill>
                        <a:schemeClr val="hlink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7" name="Object 11"/>
          <p:cNvGraphicFramePr>
            <a:graphicFrameLocks noChangeAspect="1"/>
          </p:cNvGraphicFramePr>
          <p:nvPr/>
        </p:nvGraphicFramePr>
        <p:xfrm>
          <a:off x="8283576" y="1514476"/>
          <a:ext cx="1089025" cy="206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94" name="公式" r:id="rId7" imgW="495085" imgH="939392" progId="Equation.3">
                  <p:embed/>
                </p:oleObj>
              </mc:Choice>
              <mc:Fallback>
                <p:oleObj name="公式" r:id="rId7" imgW="495085" imgH="939392" progId="Equation.3">
                  <p:embed/>
                  <p:pic>
                    <p:nvPicPr>
                      <p:cNvPr id="6042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3576" y="1514476"/>
                        <a:ext cx="1089025" cy="206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8" name="Object 12"/>
          <p:cNvGraphicFramePr>
            <a:graphicFrameLocks noChangeAspect="1"/>
          </p:cNvGraphicFramePr>
          <p:nvPr/>
        </p:nvGraphicFramePr>
        <p:xfrm>
          <a:off x="3962400" y="3836988"/>
          <a:ext cx="2262188" cy="201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95" name="公式" r:id="rId9" imgW="1028700" imgH="914400" progId="Equation.3">
                  <p:embed/>
                </p:oleObj>
              </mc:Choice>
              <mc:Fallback>
                <p:oleObj name="公式" r:id="rId9" imgW="1028700" imgH="914400" progId="Equation.3">
                  <p:embed/>
                  <p:pic>
                    <p:nvPicPr>
                      <p:cNvPr id="6042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3836988"/>
                        <a:ext cx="2262188" cy="2011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9" name="Object 13"/>
          <p:cNvGraphicFramePr>
            <a:graphicFrameLocks noChangeAspect="1"/>
          </p:cNvGraphicFramePr>
          <p:nvPr/>
        </p:nvGraphicFramePr>
        <p:xfrm>
          <a:off x="6248400" y="3836988"/>
          <a:ext cx="558800" cy="201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96" name="公式" r:id="rId11" imgW="254000" imgH="914400" progId="Equation.3">
                  <p:embed/>
                </p:oleObj>
              </mc:Choice>
              <mc:Fallback>
                <p:oleObj name="公式" r:id="rId11" imgW="254000" imgH="914400" progId="Equation.3">
                  <p:embed/>
                  <p:pic>
                    <p:nvPicPr>
                      <p:cNvPr id="6042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3836988"/>
                        <a:ext cx="558800" cy="2011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30" name="Object 14"/>
          <p:cNvGraphicFramePr>
            <a:graphicFrameLocks noChangeAspect="1"/>
          </p:cNvGraphicFramePr>
          <p:nvPr/>
        </p:nvGraphicFramePr>
        <p:xfrm>
          <a:off x="6781801" y="3856038"/>
          <a:ext cx="758825" cy="187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97" name="Equation" r:id="rId13" imgW="342751" imgH="850531" progId="Equation.3">
                  <p:embed/>
                </p:oleObj>
              </mc:Choice>
              <mc:Fallback>
                <p:oleObj name="Equation" r:id="rId13" imgW="342751" imgH="850531" progId="Equation.3">
                  <p:embed/>
                  <p:pic>
                    <p:nvPicPr>
                      <p:cNvPr id="6043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1" y="3856038"/>
                        <a:ext cx="758825" cy="187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9" name="Rectangle 15"/>
          <p:cNvSpPr>
            <a:spLocks noChangeArrowheads="1"/>
          </p:cNvSpPr>
          <p:nvPr/>
        </p:nvSpPr>
        <p:spPr bwMode="auto">
          <a:xfrm>
            <a:off x="1676400" y="914400"/>
            <a:ext cx="8915400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308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60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60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60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60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60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228600"/>
            <a:ext cx="7772400" cy="457200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2800" b="1"/>
              <a:t>循环卷积的矩阵表示</a:t>
            </a:r>
          </a:p>
        </p:txBody>
      </p:sp>
      <p:graphicFrame>
        <p:nvGraphicFramePr>
          <p:cNvPr id="11267" name="Object 3"/>
          <p:cNvGraphicFramePr>
            <a:graphicFrameLocks noChangeAspect="1"/>
          </p:cNvGraphicFramePr>
          <p:nvPr/>
        </p:nvGraphicFramePr>
        <p:xfrm>
          <a:off x="1992314" y="1066801"/>
          <a:ext cx="1233487" cy="268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16" name="公式" r:id="rId3" imgW="558800" imgH="1320800" progId="Equation.3">
                  <p:embed/>
                </p:oleObj>
              </mc:Choice>
              <mc:Fallback>
                <p:oleObj name="公式" r:id="rId3" imgW="558800" imgH="1320800" progId="Equation.3">
                  <p:embed/>
                  <p:pic>
                    <p:nvPicPr>
                      <p:cNvPr id="1126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4" y="1066801"/>
                        <a:ext cx="1233487" cy="268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4" name="Object 4"/>
          <p:cNvGraphicFramePr>
            <a:graphicFrameLocks noChangeAspect="1"/>
          </p:cNvGraphicFramePr>
          <p:nvPr/>
        </p:nvGraphicFramePr>
        <p:xfrm>
          <a:off x="3173414" y="1066800"/>
          <a:ext cx="5927725" cy="2770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17" name="公式" r:id="rId5" imgW="2692400" imgH="1397000" progId="Equation.3">
                  <p:embed/>
                </p:oleObj>
              </mc:Choice>
              <mc:Fallback>
                <p:oleObj name="公式" r:id="rId5" imgW="2692400" imgH="1397000" progId="Equation.3">
                  <p:embed/>
                  <p:pic>
                    <p:nvPicPr>
                      <p:cNvPr id="614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3414" y="1066800"/>
                        <a:ext cx="5927725" cy="2770188"/>
                      </a:xfrm>
                      <a:prstGeom prst="rect">
                        <a:avLst/>
                      </a:prstGeom>
                      <a:solidFill>
                        <a:schemeClr val="hlink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5" name="Object 5"/>
          <p:cNvGraphicFramePr>
            <a:graphicFrameLocks noChangeAspect="1"/>
          </p:cNvGraphicFramePr>
          <p:nvPr/>
        </p:nvGraphicFramePr>
        <p:xfrm>
          <a:off x="9220200" y="990601"/>
          <a:ext cx="914400" cy="281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18" name="公式" r:id="rId7" imgW="495085" imgH="1345616" progId="Equation.3">
                  <p:embed/>
                </p:oleObj>
              </mc:Choice>
              <mc:Fallback>
                <p:oleObj name="公式" r:id="rId7" imgW="495085" imgH="1345616" progId="Equation.3">
                  <p:embed/>
                  <p:pic>
                    <p:nvPicPr>
                      <p:cNvPr id="6144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0200" y="990601"/>
                        <a:ext cx="914400" cy="281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6" name="Object 6"/>
          <p:cNvGraphicFramePr>
            <a:graphicFrameLocks noChangeAspect="1"/>
          </p:cNvGraphicFramePr>
          <p:nvPr/>
        </p:nvGraphicFramePr>
        <p:xfrm>
          <a:off x="3033714" y="3962400"/>
          <a:ext cx="3216275" cy="259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19" name="公式" r:id="rId9" imgW="1460500" imgH="1371600" progId="Equation.3">
                  <p:embed/>
                </p:oleObj>
              </mc:Choice>
              <mc:Fallback>
                <p:oleObj name="公式" r:id="rId9" imgW="1460500" imgH="1371600" progId="Equation.3">
                  <p:embed/>
                  <p:pic>
                    <p:nvPicPr>
                      <p:cNvPr id="6144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3714" y="3962400"/>
                        <a:ext cx="3216275" cy="259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7" name="Object 7"/>
          <p:cNvGraphicFramePr>
            <a:graphicFrameLocks noChangeAspect="1"/>
          </p:cNvGraphicFramePr>
          <p:nvPr/>
        </p:nvGraphicFramePr>
        <p:xfrm>
          <a:off x="6172201" y="3962400"/>
          <a:ext cx="557213" cy="259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20" name="公式" r:id="rId11" imgW="254000" imgH="1295400" progId="Equation.3">
                  <p:embed/>
                </p:oleObj>
              </mc:Choice>
              <mc:Fallback>
                <p:oleObj name="公式" r:id="rId11" imgW="254000" imgH="1295400" progId="Equation.3">
                  <p:embed/>
                  <p:pic>
                    <p:nvPicPr>
                      <p:cNvPr id="6144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1" y="3962400"/>
                        <a:ext cx="557213" cy="259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8" name="Object 8"/>
          <p:cNvGraphicFramePr>
            <a:graphicFrameLocks noChangeAspect="1"/>
          </p:cNvGraphicFramePr>
          <p:nvPr/>
        </p:nvGraphicFramePr>
        <p:xfrm>
          <a:off x="6707188" y="3962400"/>
          <a:ext cx="760412" cy="25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21" name="Equation" r:id="rId13" imgW="342751" imgH="1269449" progId="Equation.3">
                  <p:embed/>
                </p:oleObj>
              </mc:Choice>
              <mc:Fallback>
                <p:oleObj name="Equation" r:id="rId13" imgW="342751" imgH="1269449" progId="Equation.3">
                  <p:embed/>
                  <p:pic>
                    <p:nvPicPr>
                      <p:cNvPr id="6144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7188" y="3962400"/>
                        <a:ext cx="760412" cy="251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3" name="Rectangle 9"/>
          <p:cNvSpPr>
            <a:spLocks noChangeArrowheads="1"/>
          </p:cNvSpPr>
          <p:nvPr/>
        </p:nvSpPr>
        <p:spPr bwMode="auto">
          <a:xfrm>
            <a:off x="1676400" y="914400"/>
            <a:ext cx="8915400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9628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6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61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61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61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61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371600"/>
            <a:ext cx="8229600" cy="1143000"/>
          </a:xfrm>
        </p:spPr>
        <p:txBody>
          <a:bodyPr rtlCol="0">
            <a:normAutofit fontScale="90000"/>
          </a:bodyPr>
          <a:lstStyle/>
          <a:p>
            <a:pPr fontAlgn="auto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2800" dirty="0">
                <a:ea typeface="华文中宋" panose="02010600040101010101" pitchFamily="2" charset="-122"/>
              </a:rPr>
              <a:t>若</a:t>
            </a:r>
            <a:r>
              <a:rPr lang="en-US" altLang="zh-CN" sz="2800" i="1" dirty="0" smtClean="0">
                <a:ea typeface="华文中宋" panose="02010600040101010101" pitchFamily="2" charset="-122"/>
              </a:rPr>
              <a:t>x</a:t>
            </a:r>
            <a:r>
              <a:rPr lang="en-US" altLang="zh-CN" sz="2800" dirty="0" smtClean="0">
                <a:ea typeface="华文中宋" panose="02010600040101010101" pitchFamily="2" charset="-122"/>
              </a:rPr>
              <a:t>[</a:t>
            </a:r>
            <a:r>
              <a:rPr lang="en-US" altLang="zh-CN" sz="2800" i="1" dirty="0" smtClean="0">
                <a:ea typeface="华文中宋" panose="02010600040101010101" pitchFamily="2" charset="-122"/>
              </a:rPr>
              <a:t>n</a:t>
            </a:r>
            <a:r>
              <a:rPr lang="en-US" altLang="zh-CN" sz="2800" dirty="0" smtClean="0">
                <a:ea typeface="华文中宋" panose="02010600040101010101" pitchFamily="2" charset="-122"/>
              </a:rPr>
              <a:t>]</a:t>
            </a:r>
            <a:r>
              <a:rPr lang="zh-CN" altLang="en-US" sz="2800" dirty="0">
                <a:ea typeface="华文中宋" panose="02010600040101010101" pitchFamily="2" charset="-122"/>
              </a:rPr>
              <a:t>的长度为</a:t>
            </a:r>
            <a:r>
              <a:rPr lang="en-US" altLang="zh-CN" sz="2800" i="1" dirty="0">
                <a:ea typeface="华文中宋" panose="02010600040101010101" pitchFamily="2" charset="-122"/>
              </a:rPr>
              <a:t>N</a:t>
            </a:r>
            <a:r>
              <a:rPr lang="zh-CN" altLang="en-US" sz="2800" dirty="0">
                <a:ea typeface="华文中宋" panose="02010600040101010101" pitchFamily="2" charset="-122"/>
              </a:rPr>
              <a:t>，</a:t>
            </a:r>
            <a:r>
              <a:rPr lang="en-US" altLang="zh-CN" sz="2800" i="1" dirty="0" smtClean="0">
                <a:ea typeface="华文中宋" panose="02010600040101010101" pitchFamily="2" charset="-122"/>
              </a:rPr>
              <a:t>h</a:t>
            </a:r>
            <a:r>
              <a:rPr lang="en-US" altLang="zh-CN" sz="2800" dirty="0" smtClean="0">
                <a:ea typeface="华文中宋" panose="02010600040101010101" pitchFamily="2" charset="-122"/>
              </a:rPr>
              <a:t>[</a:t>
            </a:r>
            <a:r>
              <a:rPr lang="en-US" altLang="zh-CN" sz="2800" i="1" dirty="0" smtClean="0">
                <a:ea typeface="华文中宋" panose="02010600040101010101" pitchFamily="2" charset="-122"/>
              </a:rPr>
              <a:t>n</a:t>
            </a:r>
            <a:r>
              <a:rPr lang="en-US" altLang="zh-CN" sz="2800" dirty="0" smtClean="0">
                <a:ea typeface="华文中宋" panose="02010600040101010101" pitchFamily="2" charset="-122"/>
              </a:rPr>
              <a:t>]</a:t>
            </a:r>
            <a:r>
              <a:rPr lang="zh-CN" altLang="en-US" sz="2800" dirty="0">
                <a:ea typeface="华文中宋" panose="02010600040101010101" pitchFamily="2" charset="-122"/>
              </a:rPr>
              <a:t>的长度为</a:t>
            </a:r>
            <a:r>
              <a:rPr lang="en-US" altLang="zh-CN" sz="2800" i="1" dirty="0">
                <a:ea typeface="华文中宋" panose="02010600040101010101" pitchFamily="2" charset="-122"/>
              </a:rPr>
              <a:t>M</a:t>
            </a:r>
            <a:r>
              <a:rPr lang="zh-CN" altLang="en-US" sz="2800" dirty="0">
                <a:ea typeface="华文中宋" panose="02010600040101010101" pitchFamily="2" charset="-122"/>
              </a:rPr>
              <a:t>，则</a:t>
            </a:r>
            <a:r>
              <a:rPr lang="en-US" altLang="zh-CN" sz="2800" i="1" dirty="0">
                <a:ea typeface="华文中宋" panose="02010600040101010101" pitchFamily="2" charset="-122"/>
              </a:rPr>
              <a:t>L</a:t>
            </a:r>
            <a:r>
              <a:rPr lang="en-US" altLang="zh-CN" sz="2800" dirty="0">
                <a:ea typeface="华文中宋" panose="02010600040101010101" pitchFamily="2" charset="-122"/>
              </a:rPr>
              <a:t>=</a:t>
            </a:r>
            <a:r>
              <a:rPr lang="en-US" altLang="zh-CN" sz="2800" i="1" dirty="0">
                <a:ea typeface="华文中宋" panose="02010600040101010101" pitchFamily="2" charset="-122"/>
              </a:rPr>
              <a:t>N</a:t>
            </a:r>
            <a:r>
              <a:rPr lang="en-US" altLang="zh-CN" sz="2800" dirty="0">
                <a:ea typeface="华文中宋" panose="02010600040101010101" pitchFamily="2" charset="-122"/>
              </a:rPr>
              <a:t>+</a:t>
            </a:r>
            <a:r>
              <a:rPr lang="en-US" altLang="zh-CN" sz="2800" i="1" dirty="0">
                <a:ea typeface="华文中宋" panose="02010600040101010101" pitchFamily="2" charset="-122"/>
              </a:rPr>
              <a:t>M</a:t>
            </a:r>
            <a:r>
              <a:rPr lang="en-US" altLang="zh-CN" sz="2800" dirty="0">
                <a:latin typeface="Symbol" panose="05050102010706020507" pitchFamily="18" charset="2"/>
                <a:ea typeface="华文中宋" panose="02010600040101010101" pitchFamily="2" charset="-122"/>
              </a:rPr>
              <a:t>-</a:t>
            </a:r>
            <a:r>
              <a:rPr lang="en-US" altLang="zh-CN" sz="2800" dirty="0">
                <a:ea typeface="华文中宋" panose="02010600040101010101" pitchFamily="2" charset="-122"/>
              </a:rPr>
              <a:t>1</a:t>
            </a:r>
            <a:r>
              <a:rPr lang="zh-CN" altLang="en-US" sz="2800" dirty="0">
                <a:ea typeface="华文中宋" panose="02010600040101010101" pitchFamily="2" charset="-122"/>
              </a:rPr>
              <a:t>点循环卷积等于</a:t>
            </a:r>
            <a:r>
              <a:rPr lang="en-US" altLang="zh-CN" sz="2800" i="1" dirty="0" smtClean="0">
                <a:ea typeface="华文中宋" panose="02010600040101010101" pitchFamily="2" charset="-122"/>
              </a:rPr>
              <a:t>x</a:t>
            </a:r>
            <a:r>
              <a:rPr lang="en-US" altLang="zh-CN" sz="2800" dirty="0" smtClean="0">
                <a:ea typeface="华文中宋" panose="02010600040101010101" pitchFamily="2" charset="-122"/>
              </a:rPr>
              <a:t>[</a:t>
            </a:r>
            <a:r>
              <a:rPr lang="en-US" altLang="zh-CN" sz="2800" i="1" dirty="0" smtClean="0">
                <a:ea typeface="华文中宋" panose="02010600040101010101" pitchFamily="2" charset="-122"/>
              </a:rPr>
              <a:t>n</a:t>
            </a:r>
            <a:r>
              <a:rPr lang="en-US" altLang="zh-CN" sz="2800" dirty="0" smtClean="0">
                <a:ea typeface="华文中宋" panose="02010600040101010101" pitchFamily="2" charset="-122"/>
              </a:rPr>
              <a:t>] </a:t>
            </a:r>
            <a:r>
              <a:rPr lang="zh-CN" altLang="en-US" sz="2800" dirty="0">
                <a:ea typeface="华文中宋" panose="02010600040101010101" pitchFamily="2" charset="-122"/>
              </a:rPr>
              <a:t>与</a:t>
            </a:r>
            <a:r>
              <a:rPr lang="en-US" altLang="zh-CN" sz="2800" i="1" dirty="0" smtClean="0">
                <a:ea typeface="华文中宋" panose="02010600040101010101" pitchFamily="2" charset="-122"/>
              </a:rPr>
              <a:t>h</a:t>
            </a:r>
            <a:r>
              <a:rPr lang="en-US" altLang="zh-CN" sz="2800" dirty="0" smtClean="0">
                <a:ea typeface="华文中宋" panose="02010600040101010101" pitchFamily="2" charset="-122"/>
              </a:rPr>
              <a:t>[</a:t>
            </a:r>
            <a:r>
              <a:rPr lang="en-US" altLang="zh-CN" sz="2800" i="1" dirty="0" smtClean="0">
                <a:ea typeface="华文中宋" panose="02010600040101010101" pitchFamily="2" charset="-122"/>
              </a:rPr>
              <a:t>n</a:t>
            </a:r>
            <a:r>
              <a:rPr lang="en-US" altLang="zh-CN" sz="2800" dirty="0" smtClean="0">
                <a:ea typeface="华文中宋" panose="02010600040101010101" pitchFamily="2" charset="-122"/>
              </a:rPr>
              <a:t>]</a:t>
            </a:r>
            <a:r>
              <a:rPr lang="zh-CN" altLang="en-US" sz="2800" dirty="0">
                <a:ea typeface="华文中宋" panose="02010600040101010101" pitchFamily="2" charset="-122"/>
              </a:rPr>
              <a:t>的线性卷积。</a:t>
            </a:r>
          </a:p>
        </p:txBody>
      </p:sp>
      <p:graphicFrame>
        <p:nvGraphicFramePr>
          <p:cNvPr id="1229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8023973"/>
              </p:ext>
            </p:extLst>
          </p:nvPr>
        </p:nvGraphicFramePr>
        <p:xfrm>
          <a:off x="3225800" y="5438775"/>
          <a:ext cx="4794250" cy="72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786" name="Equation" r:id="rId3" imgW="1536480" imgH="228600" progId="Equation.DSMT4">
                  <p:embed/>
                </p:oleObj>
              </mc:Choice>
              <mc:Fallback>
                <p:oleObj name="Equation" r:id="rId3" imgW="1536480" imgH="228600" progId="Equation.DSMT4">
                  <p:embed/>
                  <p:pic>
                    <p:nvPicPr>
                      <p:cNvPr id="12292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5800" y="5438775"/>
                        <a:ext cx="4794250" cy="728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3" name="Rectangle 10"/>
          <p:cNvSpPr>
            <a:spLocks noChangeArrowheads="1"/>
          </p:cNvSpPr>
          <p:nvPr/>
        </p:nvSpPr>
        <p:spPr bwMode="auto">
          <a:xfrm>
            <a:off x="1676400" y="1066800"/>
            <a:ext cx="8915400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2294" name="Rectangle 13"/>
          <p:cNvSpPr>
            <a:spLocks noChangeArrowheads="1"/>
          </p:cNvSpPr>
          <p:nvPr/>
        </p:nvSpPr>
        <p:spPr bwMode="auto">
          <a:xfrm>
            <a:off x="2209800" y="381000"/>
            <a:ext cx="7772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44546A"/>
                </a:solidFill>
              </a:rPr>
              <a:t>利用</a:t>
            </a:r>
            <a:r>
              <a:rPr lang="en-US" altLang="zh-CN" sz="2800" b="1">
                <a:solidFill>
                  <a:srgbClr val="44546A"/>
                </a:solidFill>
              </a:rPr>
              <a:t>DFT</a:t>
            </a:r>
            <a:r>
              <a:rPr lang="zh-CN" altLang="en-US" sz="2800" b="1">
                <a:solidFill>
                  <a:srgbClr val="44546A"/>
                </a:solidFill>
              </a:rPr>
              <a:t>计算序列线性卷积的步骤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9621" y="2675286"/>
            <a:ext cx="7438691" cy="2260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480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1026"/>
          <p:cNvSpPr txBox="1">
            <a:spLocks noChangeArrowheads="1"/>
          </p:cNvSpPr>
          <p:nvPr/>
        </p:nvSpPr>
        <p:spPr bwMode="auto">
          <a:xfrm>
            <a:off x="1828800" y="1600201"/>
            <a:ext cx="6705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8000"/>
                </a:solidFill>
              </a:rPr>
              <a:t>% Calculate Linear Convolution by DFT</a:t>
            </a:r>
          </a:p>
        </p:txBody>
      </p:sp>
      <p:sp>
        <p:nvSpPr>
          <p:cNvPr id="27651" name="Text Box 1027"/>
          <p:cNvSpPr txBox="1">
            <a:spLocks noChangeArrowheads="1"/>
          </p:cNvSpPr>
          <p:nvPr/>
        </p:nvSpPr>
        <p:spPr bwMode="auto">
          <a:xfrm>
            <a:off x="1905000" y="2041525"/>
            <a:ext cx="32004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prstClr val="black"/>
                </a:solidFill>
              </a:rPr>
              <a:t>x = [1 2 0 1];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prstClr val="black"/>
                </a:solidFill>
              </a:rPr>
              <a:t>h = [2 2 1 1];</a:t>
            </a:r>
          </a:p>
        </p:txBody>
      </p:sp>
      <p:sp>
        <p:nvSpPr>
          <p:cNvPr id="27652" name="Text Box 1028"/>
          <p:cNvSpPr txBox="1">
            <a:spLocks noChangeArrowheads="1"/>
          </p:cNvSpPr>
          <p:nvPr/>
        </p:nvSpPr>
        <p:spPr bwMode="auto">
          <a:xfrm>
            <a:off x="1905000" y="2863850"/>
            <a:ext cx="69342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9900"/>
                </a:solidFill>
              </a:rPr>
              <a:t>% determine the length for zero padding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prstClr val="black"/>
                </a:solidFill>
              </a:rPr>
              <a:t>L = length(x)+length(h)-1;</a:t>
            </a:r>
          </a:p>
        </p:txBody>
      </p:sp>
      <p:sp>
        <p:nvSpPr>
          <p:cNvPr id="27653" name="Text Box 1029"/>
          <p:cNvSpPr txBox="1">
            <a:spLocks noChangeArrowheads="1"/>
          </p:cNvSpPr>
          <p:nvPr/>
        </p:nvSpPr>
        <p:spPr bwMode="auto">
          <a:xfrm>
            <a:off x="1905000" y="3886200"/>
            <a:ext cx="64008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8000"/>
                </a:solidFill>
              </a:rPr>
              <a:t>% Compute the DFTs by zero-padding</a:t>
            </a:r>
            <a:endParaRPr lang="en-US" altLang="zh-CN" sz="2800" b="1">
              <a:solidFill>
                <a:prstClr val="black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prstClr val="black"/>
                </a:solidFill>
              </a:rPr>
              <a:t>XE = fft(x,L);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prstClr val="black"/>
                </a:solidFill>
              </a:rPr>
              <a:t>HE = fft(h,L);</a:t>
            </a:r>
          </a:p>
        </p:txBody>
      </p:sp>
      <p:sp>
        <p:nvSpPr>
          <p:cNvPr id="27654" name="Text Box 1030"/>
          <p:cNvSpPr txBox="1">
            <a:spLocks noChangeArrowheads="1"/>
          </p:cNvSpPr>
          <p:nvPr/>
        </p:nvSpPr>
        <p:spPr bwMode="auto">
          <a:xfrm>
            <a:off x="1905000" y="5181600"/>
            <a:ext cx="64770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8000"/>
                </a:solidFill>
              </a:rPr>
              <a:t>% Determine the IDFT of the product</a:t>
            </a:r>
            <a:endParaRPr lang="en-US" altLang="zh-CN" sz="2800" b="1">
              <a:solidFill>
                <a:prstClr val="black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prstClr val="black"/>
                </a:solidFill>
              </a:rPr>
              <a:t>y1 = ifft(XE.*HE);</a:t>
            </a:r>
          </a:p>
        </p:txBody>
      </p:sp>
      <p:sp>
        <p:nvSpPr>
          <p:cNvPr id="27655" name="Text Box 1031"/>
          <p:cNvSpPr txBox="1">
            <a:spLocks noChangeArrowheads="1"/>
          </p:cNvSpPr>
          <p:nvPr/>
        </p:nvSpPr>
        <p:spPr bwMode="auto">
          <a:xfrm>
            <a:off x="2743200" y="152400"/>
            <a:ext cx="79248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prstClr val="black"/>
                </a:solidFill>
              </a:rPr>
              <a:t>例：利用</a:t>
            </a:r>
            <a:r>
              <a:rPr lang="en-US" altLang="zh-CN" sz="2800" b="1">
                <a:solidFill>
                  <a:prstClr val="black"/>
                </a:solidFill>
              </a:rPr>
              <a:t>MATLAB</a:t>
            </a:r>
            <a:r>
              <a:rPr lang="zh-CN" altLang="en-US" sz="2800" b="1">
                <a:solidFill>
                  <a:prstClr val="black"/>
                </a:solidFill>
              </a:rPr>
              <a:t>由</a:t>
            </a:r>
            <a:r>
              <a:rPr lang="en-US" altLang="zh-CN" sz="2800" b="1">
                <a:solidFill>
                  <a:prstClr val="black"/>
                </a:solidFill>
              </a:rPr>
              <a:t>DFT</a:t>
            </a:r>
            <a:r>
              <a:rPr lang="zh-CN" altLang="en-US" sz="2800" b="1">
                <a:solidFill>
                  <a:prstClr val="black"/>
                </a:solidFill>
              </a:rPr>
              <a:t>计算</a:t>
            </a:r>
            <a:r>
              <a:rPr lang="en-US" altLang="zh-CN" sz="2800" b="1" i="1">
                <a:solidFill>
                  <a:prstClr val="black"/>
                </a:solidFill>
              </a:rPr>
              <a:t>x</a:t>
            </a:r>
            <a:r>
              <a:rPr lang="en-US" altLang="zh-CN" sz="2800" b="1">
                <a:solidFill>
                  <a:prstClr val="black"/>
                </a:solidFill>
              </a:rPr>
              <a:t>[</a:t>
            </a:r>
            <a:r>
              <a:rPr lang="en-US" altLang="zh-CN" sz="2800" b="1" i="1">
                <a:solidFill>
                  <a:prstClr val="black"/>
                </a:solidFill>
              </a:rPr>
              <a:t>k</a:t>
            </a:r>
            <a:r>
              <a:rPr lang="en-US" altLang="zh-CN" sz="2800" b="1">
                <a:solidFill>
                  <a:prstClr val="black"/>
                </a:solidFill>
              </a:rPr>
              <a:t>]* </a:t>
            </a:r>
            <a:r>
              <a:rPr lang="en-US" altLang="zh-CN" sz="2800" b="1" i="1">
                <a:solidFill>
                  <a:prstClr val="black"/>
                </a:solidFill>
              </a:rPr>
              <a:t>h</a:t>
            </a:r>
            <a:r>
              <a:rPr lang="en-US" altLang="zh-CN" sz="2800" b="1">
                <a:solidFill>
                  <a:prstClr val="black"/>
                </a:solidFill>
              </a:rPr>
              <a:t>[</a:t>
            </a:r>
            <a:r>
              <a:rPr lang="en-US" altLang="zh-CN" sz="2800" b="1" i="1">
                <a:solidFill>
                  <a:prstClr val="black"/>
                </a:solidFill>
              </a:rPr>
              <a:t>k</a:t>
            </a:r>
            <a:r>
              <a:rPr lang="en-US" altLang="zh-CN" sz="2800" b="1">
                <a:solidFill>
                  <a:prstClr val="black"/>
                </a:solidFill>
              </a:rPr>
              <a:t>]</a:t>
            </a:r>
            <a:r>
              <a:rPr lang="zh-CN" altLang="en-US" sz="2800" b="1">
                <a:solidFill>
                  <a:prstClr val="black"/>
                </a:solidFill>
              </a:rPr>
              <a:t>。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i="1">
                <a:solidFill>
                  <a:prstClr val="black"/>
                </a:solidFill>
              </a:rPr>
              <a:t>         </a:t>
            </a:r>
            <a:r>
              <a:rPr lang="en-US" altLang="zh-CN" sz="2800" b="1" i="1">
                <a:solidFill>
                  <a:prstClr val="black"/>
                </a:solidFill>
              </a:rPr>
              <a:t>x</a:t>
            </a:r>
            <a:r>
              <a:rPr lang="en-US" altLang="zh-CN" sz="2800" b="1">
                <a:solidFill>
                  <a:prstClr val="black"/>
                </a:solidFill>
              </a:rPr>
              <a:t>[</a:t>
            </a:r>
            <a:r>
              <a:rPr lang="en-US" altLang="zh-CN" sz="2800" b="1" i="1">
                <a:solidFill>
                  <a:prstClr val="black"/>
                </a:solidFill>
              </a:rPr>
              <a:t>k</a:t>
            </a:r>
            <a:r>
              <a:rPr lang="en-US" altLang="zh-CN" sz="2800" b="1">
                <a:solidFill>
                  <a:prstClr val="black"/>
                </a:solidFill>
              </a:rPr>
              <a:t>]={1, 2, 0, 1},  </a:t>
            </a:r>
            <a:r>
              <a:rPr lang="en-US" altLang="zh-CN" sz="2800" b="1" i="1">
                <a:solidFill>
                  <a:prstClr val="black"/>
                </a:solidFill>
              </a:rPr>
              <a:t>h</a:t>
            </a:r>
            <a:r>
              <a:rPr lang="en-US" altLang="zh-CN" sz="2800" b="1">
                <a:solidFill>
                  <a:prstClr val="black"/>
                </a:solidFill>
              </a:rPr>
              <a:t>[</a:t>
            </a:r>
            <a:r>
              <a:rPr lang="en-US" altLang="zh-CN" sz="2800" b="1" i="1">
                <a:solidFill>
                  <a:prstClr val="black"/>
                </a:solidFill>
              </a:rPr>
              <a:t>k</a:t>
            </a:r>
            <a:r>
              <a:rPr lang="en-US" altLang="zh-CN" sz="2800" b="1">
                <a:solidFill>
                  <a:prstClr val="black"/>
                </a:solidFill>
              </a:rPr>
              <a:t>]={2, 2, 1, 1}</a:t>
            </a:r>
          </a:p>
        </p:txBody>
      </p:sp>
      <p:sp>
        <p:nvSpPr>
          <p:cNvPr id="13320" name="Rectangle 1033"/>
          <p:cNvSpPr>
            <a:spLocks noChangeArrowheads="1"/>
          </p:cNvSpPr>
          <p:nvPr/>
        </p:nvSpPr>
        <p:spPr bwMode="auto">
          <a:xfrm>
            <a:off x="1676400" y="1219200"/>
            <a:ext cx="8915400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7125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6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6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6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27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autoUpdateAnimBg="0"/>
      <p:bldP spid="27652" grpId="0" autoUpdateAnimBg="0"/>
      <p:bldP spid="27653" grpId="0" autoUpdateAnimBg="0"/>
      <p:bldP spid="27654" grpId="0" autoUpdateAnimBg="0"/>
      <p:bldP spid="27655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298" name="Object 2"/>
          <p:cNvGraphicFramePr>
            <a:graphicFrameLocks noChangeAspect="1"/>
          </p:cNvGraphicFramePr>
          <p:nvPr/>
        </p:nvGraphicFramePr>
        <p:xfrm>
          <a:off x="1752600" y="1752601"/>
          <a:ext cx="4419600" cy="3903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12" name="Visio" r:id="rId3" imgW="1672714" imgH="1337203" progId="Visio.Drawing.6">
                  <p:embed/>
                </p:oleObj>
              </mc:Choice>
              <mc:Fallback>
                <p:oleObj name="Visio" r:id="rId3" imgW="1672714" imgH="1337203" progId="Visio.Drawing.6">
                  <p:embed/>
                  <p:pic>
                    <p:nvPicPr>
                      <p:cNvPr id="5529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1752601"/>
                        <a:ext cx="4419600" cy="3903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299" name="Object 3"/>
          <p:cNvGraphicFramePr>
            <a:graphicFrameLocks noChangeAspect="1"/>
          </p:cNvGraphicFramePr>
          <p:nvPr/>
        </p:nvGraphicFramePr>
        <p:xfrm>
          <a:off x="6019800" y="1676401"/>
          <a:ext cx="4419600" cy="3916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13" name="Visio" r:id="rId5" imgW="1737360" imgH="1341041" progId="Visio.Drawing.6">
                  <p:embed/>
                </p:oleObj>
              </mc:Choice>
              <mc:Fallback>
                <p:oleObj name="Visio" r:id="rId5" imgW="1737360" imgH="1341041" progId="Visio.Drawing.6">
                  <p:embed/>
                  <p:pic>
                    <p:nvPicPr>
                      <p:cNvPr id="5529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1676401"/>
                        <a:ext cx="4419600" cy="3916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1676400" y="1066800"/>
            <a:ext cx="8915400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4341" name="Text Box 5"/>
          <p:cNvSpPr txBox="1">
            <a:spLocks noChangeArrowheads="1"/>
          </p:cNvSpPr>
          <p:nvPr/>
        </p:nvSpPr>
        <p:spPr bwMode="auto">
          <a:xfrm>
            <a:off x="3048000" y="304801"/>
            <a:ext cx="6858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直接计算与由</a:t>
            </a:r>
            <a:r>
              <a:rPr lang="en-US" altLang="zh-CN" sz="280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DFT</a:t>
            </a:r>
            <a:r>
              <a:rPr lang="zh-CN" altLang="en-US" sz="280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间接计算结果比较</a:t>
            </a:r>
          </a:p>
        </p:txBody>
      </p:sp>
    </p:spTree>
    <p:extLst>
      <p:ext uri="{BB962C8B-B14F-4D97-AF65-F5344CB8AC3E}">
        <p14:creationId xmlns:p14="http://schemas.microsoft.com/office/powerpoint/2010/main" val="4181925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5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55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2324100" y="238125"/>
            <a:ext cx="7772400" cy="552450"/>
          </a:xfrm>
        </p:spPr>
        <p:txBody>
          <a:bodyPr/>
          <a:lstStyle/>
          <a:p>
            <a:r>
              <a:rPr lang="zh-CN" altLang="en-US" sz="3200"/>
              <a:t>序列</a:t>
            </a:r>
            <a:r>
              <a:rPr lang="en-US" altLang="zh-CN" sz="3200"/>
              <a:t>DFT</a:t>
            </a:r>
            <a:r>
              <a:rPr lang="zh-CN" altLang="en-US" sz="3200"/>
              <a:t>与</a:t>
            </a:r>
            <a:r>
              <a:rPr lang="en-US" altLang="zh-CN" sz="3200"/>
              <a:t>z</a:t>
            </a:r>
            <a:r>
              <a:rPr lang="zh-CN" altLang="en-US" sz="3200"/>
              <a:t>变换的关系</a:t>
            </a:r>
          </a:p>
        </p:txBody>
      </p:sp>
      <p:graphicFrame>
        <p:nvGraphicFramePr>
          <p:cNvPr id="102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2095326"/>
              </p:ext>
            </p:extLst>
          </p:nvPr>
        </p:nvGraphicFramePr>
        <p:xfrm>
          <a:off x="1723496" y="1385888"/>
          <a:ext cx="6203950" cy="1131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203" name="Equation" r:id="rId3" imgW="2374560" imgH="431640" progId="Equation.DSMT4">
                  <p:embed/>
                </p:oleObj>
              </mc:Choice>
              <mc:Fallback>
                <p:oleObj name="Equation" r:id="rId3" imgW="2374560" imgH="431640" progId="Equation.DSMT4">
                  <p:embed/>
                  <p:pic>
                    <p:nvPicPr>
                      <p:cNvPr id="102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3496" y="1385888"/>
                        <a:ext cx="6203950" cy="1131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6832466"/>
              </p:ext>
            </p:extLst>
          </p:nvPr>
        </p:nvGraphicFramePr>
        <p:xfrm>
          <a:off x="7750175" y="1509713"/>
          <a:ext cx="2176463" cy="976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204" name="Equation" r:id="rId5" imgW="990360" imgH="444240" progId="Equation.DSMT4">
                  <p:embed/>
                </p:oleObj>
              </mc:Choice>
              <mc:Fallback>
                <p:oleObj name="Equation" r:id="rId5" imgW="990360" imgH="444240" progId="Equation.DSMT4">
                  <p:embed/>
                  <p:pic>
                    <p:nvPicPr>
                      <p:cNvPr id="1024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0175" y="1509713"/>
                        <a:ext cx="2176463" cy="976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6" name="Text Box 6"/>
          <p:cNvSpPr txBox="1">
            <a:spLocks noChangeArrowheads="1"/>
          </p:cNvSpPr>
          <p:nvPr/>
        </p:nvSpPr>
        <p:spPr bwMode="auto">
          <a:xfrm>
            <a:off x="1922464" y="2709863"/>
            <a:ext cx="8174037" cy="519112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i="1" dirty="0" smtClean="0">
                <a:latin typeface="Times New Roman" panose="02020603050405020304" pitchFamily="18" charset="0"/>
              </a:rPr>
              <a:t>x</a:t>
            </a:r>
            <a:r>
              <a:rPr kumimoji="1" lang="en-US" altLang="zh-CN" sz="2800" dirty="0" smtClean="0">
                <a:latin typeface="Times New Roman" panose="02020603050405020304" pitchFamily="18" charset="0"/>
              </a:rPr>
              <a:t>[</a:t>
            </a:r>
            <a:r>
              <a:rPr kumimoji="1" lang="en-US" altLang="zh-CN" sz="2800" i="1" dirty="0" smtClean="0">
                <a:latin typeface="Times New Roman" panose="02020603050405020304" pitchFamily="18" charset="0"/>
              </a:rPr>
              <a:t>n</a:t>
            </a:r>
            <a:r>
              <a:rPr kumimoji="1" lang="en-US" altLang="zh-CN" sz="2800" dirty="0" smtClean="0">
                <a:latin typeface="Times New Roman" panose="02020603050405020304" pitchFamily="18" charset="0"/>
              </a:rPr>
              <a:t>]</a:t>
            </a:r>
            <a:r>
              <a:rPr kumimoji="1" lang="zh-CN" altLang="en-US" sz="2800" dirty="0">
                <a:latin typeface="宋体" panose="02010600030101010101" pitchFamily="2" charset="-122"/>
              </a:rPr>
              <a:t>的 </a:t>
            </a:r>
            <a:r>
              <a:rPr kumimoji="1" lang="en-US" altLang="zh-CN" sz="2800" i="1" dirty="0" smtClean="0">
                <a:latin typeface="Times New Roman" panose="02020603050405020304" pitchFamily="18" charset="0"/>
              </a:rPr>
              <a:t>X</a:t>
            </a:r>
            <a:r>
              <a:rPr kumimoji="1" lang="en-US" altLang="zh-CN" sz="2800" dirty="0" smtClean="0">
                <a:latin typeface="Times New Roman" panose="02020603050405020304" pitchFamily="18" charset="0"/>
              </a:rPr>
              <a:t>[</a:t>
            </a:r>
            <a:r>
              <a:rPr kumimoji="1" lang="en-US" altLang="zh-CN" sz="2800" i="1" dirty="0" smtClean="0">
                <a:latin typeface="Times New Roman" panose="02020603050405020304" pitchFamily="18" charset="0"/>
              </a:rPr>
              <a:t>k</a:t>
            </a:r>
            <a:r>
              <a:rPr kumimoji="1" lang="en-US" altLang="zh-CN" sz="2800" dirty="0" smtClean="0">
                <a:latin typeface="Times New Roman" panose="02020603050405020304" pitchFamily="18" charset="0"/>
              </a:rPr>
              <a:t>]</a:t>
            </a:r>
            <a:r>
              <a:rPr kumimoji="1" lang="zh-CN" altLang="en-US" sz="2800" dirty="0">
                <a:latin typeface="宋体" panose="02010600030101010101" pitchFamily="2" charset="-122"/>
              </a:rPr>
              <a:t>等于其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z</a:t>
            </a:r>
            <a:r>
              <a:rPr kumimoji="1" lang="zh-CN" altLang="en-US" sz="2800" dirty="0">
                <a:latin typeface="宋体" panose="02010600030101010101" pitchFamily="2" charset="-122"/>
              </a:rPr>
              <a:t>变换</a:t>
            </a:r>
            <a:r>
              <a:rPr kumimoji="1" lang="en-US" altLang="zh-CN" sz="2800" i="1" dirty="0">
                <a:latin typeface="Times New Roman" panose="02020603050405020304" pitchFamily="18" charset="0"/>
              </a:rPr>
              <a:t>X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(</a:t>
            </a:r>
            <a:r>
              <a:rPr kumimoji="1" lang="en-US" altLang="zh-CN" sz="2800" i="1" dirty="0">
                <a:latin typeface="Times New Roman" panose="02020603050405020304" pitchFamily="18" charset="0"/>
              </a:rPr>
              <a:t>z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)</a:t>
            </a:r>
            <a:r>
              <a:rPr kumimoji="1" lang="zh-CN" altLang="en-US" sz="2800" dirty="0">
                <a:latin typeface="宋体" panose="02010600030101010101" pitchFamily="2" charset="-122"/>
              </a:rPr>
              <a:t>在单位圆上等间隔取样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11986" y="3369204"/>
            <a:ext cx="4386381" cy="3118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260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6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7" name="Group 3"/>
          <p:cNvGrpSpPr>
            <a:grpSpLocks/>
          </p:cNvGrpSpPr>
          <p:nvPr/>
        </p:nvGrpSpPr>
        <p:grpSpPr bwMode="auto">
          <a:xfrm>
            <a:off x="2273300" y="1368426"/>
            <a:ext cx="7185025" cy="1141413"/>
            <a:chOff x="316" y="1023"/>
            <a:chExt cx="4526" cy="719"/>
          </a:xfrm>
        </p:grpSpPr>
        <p:graphicFrame>
          <p:nvGraphicFramePr>
            <p:cNvPr id="11268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78457999"/>
                </p:ext>
              </p:extLst>
            </p:nvPr>
          </p:nvGraphicFramePr>
          <p:xfrm>
            <a:off x="316" y="1064"/>
            <a:ext cx="1862" cy="6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1262" name="Equation" r:id="rId3" imgW="1180800" imgH="431640" progId="Equation.DSMT4">
                    <p:embed/>
                  </p:oleObj>
                </mc:Choice>
                <mc:Fallback>
                  <p:oleObj name="Equation" r:id="rId3" imgW="1180800" imgH="431640" progId="Equation.DSMT4">
                    <p:embed/>
                    <p:pic>
                      <p:nvPicPr>
                        <p:cNvPr id="11268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" y="1064"/>
                          <a:ext cx="1862" cy="6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69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20185851"/>
                </p:ext>
              </p:extLst>
            </p:nvPr>
          </p:nvGraphicFramePr>
          <p:xfrm>
            <a:off x="2904" y="1023"/>
            <a:ext cx="1938" cy="6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1263" name="Equation" r:id="rId5" imgW="1231560" imgH="431640" progId="Equation.DSMT4">
                    <p:embed/>
                  </p:oleObj>
                </mc:Choice>
                <mc:Fallback>
                  <p:oleObj name="Equation" r:id="rId5" imgW="1231560" imgH="431640" progId="Equation.DSMT4">
                    <p:embed/>
                    <p:pic>
                      <p:nvPicPr>
                        <p:cNvPr id="11269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04" y="1023"/>
                          <a:ext cx="1938" cy="6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27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4392232"/>
              </p:ext>
            </p:extLst>
          </p:nvPr>
        </p:nvGraphicFramePr>
        <p:xfrm>
          <a:off x="3417888" y="2573338"/>
          <a:ext cx="5368925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264" name="Equation" r:id="rId7" imgW="2145960" imgH="431640" progId="Equation.DSMT4">
                  <p:embed/>
                </p:oleObj>
              </mc:Choice>
              <mc:Fallback>
                <p:oleObj name="Equation" r:id="rId7" imgW="2145960" imgH="431640" progId="Equation.DSMT4">
                  <p:embed/>
                  <p:pic>
                    <p:nvPicPr>
                      <p:cNvPr id="1127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7888" y="2573338"/>
                        <a:ext cx="5368925" cy="107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271" name="Group 7"/>
          <p:cNvGrpSpPr>
            <a:grpSpLocks/>
          </p:cNvGrpSpPr>
          <p:nvPr/>
        </p:nvGrpSpPr>
        <p:grpSpPr bwMode="auto">
          <a:xfrm>
            <a:off x="2890839" y="4149728"/>
            <a:ext cx="6537325" cy="609601"/>
            <a:chOff x="637" y="2656"/>
            <a:chExt cx="4118" cy="384"/>
          </a:xfrm>
        </p:grpSpPr>
        <p:grpSp>
          <p:nvGrpSpPr>
            <p:cNvPr id="11272" name="Group 8"/>
            <p:cNvGrpSpPr>
              <a:grpSpLocks/>
            </p:cNvGrpSpPr>
            <p:nvPr/>
          </p:nvGrpSpPr>
          <p:grpSpPr bwMode="auto">
            <a:xfrm>
              <a:off x="637" y="2749"/>
              <a:ext cx="515" cy="291"/>
              <a:chOff x="637" y="2749"/>
              <a:chExt cx="515" cy="291"/>
            </a:xfrm>
          </p:grpSpPr>
          <p:sp>
            <p:nvSpPr>
              <p:cNvPr id="11273" name="Rectangle 9"/>
              <p:cNvSpPr>
                <a:spLocks noChangeArrowheads="1"/>
              </p:cNvSpPr>
              <p:nvPr/>
            </p:nvSpPr>
            <p:spPr bwMode="auto">
              <a:xfrm>
                <a:off x="1072" y="2749"/>
                <a:ext cx="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kumimoji="1" lang="en-US" altLang="zh-CN" sz="3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]</a:t>
                </a:r>
                <a:endParaRPr kumimoji="1" lang="en-US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74" name="Rectangle 10"/>
              <p:cNvSpPr>
                <a:spLocks noChangeArrowheads="1"/>
              </p:cNvSpPr>
              <p:nvPr/>
            </p:nvSpPr>
            <p:spPr bwMode="auto">
              <a:xfrm>
                <a:off x="810" y="2749"/>
                <a:ext cx="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kumimoji="1" lang="en-US" altLang="zh-CN" sz="30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[</a:t>
                </a:r>
                <a:endParaRPr kumimoji="1" lang="en-US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75" name="Rectangle 11"/>
              <p:cNvSpPr>
                <a:spLocks noChangeArrowheads="1"/>
              </p:cNvSpPr>
              <p:nvPr/>
            </p:nvSpPr>
            <p:spPr bwMode="auto">
              <a:xfrm>
                <a:off x="896" y="2749"/>
                <a:ext cx="108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kumimoji="1" lang="en-US" altLang="zh-CN" sz="3000" i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k</a:t>
                </a:r>
                <a:endParaRPr kumimoji="1" lang="en-US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76" name="Rectangle 12"/>
              <p:cNvSpPr>
                <a:spLocks noChangeArrowheads="1"/>
              </p:cNvSpPr>
              <p:nvPr/>
            </p:nvSpPr>
            <p:spPr bwMode="auto">
              <a:xfrm>
                <a:off x="637" y="2749"/>
                <a:ext cx="14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kumimoji="1" lang="en-US" altLang="zh-CN" sz="30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X</a:t>
                </a:r>
                <a:endParaRPr kumimoji="1"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1277" name="Rectangle 13"/>
            <p:cNvSpPr>
              <a:spLocks noChangeArrowheads="1"/>
            </p:cNvSpPr>
            <p:nvPr/>
          </p:nvSpPr>
          <p:spPr bwMode="auto">
            <a:xfrm>
              <a:off x="1183" y="2751"/>
              <a:ext cx="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kumimoji="1" lang="zh-CN" altLang="zh-CN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11278" name="Group 14"/>
            <p:cNvGrpSpPr>
              <a:grpSpLocks/>
            </p:cNvGrpSpPr>
            <p:nvPr/>
          </p:nvGrpSpPr>
          <p:grpSpPr bwMode="auto">
            <a:xfrm>
              <a:off x="1714" y="2656"/>
              <a:ext cx="943" cy="354"/>
              <a:chOff x="1714" y="2656"/>
              <a:chExt cx="943" cy="354"/>
            </a:xfrm>
          </p:grpSpPr>
          <p:sp>
            <p:nvSpPr>
              <p:cNvPr id="11279" name="Rectangle 15"/>
              <p:cNvSpPr>
                <a:spLocks noChangeArrowheads="1"/>
              </p:cNvSpPr>
              <p:nvPr/>
            </p:nvSpPr>
            <p:spPr bwMode="auto">
              <a:xfrm>
                <a:off x="2202" y="2722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kumimoji="1" lang="en-US" altLang="zh-CN" sz="3000">
                    <a:solidFill>
                      <a:srgbClr val="000000"/>
                    </a:solidFill>
                    <a:latin typeface="Symbol" panose="05050102010706020507" pitchFamily="18" charset="2"/>
                  </a:rPr>
                  <a:t>¾</a:t>
                </a:r>
                <a:endParaRPr kumimoji="1" lang="en-US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80" name="Rectangle 16"/>
              <p:cNvSpPr>
                <a:spLocks noChangeArrowheads="1"/>
              </p:cNvSpPr>
              <p:nvPr/>
            </p:nvSpPr>
            <p:spPr bwMode="auto">
              <a:xfrm>
                <a:off x="1950" y="2722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kumimoji="1" lang="en-US" altLang="zh-CN" sz="3000">
                    <a:solidFill>
                      <a:srgbClr val="000000"/>
                    </a:solidFill>
                    <a:latin typeface="Symbol" panose="05050102010706020507" pitchFamily="18" charset="2"/>
                  </a:rPr>
                  <a:t>¾</a:t>
                </a:r>
                <a:endParaRPr kumimoji="1" lang="en-US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81" name="Rectangle 17"/>
              <p:cNvSpPr>
                <a:spLocks noChangeArrowheads="1"/>
              </p:cNvSpPr>
              <p:nvPr/>
            </p:nvSpPr>
            <p:spPr bwMode="auto">
              <a:xfrm>
                <a:off x="2420" y="2722"/>
                <a:ext cx="23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kumimoji="1" lang="en-US" altLang="zh-CN" sz="3000">
                    <a:solidFill>
                      <a:srgbClr val="000000"/>
                    </a:solidFill>
                    <a:latin typeface="Symbol" panose="05050102010706020507" pitchFamily="18" charset="2"/>
                  </a:rPr>
                  <a:t>®</a:t>
                </a:r>
                <a:endParaRPr kumimoji="1" lang="en-US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82" name="Rectangle 18"/>
              <p:cNvSpPr>
                <a:spLocks noChangeArrowheads="1"/>
              </p:cNvSpPr>
              <p:nvPr/>
            </p:nvSpPr>
            <p:spPr bwMode="auto">
              <a:xfrm>
                <a:off x="1714" y="2722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kumimoji="1" lang="en-US" altLang="zh-CN" sz="3000">
                    <a:solidFill>
                      <a:srgbClr val="000000"/>
                    </a:solidFill>
                    <a:latin typeface="Symbol" panose="05050102010706020507" pitchFamily="18" charset="2"/>
                  </a:rPr>
                  <a:t>¾</a:t>
                </a:r>
                <a:endParaRPr kumimoji="1" lang="en-US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83" name="Rectangle 19"/>
              <p:cNvSpPr>
                <a:spLocks noChangeArrowheads="1"/>
              </p:cNvSpPr>
              <p:nvPr/>
            </p:nvSpPr>
            <p:spPr bwMode="auto">
              <a:xfrm>
                <a:off x="1945" y="2656"/>
                <a:ext cx="444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kumimoji="1" lang="en-US" altLang="zh-CN" sz="25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IDFT</a:t>
                </a:r>
                <a:endParaRPr kumimoji="1"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1284" name="Group 20"/>
            <p:cNvGrpSpPr>
              <a:grpSpLocks/>
            </p:cNvGrpSpPr>
            <p:nvPr/>
          </p:nvGrpSpPr>
          <p:grpSpPr bwMode="auto">
            <a:xfrm>
              <a:off x="2750" y="2749"/>
              <a:ext cx="394" cy="291"/>
              <a:chOff x="2750" y="2749"/>
              <a:chExt cx="394" cy="291"/>
            </a:xfrm>
          </p:grpSpPr>
          <p:sp>
            <p:nvSpPr>
              <p:cNvPr id="11285" name="Rectangle 21"/>
              <p:cNvSpPr>
                <a:spLocks noChangeArrowheads="1"/>
              </p:cNvSpPr>
              <p:nvPr/>
            </p:nvSpPr>
            <p:spPr bwMode="auto">
              <a:xfrm>
                <a:off x="3064" y="2749"/>
                <a:ext cx="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kumimoji="1" lang="en-US" altLang="zh-CN" sz="3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]</a:t>
                </a:r>
                <a:endParaRPr kumimoji="1" lang="en-US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86" name="Rectangle 22"/>
              <p:cNvSpPr>
                <a:spLocks noChangeArrowheads="1"/>
              </p:cNvSpPr>
              <p:nvPr/>
            </p:nvSpPr>
            <p:spPr bwMode="auto">
              <a:xfrm>
                <a:off x="2848" y="2749"/>
                <a:ext cx="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kumimoji="1" lang="en-US" altLang="zh-CN" sz="3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[</a:t>
                </a:r>
                <a:endParaRPr kumimoji="1" lang="en-US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87" name="Rectangle 23"/>
              <p:cNvSpPr>
                <a:spLocks noChangeArrowheads="1"/>
              </p:cNvSpPr>
              <p:nvPr/>
            </p:nvSpPr>
            <p:spPr bwMode="auto">
              <a:xfrm>
                <a:off x="2935" y="2749"/>
                <a:ext cx="121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kumimoji="1" lang="en-US" altLang="zh-CN" sz="3000" i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n</a:t>
                </a:r>
                <a:endParaRPr kumimoji="1" lang="en-US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88" name="Rectangle 24"/>
              <p:cNvSpPr>
                <a:spLocks noChangeArrowheads="1"/>
              </p:cNvSpPr>
              <p:nvPr/>
            </p:nvSpPr>
            <p:spPr bwMode="auto">
              <a:xfrm>
                <a:off x="2750" y="2749"/>
                <a:ext cx="10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kumimoji="1" lang="en-US" altLang="zh-CN" sz="30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x</a:t>
                </a:r>
                <a:endParaRPr kumimoji="1"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1289" name="Group 25"/>
            <p:cNvGrpSpPr>
              <a:grpSpLocks/>
            </p:cNvGrpSpPr>
            <p:nvPr/>
          </p:nvGrpSpPr>
          <p:grpSpPr bwMode="auto">
            <a:xfrm>
              <a:off x="3217" y="2656"/>
              <a:ext cx="984" cy="354"/>
              <a:chOff x="3217" y="2656"/>
              <a:chExt cx="984" cy="354"/>
            </a:xfrm>
          </p:grpSpPr>
          <p:sp>
            <p:nvSpPr>
              <p:cNvPr id="11290" name="Rectangle 26"/>
              <p:cNvSpPr>
                <a:spLocks noChangeArrowheads="1"/>
              </p:cNvSpPr>
              <p:nvPr/>
            </p:nvSpPr>
            <p:spPr bwMode="auto">
              <a:xfrm>
                <a:off x="3746" y="2722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kumimoji="1" lang="en-US" altLang="zh-CN" sz="3000">
                    <a:solidFill>
                      <a:srgbClr val="000000"/>
                    </a:solidFill>
                    <a:latin typeface="Symbol" panose="05050102010706020507" pitchFamily="18" charset="2"/>
                  </a:rPr>
                  <a:t>¾</a:t>
                </a:r>
                <a:endParaRPr kumimoji="1" lang="en-US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91" name="Rectangle 27"/>
              <p:cNvSpPr>
                <a:spLocks noChangeArrowheads="1"/>
              </p:cNvSpPr>
              <p:nvPr/>
            </p:nvSpPr>
            <p:spPr bwMode="auto">
              <a:xfrm>
                <a:off x="3708" y="2722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kumimoji="1" lang="en-US" altLang="zh-CN" sz="3000">
                    <a:solidFill>
                      <a:srgbClr val="000000"/>
                    </a:solidFill>
                    <a:latin typeface="Symbol" panose="05050102010706020507" pitchFamily="18" charset="2"/>
                  </a:rPr>
                  <a:t>¾</a:t>
                </a:r>
                <a:endParaRPr kumimoji="1" lang="en-US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92" name="Rectangle 28"/>
              <p:cNvSpPr>
                <a:spLocks noChangeArrowheads="1"/>
              </p:cNvSpPr>
              <p:nvPr/>
            </p:nvSpPr>
            <p:spPr bwMode="auto">
              <a:xfrm>
                <a:off x="3455" y="2722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kumimoji="1" lang="en-US" altLang="zh-CN" sz="3000">
                    <a:solidFill>
                      <a:srgbClr val="000000"/>
                    </a:solidFill>
                    <a:latin typeface="Symbol" panose="05050102010706020507" pitchFamily="18" charset="2"/>
                  </a:rPr>
                  <a:t>¾</a:t>
                </a:r>
                <a:endParaRPr kumimoji="1" lang="en-US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93" name="Rectangle 29"/>
              <p:cNvSpPr>
                <a:spLocks noChangeArrowheads="1"/>
              </p:cNvSpPr>
              <p:nvPr/>
            </p:nvSpPr>
            <p:spPr bwMode="auto">
              <a:xfrm>
                <a:off x="3964" y="2722"/>
                <a:ext cx="23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kumimoji="1" lang="en-US" altLang="zh-CN" sz="3000">
                    <a:solidFill>
                      <a:srgbClr val="000000"/>
                    </a:solidFill>
                    <a:latin typeface="Symbol" panose="05050102010706020507" pitchFamily="18" charset="2"/>
                  </a:rPr>
                  <a:t>®</a:t>
                </a:r>
                <a:endParaRPr kumimoji="1" lang="en-US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94" name="Rectangle 30"/>
              <p:cNvSpPr>
                <a:spLocks noChangeArrowheads="1"/>
              </p:cNvSpPr>
              <p:nvPr/>
            </p:nvSpPr>
            <p:spPr bwMode="auto">
              <a:xfrm>
                <a:off x="3217" y="2722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kumimoji="1" lang="en-US" altLang="zh-CN" sz="3000">
                    <a:solidFill>
                      <a:srgbClr val="000000"/>
                    </a:solidFill>
                    <a:latin typeface="Symbol" panose="05050102010706020507" pitchFamily="18" charset="2"/>
                  </a:rPr>
                  <a:t>¾</a:t>
                </a:r>
                <a:endParaRPr kumimoji="1" lang="en-US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95" name="Rectangle 31"/>
              <p:cNvSpPr>
                <a:spLocks noChangeArrowheads="1"/>
              </p:cNvSpPr>
              <p:nvPr/>
            </p:nvSpPr>
            <p:spPr bwMode="auto">
              <a:xfrm>
                <a:off x="3560" y="2662"/>
                <a:ext cx="400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kumimoji="1" lang="zh-CN" altLang="en-US" sz="25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变换</a:t>
                </a: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96" name="Rectangle 32"/>
              <p:cNvSpPr>
                <a:spLocks noChangeArrowheads="1"/>
              </p:cNvSpPr>
              <p:nvPr/>
            </p:nvSpPr>
            <p:spPr bwMode="auto">
              <a:xfrm>
                <a:off x="3447" y="2656"/>
                <a:ext cx="111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kumimoji="1" lang="en-US" altLang="zh-CN" sz="25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Z</a:t>
                </a:r>
                <a:endParaRPr kumimoji="1"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1297" name="Group 33"/>
            <p:cNvGrpSpPr>
              <a:grpSpLocks/>
            </p:cNvGrpSpPr>
            <p:nvPr/>
          </p:nvGrpSpPr>
          <p:grpSpPr bwMode="auto">
            <a:xfrm>
              <a:off x="4285" y="2749"/>
              <a:ext cx="470" cy="288"/>
              <a:chOff x="4285" y="2749"/>
              <a:chExt cx="470" cy="288"/>
            </a:xfrm>
          </p:grpSpPr>
          <p:sp>
            <p:nvSpPr>
              <p:cNvPr id="11298" name="Rectangle 34"/>
              <p:cNvSpPr>
                <a:spLocks noChangeArrowheads="1"/>
              </p:cNvSpPr>
              <p:nvPr/>
            </p:nvSpPr>
            <p:spPr bwMode="auto">
              <a:xfrm>
                <a:off x="4675" y="2749"/>
                <a:ext cx="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kumimoji="1" lang="en-US" altLang="zh-CN" sz="3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)</a:t>
                </a:r>
                <a:endParaRPr kumimoji="1" lang="en-US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99" name="Rectangle 35"/>
              <p:cNvSpPr>
                <a:spLocks noChangeArrowheads="1"/>
              </p:cNvSpPr>
              <p:nvPr/>
            </p:nvSpPr>
            <p:spPr bwMode="auto">
              <a:xfrm>
                <a:off x="4472" y="2749"/>
                <a:ext cx="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kumimoji="1" lang="en-US" altLang="zh-CN" sz="3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(</a:t>
                </a:r>
                <a:endParaRPr kumimoji="1" lang="en-US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300" name="Rectangle 36"/>
              <p:cNvSpPr>
                <a:spLocks noChangeArrowheads="1"/>
              </p:cNvSpPr>
              <p:nvPr/>
            </p:nvSpPr>
            <p:spPr bwMode="auto">
              <a:xfrm>
                <a:off x="4570" y="2749"/>
                <a:ext cx="9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kumimoji="1" lang="en-US" altLang="zh-CN" sz="30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z</a:t>
                </a:r>
                <a:endParaRPr kumimoji="1" lang="en-US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301" name="Rectangle 37"/>
              <p:cNvSpPr>
                <a:spLocks noChangeArrowheads="1"/>
              </p:cNvSpPr>
              <p:nvPr/>
            </p:nvSpPr>
            <p:spPr bwMode="auto">
              <a:xfrm>
                <a:off x="4285" y="2749"/>
                <a:ext cx="14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kumimoji="1" lang="en-US" altLang="zh-CN" sz="30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X</a:t>
                </a:r>
                <a:endParaRPr kumimoji="1" lang="en-US" altLang="zh-CN" sz="240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1302" name="Group 38"/>
          <p:cNvGrpSpPr>
            <a:grpSpLocks/>
          </p:cNvGrpSpPr>
          <p:nvPr/>
        </p:nvGrpSpPr>
        <p:grpSpPr bwMode="auto">
          <a:xfrm>
            <a:off x="2763839" y="5164139"/>
            <a:ext cx="7302500" cy="1139825"/>
            <a:chOff x="752" y="3408"/>
            <a:chExt cx="4600" cy="718"/>
          </a:xfrm>
        </p:grpSpPr>
        <p:graphicFrame>
          <p:nvGraphicFramePr>
            <p:cNvPr id="11303" name="Object 3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68675980"/>
                </p:ext>
              </p:extLst>
            </p:nvPr>
          </p:nvGraphicFramePr>
          <p:xfrm>
            <a:off x="752" y="3408"/>
            <a:ext cx="3102" cy="7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1265" name="Equation" r:id="rId9" imgW="1968480" imgH="457200" progId="Equation.DSMT4">
                    <p:embed/>
                  </p:oleObj>
                </mc:Choice>
                <mc:Fallback>
                  <p:oleObj name="Equation" r:id="rId9" imgW="1968480" imgH="457200" progId="Equation.DSMT4">
                    <p:embed/>
                    <p:pic>
                      <p:nvPicPr>
                        <p:cNvPr id="11303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2" y="3408"/>
                          <a:ext cx="3102" cy="718"/>
                        </a:xfrm>
                        <a:prstGeom prst="rect">
                          <a:avLst/>
                        </a:prstGeom>
                        <a:solidFill>
                          <a:srgbClr val="CCFFFF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304" name="Text Box 40"/>
            <p:cNvSpPr txBox="1">
              <a:spLocks noChangeArrowheads="1"/>
            </p:cNvSpPr>
            <p:nvPr/>
          </p:nvSpPr>
          <p:spPr bwMode="auto">
            <a:xfrm>
              <a:off x="4062" y="3612"/>
              <a:ext cx="1290" cy="327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(</a:t>
              </a:r>
              <a:r>
                <a:rPr kumimoji="1" lang="zh-CN" altLang="en-US" sz="2800">
                  <a:latin typeface="Times New Roman" panose="02020603050405020304" pitchFamily="18" charset="0"/>
                </a:rPr>
                <a:t>内插公式</a:t>
              </a:r>
              <a:r>
                <a:rPr kumimoji="1" lang="en-US" altLang="zh-CN" sz="2800">
                  <a:latin typeface="Times New Roman" panose="02020603050405020304" pitchFamily="18" charset="0"/>
                </a:rPr>
                <a:t>)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11305" name="Rectangle 41"/>
          <p:cNvSpPr>
            <a:spLocks noChangeArrowheads="1"/>
          </p:cNvSpPr>
          <p:nvPr/>
        </p:nvSpPr>
        <p:spPr bwMode="auto">
          <a:xfrm>
            <a:off x="1676400" y="925513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08" name="Rectangle 44"/>
          <p:cNvSpPr>
            <a:spLocks noChangeArrowheads="1"/>
          </p:cNvSpPr>
          <p:nvPr/>
        </p:nvSpPr>
        <p:spPr bwMode="auto">
          <a:xfrm>
            <a:off x="2324100" y="238125"/>
            <a:ext cx="7772400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/>
              <a:t>由序列</a:t>
            </a:r>
            <a:r>
              <a:rPr lang="en-US" altLang="zh-CN" sz="3200" b="1"/>
              <a:t>DFT</a:t>
            </a:r>
            <a:r>
              <a:rPr lang="zh-CN" altLang="en-US" sz="3200" b="1"/>
              <a:t>表示序列</a:t>
            </a:r>
            <a:r>
              <a:rPr lang="en-US" altLang="zh-CN" sz="3200" b="1"/>
              <a:t>z</a:t>
            </a:r>
            <a:r>
              <a:rPr lang="zh-CN" altLang="en-US" sz="3200" b="1"/>
              <a:t>变换</a:t>
            </a:r>
          </a:p>
        </p:txBody>
      </p:sp>
    </p:spTree>
    <p:extLst>
      <p:ext uri="{BB962C8B-B14F-4D97-AF65-F5344CB8AC3E}">
        <p14:creationId xmlns:p14="http://schemas.microsoft.com/office/powerpoint/2010/main" val="4071350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609600"/>
            <a:ext cx="5638800" cy="533400"/>
          </a:xfrm>
        </p:spPr>
        <p:txBody>
          <a:bodyPr/>
          <a:lstStyle/>
          <a:p>
            <a:pPr algn="l"/>
            <a:r>
              <a:rPr lang="zh-CN" altLang="en-US" sz="3600" dirty="0" smtClean="0">
                <a:solidFill>
                  <a:srgbClr val="FF3300"/>
                </a:solidFill>
              </a:rPr>
              <a:t>线性相关</a:t>
            </a:r>
            <a:r>
              <a:rPr lang="zh-CN" altLang="en-US" sz="3600" dirty="0">
                <a:solidFill>
                  <a:srgbClr val="FF3300"/>
                </a:solidFill>
              </a:rPr>
              <a:t>与圆周相关</a:t>
            </a:r>
          </a:p>
        </p:txBody>
      </p:sp>
      <p:graphicFrame>
        <p:nvGraphicFramePr>
          <p:cNvPr id="204805" name="Object 5"/>
          <p:cNvGraphicFramePr>
            <a:graphicFrameLocks noChangeAspect="1"/>
          </p:cNvGraphicFramePr>
          <p:nvPr/>
        </p:nvGraphicFramePr>
        <p:xfrm>
          <a:off x="3159125" y="2143125"/>
          <a:ext cx="37465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74" name="Equation" r:id="rId3" imgW="3746160" imgH="914400" progId="Equation.DSMT4">
                  <p:embed/>
                </p:oleObj>
              </mc:Choice>
              <mc:Fallback>
                <p:oleObj name="Equation" r:id="rId3" imgW="3746160" imgH="914400" progId="Equation.DSMT4">
                  <p:embed/>
                  <p:pic>
                    <p:nvPicPr>
                      <p:cNvPr id="20480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9125" y="2143125"/>
                        <a:ext cx="37465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06" name="Object 6"/>
          <p:cNvGraphicFramePr>
            <a:graphicFrameLocks noChangeAspect="1"/>
          </p:cNvGraphicFramePr>
          <p:nvPr/>
        </p:nvGraphicFramePr>
        <p:xfrm>
          <a:off x="6956425" y="2143125"/>
          <a:ext cx="28321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75" name="Equation" r:id="rId5" imgW="2831760" imgH="914400" progId="Equation.DSMT4">
                  <p:embed/>
                </p:oleObj>
              </mc:Choice>
              <mc:Fallback>
                <p:oleObj name="Equation" r:id="rId5" imgW="2831760" imgH="914400" progId="Equation.DSMT4">
                  <p:embed/>
                  <p:pic>
                    <p:nvPicPr>
                      <p:cNvPr id="20480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6425" y="2143125"/>
                        <a:ext cx="28321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07" name="Text Box 7"/>
          <p:cNvSpPr txBox="1">
            <a:spLocks noChangeArrowheads="1"/>
          </p:cNvSpPr>
          <p:nvPr/>
        </p:nvSpPr>
        <p:spPr bwMode="auto">
          <a:xfrm>
            <a:off x="2424113" y="1600200"/>
            <a:ext cx="223361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sz="3200" b="1"/>
              <a:t>线性相关：</a:t>
            </a:r>
            <a:endParaRPr lang="zh-CN" altLang="en-US" sz="3200" b="1">
              <a:solidFill>
                <a:srgbClr val="FFFFFF"/>
              </a:solidFill>
            </a:endParaRPr>
          </a:p>
        </p:txBody>
      </p:sp>
      <p:graphicFrame>
        <p:nvGraphicFramePr>
          <p:cNvPr id="204809" name="Object 9"/>
          <p:cNvGraphicFramePr>
            <a:graphicFrameLocks noChangeAspect="1"/>
          </p:cNvGraphicFramePr>
          <p:nvPr/>
        </p:nvGraphicFramePr>
        <p:xfrm>
          <a:off x="3260725" y="3962400"/>
          <a:ext cx="37211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76" name="Equation" r:id="rId7" imgW="3720960" imgH="914400" progId="Equation.DSMT4">
                  <p:embed/>
                </p:oleObj>
              </mc:Choice>
              <mc:Fallback>
                <p:oleObj name="Equation" r:id="rId7" imgW="3720960" imgH="914400" progId="Equation.DSMT4">
                  <p:embed/>
                  <p:pic>
                    <p:nvPicPr>
                      <p:cNvPr id="20480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0725" y="3962400"/>
                        <a:ext cx="37211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10" name="Object 10"/>
          <p:cNvGraphicFramePr>
            <a:graphicFrameLocks noChangeAspect="1"/>
          </p:cNvGraphicFramePr>
          <p:nvPr/>
        </p:nvGraphicFramePr>
        <p:xfrm>
          <a:off x="4200525" y="4953000"/>
          <a:ext cx="4216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77" name="Equation" r:id="rId9" imgW="4216320" imgH="914400" progId="Equation.DSMT4">
                  <p:embed/>
                </p:oleObj>
              </mc:Choice>
              <mc:Fallback>
                <p:oleObj name="Equation" r:id="rId9" imgW="4216320" imgH="914400" progId="Equation.DSMT4">
                  <p:embed/>
                  <p:pic>
                    <p:nvPicPr>
                      <p:cNvPr id="20481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0525" y="4953000"/>
                        <a:ext cx="42164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11" name="Text Box 11"/>
          <p:cNvSpPr txBox="1">
            <a:spLocks noChangeArrowheads="1"/>
          </p:cNvSpPr>
          <p:nvPr/>
        </p:nvSpPr>
        <p:spPr bwMode="auto">
          <a:xfrm>
            <a:off x="2209800" y="3416300"/>
            <a:ext cx="30241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/>
              <a:t>自相关函数：</a:t>
            </a:r>
          </a:p>
        </p:txBody>
      </p:sp>
    </p:spTree>
    <p:extLst>
      <p:ext uri="{BB962C8B-B14F-4D97-AF65-F5344CB8AC3E}">
        <p14:creationId xmlns:p14="http://schemas.microsoft.com/office/powerpoint/2010/main" val="1640998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4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4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04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04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7" grpId="0" autoUpdateAnimBg="0"/>
      <p:bldP spid="204811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8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9001160"/>
              </p:ext>
            </p:extLst>
          </p:nvPr>
        </p:nvGraphicFramePr>
        <p:xfrm>
          <a:off x="3035300" y="1549400"/>
          <a:ext cx="35179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89" name="Equation" r:id="rId3" imgW="3517560" imgH="507960" progId="Equation.DSMT4">
                  <p:embed/>
                </p:oleObj>
              </mc:Choice>
              <mc:Fallback>
                <p:oleObj name="Equation" r:id="rId3" imgW="3517560" imgH="507960" progId="Equation.DSMT4">
                  <p:embed/>
                  <p:pic>
                    <p:nvPicPr>
                      <p:cNvPr id="20582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5300" y="1549400"/>
                        <a:ext cx="35179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828" name="Text Box 4"/>
          <p:cNvSpPr txBox="1">
            <a:spLocks noChangeArrowheads="1"/>
          </p:cNvSpPr>
          <p:nvPr/>
        </p:nvSpPr>
        <p:spPr bwMode="auto">
          <a:xfrm>
            <a:off x="2209800" y="533400"/>
            <a:ext cx="46815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/>
              <a:t>相关函数不满足交换率：</a:t>
            </a:r>
          </a:p>
        </p:txBody>
      </p:sp>
      <p:graphicFrame>
        <p:nvGraphicFramePr>
          <p:cNvPr id="205829" name="Object 5"/>
          <p:cNvGraphicFramePr>
            <a:graphicFrameLocks noChangeAspect="1"/>
          </p:cNvGraphicFramePr>
          <p:nvPr/>
        </p:nvGraphicFramePr>
        <p:xfrm>
          <a:off x="2438400" y="2133600"/>
          <a:ext cx="4114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90" name="Equation" r:id="rId5" imgW="4114800" imgH="914400" progId="Equation.DSMT4">
                  <p:embed/>
                </p:oleObj>
              </mc:Choice>
              <mc:Fallback>
                <p:oleObj name="Equation" r:id="rId5" imgW="4114800" imgH="914400" progId="Equation.DSMT4">
                  <p:embed/>
                  <p:pic>
                    <p:nvPicPr>
                      <p:cNvPr id="20582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133600"/>
                        <a:ext cx="41148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830" name="Object 6"/>
          <p:cNvGraphicFramePr>
            <a:graphicFrameLocks noChangeAspect="1"/>
          </p:cNvGraphicFramePr>
          <p:nvPr/>
        </p:nvGraphicFramePr>
        <p:xfrm>
          <a:off x="6623050" y="2133600"/>
          <a:ext cx="2882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91" name="Equation" r:id="rId7" imgW="2882880" imgH="914400" progId="Equation.DSMT4">
                  <p:embed/>
                </p:oleObj>
              </mc:Choice>
              <mc:Fallback>
                <p:oleObj name="Equation" r:id="rId7" imgW="2882880" imgH="914400" progId="Equation.DSMT4">
                  <p:embed/>
                  <p:pic>
                    <p:nvPicPr>
                      <p:cNvPr id="20583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3050" y="2133600"/>
                        <a:ext cx="28829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831" name="Object 7"/>
          <p:cNvGraphicFramePr>
            <a:graphicFrameLocks noChangeAspect="1"/>
          </p:cNvGraphicFramePr>
          <p:nvPr/>
        </p:nvGraphicFramePr>
        <p:xfrm>
          <a:off x="3702050" y="3200400"/>
          <a:ext cx="3302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92" name="Equation" r:id="rId9" imgW="3301920" imgH="914400" progId="Equation.DSMT4">
                  <p:embed/>
                </p:oleObj>
              </mc:Choice>
              <mc:Fallback>
                <p:oleObj name="Equation" r:id="rId9" imgW="3301920" imgH="914400" progId="Equation.DSMT4">
                  <p:embed/>
                  <p:pic>
                    <p:nvPicPr>
                      <p:cNvPr id="20583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2050" y="3200400"/>
                        <a:ext cx="33020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832" name="Object 8"/>
          <p:cNvGraphicFramePr>
            <a:graphicFrameLocks noChangeAspect="1"/>
          </p:cNvGraphicFramePr>
          <p:nvPr/>
        </p:nvGraphicFramePr>
        <p:xfrm>
          <a:off x="3752850" y="4279900"/>
          <a:ext cx="378460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93" name="Equation" r:id="rId11" imgW="3784320" imgH="1054080" progId="Equation.DSMT4">
                  <p:embed/>
                </p:oleObj>
              </mc:Choice>
              <mc:Fallback>
                <p:oleObj name="Equation" r:id="rId11" imgW="3784320" imgH="1054080" progId="Equation.DSMT4">
                  <p:embed/>
                  <p:pic>
                    <p:nvPicPr>
                      <p:cNvPr id="20583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2850" y="4279900"/>
                        <a:ext cx="3784600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833" name="Object 9"/>
          <p:cNvGraphicFramePr>
            <a:graphicFrameLocks noChangeAspect="1"/>
          </p:cNvGraphicFramePr>
          <p:nvPr/>
        </p:nvGraphicFramePr>
        <p:xfrm>
          <a:off x="3778250" y="5664200"/>
          <a:ext cx="1397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94" name="Equation" r:id="rId13" imgW="1396800" imgH="507960" progId="Equation.DSMT4">
                  <p:embed/>
                </p:oleObj>
              </mc:Choice>
              <mc:Fallback>
                <p:oleObj name="Equation" r:id="rId13" imgW="1396800" imgH="507960" progId="Equation.DSMT4">
                  <p:embed/>
                  <p:pic>
                    <p:nvPicPr>
                      <p:cNvPr id="20583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8250" y="5664200"/>
                        <a:ext cx="13970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834" name="Object 10"/>
          <p:cNvGraphicFramePr>
            <a:graphicFrameLocks noChangeAspect="1"/>
          </p:cNvGraphicFramePr>
          <p:nvPr/>
        </p:nvGraphicFramePr>
        <p:xfrm>
          <a:off x="5251450" y="5486400"/>
          <a:ext cx="41021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95" name="Equation" r:id="rId15" imgW="4101840" imgH="914400" progId="Equation.DSMT4">
                  <p:embed/>
                </p:oleObj>
              </mc:Choice>
              <mc:Fallback>
                <p:oleObj name="Equation" r:id="rId15" imgW="4101840" imgH="914400" progId="Equation.DSMT4">
                  <p:embed/>
                  <p:pic>
                    <p:nvPicPr>
                      <p:cNvPr id="20583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1450" y="5486400"/>
                        <a:ext cx="41021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5976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5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5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5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5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05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05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05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/>
          <p:cNvSpPr>
            <a:spLocks noChangeArrowheads="1"/>
          </p:cNvSpPr>
          <p:nvPr/>
        </p:nvSpPr>
        <p:spPr bwMode="auto">
          <a:xfrm>
            <a:off x="1752600" y="457200"/>
            <a:ext cx="3505200" cy="706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3200" b="1">
                <a:latin typeface="Tahoma" panose="020B0604030504040204" pitchFamily="34" charset="0"/>
                <a:ea typeface="黑体" panose="02010609060101010101" pitchFamily="49" charset="-122"/>
              </a:rPr>
              <a:t>相关函数的</a:t>
            </a:r>
            <a:r>
              <a:rPr lang="en-US" altLang="zh-CN" sz="3200" b="1">
                <a:latin typeface="Tahoma" panose="020B0604030504040204" pitchFamily="34" charset="0"/>
                <a:ea typeface="黑体" panose="02010609060101010101" pitchFamily="49" charset="-122"/>
              </a:rPr>
              <a:t>z</a:t>
            </a:r>
            <a:r>
              <a:rPr lang="zh-CN" altLang="en-US" sz="3200" b="1">
                <a:latin typeface="Tahoma" panose="020B0604030504040204" pitchFamily="34" charset="0"/>
                <a:ea typeface="黑体" panose="02010609060101010101" pitchFamily="49" charset="-122"/>
              </a:rPr>
              <a:t>变换：</a:t>
            </a:r>
          </a:p>
        </p:txBody>
      </p:sp>
      <p:graphicFrame>
        <p:nvGraphicFramePr>
          <p:cNvPr id="206851" name="Object 3"/>
          <p:cNvGraphicFramePr>
            <a:graphicFrameLocks noChangeAspect="1"/>
          </p:cNvGraphicFramePr>
          <p:nvPr/>
        </p:nvGraphicFramePr>
        <p:xfrm>
          <a:off x="5562600" y="381000"/>
          <a:ext cx="29464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62" name="Equation" r:id="rId3" imgW="2946240" imgH="825480" progId="Equation.DSMT4">
                  <p:embed/>
                </p:oleObj>
              </mc:Choice>
              <mc:Fallback>
                <p:oleObj name="Equation" r:id="rId3" imgW="2946240" imgH="825480" progId="Equation.DSMT4">
                  <p:embed/>
                  <p:pic>
                    <p:nvPicPr>
                      <p:cNvPr id="20685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381000"/>
                        <a:ext cx="29464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52" name="Object 4"/>
          <p:cNvGraphicFramePr>
            <a:graphicFrameLocks noChangeAspect="1"/>
          </p:cNvGraphicFramePr>
          <p:nvPr/>
        </p:nvGraphicFramePr>
        <p:xfrm>
          <a:off x="1981200" y="1143000"/>
          <a:ext cx="3251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63" name="Equation" r:id="rId5" imgW="3251160" imgH="914400" progId="Equation.DSMT4">
                  <p:embed/>
                </p:oleObj>
              </mc:Choice>
              <mc:Fallback>
                <p:oleObj name="Equation" r:id="rId5" imgW="3251160" imgH="914400" progId="Equation.DSMT4">
                  <p:embed/>
                  <p:pic>
                    <p:nvPicPr>
                      <p:cNvPr id="20685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143000"/>
                        <a:ext cx="32512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53" name="Object 5"/>
          <p:cNvGraphicFramePr>
            <a:graphicFrameLocks noChangeAspect="1"/>
          </p:cNvGraphicFramePr>
          <p:nvPr/>
        </p:nvGraphicFramePr>
        <p:xfrm>
          <a:off x="5308600" y="1143000"/>
          <a:ext cx="3987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64" name="Equation" r:id="rId7" imgW="3987720" imgH="914400" progId="Equation.DSMT4">
                  <p:embed/>
                </p:oleObj>
              </mc:Choice>
              <mc:Fallback>
                <p:oleObj name="Equation" r:id="rId7" imgW="3987720" imgH="914400" progId="Equation.DSMT4">
                  <p:embed/>
                  <p:pic>
                    <p:nvPicPr>
                      <p:cNvPr id="20685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8600" y="1143000"/>
                        <a:ext cx="39878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54" name="Object 6"/>
          <p:cNvGraphicFramePr>
            <a:graphicFrameLocks noChangeAspect="1"/>
          </p:cNvGraphicFramePr>
          <p:nvPr/>
        </p:nvGraphicFramePr>
        <p:xfrm>
          <a:off x="2946400" y="2133600"/>
          <a:ext cx="3987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65" name="Equation" r:id="rId9" imgW="3987720" imgH="914400" progId="Equation.DSMT4">
                  <p:embed/>
                </p:oleObj>
              </mc:Choice>
              <mc:Fallback>
                <p:oleObj name="Equation" r:id="rId9" imgW="3987720" imgH="914400" progId="Equation.DSMT4">
                  <p:embed/>
                  <p:pic>
                    <p:nvPicPr>
                      <p:cNvPr id="20685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6400" y="2133600"/>
                        <a:ext cx="39878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55" name="Object 7"/>
          <p:cNvGraphicFramePr>
            <a:graphicFrameLocks noChangeAspect="1"/>
          </p:cNvGraphicFramePr>
          <p:nvPr/>
        </p:nvGraphicFramePr>
        <p:xfrm>
          <a:off x="2959100" y="3200400"/>
          <a:ext cx="35941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66" name="Equation" r:id="rId11" imgW="3593880" imgH="914400" progId="Equation.DSMT4">
                  <p:embed/>
                </p:oleObj>
              </mc:Choice>
              <mc:Fallback>
                <p:oleObj name="Equation" r:id="rId11" imgW="3593880" imgH="914400" progId="Equation.DSMT4">
                  <p:embed/>
                  <p:pic>
                    <p:nvPicPr>
                      <p:cNvPr id="20685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3200400"/>
                        <a:ext cx="35941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56" name="Object 8"/>
          <p:cNvGraphicFramePr>
            <a:graphicFrameLocks noChangeAspect="1"/>
          </p:cNvGraphicFramePr>
          <p:nvPr/>
        </p:nvGraphicFramePr>
        <p:xfrm>
          <a:off x="2971800" y="4267200"/>
          <a:ext cx="3644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67" name="Equation" r:id="rId13" imgW="3644640" imgH="914400" progId="Equation.DSMT4">
                  <p:embed/>
                </p:oleObj>
              </mc:Choice>
              <mc:Fallback>
                <p:oleObj name="Equation" r:id="rId13" imgW="3644640" imgH="914400" progId="Equation.DSMT4">
                  <p:embed/>
                  <p:pic>
                    <p:nvPicPr>
                      <p:cNvPr id="20685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4267200"/>
                        <a:ext cx="36449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57" name="Object 9"/>
          <p:cNvGraphicFramePr>
            <a:graphicFrameLocks noChangeAspect="1"/>
          </p:cNvGraphicFramePr>
          <p:nvPr/>
        </p:nvGraphicFramePr>
        <p:xfrm>
          <a:off x="6705600" y="4343400"/>
          <a:ext cx="20320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68" name="Equation" r:id="rId15" imgW="2031840" imgH="825480" progId="Equation.DSMT4">
                  <p:embed/>
                </p:oleObj>
              </mc:Choice>
              <mc:Fallback>
                <p:oleObj name="Equation" r:id="rId15" imgW="2031840" imgH="825480" progId="Equation.DSMT4">
                  <p:embed/>
                  <p:pic>
                    <p:nvPicPr>
                      <p:cNvPr id="20685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4343400"/>
                        <a:ext cx="20320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58" name="Object 10"/>
          <p:cNvGraphicFramePr>
            <a:graphicFrameLocks noChangeAspect="1"/>
          </p:cNvGraphicFramePr>
          <p:nvPr/>
        </p:nvGraphicFramePr>
        <p:xfrm>
          <a:off x="5181600" y="5486400"/>
          <a:ext cx="3759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69" name="Equation" r:id="rId17" imgW="3759120" imgH="507960" progId="Equation.DSMT4">
                  <p:embed/>
                </p:oleObj>
              </mc:Choice>
              <mc:Fallback>
                <p:oleObj name="Equation" r:id="rId17" imgW="3759120" imgH="507960" progId="Equation.DSMT4">
                  <p:embed/>
                  <p:pic>
                    <p:nvPicPr>
                      <p:cNvPr id="20685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5486400"/>
                        <a:ext cx="37592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59" name="Object 11"/>
          <p:cNvGraphicFramePr>
            <a:graphicFrameLocks noChangeAspect="1"/>
          </p:cNvGraphicFramePr>
          <p:nvPr/>
        </p:nvGraphicFramePr>
        <p:xfrm>
          <a:off x="5181600" y="6096000"/>
          <a:ext cx="27559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70" name="Equation" r:id="rId19" imgW="2755800" imgH="647640" progId="Equation.DSMT4">
                  <p:embed/>
                </p:oleObj>
              </mc:Choice>
              <mc:Fallback>
                <p:oleObj name="Equation" r:id="rId19" imgW="2755800" imgH="647640" progId="Equation.DSMT4">
                  <p:embed/>
                  <p:pic>
                    <p:nvPicPr>
                      <p:cNvPr id="20685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6096000"/>
                        <a:ext cx="27559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860" name="Rectangle 12"/>
          <p:cNvSpPr>
            <a:spLocks noChangeArrowheads="1"/>
          </p:cNvSpPr>
          <p:nvPr/>
        </p:nvSpPr>
        <p:spPr bwMode="auto">
          <a:xfrm>
            <a:off x="1905000" y="5410200"/>
            <a:ext cx="3276600" cy="74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kumimoji="1" sz="32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algn="l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/>
              <a:t>相关函数的频谱：</a:t>
            </a:r>
          </a:p>
        </p:txBody>
      </p:sp>
    </p:spTree>
    <p:extLst>
      <p:ext uri="{BB962C8B-B14F-4D97-AF65-F5344CB8AC3E}">
        <p14:creationId xmlns:p14="http://schemas.microsoft.com/office/powerpoint/2010/main" val="1604750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850" grpId="0" build="p" autoUpdateAnimBg="0"/>
      <p:bldP spid="206860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82" name="Rectangle 10"/>
          <p:cNvSpPr>
            <a:spLocks noChangeArrowheads="1"/>
          </p:cNvSpPr>
          <p:nvPr/>
        </p:nvSpPr>
        <p:spPr bwMode="auto">
          <a:xfrm>
            <a:off x="2286000" y="533401"/>
            <a:ext cx="2743200" cy="739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3200" b="1">
                <a:solidFill>
                  <a:srgbClr val="FF33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圆周相关定理</a:t>
            </a:r>
          </a:p>
        </p:txBody>
      </p:sp>
      <p:graphicFrame>
        <p:nvGraphicFramePr>
          <p:cNvPr id="207883" name="Object 11"/>
          <p:cNvGraphicFramePr>
            <a:graphicFrameLocks noChangeAspect="1"/>
          </p:cNvGraphicFramePr>
          <p:nvPr/>
        </p:nvGraphicFramePr>
        <p:xfrm>
          <a:off x="2717800" y="2286000"/>
          <a:ext cx="4216400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74" name="Equation" r:id="rId3" imgW="3759120" imgH="482400" progId="Equation.DSMT4">
                  <p:embed/>
                </p:oleObj>
              </mc:Choice>
              <mc:Fallback>
                <p:oleObj name="Equation" r:id="rId3" imgW="3759120" imgH="482400" progId="Equation.DSMT4">
                  <p:embed/>
                  <p:pic>
                    <p:nvPicPr>
                      <p:cNvPr id="20788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7800" y="2286000"/>
                        <a:ext cx="4216400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884" name="Object 12"/>
          <p:cNvGraphicFramePr>
            <a:graphicFrameLocks noChangeAspect="1"/>
          </p:cNvGraphicFramePr>
          <p:nvPr/>
        </p:nvGraphicFramePr>
        <p:xfrm>
          <a:off x="4229100" y="4273550"/>
          <a:ext cx="4305300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75" name="Equation" r:id="rId5" imgW="4000320" imgH="914400" progId="Equation.DSMT4">
                  <p:embed/>
                </p:oleObj>
              </mc:Choice>
              <mc:Fallback>
                <p:oleObj name="Equation" r:id="rId5" imgW="4000320" imgH="914400" progId="Equation.DSMT4">
                  <p:embed/>
                  <p:pic>
                    <p:nvPicPr>
                      <p:cNvPr id="20788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9100" y="4273550"/>
                        <a:ext cx="4305300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885" name="Object 13"/>
          <p:cNvGraphicFramePr>
            <a:graphicFrameLocks noChangeAspect="1"/>
          </p:cNvGraphicFramePr>
          <p:nvPr/>
        </p:nvGraphicFramePr>
        <p:xfrm>
          <a:off x="2692400" y="1403351"/>
          <a:ext cx="4241800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76" name="Equation" r:id="rId7" imgW="3555720" imgH="507960" progId="Equation.DSMT4">
                  <p:embed/>
                </p:oleObj>
              </mc:Choice>
              <mc:Fallback>
                <p:oleObj name="Equation" r:id="rId7" imgW="3555720" imgH="507960" progId="Equation.DSMT4">
                  <p:embed/>
                  <p:pic>
                    <p:nvPicPr>
                      <p:cNvPr id="20788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2400" y="1403351"/>
                        <a:ext cx="4241800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886" name="Object 14"/>
          <p:cNvGraphicFramePr>
            <a:graphicFrameLocks noChangeAspect="1"/>
          </p:cNvGraphicFramePr>
          <p:nvPr/>
        </p:nvGraphicFramePr>
        <p:xfrm>
          <a:off x="4191000" y="3033714"/>
          <a:ext cx="4495800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77" name="Equation" r:id="rId9" imgW="4089240" imgH="914400" progId="Equation.DSMT4">
                  <p:embed/>
                </p:oleObj>
              </mc:Choice>
              <mc:Fallback>
                <p:oleObj name="Equation" r:id="rId9" imgW="4089240" imgH="914400" progId="Equation.DSMT4">
                  <p:embed/>
                  <p:pic>
                    <p:nvPicPr>
                      <p:cNvPr id="207886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3033714"/>
                        <a:ext cx="4495800" cy="1004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7892" name="Group 20"/>
          <p:cNvGrpSpPr>
            <a:grpSpLocks/>
          </p:cNvGrpSpPr>
          <p:nvPr/>
        </p:nvGrpSpPr>
        <p:grpSpPr bwMode="auto">
          <a:xfrm>
            <a:off x="1752600" y="5424488"/>
            <a:ext cx="8839200" cy="1052512"/>
            <a:chOff x="192" y="3312"/>
            <a:chExt cx="5568" cy="663"/>
          </a:xfrm>
        </p:grpSpPr>
        <p:graphicFrame>
          <p:nvGraphicFramePr>
            <p:cNvPr id="207889" name="Object 17"/>
            <p:cNvGraphicFramePr>
              <a:graphicFrameLocks noChangeAspect="1"/>
            </p:cNvGraphicFramePr>
            <p:nvPr/>
          </p:nvGraphicFramePr>
          <p:xfrm>
            <a:off x="576" y="3696"/>
            <a:ext cx="1424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378" name="Equation" r:id="rId11" imgW="2260440" imgH="419040" progId="Equation.DSMT4">
                    <p:embed/>
                  </p:oleObj>
                </mc:Choice>
                <mc:Fallback>
                  <p:oleObj name="Equation" r:id="rId11" imgW="2260440" imgH="419040" progId="Equation.DSMT4">
                    <p:embed/>
                    <p:pic>
                      <p:nvPicPr>
                        <p:cNvPr id="207889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" y="3696"/>
                          <a:ext cx="1424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07891" name="Group 19"/>
            <p:cNvGrpSpPr>
              <a:grpSpLocks/>
            </p:cNvGrpSpPr>
            <p:nvPr/>
          </p:nvGrpSpPr>
          <p:grpSpPr bwMode="auto">
            <a:xfrm>
              <a:off x="192" y="3312"/>
              <a:ext cx="5568" cy="663"/>
              <a:chOff x="192" y="3312"/>
              <a:chExt cx="5568" cy="663"/>
            </a:xfrm>
          </p:grpSpPr>
          <p:sp>
            <p:nvSpPr>
              <p:cNvPr id="207888" name="Text Box 16"/>
              <p:cNvSpPr txBox="1">
                <a:spLocks noChangeArrowheads="1"/>
              </p:cNvSpPr>
              <p:nvPr/>
            </p:nvSpPr>
            <p:spPr bwMode="auto">
              <a:xfrm>
                <a:off x="192" y="3648"/>
                <a:ext cx="556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zh-CN" altLang="en-US" sz="2800" b="1">
                    <a:latin typeface="黑体" panose="02010609060101010101" pitchFamily="49" charset="-122"/>
                  </a:rPr>
                  <a:t>当              时，</a:t>
                </a:r>
                <a:r>
                  <a:rPr lang="zh-CN" altLang="en-US" sz="2800" b="1">
                    <a:solidFill>
                      <a:srgbClr val="FF3300"/>
                    </a:solidFill>
                    <a:latin typeface="黑体" panose="02010609060101010101" pitchFamily="49" charset="-122"/>
                  </a:rPr>
                  <a:t>圆周相关可完全代表线性相关</a:t>
                </a:r>
              </a:p>
            </p:txBody>
          </p:sp>
          <p:sp>
            <p:nvSpPr>
              <p:cNvPr id="207890" name="Text Box 18"/>
              <p:cNvSpPr txBox="1">
                <a:spLocks noChangeArrowheads="1"/>
              </p:cNvSpPr>
              <p:nvPr/>
            </p:nvSpPr>
            <p:spPr bwMode="auto">
              <a:xfrm>
                <a:off x="192" y="3312"/>
                <a:ext cx="458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Symbol" panose="05050102010706020507" pitchFamily="18" charset="2"/>
                  <a:buNone/>
                </a:pPr>
                <a:r>
                  <a:rPr lang="zh-CN" altLang="en-US" sz="2800" b="1">
                    <a:latin typeface="黑体" panose="02010609060101010101" pitchFamily="49" charset="-122"/>
                  </a:rPr>
                  <a:t>类似于线性卷积与圆周卷积之间的关系</a:t>
                </a:r>
                <a:endParaRPr lang="zh-CN" altLang="en-US" sz="2800" b="1">
                  <a:solidFill>
                    <a:srgbClr val="FFFFFF"/>
                  </a:solidFill>
                  <a:latin typeface="黑体" panose="02010609060101010101" pitchFamily="49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78141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8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78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7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882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2874964" y="0"/>
            <a:ext cx="7793037" cy="1143000"/>
          </a:xfrm>
        </p:spPr>
        <p:txBody>
          <a:bodyPr/>
          <a:lstStyle/>
          <a:p>
            <a:pPr eaLnBrk="1" hangingPunct="1"/>
            <a:r>
              <a:rPr lang="zh-CN" altLang="en-US" sz="4800" b="1">
                <a:latin typeface="黑体" panose="02010609060101010101" pitchFamily="49" charset="-122"/>
                <a:ea typeface="黑体" panose="02010609060101010101" pitchFamily="49" charset="-122"/>
              </a:rPr>
              <a:t>利用</a:t>
            </a:r>
            <a:r>
              <a:rPr lang="en-US" altLang="zh-CN" sz="4800" b="1">
                <a:latin typeface="黑体" panose="02010609060101010101" pitchFamily="49" charset="-122"/>
                <a:ea typeface="黑体" panose="02010609060101010101" pitchFamily="49" charset="-122"/>
              </a:rPr>
              <a:t>DFT</a:t>
            </a:r>
            <a:r>
              <a:rPr lang="zh-CN" altLang="en-US" sz="4800" b="1">
                <a:latin typeface="黑体" panose="02010609060101010101" pitchFamily="49" charset="-122"/>
                <a:ea typeface="黑体" panose="02010609060101010101" pitchFamily="49" charset="-122"/>
              </a:rPr>
              <a:t>分析信号频谱</a:t>
            </a:r>
            <a:endParaRPr lang="zh-CN" altLang="en-US" smtClean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zh-CN" altLang="en-US" smtClean="0">
                <a:latin typeface="黑体" panose="02010609060101010101" pitchFamily="49" charset="-122"/>
                <a:ea typeface="黑体" panose="02010609060101010101" pitchFamily="49" charset="-122"/>
              </a:rPr>
              <a:t>一、问题的提出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mtClean="0">
                <a:latin typeface="黑体" panose="02010609060101010101" pitchFamily="49" charset="-122"/>
                <a:ea typeface="黑体" panose="02010609060101010101" pitchFamily="49" charset="-122"/>
              </a:rPr>
              <a:t>二、四种信号频谱之间的关系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mtClean="0">
                <a:latin typeface="黑体" panose="02010609060101010101" pitchFamily="49" charset="-122"/>
                <a:ea typeface="黑体" panose="02010609060101010101" pitchFamily="49" charset="-122"/>
              </a:rPr>
              <a:t>三、利用</a:t>
            </a:r>
            <a:r>
              <a:rPr lang="en-US" altLang="zh-CN" smtClean="0">
                <a:latin typeface="黑体" panose="02010609060101010101" pitchFamily="49" charset="-122"/>
                <a:ea typeface="黑体" panose="02010609060101010101" pitchFamily="49" charset="-122"/>
              </a:rPr>
              <a:t>DFT</a:t>
            </a:r>
            <a:r>
              <a:rPr lang="zh-CN" altLang="en-US" smtClean="0">
                <a:latin typeface="黑体" panose="02010609060101010101" pitchFamily="49" charset="-122"/>
                <a:ea typeface="黑体" panose="02010609060101010101" pitchFamily="49" charset="-122"/>
              </a:rPr>
              <a:t>分析连续非周期信号频谱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mtClean="0">
                <a:latin typeface="黑体" panose="02010609060101010101" pitchFamily="49" charset="-122"/>
                <a:ea typeface="黑体" panose="02010609060101010101" pitchFamily="49" charset="-122"/>
              </a:rPr>
              <a:t>四、混叠现象、泄漏现象、栅栏现象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mtClean="0">
                <a:latin typeface="黑体" panose="02010609060101010101" pitchFamily="49" charset="-122"/>
                <a:ea typeface="黑体" panose="02010609060101010101" pitchFamily="49" charset="-122"/>
              </a:rPr>
              <a:t>五、</a:t>
            </a:r>
            <a:r>
              <a:rPr lang="en-US" altLang="zh-CN" smtClean="0">
                <a:latin typeface="黑体" panose="02010609060101010101" pitchFamily="49" charset="-122"/>
                <a:ea typeface="黑体" panose="02010609060101010101" pitchFamily="49" charset="-122"/>
              </a:rPr>
              <a:t>DFT</a:t>
            </a:r>
            <a:r>
              <a:rPr lang="zh-CN" altLang="en-US" smtClean="0">
                <a:latin typeface="黑体" panose="02010609060101010101" pitchFamily="49" charset="-122"/>
                <a:ea typeface="黑体" panose="02010609060101010101" pitchFamily="49" charset="-122"/>
              </a:rPr>
              <a:t>参数选取</a:t>
            </a:r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1676400" y="1219200"/>
            <a:ext cx="8915400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1561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58" name="Group 14"/>
          <p:cNvGrpSpPr>
            <a:grpSpLocks/>
          </p:cNvGrpSpPr>
          <p:nvPr/>
        </p:nvGrpSpPr>
        <p:grpSpPr bwMode="auto">
          <a:xfrm>
            <a:off x="3124200" y="1295400"/>
            <a:ext cx="5715000" cy="533400"/>
            <a:chOff x="1008" y="672"/>
            <a:chExt cx="3600" cy="336"/>
          </a:xfrm>
        </p:grpSpPr>
        <p:sp>
          <p:nvSpPr>
            <p:cNvPr id="3084" name="Text Box 2"/>
            <p:cNvSpPr txBox="1">
              <a:spLocks noChangeArrowheads="1"/>
            </p:cNvSpPr>
            <p:nvPr/>
          </p:nvSpPr>
          <p:spPr bwMode="auto">
            <a:xfrm>
              <a:off x="1008" y="672"/>
              <a:ext cx="360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800" b="1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1.</a:t>
              </a:r>
              <a:r>
                <a:rPr lang="zh-CN" altLang="en-US" sz="2800" b="1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连续时间非周期信号</a:t>
              </a:r>
            </a:p>
          </p:txBody>
        </p:sp>
        <p:graphicFrame>
          <p:nvGraphicFramePr>
            <p:cNvPr id="3085" name="Object 3"/>
            <p:cNvGraphicFramePr>
              <a:graphicFrameLocks noChangeAspect="1"/>
            </p:cNvGraphicFramePr>
            <p:nvPr/>
          </p:nvGraphicFramePr>
          <p:xfrm>
            <a:off x="3312" y="672"/>
            <a:ext cx="480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850" name="Equation" r:id="rId3" imgW="304536" imgH="203024" progId="Equation.3">
                    <p:embed/>
                  </p:oleObj>
                </mc:Choice>
                <mc:Fallback>
                  <p:oleObj name="Equation" r:id="rId3" imgW="304536" imgH="203024" progId="Equation.3">
                    <p:embed/>
                    <p:pic>
                      <p:nvPicPr>
                        <p:cNvPr id="3085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672"/>
                          <a:ext cx="480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157" name="Group 13"/>
          <p:cNvGrpSpPr>
            <a:grpSpLocks/>
          </p:cNvGrpSpPr>
          <p:nvPr/>
        </p:nvGrpSpPr>
        <p:grpSpPr bwMode="auto">
          <a:xfrm>
            <a:off x="3200400" y="1981200"/>
            <a:ext cx="6400800" cy="1371600"/>
            <a:chOff x="1056" y="1248"/>
            <a:chExt cx="4032" cy="864"/>
          </a:xfrm>
        </p:grpSpPr>
        <p:sp>
          <p:nvSpPr>
            <p:cNvPr id="3082" name="Oval 11"/>
            <p:cNvSpPr>
              <a:spLocks noChangeArrowheads="1"/>
            </p:cNvSpPr>
            <p:nvPr/>
          </p:nvSpPr>
          <p:spPr bwMode="auto">
            <a:xfrm>
              <a:off x="2832" y="1248"/>
              <a:ext cx="2256" cy="864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graphicFrame>
          <p:nvGraphicFramePr>
            <p:cNvPr id="3083" name="Object 4"/>
            <p:cNvGraphicFramePr>
              <a:graphicFrameLocks noChangeAspect="1"/>
            </p:cNvGraphicFramePr>
            <p:nvPr/>
          </p:nvGraphicFramePr>
          <p:xfrm>
            <a:off x="1056" y="1328"/>
            <a:ext cx="3681" cy="6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851" name="Equation" r:id="rId5" imgW="1752600" imgH="304800" progId="Equation.3">
                    <p:embed/>
                  </p:oleObj>
                </mc:Choice>
                <mc:Fallback>
                  <p:oleObj name="Equation" r:id="rId5" imgW="1752600" imgH="304800" progId="Equation.3">
                    <p:embed/>
                    <p:pic>
                      <p:nvPicPr>
                        <p:cNvPr id="3083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1328"/>
                          <a:ext cx="3681" cy="6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149" name="Object 5"/>
          <p:cNvGraphicFramePr>
            <a:graphicFrameLocks noChangeAspect="1"/>
          </p:cNvGraphicFramePr>
          <p:nvPr/>
        </p:nvGraphicFramePr>
        <p:xfrm>
          <a:off x="2438400" y="3429001"/>
          <a:ext cx="3276600" cy="227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52" r:id="rId7" imgW="1311254" imgH="897012" progId="Visio.Drawing.6">
                  <p:embed/>
                </p:oleObj>
              </mc:Choice>
              <mc:Fallback>
                <p:oleObj r:id="rId7" imgW="1311254" imgH="897012" progId="Visio.Drawing.6">
                  <p:embed/>
                  <p:pic>
                    <p:nvPicPr>
                      <p:cNvPr id="614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3429001"/>
                        <a:ext cx="3276600" cy="2271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1" name="Object 7"/>
          <p:cNvGraphicFramePr>
            <a:graphicFrameLocks noChangeAspect="1"/>
          </p:cNvGraphicFramePr>
          <p:nvPr/>
        </p:nvGraphicFramePr>
        <p:xfrm>
          <a:off x="6172200" y="3657600"/>
          <a:ext cx="3657600" cy="221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53" name="Visio" r:id="rId9" imgW="1715203" imgH="1060614" progId="Visio.Drawing.6">
                  <p:embed/>
                </p:oleObj>
              </mc:Choice>
              <mc:Fallback>
                <p:oleObj name="Visio" r:id="rId9" imgW="1715203" imgH="1060614" progId="Visio.Drawing.6">
                  <p:embed/>
                  <p:pic>
                    <p:nvPicPr>
                      <p:cNvPr id="615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3657600"/>
                        <a:ext cx="3657600" cy="2217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3" name="Text Box 9"/>
          <p:cNvSpPr txBox="1">
            <a:spLocks noChangeArrowheads="1"/>
          </p:cNvSpPr>
          <p:nvPr/>
        </p:nvSpPr>
        <p:spPr bwMode="auto">
          <a:xfrm>
            <a:off x="4038600" y="5867400"/>
            <a:ext cx="449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>
                <a:solidFill>
                  <a:prstClr val="black"/>
                </a:solidFill>
              </a:rPr>
              <a:t>图</a:t>
            </a:r>
            <a:r>
              <a:rPr lang="en-US" altLang="zh-CN">
                <a:solidFill>
                  <a:prstClr val="black"/>
                </a:solidFill>
              </a:rPr>
              <a:t>1  </a:t>
            </a:r>
            <a:r>
              <a:rPr lang="zh-CN" altLang="en-US">
                <a:solidFill>
                  <a:prstClr val="black"/>
                </a:solidFill>
                <a:latin typeface="宋体" panose="02010600030101010101" pitchFamily="2" charset="-122"/>
              </a:rPr>
              <a:t>连续非周期信号及其频谱</a:t>
            </a:r>
            <a:r>
              <a:rPr lang="zh-CN" altLang="en-US">
                <a:solidFill>
                  <a:prstClr val="black"/>
                </a:solidFill>
              </a:rPr>
              <a:t> </a:t>
            </a:r>
          </a:p>
        </p:txBody>
      </p:sp>
      <p:sp>
        <p:nvSpPr>
          <p:cNvPr id="3079" name="Rectangle 10"/>
          <p:cNvSpPr>
            <a:spLocks noChangeArrowheads="1"/>
          </p:cNvSpPr>
          <p:nvPr/>
        </p:nvSpPr>
        <p:spPr bwMode="auto">
          <a:xfrm>
            <a:off x="4267200" y="228600"/>
            <a:ext cx="3028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>
                <a:solidFill>
                  <a:srgbClr val="954F7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一、问题的提出</a:t>
            </a:r>
          </a:p>
        </p:txBody>
      </p:sp>
      <p:sp>
        <p:nvSpPr>
          <p:cNvPr id="6156" name="AutoShape 12"/>
          <p:cNvSpPr>
            <a:spLocks noChangeArrowheads="1"/>
          </p:cNvSpPr>
          <p:nvPr/>
        </p:nvSpPr>
        <p:spPr bwMode="auto">
          <a:xfrm>
            <a:off x="5562600" y="4343400"/>
            <a:ext cx="1143000" cy="457200"/>
          </a:xfrm>
          <a:prstGeom prst="rightArrow">
            <a:avLst>
              <a:gd name="adj1" fmla="val 50000"/>
              <a:gd name="adj2" fmla="val 62500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081" name="Rectangle 15"/>
          <p:cNvSpPr>
            <a:spLocks noChangeArrowheads="1"/>
          </p:cNvSpPr>
          <p:nvPr/>
        </p:nvSpPr>
        <p:spPr bwMode="auto">
          <a:xfrm>
            <a:off x="1676400" y="990600"/>
            <a:ext cx="8915400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127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3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2" name="Group 10"/>
          <p:cNvGrpSpPr>
            <a:grpSpLocks/>
          </p:cNvGrpSpPr>
          <p:nvPr/>
        </p:nvGrpSpPr>
        <p:grpSpPr bwMode="auto">
          <a:xfrm>
            <a:off x="3048000" y="228601"/>
            <a:ext cx="6096000" cy="530225"/>
            <a:chOff x="960" y="576"/>
            <a:chExt cx="3840" cy="334"/>
          </a:xfrm>
        </p:grpSpPr>
        <p:sp>
          <p:nvSpPr>
            <p:cNvPr id="4107" name="Text Box 12"/>
            <p:cNvSpPr txBox="1">
              <a:spLocks noChangeArrowheads="1"/>
            </p:cNvSpPr>
            <p:nvPr/>
          </p:nvSpPr>
          <p:spPr bwMode="auto">
            <a:xfrm>
              <a:off x="960" y="576"/>
              <a:ext cx="38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800" b="1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2. </a:t>
              </a:r>
              <a:r>
                <a:rPr lang="zh-CN" altLang="en-US" sz="2800" b="1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连续时间周期信号</a:t>
              </a:r>
            </a:p>
          </p:txBody>
        </p:sp>
        <p:graphicFrame>
          <p:nvGraphicFramePr>
            <p:cNvPr id="4108" name="Object 11"/>
            <p:cNvGraphicFramePr>
              <a:graphicFrameLocks noChangeAspect="1"/>
            </p:cNvGraphicFramePr>
            <p:nvPr/>
          </p:nvGraphicFramePr>
          <p:xfrm>
            <a:off x="3168" y="624"/>
            <a:ext cx="504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874" name="Equation" r:id="rId3" imgW="380835" imgH="215806" progId="Equation.3">
                    <p:embed/>
                  </p:oleObj>
                </mc:Choice>
                <mc:Fallback>
                  <p:oleObj name="Equation" r:id="rId3" imgW="380835" imgH="215806" progId="Equation.3">
                    <p:embed/>
                    <p:pic>
                      <p:nvPicPr>
                        <p:cNvPr id="4108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8" y="624"/>
                          <a:ext cx="504" cy="2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199" name="Group 7"/>
          <p:cNvGrpSpPr>
            <a:grpSpLocks/>
          </p:cNvGrpSpPr>
          <p:nvPr/>
        </p:nvGrpSpPr>
        <p:grpSpPr bwMode="auto">
          <a:xfrm>
            <a:off x="2667000" y="2057400"/>
            <a:ext cx="7010400" cy="1371600"/>
            <a:chOff x="720" y="1296"/>
            <a:chExt cx="4416" cy="864"/>
          </a:xfrm>
        </p:grpSpPr>
        <p:sp>
          <p:nvSpPr>
            <p:cNvPr id="4105" name="Oval 9"/>
            <p:cNvSpPr>
              <a:spLocks noChangeArrowheads="1"/>
            </p:cNvSpPr>
            <p:nvPr/>
          </p:nvSpPr>
          <p:spPr bwMode="auto">
            <a:xfrm>
              <a:off x="2640" y="1296"/>
              <a:ext cx="2496" cy="864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graphicFrame>
          <p:nvGraphicFramePr>
            <p:cNvPr id="4106" name="Object 8"/>
            <p:cNvGraphicFramePr>
              <a:graphicFrameLocks noChangeAspect="1"/>
            </p:cNvGraphicFramePr>
            <p:nvPr/>
          </p:nvGraphicFramePr>
          <p:xfrm>
            <a:off x="720" y="1344"/>
            <a:ext cx="4266" cy="7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875" name="Equation" r:id="rId5" imgW="2209800" imgH="368300" progId="Equation.3">
                    <p:embed/>
                  </p:oleObj>
                </mc:Choice>
                <mc:Fallback>
                  <p:oleObj name="Equation" r:id="rId5" imgW="2209800" imgH="368300" progId="Equation.3">
                    <p:embed/>
                    <p:pic>
                      <p:nvPicPr>
                        <p:cNvPr id="4106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1344"/>
                          <a:ext cx="4266" cy="7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197" name="Object 5"/>
          <p:cNvGraphicFramePr>
            <a:graphicFrameLocks noChangeAspect="1"/>
          </p:cNvGraphicFramePr>
          <p:nvPr/>
        </p:nvGraphicFramePr>
        <p:xfrm>
          <a:off x="1524000" y="3581400"/>
          <a:ext cx="4495800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876" name="Visio" r:id="rId7" imgW="2866920" imgH="1042618" progId="Visio.Drawing.6">
                  <p:embed/>
                </p:oleObj>
              </mc:Choice>
              <mc:Fallback>
                <p:oleObj name="Visio" r:id="rId7" imgW="2866920" imgH="1042618" progId="Visio.Drawing.6">
                  <p:embed/>
                  <p:pic>
                    <p:nvPicPr>
                      <p:cNvPr id="819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581400"/>
                        <a:ext cx="4495800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3"/>
          <p:cNvGraphicFramePr>
            <a:graphicFrameLocks noChangeAspect="1"/>
          </p:cNvGraphicFramePr>
          <p:nvPr/>
        </p:nvGraphicFramePr>
        <p:xfrm>
          <a:off x="6781800" y="3581400"/>
          <a:ext cx="3048000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877" name="Visio" r:id="rId9" imgW="1850170" imgH="1042618" progId="Visio.Drawing.6">
                  <p:embed/>
                </p:oleObj>
              </mc:Choice>
              <mc:Fallback>
                <p:oleObj name="Visio" r:id="rId9" imgW="1850170" imgH="1042618" progId="Visio.Drawing.6">
                  <p:embed/>
                  <p:pic>
                    <p:nvPicPr>
                      <p:cNvPr id="819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3581400"/>
                        <a:ext cx="3048000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4038600" y="5486400"/>
            <a:ext cx="472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>
                <a:solidFill>
                  <a:prstClr val="black"/>
                </a:solidFill>
                <a:latin typeface="宋体" panose="02010600030101010101" pitchFamily="2" charset="-122"/>
              </a:rPr>
              <a:t>图</a:t>
            </a:r>
            <a:r>
              <a:rPr lang="en-US" altLang="zh-CN">
                <a:solidFill>
                  <a:prstClr val="black"/>
                </a:solidFill>
                <a:latin typeface="宋体" panose="02010600030101010101" pitchFamily="2" charset="-122"/>
              </a:rPr>
              <a:t>2  </a:t>
            </a:r>
            <a:r>
              <a:rPr lang="zh-CN" altLang="en-US">
                <a:solidFill>
                  <a:prstClr val="black"/>
                </a:solidFill>
                <a:latin typeface="宋体" panose="02010600030101010101" pitchFamily="2" charset="-122"/>
              </a:rPr>
              <a:t>连续周期信号及其频谱</a:t>
            </a:r>
            <a:r>
              <a:rPr lang="zh-CN" altLang="en-US">
                <a:solidFill>
                  <a:prstClr val="black"/>
                </a:solidFill>
              </a:rPr>
              <a:t> </a:t>
            </a:r>
          </a:p>
        </p:txBody>
      </p:sp>
      <p:sp>
        <p:nvSpPr>
          <p:cNvPr id="8193" name="AutoShape 1"/>
          <p:cNvSpPr>
            <a:spLocks noChangeArrowheads="1"/>
          </p:cNvSpPr>
          <p:nvPr/>
        </p:nvSpPr>
        <p:spPr bwMode="auto">
          <a:xfrm>
            <a:off x="5943600" y="4114800"/>
            <a:ext cx="9144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104" name="Rectangle 0"/>
          <p:cNvSpPr>
            <a:spLocks noChangeArrowheads="1"/>
          </p:cNvSpPr>
          <p:nvPr/>
        </p:nvSpPr>
        <p:spPr bwMode="auto">
          <a:xfrm>
            <a:off x="1676400" y="990600"/>
            <a:ext cx="8915400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9808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26" name="Group 10"/>
          <p:cNvGrpSpPr>
            <a:grpSpLocks/>
          </p:cNvGrpSpPr>
          <p:nvPr/>
        </p:nvGrpSpPr>
        <p:grpSpPr bwMode="auto">
          <a:xfrm>
            <a:off x="3048000" y="228601"/>
            <a:ext cx="6096000" cy="519113"/>
            <a:chOff x="960" y="681"/>
            <a:chExt cx="3840" cy="327"/>
          </a:xfrm>
        </p:grpSpPr>
        <p:sp>
          <p:nvSpPr>
            <p:cNvPr id="5131" name="Text Box 12"/>
            <p:cNvSpPr txBox="1">
              <a:spLocks noChangeArrowheads="1"/>
            </p:cNvSpPr>
            <p:nvPr/>
          </p:nvSpPr>
          <p:spPr bwMode="auto">
            <a:xfrm>
              <a:off x="960" y="681"/>
              <a:ext cx="38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800" b="1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3.</a:t>
              </a:r>
              <a:r>
                <a:rPr lang="zh-CN" altLang="en-US" sz="2800" b="1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离散时间非周期信号</a:t>
              </a:r>
            </a:p>
          </p:txBody>
        </p:sp>
        <p:graphicFrame>
          <p:nvGraphicFramePr>
            <p:cNvPr id="5132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4868222"/>
                </p:ext>
              </p:extLst>
            </p:nvPr>
          </p:nvGraphicFramePr>
          <p:xfrm>
            <a:off x="3283" y="700"/>
            <a:ext cx="442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1899" name="Equation" r:id="rId3" imgW="291960" imgH="203040" progId="Equation.DSMT4">
                    <p:embed/>
                  </p:oleObj>
                </mc:Choice>
                <mc:Fallback>
                  <p:oleObj name="Equation" r:id="rId3" imgW="291960" imgH="203040" progId="Equation.DSMT4">
                    <p:embed/>
                    <p:pic>
                      <p:nvPicPr>
                        <p:cNvPr id="5132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3" y="700"/>
                          <a:ext cx="442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223" name="Group 7"/>
          <p:cNvGrpSpPr>
            <a:grpSpLocks/>
          </p:cNvGrpSpPr>
          <p:nvPr/>
        </p:nvGrpSpPr>
        <p:grpSpPr bwMode="auto">
          <a:xfrm>
            <a:off x="2990850" y="1657350"/>
            <a:ext cx="6457950" cy="1390650"/>
            <a:chOff x="924" y="1044"/>
            <a:chExt cx="4068" cy="876"/>
          </a:xfrm>
        </p:grpSpPr>
        <p:sp>
          <p:nvSpPr>
            <p:cNvPr id="5129" name="Oval 9"/>
            <p:cNvSpPr>
              <a:spLocks noChangeArrowheads="1"/>
            </p:cNvSpPr>
            <p:nvPr/>
          </p:nvSpPr>
          <p:spPr bwMode="auto">
            <a:xfrm>
              <a:off x="2832" y="1056"/>
              <a:ext cx="2160" cy="864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graphicFrame>
          <p:nvGraphicFramePr>
            <p:cNvPr id="5130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76651793"/>
                </p:ext>
              </p:extLst>
            </p:nvPr>
          </p:nvGraphicFramePr>
          <p:xfrm>
            <a:off x="924" y="1044"/>
            <a:ext cx="3899" cy="8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1900" name="Equation" r:id="rId5" imgW="1866600" imgH="431640" progId="Equation.DSMT4">
                    <p:embed/>
                  </p:oleObj>
                </mc:Choice>
                <mc:Fallback>
                  <p:oleObj name="Equation" r:id="rId5" imgW="1866600" imgH="431640" progId="Equation.DSMT4">
                    <p:embed/>
                    <p:pic>
                      <p:nvPicPr>
                        <p:cNvPr id="513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4" y="1044"/>
                          <a:ext cx="3899" cy="8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219" name="Object 3"/>
          <p:cNvGraphicFramePr>
            <a:graphicFrameLocks noChangeAspect="1"/>
          </p:cNvGraphicFramePr>
          <p:nvPr/>
        </p:nvGraphicFramePr>
        <p:xfrm>
          <a:off x="5791200" y="3124200"/>
          <a:ext cx="4343400" cy="212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901" name="Visio" r:id="rId7" imgW="2489013" imgH="1060614" progId="Visio.Drawing.6">
                  <p:embed/>
                </p:oleObj>
              </mc:Choice>
              <mc:Fallback>
                <p:oleObj name="Visio" r:id="rId7" imgW="2489013" imgH="1060614" progId="Visio.Drawing.6">
                  <p:embed/>
                  <p:pic>
                    <p:nvPicPr>
                      <p:cNvPr id="921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3124200"/>
                        <a:ext cx="4343400" cy="2128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4114800" y="5486400"/>
            <a:ext cx="487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>
                <a:solidFill>
                  <a:prstClr val="black"/>
                </a:solidFill>
                <a:latin typeface="宋体" panose="02010600030101010101" pitchFamily="2" charset="-122"/>
              </a:rPr>
              <a:t>图</a:t>
            </a:r>
            <a:r>
              <a:rPr lang="en-US" altLang="zh-CN">
                <a:solidFill>
                  <a:prstClr val="black"/>
                </a:solidFill>
                <a:latin typeface="宋体" panose="02010600030101010101" pitchFamily="2" charset="-122"/>
              </a:rPr>
              <a:t>3  </a:t>
            </a:r>
            <a:r>
              <a:rPr lang="zh-CN" altLang="en-US">
                <a:solidFill>
                  <a:prstClr val="black"/>
                </a:solidFill>
                <a:latin typeface="宋体" panose="02010600030101010101" pitchFamily="2" charset="-122"/>
              </a:rPr>
              <a:t>离散非周期信号及其频谱</a:t>
            </a:r>
            <a:r>
              <a:rPr lang="zh-CN" altLang="en-US">
                <a:solidFill>
                  <a:prstClr val="black"/>
                </a:solidFill>
              </a:rPr>
              <a:t> </a:t>
            </a:r>
          </a:p>
        </p:txBody>
      </p:sp>
      <p:sp>
        <p:nvSpPr>
          <p:cNvPr id="9217" name="AutoShape 1"/>
          <p:cNvSpPr>
            <a:spLocks noChangeArrowheads="1"/>
          </p:cNvSpPr>
          <p:nvPr/>
        </p:nvSpPr>
        <p:spPr bwMode="auto">
          <a:xfrm>
            <a:off x="5181600" y="3657600"/>
            <a:ext cx="9144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128" name="Rectangle 0"/>
          <p:cNvSpPr>
            <a:spLocks noChangeArrowheads="1"/>
          </p:cNvSpPr>
          <p:nvPr/>
        </p:nvSpPr>
        <p:spPr bwMode="auto">
          <a:xfrm>
            <a:off x="1676400" y="990600"/>
            <a:ext cx="8915400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24616" y="3405187"/>
            <a:ext cx="2794513" cy="184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415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70" name="Group 10"/>
          <p:cNvGrpSpPr>
            <a:grpSpLocks/>
          </p:cNvGrpSpPr>
          <p:nvPr/>
        </p:nvGrpSpPr>
        <p:grpSpPr bwMode="auto">
          <a:xfrm>
            <a:off x="3124200" y="228601"/>
            <a:ext cx="5791200" cy="588963"/>
            <a:chOff x="1008" y="729"/>
            <a:chExt cx="3648" cy="371"/>
          </a:xfrm>
        </p:grpSpPr>
        <p:sp>
          <p:nvSpPr>
            <p:cNvPr id="6155" name="Text Box 12"/>
            <p:cNvSpPr txBox="1">
              <a:spLocks noChangeArrowheads="1"/>
            </p:cNvSpPr>
            <p:nvPr/>
          </p:nvSpPr>
          <p:spPr bwMode="auto">
            <a:xfrm>
              <a:off x="1008" y="729"/>
              <a:ext cx="364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800" b="1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4.</a:t>
              </a:r>
              <a:r>
                <a:rPr lang="zh-CN" altLang="en-US" sz="2800" b="1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离散时间周期信号</a:t>
              </a:r>
            </a:p>
          </p:txBody>
        </p:sp>
        <p:graphicFrame>
          <p:nvGraphicFramePr>
            <p:cNvPr id="6156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33733215"/>
                </p:ext>
              </p:extLst>
            </p:nvPr>
          </p:nvGraphicFramePr>
          <p:xfrm>
            <a:off x="3217" y="799"/>
            <a:ext cx="432" cy="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23" name="Equation" r:id="rId3" imgW="291960" imgH="203040" progId="Equation.DSMT4">
                    <p:embed/>
                  </p:oleObj>
                </mc:Choice>
                <mc:Fallback>
                  <p:oleObj name="Equation" r:id="rId3" imgW="291960" imgH="203040" progId="Equation.DSMT4">
                    <p:embed/>
                    <p:pic>
                      <p:nvPicPr>
                        <p:cNvPr id="6156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7" y="799"/>
                          <a:ext cx="432" cy="3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967" name="Group 7"/>
          <p:cNvGrpSpPr>
            <a:grpSpLocks/>
          </p:cNvGrpSpPr>
          <p:nvPr/>
        </p:nvGrpSpPr>
        <p:grpSpPr bwMode="auto">
          <a:xfrm>
            <a:off x="2786064" y="1781176"/>
            <a:ext cx="6357938" cy="1419225"/>
            <a:chOff x="795" y="1122"/>
            <a:chExt cx="4005" cy="894"/>
          </a:xfrm>
        </p:grpSpPr>
        <p:sp>
          <p:nvSpPr>
            <p:cNvPr id="6153" name="Oval 9"/>
            <p:cNvSpPr>
              <a:spLocks noChangeArrowheads="1"/>
            </p:cNvSpPr>
            <p:nvPr/>
          </p:nvSpPr>
          <p:spPr bwMode="auto">
            <a:xfrm>
              <a:off x="2496" y="1152"/>
              <a:ext cx="2304" cy="864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graphicFrame>
          <p:nvGraphicFramePr>
            <p:cNvPr id="6154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00659972"/>
                </p:ext>
              </p:extLst>
            </p:nvPr>
          </p:nvGraphicFramePr>
          <p:xfrm>
            <a:off x="795" y="1122"/>
            <a:ext cx="3805" cy="7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24" name="Equation" r:id="rId5" imgW="1790640" imgH="444240" progId="Equation.DSMT4">
                    <p:embed/>
                  </p:oleObj>
                </mc:Choice>
                <mc:Fallback>
                  <p:oleObj name="Equation" r:id="rId5" imgW="1790640" imgH="444240" progId="Equation.DSMT4">
                    <p:embed/>
                    <p:pic>
                      <p:nvPicPr>
                        <p:cNvPr id="6154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5" y="1122"/>
                          <a:ext cx="3805" cy="7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963" name="Text Box 3"/>
          <p:cNvSpPr txBox="1">
            <a:spLocks noChangeArrowheads="1"/>
          </p:cNvSpPr>
          <p:nvPr/>
        </p:nvSpPr>
        <p:spPr bwMode="auto">
          <a:xfrm>
            <a:off x="4343400" y="5410200"/>
            <a:ext cx="518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>
                <a:solidFill>
                  <a:prstClr val="black"/>
                </a:solidFill>
                <a:latin typeface="宋体" panose="02010600030101010101" pitchFamily="2" charset="-122"/>
              </a:rPr>
              <a:t>图</a:t>
            </a:r>
            <a:r>
              <a:rPr lang="en-US" altLang="zh-CN">
                <a:solidFill>
                  <a:prstClr val="black"/>
                </a:solidFill>
                <a:latin typeface="宋体" panose="02010600030101010101" pitchFamily="2" charset="-122"/>
              </a:rPr>
              <a:t>4  </a:t>
            </a:r>
            <a:r>
              <a:rPr lang="zh-CN" altLang="en-US">
                <a:solidFill>
                  <a:prstClr val="black"/>
                </a:solidFill>
                <a:latin typeface="宋体" panose="02010600030101010101" pitchFamily="2" charset="-122"/>
              </a:rPr>
              <a:t>离散周期信号及其频谱</a:t>
            </a:r>
            <a:r>
              <a:rPr lang="zh-CN" altLang="en-US">
                <a:solidFill>
                  <a:prstClr val="black"/>
                </a:solidFill>
              </a:rPr>
              <a:t> </a:t>
            </a:r>
          </a:p>
        </p:txBody>
      </p:sp>
      <p:sp>
        <p:nvSpPr>
          <p:cNvPr id="40961" name="AutoShape 1"/>
          <p:cNvSpPr>
            <a:spLocks noChangeArrowheads="1"/>
          </p:cNvSpPr>
          <p:nvPr/>
        </p:nvSpPr>
        <p:spPr bwMode="auto">
          <a:xfrm>
            <a:off x="5638800" y="3352800"/>
            <a:ext cx="9144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152" name="Rectangle 0"/>
          <p:cNvSpPr>
            <a:spLocks noChangeArrowheads="1"/>
          </p:cNvSpPr>
          <p:nvPr/>
        </p:nvSpPr>
        <p:spPr bwMode="auto">
          <a:xfrm>
            <a:off x="1676400" y="990600"/>
            <a:ext cx="8915400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6400" y="3248026"/>
            <a:ext cx="3829015" cy="1885422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41583" y="3139293"/>
            <a:ext cx="4256617" cy="2132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896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8"/>
          <p:cNvSpPr txBox="1">
            <a:spLocks noChangeArrowheads="1"/>
          </p:cNvSpPr>
          <p:nvPr/>
        </p:nvSpPr>
        <p:spPr bwMode="auto">
          <a:xfrm>
            <a:off x="2362200" y="304801"/>
            <a:ext cx="3200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prstClr val="black"/>
                </a:solidFill>
                <a:ea typeface="黑体" panose="02010609060101010101" pitchFamily="49" charset="-122"/>
              </a:rPr>
              <a:t>问题提出</a:t>
            </a:r>
            <a:r>
              <a:rPr lang="zh-CN" altLang="en-US" sz="2800">
                <a:solidFill>
                  <a:prstClr val="black"/>
                </a:solidFill>
              </a:rPr>
              <a:t>：</a:t>
            </a:r>
          </a:p>
        </p:txBody>
      </p:sp>
      <p:sp>
        <p:nvSpPr>
          <p:cNvPr id="10247" name="Text Box 7"/>
          <p:cNvSpPr txBox="1">
            <a:spLocks noChangeArrowheads="1"/>
          </p:cNvSpPr>
          <p:nvPr/>
        </p:nvSpPr>
        <p:spPr bwMode="auto">
          <a:xfrm>
            <a:off x="4267200" y="319088"/>
            <a:ext cx="5943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563C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如何利用数字方法分析信号的频谱？</a:t>
            </a:r>
          </a:p>
        </p:txBody>
      </p:sp>
      <p:graphicFrame>
        <p:nvGraphicFramePr>
          <p:cNvPr id="10246" name="Object 6"/>
          <p:cNvGraphicFramePr>
            <a:graphicFrameLocks noChangeAspect="1"/>
          </p:cNvGraphicFramePr>
          <p:nvPr/>
        </p:nvGraphicFramePr>
        <p:xfrm>
          <a:off x="3200400" y="1066800"/>
          <a:ext cx="5843588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50" name="Equation" r:id="rId3" imgW="1752600" imgH="304800" progId="Equation.3">
                  <p:embed/>
                </p:oleObj>
              </mc:Choice>
              <mc:Fallback>
                <p:oleObj name="Equation" r:id="rId3" imgW="1752600" imgH="304800" progId="Equation.3">
                  <p:embed/>
                  <p:pic>
                    <p:nvPicPr>
                      <p:cNvPr id="1024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1066800"/>
                        <a:ext cx="5843588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5" name="Object 5"/>
          <p:cNvGraphicFramePr>
            <a:graphicFrameLocks noChangeAspect="1"/>
          </p:cNvGraphicFramePr>
          <p:nvPr/>
        </p:nvGraphicFramePr>
        <p:xfrm>
          <a:off x="3124201" y="2133601"/>
          <a:ext cx="6772275" cy="1128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51" name="Equation" r:id="rId5" imgW="2209800" imgH="368300" progId="Equation.3">
                  <p:embed/>
                </p:oleObj>
              </mc:Choice>
              <mc:Fallback>
                <p:oleObj name="Equation" r:id="rId5" imgW="2209800" imgH="368300" progId="Equation.3">
                  <p:embed/>
                  <p:pic>
                    <p:nvPicPr>
                      <p:cNvPr id="1024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1" y="2133601"/>
                        <a:ext cx="6772275" cy="1128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8937862"/>
              </p:ext>
            </p:extLst>
          </p:nvPr>
        </p:nvGraphicFramePr>
        <p:xfrm>
          <a:off x="3200400" y="3337719"/>
          <a:ext cx="6189663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52" name="Equation" r:id="rId7" imgW="1866600" imgH="431640" progId="Equation.DSMT4">
                  <p:embed/>
                </p:oleObj>
              </mc:Choice>
              <mc:Fallback>
                <p:oleObj name="Equation" r:id="rId7" imgW="1866600" imgH="431640" progId="Equation.DSMT4">
                  <p:embed/>
                  <p:pic>
                    <p:nvPicPr>
                      <p:cNvPr id="102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3337719"/>
                        <a:ext cx="6189663" cy="1368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41" name="Group 1"/>
          <p:cNvGrpSpPr>
            <a:grpSpLocks/>
          </p:cNvGrpSpPr>
          <p:nvPr/>
        </p:nvGrpSpPr>
        <p:grpSpPr bwMode="auto">
          <a:xfrm>
            <a:off x="3321050" y="4781550"/>
            <a:ext cx="6203949" cy="1390650"/>
            <a:chOff x="1132" y="3444"/>
            <a:chExt cx="3908" cy="876"/>
          </a:xfrm>
        </p:grpSpPr>
        <p:sp>
          <p:nvSpPr>
            <p:cNvPr id="7177" name="Oval 3"/>
            <p:cNvSpPr>
              <a:spLocks noChangeArrowheads="1"/>
            </p:cNvSpPr>
            <p:nvPr/>
          </p:nvSpPr>
          <p:spPr bwMode="auto">
            <a:xfrm>
              <a:off x="2736" y="3456"/>
              <a:ext cx="2304" cy="864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graphicFrame>
          <p:nvGraphicFramePr>
            <p:cNvPr id="7178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62164400"/>
                </p:ext>
              </p:extLst>
            </p:nvPr>
          </p:nvGraphicFramePr>
          <p:xfrm>
            <a:off x="1132" y="3444"/>
            <a:ext cx="3778" cy="7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953" name="Equation" r:id="rId9" imgW="1777680" imgH="444240" progId="Equation.DSMT4">
                    <p:embed/>
                  </p:oleObj>
                </mc:Choice>
                <mc:Fallback>
                  <p:oleObj name="Equation" r:id="rId9" imgW="1777680" imgH="444240" progId="Equation.DSMT4">
                    <p:embed/>
                    <p:pic>
                      <p:nvPicPr>
                        <p:cNvPr id="7178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32" y="3444"/>
                          <a:ext cx="3778" cy="7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176" name="Rectangle 0"/>
          <p:cNvSpPr>
            <a:spLocks noChangeArrowheads="1"/>
          </p:cNvSpPr>
          <p:nvPr/>
        </p:nvSpPr>
        <p:spPr bwMode="auto">
          <a:xfrm>
            <a:off x="1676400" y="990600"/>
            <a:ext cx="8915400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1355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0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7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9"/>
          <p:cNvSpPr txBox="1">
            <a:spLocks noChangeArrowheads="1"/>
          </p:cNvSpPr>
          <p:nvPr/>
        </p:nvSpPr>
        <p:spPr bwMode="auto">
          <a:xfrm>
            <a:off x="3505200" y="228600"/>
            <a:ext cx="480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prstClr val="black"/>
                </a:solidFill>
              </a:rPr>
              <a:t>有限长序列       的傅立叶变换</a:t>
            </a:r>
            <a:r>
              <a:rPr lang="en-US" altLang="zh-CN" b="1">
                <a:solidFill>
                  <a:prstClr val="black"/>
                </a:solidFill>
              </a:rPr>
              <a:t>DFT.</a:t>
            </a:r>
          </a:p>
        </p:txBody>
      </p:sp>
      <p:graphicFrame>
        <p:nvGraphicFramePr>
          <p:cNvPr id="819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8471896"/>
              </p:ext>
            </p:extLst>
          </p:nvPr>
        </p:nvGraphicFramePr>
        <p:xfrm>
          <a:off x="5135563" y="215900"/>
          <a:ext cx="604837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74" name="Equation" r:id="rId3" imgW="380880" imgH="228600" progId="Equation.DSMT4">
                  <p:embed/>
                </p:oleObj>
              </mc:Choice>
              <mc:Fallback>
                <p:oleObj name="Equation" r:id="rId3" imgW="380880" imgH="228600" progId="Equation.DSMT4">
                  <p:embed/>
                  <p:pic>
                    <p:nvPicPr>
                      <p:cNvPr id="8195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5563" y="215900"/>
                        <a:ext cx="604837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269" name="Group 5"/>
          <p:cNvGrpSpPr>
            <a:grpSpLocks/>
          </p:cNvGrpSpPr>
          <p:nvPr/>
        </p:nvGrpSpPr>
        <p:grpSpPr bwMode="auto">
          <a:xfrm>
            <a:off x="3224213" y="1371600"/>
            <a:ext cx="5995988" cy="1600200"/>
            <a:chOff x="1071" y="1152"/>
            <a:chExt cx="3777" cy="1008"/>
          </a:xfrm>
        </p:grpSpPr>
        <p:sp>
          <p:nvSpPr>
            <p:cNvPr id="8202" name="Oval 7"/>
            <p:cNvSpPr>
              <a:spLocks noChangeArrowheads="1"/>
            </p:cNvSpPr>
            <p:nvPr/>
          </p:nvSpPr>
          <p:spPr bwMode="auto">
            <a:xfrm>
              <a:off x="2736" y="1152"/>
              <a:ext cx="2112" cy="1008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graphicFrame>
          <p:nvGraphicFramePr>
            <p:cNvPr id="8203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4674044"/>
                </p:ext>
              </p:extLst>
            </p:nvPr>
          </p:nvGraphicFramePr>
          <p:xfrm>
            <a:off x="1071" y="1296"/>
            <a:ext cx="3531" cy="7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975" name="Equation" r:id="rId5" imgW="2019240" imgH="444240" progId="Equation.DSMT4">
                    <p:embed/>
                  </p:oleObj>
                </mc:Choice>
                <mc:Fallback>
                  <p:oleObj name="Equation" r:id="rId5" imgW="2019240" imgH="444240" progId="Equation.DSMT4">
                    <p:embed/>
                    <p:pic>
                      <p:nvPicPr>
                        <p:cNvPr id="8203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71" y="1296"/>
                          <a:ext cx="3531" cy="7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3505200" y="5486401"/>
            <a:ext cx="5715000" cy="519113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800" b="1">
                <a:solidFill>
                  <a:prstClr val="black"/>
                </a:solidFill>
              </a:rPr>
              <a:t>DFT</a:t>
            </a:r>
            <a:r>
              <a:rPr lang="zh-CN" altLang="en-US" sz="2800" b="1">
                <a:solidFill>
                  <a:prstClr val="black"/>
                </a:solidFill>
              </a:rPr>
              <a:t>可以直接计算周期序列的</a:t>
            </a:r>
            <a:r>
              <a:rPr lang="en-US" altLang="zh-CN" sz="2800" b="1">
                <a:solidFill>
                  <a:prstClr val="black"/>
                </a:solidFill>
              </a:rPr>
              <a:t>DFS</a:t>
            </a:r>
          </a:p>
        </p:txBody>
      </p:sp>
      <p:sp>
        <p:nvSpPr>
          <p:cNvPr id="11265" name="AutoShape 1"/>
          <p:cNvSpPr>
            <a:spLocks noChangeArrowheads="1"/>
          </p:cNvSpPr>
          <p:nvPr/>
        </p:nvSpPr>
        <p:spPr bwMode="auto">
          <a:xfrm>
            <a:off x="5486400" y="3352800"/>
            <a:ext cx="9144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8201" name="Rectangle 0"/>
          <p:cNvSpPr>
            <a:spLocks noChangeArrowheads="1"/>
          </p:cNvSpPr>
          <p:nvPr/>
        </p:nvSpPr>
        <p:spPr bwMode="auto">
          <a:xfrm>
            <a:off x="1676400" y="990600"/>
            <a:ext cx="8915400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15469" y="3062288"/>
            <a:ext cx="3379461" cy="2269067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10375" y="3001246"/>
            <a:ext cx="3904192" cy="2455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131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 animBg="1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6" name="Text Box 8"/>
          <p:cNvSpPr txBox="1">
            <a:spLocks noChangeArrowheads="1"/>
          </p:cNvSpPr>
          <p:nvPr/>
        </p:nvSpPr>
        <p:spPr bwMode="auto">
          <a:xfrm>
            <a:off x="3048000" y="228601"/>
            <a:ext cx="6705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563C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可否利用</a:t>
            </a:r>
            <a:r>
              <a:rPr lang="en-US" altLang="zh-CN" sz="2800" b="1">
                <a:solidFill>
                  <a:srgbClr val="0563C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DFT</a:t>
            </a:r>
            <a:r>
              <a:rPr lang="zh-CN" altLang="en-US" sz="2800" b="1">
                <a:solidFill>
                  <a:srgbClr val="0563C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分析以上四种信号的频谱？</a:t>
            </a:r>
          </a:p>
        </p:txBody>
      </p:sp>
      <p:sp>
        <p:nvSpPr>
          <p:cNvPr id="12295" name="Text Box 7"/>
          <p:cNvSpPr txBox="1">
            <a:spLocks noChangeArrowheads="1"/>
          </p:cNvSpPr>
          <p:nvPr/>
        </p:nvSpPr>
        <p:spPr bwMode="auto">
          <a:xfrm>
            <a:off x="2286000" y="1600200"/>
            <a:ext cx="7620000" cy="201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800">
                <a:solidFill>
                  <a:srgbClr val="0563C1"/>
                </a:solidFill>
                <a:ea typeface="黑体" panose="02010609060101010101" pitchFamily="49" charset="-122"/>
              </a:rPr>
              <a:t>                         </a:t>
            </a:r>
            <a:r>
              <a:rPr lang="zh-CN" altLang="en-US" sz="2800">
                <a:solidFill>
                  <a:srgbClr val="0563C1"/>
                </a:solidFill>
                <a:ea typeface="黑体" panose="02010609060101010101" pitchFamily="49" charset="-122"/>
              </a:rPr>
              <a:t>基本原理</a:t>
            </a:r>
            <a:r>
              <a:rPr lang="zh-CN" altLang="en-US" sz="2800">
                <a:solidFill>
                  <a:prstClr val="black"/>
                </a:solidFill>
                <a:ea typeface="黑体" panose="02010609060101010101" pitchFamily="49" charset="-122"/>
              </a:rPr>
              <a:t> 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>
                <a:solidFill>
                  <a:prstClr val="black"/>
                </a:solidFill>
                <a:ea typeface="黑体" panose="02010609060101010101" pitchFamily="49" charset="-122"/>
              </a:rPr>
              <a:t>     利用信号傅立叶变换具有的信号</a:t>
            </a:r>
            <a:r>
              <a:rPr lang="zh-CN" altLang="en-US" sz="2800" b="1">
                <a:solidFill>
                  <a:srgbClr val="954F72"/>
                </a:solidFill>
                <a:ea typeface="黑体" panose="02010609060101010101" pitchFamily="49" charset="-122"/>
              </a:rPr>
              <a:t>时域</a:t>
            </a:r>
            <a:r>
              <a:rPr lang="zh-CN" altLang="en-US" sz="2800">
                <a:solidFill>
                  <a:prstClr val="black"/>
                </a:solidFill>
                <a:ea typeface="黑体" panose="02010609060101010101" pitchFamily="49" charset="-122"/>
              </a:rPr>
              <a:t>与</a:t>
            </a:r>
            <a:r>
              <a:rPr lang="zh-CN" altLang="en-US" sz="2800" b="1">
                <a:solidFill>
                  <a:srgbClr val="0563C1"/>
                </a:solidFill>
                <a:ea typeface="黑体" panose="02010609060101010101" pitchFamily="49" charset="-122"/>
              </a:rPr>
              <a:t>频域</a:t>
            </a:r>
            <a:r>
              <a:rPr lang="zh-CN" altLang="en-US" sz="2800">
                <a:solidFill>
                  <a:prstClr val="black"/>
                </a:solidFill>
                <a:ea typeface="黑体" panose="02010609060101010101" pitchFamily="49" charset="-122"/>
              </a:rPr>
              <a:t>之间的对应关系，建立信号的</a:t>
            </a:r>
            <a:r>
              <a:rPr lang="en-US" altLang="zh-CN" sz="2800">
                <a:solidFill>
                  <a:prstClr val="black"/>
                </a:solidFill>
                <a:ea typeface="黑体" panose="02010609060101010101" pitchFamily="49" charset="-122"/>
              </a:rPr>
              <a:t>DFT</a:t>
            </a:r>
            <a:r>
              <a:rPr lang="zh-CN" altLang="en-US" sz="2800">
                <a:solidFill>
                  <a:prstClr val="black"/>
                </a:solidFill>
                <a:ea typeface="黑体" panose="02010609060101010101" pitchFamily="49" charset="-122"/>
              </a:rPr>
              <a:t>与四种信号频谱之间的关系。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590800" y="4038601"/>
            <a:ext cx="2362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954F7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时域</a:t>
            </a:r>
            <a:r>
              <a:rPr lang="zh-CN" altLang="en-US" sz="2800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的离散化</a:t>
            </a:r>
            <a:endParaRPr lang="zh-CN" altLang="en-US" sz="280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2590800" y="5105401"/>
            <a:ext cx="2667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954F7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时域</a:t>
            </a:r>
            <a:r>
              <a:rPr lang="zh-CN" altLang="en-US" sz="2800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的周期化</a:t>
            </a:r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6858000" y="3962401"/>
            <a:ext cx="2438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563C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频域</a:t>
            </a:r>
            <a:r>
              <a:rPr lang="zh-CN" altLang="en-US" sz="2800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周期化</a:t>
            </a:r>
            <a:endParaRPr lang="zh-CN" altLang="en-US" sz="280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6934200" y="5105401"/>
            <a:ext cx="2895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563C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频域</a:t>
            </a:r>
            <a:r>
              <a:rPr lang="zh-CN" altLang="en-US" sz="2800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离散化</a:t>
            </a:r>
          </a:p>
        </p:txBody>
      </p:sp>
      <p:sp>
        <p:nvSpPr>
          <p:cNvPr id="12290" name="AutoShape 2"/>
          <p:cNvSpPr>
            <a:spLocks noChangeArrowheads="1"/>
          </p:cNvSpPr>
          <p:nvPr/>
        </p:nvSpPr>
        <p:spPr bwMode="auto">
          <a:xfrm>
            <a:off x="5334000" y="4038600"/>
            <a:ext cx="1143000" cy="533400"/>
          </a:xfrm>
          <a:prstGeom prst="rightArrow">
            <a:avLst>
              <a:gd name="adj1" fmla="val 50000"/>
              <a:gd name="adj2" fmla="val 53571"/>
            </a:avLst>
          </a:prstGeom>
          <a:solidFill>
            <a:srgbClr val="3333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2289" name="AutoShape 1"/>
          <p:cNvSpPr>
            <a:spLocks noChangeArrowheads="1"/>
          </p:cNvSpPr>
          <p:nvPr/>
        </p:nvSpPr>
        <p:spPr bwMode="auto">
          <a:xfrm>
            <a:off x="5334000" y="5105400"/>
            <a:ext cx="1143000" cy="533400"/>
          </a:xfrm>
          <a:prstGeom prst="rightArrow">
            <a:avLst>
              <a:gd name="adj1" fmla="val 50000"/>
              <a:gd name="adj2" fmla="val 53571"/>
            </a:avLst>
          </a:prstGeom>
          <a:solidFill>
            <a:srgbClr val="3333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9226" name="Rectangle 0"/>
          <p:cNvSpPr>
            <a:spLocks noChangeArrowheads="1"/>
          </p:cNvSpPr>
          <p:nvPr/>
        </p:nvSpPr>
        <p:spPr bwMode="auto">
          <a:xfrm>
            <a:off x="1676400" y="990600"/>
            <a:ext cx="8915400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7871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6" grpId="0" autoUpdateAnimBg="0"/>
      <p:bldP spid="12295" grpId="0" autoUpdateAnimBg="0"/>
      <p:bldP spid="12294" grpId="0" autoUpdateAnimBg="0"/>
      <p:bldP spid="12293" grpId="0" autoUpdateAnimBg="0"/>
      <p:bldP spid="12292" grpId="0" autoUpdateAnimBg="0"/>
      <p:bldP spid="12291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33" name="Object 21"/>
          <p:cNvGraphicFramePr>
            <a:graphicFrameLocks noChangeAspect="1"/>
          </p:cNvGraphicFramePr>
          <p:nvPr/>
        </p:nvGraphicFramePr>
        <p:xfrm>
          <a:off x="3429000" y="1819275"/>
          <a:ext cx="14478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39" r:id="rId3" imgW="1311254" imgH="897012" progId="Visio.Drawing.6">
                  <p:embed/>
                </p:oleObj>
              </mc:Choice>
              <mc:Fallback>
                <p:oleObj r:id="rId3" imgW="1311254" imgH="897012" progId="Visio.Drawing.6">
                  <p:embed/>
                  <p:pic>
                    <p:nvPicPr>
                      <p:cNvPr id="13333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819275"/>
                        <a:ext cx="1447800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2" name="Object 20"/>
          <p:cNvGraphicFramePr>
            <a:graphicFrameLocks noChangeAspect="1"/>
          </p:cNvGraphicFramePr>
          <p:nvPr/>
        </p:nvGraphicFramePr>
        <p:xfrm>
          <a:off x="7543800" y="1752600"/>
          <a:ext cx="175260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40" name="Visio" r:id="rId5" imgW="1715203" imgH="1060614" progId="Visio.Drawing.6">
                  <p:embed/>
                </p:oleObj>
              </mc:Choice>
              <mc:Fallback>
                <p:oleObj name="Visio" r:id="rId5" imgW="1715203" imgH="1060614" progId="Visio.Drawing.6">
                  <p:embed/>
                  <p:pic>
                    <p:nvPicPr>
                      <p:cNvPr id="13332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1752600"/>
                        <a:ext cx="1752600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1" name="Object 19"/>
          <p:cNvGraphicFramePr>
            <a:graphicFrameLocks noChangeAspect="1"/>
          </p:cNvGraphicFramePr>
          <p:nvPr/>
        </p:nvGraphicFramePr>
        <p:xfrm>
          <a:off x="2590801" y="2924175"/>
          <a:ext cx="3076575" cy="1011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41" r:id="rId7" imgW="2698246" imgH="881706" progId="Visio.Drawing.6">
                  <p:embed/>
                </p:oleObj>
              </mc:Choice>
              <mc:Fallback>
                <p:oleObj r:id="rId7" imgW="2698246" imgH="881706" progId="Visio.Drawing.6">
                  <p:embed/>
                  <p:pic>
                    <p:nvPicPr>
                      <p:cNvPr id="13331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1" y="2924175"/>
                        <a:ext cx="3076575" cy="1011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7" name="Text Box 16"/>
          <p:cNvSpPr txBox="1">
            <a:spLocks noChangeArrowheads="1"/>
          </p:cNvSpPr>
          <p:nvPr/>
        </p:nvSpPr>
        <p:spPr bwMode="auto">
          <a:xfrm>
            <a:off x="2971800" y="381001"/>
            <a:ext cx="6096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>
                <a:solidFill>
                  <a:srgbClr val="954F7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二、四种信号的时域与频域对应关系</a:t>
            </a:r>
            <a:r>
              <a:rPr lang="zh-CN" altLang="en-US">
                <a:solidFill>
                  <a:prstClr val="black"/>
                </a:solidFill>
              </a:rPr>
              <a:t> </a:t>
            </a:r>
          </a:p>
        </p:txBody>
      </p:sp>
      <p:graphicFrame>
        <p:nvGraphicFramePr>
          <p:cNvPr id="13327" name="Object 15"/>
          <p:cNvGraphicFramePr>
            <a:graphicFrameLocks noChangeAspect="1"/>
          </p:cNvGraphicFramePr>
          <p:nvPr/>
        </p:nvGraphicFramePr>
        <p:xfrm>
          <a:off x="7010400" y="3810000"/>
          <a:ext cx="2590800" cy="1214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42" name="Visio" r:id="rId9" imgW="2489013" imgH="1060614" progId="Visio.Drawing.6">
                  <p:embed/>
                </p:oleObj>
              </mc:Choice>
              <mc:Fallback>
                <p:oleObj name="Visio" r:id="rId9" imgW="2489013" imgH="1060614" progId="Visio.Drawing.6">
                  <p:embed/>
                  <p:pic>
                    <p:nvPicPr>
                      <p:cNvPr id="13327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3810000"/>
                        <a:ext cx="2590800" cy="1214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5" name="Object 13"/>
          <p:cNvGraphicFramePr>
            <a:graphicFrameLocks noChangeAspect="1"/>
          </p:cNvGraphicFramePr>
          <p:nvPr/>
        </p:nvGraphicFramePr>
        <p:xfrm>
          <a:off x="7467600" y="2743200"/>
          <a:ext cx="17526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43" name="Visio" r:id="rId11" imgW="1850170" imgH="1042618" progId="Visio.Drawing.6">
                  <p:embed/>
                </p:oleObj>
              </mc:Choice>
              <mc:Fallback>
                <p:oleObj name="Visio" r:id="rId11" imgW="1850170" imgH="1042618" progId="Visio.Drawing.6">
                  <p:embed/>
                  <p:pic>
                    <p:nvPicPr>
                      <p:cNvPr id="1332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2743200"/>
                        <a:ext cx="175260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322" name="Group 10"/>
          <p:cNvGrpSpPr>
            <a:grpSpLocks/>
          </p:cNvGrpSpPr>
          <p:nvPr/>
        </p:nvGrpSpPr>
        <p:grpSpPr bwMode="auto">
          <a:xfrm>
            <a:off x="5791200" y="1971676"/>
            <a:ext cx="1219200" cy="771525"/>
            <a:chOff x="2688" y="1242"/>
            <a:chExt cx="768" cy="486"/>
          </a:xfrm>
        </p:grpSpPr>
        <p:sp>
          <p:nvSpPr>
            <p:cNvPr id="10262" name="Text Box 12"/>
            <p:cNvSpPr txBox="1">
              <a:spLocks noChangeArrowheads="1"/>
            </p:cNvSpPr>
            <p:nvPr/>
          </p:nvSpPr>
          <p:spPr bwMode="auto">
            <a:xfrm>
              <a:off x="2784" y="1242"/>
              <a:ext cx="6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000">
                  <a:solidFill>
                    <a:prstClr val="black"/>
                  </a:solidFill>
                </a:rPr>
                <a:t>FT</a:t>
              </a:r>
            </a:p>
          </p:txBody>
        </p:sp>
        <p:sp>
          <p:nvSpPr>
            <p:cNvPr id="10263" name="AutoShape 11"/>
            <p:cNvSpPr>
              <a:spLocks noChangeArrowheads="1"/>
            </p:cNvSpPr>
            <p:nvPr/>
          </p:nvSpPr>
          <p:spPr bwMode="auto">
            <a:xfrm>
              <a:off x="2688" y="1440"/>
              <a:ext cx="576" cy="288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3319" name="Group 7"/>
          <p:cNvGrpSpPr>
            <a:grpSpLocks/>
          </p:cNvGrpSpPr>
          <p:nvPr/>
        </p:nvGrpSpPr>
        <p:grpSpPr bwMode="auto">
          <a:xfrm>
            <a:off x="5791200" y="3032126"/>
            <a:ext cx="1143000" cy="777875"/>
            <a:chOff x="2688" y="1910"/>
            <a:chExt cx="720" cy="490"/>
          </a:xfrm>
        </p:grpSpPr>
        <p:sp>
          <p:nvSpPr>
            <p:cNvPr id="10260" name="Text Box 9"/>
            <p:cNvSpPr txBox="1">
              <a:spLocks noChangeArrowheads="1"/>
            </p:cNvSpPr>
            <p:nvPr/>
          </p:nvSpPr>
          <p:spPr bwMode="auto">
            <a:xfrm>
              <a:off x="2784" y="1910"/>
              <a:ext cx="62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000">
                  <a:solidFill>
                    <a:prstClr val="black"/>
                  </a:solidFill>
                </a:rPr>
                <a:t>FS</a:t>
              </a:r>
            </a:p>
          </p:txBody>
        </p:sp>
        <p:sp>
          <p:nvSpPr>
            <p:cNvPr id="10261" name="AutoShape 8"/>
            <p:cNvSpPr>
              <a:spLocks noChangeArrowheads="1"/>
            </p:cNvSpPr>
            <p:nvPr/>
          </p:nvSpPr>
          <p:spPr bwMode="auto">
            <a:xfrm>
              <a:off x="2688" y="2112"/>
              <a:ext cx="576" cy="288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3316" name="Group 4"/>
          <p:cNvGrpSpPr>
            <a:grpSpLocks/>
          </p:cNvGrpSpPr>
          <p:nvPr/>
        </p:nvGrpSpPr>
        <p:grpSpPr bwMode="auto">
          <a:xfrm>
            <a:off x="5715000" y="4343400"/>
            <a:ext cx="1066800" cy="685800"/>
            <a:chOff x="2640" y="2736"/>
            <a:chExt cx="672" cy="432"/>
          </a:xfrm>
        </p:grpSpPr>
        <p:sp>
          <p:nvSpPr>
            <p:cNvPr id="10258" name="Text Box 6"/>
            <p:cNvSpPr txBox="1">
              <a:spLocks noChangeArrowheads="1"/>
            </p:cNvSpPr>
            <p:nvPr/>
          </p:nvSpPr>
          <p:spPr bwMode="auto">
            <a:xfrm>
              <a:off x="2640" y="2736"/>
              <a:ext cx="6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000">
                  <a:solidFill>
                    <a:prstClr val="black"/>
                  </a:solidFill>
                </a:rPr>
                <a:t>DTFT</a:t>
              </a:r>
            </a:p>
          </p:txBody>
        </p:sp>
        <p:sp>
          <p:nvSpPr>
            <p:cNvPr id="10259" name="AutoShape 5"/>
            <p:cNvSpPr>
              <a:spLocks noChangeArrowheads="1"/>
            </p:cNvSpPr>
            <p:nvPr/>
          </p:nvSpPr>
          <p:spPr bwMode="auto">
            <a:xfrm>
              <a:off x="2640" y="2880"/>
              <a:ext cx="576" cy="288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3313" name="Group 1"/>
          <p:cNvGrpSpPr>
            <a:grpSpLocks/>
          </p:cNvGrpSpPr>
          <p:nvPr/>
        </p:nvGrpSpPr>
        <p:grpSpPr bwMode="auto">
          <a:xfrm>
            <a:off x="5715000" y="5318126"/>
            <a:ext cx="1143000" cy="701675"/>
            <a:chOff x="2640" y="3350"/>
            <a:chExt cx="720" cy="442"/>
          </a:xfrm>
        </p:grpSpPr>
        <p:sp>
          <p:nvSpPr>
            <p:cNvPr id="10256" name="Text Box 3"/>
            <p:cNvSpPr txBox="1">
              <a:spLocks noChangeArrowheads="1"/>
            </p:cNvSpPr>
            <p:nvPr/>
          </p:nvSpPr>
          <p:spPr bwMode="auto">
            <a:xfrm>
              <a:off x="2688" y="3350"/>
              <a:ext cx="6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000">
                  <a:solidFill>
                    <a:prstClr val="black"/>
                  </a:solidFill>
                </a:rPr>
                <a:t>DFS</a:t>
              </a:r>
            </a:p>
          </p:txBody>
        </p:sp>
        <p:sp>
          <p:nvSpPr>
            <p:cNvPr id="10257" name="AutoShape 2"/>
            <p:cNvSpPr>
              <a:spLocks noChangeArrowheads="1"/>
            </p:cNvSpPr>
            <p:nvPr/>
          </p:nvSpPr>
          <p:spPr bwMode="auto">
            <a:xfrm>
              <a:off x="2640" y="3504"/>
              <a:ext cx="576" cy="288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0255" name="Rectangle 0"/>
          <p:cNvSpPr>
            <a:spLocks noChangeArrowheads="1"/>
          </p:cNvSpPr>
          <p:nvPr/>
        </p:nvSpPr>
        <p:spPr bwMode="auto">
          <a:xfrm>
            <a:off x="1676400" y="1143000"/>
            <a:ext cx="8915400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32667" y="4068762"/>
            <a:ext cx="2171700" cy="1185728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09886" y="5318126"/>
            <a:ext cx="2914614" cy="1115516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72299" y="5254490"/>
            <a:ext cx="3317875" cy="1174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084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63" name="Group 27"/>
          <p:cNvGrpSpPr>
            <a:grpSpLocks/>
          </p:cNvGrpSpPr>
          <p:nvPr/>
        </p:nvGrpSpPr>
        <p:grpSpPr bwMode="auto">
          <a:xfrm>
            <a:off x="2286000" y="1905000"/>
            <a:ext cx="2819400" cy="914400"/>
            <a:chOff x="480" y="1200"/>
            <a:chExt cx="1776" cy="576"/>
          </a:xfrm>
        </p:grpSpPr>
        <p:graphicFrame>
          <p:nvGraphicFramePr>
            <p:cNvPr id="11294" name="Object 31"/>
            <p:cNvGraphicFramePr>
              <a:graphicFrameLocks noChangeAspect="1"/>
            </p:cNvGraphicFramePr>
            <p:nvPr/>
          </p:nvGraphicFramePr>
          <p:xfrm>
            <a:off x="480" y="1296"/>
            <a:ext cx="822" cy="3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153" name="Equation" r:id="rId3" imgW="304536" imgH="203024" progId="Equation.3">
                    <p:embed/>
                  </p:oleObj>
                </mc:Choice>
                <mc:Fallback>
                  <p:oleObj name="Equation" r:id="rId3" imgW="304536" imgH="203024" progId="Equation.3">
                    <p:embed/>
                    <p:pic>
                      <p:nvPicPr>
                        <p:cNvPr id="11294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" y="1296"/>
                          <a:ext cx="822" cy="3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95" name="Line 30"/>
            <p:cNvSpPr>
              <a:spLocks noChangeShapeType="1"/>
            </p:cNvSpPr>
            <p:nvPr/>
          </p:nvSpPr>
          <p:spPr bwMode="auto">
            <a:xfrm>
              <a:off x="1344" y="1488"/>
              <a:ext cx="8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96" name="Text Box 29"/>
            <p:cNvSpPr txBox="1">
              <a:spLocks noChangeArrowheads="1"/>
            </p:cNvSpPr>
            <p:nvPr/>
          </p:nvSpPr>
          <p:spPr bwMode="auto">
            <a:xfrm>
              <a:off x="1536" y="1200"/>
              <a:ext cx="5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>
                  <a:solidFill>
                    <a:prstClr val="black"/>
                  </a:solidFill>
                </a:rPr>
                <a:t>抽样</a:t>
              </a:r>
            </a:p>
          </p:txBody>
        </p:sp>
        <p:sp>
          <p:nvSpPr>
            <p:cNvPr id="11297" name="Text Box 28"/>
            <p:cNvSpPr txBox="1">
              <a:spLocks noChangeArrowheads="1"/>
            </p:cNvSpPr>
            <p:nvPr/>
          </p:nvSpPr>
          <p:spPr bwMode="auto">
            <a:xfrm>
              <a:off x="1440" y="1488"/>
              <a:ext cx="8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>
                  <a:solidFill>
                    <a:prstClr val="black"/>
                  </a:solidFill>
                </a:rPr>
                <a:t>离散化</a:t>
              </a:r>
            </a:p>
          </p:txBody>
        </p:sp>
      </p:grpSp>
      <p:grpSp>
        <p:nvGrpSpPr>
          <p:cNvPr id="14359" name="Group 23"/>
          <p:cNvGrpSpPr>
            <a:grpSpLocks/>
          </p:cNvGrpSpPr>
          <p:nvPr/>
        </p:nvGrpSpPr>
        <p:grpSpPr bwMode="auto">
          <a:xfrm>
            <a:off x="5294313" y="1905001"/>
            <a:ext cx="2782888" cy="741363"/>
            <a:chOff x="2375" y="1200"/>
            <a:chExt cx="1753" cy="467"/>
          </a:xfrm>
        </p:grpSpPr>
        <p:graphicFrame>
          <p:nvGraphicFramePr>
            <p:cNvPr id="11291" name="Object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3947624"/>
                </p:ext>
              </p:extLst>
            </p:nvPr>
          </p:nvGraphicFramePr>
          <p:xfrm>
            <a:off x="2375" y="1296"/>
            <a:ext cx="534" cy="3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154" name="Equation" r:id="rId5" imgW="291960" imgH="203040" progId="Equation.DSMT4">
                    <p:embed/>
                  </p:oleObj>
                </mc:Choice>
                <mc:Fallback>
                  <p:oleObj name="Equation" r:id="rId5" imgW="291960" imgH="203040" progId="Equation.DSMT4">
                    <p:embed/>
                    <p:pic>
                      <p:nvPicPr>
                        <p:cNvPr id="11291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75" y="1296"/>
                          <a:ext cx="534" cy="3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92" name="Line 25"/>
            <p:cNvSpPr>
              <a:spLocks noChangeShapeType="1"/>
            </p:cNvSpPr>
            <p:nvPr/>
          </p:nvSpPr>
          <p:spPr bwMode="auto">
            <a:xfrm>
              <a:off x="3024" y="1488"/>
              <a:ext cx="10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93" name="Text Box 24"/>
            <p:cNvSpPr txBox="1">
              <a:spLocks noChangeArrowheads="1"/>
            </p:cNvSpPr>
            <p:nvPr/>
          </p:nvSpPr>
          <p:spPr bwMode="auto">
            <a:xfrm>
              <a:off x="3216" y="1200"/>
              <a:ext cx="9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>
                  <a:solidFill>
                    <a:prstClr val="black"/>
                  </a:solidFill>
                </a:rPr>
                <a:t>周期化</a:t>
              </a:r>
            </a:p>
          </p:txBody>
        </p:sp>
      </p:grpSp>
      <p:graphicFrame>
        <p:nvGraphicFramePr>
          <p:cNvPr id="1435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9794458"/>
              </p:ext>
            </p:extLst>
          </p:nvPr>
        </p:nvGraphicFramePr>
        <p:xfrm>
          <a:off x="8053388" y="2057400"/>
          <a:ext cx="809625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155" name="Equation" r:id="rId7" imgW="291960" imgH="203040" progId="Equation.DSMT4">
                  <p:embed/>
                </p:oleObj>
              </mc:Choice>
              <mc:Fallback>
                <p:oleObj name="Equation" r:id="rId7" imgW="291960" imgH="203040" progId="Equation.DSMT4">
                  <p:embed/>
                  <p:pic>
                    <p:nvPicPr>
                      <p:cNvPr id="14358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53388" y="2057400"/>
                        <a:ext cx="809625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351" name="Group 15"/>
          <p:cNvGrpSpPr>
            <a:grpSpLocks/>
          </p:cNvGrpSpPr>
          <p:nvPr/>
        </p:nvGrpSpPr>
        <p:grpSpPr bwMode="auto">
          <a:xfrm>
            <a:off x="1905000" y="4191000"/>
            <a:ext cx="1752600" cy="1600200"/>
            <a:chOff x="240" y="2640"/>
            <a:chExt cx="1104" cy="1008"/>
          </a:xfrm>
        </p:grpSpPr>
        <p:graphicFrame>
          <p:nvGraphicFramePr>
            <p:cNvPr id="11285" name="Object 21"/>
            <p:cNvGraphicFramePr>
              <a:graphicFrameLocks noChangeAspect="1"/>
            </p:cNvGraphicFramePr>
            <p:nvPr/>
          </p:nvGraphicFramePr>
          <p:xfrm>
            <a:off x="240" y="2696"/>
            <a:ext cx="1104" cy="9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156" name="位图图像" r:id="rId9" imgW="1371429" imgH="1123810" progId="Paint.Picture">
                    <p:embed/>
                  </p:oleObj>
                </mc:Choice>
                <mc:Fallback>
                  <p:oleObj name="位图图像" r:id="rId9" imgW="1371429" imgH="1123810" progId="Paint.Picture">
                    <p:embed/>
                    <p:pic>
                      <p:nvPicPr>
                        <p:cNvPr id="11285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" y="2696"/>
                          <a:ext cx="1104" cy="9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6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89310959"/>
                </p:ext>
              </p:extLst>
            </p:nvPr>
          </p:nvGraphicFramePr>
          <p:xfrm>
            <a:off x="764" y="2640"/>
            <a:ext cx="436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157" name="Equation" r:id="rId11" imgW="469696" imgH="203112" progId="Equation.DSMT4">
                    <p:embed/>
                  </p:oleObj>
                </mc:Choice>
                <mc:Fallback>
                  <p:oleObj name="Equation" r:id="rId11" imgW="469696" imgH="203112" progId="Equation.DSMT4">
                    <p:embed/>
                    <p:pic>
                      <p:nvPicPr>
                        <p:cNvPr id="11286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4" y="2640"/>
                          <a:ext cx="436" cy="1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7" name="Object 19"/>
            <p:cNvGraphicFramePr>
              <a:graphicFrameLocks noChangeAspect="1"/>
            </p:cNvGraphicFramePr>
            <p:nvPr/>
          </p:nvGraphicFramePr>
          <p:xfrm>
            <a:off x="912" y="3408"/>
            <a:ext cx="24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158" name="Equation" r:id="rId13" imgW="228600" imgH="228600" progId="Equation.3">
                    <p:embed/>
                  </p:oleObj>
                </mc:Choice>
                <mc:Fallback>
                  <p:oleObj name="Equation" r:id="rId13" imgW="228600" imgH="228600" progId="Equation.3">
                    <p:embed/>
                    <p:pic>
                      <p:nvPicPr>
                        <p:cNvPr id="11287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3408"/>
                          <a:ext cx="240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8" name="Object 18"/>
            <p:cNvGraphicFramePr>
              <a:graphicFrameLocks noChangeAspect="1"/>
            </p:cNvGraphicFramePr>
            <p:nvPr/>
          </p:nvGraphicFramePr>
          <p:xfrm>
            <a:off x="331" y="3408"/>
            <a:ext cx="347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159" name="Equation" r:id="rId15" imgW="330200" imgH="228600" progId="Equation.3">
                    <p:embed/>
                  </p:oleObj>
                </mc:Choice>
                <mc:Fallback>
                  <p:oleObj name="Equation" r:id="rId15" imgW="330200" imgH="228600" progId="Equation.3">
                    <p:embed/>
                    <p:pic>
                      <p:nvPicPr>
                        <p:cNvPr id="11288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" y="3408"/>
                          <a:ext cx="347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9" name="Object 17"/>
            <p:cNvGraphicFramePr>
              <a:graphicFrameLocks noChangeAspect="1"/>
            </p:cNvGraphicFramePr>
            <p:nvPr/>
          </p:nvGraphicFramePr>
          <p:xfrm>
            <a:off x="816" y="2928"/>
            <a:ext cx="104" cy="1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160" name="Equation" r:id="rId17" imgW="164885" imgH="164885" progId="Equation.3">
                    <p:embed/>
                  </p:oleObj>
                </mc:Choice>
                <mc:Fallback>
                  <p:oleObj name="Equation" r:id="rId17" imgW="164885" imgH="164885" progId="Equation.3">
                    <p:embed/>
                    <p:pic>
                      <p:nvPicPr>
                        <p:cNvPr id="11289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2928"/>
                          <a:ext cx="104" cy="1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90" name="Object 16"/>
            <p:cNvGraphicFramePr>
              <a:graphicFrameLocks noChangeAspect="1"/>
            </p:cNvGraphicFramePr>
            <p:nvPr/>
          </p:nvGraphicFramePr>
          <p:xfrm>
            <a:off x="1056" y="3216"/>
            <a:ext cx="192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161" name="Equation" r:id="rId19" imgW="152334" imgH="139639" progId="Equation.3">
                    <p:embed/>
                  </p:oleObj>
                </mc:Choice>
                <mc:Fallback>
                  <p:oleObj name="Equation" r:id="rId19" imgW="152334" imgH="139639" progId="Equation.3">
                    <p:embed/>
                    <p:pic>
                      <p:nvPicPr>
                        <p:cNvPr id="1129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3216"/>
                          <a:ext cx="192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344" name="Group 8"/>
          <p:cNvGrpSpPr>
            <a:grpSpLocks/>
          </p:cNvGrpSpPr>
          <p:nvPr/>
        </p:nvGrpSpPr>
        <p:grpSpPr bwMode="auto">
          <a:xfrm>
            <a:off x="3581400" y="4241800"/>
            <a:ext cx="3962400" cy="1549400"/>
            <a:chOff x="1296" y="2672"/>
            <a:chExt cx="2496" cy="976"/>
          </a:xfrm>
        </p:grpSpPr>
        <p:graphicFrame>
          <p:nvGraphicFramePr>
            <p:cNvPr id="11279" name="Object 14"/>
            <p:cNvGraphicFramePr>
              <a:graphicFrameLocks noChangeAspect="1"/>
            </p:cNvGraphicFramePr>
            <p:nvPr/>
          </p:nvGraphicFramePr>
          <p:xfrm>
            <a:off x="1296" y="2672"/>
            <a:ext cx="2496" cy="9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162" name="位图图像" r:id="rId21" imgW="3123810" imgH="1171429" progId="Paint.Picture">
                    <p:embed/>
                  </p:oleObj>
                </mc:Choice>
                <mc:Fallback>
                  <p:oleObj name="位图图像" r:id="rId21" imgW="3123810" imgH="1171429" progId="Paint.Picture">
                    <p:embed/>
                    <p:pic>
                      <p:nvPicPr>
                        <p:cNvPr id="11279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" y="2672"/>
                          <a:ext cx="2496" cy="9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0" name="Object 13"/>
            <p:cNvGraphicFramePr>
              <a:graphicFrameLocks noChangeAspect="1"/>
            </p:cNvGraphicFramePr>
            <p:nvPr/>
          </p:nvGraphicFramePr>
          <p:xfrm>
            <a:off x="3552" y="3248"/>
            <a:ext cx="152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163" name="Equation" r:id="rId23" imgW="164885" imgH="164885" progId="Equation.3">
                    <p:embed/>
                  </p:oleObj>
                </mc:Choice>
                <mc:Fallback>
                  <p:oleObj name="Equation" r:id="rId23" imgW="164885" imgH="164885" progId="Equation.3">
                    <p:embed/>
                    <p:pic>
                      <p:nvPicPr>
                        <p:cNvPr id="1128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2" y="3248"/>
                          <a:ext cx="152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1" name="Object 12"/>
            <p:cNvGraphicFramePr>
              <a:graphicFrameLocks noChangeAspect="1"/>
            </p:cNvGraphicFramePr>
            <p:nvPr/>
          </p:nvGraphicFramePr>
          <p:xfrm>
            <a:off x="2544" y="2672"/>
            <a:ext cx="432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164" name="Equation" r:id="rId25" imgW="495085" imgH="228501" progId="Equation.3">
                    <p:embed/>
                  </p:oleObj>
                </mc:Choice>
                <mc:Fallback>
                  <p:oleObj name="Equation" r:id="rId25" imgW="495085" imgH="228501" progId="Equation.3">
                    <p:embed/>
                    <p:pic>
                      <p:nvPicPr>
                        <p:cNvPr id="11281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4" y="2672"/>
                          <a:ext cx="432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2" name="Object 11"/>
            <p:cNvGraphicFramePr>
              <a:graphicFrameLocks noChangeAspect="1"/>
            </p:cNvGraphicFramePr>
            <p:nvPr/>
          </p:nvGraphicFramePr>
          <p:xfrm>
            <a:off x="1680" y="3536"/>
            <a:ext cx="208" cy="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165" name="Equation" r:id="rId27" imgW="329914" imgH="177646" progId="Equation.3">
                    <p:embed/>
                  </p:oleObj>
                </mc:Choice>
                <mc:Fallback>
                  <p:oleObj name="Equation" r:id="rId27" imgW="329914" imgH="177646" progId="Equation.3">
                    <p:embed/>
                    <p:pic>
                      <p:nvPicPr>
                        <p:cNvPr id="11282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0" y="3536"/>
                          <a:ext cx="208" cy="1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3" name="Object 10"/>
            <p:cNvGraphicFramePr>
              <a:graphicFrameLocks noChangeAspect="1"/>
            </p:cNvGraphicFramePr>
            <p:nvPr/>
          </p:nvGraphicFramePr>
          <p:xfrm>
            <a:off x="3056" y="3520"/>
            <a:ext cx="144" cy="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166" name="Equation" r:id="rId29" imgW="228402" imgH="177646" progId="Equation.3">
                    <p:embed/>
                  </p:oleObj>
                </mc:Choice>
                <mc:Fallback>
                  <p:oleObj name="Equation" r:id="rId29" imgW="228402" imgH="177646" progId="Equation.3">
                    <p:embed/>
                    <p:pic>
                      <p:nvPicPr>
                        <p:cNvPr id="11283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56" y="3520"/>
                          <a:ext cx="144" cy="1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4" name="Object 9"/>
            <p:cNvGraphicFramePr>
              <a:graphicFrameLocks noChangeAspect="1"/>
            </p:cNvGraphicFramePr>
            <p:nvPr/>
          </p:nvGraphicFramePr>
          <p:xfrm>
            <a:off x="2544" y="2904"/>
            <a:ext cx="120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167" name="Equation" r:id="rId31" imgW="190417" imgH="393529" progId="Equation.3">
                    <p:embed/>
                  </p:oleObj>
                </mc:Choice>
                <mc:Fallback>
                  <p:oleObj name="Equation" r:id="rId31" imgW="190417" imgH="393529" progId="Equation.3">
                    <p:embed/>
                    <p:pic>
                      <p:nvPicPr>
                        <p:cNvPr id="11284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4" y="2904"/>
                          <a:ext cx="120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343" name="Line 7"/>
          <p:cNvSpPr>
            <a:spLocks noChangeShapeType="1"/>
          </p:cNvSpPr>
          <p:nvPr/>
        </p:nvSpPr>
        <p:spPr bwMode="auto">
          <a:xfrm>
            <a:off x="2819400" y="2743200"/>
            <a:ext cx="0" cy="1066800"/>
          </a:xfrm>
          <a:prstGeom prst="line">
            <a:avLst/>
          </a:prstGeom>
          <a:noFill/>
          <a:ln w="25400">
            <a:solidFill>
              <a:schemeClr val="hlink"/>
            </a:solidFill>
            <a:miter lim="800000"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prstClr val="black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42" name="Line 6"/>
          <p:cNvSpPr>
            <a:spLocks noChangeShapeType="1"/>
          </p:cNvSpPr>
          <p:nvPr/>
        </p:nvSpPr>
        <p:spPr bwMode="auto">
          <a:xfrm>
            <a:off x="5715000" y="2743200"/>
            <a:ext cx="0" cy="1066800"/>
          </a:xfrm>
          <a:prstGeom prst="line">
            <a:avLst/>
          </a:prstGeom>
          <a:noFill/>
          <a:ln w="25400">
            <a:solidFill>
              <a:schemeClr val="hlink"/>
            </a:solidFill>
            <a:miter lim="800000"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prstClr val="black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41" name="Line 5"/>
          <p:cNvSpPr>
            <a:spLocks noChangeShapeType="1"/>
          </p:cNvSpPr>
          <p:nvPr/>
        </p:nvSpPr>
        <p:spPr bwMode="auto">
          <a:xfrm>
            <a:off x="8382000" y="2743200"/>
            <a:ext cx="0" cy="1066800"/>
          </a:xfrm>
          <a:prstGeom prst="line">
            <a:avLst/>
          </a:prstGeom>
          <a:noFill/>
          <a:ln w="25400">
            <a:solidFill>
              <a:schemeClr val="hlink"/>
            </a:solidFill>
            <a:miter lim="800000"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prstClr val="black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275" name="Text Box 3"/>
          <p:cNvSpPr txBox="1">
            <a:spLocks noChangeArrowheads="1"/>
          </p:cNvSpPr>
          <p:nvPr/>
        </p:nvSpPr>
        <p:spPr bwMode="auto">
          <a:xfrm>
            <a:off x="2971800" y="381001"/>
            <a:ext cx="6629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>
                <a:solidFill>
                  <a:srgbClr val="954F7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三、利用</a:t>
            </a:r>
            <a:r>
              <a:rPr lang="en-US" altLang="zh-CN" sz="2800">
                <a:solidFill>
                  <a:srgbClr val="954F7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DFT</a:t>
            </a:r>
            <a:r>
              <a:rPr lang="zh-CN" altLang="en-US" sz="2800">
                <a:solidFill>
                  <a:srgbClr val="954F7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分析连续非周期信号的频谱</a:t>
            </a:r>
            <a:r>
              <a:rPr lang="zh-CN" altLang="en-US">
                <a:solidFill>
                  <a:prstClr val="black"/>
                </a:solidFill>
              </a:rPr>
              <a:t> </a:t>
            </a:r>
          </a:p>
        </p:txBody>
      </p:sp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8610600" y="2971800"/>
            <a:ext cx="1676400" cy="45720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b="1">
                <a:solidFill>
                  <a:prstClr val="black"/>
                </a:solidFill>
              </a:rPr>
              <a:t>DFT</a:t>
            </a:r>
            <a:r>
              <a:rPr lang="zh-CN" altLang="en-US" b="1">
                <a:solidFill>
                  <a:prstClr val="black"/>
                </a:solidFill>
              </a:rPr>
              <a:t>实现</a:t>
            </a:r>
          </a:p>
        </p:txBody>
      </p:sp>
      <p:sp>
        <p:nvSpPr>
          <p:cNvPr id="14337" name="Text Box 1"/>
          <p:cNvSpPr txBox="1">
            <a:spLocks noChangeArrowheads="1"/>
          </p:cNvSpPr>
          <p:nvPr/>
        </p:nvSpPr>
        <p:spPr bwMode="auto">
          <a:xfrm>
            <a:off x="3352800" y="6096000"/>
            <a:ext cx="548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prstClr val="black"/>
                </a:solidFill>
              </a:rPr>
              <a:t>假设连续信号持续时间有限，频带有限</a:t>
            </a:r>
          </a:p>
        </p:txBody>
      </p:sp>
      <p:sp>
        <p:nvSpPr>
          <p:cNvPr id="11278" name="Rectangle 0"/>
          <p:cNvSpPr>
            <a:spLocks noChangeArrowheads="1"/>
          </p:cNvSpPr>
          <p:nvPr/>
        </p:nvSpPr>
        <p:spPr bwMode="auto">
          <a:xfrm>
            <a:off x="1676400" y="990600"/>
            <a:ext cx="8915400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412567" y="4059238"/>
            <a:ext cx="3035300" cy="177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79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4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4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14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 animBg="1" autoUpdateAnimBg="0"/>
      <p:bldP spid="14337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5"/>
          <p:cNvSpPr txBox="1">
            <a:spLocks noChangeArrowheads="1"/>
          </p:cNvSpPr>
          <p:nvPr/>
        </p:nvSpPr>
        <p:spPr bwMode="auto">
          <a:xfrm>
            <a:off x="2895600" y="228601"/>
            <a:ext cx="3581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prstClr val="black"/>
                </a:solidFill>
                <a:ea typeface="黑体" panose="02010609060101010101" pitchFamily="49" charset="-122"/>
              </a:rPr>
              <a:t>讨论：</a:t>
            </a:r>
          </a:p>
        </p:txBody>
      </p:sp>
      <p:sp>
        <p:nvSpPr>
          <p:cNvPr id="12291" name="Text Box 24"/>
          <p:cNvSpPr txBox="1">
            <a:spLocks noChangeArrowheads="1"/>
          </p:cNvSpPr>
          <p:nvPr/>
        </p:nvSpPr>
        <p:spPr bwMode="auto">
          <a:xfrm>
            <a:off x="4727575" y="260351"/>
            <a:ext cx="525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3366FF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sz="2800" b="1">
                <a:solidFill>
                  <a:srgbClr val="3366FF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sz="2800" b="1">
                <a:solidFill>
                  <a:srgbClr val="3366FF"/>
                </a:solidFill>
                <a:ea typeface="华文中宋" panose="02010600040101010101" pitchFamily="2" charset="-122"/>
              </a:rPr>
              <a:t>）        无限长，其频带有限</a:t>
            </a:r>
          </a:p>
        </p:txBody>
      </p:sp>
      <p:graphicFrame>
        <p:nvGraphicFramePr>
          <p:cNvPr id="12292" name="Object 23"/>
          <p:cNvGraphicFramePr>
            <a:graphicFrameLocks noChangeAspect="1"/>
          </p:cNvGraphicFramePr>
          <p:nvPr/>
        </p:nvGraphicFramePr>
        <p:xfrm>
          <a:off x="5808663" y="333375"/>
          <a:ext cx="762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109" name="Equation" r:id="rId3" imgW="285803" imgH="182927" progId="Equation.3">
                  <p:embed/>
                </p:oleObj>
              </mc:Choice>
              <mc:Fallback>
                <p:oleObj name="Equation" r:id="rId3" imgW="285803" imgH="182927" progId="Equation.3">
                  <p:embed/>
                  <p:pic>
                    <p:nvPicPr>
                      <p:cNvPr id="12292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8663" y="333375"/>
                        <a:ext cx="7620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8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2087937"/>
              </p:ext>
            </p:extLst>
          </p:nvPr>
        </p:nvGraphicFramePr>
        <p:xfrm>
          <a:off x="8807450" y="1752600"/>
          <a:ext cx="825500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110" name="Equation" r:id="rId5" imgW="355320" imgH="203040" progId="Equation.DSMT4">
                  <p:embed/>
                </p:oleObj>
              </mc:Choice>
              <mc:Fallback>
                <p:oleObj name="Equation" r:id="rId5" imgW="355320" imgH="203040" progId="Equation.DSMT4">
                  <p:embed/>
                  <p:pic>
                    <p:nvPicPr>
                      <p:cNvPr id="15382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07450" y="1752600"/>
                        <a:ext cx="825500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377" name="Group 17"/>
          <p:cNvGrpSpPr>
            <a:grpSpLocks/>
          </p:cNvGrpSpPr>
          <p:nvPr/>
        </p:nvGrpSpPr>
        <p:grpSpPr bwMode="auto">
          <a:xfrm>
            <a:off x="4373563" y="1524000"/>
            <a:ext cx="2179638" cy="990600"/>
            <a:chOff x="1795" y="1248"/>
            <a:chExt cx="1373" cy="624"/>
          </a:xfrm>
        </p:grpSpPr>
        <p:sp>
          <p:nvSpPr>
            <p:cNvPr id="12312" name="Oval 21"/>
            <p:cNvSpPr>
              <a:spLocks noChangeArrowheads="1"/>
            </p:cNvSpPr>
            <p:nvPr/>
          </p:nvSpPr>
          <p:spPr bwMode="auto">
            <a:xfrm>
              <a:off x="2304" y="1248"/>
              <a:ext cx="864" cy="624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graphicFrame>
          <p:nvGraphicFramePr>
            <p:cNvPr id="12313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67299351"/>
                </p:ext>
              </p:extLst>
            </p:nvPr>
          </p:nvGraphicFramePr>
          <p:xfrm>
            <a:off x="1795" y="1421"/>
            <a:ext cx="442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111" name="Equation" r:id="rId7" imgW="291960" imgH="203040" progId="Equation.DSMT4">
                    <p:embed/>
                  </p:oleObj>
                </mc:Choice>
                <mc:Fallback>
                  <p:oleObj name="Equation" r:id="rId7" imgW="291960" imgH="203040" progId="Equation.DSMT4">
                    <p:embed/>
                    <p:pic>
                      <p:nvPicPr>
                        <p:cNvPr id="12313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5" y="1421"/>
                          <a:ext cx="442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14" name="Line 19"/>
            <p:cNvSpPr>
              <a:spLocks noChangeShapeType="1"/>
            </p:cNvSpPr>
            <p:nvPr/>
          </p:nvSpPr>
          <p:spPr bwMode="auto">
            <a:xfrm>
              <a:off x="2400" y="1536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15" name="Text Box 18"/>
            <p:cNvSpPr txBox="1">
              <a:spLocks noChangeArrowheads="1"/>
            </p:cNvSpPr>
            <p:nvPr/>
          </p:nvSpPr>
          <p:spPr bwMode="auto">
            <a:xfrm>
              <a:off x="2544" y="1305"/>
              <a:ext cx="48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prstClr val="black"/>
                  </a:solidFill>
                </a:rPr>
                <a:t>加窗</a:t>
              </a:r>
            </a:p>
          </p:txBody>
        </p:sp>
      </p:grpSp>
      <p:graphicFrame>
        <p:nvGraphicFramePr>
          <p:cNvPr id="15376" name="Object 16"/>
          <p:cNvGraphicFramePr>
            <a:graphicFrameLocks noChangeAspect="1"/>
          </p:cNvGraphicFramePr>
          <p:nvPr/>
        </p:nvGraphicFramePr>
        <p:xfrm>
          <a:off x="5181600" y="2362200"/>
          <a:ext cx="289560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112" name="Visio" r:id="rId9" imgW="2238199" imgH="942518" progId="Visio.Drawing.6">
                  <p:embed/>
                </p:oleObj>
              </mc:Choice>
              <mc:Fallback>
                <p:oleObj name="Visio" r:id="rId9" imgW="2238199" imgH="942518" progId="Visio.Drawing.6">
                  <p:embed/>
                  <p:pic>
                    <p:nvPicPr>
                      <p:cNvPr id="15376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2362200"/>
                        <a:ext cx="2895600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5" name="Object 15"/>
          <p:cNvGraphicFramePr>
            <a:graphicFrameLocks noChangeAspect="1"/>
          </p:cNvGraphicFramePr>
          <p:nvPr/>
        </p:nvGraphicFramePr>
        <p:xfrm>
          <a:off x="2667000" y="3962400"/>
          <a:ext cx="3657600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113" name="Visio" r:id="rId11" imgW="2238199" imgH="942518" progId="Visio.Drawing.6">
                  <p:embed/>
                </p:oleObj>
              </mc:Choice>
              <mc:Fallback>
                <p:oleObj name="Visio" r:id="rId11" imgW="2238199" imgH="942518" progId="Visio.Drawing.6">
                  <p:embed/>
                  <p:pic>
                    <p:nvPicPr>
                      <p:cNvPr id="1537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962400"/>
                        <a:ext cx="3657600" cy="198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4" name="Object 14"/>
          <p:cNvGraphicFramePr>
            <a:graphicFrameLocks noChangeAspect="1"/>
          </p:cNvGraphicFramePr>
          <p:nvPr/>
        </p:nvGraphicFramePr>
        <p:xfrm>
          <a:off x="1676400" y="2438400"/>
          <a:ext cx="2438400" cy="177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114" name="Visio" r:id="rId13" imgW="1218826" imgH="941360" progId="Visio.Drawing.6">
                  <p:embed/>
                </p:oleObj>
              </mc:Choice>
              <mc:Fallback>
                <p:oleObj name="Visio" r:id="rId13" imgW="1218826" imgH="941360" progId="Visio.Drawing.6">
                  <p:embed/>
                  <p:pic>
                    <p:nvPicPr>
                      <p:cNvPr id="1537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438400"/>
                        <a:ext cx="2438400" cy="177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369" name="Group 9"/>
          <p:cNvGrpSpPr>
            <a:grpSpLocks/>
          </p:cNvGrpSpPr>
          <p:nvPr/>
        </p:nvGrpSpPr>
        <p:grpSpPr bwMode="auto">
          <a:xfrm>
            <a:off x="2286000" y="1600200"/>
            <a:ext cx="1981200" cy="660400"/>
            <a:chOff x="480" y="1296"/>
            <a:chExt cx="1248" cy="416"/>
          </a:xfrm>
        </p:grpSpPr>
        <p:graphicFrame>
          <p:nvGraphicFramePr>
            <p:cNvPr id="12309" name="Object 12"/>
            <p:cNvGraphicFramePr>
              <a:graphicFrameLocks noChangeAspect="1"/>
            </p:cNvGraphicFramePr>
            <p:nvPr/>
          </p:nvGraphicFramePr>
          <p:xfrm>
            <a:off x="480" y="1392"/>
            <a:ext cx="480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115" name="Equation" r:id="rId15" imgW="304536" imgH="203024" progId="Equation.3">
                    <p:embed/>
                  </p:oleObj>
                </mc:Choice>
                <mc:Fallback>
                  <p:oleObj name="Equation" r:id="rId15" imgW="304536" imgH="203024" progId="Equation.3">
                    <p:embed/>
                    <p:pic>
                      <p:nvPicPr>
                        <p:cNvPr id="12309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" y="1392"/>
                          <a:ext cx="480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10" name="Line 11"/>
            <p:cNvSpPr>
              <a:spLocks noChangeShapeType="1"/>
            </p:cNvSpPr>
            <p:nvPr/>
          </p:nvSpPr>
          <p:spPr bwMode="auto">
            <a:xfrm>
              <a:off x="1008" y="1536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11" name="Text Box 10"/>
            <p:cNvSpPr txBox="1">
              <a:spLocks noChangeArrowheads="1"/>
            </p:cNvSpPr>
            <p:nvPr/>
          </p:nvSpPr>
          <p:spPr bwMode="auto">
            <a:xfrm>
              <a:off x="1104" y="1296"/>
              <a:ext cx="62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1800" b="1">
                  <a:solidFill>
                    <a:prstClr val="black"/>
                  </a:solidFill>
                </a:rPr>
                <a:t>抽样</a:t>
              </a:r>
            </a:p>
          </p:txBody>
        </p:sp>
      </p:grpSp>
      <p:grpSp>
        <p:nvGrpSpPr>
          <p:cNvPr id="15365" name="Group 5"/>
          <p:cNvGrpSpPr>
            <a:grpSpLocks/>
          </p:cNvGrpSpPr>
          <p:nvPr/>
        </p:nvGrpSpPr>
        <p:grpSpPr bwMode="auto">
          <a:xfrm>
            <a:off x="6588126" y="1600201"/>
            <a:ext cx="2251075" cy="668338"/>
            <a:chOff x="3190" y="1296"/>
            <a:chExt cx="1418" cy="421"/>
          </a:xfrm>
        </p:grpSpPr>
        <p:graphicFrame>
          <p:nvGraphicFramePr>
            <p:cNvPr id="12306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77670759"/>
                </p:ext>
              </p:extLst>
            </p:nvPr>
          </p:nvGraphicFramePr>
          <p:xfrm>
            <a:off x="3190" y="1374"/>
            <a:ext cx="573" cy="3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116" name="Equation" r:id="rId17" imgW="380880" imgH="228600" progId="Equation.DSMT4">
                    <p:embed/>
                  </p:oleObj>
                </mc:Choice>
                <mc:Fallback>
                  <p:oleObj name="Equation" r:id="rId17" imgW="380880" imgH="228600" progId="Equation.DSMT4">
                    <p:embed/>
                    <p:pic>
                      <p:nvPicPr>
                        <p:cNvPr id="12306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90" y="1374"/>
                          <a:ext cx="573" cy="3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07" name="Line 7"/>
            <p:cNvSpPr>
              <a:spLocks noChangeShapeType="1"/>
            </p:cNvSpPr>
            <p:nvPr/>
          </p:nvSpPr>
          <p:spPr bwMode="auto">
            <a:xfrm>
              <a:off x="3840" y="1536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08" name="Text Box 6"/>
            <p:cNvSpPr txBox="1">
              <a:spLocks noChangeArrowheads="1"/>
            </p:cNvSpPr>
            <p:nvPr/>
          </p:nvSpPr>
          <p:spPr bwMode="auto">
            <a:xfrm>
              <a:off x="3984" y="1296"/>
              <a:ext cx="62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800" b="1">
                  <a:solidFill>
                    <a:prstClr val="black"/>
                  </a:solidFill>
                </a:rPr>
                <a:t>DFT</a:t>
              </a:r>
            </a:p>
          </p:txBody>
        </p:sp>
      </p:grpSp>
      <p:sp>
        <p:nvSpPr>
          <p:cNvPr id="15364" name="Line 4"/>
          <p:cNvSpPr>
            <a:spLocks noChangeShapeType="1"/>
          </p:cNvSpPr>
          <p:nvPr/>
        </p:nvSpPr>
        <p:spPr bwMode="auto">
          <a:xfrm>
            <a:off x="4648200" y="2362200"/>
            <a:ext cx="0" cy="15240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prstClr val="black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363" name="Line 3"/>
          <p:cNvSpPr>
            <a:spLocks noChangeShapeType="1"/>
          </p:cNvSpPr>
          <p:nvPr/>
        </p:nvSpPr>
        <p:spPr bwMode="auto">
          <a:xfrm flipH="1">
            <a:off x="2971800" y="2133600"/>
            <a:ext cx="0" cy="3810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prstClr val="black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362" name="Line 2"/>
          <p:cNvSpPr>
            <a:spLocks noChangeShapeType="1"/>
          </p:cNvSpPr>
          <p:nvPr/>
        </p:nvSpPr>
        <p:spPr bwMode="auto">
          <a:xfrm>
            <a:off x="7239000" y="2133600"/>
            <a:ext cx="0" cy="3810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prstClr val="black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361" name="Line 1"/>
          <p:cNvSpPr>
            <a:spLocks noChangeShapeType="1"/>
          </p:cNvSpPr>
          <p:nvPr/>
        </p:nvSpPr>
        <p:spPr bwMode="auto">
          <a:xfrm>
            <a:off x="9296400" y="2286000"/>
            <a:ext cx="0" cy="22098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prstClr val="black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305" name="Rectangle 0"/>
          <p:cNvSpPr>
            <a:spLocks noChangeArrowheads="1"/>
          </p:cNvSpPr>
          <p:nvPr/>
        </p:nvSpPr>
        <p:spPr bwMode="auto">
          <a:xfrm>
            <a:off x="1676400" y="990600"/>
            <a:ext cx="8915400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668683" y="4589461"/>
            <a:ext cx="2736849" cy="1819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968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5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5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5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15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5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18"/>
          <p:cNvSpPr txBox="1">
            <a:spLocks noChangeArrowheads="1"/>
          </p:cNvSpPr>
          <p:nvPr/>
        </p:nvSpPr>
        <p:spPr bwMode="auto">
          <a:xfrm>
            <a:off x="2971800" y="228601"/>
            <a:ext cx="525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3366FF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sz="2800" b="1">
                <a:solidFill>
                  <a:srgbClr val="3366FF"/>
                </a:solidFill>
                <a:ea typeface="华文中宋" panose="02010600040101010101" pitchFamily="2" charset="-122"/>
              </a:rPr>
              <a:t>2</a:t>
            </a:r>
            <a:r>
              <a:rPr lang="zh-CN" altLang="en-US" sz="2800" b="1">
                <a:solidFill>
                  <a:srgbClr val="3366FF"/>
                </a:solidFill>
                <a:ea typeface="华文中宋" panose="02010600040101010101" pitchFamily="2" charset="-122"/>
              </a:rPr>
              <a:t>）       有限长，其频带无限</a:t>
            </a:r>
          </a:p>
        </p:txBody>
      </p:sp>
      <p:graphicFrame>
        <p:nvGraphicFramePr>
          <p:cNvPr id="13315" name="Object 17"/>
          <p:cNvGraphicFramePr>
            <a:graphicFrameLocks noChangeAspect="1"/>
          </p:cNvGraphicFramePr>
          <p:nvPr/>
        </p:nvGraphicFramePr>
        <p:xfrm>
          <a:off x="3962400" y="290513"/>
          <a:ext cx="762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113" name="Equation" r:id="rId3" imgW="285803" imgH="182927" progId="Equation.3">
                  <p:embed/>
                </p:oleObj>
              </mc:Choice>
              <mc:Fallback>
                <p:oleObj name="Equation" r:id="rId3" imgW="285803" imgH="182927" progId="Equation.3">
                  <p:embed/>
                  <p:pic>
                    <p:nvPicPr>
                      <p:cNvPr id="13315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290513"/>
                        <a:ext cx="7620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6" name="Object 16"/>
          <p:cNvGraphicFramePr>
            <a:graphicFrameLocks noChangeAspect="1"/>
          </p:cNvGraphicFramePr>
          <p:nvPr/>
        </p:nvGraphicFramePr>
        <p:xfrm>
          <a:off x="3581400" y="4648200"/>
          <a:ext cx="152400" cy="13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114" name="Equation" r:id="rId5" imgW="152334" imgH="139639" progId="Equation.3">
                  <p:embed/>
                </p:oleObj>
              </mc:Choice>
              <mc:Fallback>
                <p:oleObj name="Equation" r:id="rId5" imgW="152334" imgH="139639" progId="Equation.3">
                  <p:embed/>
                  <p:pic>
                    <p:nvPicPr>
                      <p:cNvPr id="13316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4648200"/>
                        <a:ext cx="152400" cy="13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9" name="Object 15"/>
          <p:cNvGraphicFramePr>
            <a:graphicFrameLocks noChangeAspect="1"/>
          </p:cNvGraphicFramePr>
          <p:nvPr/>
        </p:nvGraphicFramePr>
        <p:xfrm>
          <a:off x="1752600" y="3505200"/>
          <a:ext cx="220980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115" name="Visio" r:id="rId7" imgW="1200852" imgH="946977" progId="Visio.Drawing.6">
                  <p:embed/>
                </p:oleObj>
              </mc:Choice>
              <mc:Fallback>
                <p:oleObj name="Visio" r:id="rId7" imgW="1200852" imgH="946977" progId="Visio.Drawing.6">
                  <p:embed/>
                  <p:pic>
                    <p:nvPicPr>
                      <p:cNvPr id="16399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505200"/>
                        <a:ext cx="2209800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8" name="Object 14"/>
          <p:cNvGraphicFramePr>
            <a:graphicFrameLocks noChangeAspect="1"/>
          </p:cNvGraphicFramePr>
          <p:nvPr/>
        </p:nvGraphicFramePr>
        <p:xfrm>
          <a:off x="4114800" y="3276600"/>
          <a:ext cx="342900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116" name="Visio" r:id="rId9" imgW="2238199" imgH="942518" progId="Visio.Drawing.6">
                  <p:embed/>
                </p:oleObj>
              </mc:Choice>
              <mc:Fallback>
                <p:oleObj name="Visio" r:id="rId9" imgW="2238199" imgH="942518" progId="Visio.Drawing.6">
                  <p:embed/>
                  <p:pic>
                    <p:nvPicPr>
                      <p:cNvPr id="16398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276600"/>
                        <a:ext cx="3429000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393" name="Group 9"/>
          <p:cNvGrpSpPr>
            <a:grpSpLocks/>
          </p:cNvGrpSpPr>
          <p:nvPr/>
        </p:nvGrpSpPr>
        <p:grpSpPr bwMode="auto">
          <a:xfrm>
            <a:off x="2819400" y="1828800"/>
            <a:ext cx="2209800" cy="674688"/>
            <a:chOff x="816" y="1344"/>
            <a:chExt cx="1392" cy="425"/>
          </a:xfrm>
        </p:grpSpPr>
        <p:graphicFrame>
          <p:nvGraphicFramePr>
            <p:cNvPr id="13330" name="Object 12"/>
            <p:cNvGraphicFramePr>
              <a:graphicFrameLocks noChangeAspect="1"/>
            </p:cNvGraphicFramePr>
            <p:nvPr/>
          </p:nvGraphicFramePr>
          <p:xfrm>
            <a:off x="816" y="1449"/>
            <a:ext cx="480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9117" name="Equation" r:id="rId11" imgW="304536" imgH="203024" progId="Equation.3">
                    <p:embed/>
                  </p:oleObj>
                </mc:Choice>
                <mc:Fallback>
                  <p:oleObj name="Equation" r:id="rId11" imgW="304536" imgH="203024" progId="Equation.3">
                    <p:embed/>
                    <p:pic>
                      <p:nvPicPr>
                        <p:cNvPr id="1333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1449"/>
                          <a:ext cx="480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31" name="Line 11"/>
            <p:cNvSpPr>
              <a:spLocks noChangeShapeType="1"/>
            </p:cNvSpPr>
            <p:nvPr/>
          </p:nvSpPr>
          <p:spPr bwMode="auto">
            <a:xfrm>
              <a:off x="1488" y="1593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332" name="Text Box 10"/>
            <p:cNvSpPr txBox="1">
              <a:spLocks noChangeArrowheads="1"/>
            </p:cNvSpPr>
            <p:nvPr/>
          </p:nvSpPr>
          <p:spPr bwMode="auto">
            <a:xfrm>
              <a:off x="1584" y="1344"/>
              <a:ext cx="62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1800" b="1">
                  <a:solidFill>
                    <a:prstClr val="black"/>
                  </a:solidFill>
                </a:rPr>
                <a:t>抽样</a:t>
              </a:r>
            </a:p>
          </p:txBody>
        </p:sp>
      </p:grpSp>
      <p:grpSp>
        <p:nvGrpSpPr>
          <p:cNvPr id="16388" name="Group 4"/>
          <p:cNvGrpSpPr>
            <a:grpSpLocks/>
          </p:cNvGrpSpPr>
          <p:nvPr/>
        </p:nvGrpSpPr>
        <p:grpSpPr bwMode="auto">
          <a:xfrm>
            <a:off x="5668963" y="1828800"/>
            <a:ext cx="3505200" cy="700088"/>
            <a:chOff x="2611" y="1344"/>
            <a:chExt cx="2208" cy="441"/>
          </a:xfrm>
        </p:grpSpPr>
        <p:graphicFrame>
          <p:nvGraphicFramePr>
            <p:cNvPr id="13326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06409274"/>
                </p:ext>
              </p:extLst>
            </p:nvPr>
          </p:nvGraphicFramePr>
          <p:xfrm>
            <a:off x="2611" y="1478"/>
            <a:ext cx="441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9118" name="Equation" r:id="rId13" imgW="291960" imgH="203040" progId="Equation.DSMT4">
                    <p:embed/>
                  </p:oleObj>
                </mc:Choice>
                <mc:Fallback>
                  <p:oleObj name="Equation" r:id="rId13" imgW="291960" imgH="203040" progId="Equation.DSMT4">
                    <p:embed/>
                    <p:pic>
                      <p:nvPicPr>
                        <p:cNvPr id="13326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11" y="1478"/>
                          <a:ext cx="441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7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2905859"/>
                </p:ext>
              </p:extLst>
            </p:nvPr>
          </p:nvGraphicFramePr>
          <p:xfrm>
            <a:off x="4284" y="1449"/>
            <a:ext cx="535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9119" name="Equation" r:id="rId15" imgW="355320" imgH="203040" progId="Equation.DSMT4">
                    <p:embed/>
                  </p:oleObj>
                </mc:Choice>
                <mc:Fallback>
                  <p:oleObj name="Equation" r:id="rId15" imgW="355320" imgH="203040" progId="Equation.DSMT4">
                    <p:embed/>
                    <p:pic>
                      <p:nvPicPr>
                        <p:cNvPr id="13327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4" y="1449"/>
                          <a:ext cx="535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8" name="Line 6"/>
            <p:cNvSpPr>
              <a:spLocks noChangeShapeType="1"/>
            </p:cNvSpPr>
            <p:nvPr/>
          </p:nvSpPr>
          <p:spPr bwMode="auto">
            <a:xfrm>
              <a:off x="3360" y="1593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329" name="Text Box 5"/>
            <p:cNvSpPr txBox="1">
              <a:spLocks noChangeArrowheads="1"/>
            </p:cNvSpPr>
            <p:nvPr/>
          </p:nvSpPr>
          <p:spPr bwMode="auto">
            <a:xfrm>
              <a:off x="3504" y="1344"/>
              <a:ext cx="62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800" b="1">
                  <a:solidFill>
                    <a:prstClr val="black"/>
                  </a:solidFill>
                </a:rPr>
                <a:t>DFT</a:t>
              </a:r>
            </a:p>
          </p:txBody>
        </p:sp>
      </p:grpSp>
      <p:sp>
        <p:nvSpPr>
          <p:cNvPr id="16387" name="Line 3"/>
          <p:cNvSpPr>
            <a:spLocks noChangeShapeType="1"/>
          </p:cNvSpPr>
          <p:nvPr/>
        </p:nvSpPr>
        <p:spPr bwMode="auto">
          <a:xfrm>
            <a:off x="3200400" y="2514600"/>
            <a:ext cx="0" cy="6858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prstClr val="black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6386" name="Line 2"/>
          <p:cNvSpPr>
            <a:spLocks noChangeShapeType="1"/>
          </p:cNvSpPr>
          <p:nvPr/>
        </p:nvSpPr>
        <p:spPr bwMode="auto">
          <a:xfrm>
            <a:off x="6019800" y="2514600"/>
            <a:ext cx="0" cy="5334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prstClr val="black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6385" name="Line 1"/>
          <p:cNvSpPr>
            <a:spLocks noChangeShapeType="1"/>
          </p:cNvSpPr>
          <p:nvPr/>
        </p:nvSpPr>
        <p:spPr bwMode="auto">
          <a:xfrm>
            <a:off x="8763000" y="2438400"/>
            <a:ext cx="0" cy="4572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prstClr val="black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325" name="Rectangle 0"/>
          <p:cNvSpPr>
            <a:spLocks noChangeArrowheads="1"/>
          </p:cNvSpPr>
          <p:nvPr/>
        </p:nvSpPr>
        <p:spPr bwMode="auto">
          <a:xfrm>
            <a:off x="1676400" y="990600"/>
            <a:ext cx="8915400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19433" y="3200931"/>
            <a:ext cx="3070890" cy="2230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81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6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6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6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5"/>
          <p:cNvSpPr txBox="1">
            <a:spLocks noChangeArrowheads="1"/>
          </p:cNvSpPr>
          <p:nvPr/>
        </p:nvSpPr>
        <p:spPr bwMode="auto">
          <a:xfrm>
            <a:off x="3200400" y="228601"/>
            <a:ext cx="525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3366FF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sz="2800" b="1">
                <a:solidFill>
                  <a:srgbClr val="3366FF"/>
                </a:solidFill>
                <a:ea typeface="华文中宋" panose="02010600040101010101" pitchFamily="2" charset="-122"/>
              </a:rPr>
              <a:t>3</a:t>
            </a:r>
            <a:r>
              <a:rPr lang="zh-CN" altLang="en-US" sz="2800" b="1">
                <a:solidFill>
                  <a:srgbClr val="3366FF"/>
                </a:solidFill>
                <a:ea typeface="华文中宋" panose="02010600040101010101" pitchFamily="2" charset="-122"/>
              </a:rPr>
              <a:t>）       无限长，其频带无限</a:t>
            </a:r>
          </a:p>
        </p:txBody>
      </p:sp>
      <p:graphicFrame>
        <p:nvGraphicFramePr>
          <p:cNvPr id="14339" name="Object 24"/>
          <p:cNvGraphicFramePr>
            <a:graphicFrameLocks noChangeAspect="1"/>
          </p:cNvGraphicFramePr>
          <p:nvPr/>
        </p:nvGraphicFramePr>
        <p:xfrm>
          <a:off x="4191000" y="290513"/>
          <a:ext cx="762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148" name="Equation" r:id="rId3" imgW="285803" imgH="182927" progId="Equation.3">
                  <p:embed/>
                </p:oleObj>
              </mc:Choice>
              <mc:Fallback>
                <p:oleObj name="Equation" r:id="rId3" imgW="285803" imgH="182927" progId="Equation.3">
                  <p:embed/>
                  <p:pic>
                    <p:nvPicPr>
                      <p:cNvPr id="14339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290513"/>
                        <a:ext cx="7620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427" name="Group 19"/>
          <p:cNvGrpSpPr>
            <a:grpSpLocks/>
          </p:cNvGrpSpPr>
          <p:nvPr/>
        </p:nvGrpSpPr>
        <p:grpSpPr bwMode="auto">
          <a:xfrm>
            <a:off x="5181601" y="1295400"/>
            <a:ext cx="2316163" cy="990600"/>
            <a:chOff x="2304" y="1152"/>
            <a:chExt cx="1459" cy="624"/>
          </a:xfrm>
        </p:grpSpPr>
        <p:sp>
          <p:nvSpPr>
            <p:cNvPr id="14360" name="Oval 23"/>
            <p:cNvSpPr>
              <a:spLocks noChangeArrowheads="1"/>
            </p:cNvSpPr>
            <p:nvPr/>
          </p:nvSpPr>
          <p:spPr bwMode="auto">
            <a:xfrm>
              <a:off x="2304" y="1152"/>
              <a:ext cx="864" cy="624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graphicFrame>
          <p:nvGraphicFramePr>
            <p:cNvPr id="14361" name="Object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57613341"/>
                </p:ext>
              </p:extLst>
            </p:nvPr>
          </p:nvGraphicFramePr>
          <p:xfrm>
            <a:off x="3190" y="1326"/>
            <a:ext cx="573" cy="3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0149" name="Equation" r:id="rId5" imgW="380880" imgH="228600" progId="Equation.DSMT4">
                    <p:embed/>
                  </p:oleObj>
                </mc:Choice>
                <mc:Fallback>
                  <p:oleObj name="Equation" r:id="rId5" imgW="380880" imgH="228600" progId="Equation.DSMT4">
                    <p:embed/>
                    <p:pic>
                      <p:nvPicPr>
                        <p:cNvPr id="14361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90" y="1326"/>
                          <a:ext cx="573" cy="3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62" name="Line 21"/>
            <p:cNvSpPr>
              <a:spLocks noChangeShapeType="1"/>
            </p:cNvSpPr>
            <p:nvPr/>
          </p:nvSpPr>
          <p:spPr bwMode="auto">
            <a:xfrm>
              <a:off x="2400" y="148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363" name="Text Box 20"/>
            <p:cNvSpPr txBox="1">
              <a:spLocks noChangeArrowheads="1"/>
            </p:cNvSpPr>
            <p:nvPr/>
          </p:nvSpPr>
          <p:spPr bwMode="auto">
            <a:xfrm>
              <a:off x="2544" y="1257"/>
              <a:ext cx="4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1800" b="1">
                  <a:solidFill>
                    <a:prstClr val="black"/>
                  </a:solidFill>
                </a:rPr>
                <a:t>加窗</a:t>
              </a:r>
            </a:p>
          </p:txBody>
        </p:sp>
      </p:grpSp>
      <p:sp>
        <p:nvSpPr>
          <p:cNvPr id="17426" name="Text Box 18"/>
          <p:cNvSpPr txBox="1">
            <a:spLocks noChangeArrowheads="1"/>
          </p:cNvSpPr>
          <p:nvPr/>
        </p:nvSpPr>
        <p:spPr bwMode="auto">
          <a:xfrm>
            <a:off x="2971800" y="5638800"/>
            <a:ext cx="5334000" cy="457200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prstClr val="black"/>
                </a:solidFill>
                <a:ea typeface="黑体" panose="02010609060101010101" pitchFamily="49" charset="-122"/>
              </a:rPr>
              <a:t>出现三种现象</a:t>
            </a:r>
            <a:r>
              <a:rPr lang="zh-CN" altLang="en-US">
                <a:solidFill>
                  <a:prstClr val="black"/>
                </a:solidFill>
              </a:rPr>
              <a:t>：</a:t>
            </a:r>
            <a:r>
              <a:rPr lang="zh-CN" altLang="en-US">
                <a:solidFill>
                  <a:srgbClr val="0563C1"/>
                </a:solidFill>
                <a:ea typeface="黑体" panose="02010609060101010101" pitchFamily="49" charset="-122"/>
              </a:rPr>
              <a:t>混叠、泄漏、栅栏</a:t>
            </a:r>
          </a:p>
        </p:txBody>
      </p:sp>
      <p:graphicFrame>
        <p:nvGraphicFramePr>
          <p:cNvPr id="17425" name="Object 17"/>
          <p:cNvGraphicFramePr>
            <a:graphicFrameLocks noChangeAspect="1"/>
          </p:cNvGraphicFramePr>
          <p:nvPr/>
        </p:nvGraphicFramePr>
        <p:xfrm>
          <a:off x="1828800" y="2133600"/>
          <a:ext cx="220980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150" name="Visio" r:id="rId7" imgW="1200852" imgH="946977" progId="Visio.Drawing.6">
                  <p:embed/>
                </p:oleObj>
              </mc:Choice>
              <mc:Fallback>
                <p:oleObj name="Visio" r:id="rId7" imgW="1200852" imgH="946977" progId="Visio.Drawing.6">
                  <p:embed/>
                  <p:pic>
                    <p:nvPicPr>
                      <p:cNvPr id="17425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133600"/>
                        <a:ext cx="2209800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4" name="Object 16"/>
          <p:cNvGraphicFramePr>
            <a:graphicFrameLocks noChangeAspect="1"/>
          </p:cNvGraphicFramePr>
          <p:nvPr/>
        </p:nvGraphicFramePr>
        <p:xfrm>
          <a:off x="2895600" y="3505200"/>
          <a:ext cx="342900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151" name="Visio" r:id="rId9" imgW="2238199" imgH="942518" progId="Visio.Drawing.6">
                  <p:embed/>
                </p:oleObj>
              </mc:Choice>
              <mc:Fallback>
                <p:oleObj name="Visio" r:id="rId9" imgW="2238199" imgH="942518" progId="Visio.Drawing.6">
                  <p:embed/>
                  <p:pic>
                    <p:nvPicPr>
                      <p:cNvPr id="17424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3505200"/>
                        <a:ext cx="3429000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3" name="Object 15"/>
          <p:cNvGraphicFramePr>
            <a:graphicFrameLocks noChangeAspect="1"/>
          </p:cNvGraphicFramePr>
          <p:nvPr/>
        </p:nvGraphicFramePr>
        <p:xfrm>
          <a:off x="5715000" y="2209800"/>
          <a:ext cx="3200400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152" name="Visio" r:id="rId11" imgW="2235450" imgH="948100" progId="Visio.Drawing.6">
                  <p:embed/>
                </p:oleObj>
              </mc:Choice>
              <mc:Fallback>
                <p:oleObj name="Visio" r:id="rId11" imgW="2235450" imgH="948100" progId="Visio.Drawing.6">
                  <p:embed/>
                  <p:pic>
                    <p:nvPicPr>
                      <p:cNvPr id="1742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2209800"/>
                        <a:ext cx="3200400" cy="198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417" name="Group 9"/>
          <p:cNvGrpSpPr>
            <a:grpSpLocks/>
          </p:cNvGrpSpPr>
          <p:nvPr/>
        </p:nvGrpSpPr>
        <p:grpSpPr bwMode="auto">
          <a:xfrm>
            <a:off x="2286001" y="1430338"/>
            <a:ext cx="2789238" cy="685800"/>
            <a:chOff x="480" y="1248"/>
            <a:chExt cx="1757" cy="432"/>
          </a:xfrm>
        </p:grpSpPr>
        <p:graphicFrame>
          <p:nvGraphicFramePr>
            <p:cNvPr id="14356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1875794"/>
                </p:ext>
              </p:extLst>
            </p:nvPr>
          </p:nvGraphicFramePr>
          <p:xfrm>
            <a:off x="1795" y="1373"/>
            <a:ext cx="442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0153" name="Equation" r:id="rId13" imgW="291960" imgH="203040" progId="Equation.DSMT4">
                    <p:embed/>
                  </p:oleObj>
                </mc:Choice>
                <mc:Fallback>
                  <p:oleObj name="Equation" r:id="rId13" imgW="291960" imgH="203040" progId="Equation.DSMT4">
                    <p:embed/>
                    <p:pic>
                      <p:nvPicPr>
                        <p:cNvPr id="14356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5" y="1373"/>
                          <a:ext cx="442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7" name="Object 12"/>
            <p:cNvGraphicFramePr>
              <a:graphicFrameLocks noChangeAspect="1"/>
            </p:cNvGraphicFramePr>
            <p:nvPr/>
          </p:nvGraphicFramePr>
          <p:xfrm>
            <a:off x="480" y="1344"/>
            <a:ext cx="480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0154" name="Equation" r:id="rId15" imgW="304536" imgH="203024" progId="Equation.3">
                    <p:embed/>
                  </p:oleObj>
                </mc:Choice>
                <mc:Fallback>
                  <p:oleObj name="Equation" r:id="rId15" imgW="304536" imgH="203024" progId="Equation.3">
                    <p:embed/>
                    <p:pic>
                      <p:nvPicPr>
                        <p:cNvPr id="14357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" y="1344"/>
                          <a:ext cx="480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8" name="Line 11"/>
            <p:cNvSpPr>
              <a:spLocks noChangeShapeType="1"/>
            </p:cNvSpPr>
            <p:nvPr/>
          </p:nvSpPr>
          <p:spPr bwMode="auto">
            <a:xfrm>
              <a:off x="1008" y="148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359" name="Text Box 10"/>
            <p:cNvSpPr txBox="1">
              <a:spLocks noChangeArrowheads="1"/>
            </p:cNvSpPr>
            <p:nvPr/>
          </p:nvSpPr>
          <p:spPr bwMode="auto">
            <a:xfrm>
              <a:off x="1152" y="1248"/>
              <a:ext cx="5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1800" b="1">
                  <a:solidFill>
                    <a:prstClr val="black"/>
                  </a:solidFill>
                </a:rPr>
                <a:t>抽样</a:t>
              </a:r>
            </a:p>
          </p:txBody>
        </p:sp>
      </p:grpSp>
      <p:grpSp>
        <p:nvGrpSpPr>
          <p:cNvPr id="17413" name="Group 5"/>
          <p:cNvGrpSpPr>
            <a:grpSpLocks/>
          </p:cNvGrpSpPr>
          <p:nvPr/>
        </p:nvGrpSpPr>
        <p:grpSpPr bwMode="auto">
          <a:xfrm>
            <a:off x="7593268" y="1447802"/>
            <a:ext cx="2014538" cy="623888"/>
            <a:chOff x="3840" y="1248"/>
            <a:chExt cx="1269" cy="393"/>
          </a:xfrm>
        </p:grpSpPr>
        <p:graphicFrame>
          <p:nvGraphicFramePr>
            <p:cNvPr id="14353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94539741"/>
                </p:ext>
              </p:extLst>
            </p:nvPr>
          </p:nvGraphicFramePr>
          <p:xfrm>
            <a:off x="4588" y="1344"/>
            <a:ext cx="521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0155" name="Equation" r:id="rId17" imgW="355320" imgH="203040" progId="Equation.DSMT4">
                    <p:embed/>
                  </p:oleObj>
                </mc:Choice>
                <mc:Fallback>
                  <p:oleObj name="Equation" r:id="rId17" imgW="355320" imgH="203040" progId="Equation.DSMT4">
                    <p:embed/>
                    <p:pic>
                      <p:nvPicPr>
                        <p:cNvPr id="14353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88" y="1344"/>
                          <a:ext cx="521" cy="2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4" name="Line 7"/>
            <p:cNvSpPr>
              <a:spLocks noChangeShapeType="1"/>
            </p:cNvSpPr>
            <p:nvPr/>
          </p:nvSpPr>
          <p:spPr bwMode="auto">
            <a:xfrm>
              <a:off x="3840" y="148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355" name="Text Box 6"/>
            <p:cNvSpPr txBox="1">
              <a:spLocks noChangeArrowheads="1"/>
            </p:cNvSpPr>
            <p:nvPr/>
          </p:nvSpPr>
          <p:spPr bwMode="auto">
            <a:xfrm>
              <a:off x="3984" y="1248"/>
              <a:ext cx="5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800" b="1">
                  <a:solidFill>
                    <a:prstClr val="black"/>
                  </a:solidFill>
                </a:rPr>
                <a:t>DFT</a:t>
              </a:r>
            </a:p>
          </p:txBody>
        </p:sp>
      </p:grpSp>
      <p:sp>
        <p:nvSpPr>
          <p:cNvPr id="17412" name="Line 4"/>
          <p:cNvSpPr>
            <a:spLocks noChangeShapeType="1"/>
          </p:cNvSpPr>
          <p:nvPr/>
        </p:nvSpPr>
        <p:spPr bwMode="auto">
          <a:xfrm>
            <a:off x="2438400" y="1981200"/>
            <a:ext cx="0" cy="7620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prstClr val="black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411" name="Line 3"/>
          <p:cNvSpPr>
            <a:spLocks noChangeShapeType="1"/>
          </p:cNvSpPr>
          <p:nvPr/>
        </p:nvSpPr>
        <p:spPr bwMode="auto">
          <a:xfrm>
            <a:off x="4648200" y="2133600"/>
            <a:ext cx="0" cy="13716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prstClr val="black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410" name="Line 2"/>
          <p:cNvSpPr>
            <a:spLocks noChangeShapeType="1"/>
          </p:cNvSpPr>
          <p:nvPr/>
        </p:nvSpPr>
        <p:spPr bwMode="auto">
          <a:xfrm>
            <a:off x="9372600" y="2057400"/>
            <a:ext cx="0" cy="19812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prstClr val="black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409" name="Line 1"/>
          <p:cNvSpPr>
            <a:spLocks noChangeShapeType="1"/>
          </p:cNvSpPr>
          <p:nvPr/>
        </p:nvSpPr>
        <p:spPr bwMode="auto">
          <a:xfrm>
            <a:off x="6934200" y="2133600"/>
            <a:ext cx="0" cy="5334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prstClr val="black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52" name="Rectangle 0"/>
          <p:cNvSpPr>
            <a:spLocks noChangeArrowheads="1"/>
          </p:cNvSpPr>
          <p:nvPr/>
        </p:nvSpPr>
        <p:spPr bwMode="auto">
          <a:xfrm>
            <a:off x="1676400" y="990600"/>
            <a:ext cx="8915400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600537" y="4190999"/>
            <a:ext cx="2674551" cy="1942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837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7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7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7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17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7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26" grpId="0" animBg="1" autoUpdateAnimBg="0"/>
    </p:bldLst>
  </p:timing>
</p:sld>
</file>

<file path=ppt/theme/theme1.xml><?xml version="1.0" encoding="utf-8"?>
<a:theme xmlns:a="http://schemas.openxmlformats.org/drawingml/2006/main" name="icfp99">
  <a:themeElements>
    <a:clrScheme name="icfp99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B2B2B2"/>
      </a:folHlink>
    </a:clrScheme>
    <a:fontScheme name="icfp99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lnDef>
  </a:objectDefaults>
  <a:extraClrSchemeLst>
    <a:extraClrScheme>
      <a:clrScheme name="icfp99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cfp99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</TotalTime>
  <Words>863</Words>
  <Application>Microsoft Office PowerPoint</Application>
  <PresentationFormat>宽屏</PresentationFormat>
  <Paragraphs>136</Paragraphs>
  <Slides>29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29</vt:i4>
      </vt:variant>
    </vt:vector>
  </HeadingPairs>
  <TitlesOfParts>
    <vt:vector size="49" baseType="lpstr">
      <vt:lpstr>等线</vt:lpstr>
      <vt:lpstr>等线 Light</vt:lpstr>
      <vt:lpstr>黑体</vt:lpstr>
      <vt:lpstr>宋体</vt:lpstr>
      <vt:lpstr>华文中宋</vt:lpstr>
      <vt:lpstr>Arial</vt:lpstr>
      <vt:lpstr>Comic Sans MS</vt:lpstr>
      <vt:lpstr>Symbol</vt:lpstr>
      <vt:lpstr>Tahoma</vt:lpstr>
      <vt:lpstr>Times New Roman</vt:lpstr>
      <vt:lpstr>Wingdings</vt:lpstr>
      <vt:lpstr>icfp99</vt:lpstr>
      <vt:lpstr>Office 主题​​</vt:lpstr>
      <vt:lpstr>1_Office 主题​​</vt:lpstr>
      <vt:lpstr>MathType 7.0 Equation</vt:lpstr>
      <vt:lpstr>公式</vt:lpstr>
      <vt:lpstr>Equation</vt:lpstr>
      <vt:lpstr>Visio</vt:lpstr>
      <vt:lpstr>Microsoft Visio 2000/2002 Drawing</vt:lpstr>
      <vt:lpstr>位图图像</vt:lpstr>
      <vt:lpstr>PowerPoint 演示文稿</vt:lpstr>
      <vt:lpstr>PowerPoint 演示文稿</vt:lpstr>
      <vt:lpstr>PowerPoint 演示文稿</vt:lpstr>
      <vt:lpstr>PowerPoint 演示文稿</vt:lpstr>
      <vt:lpstr>线性卷积的矩阵表示</vt:lpstr>
      <vt:lpstr>循环卷积的矩阵表示</vt:lpstr>
      <vt:lpstr>循环卷积的矩阵表示</vt:lpstr>
      <vt:lpstr>若x[n]的长度为N，h[n]的长度为M，则L=N+M-1点循环卷积等于x[n] 与h[n]的线性卷积。</vt:lpstr>
      <vt:lpstr>PowerPoint 演示文稿</vt:lpstr>
      <vt:lpstr>PowerPoint 演示文稿</vt:lpstr>
      <vt:lpstr>序列DFT与z变换的关系</vt:lpstr>
      <vt:lpstr>PowerPoint 演示文稿</vt:lpstr>
      <vt:lpstr>线性相关与圆周相关</vt:lpstr>
      <vt:lpstr>PowerPoint 演示文稿</vt:lpstr>
      <vt:lpstr>PowerPoint 演示文稿</vt:lpstr>
      <vt:lpstr>PowerPoint 演示文稿</vt:lpstr>
      <vt:lpstr>利用DFT分析信号频谱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第3章 离散时间系统的频域分析—傅立叶变换</dc:title>
  <dc:creator>Administrator</dc:creator>
  <cp:lastModifiedBy>CHAO WU</cp:lastModifiedBy>
  <cp:revision>41</cp:revision>
  <dcterms:created xsi:type="dcterms:W3CDTF">2020-08-06T07:31:11Z</dcterms:created>
  <dcterms:modified xsi:type="dcterms:W3CDTF">2022-10-15T09:14:13Z</dcterms:modified>
</cp:coreProperties>
</file>