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11" r:id="rId2"/>
    <p:sldId id="331" r:id="rId3"/>
    <p:sldId id="312" r:id="rId4"/>
    <p:sldId id="313" r:id="rId5"/>
    <p:sldId id="314" r:id="rId6"/>
    <p:sldId id="315" r:id="rId7"/>
    <p:sldId id="316" r:id="rId8"/>
    <p:sldId id="317" r:id="rId9"/>
    <p:sldId id="31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88328" autoAdjust="0"/>
  </p:normalViewPr>
  <p:slideViewPr>
    <p:cSldViewPr snapToGrid="0">
      <p:cViewPr varScale="1">
        <p:scale>
          <a:sx n="64" d="100"/>
          <a:sy n="64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B99D7-9870-43E7-878E-5BB0F9D871EE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04442-28C1-41EF-8780-A19FF9896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5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5E4010-1139-4C2A-9326-C396586AA31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32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C197CF-7F36-4311-8729-99A4B4E4FC2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9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74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3149E6-E80C-4A44-B4C0-A4914EE4417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0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322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491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72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441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382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5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682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3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985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56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922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5624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528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0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2.jpeg"/><Relationship Id="rId4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91DF15-F1CD-43CF-9564-BBF1598CA0C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381000"/>
            <a:ext cx="7239000" cy="9144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系统的频率响应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graphicFrame>
        <p:nvGraphicFramePr>
          <p:cNvPr id="48132" name="对象 2"/>
          <p:cNvGraphicFramePr>
            <a:graphicFrameLocks noChangeAspect="1"/>
          </p:cNvGraphicFramePr>
          <p:nvPr/>
        </p:nvGraphicFramePr>
        <p:xfrm>
          <a:off x="2967039" y="1631950"/>
          <a:ext cx="376078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0" name="Equation" r:id="rId4" imgW="1930400" imgH="368300" progId="Equation.DSMT4">
                  <p:embed/>
                </p:oleObj>
              </mc:Choice>
              <mc:Fallback>
                <p:oleObj name="Equation" r:id="rId4" imgW="1930400" imgH="368300" progId="Equation.DSMT4">
                  <p:embed/>
                  <p:pic>
                    <p:nvPicPr>
                      <p:cNvPr id="48132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9" y="1631950"/>
                        <a:ext cx="3760787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TextBox 3"/>
          <p:cNvSpPr txBox="1">
            <a:spLocks noChangeArrowheads="1"/>
          </p:cNvSpPr>
          <p:nvPr/>
        </p:nvSpPr>
        <p:spPr bwMode="auto">
          <a:xfrm>
            <a:off x="3817938" y="2514600"/>
            <a:ext cx="2506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幅频响应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、相频响应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4" name="TextBox 4"/>
          <p:cNvSpPr txBox="1">
            <a:spLocks noChangeArrowheads="1"/>
          </p:cNvSpPr>
          <p:nvPr/>
        </p:nvSpPr>
        <p:spPr bwMode="auto">
          <a:xfrm>
            <a:off x="2133600" y="1752600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定义：</a:t>
            </a:r>
          </a:p>
        </p:txBody>
      </p:sp>
      <p:sp>
        <p:nvSpPr>
          <p:cNvPr id="48135" name="TextBox 5"/>
          <p:cNvSpPr txBox="1">
            <a:spLocks noChangeArrowheads="1"/>
          </p:cNvSpPr>
          <p:nvPr/>
        </p:nvSpPr>
        <p:spPr bwMode="auto">
          <a:xfrm>
            <a:off x="2209800" y="3181350"/>
            <a:ext cx="3797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频率响应的意义（滤波特性）：</a:t>
            </a:r>
          </a:p>
        </p:txBody>
      </p:sp>
      <p:graphicFrame>
        <p:nvGraphicFramePr>
          <p:cNvPr id="48136" name="对象 7"/>
          <p:cNvGraphicFramePr>
            <a:graphicFrameLocks noChangeAspect="1"/>
          </p:cNvGraphicFramePr>
          <p:nvPr/>
        </p:nvGraphicFramePr>
        <p:xfrm>
          <a:off x="2533650" y="3733801"/>
          <a:ext cx="5010150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1" name="Equation" r:id="rId6" imgW="2260600" imgH="749300" progId="Equation.DSMT4">
                  <p:embed/>
                </p:oleObj>
              </mc:Choice>
              <mc:Fallback>
                <p:oleObj name="Equation" r:id="rId6" imgW="2260600" imgH="749300" progId="Equation.DSMT4">
                  <p:embed/>
                  <p:pic>
                    <p:nvPicPr>
                      <p:cNvPr id="48136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3733801"/>
                        <a:ext cx="5010150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7" name="TextBox 8"/>
          <p:cNvSpPr txBox="1">
            <a:spLocks noChangeArrowheads="1"/>
          </p:cNvSpPr>
          <p:nvPr/>
        </p:nvSpPr>
        <p:spPr bwMode="auto">
          <a:xfrm>
            <a:off x="7924800" y="3409950"/>
            <a:ext cx="1474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输入信号：</a:t>
            </a:r>
          </a:p>
        </p:txBody>
      </p:sp>
      <p:graphicFrame>
        <p:nvGraphicFramePr>
          <p:cNvPr id="48138" name="对象 9"/>
          <p:cNvGraphicFramePr>
            <a:graphicFrameLocks noChangeAspect="1"/>
          </p:cNvGraphicFramePr>
          <p:nvPr/>
        </p:nvGraphicFramePr>
        <p:xfrm>
          <a:off x="8391526" y="3816350"/>
          <a:ext cx="15144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2" name="Equation" r:id="rId8" imgW="583947" imgH="203112" progId="Equation.DSMT4">
                  <p:embed/>
                </p:oleObj>
              </mc:Choice>
              <mc:Fallback>
                <p:oleObj name="Equation" r:id="rId8" imgW="583947" imgH="203112" progId="Equation.DSMT4">
                  <p:embed/>
                  <p:pic>
                    <p:nvPicPr>
                      <p:cNvPr id="48138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1526" y="3816350"/>
                        <a:ext cx="15144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9" name="对象 10"/>
          <p:cNvGraphicFramePr>
            <a:graphicFrameLocks noChangeAspect="1"/>
          </p:cNvGraphicFramePr>
          <p:nvPr/>
        </p:nvGraphicFramePr>
        <p:xfrm>
          <a:off x="3810001" y="5486401"/>
          <a:ext cx="2970213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3" name="Equation" r:id="rId10" imgW="710891" imgH="203112" progId="Equation.DSMT4">
                  <p:embed/>
                </p:oleObj>
              </mc:Choice>
              <mc:Fallback>
                <p:oleObj name="Equation" r:id="rId10" imgW="710891" imgH="203112" progId="Equation.DSMT4">
                  <p:embed/>
                  <p:pic>
                    <p:nvPicPr>
                      <p:cNvPr id="48139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5486401"/>
                        <a:ext cx="2970213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649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500" y="457200"/>
            <a:ext cx="9254699" cy="914400"/>
          </a:xfrm>
        </p:spPr>
        <p:txBody>
          <a:bodyPr/>
          <a:lstStyle/>
          <a:p>
            <a:r>
              <a:rPr lang="zh-CN" altLang="en-US" dirty="0"/>
              <a:t>相频响应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1074400" cy="647131"/>
          </a:xfrm>
        </p:spPr>
        <p:txBody>
          <a:bodyPr/>
          <a:lstStyle/>
          <a:p>
            <a:r>
              <a:rPr lang="zh-CN" altLang="en-US" dirty="0" smtClean="0"/>
              <a:t>线性相位与群时延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68483"/>
              </p:ext>
            </p:extLst>
          </p:nvPr>
        </p:nvGraphicFramePr>
        <p:xfrm>
          <a:off x="1477963" y="2486025"/>
          <a:ext cx="32162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0" name="Equation" r:id="rId3" imgW="1650960" imgH="266400" progId="Equation.DSMT4">
                  <p:embed/>
                </p:oleObj>
              </mc:Choice>
              <mc:Fallback>
                <p:oleObj name="Equation" r:id="rId3" imgW="1650960" imgH="266400" progId="Equation.DSMT4">
                  <p:embed/>
                  <p:pic>
                    <p:nvPicPr>
                      <p:cNvPr id="48132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2486025"/>
                        <a:ext cx="32162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257222"/>
              </p:ext>
            </p:extLst>
          </p:nvPr>
        </p:nvGraphicFramePr>
        <p:xfrm>
          <a:off x="5947699" y="2387599"/>
          <a:ext cx="1211262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1" name="Equation" r:id="rId5" imgW="622080" imgH="368280" progId="Equation.DSMT4">
                  <p:embed/>
                </p:oleObj>
              </mc:Choice>
              <mc:Fallback>
                <p:oleObj name="Equation" r:id="rId5" imgW="622080" imgH="368280" progId="Equation.DSMT4">
                  <p:embed/>
                  <p:pic>
                    <p:nvPicPr>
                      <p:cNvPr id="5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7699" y="2387599"/>
                        <a:ext cx="1211262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240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D42D66-AB5F-4961-BF5E-FDC3DDC5BE8B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0" y="381000"/>
            <a:ext cx="6096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897064" y="1595438"/>
            <a:ext cx="7762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设有一因果系统，其输入输出关系由以下差分方程确定 </a:t>
            </a:r>
          </a:p>
        </p:txBody>
      </p:sp>
      <p:graphicFrame>
        <p:nvGraphicFramePr>
          <p:cNvPr id="49157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480275"/>
              </p:ext>
            </p:extLst>
          </p:nvPr>
        </p:nvGraphicFramePr>
        <p:xfrm>
          <a:off x="4519613" y="2185988"/>
          <a:ext cx="2532062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5" name="Equation" r:id="rId4" imgW="1231560" imgH="342720" progId="Equation.DSMT4">
                  <p:embed/>
                </p:oleObj>
              </mc:Choice>
              <mc:Fallback>
                <p:oleObj name="Equation" r:id="rId4" imgW="1231560" imgH="342720" progId="Equation.DSMT4">
                  <p:embed/>
                  <p:pic>
                    <p:nvPicPr>
                      <p:cNvPr id="49157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9613" y="2185988"/>
                        <a:ext cx="2532062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2054225" y="2965450"/>
            <a:ext cx="559435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 求该系统的单位脉冲响应； </a:t>
            </a:r>
          </a:p>
          <a:p>
            <a:pPr marL="0" marR="0" lvl="0" indent="0" algn="l" defTabSz="914400" rtl="0" eaLnBrk="1" fontAlgn="base" latinLnBrk="0" hangingPunct="1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 求输入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)=e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jπ</a:t>
            </a:r>
            <a:r>
              <a:rPr kumimoji="1" lang="en-US" altLang="zh-CN" sz="24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的响应。 </a:t>
            </a:r>
          </a:p>
        </p:txBody>
      </p:sp>
    </p:spTree>
    <p:extLst>
      <p:ext uri="{BB962C8B-B14F-4D97-AF65-F5344CB8AC3E}">
        <p14:creationId xmlns:p14="http://schemas.microsoft.com/office/powerpoint/2010/main" val="320757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内容占位符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056582"/>
              </p:ext>
            </p:extLst>
          </p:nvPr>
        </p:nvGraphicFramePr>
        <p:xfrm>
          <a:off x="1082675" y="1600200"/>
          <a:ext cx="3476625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5" name="Equation" r:id="rId3" imgW="1600200" imgH="1473120" progId="Equation.DSMT4">
                  <p:embed/>
                </p:oleObj>
              </mc:Choice>
              <mc:Fallback>
                <p:oleObj name="Equation" r:id="rId3" imgW="1600200" imgH="1473120" progId="Equation.DSMT4">
                  <p:embed/>
                  <p:pic>
                    <p:nvPicPr>
                      <p:cNvPr id="5" name="内容占位符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675" y="1600200"/>
                        <a:ext cx="3476625" cy="320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内容占位符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122131"/>
              </p:ext>
            </p:extLst>
          </p:nvPr>
        </p:nvGraphicFramePr>
        <p:xfrm>
          <a:off x="7050088" y="2630488"/>
          <a:ext cx="2206625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6" name="Equation" r:id="rId5" imgW="952200" imgH="571320" progId="Equation.DSMT4">
                  <p:embed/>
                </p:oleObj>
              </mc:Choice>
              <mc:Fallback>
                <p:oleObj name="Equation" r:id="rId5" imgW="952200" imgH="571320" progId="Equation.DSMT4">
                  <p:embed/>
                  <p:pic>
                    <p:nvPicPr>
                      <p:cNvPr id="6" name="内容占位符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50088" y="2630488"/>
                        <a:ext cx="2206625" cy="1323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内容占位符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784938"/>
              </p:ext>
            </p:extLst>
          </p:nvPr>
        </p:nvGraphicFramePr>
        <p:xfrm>
          <a:off x="588963" y="5233988"/>
          <a:ext cx="482282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7" name="Equation" r:id="rId7" imgW="2082600" imgH="393480" progId="Equation.DSMT4">
                  <p:embed/>
                </p:oleObj>
              </mc:Choice>
              <mc:Fallback>
                <p:oleObj name="Equation" r:id="rId7" imgW="2082600" imgH="393480" progId="Equation.DSMT4">
                  <p:embed/>
                  <p:pic>
                    <p:nvPicPr>
                      <p:cNvPr id="7" name="内容占位符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8963" y="5233988"/>
                        <a:ext cx="4822825" cy="912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338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31FA5B-5B03-43D4-AF71-89C52EC9AB4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2779714" y="292100"/>
            <a:ext cx="7126287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零、极点对频率响应的影响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50180" name="对象 5"/>
          <p:cNvGraphicFramePr>
            <a:graphicFrameLocks noChangeAspect="1"/>
          </p:cNvGraphicFramePr>
          <p:nvPr/>
        </p:nvGraphicFramePr>
        <p:xfrm>
          <a:off x="2514601" y="1600200"/>
          <a:ext cx="6550025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6" name="Equation" r:id="rId4" imgW="3238500" imgH="838200" progId="Equation.3">
                  <p:embed/>
                </p:oleObj>
              </mc:Choice>
              <mc:Fallback>
                <p:oleObj name="Equation" r:id="rId4" imgW="3238500" imgH="838200" progId="Equation.3">
                  <p:embed/>
                  <p:pic>
                    <p:nvPicPr>
                      <p:cNvPr id="5018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1600200"/>
                        <a:ext cx="6550025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对象 6"/>
          <p:cNvGraphicFramePr>
            <a:graphicFrameLocks noChangeAspect="1"/>
          </p:cNvGraphicFramePr>
          <p:nvPr/>
        </p:nvGraphicFramePr>
        <p:xfrm>
          <a:off x="2514601" y="3879850"/>
          <a:ext cx="369887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7" name="Equation" r:id="rId6" imgW="1511300" imgH="723900" progId="Equation.DSMT4">
                  <p:embed/>
                </p:oleObj>
              </mc:Choice>
              <mc:Fallback>
                <p:oleObj name="Equation" r:id="rId6" imgW="1511300" imgH="723900" progId="Equation.DSMT4">
                  <p:embed/>
                  <p:pic>
                    <p:nvPicPr>
                      <p:cNvPr id="50181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3879850"/>
                        <a:ext cx="3698875" cy="177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182" name="Picture 3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6" y="3505200"/>
            <a:ext cx="2867025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801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B7B753-1F76-4444-89AC-680C16624650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1965326" y="1509713"/>
            <a:ext cx="8397875" cy="18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设一个因果系统的差分方程为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)=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)+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ay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-1)     |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|&lt;1,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为实数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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求系统的频率响应。</a:t>
            </a:r>
          </a:p>
        </p:txBody>
      </p:sp>
      <p:pic>
        <p:nvPicPr>
          <p:cNvPr id="5120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012" y="3692192"/>
            <a:ext cx="31527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2079458" y="3672140"/>
          <a:ext cx="5000118" cy="2500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7" name="Equation" r:id="rId4" imgW="2209680" imgH="1104840" progId="Equation.DSMT4">
                  <p:embed/>
                </p:oleObj>
              </mc:Choice>
              <mc:Fallback>
                <p:oleObj name="Equation" r:id="rId4" imgW="2209680" imgH="11048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79458" y="3672140"/>
                        <a:ext cx="5000118" cy="2500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172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Z</a:t>
            </a:r>
            <a:r>
              <a:rPr lang="zh-CN" altLang="en-US" smtClean="0">
                <a:ea typeface="宋体" panose="02010600030101010101" pitchFamily="2" charset="-122"/>
              </a:rPr>
              <a:t>变换与拉氏变换的关系</a:t>
            </a:r>
          </a:p>
        </p:txBody>
      </p:sp>
      <p:sp>
        <p:nvSpPr>
          <p:cNvPr id="5222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57D6E3-6AC2-4675-91AB-8BBC5D74008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228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217589"/>
              </p:ext>
            </p:extLst>
          </p:nvPr>
        </p:nvGraphicFramePr>
        <p:xfrm>
          <a:off x="3352800" y="1600201"/>
          <a:ext cx="3086100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0" name="Equation" r:id="rId3" imgW="1435100" imgH="660400" progId="Equation.DSMT4">
                  <p:embed/>
                </p:oleObj>
              </mc:Choice>
              <mc:Fallback>
                <p:oleObj name="Equation" r:id="rId3" imgW="1435100" imgH="660400" progId="Equation.DSMT4">
                  <p:embed/>
                  <p:pic>
                    <p:nvPicPr>
                      <p:cNvPr id="52228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600201"/>
                        <a:ext cx="3086100" cy="141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对象 5"/>
          <p:cNvGraphicFramePr>
            <a:graphicFrameLocks noChangeAspect="1"/>
          </p:cNvGraphicFramePr>
          <p:nvPr/>
        </p:nvGraphicFramePr>
        <p:xfrm>
          <a:off x="4224338" y="3124200"/>
          <a:ext cx="3700462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1" name="Equation" r:id="rId5" imgW="1676400" imgH="1104900" progId="Equation.DSMT4">
                  <p:embed/>
                </p:oleObj>
              </mc:Choice>
              <mc:Fallback>
                <p:oleObj name="Equation" r:id="rId5" imgW="1676400" imgH="1104900" progId="Equation.DSMT4">
                  <p:embed/>
                  <p:pic>
                    <p:nvPicPr>
                      <p:cNvPr id="52229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3124200"/>
                        <a:ext cx="3700462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TextBox 6"/>
          <p:cNvSpPr txBox="1">
            <a:spLocks noChangeArrowheads="1"/>
          </p:cNvSpPr>
          <p:nvPr/>
        </p:nvSpPr>
        <p:spPr bwMode="auto">
          <a:xfrm>
            <a:off x="1981200" y="178752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拉氏变换</a:t>
            </a:r>
          </a:p>
        </p:txBody>
      </p:sp>
      <p:sp>
        <p:nvSpPr>
          <p:cNvPr id="52231" name="TextBox 8"/>
          <p:cNvSpPr txBox="1">
            <a:spLocks noChangeArrowheads="1"/>
          </p:cNvSpPr>
          <p:nvPr/>
        </p:nvSpPr>
        <p:spPr bwMode="auto">
          <a:xfrm>
            <a:off x="2133601" y="5638800"/>
            <a:ext cx="879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Z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变换</a:t>
            </a:r>
          </a:p>
        </p:txBody>
      </p:sp>
      <p:graphicFrame>
        <p:nvGraphicFramePr>
          <p:cNvPr id="52232" name="对象 9"/>
          <p:cNvGraphicFramePr>
            <a:graphicFrameLocks noChangeAspect="1"/>
          </p:cNvGraphicFramePr>
          <p:nvPr/>
        </p:nvGraphicFramePr>
        <p:xfrm>
          <a:off x="3124200" y="5581650"/>
          <a:ext cx="45339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2" name="Equation" r:id="rId7" imgW="2184400" imgH="431800" progId="Equation.3">
                  <p:embed/>
                </p:oleObj>
              </mc:Choice>
              <mc:Fallback>
                <p:oleObj name="Equation" r:id="rId7" imgW="2184400" imgH="431800" progId="Equation.3">
                  <p:embed/>
                  <p:pic>
                    <p:nvPicPr>
                      <p:cNvPr id="52232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581650"/>
                        <a:ext cx="45339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830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Z</a:t>
            </a:r>
            <a:r>
              <a:rPr lang="zh-CN" altLang="en-US" smtClean="0">
                <a:ea typeface="宋体" panose="02010600030101010101" pitchFamily="2" charset="-122"/>
              </a:rPr>
              <a:t>变换与拉氏变换的关系</a:t>
            </a:r>
          </a:p>
        </p:txBody>
      </p:sp>
      <p:sp>
        <p:nvSpPr>
          <p:cNvPr id="5325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1EEDEF-A4D3-4039-A121-89D64C78385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3252" name="对象 4"/>
          <p:cNvGraphicFramePr>
            <a:graphicFrameLocks noChangeAspect="1"/>
          </p:cNvGraphicFramePr>
          <p:nvPr>
            <p:extLst/>
          </p:nvPr>
        </p:nvGraphicFramePr>
        <p:xfrm>
          <a:off x="549943" y="3068633"/>
          <a:ext cx="381000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8" name="Equation" r:id="rId3" imgW="1726451" imgH="266584" progId="Equation.3">
                  <p:embed/>
                </p:oleObj>
              </mc:Choice>
              <mc:Fallback>
                <p:oleObj name="Equation" r:id="rId3" imgW="1726451" imgH="266584" progId="Equation.3">
                  <p:embed/>
                  <p:pic>
                    <p:nvPicPr>
                      <p:cNvPr id="53252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43" y="3068633"/>
                        <a:ext cx="381000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253" name="Picture 10" descr="1-3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148" y="1420476"/>
            <a:ext cx="57150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28337" y="1578768"/>
            <a:ext cx="6260432" cy="685800"/>
          </a:xfrm>
        </p:spPr>
        <p:txBody>
          <a:bodyPr/>
          <a:lstStyle/>
          <a:p>
            <a:r>
              <a:rPr lang="zh-CN" altLang="en-US" dirty="0" smtClean="0"/>
              <a:t>针对时域采样（把拉斯变换离散化）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548439" y="2182974"/>
          <a:ext cx="3502199" cy="787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9" name="Equation" r:id="rId6" imgW="1638000" imgH="368280" progId="Equation.DSMT4">
                  <p:embed/>
                </p:oleObj>
              </mc:Choice>
              <mc:Fallback>
                <p:oleObj name="Equation" r:id="rId6" imgW="1638000" imgH="36828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8439" y="2182974"/>
                        <a:ext cx="3502199" cy="787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 bwMode="auto">
          <a:xfrm>
            <a:off x="216568" y="4227968"/>
            <a:ext cx="11201400" cy="240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左对应于单位圆内，右对应单位圆外，单位圆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DFT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对应纵轴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FT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带状周期延拓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12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</a:t>
            </a:r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zh-CN" altLang="en-US" dirty="0" smtClean="0">
                <a:ea typeface="宋体" panose="02010600030101010101" pitchFamily="2" charset="-122"/>
              </a:rPr>
              <a:t>章 </a:t>
            </a:r>
            <a:r>
              <a:rPr lang="zh-CN" altLang="en-US" dirty="0" smtClean="0">
                <a:ea typeface="宋体" panose="02010600030101010101" pitchFamily="2" charset="-122"/>
              </a:rPr>
              <a:t>作业（基础</a:t>
            </a:r>
            <a:r>
              <a:rPr lang="zh-CN" altLang="en-US" dirty="0">
                <a:ea typeface="宋体" panose="02010600030101010101" pitchFamily="2" charset="-122"/>
              </a:rPr>
              <a:t>题</a:t>
            </a:r>
            <a:r>
              <a:rPr lang="en-US" altLang="zh-CN" dirty="0">
                <a:ea typeface="宋体" panose="02010600030101010101" pitchFamily="2" charset="-122"/>
              </a:rPr>
              <a:t>【</a:t>
            </a:r>
            <a:r>
              <a:rPr lang="zh-CN" altLang="en-US" dirty="0">
                <a:ea typeface="宋体" panose="02010600030101010101" pitchFamily="2" charset="-122"/>
              </a:rPr>
              <a:t>第三版</a:t>
            </a:r>
            <a:r>
              <a:rPr lang="en-US" altLang="zh-CN" dirty="0" smtClean="0">
                <a:ea typeface="宋体" panose="02010600030101010101" pitchFamily="2" charset="-122"/>
              </a:rPr>
              <a:t>】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1</a:t>
            </a:r>
            <a:r>
              <a:rPr lang="zh-CN" altLang="en-US" dirty="0" smtClean="0">
                <a:ea typeface="宋体" panose="02010600030101010101" pitchFamily="2" charset="-122"/>
              </a:rPr>
              <a:t>、（</a:t>
            </a:r>
            <a:r>
              <a:rPr lang="en-US" altLang="zh-CN" dirty="0" smtClean="0">
                <a:ea typeface="宋体" panose="02010600030101010101" pitchFamily="2" charset="-122"/>
              </a:rPr>
              <a:t>1</a:t>
            </a:r>
            <a:r>
              <a:rPr lang="zh-CN" altLang="en-US" dirty="0" smtClean="0">
                <a:ea typeface="宋体" panose="02010600030101010101" pitchFamily="2" charset="-122"/>
              </a:rPr>
              <a:t>）（</a:t>
            </a:r>
            <a:r>
              <a:rPr lang="en-US" altLang="zh-CN" dirty="0" smtClean="0">
                <a:ea typeface="宋体" panose="02010600030101010101" pitchFamily="2" charset="-122"/>
              </a:rPr>
              <a:t>8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4</a:t>
            </a:r>
            <a:r>
              <a:rPr lang="zh-CN" altLang="en-US" dirty="0" smtClean="0">
                <a:ea typeface="宋体" panose="02010600030101010101" pitchFamily="2" charset="-122"/>
              </a:rPr>
              <a:t>、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7</a:t>
            </a:r>
            <a:r>
              <a:rPr lang="zh-CN" altLang="en-US" dirty="0" smtClean="0">
                <a:ea typeface="宋体" panose="02010600030101010101" pitchFamily="2" charset="-122"/>
              </a:rPr>
              <a:t>、（</a:t>
            </a:r>
            <a:r>
              <a:rPr lang="en-US" altLang="zh-CN" dirty="0" smtClean="0">
                <a:ea typeface="宋体" panose="02010600030101010101" pitchFamily="2" charset="-122"/>
              </a:rPr>
              <a:t>1</a:t>
            </a:r>
            <a:r>
              <a:rPr lang="zh-CN" altLang="en-US" dirty="0" smtClean="0">
                <a:ea typeface="宋体" panose="02010600030101010101" pitchFamily="2" charset="-122"/>
              </a:rPr>
              <a:t>）（</a:t>
            </a:r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  <a:r>
              <a:rPr lang="en-US" altLang="zh-CN" dirty="0" smtClean="0">
                <a:ea typeface="宋体" panose="02010600030101010101" pitchFamily="2" charset="-122"/>
              </a:rPr>
              <a:t>【</a:t>
            </a:r>
            <a:r>
              <a:rPr lang="zh-CN" altLang="en-US" dirty="0" smtClean="0">
                <a:ea typeface="宋体" panose="02010600030101010101" pitchFamily="2" charset="-122"/>
              </a:rPr>
              <a:t>用部分分式法</a:t>
            </a:r>
            <a:r>
              <a:rPr lang="en-US" altLang="zh-CN" dirty="0" smtClean="0">
                <a:ea typeface="宋体" panose="02010600030101010101" pitchFamily="2" charset="-122"/>
              </a:rPr>
              <a:t>】</a:t>
            </a:r>
          </a:p>
          <a:p>
            <a:r>
              <a:rPr lang="en-US" altLang="zh-CN" dirty="0" smtClean="0">
                <a:ea typeface="宋体" panose="02010600030101010101" pitchFamily="2" charset="-122"/>
              </a:rPr>
              <a:t>12</a:t>
            </a:r>
            <a:r>
              <a:rPr lang="zh-CN" altLang="en-US" dirty="0" smtClean="0">
                <a:ea typeface="宋体" panose="02010600030101010101" pitchFamily="2" charset="-122"/>
              </a:rPr>
              <a:t>、（</a:t>
            </a:r>
            <a:r>
              <a:rPr lang="en-US" altLang="zh-CN" dirty="0" smtClean="0">
                <a:ea typeface="宋体" panose="02010600030101010101" pitchFamily="2" charset="-122"/>
              </a:rPr>
              <a:t>1</a:t>
            </a:r>
            <a:r>
              <a:rPr lang="zh-CN" altLang="en-US" dirty="0" smtClean="0">
                <a:ea typeface="宋体" panose="02010600030101010101" pitchFamily="2" charset="-122"/>
              </a:rPr>
              <a:t>）（</a:t>
            </a:r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15</a:t>
            </a:r>
            <a:r>
              <a:rPr lang="zh-CN" altLang="en-US" dirty="0" smtClean="0">
                <a:ea typeface="宋体" panose="02010600030101010101" pitchFamily="2" charset="-122"/>
              </a:rPr>
              <a:t>、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16</a:t>
            </a:r>
            <a:r>
              <a:rPr lang="zh-CN" altLang="en-US" dirty="0" smtClean="0">
                <a:ea typeface="宋体" panose="02010600030101010101" pitchFamily="2" charset="-122"/>
              </a:rPr>
              <a:t>、</a:t>
            </a: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BF40DB-B21B-48DE-B701-507A4B0F8C3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6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208</Words>
  <Application>Microsoft Office PowerPoint</Application>
  <PresentationFormat>宽屏</PresentationFormat>
  <Paragraphs>42</Paragraphs>
  <Slides>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宋体</vt:lpstr>
      <vt:lpstr>Comic Sans MS</vt:lpstr>
      <vt:lpstr>Times New Roman</vt:lpstr>
      <vt:lpstr>icfp99</vt:lpstr>
      <vt:lpstr>Equation</vt:lpstr>
      <vt:lpstr>系统的频率响应</vt:lpstr>
      <vt:lpstr>相频响应 </vt:lpstr>
      <vt:lpstr>例题</vt:lpstr>
      <vt:lpstr>PowerPoint 演示文稿</vt:lpstr>
      <vt:lpstr>零、极点对频率响应的影响</vt:lpstr>
      <vt:lpstr>例题</vt:lpstr>
      <vt:lpstr>Z变换与拉氏变换的关系</vt:lpstr>
      <vt:lpstr>Z变换与拉氏变换的关系</vt:lpstr>
      <vt:lpstr>第2章 作业（基础题【第三版】）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离散时间系统的变换域分析——Z变换</dc:title>
  <dc:creator>Administrator</dc:creator>
  <cp:lastModifiedBy>Administrator</cp:lastModifiedBy>
  <cp:revision>92</cp:revision>
  <dcterms:created xsi:type="dcterms:W3CDTF">2020-08-06T07:26:29Z</dcterms:created>
  <dcterms:modified xsi:type="dcterms:W3CDTF">2023-10-20T07:54:39Z</dcterms:modified>
</cp:coreProperties>
</file>