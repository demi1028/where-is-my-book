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5"/>
  </p:notes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6.wmf"/><Relationship Id="rId1" Type="http://schemas.openxmlformats.org/officeDocument/2006/relationships/image" Target="../media/image2.wmf"/><Relationship Id="rId4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3.wmf"/><Relationship Id="rId5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8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12" Type="http://schemas.openxmlformats.org/officeDocument/2006/relationships/image" Target="../media/image37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11" Type="http://schemas.openxmlformats.org/officeDocument/2006/relationships/image" Target="../media/image36.wmf"/><Relationship Id="rId5" Type="http://schemas.openxmlformats.org/officeDocument/2006/relationships/image" Target="../media/image30.wmf"/><Relationship Id="rId15" Type="http://schemas.openxmlformats.org/officeDocument/2006/relationships/image" Target="../media/image40.wmf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wmf"/><Relationship Id="rId14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4.wmf"/><Relationship Id="rId7" Type="http://schemas.openxmlformats.org/officeDocument/2006/relationships/image" Target="../media/image26.wmf"/><Relationship Id="rId2" Type="http://schemas.openxmlformats.org/officeDocument/2006/relationships/image" Target="../media/image43.wmf"/><Relationship Id="rId1" Type="http://schemas.openxmlformats.org/officeDocument/2006/relationships/image" Target="../media/image42.e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5.wmf"/><Relationship Id="rId2" Type="http://schemas.openxmlformats.org/officeDocument/2006/relationships/image" Target="../media/image51.wmf"/><Relationship Id="rId1" Type="http://schemas.openxmlformats.org/officeDocument/2006/relationships/image" Target="../media/image50.emf"/><Relationship Id="rId6" Type="http://schemas.openxmlformats.org/officeDocument/2006/relationships/image" Target="../media/image54.wmf"/><Relationship Id="rId5" Type="http://schemas.openxmlformats.org/officeDocument/2006/relationships/image" Target="../media/image26.wmf"/><Relationship Id="rId4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2.wmf"/><Relationship Id="rId7" Type="http://schemas.openxmlformats.org/officeDocument/2006/relationships/image" Target="../media/image26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058FF-8803-41B6-8250-B0AAA5482101}" type="datetimeFigureOut">
              <a:rPr lang="zh-CN" altLang="en-US" smtClean="0"/>
              <a:t>2022/10/29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84C1-775B-4727-B9BE-6E8AEA61F6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52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64550-A7EC-46B8-90B6-280296C683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3695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5BAD9-020F-4F51-8FF0-B15F3530B4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886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320A0-1A0C-43E1-B4D2-5D20D04E47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86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B5C80-BDC5-4049-9ECA-A8F6EAE77B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820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093B5-BA23-4CB8-B315-1A94F6157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6694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A2AF1-B3D7-4052-8A07-C56FA75D91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96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FCBE2-CE59-4D7E-91C4-D1DE9329DC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41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36951-DBDF-48D7-8600-4D0D3C33E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251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2344B-D668-41C9-8609-6661236F60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885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CD6B-52E7-43C3-9631-37327EE45F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69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E160D-B227-4AFD-AACE-BF4CE24AA0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68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D58FE72-403D-44B7-89D6-852C60531F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24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Relationship Id="rId9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8.bin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5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16.emf"/><Relationship Id="rId10" Type="http://schemas.openxmlformats.org/officeDocument/2006/relationships/image" Target="../media/image11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3.wmf"/><Relationship Id="rId26" Type="http://schemas.openxmlformats.org/officeDocument/2006/relationships/image" Target="../media/image37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33" Type="http://schemas.openxmlformats.org/officeDocument/2006/relationships/image" Target="../media/image4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29" Type="http://schemas.openxmlformats.org/officeDocument/2006/relationships/oleObject" Target="../embeddings/oleObject38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6.wmf"/><Relationship Id="rId32" Type="http://schemas.openxmlformats.org/officeDocument/2006/relationships/image" Target="../media/image40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38.wmf"/><Relationship Id="rId10" Type="http://schemas.openxmlformats.org/officeDocument/2006/relationships/image" Target="../media/image29.png"/><Relationship Id="rId19" Type="http://schemas.openxmlformats.org/officeDocument/2006/relationships/oleObject" Target="../embeddings/oleObject33.bin"/><Relationship Id="rId31" Type="http://schemas.openxmlformats.org/officeDocument/2006/relationships/oleObject" Target="../embeddings/oleObject39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1.wmf"/><Relationship Id="rId22" Type="http://schemas.openxmlformats.org/officeDocument/2006/relationships/image" Target="../media/image35.png"/><Relationship Id="rId27" Type="http://schemas.openxmlformats.org/officeDocument/2006/relationships/oleObject" Target="../embeddings/oleObject37.bin"/><Relationship Id="rId30" Type="http://schemas.openxmlformats.org/officeDocument/2006/relationships/image" Target="../media/image39.wmf"/><Relationship Id="rId8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5.wmf"/><Relationship Id="rId19" Type="http://schemas.openxmlformats.org/officeDocument/2006/relationships/image" Target="../media/image49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26.wmf"/><Relationship Id="rId17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3.w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1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53.wmf"/><Relationship Id="rId19" Type="http://schemas.openxmlformats.org/officeDocument/2006/relationships/image" Target="../media/image56.e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74964" y="0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 sz="4800" b="1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sz="4800" b="1"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z="4800" b="1">
                <a:latin typeface="黑体" panose="02010609060101010101" pitchFamily="49" charset="-122"/>
                <a:ea typeface="黑体" panose="02010609060101010101" pitchFamily="49" charset="-122"/>
              </a:rPr>
              <a:t>分析信号频谱</a:t>
            </a:r>
            <a:endParaRPr lang="zh-CN" alt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一、问题的提出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二、四种信号频谱之间的关系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三、利用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分析连续非周期信号频谱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四、混叠现象、泄漏现象、栅栏现象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五、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参数选取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1676400" y="12192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56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8" name="Group 14"/>
          <p:cNvGrpSpPr>
            <a:grpSpLocks/>
          </p:cNvGrpSpPr>
          <p:nvPr/>
        </p:nvGrpSpPr>
        <p:grpSpPr bwMode="auto">
          <a:xfrm>
            <a:off x="3124200" y="1295400"/>
            <a:ext cx="5715000" cy="533400"/>
            <a:chOff x="1008" y="672"/>
            <a:chExt cx="3600" cy="336"/>
          </a:xfrm>
        </p:grpSpPr>
        <p:sp>
          <p:nvSpPr>
            <p:cNvPr id="3084" name="Text Box 2"/>
            <p:cNvSpPr txBox="1">
              <a:spLocks noChangeArrowheads="1"/>
            </p:cNvSpPr>
            <p:nvPr/>
          </p:nvSpPr>
          <p:spPr bwMode="auto">
            <a:xfrm>
              <a:off x="1008" y="672"/>
              <a:ext cx="36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连续时间非周期信号</a:t>
              </a:r>
            </a:p>
          </p:txBody>
        </p:sp>
        <p:graphicFrame>
          <p:nvGraphicFramePr>
            <p:cNvPr id="3085" name="Object 3"/>
            <p:cNvGraphicFramePr>
              <a:graphicFrameLocks noChangeAspect="1"/>
            </p:cNvGraphicFramePr>
            <p:nvPr/>
          </p:nvGraphicFramePr>
          <p:xfrm>
            <a:off x="3312" y="672"/>
            <a:ext cx="4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62" name="Equation" r:id="rId3" imgW="304536" imgH="203024" progId="Equation.3">
                    <p:embed/>
                  </p:oleObj>
                </mc:Choice>
                <mc:Fallback>
                  <p:oleObj name="Equation" r:id="rId3" imgW="304536" imgH="203024" progId="Equation.3">
                    <p:embed/>
                    <p:pic>
                      <p:nvPicPr>
                        <p:cNvPr id="308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672"/>
                          <a:ext cx="48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7" name="Group 13"/>
          <p:cNvGrpSpPr>
            <a:grpSpLocks/>
          </p:cNvGrpSpPr>
          <p:nvPr/>
        </p:nvGrpSpPr>
        <p:grpSpPr bwMode="auto">
          <a:xfrm>
            <a:off x="3200400" y="1981200"/>
            <a:ext cx="6400800" cy="1371600"/>
            <a:chOff x="1056" y="1248"/>
            <a:chExt cx="4032" cy="864"/>
          </a:xfrm>
        </p:grpSpPr>
        <p:sp>
          <p:nvSpPr>
            <p:cNvPr id="3082" name="Oval 11"/>
            <p:cNvSpPr>
              <a:spLocks noChangeArrowheads="1"/>
            </p:cNvSpPr>
            <p:nvPr/>
          </p:nvSpPr>
          <p:spPr bwMode="auto">
            <a:xfrm>
              <a:off x="2832" y="1248"/>
              <a:ext cx="2256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3083" name="Object 4"/>
            <p:cNvGraphicFramePr>
              <a:graphicFrameLocks noChangeAspect="1"/>
            </p:cNvGraphicFramePr>
            <p:nvPr/>
          </p:nvGraphicFramePr>
          <p:xfrm>
            <a:off x="1056" y="1328"/>
            <a:ext cx="3681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863" name="Equation" r:id="rId5" imgW="1752600" imgH="304800" progId="Equation.3">
                    <p:embed/>
                  </p:oleObj>
                </mc:Choice>
                <mc:Fallback>
                  <p:oleObj name="Equation" r:id="rId5" imgW="1752600" imgH="304800" progId="Equation.3">
                    <p:embed/>
                    <p:pic>
                      <p:nvPicPr>
                        <p:cNvPr id="308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328"/>
                          <a:ext cx="3681" cy="6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168819"/>
              </p:ext>
            </p:extLst>
          </p:nvPr>
        </p:nvGraphicFramePr>
        <p:xfrm>
          <a:off x="2438400" y="3441700"/>
          <a:ext cx="3276600" cy="22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4" r:id="rId7" imgW="1311254" imgH="897012" progId="Visio.Drawing.6">
                  <p:embed/>
                </p:oleObj>
              </mc:Choice>
              <mc:Fallback>
                <p:oleObj r:id="rId7" imgW="1311254" imgH="897012" progId="Visio.Drawing.6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441700"/>
                        <a:ext cx="3276600" cy="227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404974"/>
              </p:ext>
            </p:extLst>
          </p:nvPr>
        </p:nvGraphicFramePr>
        <p:xfrm>
          <a:off x="6172200" y="3566319"/>
          <a:ext cx="3657600" cy="221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5" name="Visio" r:id="rId9" imgW="1715203" imgH="1060614" progId="Visio.Drawing.6">
                  <p:embed/>
                </p:oleObj>
              </mc:Choice>
              <mc:Fallback>
                <p:oleObj name="Visio" r:id="rId9" imgW="1715203" imgH="1060614" progId="Visio.Drawing.6">
                  <p:embed/>
                  <p:pic>
                    <p:nvPicPr>
                      <p:cNvPr id="61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566319"/>
                        <a:ext cx="3657600" cy="221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4038600" y="58674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</a:rPr>
              <a:t>图</a:t>
            </a:r>
            <a:r>
              <a:rPr lang="en-US" altLang="zh-CN">
                <a:solidFill>
                  <a:prstClr val="black"/>
                </a:solidFill>
              </a:rPr>
              <a:t>1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连续非周期信号及其频谱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3079" name="Rectangle 10"/>
          <p:cNvSpPr>
            <a:spLocks noChangeArrowheads="1"/>
          </p:cNvSpPr>
          <p:nvPr/>
        </p:nvSpPr>
        <p:spPr bwMode="auto">
          <a:xfrm>
            <a:off x="4267200" y="2286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一、问题的提出</a:t>
            </a:r>
          </a:p>
        </p:txBody>
      </p:sp>
      <p:sp>
        <p:nvSpPr>
          <p:cNvPr id="6156" name="AutoShape 12"/>
          <p:cNvSpPr>
            <a:spLocks noChangeArrowheads="1"/>
          </p:cNvSpPr>
          <p:nvPr/>
        </p:nvSpPr>
        <p:spPr bwMode="auto">
          <a:xfrm>
            <a:off x="5562600" y="4343400"/>
            <a:ext cx="1143000" cy="4572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081" name="Rectangle 15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12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2" name="Group 10"/>
          <p:cNvGrpSpPr>
            <a:grpSpLocks/>
          </p:cNvGrpSpPr>
          <p:nvPr/>
        </p:nvGrpSpPr>
        <p:grpSpPr bwMode="auto">
          <a:xfrm>
            <a:off x="3048000" y="228601"/>
            <a:ext cx="6096000" cy="530225"/>
            <a:chOff x="960" y="576"/>
            <a:chExt cx="3840" cy="334"/>
          </a:xfrm>
        </p:grpSpPr>
        <p:sp>
          <p:nvSpPr>
            <p:cNvPr id="4107" name="Text Box 12"/>
            <p:cNvSpPr txBox="1">
              <a:spLocks noChangeArrowheads="1"/>
            </p:cNvSpPr>
            <p:nvPr/>
          </p:nvSpPr>
          <p:spPr bwMode="auto">
            <a:xfrm>
              <a:off x="960" y="576"/>
              <a:ext cx="38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 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连续时间周期信号</a:t>
              </a:r>
            </a:p>
          </p:txBody>
        </p:sp>
        <p:graphicFrame>
          <p:nvGraphicFramePr>
            <p:cNvPr id="4108" name="Object 11"/>
            <p:cNvGraphicFramePr>
              <a:graphicFrameLocks noChangeAspect="1"/>
            </p:cNvGraphicFramePr>
            <p:nvPr/>
          </p:nvGraphicFramePr>
          <p:xfrm>
            <a:off x="3168" y="624"/>
            <a:ext cx="504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6" name="Equation" r:id="rId3" imgW="380835" imgH="215806" progId="Equation.3">
                    <p:embed/>
                  </p:oleObj>
                </mc:Choice>
                <mc:Fallback>
                  <p:oleObj name="Equation" r:id="rId3" imgW="380835" imgH="215806" progId="Equation.3">
                    <p:embed/>
                    <p:pic>
                      <p:nvPicPr>
                        <p:cNvPr id="410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624"/>
                          <a:ext cx="504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99" name="Group 7"/>
          <p:cNvGrpSpPr>
            <a:grpSpLocks/>
          </p:cNvGrpSpPr>
          <p:nvPr/>
        </p:nvGrpSpPr>
        <p:grpSpPr bwMode="auto">
          <a:xfrm>
            <a:off x="2667000" y="2057400"/>
            <a:ext cx="7010400" cy="1371600"/>
            <a:chOff x="720" y="1296"/>
            <a:chExt cx="4416" cy="864"/>
          </a:xfrm>
        </p:grpSpPr>
        <p:sp>
          <p:nvSpPr>
            <p:cNvPr id="4105" name="Oval 9"/>
            <p:cNvSpPr>
              <a:spLocks noChangeArrowheads="1"/>
            </p:cNvSpPr>
            <p:nvPr/>
          </p:nvSpPr>
          <p:spPr bwMode="auto">
            <a:xfrm>
              <a:off x="2640" y="1296"/>
              <a:ext cx="2496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4106" name="Object 8"/>
            <p:cNvGraphicFramePr>
              <a:graphicFrameLocks noChangeAspect="1"/>
            </p:cNvGraphicFramePr>
            <p:nvPr/>
          </p:nvGraphicFramePr>
          <p:xfrm>
            <a:off x="720" y="1344"/>
            <a:ext cx="4266" cy="7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887" name="Equation" r:id="rId5" imgW="2209800" imgH="368300" progId="Equation.3">
                    <p:embed/>
                  </p:oleObj>
                </mc:Choice>
                <mc:Fallback>
                  <p:oleObj name="Equation" r:id="rId5" imgW="2209800" imgH="368300" progId="Equation.3">
                    <p:embed/>
                    <p:pic>
                      <p:nvPicPr>
                        <p:cNvPr id="410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344"/>
                          <a:ext cx="4266" cy="7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1524000" y="3581400"/>
          <a:ext cx="44958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88" name="Visio" r:id="rId7" imgW="2866920" imgH="1042618" progId="Visio.Drawing.6">
                  <p:embed/>
                </p:oleObj>
              </mc:Choice>
              <mc:Fallback>
                <p:oleObj name="Visio" r:id="rId7" imgW="2866920" imgH="1042618" progId="Visio.Drawing.6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81400"/>
                        <a:ext cx="44958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6781800" y="3581400"/>
          <a:ext cx="3048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89" name="Visio" r:id="rId9" imgW="1850170" imgH="1042618" progId="Visio.Drawing.6">
                  <p:embed/>
                </p:oleObj>
              </mc:Choice>
              <mc:Fallback>
                <p:oleObj name="Visio" r:id="rId9" imgW="1850170" imgH="1042618" progId="Visio.Drawing.6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581400"/>
                        <a:ext cx="3048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4038600" y="54864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</a:rPr>
              <a:t>2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连续周期信号及其频谱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8193" name="AutoShape 1"/>
          <p:cNvSpPr>
            <a:spLocks noChangeArrowheads="1"/>
          </p:cNvSpPr>
          <p:nvPr/>
        </p:nvSpPr>
        <p:spPr bwMode="auto">
          <a:xfrm>
            <a:off x="5943600" y="41148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104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80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6" name="Group 10"/>
          <p:cNvGrpSpPr>
            <a:grpSpLocks/>
          </p:cNvGrpSpPr>
          <p:nvPr/>
        </p:nvGrpSpPr>
        <p:grpSpPr bwMode="auto">
          <a:xfrm>
            <a:off x="3048000" y="228601"/>
            <a:ext cx="6096000" cy="519113"/>
            <a:chOff x="960" y="681"/>
            <a:chExt cx="3840" cy="327"/>
          </a:xfrm>
        </p:grpSpPr>
        <p:sp>
          <p:nvSpPr>
            <p:cNvPr id="5131" name="Text Box 12"/>
            <p:cNvSpPr txBox="1">
              <a:spLocks noChangeArrowheads="1"/>
            </p:cNvSpPr>
            <p:nvPr/>
          </p:nvSpPr>
          <p:spPr bwMode="auto">
            <a:xfrm>
              <a:off x="960" y="681"/>
              <a:ext cx="38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3.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离散时间非周期信号</a:t>
              </a:r>
            </a:p>
          </p:txBody>
        </p:sp>
        <p:graphicFrame>
          <p:nvGraphicFramePr>
            <p:cNvPr id="513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68222"/>
                </p:ext>
              </p:extLst>
            </p:nvPr>
          </p:nvGraphicFramePr>
          <p:xfrm>
            <a:off x="3283" y="700"/>
            <a:ext cx="44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8" name="Equation" r:id="rId3" imgW="291960" imgH="203040" progId="Equation.DSMT4">
                    <p:embed/>
                  </p:oleObj>
                </mc:Choice>
                <mc:Fallback>
                  <p:oleObj name="Equation" r:id="rId3" imgW="291960" imgH="203040" progId="Equation.DSMT4">
                    <p:embed/>
                    <p:pic>
                      <p:nvPicPr>
                        <p:cNvPr id="513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3" y="700"/>
                          <a:ext cx="44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2990850" y="1657350"/>
            <a:ext cx="6457950" cy="1390650"/>
            <a:chOff x="924" y="1044"/>
            <a:chExt cx="4068" cy="876"/>
          </a:xfrm>
        </p:grpSpPr>
        <p:sp>
          <p:nvSpPr>
            <p:cNvPr id="5129" name="Oval 9"/>
            <p:cNvSpPr>
              <a:spLocks noChangeArrowheads="1"/>
            </p:cNvSpPr>
            <p:nvPr/>
          </p:nvSpPr>
          <p:spPr bwMode="auto">
            <a:xfrm>
              <a:off x="2832" y="1056"/>
              <a:ext cx="2160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513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6651793"/>
                </p:ext>
              </p:extLst>
            </p:nvPr>
          </p:nvGraphicFramePr>
          <p:xfrm>
            <a:off x="924" y="1044"/>
            <a:ext cx="3899" cy="8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09" name="Equation" r:id="rId5" imgW="1866600" imgH="431640" progId="Equation.DSMT4">
                    <p:embed/>
                  </p:oleObj>
                </mc:Choice>
                <mc:Fallback>
                  <p:oleObj name="Equation" r:id="rId5" imgW="1866600" imgH="431640" progId="Equation.DSMT4">
                    <p:embed/>
                    <p:pic>
                      <p:nvPicPr>
                        <p:cNvPr id="513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1044"/>
                          <a:ext cx="3899" cy="8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5791200" y="3124200"/>
          <a:ext cx="4343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0" name="Visio" r:id="rId7" imgW="2489013" imgH="1060614" progId="Visio.Drawing.6">
                  <p:embed/>
                </p:oleObj>
              </mc:Choice>
              <mc:Fallback>
                <p:oleObj name="Visio" r:id="rId7" imgW="2489013" imgH="1060614" progId="Visio.Drawing.6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124200"/>
                        <a:ext cx="4343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114800" y="54864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</a:rPr>
              <a:t>3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离散非周期信号及其频谱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9217" name="AutoShape 1"/>
          <p:cNvSpPr>
            <a:spLocks noChangeArrowheads="1"/>
          </p:cNvSpPr>
          <p:nvPr/>
        </p:nvSpPr>
        <p:spPr bwMode="auto">
          <a:xfrm>
            <a:off x="5181600" y="36576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128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4616" y="3405187"/>
            <a:ext cx="2794513" cy="184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1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70" name="Group 10"/>
          <p:cNvGrpSpPr>
            <a:grpSpLocks/>
          </p:cNvGrpSpPr>
          <p:nvPr/>
        </p:nvGrpSpPr>
        <p:grpSpPr bwMode="auto">
          <a:xfrm>
            <a:off x="3124200" y="228601"/>
            <a:ext cx="5791200" cy="588963"/>
            <a:chOff x="1008" y="729"/>
            <a:chExt cx="3648" cy="371"/>
          </a:xfrm>
        </p:grpSpPr>
        <p:sp>
          <p:nvSpPr>
            <p:cNvPr id="6155" name="Text Box 12"/>
            <p:cNvSpPr txBox="1">
              <a:spLocks noChangeArrowheads="1"/>
            </p:cNvSpPr>
            <p:nvPr/>
          </p:nvSpPr>
          <p:spPr bwMode="auto">
            <a:xfrm>
              <a:off x="1008" y="729"/>
              <a:ext cx="36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4.</a:t>
              </a:r>
              <a:r>
                <a:rPr lang="zh-CN" altLang="en-US" sz="2800" b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离散时间周期信号</a:t>
              </a:r>
            </a:p>
          </p:txBody>
        </p:sp>
        <p:graphicFrame>
          <p:nvGraphicFramePr>
            <p:cNvPr id="615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733215"/>
                </p:ext>
              </p:extLst>
            </p:nvPr>
          </p:nvGraphicFramePr>
          <p:xfrm>
            <a:off x="3217" y="799"/>
            <a:ext cx="432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9" name="Equation" r:id="rId3" imgW="291960" imgH="203040" progId="Equation.DSMT4">
                    <p:embed/>
                  </p:oleObj>
                </mc:Choice>
                <mc:Fallback>
                  <p:oleObj name="Equation" r:id="rId3" imgW="291960" imgH="203040" progId="Equation.DSMT4">
                    <p:embed/>
                    <p:pic>
                      <p:nvPicPr>
                        <p:cNvPr id="615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7" y="799"/>
                          <a:ext cx="432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7" name="Group 7"/>
          <p:cNvGrpSpPr>
            <a:grpSpLocks/>
          </p:cNvGrpSpPr>
          <p:nvPr/>
        </p:nvGrpSpPr>
        <p:grpSpPr bwMode="auto">
          <a:xfrm>
            <a:off x="2786064" y="1781176"/>
            <a:ext cx="6357938" cy="1419225"/>
            <a:chOff x="795" y="1122"/>
            <a:chExt cx="4005" cy="894"/>
          </a:xfrm>
        </p:grpSpPr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2496" y="1152"/>
              <a:ext cx="2304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615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0659972"/>
                </p:ext>
              </p:extLst>
            </p:nvPr>
          </p:nvGraphicFramePr>
          <p:xfrm>
            <a:off x="795" y="1122"/>
            <a:ext cx="3805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0" name="Equation" r:id="rId5" imgW="1790640" imgH="444240" progId="Equation.DSMT4">
                    <p:embed/>
                  </p:oleObj>
                </mc:Choice>
                <mc:Fallback>
                  <p:oleObj name="Equation" r:id="rId5" imgW="1790640" imgH="444240" progId="Equation.DSMT4">
                    <p:embed/>
                    <p:pic>
                      <p:nvPicPr>
                        <p:cNvPr id="615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" y="1122"/>
                          <a:ext cx="3805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4343400" y="541020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图</a:t>
            </a:r>
            <a:r>
              <a:rPr lang="en-US" altLang="zh-CN">
                <a:solidFill>
                  <a:prstClr val="black"/>
                </a:solidFill>
                <a:latin typeface="宋体" panose="02010600030101010101" pitchFamily="2" charset="-122"/>
              </a:rPr>
              <a:t>4  </a:t>
            </a:r>
            <a:r>
              <a:rPr lang="zh-CN" altLang="en-US">
                <a:solidFill>
                  <a:prstClr val="black"/>
                </a:solidFill>
                <a:latin typeface="宋体" panose="02010600030101010101" pitchFamily="2" charset="-122"/>
              </a:rPr>
              <a:t>离散周期信号及其频谱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40961" name="AutoShape 1"/>
          <p:cNvSpPr>
            <a:spLocks noChangeArrowheads="1"/>
          </p:cNvSpPr>
          <p:nvPr/>
        </p:nvSpPr>
        <p:spPr bwMode="auto">
          <a:xfrm>
            <a:off x="5638800" y="33528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152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3248026"/>
            <a:ext cx="3829015" cy="188542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1583" y="3139293"/>
            <a:ext cx="4256617" cy="213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9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8"/>
          <p:cNvSpPr txBox="1">
            <a:spLocks noChangeArrowheads="1"/>
          </p:cNvSpPr>
          <p:nvPr/>
        </p:nvSpPr>
        <p:spPr bwMode="auto">
          <a:xfrm>
            <a:off x="2362200" y="304801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prstClr val="black"/>
                </a:solidFill>
                <a:ea typeface="黑体" panose="02010609060101010101" pitchFamily="49" charset="-122"/>
              </a:rPr>
              <a:t>问题提出</a:t>
            </a:r>
            <a:r>
              <a:rPr lang="zh-CN" altLang="en-US" sz="2800">
                <a:solidFill>
                  <a:prstClr val="black"/>
                </a:solidFill>
              </a:rPr>
              <a:t>：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4267200" y="31908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如何利用数字方法分析信号的频谱？</a:t>
            </a:r>
          </a:p>
        </p:txBody>
      </p: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3200400" y="1066800"/>
          <a:ext cx="58435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62" name="Equation" r:id="rId3" imgW="1752600" imgH="304800" progId="Equation.3">
                  <p:embed/>
                </p:oleObj>
              </mc:Choice>
              <mc:Fallback>
                <p:oleObj name="Equation" r:id="rId3" imgW="1752600" imgH="304800" progId="Equation.3">
                  <p:embed/>
                  <p:pic>
                    <p:nvPicPr>
                      <p:cNvPr id="102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066800"/>
                        <a:ext cx="584358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124201" y="2133601"/>
          <a:ext cx="6772275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63" name="Equation" r:id="rId5" imgW="2209800" imgH="368300" progId="Equation.3">
                  <p:embed/>
                </p:oleObj>
              </mc:Choice>
              <mc:Fallback>
                <p:oleObj name="Equation" r:id="rId5" imgW="2209800" imgH="368300" progId="Equation.3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2133601"/>
                        <a:ext cx="6772275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937862"/>
              </p:ext>
            </p:extLst>
          </p:nvPr>
        </p:nvGraphicFramePr>
        <p:xfrm>
          <a:off x="3200400" y="3337719"/>
          <a:ext cx="6189663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64" name="Equation" r:id="rId7" imgW="1866600" imgH="431640" progId="Equation.DSMT4">
                  <p:embed/>
                </p:oleObj>
              </mc:Choice>
              <mc:Fallback>
                <p:oleObj name="Equation" r:id="rId7" imgW="1866600" imgH="431640" progId="Equation.DSMT4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337719"/>
                        <a:ext cx="6189663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1" name="Group 1"/>
          <p:cNvGrpSpPr>
            <a:grpSpLocks/>
          </p:cNvGrpSpPr>
          <p:nvPr/>
        </p:nvGrpSpPr>
        <p:grpSpPr bwMode="auto">
          <a:xfrm>
            <a:off x="3321050" y="4781550"/>
            <a:ext cx="6203949" cy="1390650"/>
            <a:chOff x="1132" y="3444"/>
            <a:chExt cx="3908" cy="876"/>
          </a:xfrm>
        </p:grpSpPr>
        <p:sp>
          <p:nvSpPr>
            <p:cNvPr id="7177" name="Oval 3"/>
            <p:cNvSpPr>
              <a:spLocks noChangeArrowheads="1"/>
            </p:cNvSpPr>
            <p:nvPr/>
          </p:nvSpPr>
          <p:spPr bwMode="auto">
            <a:xfrm>
              <a:off x="2736" y="3456"/>
              <a:ext cx="2304" cy="86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717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2164400"/>
                </p:ext>
              </p:extLst>
            </p:nvPr>
          </p:nvGraphicFramePr>
          <p:xfrm>
            <a:off x="1132" y="3444"/>
            <a:ext cx="3778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65" name="Equation" r:id="rId9" imgW="1777680" imgH="444240" progId="Equation.DSMT4">
                    <p:embed/>
                  </p:oleObj>
                </mc:Choice>
                <mc:Fallback>
                  <p:oleObj name="Equation" r:id="rId9" imgW="1777680" imgH="444240" progId="Equation.DSMT4">
                    <p:embed/>
                    <p:pic>
                      <p:nvPicPr>
                        <p:cNvPr id="7178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3444"/>
                          <a:ext cx="3778" cy="7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6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35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9"/>
          <p:cNvSpPr txBox="1">
            <a:spLocks noChangeArrowheads="1"/>
          </p:cNvSpPr>
          <p:nvPr/>
        </p:nvSpPr>
        <p:spPr bwMode="auto">
          <a:xfrm>
            <a:off x="3505200" y="2286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prstClr val="black"/>
                </a:solidFill>
              </a:rPr>
              <a:t>有限长序列       的傅立叶变换</a:t>
            </a:r>
            <a:r>
              <a:rPr lang="en-US" altLang="zh-CN" b="1">
                <a:solidFill>
                  <a:prstClr val="black"/>
                </a:solidFill>
              </a:rPr>
              <a:t>DFT.</a:t>
            </a:r>
          </a:p>
        </p:txBody>
      </p:sp>
      <p:graphicFrame>
        <p:nvGraphicFramePr>
          <p:cNvPr id="8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471896"/>
              </p:ext>
            </p:extLst>
          </p:nvPr>
        </p:nvGraphicFramePr>
        <p:xfrm>
          <a:off x="5135563" y="215900"/>
          <a:ext cx="60483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0" name="Equation" r:id="rId3" imgW="380880" imgH="228600" progId="Equation.DSMT4">
                  <p:embed/>
                </p:oleObj>
              </mc:Choice>
              <mc:Fallback>
                <p:oleObj name="Equation" r:id="rId3" imgW="380880" imgH="228600" progId="Equation.DSMT4">
                  <p:embed/>
                  <p:pic>
                    <p:nvPicPr>
                      <p:cNvPr id="819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563" y="215900"/>
                        <a:ext cx="60483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9" name="Group 5"/>
          <p:cNvGrpSpPr>
            <a:grpSpLocks/>
          </p:cNvGrpSpPr>
          <p:nvPr/>
        </p:nvGrpSpPr>
        <p:grpSpPr bwMode="auto">
          <a:xfrm>
            <a:off x="3224213" y="1371600"/>
            <a:ext cx="5995988" cy="1600200"/>
            <a:chOff x="1071" y="1152"/>
            <a:chExt cx="3777" cy="1008"/>
          </a:xfrm>
        </p:grpSpPr>
        <p:sp>
          <p:nvSpPr>
            <p:cNvPr id="8202" name="Oval 7"/>
            <p:cNvSpPr>
              <a:spLocks noChangeArrowheads="1"/>
            </p:cNvSpPr>
            <p:nvPr/>
          </p:nvSpPr>
          <p:spPr bwMode="auto">
            <a:xfrm>
              <a:off x="2736" y="1152"/>
              <a:ext cx="2112" cy="100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820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674044"/>
                </p:ext>
              </p:extLst>
            </p:nvPr>
          </p:nvGraphicFramePr>
          <p:xfrm>
            <a:off x="1071" y="1296"/>
            <a:ext cx="3531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81" name="Equation" r:id="rId5" imgW="2019240" imgH="444240" progId="Equation.DSMT4">
                    <p:embed/>
                  </p:oleObj>
                </mc:Choice>
                <mc:Fallback>
                  <p:oleObj name="Equation" r:id="rId5" imgW="2019240" imgH="444240" progId="Equation.DSMT4">
                    <p:embed/>
                    <p:pic>
                      <p:nvPicPr>
                        <p:cNvPr id="820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" y="1296"/>
                          <a:ext cx="3531" cy="7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505200" y="5486401"/>
            <a:ext cx="57150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prstClr val="black"/>
                </a:solidFill>
              </a:rPr>
              <a:t>DFT</a:t>
            </a:r>
            <a:r>
              <a:rPr lang="zh-CN" altLang="en-US" sz="2800" b="1">
                <a:solidFill>
                  <a:prstClr val="black"/>
                </a:solidFill>
              </a:rPr>
              <a:t>可以直接计算周期序列的</a:t>
            </a:r>
            <a:r>
              <a:rPr lang="en-US" altLang="zh-CN" sz="2800" b="1">
                <a:solidFill>
                  <a:prstClr val="black"/>
                </a:solidFill>
              </a:rPr>
              <a:t>DFS</a:t>
            </a:r>
          </a:p>
        </p:txBody>
      </p:sp>
      <p:sp>
        <p:nvSpPr>
          <p:cNvPr id="11265" name="AutoShape 1"/>
          <p:cNvSpPr>
            <a:spLocks noChangeArrowheads="1"/>
          </p:cNvSpPr>
          <p:nvPr/>
        </p:nvSpPr>
        <p:spPr bwMode="auto">
          <a:xfrm>
            <a:off x="5486400" y="3352800"/>
            <a:ext cx="914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201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469" y="3062288"/>
            <a:ext cx="3379461" cy="22690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0375" y="3001246"/>
            <a:ext cx="3904192" cy="24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3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3048000" y="228601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可否利用</a:t>
            </a:r>
            <a:r>
              <a:rPr lang="en-US" altLang="zh-CN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分析以上四种信号的频谱？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2286000" y="1600200"/>
            <a:ext cx="762000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0563C1"/>
                </a:solidFill>
                <a:ea typeface="黑体" panose="02010609060101010101" pitchFamily="49" charset="-122"/>
              </a:rPr>
              <a:t>                         </a:t>
            </a:r>
            <a:r>
              <a:rPr lang="zh-CN" altLang="en-US" sz="2800">
                <a:solidFill>
                  <a:srgbClr val="0563C1"/>
                </a:solidFill>
                <a:ea typeface="黑体" panose="02010609060101010101" pitchFamily="49" charset="-122"/>
              </a:rPr>
              <a:t>基本原理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     利用信号傅立叶变换具有的信号</a:t>
            </a:r>
            <a:r>
              <a:rPr lang="zh-CN" altLang="en-US" sz="2800" b="1">
                <a:solidFill>
                  <a:srgbClr val="954F72"/>
                </a:solidFill>
                <a:ea typeface="黑体" panose="02010609060101010101" pitchFamily="49" charset="-122"/>
              </a:rPr>
              <a:t>时域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与</a:t>
            </a:r>
            <a:r>
              <a:rPr lang="zh-CN" altLang="en-US" sz="2800" b="1">
                <a:solidFill>
                  <a:srgbClr val="0563C1"/>
                </a:solidFill>
                <a:ea typeface="黑体" panose="02010609060101010101" pitchFamily="49" charset="-122"/>
              </a:rPr>
              <a:t>频域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之间的对应关系，建立信号的</a:t>
            </a:r>
            <a:r>
              <a:rPr lang="en-US" altLang="zh-CN" sz="2800">
                <a:solidFill>
                  <a:prstClr val="black"/>
                </a:solidFill>
                <a:ea typeface="黑体" panose="02010609060101010101" pitchFamily="49" charset="-122"/>
              </a:rPr>
              <a:t>DFT</a:t>
            </a:r>
            <a:r>
              <a:rPr lang="zh-CN" altLang="en-US" sz="2800">
                <a:solidFill>
                  <a:prstClr val="black"/>
                </a:solidFill>
                <a:ea typeface="黑体" panose="02010609060101010101" pitchFamily="49" charset="-122"/>
              </a:rPr>
              <a:t>与四种信号频谱之间的关系。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590800" y="403860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的离散化</a:t>
            </a:r>
            <a:endParaRPr lang="zh-CN" altLang="en-US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590800" y="5105401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的周期化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858000" y="3962401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频域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周期化</a:t>
            </a:r>
            <a:endParaRPr lang="zh-CN" altLang="en-US" sz="280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934200" y="51054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563C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频域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离散化</a:t>
            </a:r>
          </a:p>
        </p:txBody>
      </p:sp>
      <p:sp>
        <p:nvSpPr>
          <p:cNvPr id="12290" name="AutoShape 2"/>
          <p:cNvSpPr>
            <a:spLocks noChangeArrowheads="1"/>
          </p:cNvSpPr>
          <p:nvPr/>
        </p:nvSpPr>
        <p:spPr bwMode="auto">
          <a:xfrm>
            <a:off x="5334000" y="4038600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2289" name="AutoShape 1"/>
          <p:cNvSpPr>
            <a:spLocks noChangeArrowheads="1"/>
          </p:cNvSpPr>
          <p:nvPr/>
        </p:nvSpPr>
        <p:spPr bwMode="auto">
          <a:xfrm>
            <a:off x="5334000" y="5105400"/>
            <a:ext cx="1143000" cy="533400"/>
          </a:xfrm>
          <a:prstGeom prst="rightArrow">
            <a:avLst>
              <a:gd name="adj1" fmla="val 50000"/>
              <a:gd name="adj2" fmla="val 53571"/>
            </a:avLst>
          </a:prstGeom>
          <a:solidFill>
            <a:srgbClr val="33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226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87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autoUpdateAnimBg="0"/>
      <p:bldP spid="12295" grpId="0" autoUpdateAnimBg="0"/>
      <p:bldP spid="12294" grpId="0" autoUpdateAnimBg="0"/>
      <p:bldP spid="12293" grpId="0" autoUpdateAnimBg="0"/>
      <p:bldP spid="12292" grpId="0" autoUpdateAnimBg="0"/>
      <p:bldP spid="1229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3429000" y="1819275"/>
          <a:ext cx="1447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4" r:id="rId3" imgW="1311254" imgH="897012" progId="Visio.Drawing.6">
                  <p:embed/>
                </p:oleObj>
              </mc:Choice>
              <mc:Fallback>
                <p:oleObj r:id="rId3" imgW="1311254" imgH="897012" progId="Visio.Drawing.6">
                  <p:embed/>
                  <p:pic>
                    <p:nvPicPr>
                      <p:cNvPr id="133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19275"/>
                        <a:ext cx="1447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Object 20"/>
          <p:cNvGraphicFramePr>
            <a:graphicFrameLocks noChangeAspect="1"/>
          </p:cNvGraphicFramePr>
          <p:nvPr/>
        </p:nvGraphicFramePr>
        <p:xfrm>
          <a:off x="7543800" y="1752600"/>
          <a:ext cx="17526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5" name="Visio" r:id="rId5" imgW="1715203" imgH="1060614" progId="Visio.Drawing.6">
                  <p:embed/>
                </p:oleObj>
              </mc:Choice>
              <mc:Fallback>
                <p:oleObj name="Visio" r:id="rId5" imgW="1715203" imgH="1060614" progId="Visio.Drawing.6">
                  <p:embed/>
                  <p:pic>
                    <p:nvPicPr>
                      <p:cNvPr id="133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752600"/>
                        <a:ext cx="17526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/>
          <p:cNvGraphicFramePr>
            <a:graphicFrameLocks noChangeAspect="1"/>
          </p:cNvGraphicFramePr>
          <p:nvPr/>
        </p:nvGraphicFramePr>
        <p:xfrm>
          <a:off x="2590801" y="2924175"/>
          <a:ext cx="307657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6" r:id="rId7" imgW="2698246" imgH="881706" progId="Visio.Drawing.6">
                  <p:embed/>
                </p:oleObj>
              </mc:Choice>
              <mc:Fallback>
                <p:oleObj r:id="rId7" imgW="2698246" imgH="881706" progId="Visio.Drawing.6">
                  <p:embed/>
                  <p:pic>
                    <p:nvPicPr>
                      <p:cNvPr id="133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2924175"/>
                        <a:ext cx="3076575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16"/>
          <p:cNvSpPr txBox="1">
            <a:spLocks noChangeArrowheads="1"/>
          </p:cNvSpPr>
          <p:nvPr/>
        </p:nvSpPr>
        <p:spPr bwMode="auto">
          <a:xfrm>
            <a:off x="2971800" y="381001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二、四种信号的时域与频域对应关系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graphicFrame>
        <p:nvGraphicFramePr>
          <p:cNvPr id="13327" name="Object 15"/>
          <p:cNvGraphicFramePr>
            <a:graphicFrameLocks noChangeAspect="1"/>
          </p:cNvGraphicFramePr>
          <p:nvPr/>
        </p:nvGraphicFramePr>
        <p:xfrm>
          <a:off x="7010400" y="3810000"/>
          <a:ext cx="2590800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7" name="Visio" r:id="rId9" imgW="2489013" imgH="1060614" progId="Visio.Drawing.6">
                  <p:embed/>
                </p:oleObj>
              </mc:Choice>
              <mc:Fallback>
                <p:oleObj name="Visio" r:id="rId9" imgW="2489013" imgH="1060614" progId="Visio.Drawing.6">
                  <p:embed/>
                  <p:pic>
                    <p:nvPicPr>
                      <p:cNvPr id="133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810000"/>
                        <a:ext cx="2590800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/>
        </p:nvGraphicFramePr>
        <p:xfrm>
          <a:off x="7467600" y="2743200"/>
          <a:ext cx="1752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8" name="Visio" r:id="rId11" imgW="1850170" imgH="1042618" progId="Visio.Drawing.6">
                  <p:embed/>
                </p:oleObj>
              </mc:Choice>
              <mc:Fallback>
                <p:oleObj name="Visio" r:id="rId11" imgW="1850170" imgH="1042618" progId="Visio.Drawing.6">
                  <p:embed/>
                  <p:pic>
                    <p:nvPicPr>
                      <p:cNvPr id="133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743200"/>
                        <a:ext cx="1752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2" name="Group 10"/>
          <p:cNvGrpSpPr>
            <a:grpSpLocks/>
          </p:cNvGrpSpPr>
          <p:nvPr/>
        </p:nvGrpSpPr>
        <p:grpSpPr bwMode="auto">
          <a:xfrm>
            <a:off x="5791200" y="1971676"/>
            <a:ext cx="1219200" cy="771525"/>
            <a:chOff x="2688" y="1242"/>
            <a:chExt cx="768" cy="486"/>
          </a:xfrm>
        </p:grpSpPr>
        <p:sp>
          <p:nvSpPr>
            <p:cNvPr id="10262" name="Text Box 12"/>
            <p:cNvSpPr txBox="1">
              <a:spLocks noChangeArrowheads="1"/>
            </p:cNvSpPr>
            <p:nvPr/>
          </p:nvSpPr>
          <p:spPr bwMode="auto">
            <a:xfrm>
              <a:off x="2784" y="124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FT</a:t>
              </a:r>
            </a:p>
          </p:txBody>
        </p:sp>
        <p:sp>
          <p:nvSpPr>
            <p:cNvPr id="10263" name="AutoShape 11"/>
            <p:cNvSpPr>
              <a:spLocks noChangeArrowheads="1"/>
            </p:cNvSpPr>
            <p:nvPr/>
          </p:nvSpPr>
          <p:spPr bwMode="auto">
            <a:xfrm>
              <a:off x="2688" y="1440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319" name="Group 7"/>
          <p:cNvGrpSpPr>
            <a:grpSpLocks/>
          </p:cNvGrpSpPr>
          <p:nvPr/>
        </p:nvGrpSpPr>
        <p:grpSpPr bwMode="auto">
          <a:xfrm>
            <a:off x="5791200" y="3032126"/>
            <a:ext cx="1143000" cy="777875"/>
            <a:chOff x="2688" y="1910"/>
            <a:chExt cx="720" cy="490"/>
          </a:xfrm>
        </p:grpSpPr>
        <p:sp>
          <p:nvSpPr>
            <p:cNvPr id="10260" name="Text Box 9"/>
            <p:cNvSpPr txBox="1">
              <a:spLocks noChangeArrowheads="1"/>
            </p:cNvSpPr>
            <p:nvPr/>
          </p:nvSpPr>
          <p:spPr bwMode="auto">
            <a:xfrm>
              <a:off x="2784" y="1910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FS</a:t>
              </a:r>
            </a:p>
          </p:txBody>
        </p:sp>
        <p:sp>
          <p:nvSpPr>
            <p:cNvPr id="10261" name="AutoShape 8"/>
            <p:cNvSpPr>
              <a:spLocks noChangeArrowheads="1"/>
            </p:cNvSpPr>
            <p:nvPr/>
          </p:nvSpPr>
          <p:spPr bwMode="auto">
            <a:xfrm>
              <a:off x="2688" y="2112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5715000" y="4343400"/>
            <a:ext cx="1066800" cy="685800"/>
            <a:chOff x="2640" y="2736"/>
            <a:chExt cx="672" cy="432"/>
          </a:xfrm>
        </p:grpSpPr>
        <p:sp>
          <p:nvSpPr>
            <p:cNvPr id="10258" name="Text Box 6"/>
            <p:cNvSpPr txBox="1">
              <a:spLocks noChangeArrowheads="1"/>
            </p:cNvSpPr>
            <p:nvPr/>
          </p:nvSpPr>
          <p:spPr bwMode="auto">
            <a:xfrm>
              <a:off x="2640" y="2736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DTFT</a:t>
              </a:r>
            </a:p>
          </p:txBody>
        </p:sp>
        <p:sp>
          <p:nvSpPr>
            <p:cNvPr id="10259" name="AutoShape 5"/>
            <p:cNvSpPr>
              <a:spLocks noChangeArrowheads="1"/>
            </p:cNvSpPr>
            <p:nvPr/>
          </p:nvSpPr>
          <p:spPr bwMode="auto">
            <a:xfrm>
              <a:off x="2640" y="2880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313" name="Group 1"/>
          <p:cNvGrpSpPr>
            <a:grpSpLocks/>
          </p:cNvGrpSpPr>
          <p:nvPr/>
        </p:nvGrpSpPr>
        <p:grpSpPr bwMode="auto">
          <a:xfrm>
            <a:off x="5715000" y="5318126"/>
            <a:ext cx="1143000" cy="701675"/>
            <a:chOff x="2640" y="3350"/>
            <a:chExt cx="720" cy="442"/>
          </a:xfrm>
        </p:grpSpPr>
        <p:sp>
          <p:nvSpPr>
            <p:cNvPr id="10256" name="Text Box 3"/>
            <p:cNvSpPr txBox="1">
              <a:spLocks noChangeArrowheads="1"/>
            </p:cNvSpPr>
            <p:nvPr/>
          </p:nvSpPr>
          <p:spPr bwMode="auto">
            <a:xfrm>
              <a:off x="2688" y="335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000">
                  <a:solidFill>
                    <a:prstClr val="black"/>
                  </a:solidFill>
                </a:rPr>
                <a:t>DFS</a:t>
              </a:r>
            </a:p>
          </p:txBody>
        </p:sp>
        <p:sp>
          <p:nvSpPr>
            <p:cNvPr id="10257" name="AutoShape 2"/>
            <p:cNvSpPr>
              <a:spLocks noChangeArrowheads="1"/>
            </p:cNvSpPr>
            <p:nvPr/>
          </p:nvSpPr>
          <p:spPr bwMode="auto">
            <a:xfrm>
              <a:off x="2640" y="3504"/>
              <a:ext cx="576" cy="28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0255" name="Rectangle 0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2667" y="4068762"/>
            <a:ext cx="2171700" cy="118572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9886" y="5318126"/>
            <a:ext cx="2914614" cy="1115516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2299" y="5254490"/>
            <a:ext cx="3317875" cy="11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8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3" name="Group 27"/>
          <p:cNvGrpSpPr>
            <a:grpSpLocks/>
          </p:cNvGrpSpPr>
          <p:nvPr/>
        </p:nvGrpSpPr>
        <p:grpSpPr bwMode="auto">
          <a:xfrm>
            <a:off x="2286000" y="1905000"/>
            <a:ext cx="2819400" cy="914400"/>
            <a:chOff x="480" y="1200"/>
            <a:chExt cx="1776" cy="576"/>
          </a:xfrm>
        </p:grpSpPr>
        <p:graphicFrame>
          <p:nvGraphicFramePr>
            <p:cNvPr id="11294" name="Object 31"/>
            <p:cNvGraphicFramePr>
              <a:graphicFrameLocks noChangeAspect="1"/>
            </p:cNvGraphicFramePr>
            <p:nvPr/>
          </p:nvGraphicFramePr>
          <p:xfrm>
            <a:off x="480" y="1296"/>
            <a:ext cx="822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98" name="Equation" r:id="rId3" imgW="304536" imgH="203024" progId="Equation.3">
                    <p:embed/>
                  </p:oleObj>
                </mc:Choice>
                <mc:Fallback>
                  <p:oleObj name="Equation" r:id="rId3" imgW="304536" imgH="203024" progId="Equation.3">
                    <p:embed/>
                    <p:pic>
                      <p:nvPicPr>
                        <p:cNvPr id="11294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296"/>
                          <a:ext cx="822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5" name="Line 30"/>
            <p:cNvSpPr>
              <a:spLocks noChangeShapeType="1"/>
            </p:cNvSpPr>
            <p:nvPr/>
          </p:nvSpPr>
          <p:spPr bwMode="auto">
            <a:xfrm>
              <a:off x="1344" y="148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6" name="Text Box 29"/>
            <p:cNvSpPr txBox="1">
              <a:spLocks noChangeArrowheads="1"/>
            </p:cNvSpPr>
            <p:nvPr/>
          </p:nvSpPr>
          <p:spPr bwMode="auto">
            <a:xfrm>
              <a:off x="1536" y="120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>
                  <a:solidFill>
                    <a:prstClr val="black"/>
                  </a:solidFill>
                </a:rPr>
                <a:t>抽样</a:t>
              </a:r>
            </a:p>
          </p:txBody>
        </p:sp>
        <p:sp>
          <p:nvSpPr>
            <p:cNvPr id="11297" name="Text Box 28"/>
            <p:cNvSpPr txBox="1">
              <a:spLocks noChangeArrowheads="1"/>
            </p:cNvSpPr>
            <p:nvPr/>
          </p:nvSpPr>
          <p:spPr bwMode="auto">
            <a:xfrm>
              <a:off x="1440" y="1488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>
                  <a:solidFill>
                    <a:prstClr val="black"/>
                  </a:solidFill>
                </a:rPr>
                <a:t>离散化</a:t>
              </a:r>
            </a:p>
          </p:txBody>
        </p:sp>
      </p:grpSp>
      <p:grpSp>
        <p:nvGrpSpPr>
          <p:cNvPr id="14359" name="Group 23"/>
          <p:cNvGrpSpPr>
            <a:grpSpLocks/>
          </p:cNvGrpSpPr>
          <p:nvPr/>
        </p:nvGrpSpPr>
        <p:grpSpPr bwMode="auto">
          <a:xfrm>
            <a:off x="5294313" y="1905001"/>
            <a:ext cx="2782888" cy="741363"/>
            <a:chOff x="2375" y="1200"/>
            <a:chExt cx="1753" cy="467"/>
          </a:xfrm>
        </p:grpSpPr>
        <p:graphicFrame>
          <p:nvGraphicFramePr>
            <p:cNvPr id="11291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47624"/>
                </p:ext>
              </p:extLst>
            </p:nvPr>
          </p:nvGraphicFramePr>
          <p:xfrm>
            <a:off x="2375" y="1296"/>
            <a:ext cx="534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99" name="Equation" r:id="rId5" imgW="291960" imgH="203040" progId="Equation.DSMT4">
                    <p:embed/>
                  </p:oleObj>
                </mc:Choice>
                <mc:Fallback>
                  <p:oleObj name="Equation" r:id="rId5" imgW="291960" imgH="203040" progId="Equation.DSMT4">
                    <p:embed/>
                    <p:pic>
                      <p:nvPicPr>
                        <p:cNvPr id="11291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" y="1296"/>
                          <a:ext cx="534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2" name="Line 25"/>
            <p:cNvSpPr>
              <a:spLocks noChangeShapeType="1"/>
            </p:cNvSpPr>
            <p:nvPr/>
          </p:nvSpPr>
          <p:spPr bwMode="auto">
            <a:xfrm>
              <a:off x="3024" y="1488"/>
              <a:ext cx="10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93" name="Text Box 24"/>
            <p:cNvSpPr txBox="1">
              <a:spLocks noChangeArrowheads="1"/>
            </p:cNvSpPr>
            <p:nvPr/>
          </p:nvSpPr>
          <p:spPr bwMode="auto">
            <a:xfrm>
              <a:off x="3216" y="120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>
                  <a:solidFill>
                    <a:prstClr val="black"/>
                  </a:solidFill>
                </a:rPr>
                <a:t>周期化</a:t>
              </a:r>
            </a:p>
          </p:txBody>
        </p:sp>
      </p:grpSp>
      <p:graphicFrame>
        <p:nvGraphicFramePr>
          <p:cNvPr id="1435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794458"/>
              </p:ext>
            </p:extLst>
          </p:nvPr>
        </p:nvGraphicFramePr>
        <p:xfrm>
          <a:off x="8053388" y="2057400"/>
          <a:ext cx="8096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00" name="Equation" r:id="rId7" imgW="291960" imgH="203040" progId="Equation.DSMT4">
                  <p:embed/>
                </p:oleObj>
              </mc:Choice>
              <mc:Fallback>
                <p:oleObj name="Equation" r:id="rId7" imgW="291960" imgH="203040" progId="Equation.DSMT4">
                  <p:embed/>
                  <p:pic>
                    <p:nvPicPr>
                      <p:cNvPr id="143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388" y="2057400"/>
                        <a:ext cx="8096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51" name="Group 15"/>
          <p:cNvGrpSpPr>
            <a:grpSpLocks/>
          </p:cNvGrpSpPr>
          <p:nvPr/>
        </p:nvGrpSpPr>
        <p:grpSpPr bwMode="auto">
          <a:xfrm>
            <a:off x="1905000" y="4191000"/>
            <a:ext cx="1752600" cy="1600200"/>
            <a:chOff x="240" y="2640"/>
            <a:chExt cx="1104" cy="1008"/>
          </a:xfrm>
        </p:grpSpPr>
        <p:graphicFrame>
          <p:nvGraphicFramePr>
            <p:cNvPr id="11285" name="Object 21"/>
            <p:cNvGraphicFramePr>
              <a:graphicFrameLocks noChangeAspect="1"/>
            </p:cNvGraphicFramePr>
            <p:nvPr/>
          </p:nvGraphicFramePr>
          <p:xfrm>
            <a:off x="240" y="2696"/>
            <a:ext cx="1104" cy="9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1" name="位图图像" r:id="rId9" imgW="1371429" imgH="1123810" progId="Paint.Picture">
                    <p:embed/>
                  </p:oleObj>
                </mc:Choice>
                <mc:Fallback>
                  <p:oleObj name="位图图像" r:id="rId9" imgW="1371429" imgH="1123810" progId="Paint.Picture">
                    <p:embed/>
                    <p:pic>
                      <p:nvPicPr>
                        <p:cNvPr id="1128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696"/>
                          <a:ext cx="1104" cy="9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9310959"/>
                </p:ext>
              </p:extLst>
            </p:nvPr>
          </p:nvGraphicFramePr>
          <p:xfrm>
            <a:off x="764" y="2640"/>
            <a:ext cx="43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2" name="Equation" r:id="rId11" imgW="469696" imgH="203112" progId="Equation.DSMT4">
                    <p:embed/>
                  </p:oleObj>
                </mc:Choice>
                <mc:Fallback>
                  <p:oleObj name="Equation" r:id="rId11" imgW="469696" imgH="203112" progId="Equation.DSMT4">
                    <p:embed/>
                    <p:pic>
                      <p:nvPicPr>
                        <p:cNvPr id="11286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" y="2640"/>
                          <a:ext cx="436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19"/>
            <p:cNvGraphicFramePr>
              <a:graphicFrameLocks noChangeAspect="1"/>
            </p:cNvGraphicFramePr>
            <p:nvPr/>
          </p:nvGraphicFramePr>
          <p:xfrm>
            <a:off x="912" y="3408"/>
            <a:ext cx="24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3" name="Equation" r:id="rId13" imgW="228600" imgH="228600" progId="Equation.3">
                    <p:embed/>
                  </p:oleObj>
                </mc:Choice>
                <mc:Fallback>
                  <p:oleObj name="Equation" r:id="rId13" imgW="228600" imgH="228600" progId="Equation.3">
                    <p:embed/>
                    <p:pic>
                      <p:nvPicPr>
                        <p:cNvPr id="11287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408"/>
                          <a:ext cx="24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18"/>
            <p:cNvGraphicFramePr>
              <a:graphicFrameLocks noChangeAspect="1"/>
            </p:cNvGraphicFramePr>
            <p:nvPr/>
          </p:nvGraphicFramePr>
          <p:xfrm>
            <a:off x="331" y="3408"/>
            <a:ext cx="34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4" name="Equation" r:id="rId15" imgW="330200" imgH="228600" progId="Equation.3">
                    <p:embed/>
                  </p:oleObj>
                </mc:Choice>
                <mc:Fallback>
                  <p:oleObj name="Equation" r:id="rId15" imgW="330200" imgH="228600" progId="Equation.3">
                    <p:embed/>
                    <p:pic>
                      <p:nvPicPr>
                        <p:cNvPr id="1128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" y="3408"/>
                          <a:ext cx="34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9" name="Object 17"/>
            <p:cNvGraphicFramePr>
              <a:graphicFrameLocks noChangeAspect="1"/>
            </p:cNvGraphicFramePr>
            <p:nvPr/>
          </p:nvGraphicFramePr>
          <p:xfrm>
            <a:off x="816" y="2928"/>
            <a:ext cx="10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5" name="Equation" r:id="rId17" imgW="164885" imgH="164885" progId="Equation.3">
                    <p:embed/>
                  </p:oleObj>
                </mc:Choice>
                <mc:Fallback>
                  <p:oleObj name="Equation" r:id="rId17" imgW="164885" imgH="164885" progId="Equation.3">
                    <p:embed/>
                    <p:pic>
                      <p:nvPicPr>
                        <p:cNvPr id="1128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928"/>
                          <a:ext cx="10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0" name="Object 16"/>
            <p:cNvGraphicFramePr>
              <a:graphicFrameLocks noChangeAspect="1"/>
            </p:cNvGraphicFramePr>
            <p:nvPr/>
          </p:nvGraphicFramePr>
          <p:xfrm>
            <a:off x="1056" y="3216"/>
            <a:ext cx="19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6" name="Equation" r:id="rId19" imgW="152334" imgH="139639" progId="Equation.3">
                    <p:embed/>
                  </p:oleObj>
                </mc:Choice>
                <mc:Fallback>
                  <p:oleObj name="Equation" r:id="rId19" imgW="152334" imgH="139639" progId="Equation.3">
                    <p:embed/>
                    <p:pic>
                      <p:nvPicPr>
                        <p:cNvPr id="1129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216"/>
                          <a:ext cx="19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4" name="Group 8"/>
          <p:cNvGrpSpPr>
            <a:grpSpLocks/>
          </p:cNvGrpSpPr>
          <p:nvPr/>
        </p:nvGrpSpPr>
        <p:grpSpPr bwMode="auto">
          <a:xfrm>
            <a:off x="3581400" y="4241800"/>
            <a:ext cx="3962400" cy="1549400"/>
            <a:chOff x="1296" y="2672"/>
            <a:chExt cx="2496" cy="976"/>
          </a:xfrm>
        </p:grpSpPr>
        <p:graphicFrame>
          <p:nvGraphicFramePr>
            <p:cNvPr id="11279" name="Object 14"/>
            <p:cNvGraphicFramePr>
              <a:graphicFrameLocks noChangeAspect="1"/>
            </p:cNvGraphicFramePr>
            <p:nvPr/>
          </p:nvGraphicFramePr>
          <p:xfrm>
            <a:off x="1296" y="2672"/>
            <a:ext cx="2496" cy="9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7" name="位图图像" r:id="rId21" imgW="3123810" imgH="1171429" progId="Paint.Picture">
                    <p:embed/>
                  </p:oleObj>
                </mc:Choice>
                <mc:Fallback>
                  <p:oleObj name="位图图像" r:id="rId21" imgW="3123810" imgH="1171429" progId="Paint.Picture">
                    <p:embed/>
                    <p:pic>
                      <p:nvPicPr>
                        <p:cNvPr id="11279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672"/>
                          <a:ext cx="2496" cy="9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13"/>
            <p:cNvGraphicFramePr>
              <a:graphicFrameLocks noChangeAspect="1"/>
            </p:cNvGraphicFramePr>
            <p:nvPr/>
          </p:nvGraphicFramePr>
          <p:xfrm>
            <a:off x="3552" y="3248"/>
            <a:ext cx="15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8" name="Equation" r:id="rId23" imgW="164885" imgH="164885" progId="Equation.3">
                    <p:embed/>
                  </p:oleObj>
                </mc:Choice>
                <mc:Fallback>
                  <p:oleObj name="Equation" r:id="rId23" imgW="164885" imgH="164885" progId="Equation.3">
                    <p:embed/>
                    <p:pic>
                      <p:nvPicPr>
                        <p:cNvPr id="1128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248"/>
                          <a:ext cx="15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12"/>
            <p:cNvGraphicFramePr>
              <a:graphicFrameLocks noChangeAspect="1"/>
            </p:cNvGraphicFramePr>
            <p:nvPr/>
          </p:nvGraphicFramePr>
          <p:xfrm>
            <a:off x="2544" y="2672"/>
            <a:ext cx="432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09" name="Equation" r:id="rId25" imgW="495085" imgH="228501" progId="Equation.3">
                    <p:embed/>
                  </p:oleObj>
                </mc:Choice>
                <mc:Fallback>
                  <p:oleObj name="Equation" r:id="rId25" imgW="495085" imgH="228501" progId="Equation.3">
                    <p:embed/>
                    <p:pic>
                      <p:nvPicPr>
                        <p:cNvPr id="1128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672"/>
                          <a:ext cx="432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1"/>
            <p:cNvGraphicFramePr>
              <a:graphicFrameLocks noChangeAspect="1"/>
            </p:cNvGraphicFramePr>
            <p:nvPr/>
          </p:nvGraphicFramePr>
          <p:xfrm>
            <a:off x="1680" y="3536"/>
            <a:ext cx="20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10" name="Equation" r:id="rId27" imgW="329914" imgH="177646" progId="Equation.3">
                    <p:embed/>
                  </p:oleObj>
                </mc:Choice>
                <mc:Fallback>
                  <p:oleObj name="Equation" r:id="rId27" imgW="329914" imgH="177646" progId="Equation.3">
                    <p:embed/>
                    <p:pic>
                      <p:nvPicPr>
                        <p:cNvPr id="1128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3536"/>
                          <a:ext cx="20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Object 10"/>
            <p:cNvGraphicFramePr>
              <a:graphicFrameLocks noChangeAspect="1"/>
            </p:cNvGraphicFramePr>
            <p:nvPr/>
          </p:nvGraphicFramePr>
          <p:xfrm>
            <a:off x="3056" y="3520"/>
            <a:ext cx="14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11" name="Equation" r:id="rId29" imgW="228402" imgH="177646" progId="Equation.3">
                    <p:embed/>
                  </p:oleObj>
                </mc:Choice>
                <mc:Fallback>
                  <p:oleObj name="Equation" r:id="rId29" imgW="228402" imgH="177646" progId="Equation.3">
                    <p:embed/>
                    <p:pic>
                      <p:nvPicPr>
                        <p:cNvPr id="1128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6" y="3520"/>
                          <a:ext cx="14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9"/>
            <p:cNvGraphicFramePr>
              <a:graphicFrameLocks noChangeAspect="1"/>
            </p:cNvGraphicFramePr>
            <p:nvPr/>
          </p:nvGraphicFramePr>
          <p:xfrm>
            <a:off x="2544" y="2904"/>
            <a:ext cx="12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12" name="Equation" r:id="rId31" imgW="190417" imgH="393529" progId="Equation.3">
                    <p:embed/>
                  </p:oleObj>
                </mc:Choice>
                <mc:Fallback>
                  <p:oleObj name="Equation" r:id="rId31" imgW="190417" imgH="393529" progId="Equation.3">
                    <p:embed/>
                    <p:pic>
                      <p:nvPicPr>
                        <p:cNvPr id="1128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904"/>
                          <a:ext cx="12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2819400" y="2743200"/>
            <a:ext cx="0" cy="1066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5715000" y="2743200"/>
            <a:ext cx="0" cy="1066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8382000" y="2743200"/>
            <a:ext cx="0" cy="106680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275" name="Text Box 3"/>
          <p:cNvSpPr txBox="1">
            <a:spLocks noChangeArrowheads="1"/>
          </p:cNvSpPr>
          <p:nvPr/>
        </p:nvSpPr>
        <p:spPr bwMode="auto">
          <a:xfrm>
            <a:off x="2971800" y="381001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三、利用</a:t>
            </a:r>
            <a:r>
              <a:rPr lang="en-US" altLang="zh-CN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DFT</a:t>
            </a:r>
            <a:r>
              <a:rPr lang="zh-CN" altLang="en-US" sz="2800">
                <a:solidFill>
                  <a:srgbClr val="954F7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分析连续非周期信号的频谱</a:t>
            </a:r>
            <a:r>
              <a:rPr lang="zh-CN" altLang="en-US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8610600" y="2971800"/>
            <a:ext cx="1676400" cy="4572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prstClr val="black"/>
                </a:solidFill>
              </a:rPr>
              <a:t>DFT</a:t>
            </a:r>
            <a:r>
              <a:rPr lang="zh-CN" altLang="en-US" b="1">
                <a:solidFill>
                  <a:prstClr val="black"/>
                </a:solidFill>
              </a:rPr>
              <a:t>实现</a:t>
            </a:r>
          </a:p>
        </p:txBody>
      </p:sp>
      <p:sp>
        <p:nvSpPr>
          <p:cNvPr id="14337" name="Text Box 1"/>
          <p:cNvSpPr txBox="1">
            <a:spLocks noChangeArrowheads="1"/>
          </p:cNvSpPr>
          <p:nvPr/>
        </p:nvSpPr>
        <p:spPr bwMode="auto">
          <a:xfrm>
            <a:off x="3352800" y="60960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prstClr val="black"/>
                </a:solidFill>
              </a:rPr>
              <a:t>假设连续信号持续时间有限，频带有限</a:t>
            </a:r>
          </a:p>
        </p:txBody>
      </p:sp>
      <p:sp>
        <p:nvSpPr>
          <p:cNvPr id="11278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12567" y="4059238"/>
            <a:ext cx="30353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 autoUpdateAnimBg="0"/>
      <p:bldP spid="1433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5"/>
          <p:cNvSpPr txBox="1">
            <a:spLocks noChangeArrowheads="1"/>
          </p:cNvSpPr>
          <p:nvPr/>
        </p:nvSpPr>
        <p:spPr bwMode="auto">
          <a:xfrm>
            <a:off x="2895600" y="228601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prstClr val="black"/>
                </a:solidFill>
                <a:ea typeface="黑体" panose="02010609060101010101" pitchFamily="49" charset="-122"/>
              </a:rPr>
              <a:t>讨论：</a:t>
            </a:r>
          </a:p>
        </p:txBody>
      </p:sp>
      <p:sp>
        <p:nvSpPr>
          <p:cNvPr id="12291" name="Text Box 24"/>
          <p:cNvSpPr txBox="1">
            <a:spLocks noChangeArrowheads="1"/>
          </p:cNvSpPr>
          <p:nvPr/>
        </p:nvSpPr>
        <p:spPr bwMode="auto">
          <a:xfrm>
            <a:off x="4727575" y="26035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3366FF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）        无限长，其频带有限</a:t>
            </a:r>
          </a:p>
        </p:txBody>
      </p:sp>
      <p:graphicFrame>
        <p:nvGraphicFramePr>
          <p:cNvPr id="12292" name="Object 23"/>
          <p:cNvGraphicFramePr>
            <a:graphicFrameLocks noChangeAspect="1"/>
          </p:cNvGraphicFramePr>
          <p:nvPr/>
        </p:nvGraphicFramePr>
        <p:xfrm>
          <a:off x="5808663" y="333375"/>
          <a:ext cx="76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33" name="Equation" r:id="rId3" imgW="285803" imgH="182927" progId="Equation.3">
                  <p:embed/>
                </p:oleObj>
              </mc:Choice>
              <mc:Fallback>
                <p:oleObj name="Equation" r:id="rId3" imgW="285803" imgH="182927" progId="Equation.3">
                  <p:embed/>
                  <p:pic>
                    <p:nvPicPr>
                      <p:cNvPr id="1229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333375"/>
                        <a:ext cx="76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087937"/>
              </p:ext>
            </p:extLst>
          </p:nvPr>
        </p:nvGraphicFramePr>
        <p:xfrm>
          <a:off x="8807450" y="1752600"/>
          <a:ext cx="8255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34" name="Equation" r:id="rId5" imgW="355320" imgH="203040" progId="Equation.DSMT4">
                  <p:embed/>
                </p:oleObj>
              </mc:Choice>
              <mc:Fallback>
                <p:oleObj name="Equation" r:id="rId5" imgW="355320" imgH="203040" progId="Equation.DSMT4">
                  <p:embed/>
                  <p:pic>
                    <p:nvPicPr>
                      <p:cNvPr id="153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7450" y="1752600"/>
                        <a:ext cx="8255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7" name="Group 17"/>
          <p:cNvGrpSpPr>
            <a:grpSpLocks/>
          </p:cNvGrpSpPr>
          <p:nvPr/>
        </p:nvGrpSpPr>
        <p:grpSpPr bwMode="auto">
          <a:xfrm>
            <a:off x="4373563" y="1524000"/>
            <a:ext cx="2179638" cy="990600"/>
            <a:chOff x="1795" y="1248"/>
            <a:chExt cx="1373" cy="624"/>
          </a:xfrm>
        </p:grpSpPr>
        <p:sp>
          <p:nvSpPr>
            <p:cNvPr id="12312" name="Oval 21"/>
            <p:cNvSpPr>
              <a:spLocks noChangeArrowheads="1"/>
            </p:cNvSpPr>
            <p:nvPr/>
          </p:nvSpPr>
          <p:spPr bwMode="auto">
            <a:xfrm>
              <a:off x="2304" y="1248"/>
              <a:ext cx="864" cy="62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2313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299351"/>
                </p:ext>
              </p:extLst>
            </p:nvPr>
          </p:nvGraphicFramePr>
          <p:xfrm>
            <a:off x="1795" y="1421"/>
            <a:ext cx="4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35" name="Equation" r:id="rId7" imgW="291960" imgH="203040" progId="Equation.DSMT4">
                    <p:embed/>
                  </p:oleObj>
                </mc:Choice>
                <mc:Fallback>
                  <p:oleObj name="Equation" r:id="rId7" imgW="291960" imgH="203040" progId="Equation.DSMT4">
                    <p:embed/>
                    <p:pic>
                      <p:nvPicPr>
                        <p:cNvPr id="12313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" y="1421"/>
                          <a:ext cx="4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4" name="Line 19"/>
            <p:cNvSpPr>
              <a:spLocks noChangeShapeType="1"/>
            </p:cNvSpPr>
            <p:nvPr/>
          </p:nvSpPr>
          <p:spPr bwMode="auto">
            <a:xfrm>
              <a:off x="2400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5" name="Text Box 18"/>
            <p:cNvSpPr txBox="1">
              <a:spLocks noChangeArrowheads="1"/>
            </p:cNvSpPr>
            <p:nvPr/>
          </p:nvSpPr>
          <p:spPr bwMode="auto">
            <a:xfrm>
              <a:off x="2544" y="1305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prstClr val="black"/>
                  </a:solidFill>
                </a:rPr>
                <a:t>加窗</a:t>
              </a:r>
            </a:p>
          </p:txBody>
        </p:sp>
      </p:grpSp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5181600" y="2362200"/>
          <a:ext cx="28956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36" name="Visio" r:id="rId9" imgW="2238199" imgH="942518" progId="Visio.Drawing.6">
                  <p:embed/>
                </p:oleObj>
              </mc:Choice>
              <mc:Fallback>
                <p:oleObj name="Visio" r:id="rId9" imgW="2238199" imgH="942518" progId="Visio.Drawing.6">
                  <p:embed/>
                  <p:pic>
                    <p:nvPicPr>
                      <p:cNvPr id="153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362200"/>
                        <a:ext cx="28956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2667000" y="3962400"/>
          <a:ext cx="36576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37" name="Visio" r:id="rId11" imgW="2238199" imgH="942518" progId="Visio.Drawing.6">
                  <p:embed/>
                </p:oleObj>
              </mc:Choice>
              <mc:Fallback>
                <p:oleObj name="Visio" r:id="rId11" imgW="2238199" imgH="942518" progId="Visio.Drawing.6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36576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1676400" y="2438400"/>
          <a:ext cx="2438400" cy="177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38" name="Visio" r:id="rId13" imgW="1218826" imgH="941360" progId="Visio.Drawing.6">
                  <p:embed/>
                </p:oleObj>
              </mc:Choice>
              <mc:Fallback>
                <p:oleObj name="Visio" r:id="rId13" imgW="1218826" imgH="941360" progId="Visio.Drawing.6">
                  <p:embed/>
                  <p:pic>
                    <p:nvPicPr>
                      <p:cNvPr id="153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8400"/>
                        <a:ext cx="2438400" cy="177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9" name="Group 9"/>
          <p:cNvGrpSpPr>
            <a:grpSpLocks/>
          </p:cNvGrpSpPr>
          <p:nvPr/>
        </p:nvGrpSpPr>
        <p:grpSpPr bwMode="auto">
          <a:xfrm>
            <a:off x="2286000" y="1600200"/>
            <a:ext cx="1981200" cy="660400"/>
            <a:chOff x="480" y="1296"/>
            <a:chExt cx="1248" cy="416"/>
          </a:xfrm>
        </p:grpSpPr>
        <p:graphicFrame>
          <p:nvGraphicFramePr>
            <p:cNvPr id="12309" name="Object 12"/>
            <p:cNvGraphicFramePr>
              <a:graphicFrameLocks noChangeAspect="1"/>
            </p:cNvGraphicFramePr>
            <p:nvPr/>
          </p:nvGraphicFramePr>
          <p:xfrm>
            <a:off x="480" y="1392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39" name="Equation" r:id="rId15" imgW="304536" imgH="203024" progId="Equation.3">
                    <p:embed/>
                  </p:oleObj>
                </mc:Choice>
                <mc:Fallback>
                  <p:oleObj name="Equation" r:id="rId15" imgW="304536" imgH="203024" progId="Equation.3">
                    <p:embed/>
                    <p:pic>
                      <p:nvPicPr>
                        <p:cNvPr id="1230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392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0" name="Line 11"/>
            <p:cNvSpPr>
              <a:spLocks noChangeShapeType="1"/>
            </p:cNvSpPr>
            <p:nvPr/>
          </p:nvSpPr>
          <p:spPr bwMode="auto">
            <a:xfrm>
              <a:off x="1008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11" name="Text Box 10"/>
            <p:cNvSpPr txBox="1">
              <a:spLocks noChangeArrowheads="1"/>
            </p:cNvSpPr>
            <p:nvPr/>
          </p:nvSpPr>
          <p:spPr bwMode="auto">
            <a:xfrm>
              <a:off x="1104" y="129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抽样</a:t>
              </a:r>
            </a:p>
          </p:txBody>
        </p:sp>
      </p:grp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6588126" y="1600201"/>
            <a:ext cx="2251075" cy="668338"/>
            <a:chOff x="3190" y="1296"/>
            <a:chExt cx="1418" cy="421"/>
          </a:xfrm>
        </p:grpSpPr>
        <p:graphicFrame>
          <p:nvGraphicFramePr>
            <p:cNvPr id="1230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670759"/>
                </p:ext>
              </p:extLst>
            </p:nvPr>
          </p:nvGraphicFramePr>
          <p:xfrm>
            <a:off x="3190" y="1374"/>
            <a:ext cx="57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140" name="Equation" r:id="rId17" imgW="380880" imgH="228600" progId="Equation.DSMT4">
                    <p:embed/>
                  </p:oleObj>
                </mc:Choice>
                <mc:Fallback>
                  <p:oleObj name="Equation" r:id="rId17" imgW="380880" imgH="228600" progId="Equation.DSMT4">
                    <p:embed/>
                    <p:pic>
                      <p:nvPicPr>
                        <p:cNvPr id="1230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" y="1374"/>
                          <a:ext cx="573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Line 7"/>
            <p:cNvSpPr>
              <a:spLocks noChangeShapeType="1"/>
            </p:cNvSpPr>
            <p:nvPr/>
          </p:nvSpPr>
          <p:spPr bwMode="auto">
            <a:xfrm>
              <a:off x="3840" y="153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8" name="Text Box 6"/>
            <p:cNvSpPr txBox="1">
              <a:spLocks noChangeArrowheads="1"/>
            </p:cNvSpPr>
            <p:nvPr/>
          </p:nvSpPr>
          <p:spPr bwMode="auto">
            <a:xfrm>
              <a:off x="3984" y="1296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prstClr val="black"/>
                  </a:solidFill>
                </a:rPr>
                <a:t>DFT</a:t>
              </a:r>
            </a:p>
          </p:txBody>
        </p:sp>
      </p:grp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4648200" y="2362200"/>
            <a:ext cx="0" cy="1524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 flipH="1">
            <a:off x="2971800" y="2133600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7239000" y="2133600"/>
            <a:ext cx="0" cy="381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1" name="Line 1"/>
          <p:cNvSpPr>
            <a:spLocks noChangeShapeType="1"/>
          </p:cNvSpPr>
          <p:nvPr/>
        </p:nvSpPr>
        <p:spPr bwMode="auto">
          <a:xfrm>
            <a:off x="9296400" y="2286000"/>
            <a:ext cx="0" cy="22098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305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68683" y="4589461"/>
            <a:ext cx="2736849" cy="181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68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8"/>
          <p:cNvSpPr txBox="1">
            <a:spLocks noChangeArrowheads="1"/>
          </p:cNvSpPr>
          <p:nvPr/>
        </p:nvSpPr>
        <p:spPr bwMode="auto">
          <a:xfrm>
            <a:off x="2971800" y="2286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3366FF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）       有限长，其频带无限</a:t>
            </a:r>
          </a:p>
        </p:txBody>
      </p:sp>
      <p:graphicFrame>
        <p:nvGraphicFramePr>
          <p:cNvPr id="13315" name="Object 17"/>
          <p:cNvGraphicFramePr>
            <a:graphicFrameLocks noChangeAspect="1"/>
          </p:cNvGraphicFramePr>
          <p:nvPr/>
        </p:nvGraphicFramePr>
        <p:xfrm>
          <a:off x="3962400" y="290513"/>
          <a:ext cx="76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4" name="Equation" r:id="rId3" imgW="285803" imgH="182927" progId="Equation.3">
                  <p:embed/>
                </p:oleObj>
              </mc:Choice>
              <mc:Fallback>
                <p:oleObj name="Equation" r:id="rId3" imgW="285803" imgH="182927" progId="Equation.3">
                  <p:embed/>
                  <p:pic>
                    <p:nvPicPr>
                      <p:cNvPr id="1331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90513"/>
                        <a:ext cx="76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6"/>
          <p:cNvGraphicFramePr>
            <a:graphicFrameLocks noChangeAspect="1"/>
          </p:cNvGraphicFramePr>
          <p:nvPr/>
        </p:nvGraphicFramePr>
        <p:xfrm>
          <a:off x="3581400" y="4648200"/>
          <a:ext cx="1524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5" name="Equation" r:id="rId5" imgW="152334" imgH="139639" progId="Equation.3">
                  <p:embed/>
                </p:oleObj>
              </mc:Choice>
              <mc:Fallback>
                <p:oleObj name="Equation" r:id="rId5" imgW="152334" imgH="139639" progId="Equation.3">
                  <p:embed/>
                  <p:pic>
                    <p:nvPicPr>
                      <p:cNvPr id="133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648200"/>
                        <a:ext cx="1524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1752600" y="3505200"/>
          <a:ext cx="2209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6" name="Visio" r:id="rId7" imgW="1200852" imgH="946977" progId="Visio.Drawing.6">
                  <p:embed/>
                </p:oleObj>
              </mc:Choice>
              <mc:Fallback>
                <p:oleObj name="Visio" r:id="rId7" imgW="1200852" imgH="946977" progId="Visio.Drawing.6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505200"/>
                        <a:ext cx="2209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4114800" y="3276600"/>
          <a:ext cx="34290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37" name="Visio" r:id="rId9" imgW="2238199" imgH="942518" progId="Visio.Drawing.6">
                  <p:embed/>
                </p:oleObj>
              </mc:Choice>
              <mc:Fallback>
                <p:oleObj name="Visio" r:id="rId9" imgW="2238199" imgH="942518" progId="Visio.Drawing.6">
                  <p:embed/>
                  <p:pic>
                    <p:nvPicPr>
                      <p:cNvPr id="163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76600"/>
                        <a:ext cx="34290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3" name="Group 9"/>
          <p:cNvGrpSpPr>
            <a:grpSpLocks/>
          </p:cNvGrpSpPr>
          <p:nvPr/>
        </p:nvGrpSpPr>
        <p:grpSpPr bwMode="auto">
          <a:xfrm>
            <a:off x="2819400" y="1828800"/>
            <a:ext cx="2209800" cy="674688"/>
            <a:chOff x="816" y="1344"/>
            <a:chExt cx="1392" cy="425"/>
          </a:xfrm>
        </p:grpSpPr>
        <p:graphicFrame>
          <p:nvGraphicFramePr>
            <p:cNvPr id="13330" name="Object 12"/>
            <p:cNvGraphicFramePr>
              <a:graphicFrameLocks noChangeAspect="1"/>
            </p:cNvGraphicFramePr>
            <p:nvPr/>
          </p:nvGraphicFramePr>
          <p:xfrm>
            <a:off x="816" y="1449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138" name="Equation" r:id="rId11" imgW="304536" imgH="203024" progId="Equation.3">
                    <p:embed/>
                  </p:oleObj>
                </mc:Choice>
                <mc:Fallback>
                  <p:oleObj name="Equation" r:id="rId11" imgW="304536" imgH="203024" progId="Equation.3">
                    <p:embed/>
                    <p:pic>
                      <p:nvPicPr>
                        <p:cNvPr id="1333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449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1" name="Line 11"/>
            <p:cNvSpPr>
              <a:spLocks noChangeShapeType="1"/>
            </p:cNvSpPr>
            <p:nvPr/>
          </p:nvSpPr>
          <p:spPr bwMode="auto">
            <a:xfrm>
              <a:off x="1488" y="1593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32" name="Text Box 10"/>
            <p:cNvSpPr txBox="1">
              <a:spLocks noChangeArrowheads="1"/>
            </p:cNvSpPr>
            <p:nvPr/>
          </p:nvSpPr>
          <p:spPr bwMode="auto">
            <a:xfrm>
              <a:off x="1584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抽样</a:t>
              </a:r>
            </a:p>
          </p:txBody>
        </p:sp>
      </p:grp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5668963" y="1828800"/>
            <a:ext cx="3505200" cy="700088"/>
            <a:chOff x="2611" y="1344"/>
            <a:chExt cx="2208" cy="441"/>
          </a:xfrm>
        </p:grpSpPr>
        <p:graphicFrame>
          <p:nvGraphicFramePr>
            <p:cNvPr id="1332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409274"/>
                </p:ext>
              </p:extLst>
            </p:nvPr>
          </p:nvGraphicFramePr>
          <p:xfrm>
            <a:off x="2611" y="1478"/>
            <a:ext cx="441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139" name="Equation" r:id="rId13" imgW="291960" imgH="203040" progId="Equation.DSMT4">
                    <p:embed/>
                  </p:oleObj>
                </mc:Choice>
                <mc:Fallback>
                  <p:oleObj name="Equation" r:id="rId13" imgW="291960" imgH="203040" progId="Equation.DSMT4">
                    <p:embed/>
                    <p:pic>
                      <p:nvPicPr>
                        <p:cNvPr id="1332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1" y="1478"/>
                          <a:ext cx="441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905859"/>
                </p:ext>
              </p:extLst>
            </p:nvPr>
          </p:nvGraphicFramePr>
          <p:xfrm>
            <a:off x="4284" y="1449"/>
            <a:ext cx="53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9140" name="Equation" r:id="rId15" imgW="355320" imgH="203040" progId="Equation.DSMT4">
                    <p:embed/>
                  </p:oleObj>
                </mc:Choice>
                <mc:Fallback>
                  <p:oleObj name="Equation" r:id="rId15" imgW="355320" imgH="203040" progId="Equation.DSMT4">
                    <p:embed/>
                    <p:pic>
                      <p:nvPicPr>
                        <p:cNvPr id="1332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" y="1449"/>
                          <a:ext cx="53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Line 6"/>
            <p:cNvSpPr>
              <a:spLocks noChangeShapeType="1"/>
            </p:cNvSpPr>
            <p:nvPr/>
          </p:nvSpPr>
          <p:spPr bwMode="auto">
            <a:xfrm>
              <a:off x="3360" y="1593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29" name="Text Box 5"/>
            <p:cNvSpPr txBox="1">
              <a:spLocks noChangeArrowheads="1"/>
            </p:cNvSpPr>
            <p:nvPr/>
          </p:nvSpPr>
          <p:spPr bwMode="auto">
            <a:xfrm>
              <a:off x="3504" y="134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prstClr val="black"/>
                  </a:solidFill>
                </a:rPr>
                <a:t>DFT</a:t>
              </a:r>
            </a:p>
          </p:txBody>
        </p:sp>
      </p:grp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3200400" y="2514600"/>
            <a:ext cx="0" cy="6858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6019800" y="2514600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5" name="Line 1"/>
          <p:cNvSpPr>
            <a:spLocks noChangeShapeType="1"/>
          </p:cNvSpPr>
          <p:nvPr/>
        </p:nvSpPr>
        <p:spPr bwMode="auto">
          <a:xfrm>
            <a:off x="8763000" y="2438400"/>
            <a:ext cx="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325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9433" y="3200931"/>
            <a:ext cx="3070890" cy="22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5"/>
          <p:cNvSpPr txBox="1">
            <a:spLocks noChangeArrowheads="1"/>
          </p:cNvSpPr>
          <p:nvPr/>
        </p:nvSpPr>
        <p:spPr bwMode="auto">
          <a:xfrm>
            <a:off x="3200400" y="2286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>
                <a:solidFill>
                  <a:srgbClr val="3366FF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>
                <a:solidFill>
                  <a:srgbClr val="3366FF"/>
                </a:solidFill>
                <a:ea typeface="华文中宋" panose="02010600040101010101" pitchFamily="2" charset="-122"/>
              </a:rPr>
              <a:t>）       无限长，其频带无限</a:t>
            </a:r>
          </a:p>
        </p:txBody>
      </p:sp>
      <p:graphicFrame>
        <p:nvGraphicFramePr>
          <p:cNvPr id="14339" name="Object 24"/>
          <p:cNvGraphicFramePr>
            <a:graphicFrameLocks noChangeAspect="1"/>
          </p:cNvGraphicFramePr>
          <p:nvPr/>
        </p:nvGraphicFramePr>
        <p:xfrm>
          <a:off x="4191000" y="290513"/>
          <a:ext cx="76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2" name="Equation" r:id="rId3" imgW="285803" imgH="182927" progId="Equation.3">
                  <p:embed/>
                </p:oleObj>
              </mc:Choice>
              <mc:Fallback>
                <p:oleObj name="Equation" r:id="rId3" imgW="285803" imgH="182927" progId="Equation.3">
                  <p:embed/>
                  <p:pic>
                    <p:nvPicPr>
                      <p:cNvPr id="1433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0513"/>
                        <a:ext cx="762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7" name="Group 19"/>
          <p:cNvGrpSpPr>
            <a:grpSpLocks/>
          </p:cNvGrpSpPr>
          <p:nvPr/>
        </p:nvGrpSpPr>
        <p:grpSpPr bwMode="auto">
          <a:xfrm>
            <a:off x="5181601" y="1295400"/>
            <a:ext cx="2316163" cy="990600"/>
            <a:chOff x="2304" y="1152"/>
            <a:chExt cx="1459" cy="624"/>
          </a:xfrm>
        </p:grpSpPr>
        <p:sp>
          <p:nvSpPr>
            <p:cNvPr id="14360" name="Oval 23"/>
            <p:cNvSpPr>
              <a:spLocks noChangeArrowheads="1"/>
            </p:cNvSpPr>
            <p:nvPr/>
          </p:nvSpPr>
          <p:spPr bwMode="auto">
            <a:xfrm>
              <a:off x="2304" y="1152"/>
              <a:ext cx="864" cy="62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graphicFrame>
          <p:nvGraphicFramePr>
            <p:cNvPr id="1436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7613341"/>
                </p:ext>
              </p:extLst>
            </p:nvPr>
          </p:nvGraphicFramePr>
          <p:xfrm>
            <a:off x="3190" y="1326"/>
            <a:ext cx="57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73" name="Equation" r:id="rId5" imgW="380880" imgH="228600" progId="Equation.DSMT4">
                    <p:embed/>
                  </p:oleObj>
                </mc:Choice>
                <mc:Fallback>
                  <p:oleObj name="Equation" r:id="rId5" imgW="380880" imgH="228600" progId="Equation.DSMT4">
                    <p:embed/>
                    <p:pic>
                      <p:nvPicPr>
                        <p:cNvPr id="14361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" y="1326"/>
                          <a:ext cx="573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2" name="Line 21"/>
            <p:cNvSpPr>
              <a:spLocks noChangeShapeType="1"/>
            </p:cNvSpPr>
            <p:nvPr/>
          </p:nvSpPr>
          <p:spPr bwMode="auto">
            <a:xfrm>
              <a:off x="2400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3" name="Text Box 20"/>
            <p:cNvSpPr txBox="1">
              <a:spLocks noChangeArrowheads="1"/>
            </p:cNvSpPr>
            <p:nvPr/>
          </p:nvSpPr>
          <p:spPr bwMode="auto">
            <a:xfrm>
              <a:off x="2544" y="1257"/>
              <a:ext cx="48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加窗</a:t>
              </a:r>
            </a:p>
          </p:txBody>
        </p:sp>
      </p:grp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2971800" y="5638800"/>
            <a:ext cx="53340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 dirty="0">
                <a:solidFill>
                  <a:prstClr val="black"/>
                </a:solidFill>
                <a:ea typeface="黑体" panose="02010609060101010101" pitchFamily="49" charset="-122"/>
              </a:rPr>
              <a:t>出现三种现象</a:t>
            </a:r>
            <a:r>
              <a:rPr lang="zh-CN" altLang="en-US" dirty="0" smtClean="0">
                <a:solidFill>
                  <a:prstClr val="black"/>
                </a:solidFill>
              </a:rPr>
              <a:t>：</a:t>
            </a:r>
            <a:r>
              <a:rPr lang="en-US" altLang="zh-CN" smtClean="0">
                <a:solidFill>
                  <a:srgbClr val="0563C1"/>
                </a:solidFill>
                <a:ea typeface="黑体" panose="02010609060101010101" pitchFamily="49" charset="-122"/>
              </a:rPr>
              <a:t>	</a:t>
            </a:r>
            <a:endParaRPr lang="zh-CN" altLang="en-US" dirty="0">
              <a:solidFill>
                <a:srgbClr val="0563C1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1828800" y="2133600"/>
          <a:ext cx="2209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4" name="Visio" r:id="rId7" imgW="1200852" imgH="946977" progId="Visio.Drawing.6">
                  <p:embed/>
                </p:oleObj>
              </mc:Choice>
              <mc:Fallback>
                <p:oleObj name="Visio" r:id="rId7" imgW="1200852" imgH="946977" progId="Visio.Drawing.6">
                  <p:embed/>
                  <p:pic>
                    <p:nvPicPr>
                      <p:cNvPr id="174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2209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2895600" y="3505200"/>
          <a:ext cx="34290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5" name="Visio" r:id="rId9" imgW="2238199" imgH="942518" progId="Visio.Drawing.6">
                  <p:embed/>
                </p:oleObj>
              </mc:Choice>
              <mc:Fallback>
                <p:oleObj name="Visio" r:id="rId9" imgW="2238199" imgH="942518" progId="Visio.Drawing.6">
                  <p:embed/>
                  <p:pic>
                    <p:nvPicPr>
                      <p:cNvPr id="174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05200"/>
                        <a:ext cx="34290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5715000" y="2209800"/>
          <a:ext cx="32004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76" name="Visio" r:id="rId11" imgW="2235450" imgH="948100" progId="Visio.Drawing.6">
                  <p:embed/>
                </p:oleObj>
              </mc:Choice>
              <mc:Fallback>
                <p:oleObj name="Visio" r:id="rId11" imgW="2235450" imgH="948100" progId="Visio.Drawing.6">
                  <p:embed/>
                  <p:pic>
                    <p:nvPicPr>
                      <p:cNvPr id="174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209800"/>
                        <a:ext cx="32004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7" name="Group 9"/>
          <p:cNvGrpSpPr>
            <a:grpSpLocks/>
          </p:cNvGrpSpPr>
          <p:nvPr/>
        </p:nvGrpSpPr>
        <p:grpSpPr bwMode="auto">
          <a:xfrm>
            <a:off x="2286001" y="1430338"/>
            <a:ext cx="2789238" cy="685800"/>
            <a:chOff x="480" y="1248"/>
            <a:chExt cx="1757" cy="432"/>
          </a:xfrm>
        </p:grpSpPr>
        <p:graphicFrame>
          <p:nvGraphicFramePr>
            <p:cNvPr id="1435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875794"/>
                </p:ext>
              </p:extLst>
            </p:nvPr>
          </p:nvGraphicFramePr>
          <p:xfrm>
            <a:off x="1795" y="1373"/>
            <a:ext cx="4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77" name="Equation" r:id="rId13" imgW="291960" imgH="203040" progId="Equation.DSMT4">
                    <p:embed/>
                  </p:oleObj>
                </mc:Choice>
                <mc:Fallback>
                  <p:oleObj name="Equation" r:id="rId13" imgW="291960" imgH="203040" progId="Equation.DSMT4">
                    <p:embed/>
                    <p:pic>
                      <p:nvPicPr>
                        <p:cNvPr id="1435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" y="1373"/>
                          <a:ext cx="4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Object 12"/>
            <p:cNvGraphicFramePr>
              <a:graphicFrameLocks noChangeAspect="1"/>
            </p:cNvGraphicFramePr>
            <p:nvPr/>
          </p:nvGraphicFramePr>
          <p:xfrm>
            <a:off x="480" y="1344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78" name="Equation" r:id="rId15" imgW="304536" imgH="203024" progId="Equation.3">
                    <p:embed/>
                  </p:oleObj>
                </mc:Choice>
                <mc:Fallback>
                  <p:oleObj name="Equation" r:id="rId15" imgW="304536" imgH="203024" progId="Equation.3">
                    <p:embed/>
                    <p:pic>
                      <p:nvPicPr>
                        <p:cNvPr id="1435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344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8" name="Line 11"/>
            <p:cNvSpPr>
              <a:spLocks noChangeShapeType="1"/>
            </p:cNvSpPr>
            <p:nvPr/>
          </p:nvSpPr>
          <p:spPr bwMode="auto">
            <a:xfrm>
              <a:off x="1008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9" name="Text Box 10"/>
            <p:cNvSpPr txBox="1">
              <a:spLocks noChangeArrowheads="1"/>
            </p:cNvSpPr>
            <p:nvPr/>
          </p:nvSpPr>
          <p:spPr bwMode="auto">
            <a:xfrm>
              <a:off x="1152" y="124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1800" b="1">
                  <a:solidFill>
                    <a:prstClr val="black"/>
                  </a:solidFill>
                </a:rPr>
                <a:t>抽样</a:t>
              </a:r>
            </a:p>
          </p:txBody>
        </p:sp>
      </p:grp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7593268" y="1447802"/>
            <a:ext cx="2014538" cy="623888"/>
            <a:chOff x="3840" y="1248"/>
            <a:chExt cx="1269" cy="393"/>
          </a:xfrm>
        </p:grpSpPr>
        <p:graphicFrame>
          <p:nvGraphicFramePr>
            <p:cNvPr id="1435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4539741"/>
                </p:ext>
              </p:extLst>
            </p:nvPr>
          </p:nvGraphicFramePr>
          <p:xfrm>
            <a:off x="4588" y="1344"/>
            <a:ext cx="52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179" name="Equation" r:id="rId17" imgW="355320" imgH="203040" progId="Equation.DSMT4">
                    <p:embed/>
                  </p:oleObj>
                </mc:Choice>
                <mc:Fallback>
                  <p:oleObj name="Equation" r:id="rId17" imgW="355320" imgH="203040" progId="Equation.DSMT4">
                    <p:embed/>
                    <p:pic>
                      <p:nvPicPr>
                        <p:cNvPr id="1435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8" y="1344"/>
                          <a:ext cx="52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4" name="Line 7"/>
            <p:cNvSpPr>
              <a:spLocks noChangeShapeType="1"/>
            </p:cNvSpPr>
            <p:nvPr/>
          </p:nvSpPr>
          <p:spPr bwMode="auto">
            <a:xfrm>
              <a:off x="3840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prstClr val="blac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5" name="Text Box 6"/>
            <p:cNvSpPr txBox="1">
              <a:spLocks noChangeArrowheads="1"/>
            </p:cNvSpPr>
            <p:nvPr/>
          </p:nvSpPr>
          <p:spPr bwMode="auto">
            <a:xfrm>
              <a:off x="3984" y="124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prstClr val="black"/>
                  </a:solidFill>
                </a:rPr>
                <a:t>DFT</a:t>
              </a:r>
            </a:p>
          </p:txBody>
        </p:sp>
      </p:grp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2438400" y="1981200"/>
            <a:ext cx="0" cy="7620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4648200" y="2133600"/>
            <a:ext cx="0" cy="13716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9372600" y="2057400"/>
            <a:ext cx="0" cy="1981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09" name="Line 1"/>
          <p:cNvSpPr>
            <a:spLocks noChangeShapeType="1"/>
          </p:cNvSpPr>
          <p:nvPr/>
        </p:nvSpPr>
        <p:spPr bwMode="auto">
          <a:xfrm>
            <a:off x="6934200" y="2133600"/>
            <a:ext cx="0" cy="533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prstClr val="blac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52" name="Rectangle 0"/>
          <p:cNvSpPr>
            <a:spLocks noChangeArrowheads="1"/>
          </p:cNvSpPr>
          <p:nvPr/>
        </p:nvSpPr>
        <p:spPr bwMode="auto">
          <a:xfrm>
            <a:off x="1676400" y="9906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0537" y="4190999"/>
            <a:ext cx="2674551" cy="194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3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6" grpId="0" animBg="1" autoUpdateAnimBg="0"/>
    </p:bldLst>
  </p:timing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262</Words>
  <Application>Microsoft Office PowerPoint</Application>
  <PresentationFormat>宽屏</PresentationFormat>
  <Paragraphs>50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等线 Light</vt:lpstr>
      <vt:lpstr>黑体</vt:lpstr>
      <vt:lpstr>宋体</vt:lpstr>
      <vt:lpstr>华文中宋</vt:lpstr>
      <vt:lpstr>Arial</vt:lpstr>
      <vt:lpstr>Tahoma</vt:lpstr>
      <vt:lpstr>1_Office 主题​​</vt:lpstr>
      <vt:lpstr>Equation</vt:lpstr>
      <vt:lpstr>Microsoft Visio 2000/2002 Drawing</vt:lpstr>
      <vt:lpstr>Visio</vt:lpstr>
      <vt:lpstr>位图图像</vt:lpstr>
      <vt:lpstr>利用DFT分析信号频谱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离散时间系统的频域分析—傅立叶变换</dc:title>
  <dc:creator>Administrator</dc:creator>
  <cp:lastModifiedBy>CHAO WU</cp:lastModifiedBy>
  <cp:revision>44</cp:revision>
  <dcterms:created xsi:type="dcterms:W3CDTF">2020-08-06T07:31:11Z</dcterms:created>
  <dcterms:modified xsi:type="dcterms:W3CDTF">2022-10-29T15:12:47Z</dcterms:modified>
</cp:coreProperties>
</file>