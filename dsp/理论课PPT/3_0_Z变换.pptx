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02" r:id="rId2"/>
    <p:sldId id="300" r:id="rId3"/>
    <p:sldId id="301" r:id="rId4"/>
    <p:sldId id="256" r:id="rId5"/>
    <p:sldId id="257" r:id="rId6"/>
    <p:sldId id="284" r:id="rId7"/>
    <p:sldId id="285" r:id="rId8"/>
    <p:sldId id="286" r:id="rId9"/>
    <p:sldId id="287" r:id="rId10"/>
    <p:sldId id="288" r:id="rId11"/>
    <p:sldId id="299" r:id="rId12"/>
    <p:sldId id="289" r:id="rId13"/>
    <p:sldId id="258" r:id="rId14"/>
    <p:sldId id="296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emf"/><Relationship Id="rId1" Type="http://schemas.openxmlformats.org/officeDocument/2006/relationships/image" Target="../media/image5.emf"/><Relationship Id="rId4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e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e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e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emf"/><Relationship Id="rId1" Type="http://schemas.openxmlformats.org/officeDocument/2006/relationships/image" Target="../media/image35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B99D7-9870-43E7-878E-5BB0F9D871EE}" type="datetimeFigureOut">
              <a:rPr lang="zh-CN" altLang="en-US" smtClean="0"/>
              <a:t>2023/10/12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04442-28C1-41EF-8780-A19FF9896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E8AF13-A3EA-459E-8361-4E54330BCE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9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299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987A17-E19A-46F7-87FB-319F45FAD48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439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358C5CA-7039-4007-A9E8-619948E382C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51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4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4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82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6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85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6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2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62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28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emf"/><Relationship Id="rId4" Type="http://schemas.openxmlformats.org/officeDocument/2006/relationships/image" Target="../media/image5.emf"/><Relationship Id="rId9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3.png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e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4.e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e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4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0900" y="457200"/>
            <a:ext cx="9258300" cy="914400"/>
          </a:xfrm>
        </p:spPr>
        <p:txBody>
          <a:bodyPr/>
          <a:lstStyle/>
          <a:p>
            <a:r>
              <a:rPr lang="zh-CN" altLang="en-US" dirty="0" smtClean="0"/>
              <a:t>内容回顾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系统分类与特性（</a:t>
            </a:r>
            <a:r>
              <a:rPr kumimoji="1" lang="en-US" altLang="zh-CN" i="1" kern="12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h</a:t>
            </a:r>
            <a:r>
              <a:rPr kumimoji="1" lang="en-US" altLang="zh-CN" kern="12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[</a:t>
            </a:r>
            <a:r>
              <a:rPr kumimoji="1" lang="en-US" altLang="zh-CN" i="1" kern="12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kern="1200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]=</a:t>
            </a:r>
            <a:r>
              <a:rPr kumimoji="1" lang="en-US" altLang="zh-CN" kern="12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0;</a:t>
            </a:r>
            <a:r>
              <a:rPr kumimoji="1" lang="en-US" altLang="zh-CN" i="1" kern="12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kern="1200" dirty="0" smtClean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&lt;0                       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当已知系统的输入和</a:t>
            </a:r>
            <a:r>
              <a:rPr lang="en-US" altLang="zh-CN" dirty="0"/>
              <a:t>N</a:t>
            </a:r>
            <a:r>
              <a:rPr lang="zh-CN" altLang="en-US" dirty="0"/>
              <a:t>个初始状态，可由下式迭代计算系统的输出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采样定理（采样频率</a:t>
            </a:r>
            <a:r>
              <a:rPr lang="en-US" altLang="zh-CN" i="1" dirty="0" smtClean="0">
                <a:latin typeface="Symbol" panose="05050102010706020507" pitchFamily="18" charset="2"/>
              </a:rPr>
              <a:t> </a:t>
            </a:r>
            <a:r>
              <a:rPr lang="en-US" altLang="zh-CN" i="1" dirty="0" err="1" smtClean="0">
                <a:latin typeface="Symbol" panose="05050102010706020507" pitchFamily="18" charset="2"/>
              </a:rPr>
              <a:t>w</a:t>
            </a:r>
            <a:r>
              <a:rPr lang="en-US" altLang="zh-CN" baseline="-25000" dirty="0" err="1" smtClean="0"/>
              <a:t>sam</a:t>
            </a:r>
            <a:r>
              <a:rPr lang="en-US" altLang="zh-CN" dirty="0" smtClean="0"/>
              <a:t>=2.5</a:t>
            </a:r>
            <a:r>
              <a:rPr lang="en-US" altLang="zh-CN" i="1" dirty="0" smtClean="0">
                <a:latin typeface="Symbol" panose="05050102010706020507" pitchFamily="18" charset="2"/>
              </a:rPr>
              <a:t>w</a:t>
            </a:r>
            <a:r>
              <a:rPr lang="en-US" altLang="zh-CN" baseline="-25000" dirty="0" smtClean="0"/>
              <a:t>m </a:t>
            </a:r>
            <a:r>
              <a:rPr lang="zh-CN" altLang="en-US" dirty="0" smtClean="0"/>
              <a:t>，对应的数字频率是多少）</a:t>
            </a:r>
            <a:endParaRPr lang="zh-CN" altLang="en-US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725549"/>
              </p:ext>
            </p:extLst>
          </p:nvPr>
        </p:nvGraphicFramePr>
        <p:xfrm>
          <a:off x="1544108" y="2557465"/>
          <a:ext cx="5205942" cy="777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6" name="Equation" r:id="rId3" imgW="3060700" imgH="431800" progId="Equation.DSMT4">
                  <p:embed/>
                </p:oleObj>
              </mc:Choice>
              <mc:Fallback>
                <p:oleObj name="Equation" r:id="rId3" imgW="3060700" imgH="431800" progId="Equation.DSMT4">
                  <p:embed/>
                  <p:pic>
                    <p:nvPicPr>
                      <p:cNvPr id="348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4108" y="2557465"/>
                        <a:ext cx="5205942" cy="777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624401"/>
              </p:ext>
            </p:extLst>
          </p:nvPr>
        </p:nvGraphicFramePr>
        <p:xfrm>
          <a:off x="5770033" y="1524529"/>
          <a:ext cx="1840971" cy="66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7" name="Equation" r:id="rId5" imgW="1187635" imgH="425588" progId="Equation.DSMT4">
                  <p:embed/>
                </p:oleObj>
              </mc:Choice>
              <mc:Fallback>
                <p:oleObj name="Equation" r:id="rId5" imgW="1187635" imgH="425588" progId="Equation.DSMT4">
                  <p:embed/>
                  <p:pic>
                    <p:nvPicPr>
                      <p:cNvPr id="3277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0033" y="1524529"/>
                        <a:ext cx="1840971" cy="66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8795053"/>
              </p:ext>
            </p:extLst>
          </p:nvPr>
        </p:nvGraphicFramePr>
        <p:xfrm>
          <a:off x="999066" y="4216400"/>
          <a:ext cx="2362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8" name="Visio" r:id="rId7" imgW="1208837" imgH="1020470" progId="Visio.Drawing.11">
                  <p:embed/>
                </p:oleObj>
              </mc:Choice>
              <mc:Fallback>
                <p:oleObj name="Visio" r:id="rId7" imgW="1208837" imgH="1020470" progId="Visio.Drawing.11">
                  <p:embed/>
                  <p:pic>
                    <p:nvPicPr>
                      <p:cNvPr id="1126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9066" y="4216400"/>
                        <a:ext cx="2362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16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抽样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/>
          </p:nvPr>
        </p:nvGraphicFramePr>
        <p:xfrm>
          <a:off x="3410952" y="1764883"/>
          <a:ext cx="4946650" cy="204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8" name="Visio" r:id="rId3" imgW="1786433" imgH="757733" progId="Visio.Drawing.6">
                  <p:embed/>
                </p:oleObj>
              </mc:Choice>
              <mc:Fallback>
                <p:oleObj name="Visio" r:id="rId3" imgW="1786433" imgH="757733" progId="Visio.Drawing.6">
                  <p:embed/>
                  <p:pic>
                    <p:nvPicPr>
                      <p:cNvPr id="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0952" y="1764883"/>
                        <a:ext cx="4946650" cy="204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/>
          </p:nvPr>
        </p:nvGraphicFramePr>
        <p:xfrm>
          <a:off x="1782766" y="4009610"/>
          <a:ext cx="469423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9" name="公式" r:id="rId5" imgW="1867073" imgH="380913" progId="Equation.3">
                  <p:embed/>
                </p:oleObj>
              </mc:Choice>
              <mc:Fallback>
                <p:oleObj name="公式" r:id="rId5" imgW="1867073" imgH="380913" progId="Equation.3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766" y="4009610"/>
                        <a:ext cx="469423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/>
          </p:nvPr>
        </p:nvGraphicFramePr>
        <p:xfrm>
          <a:off x="6510591" y="4140995"/>
          <a:ext cx="1597025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0" name="公式" r:id="rId7" imgW="532937" imgH="215713" progId="Equation.3">
                  <p:embed/>
                </p:oleObj>
              </mc:Choice>
              <mc:Fallback>
                <p:oleObj name="公式" r:id="rId7" imgW="532937" imgH="215713" progId="Equation.3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0591" y="4140995"/>
                        <a:ext cx="1597025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283281"/>
              </p:ext>
            </p:extLst>
          </p:nvPr>
        </p:nvGraphicFramePr>
        <p:xfrm>
          <a:off x="4776955" y="5465178"/>
          <a:ext cx="14081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1" name="Equation" r:id="rId9" imgW="457299" imgH="139511" progId="Equation.DSMT4">
                  <p:embed/>
                </p:oleObj>
              </mc:Choice>
              <mc:Fallback>
                <p:oleObj name="Equation" r:id="rId9" imgW="457299" imgH="139511" progId="Equation.DSMT4">
                  <p:embed/>
                  <p:pic>
                    <p:nvPicPr>
                      <p:cNvPr id="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6955" y="5465178"/>
                        <a:ext cx="1408112" cy="4540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456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重构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506" y="1634632"/>
            <a:ext cx="5644588" cy="2243545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3617079" y="3727074"/>
          <a:ext cx="4002087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公式" r:id="rId4" imgW="1600200" imgH="444500" progId="Equation.3">
                  <p:embed/>
                </p:oleObj>
              </mc:Choice>
              <mc:Fallback>
                <p:oleObj name="公式" r:id="rId4" imgW="1600200" imgH="4445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079" y="3727074"/>
                        <a:ext cx="4002087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/>
          </p:nvPr>
        </p:nvGraphicFramePr>
        <p:xfrm>
          <a:off x="200306" y="4684045"/>
          <a:ext cx="6248400" cy="234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3" name="Visio" r:id="rId6" imgW="2975881" imgH="1175940" progId="Visio.Drawing.11">
                  <p:embed/>
                </p:oleObj>
              </mc:Choice>
              <mc:Fallback>
                <p:oleObj name="Visio" r:id="rId6" imgW="2975881" imgH="1175940" progId="Visio.Drawing.11">
                  <p:embed/>
                  <p:pic>
                    <p:nvPicPr>
                      <p:cNvPr id="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06" y="4684045"/>
                        <a:ext cx="6248400" cy="234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/>
          </p:nvPr>
        </p:nvGraphicFramePr>
        <p:xfrm>
          <a:off x="5938843" y="5531934"/>
          <a:ext cx="284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4" name="公式" r:id="rId8" imgW="1066800" imgH="190500" progId="Equation.3">
                  <p:embed/>
                </p:oleObj>
              </mc:Choice>
              <mc:Fallback>
                <p:oleObj name="公式" r:id="rId8" imgW="1066800" imgH="190500" progId="Equation.3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43" y="5531934"/>
                        <a:ext cx="284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>
            <p:extLst/>
          </p:nvPr>
        </p:nvGraphicFramePr>
        <p:xfrm>
          <a:off x="8756570" y="5361408"/>
          <a:ext cx="28305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公式" r:id="rId10" imgW="1218671" imgH="393529" progId="Equation.3">
                  <p:embed/>
                </p:oleObj>
              </mc:Choice>
              <mc:Fallback>
                <p:oleObj name="公式" r:id="rId10" imgW="1218671" imgH="393529" progId="Equation.3">
                  <p:embed/>
                  <p:pic>
                    <p:nvPicPr>
                      <p:cNvPr id="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6570" y="5361408"/>
                        <a:ext cx="28305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964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9C72CAD-FC24-4F4D-9065-565F504FD40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04800"/>
            <a:ext cx="7162800" cy="9144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双边</a:t>
            </a:r>
            <a:r>
              <a:rPr lang="en-US" altLang="zh-CN" dirty="0">
                <a:ea typeface="宋体" panose="02010600030101010101" pitchFamily="2" charset="-122"/>
              </a:rPr>
              <a:t>z</a:t>
            </a:r>
            <a:r>
              <a:rPr lang="zh-CN" altLang="en-US" dirty="0">
                <a:ea typeface="宋体" panose="02010600030101010101" pitchFamily="2" charset="-122"/>
              </a:rPr>
              <a:t>变换定义及收敛域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pic>
        <p:nvPicPr>
          <p:cNvPr id="2662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591" y="2284019"/>
            <a:ext cx="2930829" cy="993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TextBox 2"/>
          <p:cNvSpPr txBox="1">
            <a:spLocks noChangeArrowheads="1"/>
          </p:cNvSpPr>
          <p:nvPr/>
        </p:nvSpPr>
        <p:spPr bwMode="auto">
          <a:xfrm>
            <a:off x="1910291" y="2510897"/>
            <a:ext cx="1061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</a:rPr>
              <a:t>定义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</a:p>
        </p:txBody>
      </p:sp>
      <p:sp>
        <p:nvSpPr>
          <p:cNvPr id="26631" name="TextBox 3"/>
          <p:cNvSpPr txBox="1">
            <a:spLocks noChangeArrowheads="1"/>
          </p:cNvSpPr>
          <p:nvPr/>
        </p:nvSpPr>
        <p:spPr bwMode="auto">
          <a:xfrm>
            <a:off x="1825538" y="4055533"/>
            <a:ext cx="20553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</a:rPr>
              <a:t>收敛域</a:t>
            </a:r>
            <a:r>
              <a:rPr lang="en-US" altLang="zh-CN" sz="2400" dirty="0">
                <a:solidFill>
                  <a:srgbClr val="000000"/>
                </a:solidFill>
              </a:rPr>
              <a:t>ROC</a:t>
            </a:r>
            <a:r>
              <a:rPr lang="zh-CN" altLang="en-US" sz="2400" dirty="0">
                <a:solidFill>
                  <a:srgbClr val="000000"/>
                </a:solidFill>
              </a:rPr>
              <a:t>：</a:t>
            </a:r>
          </a:p>
        </p:txBody>
      </p:sp>
      <p:pic>
        <p:nvPicPr>
          <p:cNvPr id="26632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68" y="4795043"/>
            <a:ext cx="2516137" cy="441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3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445" y="4350280"/>
            <a:ext cx="3466409" cy="109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1911775" y="1520777"/>
            <a:ext cx="47436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>
                <a:solidFill>
                  <a:srgbClr val="000000"/>
                </a:solidFill>
              </a:rPr>
              <a:t>双边</a:t>
            </a:r>
            <a:r>
              <a:rPr lang="en-US" altLang="zh-CN" sz="2400" dirty="0" smtClean="0">
                <a:solidFill>
                  <a:srgbClr val="000000"/>
                </a:solidFill>
              </a:rPr>
              <a:t>Z</a:t>
            </a:r>
            <a:r>
              <a:rPr lang="zh-CN" altLang="en-US" sz="2400" dirty="0" smtClean="0">
                <a:solidFill>
                  <a:srgbClr val="000000"/>
                </a:solidFill>
              </a:rPr>
              <a:t>变换定义与收敛域（</a:t>
            </a:r>
            <a:r>
              <a:rPr lang="en-US" altLang="zh-CN" sz="2400" dirty="0" smtClean="0">
                <a:solidFill>
                  <a:srgbClr val="000000"/>
                </a:solidFill>
              </a:rPr>
              <a:t>ROC</a:t>
            </a:r>
            <a:r>
              <a:rPr lang="zh-CN" altLang="en-US" sz="2400" dirty="0" smtClean="0">
                <a:solidFill>
                  <a:srgbClr val="000000"/>
                </a:solidFill>
              </a:rPr>
              <a:t>）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86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EDD962F-2279-4C32-8C73-2CD9CA43AA45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1913467" y="304800"/>
            <a:ext cx="6858000" cy="9144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双边</a:t>
            </a:r>
            <a:r>
              <a:rPr lang="en-US" altLang="zh-CN" dirty="0">
                <a:ea typeface="宋体" panose="02010600030101010101" pitchFamily="2" charset="-122"/>
              </a:rPr>
              <a:t>z</a:t>
            </a:r>
            <a:r>
              <a:rPr lang="zh-CN" altLang="en-US" dirty="0">
                <a:ea typeface="宋体" panose="02010600030101010101" pitchFamily="2" charset="-122"/>
              </a:rPr>
              <a:t>变换定义及收敛域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600200"/>
            <a:ext cx="8534400" cy="4648200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序列类型与收敛性：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dirty="0" smtClean="0">
                <a:ea typeface="宋体" pitchFamily="2" charset="-122"/>
              </a:rPr>
              <a:t>有限长序列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dirty="0" smtClean="0">
                <a:ea typeface="宋体" pitchFamily="2" charset="-122"/>
              </a:rPr>
              <a:t>右边序列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dirty="0" smtClean="0">
                <a:ea typeface="宋体" pitchFamily="2" charset="-122"/>
              </a:rPr>
              <a:t>左边序列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dirty="0" smtClean="0">
                <a:ea typeface="宋体" pitchFamily="2" charset="-122"/>
              </a:rPr>
              <a:t>双边序列</a:t>
            </a:r>
            <a:endParaRPr lang="en-US" altLang="zh-CN" dirty="0" smtClea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561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895600" y="228601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/>
              <a:t>双边</a:t>
            </a:r>
            <a:r>
              <a:rPr lang="en-US" altLang="zh-CN" sz="2800" b="1" i="1" dirty="0"/>
              <a:t>z</a:t>
            </a:r>
            <a:r>
              <a:rPr lang="zh-CN" altLang="en-US" sz="2800" b="1" dirty="0">
                <a:latin typeface="宋体" panose="02010600030101010101" pitchFamily="2" charset="-122"/>
              </a:rPr>
              <a:t>变换定义及收敛域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027238" y="1376363"/>
            <a:ext cx="220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(1) </a:t>
            </a:r>
            <a:r>
              <a:rPr lang="zh-CN" altLang="en-US" sz="2400" dirty="0"/>
              <a:t>有限长序列</a:t>
            </a:r>
          </a:p>
        </p:txBody>
      </p:sp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>
          <a:off x="3935414" y="1665288"/>
          <a:ext cx="361632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1" name="公式" r:id="rId3" imgW="1206360" imgH="444240" progId="Equation.3">
                  <p:embed/>
                </p:oleObj>
              </mc:Choice>
              <mc:Fallback>
                <p:oleObj name="公式" r:id="rId3" imgW="1206360" imgH="444240" progId="Equation.3">
                  <p:embed/>
                  <p:pic>
                    <p:nvPicPr>
                      <p:cNvPr id="1536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4" y="1665288"/>
                        <a:ext cx="3616325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6816726" y="2997201"/>
          <a:ext cx="2481263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2" name="公式" r:id="rId5" imgW="990360" imgH="215640" progId="Equation.3">
                  <p:embed/>
                </p:oleObj>
              </mc:Choice>
              <mc:Fallback>
                <p:oleObj name="公式" r:id="rId5" imgW="990360" imgH="215640" progId="Equation.3">
                  <p:embed/>
                  <p:pic>
                    <p:nvPicPr>
                      <p:cNvPr id="1536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2997201"/>
                        <a:ext cx="2481263" cy="538163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2243139" y="3860801"/>
          <a:ext cx="525938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3" name="公式" r:id="rId7" imgW="2286000" imgH="457200" progId="Equation.3">
                  <p:embed/>
                </p:oleObj>
              </mc:Choice>
              <mc:Fallback>
                <p:oleObj name="公式" r:id="rId7" imgW="2286000" imgH="457200" progId="Equation.3">
                  <p:embed/>
                  <p:pic>
                    <p:nvPicPr>
                      <p:cNvPr id="153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3139" y="3860801"/>
                        <a:ext cx="525938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758484"/>
              </p:ext>
            </p:extLst>
          </p:nvPr>
        </p:nvGraphicFramePr>
        <p:xfrm>
          <a:off x="2892426" y="5084764"/>
          <a:ext cx="3814763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4" name="Equation" r:id="rId9" imgW="1523880" imgH="431640" progId="Equation.DSMT4">
                  <p:embed/>
                </p:oleObj>
              </mc:Choice>
              <mc:Fallback>
                <p:oleObj name="Equation" r:id="rId9" imgW="1523880" imgH="431640" progId="Equation.DSMT4">
                  <p:embed/>
                  <p:pic>
                    <p:nvPicPr>
                      <p:cNvPr id="153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6" y="5084764"/>
                        <a:ext cx="3814763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8401051" y="5265739"/>
          <a:ext cx="8413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5" name="公式" r:id="rId11" imgW="393480" imgH="253800" progId="Equation.3">
                  <p:embed/>
                </p:oleObj>
              </mc:Choice>
              <mc:Fallback>
                <p:oleObj name="公式" r:id="rId11" imgW="393480" imgH="253800" progId="Equation.3">
                  <p:embed/>
                  <p:pic>
                    <p:nvPicPr>
                      <p:cNvPr id="153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1051" y="5265739"/>
                        <a:ext cx="84137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61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2243138" y="1341438"/>
            <a:ext cx="190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(2)</a:t>
            </a:r>
            <a:r>
              <a:rPr lang="zh-CN" altLang="en-US" sz="2400" dirty="0"/>
              <a:t>右边序列</a:t>
            </a:r>
          </a:p>
        </p:txBody>
      </p: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575051" y="1989138"/>
          <a:ext cx="3616325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0" name="公式" r:id="rId3" imgW="1206360" imgH="431640" progId="Equation.3">
                  <p:embed/>
                </p:oleObj>
              </mc:Choice>
              <mc:Fallback>
                <p:oleObj name="公式" r:id="rId3" imgW="1206360" imgH="431640" progId="Equation.3">
                  <p:embed/>
                  <p:pic>
                    <p:nvPicPr>
                      <p:cNvPr id="307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1989138"/>
                        <a:ext cx="3616325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7572376" y="3068639"/>
          <a:ext cx="120491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1" name="公式" r:id="rId5" imgW="482400" imgH="253800" progId="Equation.3">
                  <p:embed/>
                </p:oleObj>
              </mc:Choice>
              <mc:Fallback>
                <p:oleObj name="公式" r:id="rId5" imgW="482400" imgH="253800" progId="Equation.3">
                  <p:embed/>
                  <p:pic>
                    <p:nvPicPr>
                      <p:cNvPr id="30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2376" y="3068639"/>
                        <a:ext cx="1204913" cy="6318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2424114" y="3933825"/>
          <a:ext cx="28273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2" name="公式" r:id="rId7" imgW="1130040" imgH="228600" progId="Equation.3">
                  <p:embed/>
                </p:oleObj>
              </mc:Choice>
              <mc:Fallback>
                <p:oleObj name="公式" r:id="rId7" imgW="1130040" imgH="228600" progId="Equation.3">
                  <p:embed/>
                  <p:pic>
                    <p:nvPicPr>
                      <p:cNvPr id="30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3933825"/>
                        <a:ext cx="28273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3324226" y="4976814"/>
          <a:ext cx="42259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3" name="公式" r:id="rId9" imgW="1688760" imgH="406080" progId="Equation.3">
                  <p:embed/>
                </p:oleObj>
              </mc:Choice>
              <mc:Fallback>
                <p:oleObj name="公式" r:id="rId9" imgW="1688760" imgH="406080" progId="Equation.3">
                  <p:embed/>
                  <p:pic>
                    <p:nvPicPr>
                      <p:cNvPr id="307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6" y="4976814"/>
                        <a:ext cx="42259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8543926" y="5192714"/>
          <a:ext cx="11080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14" name="公式" r:id="rId11" imgW="444240" imgH="253800" progId="Equation.3">
                  <p:embed/>
                </p:oleObj>
              </mc:Choice>
              <mc:Fallback>
                <p:oleObj name="公式" r:id="rId11" imgW="444240" imgH="253800" progId="Equation.3">
                  <p:embed/>
                  <p:pic>
                    <p:nvPicPr>
                      <p:cNvPr id="30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3926" y="5192714"/>
                        <a:ext cx="11080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4" name="Text Box 22"/>
          <p:cNvSpPr txBox="1">
            <a:spLocks noChangeArrowheads="1"/>
          </p:cNvSpPr>
          <p:nvPr/>
        </p:nvSpPr>
        <p:spPr bwMode="auto">
          <a:xfrm>
            <a:off x="2895600" y="228601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/>
              <a:t>双边</a:t>
            </a:r>
            <a:r>
              <a:rPr lang="en-US" altLang="zh-CN" sz="2800" b="1" i="1"/>
              <a:t>z</a:t>
            </a:r>
            <a:r>
              <a:rPr lang="zh-CN" altLang="en-US" sz="2800" b="1">
                <a:latin typeface="宋体" panose="02010600030101010101" pitchFamily="2" charset="-122"/>
              </a:rPr>
              <a:t>变换定义及收敛域</a:t>
            </a:r>
          </a:p>
        </p:txBody>
      </p:sp>
      <p:sp>
        <p:nvSpPr>
          <p:cNvPr id="3095" name="Rectangle 23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53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135188" y="1233488"/>
            <a:ext cx="2089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(3)</a:t>
            </a:r>
            <a:r>
              <a:rPr lang="zh-CN" altLang="en-US" sz="2400" dirty="0"/>
              <a:t>左边序列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3432175" y="1916113"/>
          <a:ext cx="3621088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2" name="公式" r:id="rId3" imgW="1206360" imgH="419040" progId="Equation.3">
                  <p:embed/>
                </p:oleObj>
              </mc:Choice>
              <mc:Fallback>
                <p:oleObj name="公式" r:id="rId3" imgW="1206360" imgH="419040" progId="Equation.3">
                  <p:embed/>
                  <p:pic>
                    <p:nvPicPr>
                      <p:cNvPr id="133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1916113"/>
                        <a:ext cx="3621088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2208213" y="3608388"/>
          <a:ext cx="37131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3" name="公式" r:id="rId5" imgW="1485720" imgH="228600" progId="Equation.3">
                  <p:embed/>
                </p:oleObj>
              </mc:Choice>
              <mc:Fallback>
                <p:oleObj name="公式" r:id="rId5" imgW="1485720" imgH="228600" progId="Equation.3">
                  <p:embed/>
                  <p:pic>
                    <p:nvPicPr>
                      <p:cNvPr id="133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608388"/>
                        <a:ext cx="37131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5735638" y="5516564"/>
          <a:ext cx="16192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4" name="公式" r:id="rId7" imgW="647640" imgH="406080" progId="Equation.3">
                  <p:embed/>
                </p:oleObj>
              </mc:Choice>
              <mc:Fallback>
                <p:oleObj name="公式" r:id="rId7" imgW="647640" imgH="406080" progId="Equation.3">
                  <p:embed/>
                  <p:pic>
                    <p:nvPicPr>
                      <p:cNvPr id="13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638" y="5516564"/>
                        <a:ext cx="16192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8796339" y="5768976"/>
          <a:ext cx="11080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5" name="公式" r:id="rId9" imgW="444240" imgH="253800" progId="Equation.3">
                  <p:embed/>
                </p:oleObj>
              </mc:Choice>
              <mc:Fallback>
                <p:oleObj name="公式" r:id="rId9" imgW="444240" imgH="253800" progId="Equation.3">
                  <p:embed/>
                  <p:pic>
                    <p:nvPicPr>
                      <p:cNvPr id="13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9" y="5768976"/>
                        <a:ext cx="11080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2674939" y="4400551"/>
          <a:ext cx="50196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6" name="公式" r:id="rId11" imgW="2006280" imgH="406080" progId="Equation.3">
                  <p:embed/>
                </p:oleObj>
              </mc:Choice>
              <mc:Fallback>
                <p:oleObj name="公式" r:id="rId11" imgW="2006280" imgH="406080" progId="Equation.3">
                  <p:embed/>
                  <p:pic>
                    <p:nvPicPr>
                      <p:cNvPr id="133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939" y="4400551"/>
                        <a:ext cx="50196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9"/>
          <p:cNvGraphicFramePr>
            <a:graphicFrameLocks noChangeAspect="1"/>
          </p:cNvGraphicFramePr>
          <p:nvPr/>
        </p:nvGraphicFramePr>
        <p:xfrm>
          <a:off x="7824788" y="4400551"/>
          <a:ext cx="22860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7" name="公式" r:id="rId13" imgW="914400" imgH="431640" progId="Equation.3">
                  <p:embed/>
                </p:oleObj>
              </mc:Choice>
              <mc:Fallback>
                <p:oleObj name="公式" r:id="rId13" imgW="914400" imgH="431640" progId="Equation.3">
                  <p:embed/>
                  <p:pic>
                    <p:nvPicPr>
                      <p:cNvPr id="133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88" y="4400551"/>
                        <a:ext cx="22860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10"/>
          <p:cNvGraphicFramePr>
            <a:graphicFrameLocks noChangeAspect="1"/>
          </p:cNvGraphicFramePr>
          <p:nvPr/>
        </p:nvGraphicFramePr>
        <p:xfrm>
          <a:off x="3467101" y="5553076"/>
          <a:ext cx="20986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8" name="公式" r:id="rId15" imgW="838080" imgH="406080" progId="Equation.3">
                  <p:embed/>
                </p:oleObj>
              </mc:Choice>
              <mc:Fallback>
                <p:oleObj name="公式" r:id="rId15" imgW="838080" imgH="406080" progId="Equation.3">
                  <p:embed/>
                  <p:pic>
                    <p:nvPicPr>
                      <p:cNvPr id="133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1" y="5553076"/>
                        <a:ext cx="20986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11"/>
          <p:cNvGraphicFramePr>
            <a:graphicFrameLocks noChangeAspect="1"/>
          </p:cNvGraphicFramePr>
          <p:nvPr/>
        </p:nvGraphicFramePr>
        <p:xfrm>
          <a:off x="7643813" y="2600326"/>
          <a:ext cx="1204912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9" name="公式" r:id="rId17" imgW="482400" imgH="253800" progId="Equation.3">
                  <p:embed/>
                </p:oleObj>
              </mc:Choice>
              <mc:Fallback>
                <p:oleObj name="公式" r:id="rId17" imgW="482400" imgH="253800" progId="Equation.3">
                  <p:embed/>
                  <p:pic>
                    <p:nvPicPr>
                      <p:cNvPr id="133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2600326"/>
                        <a:ext cx="1204912" cy="631825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2895600" y="228601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/>
              <a:t>双边</a:t>
            </a:r>
            <a:r>
              <a:rPr lang="en-US" altLang="zh-CN" sz="2800" b="1" i="1"/>
              <a:t>z</a:t>
            </a:r>
            <a:r>
              <a:rPr lang="zh-CN" altLang="en-US" sz="2800" b="1">
                <a:latin typeface="宋体" panose="02010600030101010101" pitchFamily="2" charset="-122"/>
              </a:rPr>
              <a:t>变换定义及收敛域</a:t>
            </a:r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51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100263" y="1233488"/>
            <a:ext cx="182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/>
              <a:t>(4)</a:t>
            </a:r>
            <a:r>
              <a:rPr lang="zh-CN" altLang="en-US" sz="2400" dirty="0"/>
              <a:t>双边序列</a:t>
            </a: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3575051" y="1808164"/>
          <a:ext cx="30194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3" name="Equation" r:id="rId3" imgW="1206360" imgH="406080" progId="Equation.DSMT4">
                  <p:embed/>
                </p:oleObj>
              </mc:Choice>
              <mc:Fallback>
                <p:oleObj name="Equation" r:id="rId3" imgW="1206360" imgH="406080" progId="Equation.DSMT4">
                  <p:embed/>
                  <p:pic>
                    <p:nvPicPr>
                      <p:cNvPr id="409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1808164"/>
                        <a:ext cx="30194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6240464" y="2852739"/>
          <a:ext cx="320357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4" name="公式" r:id="rId5" imgW="1282680" imgH="253800" progId="Equation.3">
                  <p:embed/>
                </p:oleObj>
              </mc:Choice>
              <mc:Fallback>
                <p:oleObj name="公式" r:id="rId5" imgW="1282680" imgH="253800" progId="Equation.3">
                  <p:embed/>
                  <p:pic>
                    <p:nvPicPr>
                      <p:cNvPr id="41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2852739"/>
                        <a:ext cx="3203575" cy="630237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2152651" y="4032250"/>
          <a:ext cx="47910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5" name="Equation" r:id="rId7" imgW="1917360" imgH="228600" progId="Equation.DSMT4">
                  <p:embed/>
                </p:oleObj>
              </mc:Choice>
              <mc:Fallback>
                <p:oleObj name="Equation" r:id="rId7" imgW="1917360" imgH="228600" progId="Equation.DSMT4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1" y="4032250"/>
                        <a:ext cx="47910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2855913" y="5013325"/>
          <a:ext cx="387191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6" name="公式" r:id="rId9" imgW="1549080" imgH="393480" progId="Equation.3">
                  <p:embed/>
                </p:oleObj>
              </mc:Choice>
              <mc:Fallback>
                <p:oleObj name="公式" r:id="rId9" imgW="1549080" imgH="393480" progId="Equation.3">
                  <p:embed/>
                  <p:pic>
                    <p:nvPicPr>
                      <p:cNvPr id="4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5013325"/>
                        <a:ext cx="3871912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7608888" y="5229226"/>
          <a:ext cx="18097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7" name="公式" r:id="rId11" imgW="723600" imgH="253800" progId="Equation.3">
                  <p:embed/>
                </p:oleObj>
              </mc:Choice>
              <mc:Fallback>
                <p:oleObj name="公式" r:id="rId11" imgW="723600" imgH="253800" progId="Equation.3">
                  <p:embed/>
                  <p:pic>
                    <p:nvPicPr>
                      <p:cNvPr id="41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8888" y="5229226"/>
                        <a:ext cx="18097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2895600" y="228601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/>
              <a:t>双边</a:t>
            </a:r>
            <a:r>
              <a:rPr lang="en-US" altLang="zh-CN" sz="2800" b="1" i="1"/>
              <a:t>z</a:t>
            </a:r>
            <a:r>
              <a:rPr lang="zh-CN" altLang="en-US" sz="2800" b="1">
                <a:latin typeface="宋体" panose="02010600030101010101" pitchFamily="2" charset="-122"/>
              </a:rPr>
              <a:t>变换定义及收敛域</a:t>
            </a:r>
          </a:p>
        </p:txBody>
      </p:sp>
      <p:sp>
        <p:nvSpPr>
          <p:cNvPr id="4106" name="Rectangle 10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83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429000" y="152401"/>
            <a:ext cx="525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/>
              <a:t>系统稳定性与系统函数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456267" y="1210617"/>
            <a:ext cx="380153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en-US" altLang="zh-CN" sz="2400" dirty="0"/>
              <a:t>LTI</a:t>
            </a:r>
            <a:r>
              <a:rPr lang="zh-CN" altLang="en-US" sz="2400" dirty="0"/>
              <a:t>系统稳定的充要条件：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5257800" y="901700"/>
          <a:ext cx="22606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39" name="公式" r:id="rId3" imgW="901440" imgH="431640" progId="Equation.3">
                  <p:embed/>
                </p:oleObj>
              </mc:Choice>
              <mc:Fallback>
                <p:oleObj name="公式" r:id="rId3" imgW="901440" imgH="431640" progId="Equation.3">
                  <p:embed/>
                  <p:pic>
                    <p:nvPicPr>
                      <p:cNvPr id="5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901700"/>
                        <a:ext cx="2260600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7" name="Group 7"/>
          <p:cNvGrpSpPr>
            <a:grpSpLocks/>
          </p:cNvGrpSpPr>
          <p:nvPr/>
        </p:nvGrpSpPr>
        <p:grpSpPr bwMode="auto">
          <a:xfrm>
            <a:off x="4724400" y="1676401"/>
            <a:ext cx="3581400" cy="1071563"/>
            <a:chOff x="2016" y="1056"/>
            <a:chExt cx="2256" cy="675"/>
          </a:xfrm>
        </p:grpSpPr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2016" y="1440"/>
              <a:ext cx="22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/>
                <a:t>H</a:t>
              </a:r>
              <a:r>
                <a:rPr lang="en-US" altLang="zh-CN" sz="2400" dirty="0"/>
                <a:t>(</a:t>
              </a:r>
              <a:r>
                <a:rPr lang="en-US" altLang="zh-CN" sz="2400" i="1" dirty="0"/>
                <a:t>z</a:t>
              </a:r>
              <a:r>
                <a:rPr lang="en-US" altLang="zh-CN" sz="2400" dirty="0"/>
                <a:t>)</a:t>
              </a:r>
              <a:r>
                <a:rPr lang="zh-CN" altLang="en-US" sz="2400" dirty="0"/>
                <a:t>的收敛域包含单位圆</a:t>
              </a:r>
            </a:p>
          </p:txBody>
        </p:sp>
        <p:sp>
          <p:nvSpPr>
            <p:cNvPr id="5126" name="AutoShape 6"/>
            <p:cNvSpPr>
              <a:spLocks noChangeArrowheads="1"/>
            </p:cNvSpPr>
            <p:nvPr/>
          </p:nvSpPr>
          <p:spPr bwMode="auto">
            <a:xfrm>
              <a:off x="2976" y="1056"/>
              <a:ext cx="144" cy="336"/>
            </a:xfrm>
            <a:prstGeom prst="upDownArrow">
              <a:avLst>
                <a:gd name="adj1" fmla="val 50000"/>
                <a:gd name="adj2" fmla="val 4666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1676400" y="914400"/>
            <a:ext cx="8915400" cy="76200"/>
          </a:xfrm>
          <a:prstGeom prst="rect">
            <a:avLst/>
          </a:prstGeom>
          <a:gradFill rotWithShape="0">
            <a:gsLst>
              <a:gs pos="0">
                <a:srgbClr val="00CCFF">
                  <a:gamma/>
                  <a:shade val="46275"/>
                  <a:invGamma/>
                </a:srgbClr>
              </a:gs>
              <a:gs pos="50000">
                <a:srgbClr val="00CCFF"/>
              </a:gs>
              <a:gs pos="100000">
                <a:srgbClr val="00CC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1507066" y="4004733"/>
            <a:ext cx="8534400" cy="1507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57200" indent="-457200" algn="l">
              <a:lnSpc>
                <a:spcPct val="20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kern="0" dirty="0" smtClean="0">
                <a:ea typeface="宋体" pitchFamily="2" charset="-122"/>
              </a:rPr>
              <a:t>LTI</a:t>
            </a:r>
            <a:r>
              <a:rPr lang="zh-CN" altLang="en-US" kern="0" dirty="0" smtClean="0">
                <a:ea typeface="宋体" pitchFamily="2" charset="-122"/>
              </a:rPr>
              <a:t>系统的因果性的特征为：</a:t>
            </a:r>
            <a:r>
              <a:rPr lang="en-US" altLang="zh-CN" kern="0" dirty="0" smtClean="0">
                <a:ea typeface="宋体" pitchFamily="2" charset="-122"/>
              </a:rPr>
              <a:t>H(z)</a:t>
            </a:r>
            <a:r>
              <a:rPr lang="zh-CN" altLang="en-US" kern="0" dirty="0" smtClean="0">
                <a:ea typeface="宋体" pitchFamily="2" charset="-122"/>
              </a:rPr>
              <a:t>在</a:t>
            </a:r>
            <a:r>
              <a:rPr lang="en-US" altLang="zh-CN" kern="0" dirty="0" smtClean="0">
                <a:ea typeface="宋体" pitchFamily="2" charset="-122"/>
              </a:rPr>
              <a:t>z</a:t>
            </a:r>
            <a:r>
              <a:rPr lang="zh-CN" altLang="en-US" kern="0" dirty="0" smtClean="0">
                <a:ea typeface="宋体" pitchFamily="2" charset="-122"/>
              </a:rPr>
              <a:t>为无穷处收敛</a:t>
            </a:r>
            <a:endParaRPr lang="en-US" altLang="zh-CN" kern="0" dirty="0" smtClean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4961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34686"/>
              </p:ext>
            </p:extLst>
          </p:nvPr>
        </p:nvGraphicFramePr>
        <p:xfrm>
          <a:off x="1262857" y="1312335"/>
          <a:ext cx="4070350" cy="299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0" name="文档" r:id="rId3" imgW="5638680" imgH="1499760" progId="Word.Document.8">
                  <p:embed/>
                </p:oleObj>
              </mc:Choice>
              <mc:Fallback>
                <p:oleObj name="文档" r:id="rId3" imgW="5638680" imgH="1499760" progId="Word.Document.8">
                  <p:embed/>
                  <p:pic>
                    <p:nvPicPr>
                      <p:cNvPr id="51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63844"/>
                      <a:stretch>
                        <a:fillRect/>
                      </a:stretch>
                    </p:blipFill>
                    <p:spPr bwMode="auto">
                      <a:xfrm>
                        <a:off x="1262857" y="1312335"/>
                        <a:ext cx="4070350" cy="299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2269332" y="4699000"/>
            <a:ext cx="2057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/>
              <a:t>稳定因果系统</a:t>
            </a: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094836"/>
              </p:ext>
            </p:extLst>
          </p:nvPr>
        </p:nvGraphicFramePr>
        <p:xfrm>
          <a:off x="6225647" y="1764268"/>
          <a:ext cx="3811587" cy="296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1" name="文档" r:id="rId5" imgW="5486400" imgH="1480680" progId="Word.Document.8">
                  <p:embed/>
                </p:oleObj>
              </mc:Choice>
              <mc:Fallback>
                <p:oleObj name="文档" r:id="rId5" imgW="5486400" imgH="1480680" progId="Word.Document.8">
                  <p:embed/>
                  <p:pic>
                    <p:nvPicPr>
                      <p:cNvPr id="51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2808" t="19450" r="39371"/>
                      <a:stretch>
                        <a:fillRect/>
                      </a:stretch>
                    </p:blipFill>
                    <p:spPr bwMode="auto">
                      <a:xfrm>
                        <a:off x="6225647" y="1764268"/>
                        <a:ext cx="3811587" cy="296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7137400" y="4748292"/>
            <a:ext cx="2743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非稳定非因果系统</a:t>
            </a:r>
          </a:p>
        </p:txBody>
      </p:sp>
    </p:spTree>
    <p:extLst>
      <p:ext uri="{BB962C8B-B14F-4D97-AF65-F5344CB8AC3E}">
        <p14:creationId xmlns:p14="http://schemas.microsoft.com/office/powerpoint/2010/main" val="282829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z</a:t>
            </a:r>
            <a:r>
              <a:rPr lang="zh-CN" altLang="en-US"/>
              <a:t>变换</a:t>
            </a:r>
            <a:endParaRPr lang="zh-CN" altLang="en-US" sz="4000" b="1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895600" y="1536700"/>
          <a:ext cx="5873750" cy="387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9" name="文档" r:id="rId4" imgW="5486400" imgH="1471320" progId="Word.Document.8">
                  <p:embed/>
                </p:oleObj>
              </mc:Choice>
              <mc:Fallback>
                <p:oleObj name="文档" r:id="rId4" imgW="5486400" imgH="1471320" progId="Word.Document.8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59055" t="12234" r="5249"/>
                      <a:stretch>
                        <a:fillRect/>
                      </a:stretch>
                    </p:blipFill>
                    <p:spPr bwMode="auto">
                      <a:xfrm>
                        <a:off x="2895600" y="1536700"/>
                        <a:ext cx="5873750" cy="387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4495800" y="5638800"/>
            <a:ext cx="251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 </a:t>
            </a:r>
            <a:r>
              <a:rPr lang="zh-CN" altLang="en-US"/>
              <a:t>稳定非因果系统</a:t>
            </a:r>
          </a:p>
        </p:txBody>
      </p:sp>
    </p:spTree>
    <p:extLst>
      <p:ext uri="{BB962C8B-B14F-4D97-AF65-F5344CB8AC3E}">
        <p14:creationId xmlns:p14="http://schemas.microsoft.com/office/powerpoint/2010/main" val="330073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04A235B-E461-4A3A-AF43-AACF5D34155B}" type="slidenum">
              <a:rPr lang="zh-CN" altLang="en-US" sz="1400" b="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 sz="1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895600" y="304800"/>
            <a:ext cx="5638800" cy="914400"/>
          </a:xfrm>
        </p:spPr>
        <p:txBody>
          <a:bodyPr/>
          <a:lstStyle/>
          <a:p>
            <a:r>
              <a:rPr lang="zh-CN" altLang="en-US" smtClean="0">
                <a:ea typeface="宋体" panose="02010600030101010101" pitchFamily="2" charset="-122"/>
              </a:rPr>
              <a:t>例题</a:t>
            </a:r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28676" name="Picture 5"/>
          <p:cNvSpPr>
            <a:spLocks noChangeAspect="1" noChangeArrowheads="1"/>
          </p:cNvSpPr>
          <p:nvPr/>
        </p:nvSpPr>
        <p:spPr bwMode="auto">
          <a:xfrm>
            <a:off x="2057400" y="1582738"/>
            <a:ext cx="6376988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8677" name="Picture 6"/>
          <p:cNvSpPr>
            <a:spLocks noChangeAspect="1" noChangeArrowheads="1"/>
          </p:cNvSpPr>
          <p:nvPr/>
        </p:nvSpPr>
        <p:spPr bwMode="auto">
          <a:xfrm>
            <a:off x="2133601" y="2514601"/>
            <a:ext cx="55149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8678" name="Picture 7"/>
          <p:cNvSpPr>
            <a:spLocks noChangeAspect="1" noChangeArrowheads="1"/>
          </p:cNvSpPr>
          <p:nvPr/>
        </p:nvSpPr>
        <p:spPr bwMode="auto">
          <a:xfrm>
            <a:off x="2095500" y="3200400"/>
            <a:ext cx="70485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2867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87" y="1635125"/>
            <a:ext cx="10105350" cy="122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TextBox 2"/>
          <p:cNvSpPr txBox="1">
            <a:spLocks noChangeArrowheads="1"/>
          </p:cNvSpPr>
          <p:nvPr/>
        </p:nvSpPr>
        <p:spPr bwMode="auto">
          <a:xfrm>
            <a:off x="1752600" y="3332956"/>
            <a:ext cx="56476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000000"/>
                </a:solidFill>
              </a:rPr>
              <a:t>知识点：极点、零点及其与</a:t>
            </a:r>
            <a:r>
              <a:rPr lang="en-US" altLang="zh-CN" sz="2400" dirty="0">
                <a:solidFill>
                  <a:srgbClr val="000000"/>
                </a:solidFill>
              </a:rPr>
              <a:t>ROC</a:t>
            </a:r>
            <a:r>
              <a:rPr lang="zh-CN" altLang="en-US" sz="2400" dirty="0">
                <a:solidFill>
                  <a:srgbClr val="000000"/>
                </a:solidFill>
              </a:rPr>
              <a:t>的关系</a:t>
            </a:r>
          </a:p>
        </p:txBody>
      </p:sp>
    </p:spTree>
    <p:extLst>
      <p:ext uri="{BB962C8B-B14F-4D97-AF65-F5344CB8AC3E}">
        <p14:creationId xmlns:p14="http://schemas.microsoft.com/office/powerpoint/2010/main" val="40318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内容占位符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129282"/>
              </p:ext>
            </p:extLst>
          </p:nvPr>
        </p:nvGraphicFramePr>
        <p:xfrm>
          <a:off x="609600" y="1552240"/>
          <a:ext cx="7228250" cy="2791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0" name="Equation" r:id="rId3" imgW="2006280" imgH="774360" progId="Equation.DSMT4">
                  <p:embed/>
                </p:oleObj>
              </mc:Choice>
              <mc:Fallback>
                <p:oleObj name="Equation" r:id="rId3" imgW="20062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" y="1552240"/>
                        <a:ext cx="7228250" cy="2791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03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216</Words>
  <Application>Microsoft Office PowerPoint</Application>
  <PresentationFormat>宽屏</PresentationFormat>
  <Paragraphs>53</Paragraphs>
  <Slides>14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等线</vt:lpstr>
      <vt:lpstr>隶书</vt:lpstr>
      <vt:lpstr>黑体</vt:lpstr>
      <vt:lpstr>宋体</vt:lpstr>
      <vt:lpstr>Comic Sans MS</vt:lpstr>
      <vt:lpstr>Symbol</vt:lpstr>
      <vt:lpstr>Times New Roman</vt:lpstr>
      <vt:lpstr>Wingdings</vt:lpstr>
      <vt:lpstr>icfp99</vt:lpstr>
      <vt:lpstr>Visio</vt:lpstr>
      <vt:lpstr>公式</vt:lpstr>
      <vt:lpstr>MathType 7.0 Equation</vt:lpstr>
      <vt:lpstr>Equation</vt:lpstr>
      <vt:lpstr>文档</vt:lpstr>
      <vt:lpstr>Microsoft Visio 2003-2010 绘图</vt:lpstr>
      <vt:lpstr>内容回顾</vt:lpstr>
      <vt:lpstr>抽样</vt:lpstr>
      <vt:lpstr>重构</vt:lpstr>
      <vt:lpstr>双边z变换定义及收敛域</vt:lpstr>
      <vt:lpstr>双边z变换定义及收敛域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例题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离散时间系统的变换域分析——Z变换</dc:title>
  <dc:creator>Administrator</dc:creator>
  <cp:lastModifiedBy>CHAO WU</cp:lastModifiedBy>
  <cp:revision>62</cp:revision>
  <dcterms:created xsi:type="dcterms:W3CDTF">2020-08-06T07:26:29Z</dcterms:created>
  <dcterms:modified xsi:type="dcterms:W3CDTF">2023-10-12T09:43:40Z</dcterms:modified>
</cp:coreProperties>
</file>