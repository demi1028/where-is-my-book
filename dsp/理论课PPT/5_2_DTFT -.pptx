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"/>
  </p:notesMasterIdLst>
  <p:sldIdLst>
    <p:sldId id="321" r:id="rId2"/>
    <p:sldId id="340" r:id="rId3"/>
    <p:sldId id="322" r:id="rId4"/>
    <p:sldId id="323" r:id="rId5"/>
    <p:sldId id="343" r:id="rId6"/>
    <p:sldId id="342" r:id="rId7"/>
    <p:sldId id="32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2022/10/2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584C1-775B-4727-B9BE-6E8AEA61F6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346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B69D0-3BF3-4C26-83B8-3A780F644D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969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D262B-07AE-4E3F-B480-0A3FB646DD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7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C77BC-BB16-4754-AEF2-51D427CD29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53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2AC54-5E15-4CA5-9D13-83B0D8568A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74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5FB2D-7BB9-42E8-AFCD-36341F1AB2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49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F6534-B473-4017-9024-713DD81483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35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D0861-1349-410C-8B12-9EF63F476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51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95936-99AE-47A2-A696-4BD073E35E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64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0931A-B180-4FC2-B1F1-B0DB9EA168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29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C0315-42CF-421E-BD1F-92D471BBD0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93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09BC5-EC44-4F48-A539-2FB2C36F3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31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endParaRPr lang="zh-CN" altLang="zh-CN"/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4F0BF5-7760-4DED-9C8C-1EB1FB5049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7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1847851" y="1471613"/>
            <a:ext cx="96160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 </a:t>
            </a:r>
            <a:r>
              <a:rPr kumimoji="1" lang="en-US" altLang="zh-CN" sz="2800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[n]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是实序列时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，由于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，所以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有（</a:t>
            </a:r>
            <a:r>
              <a:rPr lang="zh-CN" altLang="en-US" sz="2800" b="1" dirty="0"/>
              <a:t>共轭</a:t>
            </a:r>
            <a:r>
              <a:rPr lang="zh-CN" altLang="en-US" sz="2800" b="1" dirty="0" smtClean="0"/>
              <a:t>对称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96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283340"/>
              </p:ext>
            </p:extLst>
          </p:nvPr>
        </p:nvGraphicFramePr>
        <p:xfrm>
          <a:off x="4640263" y="2260600"/>
          <a:ext cx="29178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6" name="Equation" r:id="rId3" imgW="1168200" imgH="228600" progId="Equation.DSMT4">
                  <p:embed/>
                </p:oleObj>
              </mc:Choice>
              <mc:Fallback>
                <p:oleObj name="Equation" r:id="rId3" imgW="1168200" imgH="228600" progId="Equation.DSMT4">
                  <p:embed/>
                  <p:pic>
                    <p:nvPicPr>
                      <p:cNvPr id="69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63" y="2260600"/>
                        <a:ext cx="29178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604741"/>
              </p:ext>
            </p:extLst>
          </p:nvPr>
        </p:nvGraphicFramePr>
        <p:xfrm>
          <a:off x="3543300" y="3109913"/>
          <a:ext cx="49466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7" name="Equation" r:id="rId5" imgW="1981080" imgH="279360" progId="Equation.DSMT4">
                  <p:embed/>
                </p:oleObj>
              </mc:Choice>
              <mc:Fallback>
                <p:oleObj name="Equation" r:id="rId5" imgW="1981080" imgH="279360" progId="Equation.DSMT4">
                  <p:embed/>
                  <p:pic>
                    <p:nvPicPr>
                      <p:cNvPr id="69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3109913"/>
                        <a:ext cx="4946650" cy="693737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569915"/>
              </p:ext>
            </p:extLst>
          </p:nvPr>
        </p:nvGraphicFramePr>
        <p:xfrm>
          <a:off x="3489325" y="3906838"/>
          <a:ext cx="26543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8" name="Equation" r:id="rId7" imgW="1206360" imgH="279360" progId="Equation.DSMT4">
                  <p:embed/>
                </p:oleObj>
              </mc:Choice>
              <mc:Fallback>
                <p:oleObj name="Equation" r:id="rId7" imgW="1206360" imgH="279360" progId="Equation.DSMT4">
                  <p:embed/>
                  <p:pic>
                    <p:nvPicPr>
                      <p:cNvPr id="69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3906838"/>
                        <a:ext cx="26543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958361"/>
              </p:ext>
            </p:extLst>
          </p:nvPr>
        </p:nvGraphicFramePr>
        <p:xfrm>
          <a:off x="6621463" y="3992563"/>
          <a:ext cx="19859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9" name="Equation" r:id="rId9" imgW="990360" imgH="203040" progId="Equation.DSMT4">
                  <p:embed/>
                </p:oleObj>
              </mc:Choice>
              <mc:Fallback>
                <p:oleObj name="Equation" r:id="rId9" imgW="990360" imgH="203040" progId="Equation.DSMT4">
                  <p:embed/>
                  <p:pic>
                    <p:nvPicPr>
                      <p:cNvPr id="696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63" y="3992563"/>
                        <a:ext cx="198596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698145"/>
              </p:ext>
            </p:extLst>
          </p:nvPr>
        </p:nvGraphicFramePr>
        <p:xfrm>
          <a:off x="2982913" y="4757738"/>
          <a:ext cx="64801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0" name="Equation" r:id="rId11" imgW="2590560" imgH="241200" progId="Equation.DSMT4">
                  <p:embed/>
                </p:oleObj>
              </mc:Choice>
              <mc:Fallback>
                <p:oleObj name="Equation" r:id="rId11" imgW="2590560" imgH="241200" progId="Equation.DSMT4">
                  <p:embed/>
                  <p:pic>
                    <p:nvPicPr>
                      <p:cNvPr id="696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4757738"/>
                        <a:ext cx="6480175" cy="600075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035598"/>
              </p:ext>
            </p:extLst>
          </p:nvPr>
        </p:nvGraphicFramePr>
        <p:xfrm>
          <a:off x="2927350" y="5630863"/>
          <a:ext cx="31051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1" name="Equation" r:id="rId13" imgW="1244520" imgH="241200" progId="Equation.DSMT4">
                  <p:embed/>
                </p:oleObj>
              </mc:Choice>
              <mc:Fallback>
                <p:oleObj name="Equation" r:id="rId13" imgW="1244520" imgH="241200" progId="Equation.DSMT4">
                  <p:embed/>
                  <p:pic>
                    <p:nvPicPr>
                      <p:cNvPr id="696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5630863"/>
                        <a:ext cx="31051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929205"/>
              </p:ext>
            </p:extLst>
          </p:nvPr>
        </p:nvGraphicFramePr>
        <p:xfrm>
          <a:off x="6527800" y="5630863"/>
          <a:ext cx="317023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2" name="Equation" r:id="rId15" imgW="1269720" imgH="241200" progId="Equation.DSMT4">
                  <p:embed/>
                </p:oleObj>
              </mc:Choice>
              <mc:Fallback>
                <p:oleObj name="Equation" r:id="rId15" imgW="1269720" imgH="241200" progId="Equation.DSMT4">
                  <p:embed/>
                  <p:pic>
                    <p:nvPicPr>
                      <p:cNvPr id="696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5630863"/>
                        <a:ext cx="317023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6" name="Text Box 14"/>
          <p:cNvSpPr txBox="1">
            <a:spLocks noChangeArrowheads="1"/>
          </p:cNvSpPr>
          <p:nvPr/>
        </p:nvSpPr>
        <p:spPr bwMode="auto">
          <a:xfrm>
            <a:off x="3732214" y="230716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546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932517" y="2870200"/>
            <a:ext cx="784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例：求序列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]={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1,2,1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=0,1,2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的幅度谱和相位谱。</a:t>
            </a:r>
          </a:p>
        </p:txBody>
      </p:sp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3732214" y="230716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6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478648"/>
              </p:ext>
            </p:extLst>
          </p:nvPr>
        </p:nvGraphicFramePr>
        <p:xfrm>
          <a:off x="6224588" y="1036638"/>
          <a:ext cx="18716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4" name="Equation" r:id="rId3" imgW="749160" imgH="228600" progId="Equation.DSMT4">
                  <p:embed/>
                </p:oleObj>
              </mc:Choice>
              <mc:Fallback>
                <p:oleObj name="Equation" r:id="rId3" imgW="749160" imgH="228600" progId="Equation.DSMT4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588" y="1036638"/>
                        <a:ext cx="18716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487574"/>
              </p:ext>
            </p:extLst>
          </p:nvPr>
        </p:nvGraphicFramePr>
        <p:xfrm>
          <a:off x="2284413" y="1730375"/>
          <a:ext cx="236378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5" name="Equation" r:id="rId5" imgW="1180800" imgH="393480" progId="Equation.DSMT4">
                  <p:embed/>
                </p:oleObj>
              </mc:Choice>
              <mc:Fallback>
                <p:oleObj name="Equation" r:id="rId5" imgW="1180800" imgH="393480" progId="Equation.DSMT4">
                  <p:embed/>
                  <p:pic>
                    <p:nvPicPr>
                      <p:cNvPr id="460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1730375"/>
                        <a:ext cx="2363787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453041"/>
              </p:ext>
            </p:extLst>
          </p:nvPr>
        </p:nvGraphicFramePr>
        <p:xfrm>
          <a:off x="7199313" y="2120900"/>
          <a:ext cx="13985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6" name="Equation" r:id="rId7" imgW="698400" imgH="203040" progId="Equation.DSMT4">
                  <p:embed/>
                </p:oleObj>
              </mc:Choice>
              <mc:Fallback>
                <p:oleObj name="Equation" r:id="rId7" imgW="698400" imgH="203040" progId="Equation.DSMT4">
                  <p:embed/>
                  <p:pic>
                    <p:nvPicPr>
                      <p:cNvPr id="46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9313" y="2120900"/>
                        <a:ext cx="13985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058940"/>
              </p:ext>
            </p:extLst>
          </p:nvPr>
        </p:nvGraphicFramePr>
        <p:xfrm>
          <a:off x="8080375" y="831850"/>
          <a:ext cx="231616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7" name="Equation" r:id="rId9" imgW="927000" imgH="393480" progId="Equation.DSMT4">
                  <p:embed/>
                </p:oleObj>
              </mc:Choice>
              <mc:Fallback>
                <p:oleObj name="Equation" r:id="rId9" imgW="927000" imgH="393480" progId="Equation.DSMT4">
                  <p:embed/>
                  <p:pic>
                    <p:nvPicPr>
                      <p:cNvPr id="460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5" y="831850"/>
                        <a:ext cx="231616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2063750" y="152400"/>
            <a:ext cx="784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例：求序列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]={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1,2,1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=0,1,2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的幅度谱和相位谱。</a:t>
            </a:r>
          </a:p>
        </p:txBody>
      </p:sp>
      <p:grpSp>
        <p:nvGrpSpPr>
          <p:cNvPr id="46098" name="Group 18"/>
          <p:cNvGrpSpPr>
            <a:grpSpLocks/>
          </p:cNvGrpSpPr>
          <p:nvPr/>
        </p:nvGrpSpPr>
        <p:grpSpPr bwMode="auto">
          <a:xfrm>
            <a:off x="6816725" y="2565400"/>
            <a:ext cx="2819400" cy="1752600"/>
            <a:chOff x="2544" y="1584"/>
            <a:chExt cx="1776" cy="1104"/>
          </a:xfrm>
        </p:grpSpPr>
        <p:sp>
          <p:nvSpPr>
            <p:cNvPr id="46099" name="Line 19"/>
            <p:cNvSpPr>
              <a:spLocks noChangeShapeType="1"/>
            </p:cNvSpPr>
            <p:nvPr/>
          </p:nvSpPr>
          <p:spPr bwMode="auto">
            <a:xfrm>
              <a:off x="2544" y="21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0" name="Line 20"/>
            <p:cNvSpPr>
              <a:spLocks noChangeShapeType="1"/>
            </p:cNvSpPr>
            <p:nvPr/>
          </p:nvSpPr>
          <p:spPr bwMode="auto">
            <a:xfrm flipV="1">
              <a:off x="3264" y="1584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1" name="Line 21"/>
            <p:cNvSpPr>
              <a:spLocks noChangeShapeType="1"/>
            </p:cNvSpPr>
            <p:nvPr/>
          </p:nvSpPr>
          <p:spPr bwMode="auto">
            <a:xfrm flipH="1" flipV="1">
              <a:off x="2736" y="1728"/>
              <a:ext cx="1152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2" name="Line 22"/>
            <p:cNvSpPr>
              <a:spLocks noChangeShapeType="1"/>
            </p:cNvSpPr>
            <p:nvPr/>
          </p:nvSpPr>
          <p:spPr bwMode="auto">
            <a:xfrm flipV="1">
              <a:off x="2844" y="1824"/>
              <a:ext cx="0" cy="33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3" name="Line 23"/>
            <p:cNvSpPr>
              <a:spLocks noChangeShapeType="1"/>
            </p:cNvSpPr>
            <p:nvPr/>
          </p:nvSpPr>
          <p:spPr bwMode="auto">
            <a:xfrm>
              <a:off x="2844" y="1824"/>
              <a:ext cx="42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4" name="Text Box 24"/>
            <p:cNvSpPr txBox="1">
              <a:spLocks noChangeArrowheads="1"/>
            </p:cNvSpPr>
            <p:nvPr/>
          </p:nvSpPr>
          <p:spPr bwMode="auto">
            <a:xfrm>
              <a:off x="3210" y="165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5" name="Text Box 25"/>
            <p:cNvSpPr txBox="1">
              <a:spLocks noChangeArrowheads="1"/>
            </p:cNvSpPr>
            <p:nvPr/>
          </p:nvSpPr>
          <p:spPr bwMode="auto">
            <a:xfrm>
              <a:off x="2544" y="206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i="1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r>
                <a:rPr kumimoji="1" lang="en-US" altLang="zh-CN" sz="2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6" name="Text Box 26"/>
            <p:cNvSpPr txBox="1">
              <a:spLocks noChangeArrowheads="1"/>
            </p:cNvSpPr>
            <p:nvPr/>
          </p:nvSpPr>
          <p:spPr bwMode="auto">
            <a:xfrm>
              <a:off x="3984" y="187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l-GR" altLang="zh-CN" dirty="0"/>
                <a:t>ω</a:t>
              </a:r>
              <a:endPara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61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7835"/>
              </p:ext>
            </p:extLst>
          </p:nvPr>
        </p:nvGraphicFramePr>
        <p:xfrm>
          <a:off x="2551113" y="965200"/>
          <a:ext cx="38385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8" name="Equation" r:id="rId11" imgW="1536480" imgH="228600" progId="Equation.DSMT4">
                  <p:embed/>
                </p:oleObj>
              </mc:Choice>
              <mc:Fallback>
                <p:oleObj name="Equation" r:id="rId11" imgW="1536480" imgH="228600" progId="Equation.DSMT4">
                  <p:embed/>
                  <p:pic>
                    <p:nvPicPr>
                      <p:cNvPr id="4610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965200"/>
                        <a:ext cx="38385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8" name="Text Box 28"/>
          <p:cNvSpPr txBox="1">
            <a:spLocks noChangeArrowheads="1"/>
          </p:cNvSpPr>
          <p:nvPr/>
        </p:nvSpPr>
        <p:spPr bwMode="auto">
          <a:xfrm>
            <a:off x="1992313" y="981075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</p:txBody>
      </p:sp>
      <p:grpSp>
        <p:nvGrpSpPr>
          <p:cNvPr id="46110" name="Group 30"/>
          <p:cNvGrpSpPr>
            <a:grpSpLocks/>
          </p:cNvGrpSpPr>
          <p:nvPr/>
        </p:nvGrpSpPr>
        <p:grpSpPr bwMode="auto">
          <a:xfrm>
            <a:off x="2135188" y="2492376"/>
            <a:ext cx="3352800" cy="1514475"/>
            <a:chOff x="240" y="1584"/>
            <a:chExt cx="2112" cy="954"/>
          </a:xfrm>
        </p:grpSpPr>
        <p:sp>
          <p:nvSpPr>
            <p:cNvPr id="46090" name="Freeform 10"/>
            <p:cNvSpPr>
              <a:spLocks/>
            </p:cNvSpPr>
            <p:nvPr/>
          </p:nvSpPr>
          <p:spPr bwMode="auto">
            <a:xfrm>
              <a:off x="432" y="1728"/>
              <a:ext cx="1518" cy="579"/>
            </a:xfrm>
            <a:custGeom>
              <a:avLst/>
              <a:gdLst>
                <a:gd name="T0" fmla="*/ 25 w 1518"/>
                <a:gd name="T1" fmla="*/ 1 h 579"/>
                <a:gd name="T2" fmla="*/ 53 w 1518"/>
                <a:gd name="T3" fmla="*/ 6 h 579"/>
                <a:gd name="T4" fmla="*/ 85 w 1518"/>
                <a:gd name="T5" fmla="*/ 17 h 579"/>
                <a:gd name="T6" fmla="*/ 116 w 1518"/>
                <a:gd name="T7" fmla="*/ 32 h 579"/>
                <a:gd name="T8" fmla="*/ 144 w 1518"/>
                <a:gd name="T9" fmla="*/ 51 h 579"/>
                <a:gd name="T10" fmla="*/ 176 w 1518"/>
                <a:gd name="T11" fmla="*/ 73 h 579"/>
                <a:gd name="T12" fmla="*/ 207 w 1518"/>
                <a:gd name="T13" fmla="*/ 98 h 579"/>
                <a:gd name="T14" fmla="*/ 235 w 1518"/>
                <a:gd name="T15" fmla="*/ 127 h 579"/>
                <a:gd name="T16" fmla="*/ 267 w 1518"/>
                <a:gd name="T17" fmla="*/ 159 h 579"/>
                <a:gd name="T18" fmla="*/ 298 w 1518"/>
                <a:gd name="T19" fmla="*/ 193 h 579"/>
                <a:gd name="T20" fmla="*/ 330 w 1518"/>
                <a:gd name="T21" fmla="*/ 227 h 579"/>
                <a:gd name="T22" fmla="*/ 358 w 1518"/>
                <a:gd name="T23" fmla="*/ 265 h 579"/>
                <a:gd name="T24" fmla="*/ 389 w 1518"/>
                <a:gd name="T25" fmla="*/ 300 h 579"/>
                <a:gd name="T26" fmla="*/ 421 w 1518"/>
                <a:gd name="T27" fmla="*/ 338 h 579"/>
                <a:gd name="T28" fmla="*/ 449 w 1518"/>
                <a:gd name="T29" fmla="*/ 373 h 579"/>
                <a:gd name="T30" fmla="*/ 481 w 1518"/>
                <a:gd name="T31" fmla="*/ 407 h 579"/>
                <a:gd name="T32" fmla="*/ 512 w 1518"/>
                <a:gd name="T33" fmla="*/ 440 h 579"/>
                <a:gd name="T34" fmla="*/ 540 w 1518"/>
                <a:gd name="T35" fmla="*/ 470 h 579"/>
                <a:gd name="T36" fmla="*/ 572 w 1518"/>
                <a:gd name="T37" fmla="*/ 496 h 579"/>
                <a:gd name="T38" fmla="*/ 603 w 1518"/>
                <a:gd name="T39" fmla="*/ 521 h 579"/>
                <a:gd name="T40" fmla="*/ 635 w 1518"/>
                <a:gd name="T41" fmla="*/ 540 h 579"/>
                <a:gd name="T42" fmla="*/ 663 w 1518"/>
                <a:gd name="T43" fmla="*/ 557 h 579"/>
                <a:gd name="T44" fmla="*/ 694 w 1518"/>
                <a:gd name="T45" fmla="*/ 569 h 579"/>
                <a:gd name="T46" fmla="*/ 726 w 1518"/>
                <a:gd name="T47" fmla="*/ 576 h 579"/>
                <a:gd name="T48" fmla="*/ 754 w 1518"/>
                <a:gd name="T49" fmla="*/ 579 h 579"/>
                <a:gd name="T50" fmla="*/ 786 w 1518"/>
                <a:gd name="T51" fmla="*/ 577 h 579"/>
                <a:gd name="T52" fmla="*/ 817 w 1518"/>
                <a:gd name="T53" fmla="*/ 570 h 579"/>
                <a:gd name="T54" fmla="*/ 849 w 1518"/>
                <a:gd name="T55" fmla="*/ 560 h 579"/>
                <a:gd name="T56" fmla="*/ 877 w 1518"/>
                <a:gd name="T57" fmla="*/ 545 h 579"/>
                <a:gd name="T58" fmla="*/ 908 w 1518"/>
                <a:gd name="T59" fmla="*/ 526 h 579"/>
                <a:gd name="T60" fmla="*/ 940 w 1518"/>
                <a:gd name="T61" fmla="*/ 503 h 579"/>
                <a:gd name="T62" fmla="*/ 968 w 1518"/>
                <a:gd name="T63" fmla="*/ 477 h 579"/>
                <a:gd name="T64" fmla="*/ 999 w 1518"/>
                <a:gd name="T65" fmla="*/ 446 h 579"/>
                <a:gd name="T66" fmla="*/ 1031 w 1518"/>
                <a:gd name="T67" fmla="*/ 416 h 579"/>
                <a:gd name="T68" fmla="*/ 1059 w 1518"/>
                <a:gd name="T69" fmla="*/ 382 h 579"/>
                <a:gd name="T70" fmla="*/ 1091 w 1518"/>
                <a:gd name="T71" fmla="*/ 346 h 579"/>
                <a:gd name="T72" fmla="*/ 1122 w 1518"/>
                <a:gd name="T73" fmla="*/ 311 h 579"/>
                <a:gd name="T74" fmla="*/ 1154 w 1518"/>
                <a:gd name="T75" fmla="*/ 273 h 579"/>
                <a:gd name="T76" fmla="*/ 1182 w 1518"/>
                <a:gd name="T77" fmla="*/ 237 h 579"/>
                <a:gd name="T78" fmla="*/ 1213 w 1518"/>
                <a:gd name="T79" fmla="*/ 202 h 579"/>
                <a:gd name="T80" fmla="*/ 1245 w 1518"/>
                <a:gd name="T81" fmla="*/ 168 h 579"/>
                <a:gd name="T82" fmla="*/ 1273 w 1518"/>
                <a:gd name="T83" fmla="*/ 136 h 579"/>
                <a:gd name="T84" fmla="*/ 1304 w 1518"/>
                <a:gd name="T85" fmla="*/ 105 h 579"/>
                <a:gd name="T86" fmla="*/ 1336 w 1518"/>
                <a:gd name="T87" fmla="*/ 80 h 579"/>
                <a:gd name="T88" fmla="*/ 1364 w 1518"/>
                <a:gd name="T89" fmla="*/ 56 h 579"/>
                <a:gd name="T90" fmla="*/ 1396 w 1518"/>
                <a:gd name="T91" fmla="*/ 35 h 579"/>
                <a:gd name="T92" fmla="*/ 1427 w 1518"/>
                <a:gd name="T93" fmla="*/ 20 h 579"/>
                <a:gd name="T94" fmla="*/ 1459 w 1518"/>
                <a:gd name="T95" fmla="*/ 8 h 579"/>
                <a:gd name="T96" fmla="*/ 1487 w 1518"/>
                <a:gd name="T97" fmla="*/ 1 h 579"/>
                <a:gd name="T98" fmla="*/ 1518 w 1518"/>
                <a:gd name="T9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18" h="579">
                  <a:moveTo>
                    <a:pt x="0" y="0"/>
                  </a:moveTo>
                  <a:lnTo>
                    <a:pt x="7" y="0"/>
                  </a:lnTo>
                  <a:lnTo>
                    <a:pt x="14" y="0"/>
                  </a:lnTo>
                  <a:lnTo>
                    <a:pt x="25" y="1"/>
                  </a:lnTo>
                  <a:lnTo>
                    <a:pt x="32" y="1"/>
                  </a:lnTo>
                  <a:lnTo>
                    <a:pt x="39" y="3"/>
                  </a:lnTo>
                  <a:lnTo>
                    <a:pt x="46" y="5"/>
                  </a:lnTo>
                  <a:lnTo>
                    <a:pt x="53" y="6"/>
                  </a:lnTo>
                  <a:lnTo>
                    <a:pt x="60" y="8"/>
                  </a:lnTo>
                  <a:lnTo>
                    <a:pt x="71" y="12"/>
                  </a:lnTo>
                  <a:lnTo>
                    <a:pt x="78" y="13"/>
                  </a:lnTo>
                  <a:lnTo>
                    <a:pt x="85" y="17"/>
                  </a:lnTo>
                  <a:lnTo>
                    <a:pt x="92" y="20"/>
                  </a:lnTo>
                  <a:lnTo>
                    <a:pt x="99" y="23"/>
                  </a:lnTo>
                  <a:lnTo>
                    <a:pt x="106" y="27"/>
                  </a:lnTo>
                  <a:lnTo>
                    <a:pt x="116" y="32"/>
                  </a:lnTo>
                  <a:lnTo>
                    <a:pt x="123" y="35"/>
                  </a:lnTo>
                  <a:lnTo>
                    <a:pt x="130" y="40"/>
                  </a:lnTo>
                  <a:lnTo>
                    <a:pt x="137" y="46"/>
                  </a:lnTo>
                  <a:lnTo>
                    <a:pt x="144" y="51"/>
                  </a:lnTo>
                  <a:lnTo>
                    <a:pt x="155" y="56"/>
                  </a:lnTo>
                  <a:lnTo>
                    <a:pt x="162" y="61"/>
                  </a:lnTo>
                  <a:lnTo>
                    <a:pt x="169" y="68"/>
                  </a:lnTo>
                  <a:lnTo>
                    <a:pt x="176" y="73"/>
                  </a:lnTo>
                  <a:lnTo>
                    <a:pt x="183" y="80"/>
                  </a:lnTo>
                  <a:lnTo>
                    <a:pt x="190" y="85"/>
                  </a:lnTo>
                  <a:lnTo>
                    <a:pt x="200" y="91"/>
                  </a:lnTo>
                  <a:lnTo>
                    <a:pt x="207" y="98"/>
                  </a:lnTo>
                  <a:lnTo>
                    <a:pt x="214" y="105"/>
                  </a:lnTo>
                  <a:lnTo>
                    <a:pt x="221" y="113"/>
                  </a:lnTo>
                  <a:lnTo>
                    <a:pt x="228" y="120"/>
                  </a:lnTo>
                  <a:lnTo>
                    <a:pt x="235" y="127"/>
                  </a:lnTo>
                  <a:lnTo>
                    <a:pt x="246" y="136"/>
                  </a:lnTo>
                  <a:lnTo>
                    <a:pt x="253" y="142"/>
                  </a:lnTo>
                  <a:lnTo>
                    <a:pt x="260" y="151"/>
                  </a:lnTo>
                  <a:lnTo>
                    <a:pt x="267" y="159"/>
                  </a:lnTo>
                  <a:lnTo>
                    <a:pt x="274" y="168"/>
                  </a:lnTo>
                  <a:lnTo>
                    <a:pt x="284" y="176"/>
                  </a:lnTo>
                  <a:lnTo>
                    <a:pt x="291" y="185"/>
                  </a:lnTo>
                  <a:lnTo>
                    <a:pt x="298" y="193"/>
                  </a:lnTo>
                  <a:lnTo>
                    <a:pt x="305" y="202"/>
                  </a:lnTo>
                  <a:lnTo>
                    <a:pt x="312" y="210"/>
                  </a:lnTo>
                  <a:lnTo>
                    <a:pt x="319" y="219"/>
                  </a:lnTo>
                  <a:lnTo>
                    <a:pt x="330" y="227"/>
                  </a:lnTo>
                  <a:lnTo>
                    <a:pt x="337" y="237"/>
                  </a:lnTo>
                  <a:lnTo>
                    <a:pt x="344" y="246"/>
                  </a:lnTo>
                  <a:lnTo>
                    <a:pt x="351" y="254"/>
                  </a:lnTo>
                  <a:lnTo>
                    <a:pt x="358" y="265"/>
                  </a:lnTo>
                  <a:lnTo>
                    <a:pt x="365" y="273"/>
                  </a:lnTo>
                  <a:lnTo>
                    <a:pt x="375" y="282"/>
                  </a:lnTo>
                  <a:lnTo>
                    <a:pt x="382" y="292"/>
                  </a:lnTo>
                  <a:lnTo>
                    <a:pt x="389" y="300"/>
                  </a:lnTo>
                  <a:lnTo>
                    <a:pt x="397" y="311"/>
                  </a:lnTo>
                  <a:lnTo>
                    <a:pt x="404" y="319"/>
                  </a:lnTo>
                  <a:lnTo>
                    <a:pt x="411" y="328"/>
                  </a:lnTo>
                  <a:lnTo>
                    <a:pt x="421" y="338"/>
                  </a:lnTo>
                  <a:lnTo>
                    <a:pt x="428" y="346"/>
                  </a:lnTo>
                  <a:lnTo>
                    <a:pt x="435" y="355"/>
                  </a:lnTo>
                  <a:lnTo>
                    <a:pt x="442" y="363"/>
                  </a:lnTo>
                  <a:lnTo>
                    <a:pt x="449" y="373"/>
                  </a:lnTo>
                  <a:lnTo>
                    <a:pt x="460" y="382"/>
                  </a:lnTo>
                  <a:lnTo>
                    <a:pt x="467" y="390"/>
                  </a:lnTo>
                  <a:lnTo>
                    <a:pt x="474" y="399"/>
                  </a:lnTo>
                  <a:lnTo>
                    <a:pt x="481" y="407"/>
                  </a:lnTo>
                  <a:lnTo>
                    <a:pt x="488" y="416"/>
                  </a:lnTo>
                  <a:lnTo>
                    <a:pt x="495" y="423"/>
                  </a:lnTo>
                  <a:lnTo>
                    <a:pt x="505" y="431"/>
                  </a:lnTo>
                  <a:lnTo>
                    <a:pt x="512" y="440"/>
                  </a:lnTo>
                  <a:lnTo>
                    <a:pt x="519" y="446"/>
                  </a:lnTo>
                  <a:lnTo>
                    <a:pt x="526" y="455"/>
                  </a:lnTo>
                  <a:lnTo>
                    <a:pt x="533" y="462"/>
                  </a:lnTo>
                  <a:lnTo>
                    <a:pt x="540" y="470"/>
                  </a:lnTo>
                  <a:lnTo>
                    <a:pt x="551" y="477"/>
                  </a:lnTo>
                  <a:lnTo>
                    <a:pt x="558" y="484"/>
                  </a:lnTo>
                  <a:lnTo>
                    <a:pt x="565" y="491"/>
                  </a:lnTo>
                  <a:lnTo>
                    <a:pt x="572" y="496"/>
                  </a:lnTo>
                  <a:lnTo>
                    <a:pt x="579" y="503"/>
                  </a:lnTo>
                  <a:lnTo>
                    <a:pt x="589" y="509"/>
                  </a:lnTo>
                  <a:lnTo>
                    <a:pt x="596" y="514"/>
                  </a:lnTo>
                  <a:lnTo>
                    <a:pt x="603" y="521"/>
                  </a:lnTo>
                  <a:lnTo>
                    <a:pt x="610" y="526"/>
                  </a:lnTo>
                  <a:lnTo>
                    <a:pt x="617" y="531"/>
                  </a:lnTo>
                  <a:lnTo>
                    <a:pt x="624" y="536"/>
                  </a:lnTo>
                  <a:lnTo>
                    <a:pt x="635" y="540"/>
                  </a:lnTo>
                  <a:lnTo>
                    <a:pt x="642" y="545"/>
                  </a:lnTo>
                  <a:lnTo>
                    <a:pt x="649" y="548"/>
                  </a:lnTo>
                  <a:lnTo>
                    <a:pt x="656" y="553"/>
                  </a:lnTo>
                  <a:lnTo>
                    <a:pt x="663" y="557"/>
                  </a:lnTo>
                  <a:lnTo>
                    <a:pt x="670" y="560"/>
                  </a:lnTo>
                  <a:lnTo>
                    <a:pt x="680" y="564"/>
                  </a:lnTo>
                  <a:lnTo>
                    <a:pt x="687" y="565"/>
                  </a:lnTo>
                  <a:lnTo>
                    <a:pt x="694" y="569"/>
                  </a:lnTo>
                  <a:lnTo>
                    <a:pt x="701" y="570"/>
                  </a:lnTo>
                  <a:lnTo>
                    <a:pt x="708" y="572"/>
                  </a:lnTo>
                  <a:lnTo>
                    <a:pt x="719" y="574"/>
                  </a:lnTo>
                  <a:lnTo>
                    <a:pt x="726" y="576"/>
                  </a:lnTo>
                  <a:lnTo>
                    <a:pt x="733" y="577"/>
                  </a:lnTo>
                  <a:lnTo>
                    <a:pt x="740" y="577"/>
                  </a:lnTo>
                  <a:lnTo>
                    <a:pt x="747" y="579"/>
                  </a:lnTo>
                  <a:lnTo>
                    <a:pt x="754" y="579"/>
                  </a:lnTo>
                  <a:lnTo>
                    <a:pt x="765" y="579"/>
                  </a:lnTo>
                  <a:lnTo>
                    <a:pt x="772" y="579"/>
                  </a:lnTo>
                  <a:lnTo>
                    <a:pt x="779" y="577"/>
                  </a:lnTo>
                  <a:lnTo>
                    <a:pt x="786" y="577"/>
                  </a:lnTo>
                  <a:lnTo>
                    <a:pt x="793" y="576"/>
                  </a:lnTo>
                  <a:lnTo>
                    <a:pt x="800" y="574"/>
                  </a:lnTo>
                  <a:lnTo>
                    <a:pt x="810" y="572"/>
                  </a:lnTo>
                  <a:lnTo>
                    <a:pt x="817" y="570"/>
                  </a:lnTo>
                  <a:lnTo>
                    <a:pt x="824" y="569"/>
                  </a:lnTo>
                  <a:lnTo>
                    <a:pt x="831" y="565"/>
                  </a:lnTo>
                  <a:lnTo>
                    <a:pt x="838" y="564"/>
                  </a:lnTo>
                  <a:lnTo>
                    <a:pt x="849" y="560"/>
                  </a:lnTo>
                  <a:lnTo>
                    <a:pt x="856" y="557"/>
                  </a:lnTo>
                  <a:lnTo>
                    <a:pt x="863" y="553"/>
                  </a:lnTo>
                  <a:lnTo>
                    <a:pt x="870" y="548"/>
                  </a:lnTo>
                  <a:lnTo>
                    <a:pt x="877" y="545"/>
                  </a:lnTo>
                  <a:lnTo>
                    <a:pt x="884" y="540"/>
                  </a:lnTo>
                  <a:lnTo>
                    <a:pt x="894" y="536"/>
                  </a:lnTo>
                  <a:lnTo>
                    <a:pt x="901" y="531"/>
                  </a:lnTo>
                  <a:lnTo>
                    <a:pt x="908" y="526"/>
                  </a:lnTo>
                  <a:lnTo>
                    <a:pt x="915" y="521"/>
                  </a:lnTo>
                  <a:lnTo>
                    <a:pt x="922" y="514"/>
                  </a:lnTo>
                  <a:lnTo>
                    <a:pt x="929" y="509"/>
                  </a:lnTo>
                  <a:lnTo>
                    <a:pt x="940" y="503"/>
                  </a:lnTo>
                  <a:lnTo>
                    <a:pt x="947" y="496"/>
                  </a:lnTo>
                  <a:lnTo>
                    <a:pt x="954" y="491"/>
                  </a:lnTo>
                  <a:lnTo>
                    <a:pt x="961" y="484"/>
                  </a:lnTo>
                  <a:lnTo>
                    <a:pt x="968" y="477"/>
                  </a:lnTo>
                  <a:lnTo>
                    <a:pt x="978" y="470"/>
                  </a:lnTo>
                  <a:lnTo>
                    <a:pt x="985" y="462"/>
                  </a:lnTo>
                  <a:lnTo>
                    <a:pt x="992" y="455"/>
                  </a:lnTo>
                  <a:lnTo>
                    <a:pt x="999" y="446"/>
                  </a:lnTo>
                  <a:lnTo>
                    <a:pt x="1006" y="440"/>
                  </a:lnTo>
                  <a:lnTo>
                    <a:pt x="1013" y="431"/>
                  </a:lnTo>
                  <a:lnTo>
                    <a:pt x="1024" y="423"/>
                  </a:lnTo>
                  <a:lnTo>
                    <a:pt x="1031" y="416"/>
                  </a:lnTo>
                  <a:lnTo>
                    <a:pt x="1038" y="407"/>
                  </a:lnTo>
                  <a:lnTo>
                    <a:pt x="1045" y="399"/>
                  </a:lnTo>
                  <a:lnTo>
                    <a:pt x="1052" y="390"/>
                  </a:lnTo>
                  <a:lnTo>
                    <a:pt x="1059" y="382"/>
                  </a:lnTo>
                  <a:lnTo>
                    <a:pt x="1070" y="373"/>
                  </a:lnTo>
                  <a:lnTo>
                    <a:pt x="1077" y="363"/>
                  </a:lnTo>
                  <a:lnTo>
                    <a:pt x="1084" y="355"/>
                  </a:lnTo>
                  <a:lnTo>
                    <a:pt x="1091" y="346"/>
                  </a:lnTo>
                  <a:lnTo>
                    <a:pt x="1098" y="338"/>
                  </a:lnTo>
                  <a:lnTo>
                    <a:pt x="1108" y="328"/>
                  </a:lnTo>
                  <a:lnTo>
                    <a:pt x="1115" y="319"/>
                  </a:lnTo>
                  <a:lnTo>
                    <a:pt x="1122" y="311"/>
                  </a:lnTo>
                  <a:lnTo>
                    <a:pt x="1129" y="300"/>
                  </a:lnTo>
                  <a:lnTo>
                    <a:pt x="1136" y="292"/>
                  </a:lnTo>
                  <a:lnTo>
                    <a:pt x="1143" y="282"/>
                  </a:lnTo>
                  <a:lnTo>
                    <a:pt x="1154" y="273"/>
                  </a:lnTo>
                  <a:lnTo>
                    <a:pt x="1161" y="265"/>
                  </a:lnTo>
                  <a:lnTo>
                    <a:pt x="1168" y="254"/>
                  </a:lnTo>
                  <a:lnTo>
                    <a:pt x="1175" y="246"/>
                  </a:lnTo>
                  <a:lnTo>
                    <a:pt x="1182" y="237"/>
                  </a:lnTo>
                  <a:lnTo>
                    <a:pt x="1189" y="227"/>
                  </a:lnTo>
                  <a:lnTo>
                    <a:pt x="1199" y="219"/>
                  </a:lnTo>
                  <a:lnTo>
                    <a:pt x="1206" y="210"/>
                  </a:lnTo>
                  <a:lnTo>
                    <a:pt x="1213" y="202"/>
                  </a:lnTo>
                  <a:lnTo>
                    <a:pt x="1220" y="193"/>
                  </a:lnTo>
                  <a:lnTo>
                    <a:pt x="1227" y="185"/>
                  </a:lnTo>
                  <a:lnTo>
                    <a:pt x="1234" y="176"/>
                  </a:lnTo>
                  <a:lnTo>
                    <a:pt x="1245" y="168"/>
                  </a:lnTo>
                  <a:lnTo>
                    <a:pt x="1252" y="159"/>
                  </a:lnTo>
                  <a:lnTo>
                    <a:pt x="1259" y="151"/>
                  </a:lnTo>
                  <a:lnTo>
                    <a:pt x="1266" y="142"/>
                  </a:lnTo>
                  <a:lnTo>
                    <a:pt x="1273" y="136"/>
                  </a:lnTo>
                  <a:lnTo>
                    <a:pt x="1283" y="127"/>
                  </a:lnTo>
                  <a:lnTo>
                    <a:pt x="1290" y="120"/>
                  </a:lnTo>
                  <a:lnTo>
                    <a:pt x="1297" y="113"/>
                  </a:lnTo>
                  <a:lnTo>
                    <a:pt x="1304" y="105"/>
                  </a:lnTo>
                  <a:lnTo>
                    <a:pt x="1311" y="98"/>
                  </a:lnTo>
                  <a:lnTo>
                    <a:pt x="1318" y="91"/>
                  </a:lnTo>
                  <a:lnTo>
                    <a:pt x="1329" y="85"/>
                  </a:lnTo>
                  <a:lnTo>
                    <a:pt x="1336" y="80"/>
                  </a:lnTo>
                  <a:lnTo>
                    <a:pt x="1343" y="73"/>
                  </a:lnTo>
                  <a:lnTo>
                    <a:pt x="1350" y="68"/>
                  </a:lnTo>
                  <a:lnTo>
                    <a:pt x="1357" y="61"/>
                  </a:lnTo>
                  <a:lnTo>
                    <a:pt x="1364" y="56"/>
                  </a:lnTo>
                  <a:lnTo>
                    <a:pt x="1375" y="51"/>
                  </a:lnTo>
                  <a:lnTo>
                    <a:pt x="1382" y="46"/>
                  </a:lnTo>
                  <a:lnTo>
                    <a:pt x="1389" y="40"/>
                  </a:lnTo>
                  <a:lnTo>
                    <a:pt x="1396" y="35"/>
                  </a:lnTo>
                  <a:lnTo>
                    <a:pt x="1403" y="32"/>
                  </a:lnTo>
                  <a:lnTo>
                    <a:pt x="1413" y="27"/>
                  </a:lnTo>
                  <a:lnTo>
                    <a:pt x="1420" y="23"/>
                  </a:lnTo>
                  <a:lnTo>
                    <a:pt x="1427" y="20"/>
                  </a:lnTo>
                  <a:lnTo>
                    <a:pt x="1434" y="17"/>
                  </a:lnTo>
                  <a:lnTo>
                    <a:pt x="1441" y="13"/>
                  </a:lnTo>
                  <a:lnTo>
                    <a:pt x="1448" y="12"/>
                  </a:lnTo>
                  <a:lnTo>
                    <a:pt x="1459" y="8"/>
                  </a:lnTo>
                  <a:lnTo>
                    <a:pt x="1466" y="6"/>
                  </a:lnTo>
                  <a:lnTo>
                    <a:pt x="1473" y="5"/>
                  </a:lnTo>
                  <a:lnTo>
                    <a:pt x="1480" y="3"/>
                  </a:lnTo>
                  <a:lnTo>
                    <a:pt x="1487" y="1"/>
                  </a:lnTo>
                  <a:lnTo>
                    <a:pt x="1494" y="1"/>
                  </a:lnTo>
                  <a:lnTo>
                    <a:pt x="1504" y="0"/>
                  </a:lnTo>
                  <a:lnTo>
                    <a:pt x="1511" y="0"/>
                  </a:lnTo>
                  <a:lnTo>
                    <a:pt x="1518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1" name="Line 11"/>
            <p:cNvSpPr>
              <a:spLocks noChangeShapeType="1"/>
            </p:cNvSpPr>
            <p:nvPr/>
          </p:nvSpPr>
          <p:spPr bwMode="auto">
            <a:xfrm>
              <a:off x="336" y="2307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2" name="Line 12"/>
            <p:cNvSpPr>
              <a:spLocks noChangeShapeType="1"/>
            </p:cNvSpPr>
            <p:nvPr/>
          </p:nvSpPr>
          <p:spPr bwMode="auto">
            <a:xfrm flipV="1">
              <a:off x="432" y="1584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3" name="Line 13"/>
            <p:cNvSpPr>
              <a:spLocks noChangeShapeType="1"/>
            </p:cNvSpPr>
            <p:nvPr/>
          </p:nvSpPr>
          <p:spPr bwMode="auto">
            <a:xfrm>
              <a:off x="1950" y="1728"/>
              <a:ext cx="0" cy="5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4" name="Text Box 14"/>
            <p:cNvSpPr txBox="1">
              <a:spLocks noChangeArrowheads="1"/>
            </p:cNvSpPr>
            <p:nvPr/>
          </p:nvSpPr>
          <p:spPr bwMode="auto">
            <a:xfrm>
              <a:off x="402" y="2250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6095" name="Text Box 15"/>
            <p:cNvSpPr txBox="1">
              <a:spLocks noChangeArrowheads="1"/>
            </p:cNvSpPr>
            <p:nvPr/>
          </p:nvSpPr>
          <p:spPr bwMode="auto">
            <a:xfrm>
              <a:off x="1008" y="22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6" name="Text Box 16"/>
            <p:cNvSpPr txBox="1">
              <a:spLocks noChangeArrowheads="1"/>
            </p:cNvSpPr>
            <p:nvPr/>
          </p:nvSpPr>
          <p:spPr bwMode="auto">
            <a:xfrm>
              <a:off x="1710" y="2250"/>
              <a:ext cx="3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en-US" sz="2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2</a:t>
              </a:r>
              <a:r>
                <a:rPr kumimoji="1" lang="en-US" altLang="zh-CN" sz="2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7" name="Text Box 17"/>
            <p:cNvSpPr txBox="1">
              <a:spLocks noChangeArrowheads="1"/>
            </p:cNvSpPr>
            <p:nvPr/>
          </p:nvSpPr>
          <p:spPr bwMode="auto">
            <a:xfrm>
              <a:off x="2064" y="2112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l-GR" altLang="zh-CN" dirty="0"/>
                <a:t>ω</a:t>
              </a:r>
              <a:endPara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9" name="Text Box 29"/>
            <p:cNvSpPr txBox="1">
              <a:spLocks noChangeArrowheads="1"/>
            </p:cNvSpPr>
            <p:nvPr/>
          </p:nvSpPr>
          <p:spPr bwMode="auto">
            <a:xfrm>
              <a:off x="240" y="1584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</p:grpSp>
      <p:sp>
        <p:nvSpPr>
          <p:cNvPr id="46112" name="Rectangle 32"/>
          <p:cNvSpPr>
            <a:spLocks noChangeArrowheads="1"/>
          </p:cNvSpPr>
          <p:nvPr/>
        </p:nvSpPr>
        <p:spPr bwMode="auto">
          <a:xfrm>
            <a:off x="1676400" y="6921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510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474035"/>
              </p:ext>
            </p:extLst>
          </p:nvPr>
        </p:nvGraphicFramePr>
        <p:xfrm>
          <a:off x="6921500" y="877888"/>
          <a:ext cx="20955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4" name="Equation" r:id="rId4" imgW="838080" imgH="228600" progId="Equation.DSMT4">
                  <p:embed/>
                </p:oleObj>
              </mc:Choice>
              <mc:Fallback>
                <p:oleObj name="Equation" r:id="rId4" imgW="838080" imgH="228600" progId="Equation.DSMT4">
                  <p:embed/>
                  <p:pic>
                    <p:nvPicPr>
                      <p:cNvPr id="471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877888"/>
                        <a:ext cx="20955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1348846" y="3005265"/>
            <a:ext cx="93191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 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  的实偶函数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374928"/>
              </p:ext>
            </p:extLst>
          </p:nvPr>
        </p:nvGraphicFramePr>
        <p:xfrm>
          <a:off x="4656138" y="1541463"/>
          <a:ext cx="27654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5" name="Equation" r:id="rId6" imgW="1104840" imgH="228600" progId="Equation.DSMT4">
                  <p:embed/>
                </p:oleObj>
              </mc:Choice>
              <mc:Fallback>
                <p:oleObj name="Equation" r:id="rId6" imgW="1104840" imgH="228600" progId="Equation.DSMT4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1541463"/>
                        <a:ext cx="27654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239335"/>
              </p:ext>
            </p:extLst>
          </p:nvPr>
        </p:nvGraphicFramePr>
        <p:xfrm>
          <a:off x="2879725" y="2157413"/>
          <a:ext cx="619601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6" name="Equation" r:id="rId8" imgW="2476440" imgH="241200" progId="Equation.DSMT4">
                  <p:embed/>
                </p:oleObj>
              </mc:Choice>
              <mc:Fallback>
                <p:oleObj name="Equation" r:id="rId8" imgW="2476440" imgH="241200" progId="Equation.DSMT4">
                  <p:embed/>
                  <p:pic>
                    <p:nvPicPr>
                      <p:cNvPr id="4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2157413"/>
                        <a:ext cx="619601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879158"/>
              </p:ext>
            </p:extLst>
          </p:nvPr>
        </p:nvGraphicFramePr>
        <p:xfrm>
          <a:off x="3705225" y="2965450"/>
          <a:ext cx="418147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7" name="Equation" r:id="rId10" imgW="1676160" imgH="241200" progId="Equation.DSMT4">
                  <p:embed/>
                </p:oleObj>
              </mc:Choice>
              <mc:Fallback>
                <p:oleObj name="Equation" r:id="rId10" imgW="1676160" imgH="241200" progId="Equation.DSMT4">
                  <p:embed/>
                  <p:pic>
                    <p:nvPicPr>
                      <p:cNvPr id="471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2965450"/>
                        <a:ext cx="418147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255779"/>
              </p:ext>
            </p:extLst>
          </p:nvPr>
        </p:nvGraphicFramePr>
        <p:xfrm>
          <a:off x="4238625" y="4192588"/>
          <a:ext cx="2981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8" name="Equation" r:id="rId12" imgW="1193760" imgH="228600" progId="Equation.DSMT4">
                  <p:embed/>
                </p:oleObj>
              </mc:Choice>
              <mc:Fallback>
                <p:oleObj name="Equation" r:id="rId12" imgW="1193760" imgH="228600" progId="Equation.DSMT4">
                  <p:embed/>
                  <p:pic>
                    <p:nvPicPr>
                      <p:cNvPr id="471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5" y="4192588"/>
                        <a:ext cx="2981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360325"/>
              </p:ext>
            </p:extLst>
          </p:nvPr>
        </p:nvGraphicFramePr>
        <p:xfrm>
          <a:off x="2879725" y="4902200"/>
          <a:ext cx="64119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9" name="Equation" r:id="rId14" imgW="2565360" imgH="241200" progId="Equation.DSMT4">
                  <p:embed/>
                </p:oleObj>
              </mc:Choice>
              <mc:Fallback>
                <p:oleObj name="Equation" r:id="rId14" imgW="2565360" imgH="241200" progId="Equation.DSMT4">
                  <p:embed/>
                  <p:pic>
                    <p:nvPicPr>
                      <p:cNvPr id="471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4902200"/>
                        <a:ext cx="64119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4" name="Text Box 10"/>
          <p:cNvSpPr txBox="1">
            <a:spLocks noChangeArrowheads="1"/>
          </p:cNvSpPr>
          <p:nvPr/>
        </p:nvSpPr>
        <p:spPr bwMode="auto">
          <a:xfrm>
            <a:off x="4727575" y="5661026"/>
            <a:ext cx="5327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dirty="0" err="1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2800" baseline="30000" dirty="0" err="1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2400" baseline="30000" dirty="0">
                <a:solidFill>
                  <a:srgbClr val="FF0000"/>
                </a:solidFill>
              </a:rPr>
              <a:t>ω</a:t>
            </a:r>
            <a:r>
              <a:rPr kumimoji="1" lang="en-US" altLang="zh-CN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l-GR" altLang="zh-CN" sz="2800" dirty="0">
                <a:solidFill>
                  <a:srgbClr val="FF0000"/>
                </a:solidFill>
              </a:rPr>
              <a:t>ω</a:t>
            </a:r>
            <a:r>
              <a:rPr kumimoji="1" lang="en-US" altLang="zh-CN" sz="2800" i="1" dirty="0" smtClean="0">
                <a:solidFill>
                  <a:srgbClr val="FF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纯虚函数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且为奇对称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6" name="Rectangle 12"/>
          <p:cNvSpPr>
            <a:spLocks noChangeArrowheads="1"/>
          </p:cNvSpPr>
          <p:nvPr/>
        </p:nvSpPr>
        <p:spPr bwMode="auto">
          <a:xfrm>
            <a:off x="1752600" y="8064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7" name="Text Box 13"/>
          <p:cNvSpPr txBox="1">
            <a:spLocks noChangeArrowheads="1"/>
          </p:cNvSpPr>
          <p:nvPr/>
        </p:nvSpPr>
        <p:spPr bwMode="auto">
          <a:xfrm>
            <a:off x="1919288" y="3644901"/>
            <a:ext cx="8424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为实奇对称序列时，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由于                      ，所以</a:t>
            </a:r>
          </a:p>
        </p:txBody>
      </p:sp>
      <p:graphicFrame>
        <p:nvGraphicFramePr>
          <p:cNvPr id="471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776859"/>
              </p:ext>
            </p:extLst>
          </p:nvPr>
        </p:nvGraphicFramePr>
        <p:xfrm>
          <a:off x="6737350" y="3613150"/>
          <a:ext cx="23177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00" name="Equation" r:id="rId16" imgW="927000" imgH="228600" progId="Equation.DSMT4">
                  <p:embed/>
                </p:oleObj>
              </mc:Choice>
              <mc:Fallback>
                <p:oleObj name="Equation" r:id="rId16" imgW="927000" imgH="228600" progId="Equation.DSMT4">
                  <p:embed/>
                  <p:pic>
                    <p:nvPicPr>
                      <p:cNvPr id="471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350" y="3613150"/>
                        <a:ext cx="23177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Rectangle 15"/>
          <p:cNvSpPr>
            <a:spLocks noChangeArrowheads="1"/>
          </p:cNvSpPr>
          <p:nvPr/>
        </p:nvSpPr>
        <p:spPr bwMode="auto">
          <a:xfrm>
            <a:off x="2855914" y="5661026"/>
            <a:ext cx="1944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1" lang="en-US" altLang="zh-CN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dirty="0" err="1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2800" baseline="30000" dirty="0" err="1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2400" baseline="30000" dirty="0">
                <a:solidFill>
                  <a:srgbClr val="FF0000"/>
                </a:solidFill>
              </a:rPr>
              <a:t>ω</a:t>
            </a:r>
            <a:r>
              <a:rPr kumimoji="1" lang="en-US" altLang="zh-CN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0;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1948921" y="944564"/>
            <a:ext cx="8424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kumimoji="1" lang="zh-CN" altLang="en-US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实偶对称</a:t>
            </a:r>
            <a:r>
              <a:rPr kumimoji="1"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序列时，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由于                      ，所以</a:t>
            </a:r>
          </a:p>
        </p:txBody>
      </p:sp>
    </p:spTree>
    <p:extLst>
      <p:ext uri="{BB962C8B-B14F-4D97-AF65-F5344CB8AC3E}">
        <p14:creationId xmlns:p14="http://schemas.microsoft.com/office/powerpoint/2010/main" val="407375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  <p:bldP spid="47114" grpId="0" autoUpdateAnimBg="0"/>
      <p:bldP spid="47117" grpId="0" autoUpdateAnimBg="0"/>
      <p:bldP spid="1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448732" y="944564"/>
            <a:ext cx="112860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任何一个序列可以看成是共轭对称序列</a:t>
            </a: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【e】</a:t>
            </a:r>
            <a:r>
              <a:rPr kumimoji="1" lang="zh-CN" altLang="en-US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和共轭反对称序列</a:t>
            </a: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【o】</a:t>
            </a:r>
            <a:r>
              <a:rPr kumimoji="1" lang="zh-CN" altLang="en-US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73575"/>
              </p:ext>
            </p:extLst>
          </p:nvPr>
        </p:nvGraphicFramePr>
        <p:xfrm>
          <a:off x="655638" y="1720197"/>
          <a:ext cx="365601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1" name="Equation" r:id="rId3" imgW="1460160" imgH="431640" progId="Equation.DSMT4">
                  <p:embed/>
                </p:oleObj>
              </mc:Choice>
              <mc:Fallback>
                <p:oleObj name="Equation" r:id="rId3" imgW="1460160" imgH="431640" progId="Equation.DSMT4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1720197"/>
                        <a:ext cx="365601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196674"/>
              </p:ext>
            </p:extLst>
          </p:nvPr>
        </p:nvGraphicFramePr>
        <p:xfrm>
          <a:off x="671249" y="2969031"/>
          <a:ext cx="365601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2" name="Equation" r:id="rId5" imgW="1460160" imgH="431640" progId="Equation.DSMT4">
                  <p:embed/>
                </p:oleObj>
              </mc:Choice>
              <mc:Fallback>
                <p:oleObj name="Equation" r:id="rId5" imgW="1460160" imgH="43164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249" y="2969031"/>
                        <a:ext cx="365601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191007"/>
              </p:ext>
            </p:extLst>
          </p:nvPr>
        </p:nvGraphicFramePr>
        <p:xfrm>
          <a:off x="292100" y="3962400"/>
          <a:ext cx="44831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3" name="Equation" r:id="rId7" imgW="1790640" imgH="457200" progId="Equation.DSMT4">
                  <p:embed/>
                </p:oleObj>
              </mc:Choice>
              <mc:Fallback>
                <p:oleObj name="Equation" r:id="rId7" imgW="1790640" imgH="45720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3962400"/>
                        <a:ext cx="44831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499035"/>
              </p:ext>
            </p:extLst>
          </p:nvPr>
        </p:nvGraphicFramePr>
        <p:xfrm>
          <a:off x="403225" y="5164666"/>
          <a:ext cx="45148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4" name="Equation" r:id="rId9" imgW="1803240" imgH="457200" progId="Equation.DSMT4">
                  <p:embed/>
                </p:oleObj>
              </mc:Choice>
              <mc:Fallback>
                <p:oleObj name="Equation" r:id="rId9" imgW="1803240" imgH="4572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5164666"/>
                        <a:ext cx="45148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086764"/>
              </p:ext>
            </p:extLst>
          </p:nvPr>
        </p:nvGraphicFramePr>
        <p:xfrm>
          <a:off x="7446963" y="4146550"/>
          <a:ext cx="34337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5" name="Equation" r:id="rId11" imgW="1371600" imgH="431640" progId="Equation.DSMT4">
                  <p:embed/>
                </p:oleObj>
              </mc:Choice>
              <mc:Fallback>
                <p:oleObj name="Equation" r:id="rId11" imgW="1371600" imgH="43164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6963" y="4146550"/>
                        <a:ext cx="34337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947968"/>
              </p:ext>
            </p:extLst>
          </p:nvPr>
        </p:nvGraphicFramePr>
        <p:xfrm>
          <a:off x="7558088" y="5272088"/>
          <a:ext cx="34337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6" name="Equation" r:id="rId13" imgW="1371600" imgH="431640" progId="Equation.DSMT4">
                  <p:embed/>
                </p:oleObj>
              </mc:Choice>
              <mc:Fallback>
                <p:oleObj name="Equation" r:id="rId13" imgW="1371600" imgH="43164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088" y="5272088"/>
                        <a:ext cx="34337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525278"/>
              </p:ext>
            </p:extLst>
          </p:nvPr>
        </p:nvGraphicFramePr>
        <p:xfrm>
          <a:off x="6807200" y="1611313"/>
          <a:ext cx="43561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7" name="Equation" r:id="rId15" imgW="1739880" imgH="457200" progId="Equation.DSMT4">
                  <p:embed/>
                </p:oleObj>
              </mc:Choice>
              <mc:Fallback>
                <p:oleObj name="Equation" r:id="rId15" imgW="1739880" imgH="4572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1611313"/>
                        <a:ext cx="43561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590336"/>
              </p:ext>
            </p:extLst>
          </p:nvPr>
        </p:nvGraphicFramePr>
        <p:xfrm>
          <a:off x="6945313" y="2854325"/>
          <a:ext cx="43243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8" name="Equation" r:id="rId17" imgW="1726920" imgH="457200" progId="Equation.DSMT4">
                  <p:embed/>
                </p:oleObj>
              </mc:Choice>
              <mc:Fallback>
                <p:oleObj name="Equation" r:id="rId17" imgW="1726920" imgH="457200" progId="Equation.DSMT4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5313" y="2854325"/>
                        <a:ext cx="43243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958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65" y="983217"/>
            <a:ext cx="8389339" cy="203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40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905000" y="1524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例：试求序列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zh-CN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的DTFT。</a:t>
            </a:r>
            <a:endParaRPr kumimoji="1"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995807"/>
              </p:ext>
            </p:extLst>
          </p:nvPr>
        </p:nvGraphicFramePr>
        <p:xfrm>
          <a:off x="2178050" y="4321175"/>
          <a:ext cx="2347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18" name="Equation" r:id="rId3" imgW="939600" imgH="203040" progId="Equation.DSMT4">
                  <p:embed/>
                </p:oleObj>
              </mc:Choice>
              <mc:Fallback>
                <p:oleObj name="Equation" r:id="rId3" imgW="939600" imgH="203040" progId="Equation.DSMT4">
                  <p:embed/>
                  <p:pic>
                    <p:nvPicPr>
                      <p:cNvPr id="48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4321175"/>
                        <a:ext cx="2347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867359"/>
              </p:ext>
            </p:extLst>
          </p:nvPr>
        </p:nvGraphicFramePr>
        <p:xfrm>
          <a:off x="4375150" y="4249738"/>
          <a:ext cx="30162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19" name="Equation" r:id="rId5" imgW="1206360" imgH="228600" progId="Equation.DSMT4">
                  <p:embed/>
                </p:oleObj>
              </mc:Choice>
              <mc:Fallback>
                <p:oleObj name="Equation" r:id="rId5" imgW="1206360" imgH="228600" progId="Equation.DSMT4">
                  <p:embed/>
                  <p:pic>
                    <p:nvPicPr>
                      <p:cNvPr id="48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4249738"/>
                        <a:ext cx="301625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188346"/>
              </p:ext>
            </p:extLst>
          </p:nvPr>
        </p:nvGraphicFramePr>
        <p:xfrm>
          <a:off x="7388225" y="4251325"/>
          <a:ext cx="22542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0" name="Equation" r:id="rId7" imgW="901440" imgH="228600" progId="Equation.DSMT4">
                  <p:embed/>
                </p:oleObj>
              </mc:Choice>
              <mc:Fallback>
                <p:oleObj name="Equation" r:id="rId7" imgW="901440" imgH="228600" progId="Equation.DSMT4">
                  <p:embed/>
                  <p:pic>
                    <p:nvPicPr>
                      <p:cNvPr id="481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225" y="4251325"/>
                        <a:ext cx="22542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024685"/>
              </p:ext>
            </p:extLst>
          </p:nvPr>
        </p:nvGraphicFramePr>
        <p:xfrm>
          <a:off x="4660900" y="482600"/>
          <a:ext cx="286861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1" name="Equation" r:id="rId9" imgW="1371600" imgH="736560" progId="Equation.DSMT4">
                  <p:embed/>
                </p:oleObj>
              </mc:Choice>
              <mc:Fallback>
                <p:oleObj name="Equation" r:id="rId9" imgW="1371600" imgH="736560" progId="Equation.DSMT4">
                  <p:embed/>
                  <p:pic>
                    <p:nvPicPr>
                      <p:cNvPr id="48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482600"/>
                        <a:ext cx="2868613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552956"/>
              </p:ext>
            </p:extLst>
          </p:nvPr>
        </p:nvGraphicFramePr>
        <p:xfrm>
          <a:off x="1960563" y="2276475"/>
          <a:ext cx="67643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2" name="Equation" r:id="rId11" imgW="2705040" imgH="431640" progId="Equation.DSMT4">
                  <p:embed/>
                </p:oleObj>
              </mc:Choice>
              <mc:Fallback>
                <p:oleObj name="Equation" r:id="rId11" imgW="2705040" imgH="431640" progId="Equation.DSMT4">
                  <p:embed/>
                  <p:pic>
                    <p:nvPicPr>
                      <p:cNvPr id="481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2276475"/>
                        <a:ext cx="676433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440124"/>
              </p:ext>
            </p:extLst>
          </p:nvPr>
        </p:nvGraphicFramePr>
        <p:xfrm>
          <a:off x="4311650" y="3336925"/>
          <a:ext cx="30781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3" name="Equation" r:id="rId13" imgW="1231560" imgH="228600" progId="Equation.DSMT4">
                  <p:embed/>
                </p:oleObj>
              </mc:Choice>
              <mc:Fallback>
                <p:oleObj name="Equation" r:id="rId13" imgW="1231560" imgH="228600" progId="Equation.DSMT4">
                  <p:embed/>
                  <p:pic>
                    <p:nvPicPr>
                      <p:cNvPr id="481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1650" y="3336925"/>
                        <a:ext cx="30781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77882"/>
              </p:ext>
            </p:extLst>
          </p:nvPr>
        </p:nvGraphicFramePr>
        <p:xfrm>
          <a:off x="4051300" y="5257800"/>
          <a:ext cx="301466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4" name="Equation" r:id="rId15" imgW="1206360" imgH="393480" progId="Equation.DSMT4">
                  <p:embed/>
                </p:oleObj>
              </mc:Choice>
              <mc:Fallback>
                <p:oleObj name="Equation" r:id="rId15" imgW="1206360" imgH="393480" progId="Equation.DSMT4">
                  <p:embed/>
                  <p:pic>
                    <p:nvPicPr>
                      <p:cNvPr id="481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5257800"/>
                        <a:ext cx="3014663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1717675" y="2128838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970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175</Words>
  <Application>Microsoft Office PowerPoint</Application>
  <PresentationFormat>宽屏</PresentationFormat>
  <Paragraphs>31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宋体</vt:lpstr>
      <vt:lpstr>华文仿宋</vt:lpstr>
      <vt:lpstr>Arial</vt:lpstr>
      <vt:lpstr>Symbol</vt:lpstr>
      <vt:lpstr>Times New Roman</vt:lpstr>
      <vt:lpstr>DSP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30</cp:revision>
  <dcterms:created xsi:type="dcterms:W3CDTF">2020-08-06T07:31:11Z</dcterms:created>
  <dcterms:modified xsi:type="dcterms:W3CDTF">2022-10-02T02:48:13Z</dcterms:modified>
</cp:coreProperties>
</file>