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98" r:id="rId2"/>
  </p:sldMasterIdLst>
  <p:notesMasterIdLst>
    <p:notesMasterId r:id="rId9"/>
  </p:notesMasterIdLst>
  <p:sldIdLst>
    <p:sldId id="346" r:id="rId3"/>
    <p:sldId id="347" r:id="rId4"/>
    <p:sldId id="343" r:id="rId5"/>
    <p:sldId id="344" r:id="rId6"/>
    <p:sldId id="348" r:id="rId7"/>
    <p:sldId id="34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5" autoAdjust="0"/>
    <p:restoredTop sz="94660"/>
  </p:normalViewPr>
  <p:slideViewPr>
    <p:cSldViewPr snapToGrid="0">
      <p:cViewPr varScale="1">
        <p:scale>
          <a:sx n="49" d="100"/>
          <a:sy n="49" d="100"/>
        </p:scale>
        <p:origin x="50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058FF-8803-41B6-8250-B0AAA5482101}" type="datetimeFigureOut">
              <a:rPr lang="zh-CN" altLang="en-US" smtClean="0"/>
              <a:t>2022/10/9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84C1-775B-4727-B9BE-6E8AEA61F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5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B69D0-3BF3-4C26-83B8-3A780F644D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9692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D262B-07AE-4E3F-B480-0A3FB646DD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37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C77BC-BB16-4754-AEF2-51D427CD29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153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2AC54-5E15-4CA5-9D13-83B0D8568A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74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5FB2D-7BB9-42E8-AFCD-36341F1AB2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0498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F6534-B473-4017-9024-713DD81483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350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D0861-1349-410C-8B12-9EF63F476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51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495936-99AE-47A2-A696-4BD073E35E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64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0931A-B180-4FC2-B1F1-B0DB9EA168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129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C0315-42CF-421E-BD1F-92D471BBD0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93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609BC5-EC44-4F48-A539-2FB2C36F35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2315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DE82A54-22DA-410F-ABEF-A148282DD685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522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D4B616D-F430-45A3-B2FD-A074B147F3DA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530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BF25EBD-7889-4D06-A5FA-7ABE535C7BEE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211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9B0306-37BD-4B50-B81E-190F57FEE726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481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D55E9E8-05E8-42F4-8AED-2183AE192781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15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CA4AB3D-7713-4529-927E-9521FA68C7A3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8800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AB772E0-243E-4D7B-BB9A-06DCA235BC98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4213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BBAD808-F593-4881-A275-3766FD759F40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7600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D59A1DF-E25B-4194-BB58-DDFBB6433824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4967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0D9BBDC-2BCC-48D5-9527-AE1DC8D57224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262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90B9C86-C698-4C2D-A9F9-CB9444561DCE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9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endParaRPr lang="zh-CN" altLang="zh-CN"/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24F0BF5-7760-4DED-9C8C-1EB1FB5049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46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C03A3D8-4374-46BE-BE2B-F1E8B64D146B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389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0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3657601" y="152400"/>
            <a:ext cx="5091113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频域采样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Picture 7" descr="2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1" y="1592264"/>
            <a:ext cx="5845175" cy="480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313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3657601" y="122766"/>
            <a:ext cx="5091113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频域采样</a:t>
            </a:r>
            <a:r>
              <a:rPr kumimoji="1"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-DFS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09600" y="161434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离散傅里叶级数（</a:t>
            </a:r>
            <a:r>
              <a:rPr lang="en-US" altLang="zh-CN" dirty="0" smtClean="0"/>
              <a:t>Discrete Fourier Series</a:t>
            </a:r>
            <a:r>
              <a:rPr lang="zh-CN" altLang="en-US" dirty="0" smtClean="0"/>
              <a:t>，</a:t>
            </a:r>
            <a:r>
              <a:rPr lang="en-US" altLang="zh-CN" dirty="0" smtClean="0"/>
              <a:t>DFS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）与（</a:t>
            </a:r>
            <a:r>
              <a:rPr lang="en-US" altLang="zh-CN" dirty="0" smtClean="0"/>
              <a:t>Inverse Discrete Fourier Series</a:t>
            </a:r>
            <a:r>
              <a:rPr lang="zh-CN" altLang="en-US" dirty="0" smtClean="0"/>
              <a:t>，</a:t>
            </a:r>
            <a:r>
              <a:rPr lang="en-US" altLang="zh-CN" dirty="0" smtClean="0"/>
              <a:t>IDFS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</a:t>
            </a:r>
            <a:r>
              <a:rPr lang="zh-CN" altLang="en-US" dirty="0" smtClean="0"/>
              <a:t>⇋离散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1" lang="zh-CN" altLang="en-US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周期序列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IDFS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的基本性质</a:t>
            </a:r>
            <a:endParaRPr kumimoji="1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974" y="3211557"/>
            <a:ext cx="5337960" cy="320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5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16" name="Text Box 20"/>
          <p:cNvSpPr txBox="1">
            <a:spLocks noChangeArrowheads="1"/>
          </p:cNvSpPr>
          <p:nvPr/>
        </p:nvSpPr>
        <p:spPr bwMode="auto">
          <a:xfrm>
            <a:off x="3886200" y="319088"/>
            <a:ext cx="42672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周期序列</a:t>
            </a:r>
            <a:r>
              <a:rPr kumimoji="1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24" name="Rectangle 28"/>
          <p:cNvSpPr>
            <a:spLocks noChangeArrowheads="1"/>
          </p:cNvSpPr>
          <p:nvPr/>
        </p:nvSpPr>
        <p:spPr bwMode="auto">
          <a:xfrm>
            <a:off x="1676400" y="11430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26" name="Text Box 30"/>
          <p:cNvSpPr txBox="1">
            <a:spLocks noChangeArrowheads="1"/>
          </p:cNvSpPr>
          <p:nvPr/>
        </p:nvSpPr>
        <p:spPr bwMode="auto">
          <a:xfrm>
            <a:off x="1992314" y="1557339"/>
            <a:ext cx="7991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任意周期为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的序列         ，可以由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项虚指数序列线性表达，即</a:t>
            </a:r>
          </a:p>
        </p:txBody>
      </p:sp>
      <p:graphicFrame>
        <p:nvGraphicFramePr>
          <p:cNvPr id="4156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572936"/>
              </p:ext>
            </p:extLst>
          </p:nvPr>
        </p:nvGraphicFramePr>
        <p:xfrm>
          <a:off x="2890838" y="2424113"/>
          <a:ext cx="6318250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8" name="Equation" r:id="rId3" imgW="2527200" imgH="444240" progId="Equation.DSMT4">
                  <p:embed/>
                </p:oleObj>
              </mc:Choice>
              <mc:Fallback>
                <p:oleObj name="Equation" r:id="rId3" imgW="2527200" imgH="444240" progId="Equation.DSMT4">
                  <p:embed/>
                  <p:pic>
                    <p:nvPicPr>
                      <p:cNvPr id="4156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2424113"/>
                        <a:ext cx="6318250" cy="110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901343"/>
              </p:ext>
            </p:extLst>
          </p:nvPr>
        </p:nvGraphicFramePr>
        <p:xfrm>
          <a:off x="3336925" y="4460875"/>
          <a:ext cx="530225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9" name="Equation" r:id="rId5" imgW="2120760" imgH="444240" progId="Equation.DSMT4">
                  <p:embed/>
                </p:oleObj>
              </mc:Choice>
              <mc:Fallback>
                <p:oleObj name="Equation" r:id="rId5" imgW="2120760" imgH="444240" progId="Equation.DSMT4">
                  <p:embed/>
                  <p:pic>
                    <p:nvPicPr>
                      <p:cNvPr id="4157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925" y="4460875"/>
                        <a:ext cx="5302250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8" name="Text Box 62"/>
          <p:cNvSpPr txBox="1">
            <a:spLocks noChangeArrowheads="1"/>
          </p:cNvSpPr>
          <p:nvPr/>
        </p:nvSpPr>
        <p:spPr bwMode="auto">
          <a:xfrm>
            <a:off x="1992313" y="3644901"/>
            <a:ext cx="842486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不同的周期序列         对应不同的加权系数</a:t>
            </a:r>
            <a:r>
              <a:rPr kumimoji="1" lang="zh-CN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其计算表达式为</a:t>
            </a:r>
          </a:p>
        </p:txBody>
      </p:sp>
      <p:graphicFrame>
        <p:nvGraphicFramePr>
          <p:cNvPr id="4159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228154"/>
              </p:ext>
            </p:extLst>
          </p:nvPr>
        </p:nvGraphicFramePr>
        <p:xfrm>
          <a:off x="7869238" y="3543300"/>
          <a:ext cx="77311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0" name="Equation" r:id="rId7" imgW="355320" imgH="228600" progId="Equation.DSMT4">
                  <p:embed/>
                </p:oleObj>
              </mc:Choice>
              <mc:Fallback>
                <p:oleObj name="Equation" r:id="rId7" imgW="355320" imgH="228600" progId="Equation.DSMT4">
                  <p:embed/>
                  <p:pic>
                    <p:nvPicPr>
                      <p:cNvPr id="4159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9238" y="3543300"/>
                        <a:ext cx="773112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0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374957"/>
              </p:ext>
            </p:extLst>
          </p:nvPr>
        </p:nvGraphicFramePr>
        <p:xfrm>
          <a:off x="4408488" y="3613150"/>
          <a:ext cx="7302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1" name="Equation" r:id="rId9" imgW="291960" imgH="203040" progId="Equation.DSMT4">
                  <p:embed/>
                </p:oleObj>
              </mc:Choice>
              <mc:Fallback>
                <p:oleObj name="Equation" r:id="rId9" imgW="291960" imgH="203040" progId="Equation.DSMT4">
                  <p:embed/>
                  <p:pic>
                    <p:nvPicPr>
                      <p:cNvPr id="416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8488" y="3613150"/>
                        <a:ext cx="73025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1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534305"/>
              </p:ext>
            </p:extLst>
          </p:nvPr>
        </p:nvGraphicFramePr>
        <p:xfrm>
          <a:off x="5127625" y="1525588"/>
          <a:ext cx="7302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2" name="Equation" r:id="rId11" imgW="291960" imgH="203040" progId="Equation.DSMT4">
                  <p:embed/>
                </p:oleObj>
              </mc:Choice>
              <mc:Fallback>
                <p:oleObj name="Equation" r:id="rId11" imgW="291960" imgH="203040" progId="Equation.DSMT4">
                  <p:embed/>
                  <p:pic>
                    <p:nvPicPr>
                      <p:cNvPr id="4161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25" y="1525588"/>
                        <a:ext cx="7302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2" name="Text Box 66"/>
          <p:cNvSpPr txBox="1">
            <a:spLocks noChangeArrowheads="1"/>
          </p:cNvSpPr>
          <p:nvPr/>
        </p:nvSpPr>
        <p:spPr bwMode="auto">
          <a:xfrm>
            <a:off x="2243138" y="5445126"/>
            <a:ext cx="842486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称为周期序列          的离散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Fourier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级数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(DFS)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endParaRPr kumimoji="1" lang="zh-CN" altLang="en-US" sz="2400" b="0" i="1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也称为周期序列          的频谱。</a:t>
            </a:r>
          </a:p>
        </p:txBody>
      </p:sp>
      <p:graphicFrame>
        <p:nvGraphicFramePr>
          <p:cNvPr id="4163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115932"/>
              </p:ext>
            </p:extLst>
          </p:nvPr>
        </p:nvGraphicFramePr>
        <p:xfrm>
          <a:off x="2901950" y="5360988"/>
          <a:ext cx="774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3" name="Equation" r:id="rId13" imgW="355320" imgH="228600" progId="Equation.DSMT4">
                  <p:embed/>
                </p:oleObj>
              </mc:Choice>
              <mc:Fallback>
                <p:oleObj name="Equation" r:id="rId13" imgW="355320" imgH="228600" progId="Equation.DSMT4">
                  <p:embed/>
                  <p:pic>
                    <p:nvPicPr>
                      <p:cNvPr id="4163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50" y="5360988"/>
                        <a:ext cx="774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4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101461"/>
              </p:ext>
            </p:extLst>
          </p:nvPr>
        </p:nvGraphicFramePr>
        <p:xfrm>
          <a:off x="5416550" y="5413375"/>
          <a:ext cx="7302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4" name="Equation" r:id="rId15" imgW="291960" imgH="203040" progId="Equation.DSMT4">
                  <p:embed/>
                </p:oleObj>
              </mc:Choice>
              <mc:Fallback>
                <p:oleObj name="Equation" r:id="rId15" imgW="291960" imgH="203040" progId="Equation.DSMT4">
                  <p:embed/>
                  <p:pic>
                    <p:nvPicPr>
                      <p:cNvPr id="4164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6550" y="5413375"/>
                        <a:ext cx="73025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5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442219"/>
              </p:ext>
            </p:extLst>
          </p:nvPr>
        </p:nvGraphicFramePr>
        <p:xfrm>
          <a:off x="4676775" y="5978525"/>
          <a:ext cx="7302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5" name="Equation" r:id="rId17" imgW="291960" imgH="203040" progId="Equation.DSMT4">
                  <p:embed/>
                </p:oleObj>
              </mc:Choice>
              <mc:Fallback>
                <p:oleObj name="Equation" r:id="rId17" imgW="291960" imgH="203040" progId="Equation.DSMT4">
                  <p:embed/>
                  <p:pic>
                    <p:nvPicPr>
                      <p:cNvPr id="4165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775" y="5978525"/>
                        <a:ext cx="73025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754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14" name="Text Box 22"/>
          <p:cNvSpPr txBox="1">
            <a:spLocks noChangeArrowheads="1"/>
          </p:cNvSpPr>
          <p:nvPr/>
        </p:nvSpPr>
        <p:spPr bwMode="auto">
          <a:xfrm>
            <a:off x="3071813" y="1268413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周期为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的任意序列</a:t>
            </a:r>
          </a:p>
        </p:txBody>
      </p:sp>
      <p:graphicFrame>
        <p:nvGraphicFramePr>
          <p:cNvPr id="821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354255"/>
              </p:ext>
            </p:extLst>
          </p:nvPr>
        </p:nvGraphicFramePr>
        <p:xfrm>
          <a:off x="2547938" y="3860800"/>
          <a:ext cx="6376987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2" name="Equation" r:id="rId3" imgW="2234880" imgH="444240" progId="Equation.DSMT4">
                  <p:embed/>
                </p:oleObj>
              </mc:Choice>
              <mc:Fallback>
                <p:oleObj name="Equation" r:id="rId3" imgW="2234880" imgH="444240" progId="Equation.DSMT4">
                  <p:embed/>
                  <p:pic>
                    <p:nvPicPr>
                      <p:cNvPr id="821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3860800"/>
                        <a:ext cx="6376987" cy="1106488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252150"/>
              </p:ext>
            </p:extLst>
          </p:nvPr>
        </p:nvGraphicFramePr>
        <p:xfrm>
          <a:off x="2616200" y="2132013"/>
          <a:ext cx="62198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3" name="Equation" r:id="rId5" imgW="2489040" imgH="444240" progId="Equation.DSMT4">
                  <p:embed/>
                </p:oleObj>
              </mc:Choice>
              <mc:Fallback>
                <p:oleObj name="Equation" r:id="rId5" imgW="2489040" imgH="444240" progId="Equation.DSMT4">
                  <p:embed/>
                  <p:pic>
                    <p:nvPicPr>
                      <p:cNvPr id="821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2132013"/>
                        <a:ext cx="6219825" cy="11080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527200"/>
              </p:ext>
            </p:extLst>
          </p:nvPr>
        </p:nvGraphicFramePr>
        <p:xfrm>
          <a:off x="5776913" y="1236663"/>
          <a:ext cx="7302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4" name="Equation" r:id="rId7" imgW="291960" imgH="203040" progId="Equation.DSMT4">
                  <p:embed/>
                </p:oleObj>
              </mc:Choice>
              <mc:Fallback>
                <p:oleObj name="Equation" r:id="rId7" imgW="291960" imgH="203040" progId="Equation.DSMT4">
                  <p:embed/>
                  <p:pic>
                    <p:nvPicPr>
                      <p:cNvPr id="822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913" y="1236663"/>
                        <a:ext cx="7302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1" name="Text Box 29"/>
          <p:cNvSpPr txBox="1">
            <a:spLocks noChangeArrowheads="1"/>
          </p:cNvSpPr>
          <p:nvPr/>
        </p:nvSpPr>
        <p:spPr bwMode="auto">
          <a:xfrm>
            <a:off x="3886200" y="319088"/>
            <a:ext cx="42672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周期序列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IDFS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定义</a:t>
            </a:r>
          </a:p>
        </p:txBody>
      </p:sp>
      <p:sp>
        <p:nvSpPr>
          <p:cNvPr id="8222" name="Rectangle 30"/>
          <p:cNvSpPr>
            <a:spLocks noChangeArrowheads="1"/>
          </p:cNvSpPr>
          <p:nvPr/>
        </p:nvSpPr>
        <p:spPr bwMode="auto">
          <a:xfrm>
            <a:off x="1676400" y="11430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466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818217" y="2432579"/>
            <a:ext cx="798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例：求周期序列                          的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系数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313717"/>
              </p:ext>
            </p:extLst>
          </p:nvPr>
        </p:nvGraphicFramePr>
        <p:xfrm>
          <a:off x="4316413" y="2276475"/>
          <a:ext cx="240982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0" name="Equation" r:id="rId3" imgW="1091880" imgH="393480" progId="Equation.DSMT4">
                  <p:embed/>
                </p:oleObj>
              </mc:Choice>
              <mc:Fallback>
                <p:oleObj name="Equation" r:id="rId3" imgW="1091880" imgH="393480" progId="Equation.DSMT4">
                  <p:embed/>
                  <p:pic>
                    <p:nvPicPr>
                      <p:cNvPr id="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413" y="2276475"/>
                        <a:ext cx="240982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575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847851" y="180446"/>
            <a:ext cx="798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例：求周期序列                          的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DFS</a:t>
            </a:r>
            <a:r>
              <a:rPr kumimoji="1"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系数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256988"/>
              </p:ext>
            </p:extLst>
          </p:nvPr>
        </p:nvGraphicFramePr>
        <p:xfrm>
          <a:off x="3394075" y="1771650"/>
          <a:ext cx="441642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2" name="Equation" r:id="rId3" imgW="1765080" imgH="419040" progId="Equation.DSMT4">
                  <p:embed/>
                </p:oleObj>
              </mc:Choice>
              <mc:Fallback>
                <p:oleObj name="Equation" r:id="rId3" imgW="1765080" imgH="419040" progId="Equation.DSMT4">
                  <p:embed/>
                  <p:pic>
                    <p:nvPicPr>
                      <p:cNvPr id="174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1771650"/>
                        <a:ext cx="4416425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579600"/>
              </p:ext>
            </p:extLst>
          </p:nvPr>
        </p:nvGraphicFramePr>
        <p:xfrm>
          <a:off x="3368675" y="4606925"/>
          <a:ext cx="3300413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3" name="Equation" r:id="rId5" imgW="1320480" imgH="457200" progId="Equation.DSMT4">
                  <p:embed/>
                </p:oleObj>
              </mc:Choice>
              <mc:Fallback>
                <p:oleObj name="Equation" r:id="rId5" imgW="1320480" imgH="457200" progId="Equation.DSMT4">
                  <p:embed/>
                  <p:pic>
                    <p:nvPicPr>
                      <p:cNvPr id="174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4606925"/>
                        <a:ext cx="3300413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5" name="Rectangle 17"/>
          <p:cNvSpPr>
            <a:spLocks noChangeArrowheads="1"/>
          </p:cNvSpPr>
          <p:nvPr/>
        </p:nvSpPr>
        <p:spPr bwMode="auto">
          <a:xfrm>
            <a:off x="1676400" y="9763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1847851" y="1300163"/>
            <a:ext cx="7127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  周期序列</a:t>
            </a:r>
            <a:r>
              <a:rPr kumimoji="1" lang="zh-CN" altLang="en-US" sz="24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的周期为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74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468722"/>
              </p:ext>
            </p:extLst>
          </p:nvPr>
        </p:nvGraphicFramePr>
        <p:xfrm>
          <a:off x="3825875" y="2822575"/>
          <a:ext cx="419735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4" name="Equation" r:id="rId7" imgW="1676160" imgH="419040" progId="Equation.DSMT4">
                  <p:embed/>
                </p:oleObj>
              </mc:Choice>
              <mc:Fallback>
                <p:oleObj name="Equation" r:id="rId7" imgW="1676160" imgH="419040" progId="Equation.DSMT4">
                  <p:embed/>
                  <p:pic>
                    <p:nvPicPr>
                      <p:cNvPr id="174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5" y="2822575"/>
                        <a:ext cx="419735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581240"/>
              </p:ext>
            </p:extLst>
          </p:nvPr>
        </p:nvGraphicFramePr>
        <p:xfrm>
          <a:off x="4316413" y="28575"/>
          <a:ext cx="240982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5" name="Equation" r:id="rId9" imgW="1091880" imgH="393480" progId="Equation.DSMT4">
                  <p:embed/>
                </p:oleObj>
              </mc:Choice>
              <mc:Fallback>
                <p:oleObj name="Equation" r:id="rId9" imgW="1091880" imgH="393480" progId="Equation.DSMT4">
                  <p:embed/>
                  <p:pic>
                    <p:nvPicPr>
                      <p:cNvPr id="1742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413" y="28575"/>
                        <a:ext cx="240982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334729"/>
              </p:ext>
            </p:extLst>
          </p:nvPr>
        </p:nvGraphicFramePr>
        <p:xfrm>
          <a:off x="3813175" y="1127125"/>
          <a:ext cx="240982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6" name="Equation" r:id="rId11" imgW="1091880" imgH="393480" progId="Equation.DSMT4">
                  <p:embed/>
                </p:oleObj>
              </mc:Choice>
              <mc:Fallback>
                <p:oleObj name="Equation" r:id="rId11" imgW="1091880" imgH="393480" progId="Equation.DSMT4">
                  <p:embed/>
                  <p:pic>
                    <p:nvPicPr>
                      <p:cNvPr id="1742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75" y="1127125"/>
                        <a:ext cx="240982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540933" y="4080933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对照</a:t>
            </a:r>
            <a:r>
              <a:rPr lang="en-US" altLang="zh-CN" sz="2400" dirty="0" smtClean="0"/>
              <a:t>IDFS</a:t>
            </a:r>
            <a:r>
              <a:rPr lang="zh-CN" altLang="en-US" sz="2400" dirty="0" smtClean="0"/>
              <a:t>表达式，可以得到</a:t>
            </a:r>
            <a:r>
              <a:rPr lang="en-US" altLang="zh-CN" sz="2400" dirty="0" smtClean="0"/>
              <a:t>DFS</a:t>
            </a:r>
            <a:r>
              <a:rPr lang="zh-CN" altLang="en-US" sz="2400" dirty="0" smtClean="0"/>
              <a:t>系数为：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2923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145</Words>
  <Application>Microsoft Office PowerPoint</Application>
  <PresentationFormat>宽屏</PresentationFormat>
  <Paragraphs>23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等线</vt:lpstr>
      <vt:lpstr>华文仿宋</vt:lpstr>
      <vt:lpstr>宋体</vt:lpstr>
      <vt:lpstr>Arial</vt:lpstr>
      <vt:lpstr>Comic Sans MS</vt:lpstr>
      <vt:lpstr>Times New Roman</vt:lpstr>
      <vt:lpstr>DSP</vt:lpstr>
      <vt:lpstr>1_DSP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离散时间系统的频域分析—傅立叶变换</dc:title>
  <dc:creator>Administrator</dc:creator>
  <cp:lastModifiedBy>Administrator</cp:lastModifiedBy>
  <cp:revision>49</cp:revision>
  <dcterms:created xsi:type="dcterms:W3CDTF">2020-08-06T07:31:11Z</dcterms:created>
  <dcterms:modified xsi:type="dcterms:W3CDTF">2022-10-09T08:59:17Z</dcterms:modified>
</cp:coreProperties>
</file>