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93" r:id="rId2"/>
    <p:sldId id="294" r:id="rId3"/>
    <p:sldId id="295" r:id="rId4"/>
    <p:sldId id="296" r:id="rId5"/>
    <p:sldId id="297" r:id="rId6"/>
    <p:sldId id="298" r:id="rId7"/>
    <p:sldId id="299" r:id="rId8"/>
    <p:sldId id="30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66BD-A5B0-496B-94FC-CB3C101F2C21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ED852-2A16-4DE8-8237-7F151C998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09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709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83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530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409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64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271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234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483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784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77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72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79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69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14339" name="Text Box 1026"/>
          <p:cNvSpPr txBox="1">
            <a:spLocks noChangeArrowheads="1"/>
          </p:cNvSpPr>
          <p:nvPr/>
        </p:nvSpPr>
        <p:spPr bwMode="auto">
          <a:xfrm>
            <a:off x="3505200" y="258764"/>
            <a:ext cx="4800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/>
              <a:t>利用</a:t>
            </a:r>
            <a:r>
              <a:rPr lang="en-US" altLang="zh-CN" sz="3200" b="1"/>
              <a:t>MATLAB </a:t>
            </a:r>
            <a:r>
              <a:rPr lang="zh-CN" altLang="en-US" sz="3200" b="1"/>
              <a:t>产生序列</a:t>
            </a:r>
          </a:p>
        </p:txBody>
      </p:sp>
      <p:sp>
        <p:nvSpPr>
          <p:cNvPr id="14340" name="Text Box 1027"/>
          <p:cNvSpPr txBox="1">
            <a:spLocks noChangeArrowheads="1"/>
          </p:cNvSpPr>
          <p:nvPr/>
        </p:nvSpPr>
        <p:spPr bwMode="auto">
          <a:xfrm>
            <a:off x="2133600" y="13716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/>
              <a:t>MATLAB</a:t>
            </a:r>
            <a:r>
              <a:rPr lang="zh-CN" altLang="en-US" b="1" dirty="0"/>
              <a:t>中的基本函数： </a:t>
            </a:r>
            <a:r>
              <a:rPr lang="en-US" altLang="zh-CN" b="1" dirty="0" err="1"/>
              <a:t>exp</a:t>
            </a:r>
            <a:r>
              <a:rPr lang="en-US" altLang="zh-CN" b="1" dirty="0"/>
              <a:t>,  sin,  cos,  square,  </a:t>
            </a:r>
            <a:r>
              <a:rPr lang="en-US" altLang="zh-CN" b="1" dirty="0" err="1"/>
              <a:t>sawtooth</a:t>
            </a:r>
            <a:endParaRPr lang="en-US" altLang="zh-CN" b="1" dirty="0"/>
          </a:p>
        </p:txBody>
      </p:sp>
      <p:sp>
        <p:nvSpPr>
          <p:cNvPr id="15364" name="Text Box 1028"/>
          <p:cNvSpPr txBox="1">
            <a:spLocks noChangeArrowheads="1"/>
          </p:cNvSpPr>
          <p:nvPr/>
        </p:nvSpPr>
        <p:spPr bwMode="auto">
          <a:xfrm>
            <a:off x="1828800" y="2057400"/>
            <a:ext cx="830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例  </a:t>
            </a:r>
            <a:r>
              <a:rPr lang="zh-CN" altLang="en-US"/>
              <a:t>利用</a:t>
            </a:r>
            <a:r>
              <a:rPr lang="en-US" altLang="zh-CN"/>
              <a:t>MATLAB</a:t>
            </a:r>
            <a:r>
              <a:rPr lang="zh-CN" altLang="en-US"/>
              <a:t>产生指数序列 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]=</a:t>
            </a:r>
            <a:r>
              <a:rPr lang="en-US" altLang="zh-CN" i="1"/>
              <a:t>K</a:t>
            </a:r>
            <a:r>
              <a:rPr lang="en-US" altLang="zh-CN" i="1">
                <a:latin typeface="Symbol" panose="05050102010706020507" pitchFamily="18" charset="2"/>
              </a:rPr>
              <a:t>a</a:t>
            </a:r>
            <a:r>
              <a:rPr lang="en-US" altLang="zh-CN" i="1" baseline="30000"/>
              <a:t>k</a:t>
            </a:r>
            <a:r>
              <a:rPr lang="en-US" altLang="zh-CN" i="1"/>
              <a:t>u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</a:p>
        </p:txBody>
      </p:sp>
      <p:sp>
        <p:nvSpPr>
          <p:cNvPr id="15373" name="Text Box 1037"/>
          <p:cNvSpPr txBox="1">
            <a:spLocks noChangeArrowheads="1"/>
          </p:cNvSpPr>
          <p:nvPr/>
        </p:nvSpPr>
        <p:spPr bwMode="auto">
          <a:xfrm>
            <a:off x="2209800" y="2854325"/>
            <a:ext cx="8077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a = input('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输入指数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a = ');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K = input('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输入常数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K = ');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N = input ('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输入序列长度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N = ');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k = 0:N;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x = K*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a.^k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stem(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k,x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('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时间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');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('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幅度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');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title(['\alpha =  ',num2str(a)]);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2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537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20"/>
          <p:cNvSpPr>
            <a:spLocks noChangeArrowheads="1"/>
          </p:cNvSpPr>
          <p:nvPr/>
        </p:nvSpPr>
        <p:spPr bwMode="auto">
          <a:xfrm>
            <a:off x="2844800" y="1812640"/>
            <a:ext cx="6338887" cy="3644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4" name="Rectangle 121"/>
          <p:cNvSpPr>
            <a:spLocks noChangeArrowheads="1"/>
          </p:cNvSpPr>
          <p:nvPr/>
        </p:nvSpPr>
        <p:spPr bwMode="auto">
          <a:xfrm>
            <a:off x="2889250" y="1668202"/>
            <a:ext cx="6338888" cy="3644900"/>
          </a:xfrm>
          <a:prstGeom prst="rect">
            <a:avLst/>
          </a:prstGeom>
          <a:noFill/>
          <a:ln w="14288" cap="rnd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5" name="Line 122"/>
          <p:cNvSpPr>
            <a:spLocks noChangeShapeType="1"/>
          </p:cNvSpPr>
          <p:nvPr/>
        </p:nvSpPr>
        <p:spPr bwMode="auto">
          <a:xfrm>
            <a:off x="2889250" y="5313102"/>
            <a:ext cx="633888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Line 123"/>
          <p:cNvSpPr>
            <a:spLocks noChangeShapeType="1"/>
          </p:cNvSpPr>
          <p:nvPr/>
        </p:nvSpPr>
        <p:spPr bwMode="auto">
          <a:xfrm>
            <a:off x="2889250" y="1668202"/>
            <a:ext cx="633888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124"/>
          <p:cNvSpPr>
            <a:spLocks noChangeShapeType="1"/>
          </p:cNvSpPr>
          <p:nvPr/>
        </p:nvSpPr>
        <p:spPr bwMode="auto">
          <a:xfrm flipV="1">
            <a:off x="2889250" y="1668202"/>
            <a:ext cx="1588" cy="364490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125"/>
          <p:cNvSpPr>
            <a:spLocks noChangeShapeType="1"/>
          </p:cNvSpPr>
          <p:nvPr/>
        </p:nvSpPr>
        <p:spPr bwMode="auto">
          <a:xfrm flipV="1">
            <a:off x="9228139" y="1668202"/>
            <a:ext cx="1587" cy="364490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9" name="Line 126"/>
          <p:cNvSpPr>
            <a:spLocks noChangeShapeType="1"/>
          </p:cNvSpPr>
          <p:nvPr/>
        </p:nvSpPr>
        <p:spPr bwMode="auto">
          <a:xfrm>
            <a:off x="2889250" y="5313102"/>
            <a:ext cx="633888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0" name="Line 127"/>
          <p:cNvSpPr>
            <a:spLocks noChangeShapeType="1"/>
          </p:cNvSpPr>
          <p:nvPr/>
        </p:nvSpPr>
        <p:spPr bwMode="auto">
          <a:xfrm flipV="1">
            <a:off x="2889250" y="1668202"/>
            <a:ext cx="1588" cy="364490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Line 128"/>
          <p:cNvSpPr>
            <a:spLocks noChangeShapeType="1"/>
          </p:cNvSpPr>
          <p:nvPr/>
        </p:nvSpPr>
        <p:spPr bwMode="auto">
          <a:xfrm flipV="1">
            <a:off x="2889250" y="5254366"/>
            <a:ext cx="1588" cy="5873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Line 129"/>
          <p:cNvSpPr>
            <a:spLocks noChangeShapeType="1"/>
          </p:cNvSpPr>
          <p:nvPr/>
        </p:nvSpPr>
        <p:spPr bwMode="auto">
          <a:xfrm>
            <a:off x="2889250" y="1668202"/>
            <a:ext cx="1588" cy="5715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3" name="Rectangle 130"/>
          <p:cNvSpPr>
            <a:spLocks noChangeArrowheads="1"/>
          </p:cNvSpPr>
          <p:nvPr/>
        </p:nvSpPr>
        <p:spPr bwMode="auto">
          <a:xfrm>
            <a:off x="2883174" y="537660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zh-CN"/>
          </a:p>
        </p:txBody>
      </p:sp>
      <p:sp>
        <p:nvSpPr>
          <p:cNvPr id="15374" name="Line 131"/>
          <p:cNvSpPr>
            <a:spLocks noChangeShapeType="1"/>
          </p:cNvSpPr>
          <p:nvPr/>
        </p:nvSpPr>
        <p:spPr bwMode="auto">
          <a:xfrm flipV="1">
            <a:off x="3943350" y="5254366"/>
            <a:ext cx="1588" cy="5873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5" name="Line 132"/>
          <p:cNvSpPr>
            <a:spLocks noChangeShapeType="1"/>
          </p:cNvSpPr>
          <p:nvPr/>
        </p:nvSpPr>
        <p:spPr bwMode="auto">
          <a:xfrm>
            <a:off x="3943350" y="1668202"/>
            <a:ext cx="1588" cy="5715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6" name="Rectangle 133"/>
          <p:cNvSpPr>
            <a:spLocks noChangeArrowheads="1"/>
          </p:cNvSpPr>
          <p:nvPr/>
        </p:nvSpPr>
        <p:spPr bwMode="auto">
          <a:xfrm>
            <a:off x="3938862" y="5376602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zh-CN"/>
          </a:p>
        </p:txBody>
      </p:sp>
      <p:sp>
        <p:nvSpPr>
          <p:cNvPr id="15377" name="Line 134"/>
          <p:cNvSpPr>
            <a:spLocks noChangeShapeType="1"/>
          </p:cNvSpPr>
          <p:nvPr/>
        </p:nvSpPr>
        <p:spPr bwMode="auto">
          <a:xfrm flipV="1">
            <a:off x="4997450" y="5254366"/>
            <a:ext cx="1588" cy="5873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8" name="Line 135"/>
          <p:cNvSpPr>
            <a:spLocks noChangeShapeType="1"/>
          </p:cNvSpPr>
          <p:nvPr/>
        </p:nvSpPr>
        <p:spPr bwMode="auto">
          <a:xfrm>
            <a:off x="4997450" y="1668202"/>
            <a:ext cx="1588" cy="5715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9" name="Rectangle 136"/>
          <p:cNvSpPr>
            <a:spLocks noChangeArrowheads="1"/>
          </p:cNvSpPr>
          <p:nvPr/>
        </p:nvSpPr>
        <p:spPr bwMode="auto">
          <a:xfrm>
            <a:off x="4939261" y="5376602"/>
            <a:ext cx="2148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endParaRPr lang="en-US" altLang="zh-CN"/>
          </a:p>
        </p:txBody>
      </p:sp>
      <p:sp>
        <p:nvSpPr>
          <p:cNvPr id="15380" name="Line 137"/>
          <p:cNvSpPr>
            <a:spLocks noChangeShapeType="1"/>
          </p:cNvSpPr>
          <p:nvPr/>
        </p:nvSpPr>
        <p:spPr bwMode="auto">
          <a:xfrm flipV="1">
            <a:off x="6065839" y="5254366"/>
            <a:ext cx="1587" cy="5873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1" name="Line 138"/>
          <p:cNvSpPr>
            <a:spLocks noChangeShapeType="1"/>
          </p:cNvSpPr>
          <p:nvPr/>
        </p:nvSpPr>
        <p:spPr bwMode="auto">
          <a:xfrm>
            <a:off x="6065839" y="1668202"/>
            <a:ext cx="1587" cy="5715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2" name="Rectangle 139"/>
          <p:cNvSpPr>
            <a:spLocks noChangeArrowheads="1"/>
          </p:cNvSpPr>
          <p:nvPr/>
        </p:nvSpPr>
        <p:spPr bwMode="auto">
          <a:xfrm>
            <a:off x="6007649" y="5376602"/>
            <a:ext cx="2148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15</a:t>
            </a:r>
            <a:endParaRPr lang="en-US" altLang="zh-CN"/>
          </a:p>
        </p:txBody>
      </p:sp>
      <p:sp>
        <p:nvSpPr>
          <p:cNvPr id="15383" name="Line 140"/>
          <p:cNvSpPr>
            <a:spLocks noChangeShapeType="1"/>
          </p:cNvSpPr>
          <p:nvPr/>
        </p:nvSpPr>
        <p:spPr bwMode="auto">
          <a:xfrm flipV="1">
            <a:off x="7119939" y="5254366"/>
            <a:ext cx="1587" cy="5873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4" name="Line 141"/>
          <p:cNvSpPr>
            <a:spLocks noChangeShapeType="1"/>
          </p:cNvSpPr>
          <p:nvPr/>
        </p:nvSpPr>
        <p:spPr bwMode="auto">
          <a:xfrm>
            <a:off x="7119939" y="1668202"/>
            <a:ext cx="1587" cy="5715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5" name="Rectangle 142"/>
          <p:cNvSpPr>
            <a:spLocks noChangeArrowheads="1"/>
          </p:cNvSpPr>
          <p:nvPr/>
        </p:nvSpPr>
        <p:spPr bwMode="auto">
          <a:xfrm>
            <a:off x="7061749" y="5376602"/>
            <a:ext cx="2148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  <a:endParaRPr lang="en-US" altLang="zh-CN"/>
          </a:p>
        </p:txBody>
      </p:sp>
      <p:sp>
        <p:nvSpPr>
          <p:cNvPr id="15386" name="Line 143"/>
          <p:cNvSpPr>
            <a:spLocks noChangeShapeType="1"/>
          </p:cNvSpPr>
          <p:nvPr/>
        </p:nvSpPr>
        <p:spPr bwMode="auto">
          <a:xfrm flipV="1">
            <a:off x="8174039" y="5254366"/>
            <a:ext cx="1587" cy="5873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7" name="Line 144"/>
          <p:cNvSpPr>
            <a:spLocks noChangeShapeType="1"/>
          </p:cNvSpPr>
          <p:nvPr/>
        </p:nvSpPr>
        <p:spPr bwMode="auto">
          <a:xfrm>
            <a:off x="8174039" y="1668202"/>
            <a:ext cx="1587" cy="5715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8" name="Rectangle 145"/>
          <p:cNvSpPr>
            <a:spLocks noChangeArrowheads="1"/>
          </p:cNvSpPr>
          <p:nvPr/>
        </p:nvSpPr>
        <p:spPr bwMode="auto">
          <a:xfrm>
            <a:off x="8115849" y="5376602"/>
            <a:ext cx="2148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  <a:endParaRPr lang="en-US" altLang="zh-CN"/>
          </a:p>
        </p:txBody>
      </p:sp>
      <p:sp>
        <p:nvSpPr>
          <p:cNvPr id="15389" name="Line 146"/>
          <p:cNvSpPr>
            <a:spLocks noChangeShapeType="1"/>
          </p:cNvSpPr>
          <p:nvPr/>
        </p:nvSpPr>
        <p:spPr bwMode="auto">
          <a:xfrm flipV="1">
            <a:off x="9228139" y="5254366"/>
            <a:ext cx="1587" cy="5873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0" name="Line 147"/>
          <p:cNvSpPr>
            <a:spLocks noChangeShapeType="1"/>
          </p:cNvSpPr>
          <p:nvPr/>
        </p:nvSpPr>
        <p:spPr bwMode="auto">
          <a:xfrm>
            <a:off x="9228139" y="1668202"/>
            <a:ext cx="1587" cy="5715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1" name="Rectangle 148"/>
          <p:cNvSpPr>
            <a:spLocks noChangeArrowheads="1"/>
          </p:cNvSpPr>
          <p:nvPr/>
        </p:nvSpPr>
        <p:spPr bwMode="auto">
          <a:xfrm>
            <a:off x="9169949" y="5376602"/>
            <a:ext cx="2148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  <a:endParaRPr lang="en-US" altLang="zh-CN"/>
          </a:p>
        </p:txBody>
      </p:sp>
      <p:sp>
        <p:nvSpPr>
          <p:cNvPr id="15392" name="Line 149"/>
          <p:cNvSpPr>
            <a:spLocks noChangeShapeType="1"/>
          </p:cNvSpPr>
          <p:nvPr/>
        </p:nvSpPr>
        <p:spPr bwMode="auto">
          <a:xfrm>
            <a:off x="2889250" y="5313102"/>
            <a:ext cx="5873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3" name="Line 150"/>
          <p:cNvSpPr>
            <a:spLocks noChangeShapeType="1"/>
          </p:cNvSpPr>
          <p:nvPr/>
        </p:nvSpPr>
        <p:spPr bwMode="auto">
          <a:xfrm flipH="1">
            <a:off x="9170988" y="5313102"/>
            <a:ext cx="57150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4" name="Rectangle 151"/>
          <p:cNvSpPr>
            <a:spLocks noChangeArrowheads="1"/>
          </p:cNvSpPr>
          <p:nvPr/>
        </p:nvSpPr>
        <p:spPr bwMode="auto">
          <a:xfrm>
            <a:off x="2767287" y="520039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zh-CN"/>
          </a:p>
        </p:txBody>
      </p:sp>
      <p:sp>
        <p:nvSpPr>
          <p:cNvPr id="15395" name="Line 152"/>
          <p:cNvSpPr>
            <a:spLocks noChangeShapeType="1"/>
          </p:cNvSpPr>
          <p:nvPr/>
        </p:nvSpPr>
        <p:spPr bwMode="auto">
          <a:xfrm>
            <a:off x="2889250" y="4405052"/>
            <a:ext cx="5873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6" name="Line 153"/>
          <p:cNvSpPr>
            <a:spLocks noChangeShapeType="1"/>
          </p:cNvSpPr>
          <p:nvPr/>
        </p:nvSpPr>
        <p:spPr bwMode="auto">
          <a:xfrm flipH="1">
            <a:off x="9170988" y="4405052"/>
            <a:ext cx="57150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7" name="Rectangle 154"/>
          <p:cNvSpPr>
            <a:spLocks noChangeArrowheads="1"/>
          </p:cNvSpPr>
          <p:nvPr/>
        </p:nvSpPr>
        <p:spPr bwMode="auto">
          <a:xfrm>
            <a:off x="2605380" y="4293927"/>
            <a:ext cx="2677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  <a:endParaRPr lang="en-US" altLang="zh-CN"/>
          </a:p>
        </p:txBody>
      </p:sp>
      <p:sp>
        <p:nvSpPr>
          <p:cNvPr id="15398" name="Line 155"/>
          <p:cNvSpPr>
            <a:spLocks noChangeShapeType="1"/>
          </p:cNvSpPr>
          <p:nvPr/>
        </p:nvSpPr>
        <p:spPr bwMode="auto">
          <a:xfrm>
            <a:off x="2889250" y="3497002"/>
            <a:ext cx="5873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9" name="Line 156"/>
          <p:cNvSpPr>
            <a:spLocks noChangeShapeType="1"/>
          </p:cNvSpPr>
          <p:nvPr/>
        </p:nvSpPr>
        <p:spPr bwMode="auto">
          <a:xfrm flipH="1">
            <a:off x="9170988" y="3497002"/>
            <a:ext cx="57150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0" name="Rectangle 157"/>
          <p:cNvSpPr>
            <a:spLocks noChangeArrowheads="1"/>
          </p:cNvSpPr>
          <p:nvPr/>
        </p:nvSpPr>
        <p:spPr bwMode="auto">
          <a:xfrm>
            <a:off x="2767287" y="3385877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/>
          </a:p>
        </p:txBody>
      </p:sp>
      <p:sp>
        <p:nvSpPr>
          <p:cNvPr id="15401" name="Line 158"/>
          <p:cNvSpPr>
            <a:spLocks noChangeShapeType="1"/>
          </p:cNvSpPr>
          <p:nvPr/>
        </p:nvSpPr>
        <p:spPr bwMode="auto">
          <a:xfrm>
            <a:off x="2889250" y="2574666"/>
            <a:ext cx="58738" cy="158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2" name="Line 159"/>
          <p:cNvSpPr>
            <a:spLocks noChangeShapeType="1"/>
          </p:cNvSpPr>
          <p:nvPr/>
        </p:nvSpPr>
        <p:spPr bwMode="auto">
          <a:xfrm flipH="1">
            <a:off x="9170988" y="2574666"/>
            <a:ext cx="57150" cy="1587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3" name="Rectangle 160"/>
          <p:cNvSpPr>
            <a:spLocks noChangeArrowheads="1"/>
          </p:cNvSpPr>
          <p:nvPr/>
        </p:nvSpPr>
        <p:spPr bwMode="auto">
          <a:xfrm>
            <a:off x="2605380" y="2463540"/>
            <a:ext cx="2677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  <a:endParaRPr lang="en-US" altLang="zh-CN"/>
          </a:p>
        </p:txBody>
      </p:sp>
      <p:sp>
        <p:nvSpPr>
          <p:cNvPr id="15404" name="Line 161"/>
          <p:cNvSpPr>
            <a:spLocks noChangeShapeType="1"/>
          </p:cNvSpPr>
          <p:nvPr/>
        </p:nvSpPr>
        <p:spPr bwMode="auto">
          <a:xfrm>
            <a:off x="2889250" y="1668202"/>
            <a:ext cx="5873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5" name="Line 162"/>
          <p:cNvSpPr>
            <a:spLocks noChangeShapeType="1"/>
          </p:cNvSpPr>
          <p:nvPr/>
        </p:nvSpPr>
        <p:spPr bwMode="auto">
          <a:xfrm flipH="1">
            <a:off x="9170988" y="1668202"/>
            <a:ext cx="57150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6" name="Rectangle 163"/>
          <p:cNvSpPr>
            <a:spLocks noChangeArrowheads="1"/>
          </p:cNvSpPr>
          <p:nvPr/>
        </p:nvSpPr>
        <p:spPr bwMode="auto">
          <a:xfrm>
            <a:off x="2767287" y="1555490"/>
            <a:ext cx="10740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/>
          </a:p>
        </p:txBody>
      </p:sp>
      <p:sp>
        <p:nvSpPr>
          <p:cNvPr id="15407" name="Line 164"/>
          <p:cNvSpPr>
            <a:spLocks noChangeShapeType="1"/>
          </p:cNvSpPr>
          <p:nvPr/>
        </p:nvSpPr>
        <p:spPr bwMode="auto">
          <a:xfrm>
            <a:off x="2889250" y="5313102"/>
            <a:ext cx="6338888" cy="1588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8" name="Line 165"/>
          <p:cNvSpPr>
            <a:spLocks noChangeShapeType="1"/>
          </p:cNvSpPr>
          <p:nvPr/>
        </p:nvSpPr>
        <p:spPr bwMode="auto">
          <a:xfrm flipV="1">
            <a:off x="2889250" y="1668202"/>
            <a:ext cx="1588" cy="364490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9" name="Line 166"/>
          <p:cNvSpPr>
            <a:spLocks noChangeShapeType="1"/>
          </p:cNvSpPr>
          <p:nvPr/>
        </p:nvSpPr>
        <p:spPr bwMode="auto">
          <a:xfrm flipV="1">
            <a:off x="9228139" y="1668202"/>
            <a:ext cx="1587" cy="3644900"/>
          </a:xfrm>
          <a:prstGeom prst="line">
            <a:avLst/>
          </a:prstGeom>
          <a:noFill/>
          <a:ln w="142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10" name="Oval 167"/>
          <p:cNvSpPr>
            <a:spLocks noChangeArrowheads="1"/>
          </p:cNvSpPr>
          <p:nvPr/>
        </p:nvSpPr>
        <p:spPr bwMode="auto">
          <a:xfrm>
            <a:off x="2844800" y="1623752"/>
            <a:ext cx="103188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1" name="Oval 168"/>
          <p:cNvSpPr>
            <a:spLocks noChangeArrowheads="1"/>
          </p:cNvSpPr>
          <p:nvPr/>
        </p:nvSpPr>
        <p:spPr bwMode="auto">
          <a:xfrm>
            <a:off x="3049589" y="1988877"/>
            <a:ext cx="103187" cy="103188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2" name="Oval 169"/>
          <p:cNvSpPr>
            <a:spLocks noChangeArrowheads="1"/>
          </p:cNvSpPr>
          <p:nvPr/>
        </p:nvSpPr>
        <p:spPr bwMode="auto">
          <a:xfrm>
            <a:off x="3270250" y="2311141"/>
            <a:ext cx="101600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3" name="Oval 170"/>
          <p:cNvSpPr>
            <a:spLocks noChangeArrowheads="1"/>
          </p:cNvSpPr>
          <p:nvPr/>
        </p:nvSpPr>
        <p:spPr bwMode="auto">
          <a:xfrm>
            <a:off x="3475038" y="2604827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4" name="Oval 171"/>
          <p:cNvSpPr>
            <a:spLocks noChangeArrowheads="1"/>
          </p:cNvSpPr>
          <p:nvPr/>
        </p:nvSpPr>
        <p:spPr bwMode="auto">
          <a:xfrm>
            <a:off x="3694114" y="2882641"/>
            <a:ext cx="103187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5" name="Oval 172"/>
          <p:cNvSpPr>
            <a:spLocks noChangeArrowheads="1"/>
          </p:cNvSpPr>
          <p:nvPr/>
        </p:nvSpPr>
        <p:spPr bwMode="auto">
          <a:xfrm>
            <a:off x="3898900" y="3117590"/>
            <a:ext cx="103188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6" name="Oval 173"/>
          <p:cNvSpPr>
            <a:spLocks noChangeArrowheads="1"/>
          </p:cNvSpPr>
          <p:nvPr/>
        </p:nvSpPr>
        <p:spPr bwMode="auto">
          <a:xfrm>
            <a:off x="4119563" y="3336665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7" name="Oval 174"/>
          <p:cNvSpPr>
            <a:spLocks noChangeArrowheads="1"/>
          </p:cNvSpPr>
          <p:nvPr/>
        </p:nvSpPr>
        <p:spPr bwMode="auto">
          <a:xfrm>
            <a:off x="4324350" y="3527165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8" name="Oval 175"/>
          <p:cNvSpPr>
            <a:spLocks noChangeArrowheads="1"/>
          </p:cNvSpPr>
          <p:nvPr/>
        </p:nvSpPr>
        <p:spPr bwMode="auto">
          <a:xfrm>
            <a:off x="4529138" y="3701791"/>
            <a:ext cx="101600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19" name="Oval 176"/>
          <p:cNvSpPr>
            <a:spLocks noChangeArrowheads="1"/>
          </p:cNvSpPr>
          <p:nvPr/>
        </p:nvSpPr>
        <p:spPr bwMode="auto">
          <a:xfrm>
            <a:off x="4748214" y="3863715"/>
            <a:ext cx="103187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0" name="Oval 177"/>
          <p:cNvSpPr>
            <a:spLocks noChangeArrowheads="1"/>
          </p:cNvSpPr>
          <p:nvPr/>
        </p:nvSpPr>
        <p:spPr bwMode="auto">
          <a:xfrm>
            <a:off x="4953000" y="3995477"/>
            <a:ext cx="103188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1" name="Oval 178"/>
          <p:cNvSpPr>
            <a:spLocks noChangeArrowheads="1"/>
          </p:cNvSpPr>
          <p:nvPr/>
        </p:nvSpPr>
        <p:spPr bwMode="auto">
          <a:xfrm>
            <a:off x="5173663" y="4127240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2" name="Oval 179"/>
          <p:cNvSpPr>
            <a:spLocks noChangeArrowheads="1"/>
          </p:cNvSpPr>
          <p:nvPr/>
        </p:nvSpPr>
        <p:spPr bwMode="auto">
          <a:xfrm>
            <a:off x="5378450" y="4244715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3" name="Oval 180"/>
          <p:cNvSpPr>
            <a:spLocks noChangeArrowheads="1"/>
          </p:cNvSpPr>
          <p:nvPr/>
        </p:nvSpPr>
        <p:spPr bwMode="auto">
          <a:xfrm>
            <a:off x="5597525" y="4346316"/>
            <a:ext cx="103188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4" name="Oval 181"/>
          <p:cNvSpPr>
            <a:spLocks noChangeArrowheads="1"/>
          </p:cNvSpPr>
          <p:nvPr/>
        </p:nvSpPr>
        <p:spPr bwMode="auto">
          <a:xfrm>
            <a:off x="5802314" y="4435215"/>
            <a:ext cx="103187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5" name="Oval 182"/>
          <p:cNvSpPr>
            <a:spLocks noChangeArrowheads="1"/>
          </p:cNvSpPr>
          <p:nvPr/>
        </p:nvSpPr>
        <p:spPr bwMode="auto">
          <a:xfrm>
            <a:off x="6022975" y="4522527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6" name="Oval 183"/>
          <p:cNvSpPr>
            <a:spLocks noChangeArrowheads="1"/>
          </p:cNvSpPr>
          <p:nvPr/>
        </p:nvSpPr>
        <p:spPr bwMode="auto">
          <a:xfrm>
            <a:off x="6227763" y="4595552"/>
            <a:ext cx="101600" cy="103188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7" name="Oval 184"/>
          <p:cNvSpPr>
            <a:spLocks noChangeArrowheads="1"/>
          </p:cNvSpPr>
          <p:nvPr/>
        </p:nvSpPr>
        <p:spPr bwMode="auto">
          <a:xfrm>
            <a:off x="6432550" y="4654290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8" name="Oval 185"/>
          <p:cNvSpPr>
            <a:spLocks noChangeArrowheads="1"/>
          </p:cNvSpPr>
          <p:nvPr/>
        </p:nvSpPr>
        <p:spPr bwMode="auto">
          <a:xfrm>
            <a:off x="6651625" y="4727316"/>
            <a:ext cx="103188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29" name="Oval 186"/>
          <p:cNvSpPr>
            <a:spLocks noChangeArrowheads="1"/>
          </p:cNvSpPr>
          <p:nvPr/>
        </p:nvSpPr>
        <p:spPr bwMode="auto">
          <a:xfrm>
            <a:off x="6856414" y="4771765"/>
            <a:ext cx="103187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0" name="Oval 187"/>
          <p:cNvSpPr>
            <a:spLocks noChangeArrowheads="1"/>
          </p:cNvSpPr>
          <p:nvPr/>
        </p:nvSpPr>
        <p:spPr bwMode="auto">
          <a:xfrm>
            <a:off x="7077075" y="4830502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1" name="Oval 188"/>
          <p:cNvSpPr>
            <a:spLocks noChangeArrowheads="1"/>
          </p:cNvSpPr>
          <p:nvPr/>
        </p:nvSpPr>
        <p:spPr bwMode="auto">
          <a:xfrm>
            <a:off x="7281863" y="4873366"/>
            <a:ext cx="101600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2" name="Oval 189"/>
          <p:cNvSpPr>
            <a:spLocks noChangeArrowheads="1"/>
          </p:cNvSpPr>
          <p:nvPr/>
        </p:nvSpPr>
        <p:spPr bwMode="auto">
          <a:xfrm>
            <a:off x="7500939" y="4903527"/>
            <a:ext cx="103187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3" name="Oval 190"/>
          <p:cNvSpPr>
            <a:spLocks noChangeArrowheads="1"/>
          </p:cNvSpPr>
          <p:nvPr/>
        </p:nvSpPr>
        <p:spPr bwMode="auto">
          <a:xfrm>
            <a:off x="7705725" y="4946391"/>
            <a:ext cx="103188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4" name="Oval 191"/>
          <p:cNvSpPr>
            <a:spLocks noChangeArrowheads="1"/>
          </p:cNvSpPr>
          <p:nvPr/>
        </p:nvSpPr>
        <p:spPr bwMode="auto">
          <a:xfrm>
            <a:off x="7910514" y="4976552"/>
            <a:ext cx="103187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5" name="Oval 192"/>
          <p:cNvSpPr>
            <a:spLocks noChangeArrowheads="1"/>
          </p:cNvSpPr>
          <p:nvPr/>
        </p:nvSpPr>
        <p:spPr bwMode="auto">
          <a:xfrm>
            <a:off x="8131175" y="5005127"/>
            <a:ext cx="101600" cy="103188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6" name="Oval 193"/>
          <p:cNvSpPr>
            <a:spLocks noChangeArrowheads="1"/>
          </p:cNvSpPr>
          <p:nvPr/>
        </p:nvSpPr>
        <p:spPr bwMode="auto">
          <a:xfrm>
            <a:off x="8335963" y="5035290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7" name="Oval 194"/>
          <p:cNvSpPr>
            <a:spLocks noChangeArrowheads="1"/>
          </p:cNvSpPr>
          <p:nvPr/>
        </p:nvSpPr>
        <p:spPr bwMode="auto">
          <a:xfrm>
            <a:off x="8555039" y="5063866"/>
            <a:ext cx="103187" cy="103187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8" name="Oval 195"/>
          <p:cNvSpPr>
            <a:spLocks noChangeArrowheads="1"/>
          </p:cNvSpPr>
          <p:nvPr/>
        </p:nvSpPr>
        <p:spPr bwMode="auto">
          <a:xfrm>
            <a:off x="8759825" y="5078152"/>
            <a:ext cx="103188" cy="103188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39" name="Oval 196"/>
          <p:cNvSpPr>
            <a:spLocks noChangeArrowheads="1"/>
          </p:cNvSpPr>
          <p:nvPr/>
        </p:nvSpPr>
        <p:spPr bwMode="auto">
          <a:xfrm>
            <a:off x="8980488" y="5094027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40" name="Oval 197"/>
          <p:cNvSpPr>
            <a:spLocks noChangeArrowheads="1"/>
          </p:cNvSpPr>
          <p:nvPr/>
        </p:nvSpPr>
        <p:spPr bwMode="auto">
          <a:xfrm>
            <a:off x="9185275" y="5108315"/>
            <a:ext cx="101600" cy="101600"/>
          </a:xfrm>
          <a:prstGeom prst="ellips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441" name="Line 198"/>
          <p:cNvSpPr>
            <a:spLocks noChangeShapeType="1"/>
          </p:cNvSpPr>
          <p:nvPr/>
        </p:nvSpPr>
        <p:spPr bwMode="auto">
          <a:xfrm flipV="1">
            <a:off x="2889250" y="1668202"/>
            <a:ext cx="1588" cy="3644900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2" name="Line 199"/>
          <p:cNvSpPr>
            <a:spLocks noChangeShapeType="1"/>
          </p:cNvSpPr>
          <p:nvPr/>
        </p:nvSpPr>
        <p:spPr bwMode="auto">
          <a:xfrm flipV="1">
            <a:off x="3094039" y="2033328"/>
            <a:ext cx="1587" cy="327977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3" name="Line 200"/>
          <p:cNvSpPr>
            <a:spLocks noChangeShapeType="1"/>
          </p:cNvSpPr>
          <p:nvPr/>
        </p:nvSpPr>
        <p:spPr bwMode="auto">
          <a:xfrm flipV="1">
            <a:off x="3313114" y="2355590"/>
            <a:ext cx="1587" cy="295751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4" name="Line 201"/>
          <p:cNvSpPr>
            <a:spLocks noChangeShapeType="1"/>
          </p:cNvSpPr>
          <p:nvPr/>
        </p:nvSpPr>
        <p:spPr bwMode="auto">
          <a:xfrm flipV="1">
            <a:off x="3517900" y="2647690"/>
            <a:ext cx="1588" cy="266541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5" name="Line 202"/>
          <p:cNvSpPr>
            <a:spLocks noChangeShapeType="1"/>
          </p:cNvSpPr>
          <p:nvPr/>
        </p:nvSpPr>
        <p:spPr bwMode="auto">
          <a:xfrm flipV="1">
            <a:off x="3738564" y="2927090"/>
            <a:ext cx="1587" cy="238601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6" name="Line 203"/>
          <p:cNvSpPr>
            <a:spLocks noChangeShapeType="1"/>
          </p:cNvSpPr>
          <p:nvPr/>
        </p:nvSpPr>
        <p:spPr bwMode="auto">
          <a:xfrm flipV="1">
            <a:off x="3943350" y="3160452"/>
            <a:ext cx="1588" cy="2152650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7" name="Line 204"/>
          <p:cNvSpPr>
            <a:spLocks noChangeShapeType="1"/>
          </p:cNvSpPr>
          <p:nvPr/>
        </p:nvSpPr>
        <p:spPr bwMode="auto">
          <a:xfrm flipV="1">
            <a:off x="4162425" y="3381116"/>
            <a:ext cx="1588" cy="193198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8" name="Line 205"/>
          <p:cNvSpPr>
            <a:spLocks noChangeShapeType="1"/>
          </p:cNvSpPr>
          <p:nvPr/>
        </p:nvSpPr>
        <p:spPr bwMode="auto">
          <a:xfrm flipV="1">
            <a:off x="4367214" y="3570028"/>
            <a:ext cx="1587" cy="174307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49" name="Line 206"/>
          <p:cNvSpPr>
            <a:spLocks noChangeShapeType="1"/>
          </p:cNvSpPr>
          <p:nvPr/>
        </p:nvSpPr>
        <p:spPr bwMode="auto">
          <a:xfrm flipV="1">
            <a:off x="4573589" y="3746240"/>
            <a:ext cx="1587" cy="156686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0" name="Line 207"/>
          <p:cNvSpPr>
            <a:spLocks noChangeShapeType="1"/>
          </p:cNvSpPr>
          <p:nvPr/>
        </p:nvSpPr>
        <p:spPr bwMode="auto">
          <a:xfrm flipV="1">
            <a:off x="4792664" y="3908166"/>
            <a:ext cx="1587" cy="140493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1" name="Line 208"/>
          <p:cNvSpPr>
            <a:spLocks noChangeShapeType="1"/>
          </p:cNvSpPr>
          <p:nvPr/>
        </p:nvSpPr>
        <p:spPr bwMode="auto">
          <a:xfrm flipV="1">
            <a:off x="4997450" y="4039928"/>
            <a:ext cx="1588" cy="127317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2" name="Line 209"/>
          <p:cNvSpPr>
            <a:spLocks noChangeShapeType="1"/>
          </p:cNvSpPr>
          <p:nvPr/>
        </p:nvSpPr>
        <p:spPr bwMode="auto">
          <a:xfrm flipV="1">
            <a:off x="5216525" y="4171690"/>
            <a:ext cx="1588" cy="114141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3" name="Line 210"/>
          <p:cNvSpPr>
            <a:spLocks noChangeShapeType="1"/>
          </p:cNvSpPr>
          <p:nvPr/>
        </p:nvSpPr>
        <p:spPr bwMode="auto">
          <a:xfrm flipV="1">
            <a:off x="5421314" y="4287578"/>
            <a:ext cx="1587" cy="102552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4" name="Line 211"/>
          <p:cNvSpPr>
            <a:spLocks noChangeShapeType="1"/>
          </p:cNvSpPr>
          <p:nvPr/>
        </p:nvSpPr>
        <p:spPr bwMode="auto">
          <a:xfrm flipV="1">
            <a:off x="5641975" y="4390766"/>
            <a:ext cx="1588" cy="92233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5" name="Line 212"/>
          <p:cNvSpPr>
            <a:spLocks noChangeShapeType="1"/>
          </p:cNvSpPr>
          <p:nvPr/>
        </p:nvSpPr>
        <p:spPr bwMode="auto">
          <a:xfrm flipV="1">
            <a:off x="5846764" y="4478078"/>
            <a:ext cx="1587" cy="83502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6" name="Line 213"/>
          <p:cNvSpPr>
            <a:spLocks noChangeShapeType="1"/>
          </p:cNvSpPr>
          <p:nvPr/>
        </p:nvSpPr>
        <p:spPr bwMode="auto">
          <a:xfrm flipV="1">
            <a:off x="6065839" y="4566978"/>
            <a:ext cx="1587" cy="74612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7" name="Line 214"/>
          <p:cNvSpPr>
            <a:spLocks noChangeShapeType="1"/>
          </p:cNvSpPr>
          <p:nvPr/>
        </p:nvSpPr>
        <p:spPr bwMode="auto">
          <a:xfrm flipV="1">
            <a:off x="6270625" y="4640002"/>
            <a:ext cx="1588" cy="673100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8" name="Line 215"/>
          <p:cNvSpPr>
            <a:spLocks noChangeShapeType="1"/>
          </p:cNvSpPr>
          <p:nvPr/>
        </p:nvSpPr>
        <p:spPr bwMode="auto">
          <a:xfrm flipV="1">
            <a:off x="6477000" y="4698740"/>
            <a:ext cx="1588" cy="61436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59" name="Line 216"/>
          <p:cNvSpPr>
            <a:spLocks noChangeShapeType="1"/>
          </p:cNvSpPr>
          <p:nvPr/>
        </p:nvSpPr>
        <p:spPr bwMode="auto">
          <a:xfrm flipV="1">
            <a:off x="6696075" y="4771766"/>
            <a:ext cx="1588" cy="54133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0" name="Line 217"/>
          <p:cNvSpPr>
            <a:spLocks noChangeShapeType="1"/>
          </p:cNvSpPr>
          <p:nvPr/>
        </p:nvSpPr>
        <p:spPr bwMode="auto">
          <a:xfrm flipV="1">
            <a:off x="6900864" y="4814628"/>
            <a:ext cx="1587" cy="49847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1" name="Line 218"/>
          <p:cNvSpPr>
            <a:spLocks noChangeShapeType="1"/>
          </p:cNvSpPr>
          <p:nvPr/>
        </p:nvSpPr>
        <p:spPr bwMode="auto">
          <a:xfrm flipV="1">
            <a:off x="7119939" y="4873366"/>
            <a:ext cx="1587" cy="43973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2" name="Line 219"/>
          <p:cNvSpPr>
            <a:spLocks noChangeShapeType="1"/>
          </p:cNvSpPr>
          <p:nvPr/>
        </p:nvSpPr>
        <p:spPr bwMode="auto">
          <a:xfrm flipV="1">
            <a:off x="7324725" y="4917816"/>
            <a:ext cx="1588" cy="39528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3" name="Line 220"/>
          <p:cNvSpPr>
            <a:spLocks noChangeShapeType="1"/>
          </p:cNvSpPr>
          <p:nvPr/>
        </p:nvSpPr>
        <p:spPr bwMode="auto">
          <a:xfrm flipV="1">
            <a:off x="7545389" y="4946390"/>
            <a:ext cx="1587" cy="36671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" name="Line 221"/>
          <p:cNvSpPr>
            <a:spLocks noChangeShapeType="1"/>
          </p:cNvSpPr>
          <p:nvPr/>
        </p:nvSpPr>
        <p:spPr bwMode="auto">
          <a:xfrm flipV="1">
            <a:off x="7750175" y="4990840"/>
            <a:ext cx="1588" cy="32226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" name="Line 222"/>
          <p:cNvSpPr>
            <a:spLocks noChangeShapeType="1"/>
          </p:cNvSpPr>
          <p:nvPr/>
        </p:nvSpPr>
        <p:spPr bwMode="auto">
          <a:xfrm flipV="1">
            <a:off x="7954964" y="5021002"/>
            <a:ext cx="1587" cy="292100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6" name="Line 223"/>
          <p:cNvSpPr>
            <a:spLocks noChangeShapeType="1"/>
          </p:cNvSpPr>
          <p:nvPr/>
        </p:nvSpPr>
        <p:spPr bwMode="auto">
          <a:xfrm flipV="1">
            <a:off x="8174039" y="5049578"/>
            <a:ext cx="1587" cy="263525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7" name="Line 224"/>
          <p:cNvSpPr>
            <a:spLocks noChangeShapeType="1"/>
          </p:cNvSpPr>
          <p:nvPr/>
        </p:nvSpPr>
        <p:spPr bwMode="auto">
          <a:xfrm flipV="1">
            <a:off x="8380414" y="5078152"/>
            <a:ext cx="1587" cy="234950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8" name="Line 225"/>
          <p:cNvSpPr>
            <a:spLocks noChangeShapeType="1"/>
          </p:cNvSpPr>
          <p:nvPr/>
        </p:nvSpPr>
        <p:spPr bwMode="auto">
          <a:xfrm flipV="1">
            <a:off x="8599489" y="5108316"/>
            <a:ext cx="1587" cy="20478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9" name="Line 226"/>
          <p:cNvSpPr>
            <a:spLocks noChangeShapeType="1"/>
          </p:cNvSpPr>
          <p:nvPr/>
        </p:nvSpPr>
        <p:spPr bwMode="auto">
          <a:xfrm flipV="1">
            <a:off x="8804275" y="5122602"/>
            <a:ext cx="1588" cy="190500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70" name="Line 227"/>
          <p:cNvSpPr>
            <a:spLocks noChangeShapeType="1"/>
          </p:cNvSpPr>
          <p:nvPr/>
        </p:nvSpPr>
        <p:spPr bwMode="auto">
          <a:xfrm flipV="1">
            <a:off x="9023350" y="5136890"/>
            <a:ext cx="1588" cy="176212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71" name="Line 228"/>
          <p:cNvSpPr>
            <a:spLocks noChangeShapeType="1"/>
          </p:cNvSpPr>
          <p:nvPr/>
        </p:nvSpPr>
        <p:spPr bwMode="auto">
          <a:xfrm flipV="1">
            <a:off x="9228139" y="5152766"/>
            <a:ext cx="1587" cy="160337"/>
          </a:xfrm>
          <a:prstGeom prst="line">
            <a:avLst/>
          </a:prstGeom>
          <a:noFill/>
          <a:ln w="14288" cap="rnd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72" name="Rectangle 229"/>
          <p:cNvSpPr>
            <a:spLocks noChangeArrowheads="1"/>
          </p:cNvSpPr>
          <p:nvPr/>
        </p:nvSpPr>
        <p:spPr bwMode="auto">
          <a:xfrm>
            <a:off x="5811566" y="5627427"/>
            <a:ext cx="3847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1500">
                <a:solidFill>
                  <a:srgbClr val="000000"/>
                </a:solidFill>
                <a:latin typeface="宋体" panose="02010600030101010101" pitchFamily="2" charset="-122"/>
              </a:rPr>
              <a:t>时间</a:t>
            </a:r>
            <a:endParaRPr lang="zh-CN" altLang="en-US"/>
          </a:p>
        </p:txBody>
      </p:sp>
      <p:sp>
        <p:nvSpPr>
          <p:cNvPr id="15474" name="Rectangle 232"/>
          <p:cNvSpPr>
            <a:spLocks noChangeArrowheads="1"/>
          </p:cNvSpPr>
          <p:nvPr/>
        </p:nvSpPr>
        <p:spPr bwMode="auto">
          <a:xfrm rot="16200000">
            <a:off x="2372383" y="3313324"/>
            <a:ext cx="19236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1500">
                <a:solidFill>
                  <a:srgbClr val="000000"/>
                </a:solidFill>
                <a:latin typeface="宋体" panose="02010600030101010101" pitchFamily="2" charset="-122"/>
              </a:rPr>
              <a:t>幅</a:t>
            </a:r>
            <a:endParaRPr lang="zh-CN" altLang="en-US"/>
          </a:p>
        </p:txBody>
      </p:sp>
      <p:sp>
        <p:nvSpPr>
          <p:cNvPr id="15475" name="Rectangle 233"/>
          <p:cNvSpPr>
            <a:spLocks noChangeArrowheads="1"/>
          </p:cNvSpPr>
          <p:nvPr/>
        </p:nvSpPr>
        <p:spPr bwMode="auto">
          <a:xfrm rot="16200000">
            <a:off x="2372382" y="3164893"/>
            <a:ext cx="19236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1500">
                <a:solidFill>
                  <a:srgbClr val="000000"/>
                </a:solidFill>
                <a:latin typeface="宋体" panose="02010600030101010101" pitchFamily="2" charset="-122"/>
              </a:rPr>
              <a:t>度</a:t>
            </a:r>
            <a:endParaRPr lang="zh-CN" altLang="en-US"/>
          </a:p>
        </p:txBody>
      </p:sp>
      <p:sp>
        <p:nvSpPr>
          <p:cNvPr id="15476" name="Text Box 236"/>
          <p:cNvSpPr txBox="1">
            <a:spLocks noChangeArrowheads="1"/>
          </p:cNvSpPr>
          <p:nvPr/>
        </p:nvSpPr>
        <p:spPr bwMode="auto">
          <a:xfrm>
            <a:off x="2208213" y="5873421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 dirty="0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3300"/>
                </a:solidFill>
              </a:rPr>
              <a:t>=0.9, </a:t>
            </a:r>
            <a:r>
              <a:rPr lang="en-US" altLang="zh-CN" i="1" dirty="0">
                <a:solidFill>
                  <a:srgbClr val="FF3300"/>
                </a:solidFill>
              </a:rPr>
              <a:t>K</a:t>
            </a:r>
            <a:r>
              <a:rPr lang="en-US" altLang="zh-CN" dirty="0">
                <a:solidFill>
                  <a:srgbClr val="FF3300"/>
                </a:solidFill>
              </a:rPr>
              <a:t>=2, </a:t>
            </a:r>
            <a:r>
              <a:rPr lang="en-US" altLang="zh-CN" i="1" dirty="0">
                <a:solidFill>
                  <a:srgbClr val="FF3300"/>
                </a:solidFill>
              </a:rPr>
              <a:t>N</a:t>
            </a:r>
            <a:r>
              <a:rPr lang="en-US" altLang="zh-CN" dirty="0">
                <a:solidFill>
                  <a:srgbClr val="FF3300"/>
                </a:solidFill>
              </a:rPr>
              <a:t>=30</a:t>
            </a:r>
            <a:r>
              <a:rPr lang="zh-CN" altLang="zh-CN" dirty="0">
                <a:solidFill>
                  <a:srgbClr val="FF3300"/>
                </a:solidFill>
              </a:rPr>
              <a:t>的指数序列</a:t>
            </a:r>
            <a:endParaRPr lang="zh-CN" altLang="en-US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08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16387" name="Text Box 11"/>
          <p:cNvSpPr txBox="1">
            <a:spLocks noChangeArrowheads="1"/>
          </p:cNvSpPr>
          <p:nvPr/>
        </p:nvSpPr>
        <p:spPr bwMode="auto">
          <a:xfrm>
            <a:off x="3124200" y="182564"/>
            <a:ext cx="586740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/>
              <a:t>序列的基本运算</a:t>
            </a:r>
          </a:p>
        </p:txBody>
      </p:sp>
      <p:sp>
        <p:nvSpPr>
          <p:cNvPr id="16388" name="Text Box 12"/>
          <p:cNvSpPr txBox="1">
            <a:spLocks noChangeArrowheads="1"/>
          </p:cNvSpPr>
          <p:nvPr/>
        </p:nvSpPr>
        <p:spPr bwMode="auto">
          <a:xfrm>
            <a:off x="1905000" y="1285875"/>
            <a:ext cx="815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accent2"/>
                </a:solidFill>
              </a:rPr>
              <a:t>(1) </a:t>
            </a:r>
            <a:r>
              <a:rPr lang="zh-CN" altLang="en-US">
                <a:solidFill>
                  <a:schemeClr val="accent2"/>
                </a:solidFill>
              </a:rPr>
              <a:t>翻转</a:t>
            </a:r>
            <a:r>
              <a:rPr lang="en-US" altLang="zh-CN">
                <a:solidFill>
                  <a:schemeClr val="accent2"/>
                </a:solidFill>
              </a:rPr>
              <a:t>(time reversal)</a:t>
            </a:r>
            <a:r>
              <a:rPr lang="en-US" altLang="zh-CN" i="1"/>
              <a:t>      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>
                <a:latin typeface="Symbol" panose="05050102010706020507" pitchFamily="18" charset="2"/>
              </a:rPr>
              <a:t>-</a:t>
            </a:r>
            <a:r>
              <a:rPr lang="en-US" altLang="zh-CN" i="1"/>
              <a:t>k</a:t>
            </a:r>
            <a:r>
              <a:rPr lang="en-US" altLang="zh-CN"/>
              <a:t>]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905000" y="1971675"/>
            <a:ext cx="571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accent2"/>
                </a:solidFill>
              </a:rPr>
              <a:t>(2) </a:t>
            </a:r>
            <a:r>
              <a:rPr lang="zh-CN" altLang="en-US">
                <a:solidFill>
                  <a:schemeClr val="accent2"/>
                </a:solidFill>
              </a:rPr>
              <a:t>位移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zh-CN" altLang="en-US">
                <a:solidFill>
                  <a:schemeClr val="accent2"/>
                </a:solidFill>
              </a:rPr>
              <a:t>延迟</a:t>
            </a:r>
            <a:r>
              <a:rPr lang="en-US" altLang="zh-CN">
                <a:solidFill>
                  <a:schemeClr val="accent2"/>
                </a:solidFill>
              </a:rPr>
              <a:t>)</a:t>
            </a:r>
            <a:r>
              <a:rPr lang="en-US" altLang="zh-CN"/>
              <a:t>                    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/>
              <a:t> 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>
                <a:latin typeface="Symbol" panose="05050102010706020507" pitchFamily="18" charset="2"/>
              </a:rPr>
              <a:t>-</a:t>
            </a:r>
            <a:r>
              <a:rPr lang="en-US" altLang="zh-CN" i="1"/>
              <a:t>N</a:t>
            </a:r>
            <a:r>
              <a:rPr lang="en-US" altLang="zh-CN"/>
              <a:t>]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1905000" y="2733675"/>
            <a:ext cx="815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>
                <a:solidFill>
                  <a:schemeClr val="accent2"/>
                </a:solidFill>
              </a:rPr>
              <a:t>(3) </a:t>
            </a:r>
            <a:r>
              <a:rPr lang="zh-CN" altLang="en-US">
                <a:solidFill>
                  <a:schemeClr val="accent2"/>
                </a:solidFill>
              </a:rPr>
              <a:t>抽取</a:t>
            </a:r>
            <a:r>
              <a:rPr lang="en-US" altLang="zh-CN">
                <a:solidFill>
                  <a:schemeClr val="accent2"/>
                </a:solidFill>
              </a:rPr>
              <a:t>(decimation)	</a:t>
            </a:r>
            <a:r>
              <a:rPr lang="en-US" altLang="zh-CN"/>
              <a:t>     </a:t>
            </a:r>
            <a:r>
              <a:rPr lang="en-US" altLang="zh-CN" i="1"/>
              <a:t>   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/>
              <a:t> x</a:t>
            </a:r>
            <a:r>
              <a:rPr lang="en-US" altLang="zh-CN"/>
              <a:t>[</a:t>
            </a:r>
            <a:r>
              <a:rPr lang="en-US" altLang="zh-CN" i="1"/>
              <a:t>Mk</a:t>
            </a:r>
            <a:r>
              <a:rPr lang="en-US" altLang="zh-CN"/>
              <a:t>]</a:t>
            </a:r>
            <a:r>
              <a:rPr lang="en-US" altLang="zh-CN" i="1"/>
              <a:t> </a:t>
            </a:r>
            <a:endParaRPr lang="en-US" altLang="zh-CN"/>
          </a:p>
        </p:txBody>
      </p:sp>
      <p:sp>
        <p:nvSpPr>
          <p:cNvPr id="16391" name="Text Box 19"/>
          <p:cNvSpPr txBox="1">
            <a:spLocks noChangeArrowheads="1"/>
          </p:cNvSpPr>
          <p:nvPr/>
        </p:nvSpPr>
        <p:spPr bwMode="auto">
          <a:xfrm>
            <a:off x="1919288" y="3500439"/>
            <a:ext cx="3048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>
                <a:solidFill>
                  <a:schemeClr val="accent2"/>
                </a:solidFill>
              </a:rPr>
              <a:t>(4) </a:t>
            </a:r>
            <a:r>
              <a:rPr lang="zh-CN" altLang="en-US">
                <a:solidFill>
                  <a:schemeClr val="accent2"/>
                </a:solidFill>
              </a:rPr>
              <a:t>内插</a:t>
            </a:r>
            <a:r>
              <a:rPr lang="en-US" altLang="zh-CN">
                <a:solidFill>
                  <a:schemeClr val="accent2"/>
                </a:solidFill>
              </a:rPr>
              <a:t>(interpolation)</a:t>
            </a:r>
            <a:r>
              <a:rPr lang="en-US" altLang="zh-CN"/>
              <a:t>	</a:t>
            </a:r>
          </a:p>
        </p:txBody>
      </p:sp>
      <p:graphicFrame>
        <p:nvGraphicFramePr>
          <p:cNvPr id="16392" name="Object 20"/>
          <p:cNvGraphicFramePr>
            <a:graphicFrameLocks noChangeAspect="1"/>
          </p:cNvGraphicFramePr>
          <p:nvPr/>
        </p:nvGraphicFramePr>
        <p:xfrm>
          <a:off x="5303839" y="3429001"/>
          <a:ext cx="39846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公式" r:id="rId3" imgW="1993900" imgH="444500" progId="Equation.3">
                  <p:embed/>
                </p:oleObj>
              </mc:Choice>
              <mc:Fallback>
                <p:oleObj name="公式" r:id="rId3" imgW="1993900" imgH="444500" progId="Equation.3">
                  <p:embed/>
                  <p:pic>
                    <p:nvPicPr>
                      <p:cNvPr id="1639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9" y="3429001"/>
                        <a:ext cx="39846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21"/>
          <p:cNvSpPr txBox="1">
            <a:spLocks noChangeArrowheads="1"/>
          </p:cNvSpPr>
          <p:nvPr/>
        </p:nvSpPr>
        <p:spPr bwMode="auto">
          <a:xfrm>
            <a:off x="1992314" y="4365625"/>
            <a:ext cx="3240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>
                <a:solidFill>
                  <a:schemeClr val="accent2"/>
                </a:solidFill>
              </a:rPr>
              <a:t>(5) </a:t>
            </a:r>
            <a:r>
              <a:rPr lang="zh-CN" altLang="en-US">
                <a:solidFill>
                  <a:schemeClr val="accent2"/>
                </a:solidFill>
              </a:rPr>
              <a:t>卷积</a:t>
            </a:r>
            <a:r>
              <a:rPr lang="en-US" altLang="zh-CN">
                <a:solidFill>
                  <a:schemeClr val="accent2"/>
                </a:solidFill>
              </a:rPr>
              <a:t>(convolution)</a:t>
            </a:r>
            <a:r>
              <a:rPr lang="en-US" altLang="zh-CN"/>
              <a:t> </a:t>
            </a:r>
          </a:p>
        </p:txBody>
      </p:sp>
      <p:graphicFrame>
        <p:nvGraphicFramePr>
          <p:cNvPr id="16394" name="Object 22"/>
          <p:cNvGraphicFramePr>
            <a:graphicFrameLocks noChangeAspect="1"/>
          </p:cNvGraphicFramePr>
          <p:nvPr/>
        </p:nvGraphicFramePr>
        <p:xfrm>
          <a:off x="5303838" y="4365626"/>
          <a:ext cx="374491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公式" r:id="rId5" imgW="1637589" imgH="291973" progId="Equation.3">
                  <p:embed/>
                </p:oleObj>
              </mc:Choice>
              <mc:Fallback>
                <p:oleObj name="公式" r:id="rId5" imgW="1637589" imgH="291973" progId="Equation.3">
                  <p:embed/>
                  <p:pic>
                    <p:nvPicPr>
                      <p:cNvPr id="1639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4365626"/>
                        <a:ext cx="374491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Text Box 27"/>
          <p:cNvSpPr txBox="1">
            <a:spLocks noChangeArrowheads="1"/>
          </p:cNvSpPr>
          <p:nvPr/>
        </p:nvSpPr>
        <p:spPr bwMode="auto">
          <a:xfrm>
            <a:off x="2063750" y="5229225"/>
            <a:ext cx="324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>
                <a:solidFill>
                  <a:schemeClr val="accent2"/>
                </a:solidFill>
              </a:rPr>
              <a:t>(6) </a:t>
            </a:r>
            <a:r>
              <a:rPr lang="zh-CN" altLang="en-US">
                <a:solidFill>
                  <a:schemeClr val="accent2"/>
                </a:solidFill>
              </a:rPr>
              <a:t>相关</a:t>
            </a:r>
            <a:r>
              <a:rPr lang="en-US" altLang="zh-CN">
                <a:solidFill>
                  <a:schemeClr val="accent2"/>
                </a:solidFill>
              </a:rPr>
              <a:t>(correlation)</a:t>
            </a:r>
            <a:r>
              <a:rPr lang="en-US" altLang="zh-CN"/>
              <a:t> </a:t>
            </a:r>
          </a:p>
        </p:txBody>
      </p:sp>
      <p:graphicFrame>
        <p:nvGraphicFramePr>
          <p:cNvPr id="16397" name="Object 28"/>
          <p:cNvGraphicFramePr>
            <a:graphicFrameLocks noChangeAspect="1"/>
          </p:cNvGraphicFramePr>
          <p:nvPr/>
        </p:nvGraphicFramePr>
        <p:xfrm>
          <a:off x="5303838" y="5157789"/>
          <a:ext cx="374491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公式" r:id="rId7" imgW="1536033" imgH="266584" progId="Equation.3">
                  <p:embed/>
                </p:oleObj>
              </mc:Choice>
              <mc:Fallback>
                <p:oleObj name="公式" r:id="rId7" imgW="1536033" imgH="266584" progId="Equation.3">
                  <p:embed/>
                  <p:pic>
                    <p:nvPicPr>
                      <p:cNvPr id="1639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5157789"/>
                        <a:ext cx="3744912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588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3" grpId="0" autoUpdateAnimBg="0"/>
      <p:bldP spid="718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1774825" y="1543579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例：</a:t>
            </a:r>
            <a:r>
              <a:rPr lang="zh-CN" altLang="en-US" dirty="0"/>
              <a:t>已知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 </a:t>
            </a:r>
            <a:r>
              <a:rPr lang="en-US" altLang="zh-CN" dirty="0">
                <a:latin typeface="Symbol" panose="05050102010706020507" pitchFamily="18" charset="2"/>
              </a:rPr>
              <a:t>* </a:t>
            </a:r>
            <a:r>
              <a:rPr lang="en-US" altLang="zh-CN" i="1" dirty="0"/>
              <a:t> x</a:t>
            </a:r>
            <a:r>
              <a:rPr lang="en-US" altLang="zh-CN" baseline="-25000" dirty="0"/>
              <a:t>2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]=</a:t>
            </a:r>
            <a:r>
              <a:rPr lang="en-US" altLang="zh-CN" i="1" dirty="0"/>
              <a:t> y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</a:t>
            </a:r>
            <a:r>
              <a:rPr lang="zh-CN" altLang="en-US" dirty="0"/>
              <a:t>，试求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]=</a:t>
            </a:r>
            <a:r>
              <a:rPr lang="en-US" altLang="zh-CN" i="1" dirty="0"/>
              <a:t> 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k</a:t>
            </a:r>
            <a:r>
              <a:rPr lang="en-US" altLang="zh-CN" dirty="0" smtClean="0">
                <a:latin typeface="Symbol" panose="05050102010706020507" pitchFamily="18" charset="2"/>
              </a:rPr>
              <a:t>-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] </a:t>
            </a:r>
            <a:r>
              <a:rPr lang="en-US" altLang="zh-CN" dirty="0">
                <a:latin typeface="Symbol" panose="05050102010706020507" pitchFamily="18" charset="2"/>
              </a:rPr>
              <a:t>* </a:t>
            </a:r>
            <a:r>
              <a:rPr lang="en-US" altLang="zh-CN" i="1" dirty="0"/>
              <a:t> </a:t>
            </a:r>
            <a:r>
              <a:rPr lang="en-US" altLang="zh-CN" i="1" dirty="0" smtClean="0"/>
              <a:t>x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k</a:t>
            </a:r>
            <a:r>
              <a:rPr lang="en-US" altLang="zh-CN" dirty="0" smtClean="0">
                <a:latin typeface="Symbol" panose="05050102010706020507" pitchFamily="18" charset="2"/>
              </a:rPr>
              <a:t>-</a:t>
            </a:r>
            <a:r>
              <a:rPr lang="en-US" altLang="zh-CN" i="1" dirty="0" smtClean="0"/>
              <a:t>m</a:t>
            </a:r>
            <a:r>
              <a:rPr lang="en-US" altLang="zh-CN" dirty="0" smtClean="0"/>
              <a:t>]</a:t>
            </a:r>
            <a:r>
              <a:rPr lang="zh-CN" altLang="en-US" dirty="0"/>
              <a:t>。</a:t>
            </a:r>
            <a:r>
              <a:rPr lang="zh-CN" altLang="en-US" i="1" dirty="0"/>
              <a:t>     </a:t>
            </a:r>
            <a:endParaRPr lang="zh-CN" altLang="en-US" dirty="0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774825" y="2046816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解：</a:t>
            </a:r>
            <a:r>
              <a:rPr lang="zh-CN" altLang="en-US" i="1" dirty="0"/>
              <a:t> 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]=</a:t>
            </a:r>
            <a:r>
              <a:rPr lang="en-US" altLang="zh-CN" i="1" dirty="0"/>
              <a:t> y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>
                <a:latin typeface="Symbol" panose="05050102010706020507" pitchFamily="18" charset="2"/>
              </a:rPr>
              <a:t>-(</a:t>
            </a:r>
            <a:r>
              <a:rPr lang="en-US" altLang="zh-CN" i="1" dirty="0" err="1"/>
              <a:t>m</a:t>
            </a:r>
            <a:r>
              <a:rPr lang="en-US" altLang="zh-CN" dirty="0" err="1"/>
              <a:t>+</a:t>
            </a:r>
            <a:r>
              <a:rPr lang="en-US" altLang="zh-CN" i="1" dirty="0" err="1"/>
              <a:t>n</a:t>
            </a:r>
            <a:r>
              <a:rPr lang="en-US" altLang="zh-CN" dirty="0"/>
              <a:t>)]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1828800" y="2678114"/>
            <a:ext cx="883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例：</a:t>
            </a:r>
            <a:r>
              <a:rPr lang="en-US" altLang="zh-CN" i="1"/>
              <a:t>x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 </a:t>
            </a:r>
            <a:r>
              <a:rPr lang="zh-CN" altLang="en-US"/>
              <a:t>非零范围为  </a:t>
            </a:r>
            <a:r>
              <a:rPr lang="en-US" altLang="zh-CN" i="1"/>
              <a:t>N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/>
              <a:t> </a:t>
            </a:r>
            <a:r>
              <a:rPr lang="en-US" altLang="zh-CN" i="1"/>
              <a:t>k 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/>
              <a:t> </a:t>
            </a:r>
            <a:r>
              <a:rPr lang="en-US" altLang="zh-CN" i="1"/>
              <a:t>N</a:t>
            </a:r>
            <a:r>
              <a:rPr lang="en-US" altLang="zh-CN" baseline="-25000"/>
              <a:t>2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zh-CN" altLang="en-US" i="1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h</a:t>
            </a:r>
            <a:r>
              <a:rPr lang="en-US" altLang="zh-CN">
                <a:solidFill>
                  <a:srgbClr val="000000"/>
                </a:solidFill>
              </a:rPr>
              <a:t>[</a:t>
            </a:r>
            <a:r>
              <a:rPr lang="en-US" altLang="zh-CN" i="1">
                <a:solidFill>
                  <a:srgbClr val="000000"/>
                </a:solidFill>
              </a:rPr>
              <a:t>k</a:t>
            </a:r>
            <a:r>
              <a:rPr lang="en-US" altLang="zh-CN">
                <a:solidFill>
                  <a:srgbClr val="000000"/>
                </a:solidFill>
              </a:rPr>
              <a:t>] </a:t>
            </a:r>
            <a:r>
              <a:rPr lang="zh-CN" altLang="en-US">
                <a:solidFill>
                  <a:srgbClr val="000000"/>
                </a:solidFill>
              </a:rPr>
              <a:t>的非零范围为  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-25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k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-25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求： </a:t>
            </a:r>
            <a:r>
              <a:rPr lang="en-US" altLang="zh-CN" i="1"/>
              <a:t>y</a:t>
            </a:r>
            <a:r>
              <a:rPr lang="en-US" altLang="zh-CN"/>
              <a:t>[</a:t>
            </a:r>
            <a:r>
              <a:rPr lang="en-US" altLang="zh-CN" i="1"/>
              <a:t>k</a:t>
            </a:r>
            <a:r>
              <a:rPr lang="en-US" altLang="zh-CN"/>
              <a:t>]=</a:t>
            </a:r>
            <a:r>
              <a:rPr lang="en-US" altLang="zh-CN" i="1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</a:rPr>
              <a:t>[</a:t>
            </a:r>
            <a:r>
              <a:rPr lang="en-US" altLang="zh-CN" i="1">
                <a:solidFill>
                  <a:srgbClr val="000000"/>
                </a:solidFill>
              </a:rPr>
              <a:t>k</a:t>
            </a:r>
            <a:r>
              <a:rPr lang="en-US" altLang="zh-CN">
                <a:solidFill>
                  <a:srgbClr val="000000"/>
                </a:solidFill>
              </a:rPr>
              <a:t>]</a:t>
            </a:r>
            <a:r>
              <a:rPr lang="en-US" altLang="zh-CN">
                <a:solidFill>
                  <a:srgbClr val="000000"/>
                </a:solidFill>
                <a:latin typeface="Symbol" panose="05050102010706020507" pitchFamily="18" charset="2"/>
              </a:rPr>
              <a:t>*</a:t>
            </a:r>
            <a:r>
              <a:rPr lang="en-US" altLang="zh-CN" i="1">
                <a:solidFill>
                  <a:srgbClr val="000000"/>
                </a:solidFill>
              </a:rPr>
              <a:t> h</a:t>
            </a:r>
            <a:r>
              <a:rPr lang="en-US" altLang="zh-CN">
                <a:solidFill>
                  <a:srgbClr val="000000"/>
                </a:solidFill>
              </a:rPr>
              <a:t>[</a:t>
            </a:r>
            <a:r>
              <a:rPr lang="en-US" altLang="zh-CN" i="1">
                <a:solidFill>
                  <a:srgbClr val="000000"/>
                </a:solidFill>
              </a:rPr>
              <a:t>k</a:t>
            </a:r>
            <a:r>
              <a:rPr lang="en-US" altLang="zh-CN">
                <a:solidFill>
                  <a:srgbClr val="000000"/>
                </a:solidFill>
              </a:rPr>
              <a:t>]</a:t>
            </a:r>
            <a:r>
              <a:rPr lang="zh-CN" altLang="en-US">
                <a:solidFill>
                  <a:srgbClr val="000000"/>
                </a:solidFill>
              </a:rPr>
              <a:t>的非零范围</a:t>
            </a:r>
            <a:r>
              <a:rPr lang="zh-CN" altLang="en-US" i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1774825" y="3848629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 </a:t>
            </a:r>
            <a:r>
              <a:rPr lang="zh-CN" altLang="en-US" b="1"/>
              <a:t>解：</a:t>
            </a:r>
            <a:r>
              <a:rPr lang="en-US" altLang="zh-CN" i="1"/>
              <a:t>N</a:t>
            </a:r>
            <a:r>
              <a:rPr lang="en-US" altLang="zh-CN" baseline="-25000"/>
              <a:t>1</a:t>
            </a:r>
            <a:r>
              <a:rPr lang="en-US" altLang="zh-CN">
                <a:latin typeface="Symbol" panose="05050102010706020507" pitchFamily="18" charset="2"/>
              </a:rPr>
              <a:t>+</a:t>
            </a:r>
            <a:r>
              <a:rPr lang="en-US" altLang="zh-CN" i="1"/>
              <a:t>N</a:t>
            </a:r>
            <a:r>
              <a:rPr lang="en-US" altLang="zh-CN" baseline="-25000"/>
              <a:t>3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/>
              <a:t> </a:t>
            </a:r>
            <a:r>
              <a:rPr lang="en-US" altLang="zh-CN" i="1"/>
              <a:t>k 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/>
              <a:t> 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-25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-250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3575051" y="188914"/>
            <a:ext cx="38893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/>
              <a:t>序列卷积的基本特性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1847850" y="4783667"/>
            <a:ext cx="8351838" cy="1200329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 </a:t>
            </a:r>
            <a:r>
              <a:rPr lang="zh-CN" altLang="en-US" b="1">
                <a:solidFill>
                  <a:srgbClr val="FF3300"/>
                </a:solidFill>
              </a:rPr>
              <a:t>两个序列的卷积时，卷积所得序列的起点等于两个序列起点之和，终点等于两个序列的终点之和，序列长度等于两个序列的长度之和减一。</a:t>
            </a:r>
            <a:endParaRPr lang="zh-CN" altLang="en-US" baseline="-250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0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28" grpId="0" autoUpdateAnimBg="0"/>
      <p:bldP spid="26631" grpId="0" autoUpdateAnimBg="0"/>
      <p:bldP spid="26634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2135188" y="404813"/>
            <a:ext cx="7675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例：</a:t>
            </a:r>
            <a:r>
              <a:rPr lang="zh-CN" altLang="en-US"/>
              <a:t>利用</a:t>
            </a:r>
            <a:r>
              <a:rPr lang="en-US" altLang="zh-CN"/>
              <a:t>MATLAB</a:t>
            </a:r>
            <a:r>
              <a:rPr lang="zh-CN" altLang="en-US"/>
              <a:t>函数</a:t>
            </a:r>
            <a:r>
              <a:rPr lang="en-US" altLang="zh-CN"/>
              <a:t>conv</a:t>
            </a:r>
            <a:r>
              <a:rPr lang="zh-CN" altLang="en-US"/>
              <a:t>计算两个序列的离散卷积。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1911880" y="1425046"/>
            <a:ext cx="7086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latin typeface="Courier New" panose="02070309020205020404" pitchFamily="49" charset="0"/>
              </a:rPr>
              <a:t>x=[-0.5,0,0.5,1]; </a:t>
            </a:r>
            <a:r>
              <a:rPr lang="en-US" altLang="zh-CN" dirty="0" err="1">
                <a:latin typeface="Courier New" panose="02070309020205020404" pitchFamily="49" charset="0"/>
              </a:rPr>
              <a:t>kx</a:t>
            </a:r>
            <a:r>
              <a:rPr lang="en-US" altLang="zh-CN" dirty="0">
                <a:latin typeface="Courier New" panose="02070309020205020404" pitchFamily="49" charset="0"/>
              </a:rPr>
              <a:t>=-1:2;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latin typeface="Courier New" panose="02070309020205020404" pitchFamily="49" charset="0"/>
              </a:rPr>
              <a:t>h=[1,1,1];        </a:t>
            </a:r>
            <a:r>
              <a:rPr lang="en-US" altLang="zh-CN" dirty="0" err="1">
                <a:latin typeface="Courier New" panose="02070309020205020404" pitchFamily="49" charset="0"/>
              </a:rPr>
              <a:t>kh</a:t>
            </a:r>
            <a:r>
              <a:rPr lang="en-US" altLang="zh-CN" dirty="0">
                <a:latin typeface="Courier New" panose="02070309020205020404" pitchFamily="49" charset="0"/>
              </a:rPr>
              <a:t>=-2:0;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latin typeface="Courier New" panose="02070309020205020404" pitchFamily="49" charset="0"/>
              </a:rPr>
              <a:t>y = </a:t>
            </a:r>
            <a:r>
              <a:rPr lang="en-US" altLang="zh-CN" dirty="0" err="1">
                <a:latin typeface="Courier New" panose="02070309020205020404" pitchFamily="49" charset="0"/>
              </a:rPr>
              <a:t>conv</a:t>
            </a:r>
            <a:r>
              <a:rPr lang="en-US" altLang="zh-CN" dirty="0">
                <a:latin typeface="Courier New" panose="02070309020205020404" pitchFamily="49" charset="0"/>
              </a:rPr>
              <a:t>(x, h);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latin typeface="Courier New" panose="02070309020205020404" pitchFamily="49" charset="0"/>
              </a:rPr>
              <a:t>k=</a:t>
            </a:r>
            <a:r>
              <a:rPr lang="en-US" altLang="zh-CN" dirty="0" err="1">
                <a:latin typeface="Courier New" panose="02070309020205020404" pitchFamily="49" charset="0"/>
              </a:rPr>
              <a:t>kx</a:t>
            </a:r>
            <a:r>
              <a:rPr lang="en-US" altLang="zh-CN" dirty="0">
                <a:latin typeface="Courier New" panose="02070309020205020404" pitchFamily="49" charset="0"/>
              </a:rPr>
              <a:t>(1)+</a:t>
            </a:r>
            <a:r>
              <a:rPr lang="en-US" altLang="zh-CN" dirty="0" err="1">
                <a:latin typeface="Courier New" panose="02070309020205020404" pitchFamily="49" charset="0"/>
              </a:rPr>
              <a:t>kh</a:t>
            </a:r>
            <a:r>
              <a:rPr lang="en-US" altLang="zh-CN" dirty="0">
                <a:latin typeface="Courier New" panose="02070309020205020404" pitchFamily="49" charset="0"/>
              </a:rPr>
              <a:t>(1):</a:t>
            </a:r>
            <a:r>
              <a:rPr lang="en-US" altLang="zh-CN" dirty="0" err="1">
                <a:latin typeface="Courier New" panose="02070309020205020404" pitchFamily="49" charset="0"/>
              </a:rPr>
              <a:t>kx</a:t>
            </a:r>
            <a:r>
              <a:rPr lang="en-US" altLang="zh-CN" dirty="0">
                <a:latin typeface="Courier New" panose="02070309020205020404" pitchFamily="49" charset="0"/>
              </a:rPr>
              <a:t>(end)+</a:t>
            </a:r>
            <a:r>
              <a:rPr lang="en-US" altLang="zh-CN" dirty="0" err="1">
                <a:latin typeface="Courier New" panose="02070309020205020404" pitchFamily="49" charset="0"/>
              </a:rPr>
              <a:t>kh</a:t>
            </a:r>
            <a:r>
              <a:rPr lang="en-US" altLang="zh-CN" dirty="0">
                <a:latin typeface="Courier New" panose="02070309020205020404" pitchFamily="49" charset="0"/>
              </a:rPr>
              <a:t>(end);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>
                <a:latin typeface="Courier New" panose="02070309020205020404" pitchFamily="49" charset="0"/>
              </a:rPr>
              <a:t>stem(</a:t>
            </a:r>
            <a:r>
              <a:rPr lang="en-US" altLang="zh-CN" dirty="0" err="1">
                <a:latin typeface="Courier New" panose="02070309020205020404" pitchFamily="49" charset="0"/>
              </a:rPr>
              <a:t>k,y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zh-CN" dirty="0" err="1">
                <a:latin typeface="Courier New" panose="02070309020205020404" pitchFamily="49" charset="0"/>
              </a:rPr>
              <a:t>xlabel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00"/>
                </a:solidFill>
                <a:latin typeface="Courier New" panose="02070309020205020404" pitchFamily="49" charset="0"/>
              </a:rPr>
              <a:t>'k'</a:t>
            </a:r>
            <a:r>
              <a:rPr lang="en-US" altLang="zh-CN" dirty="0">
                <a:latin typeface="Courier New" panose="02070309020205020404" pitchFamily="49" charset="0"/>
              </a:rPr>
              <a:t>);  </a:t>
            </a:r>
            <a:r>
              <a:rPr lang="en-US" altLang="zh-CN" dirty="0" err="1">
                <a:latin typeface="Courier New" panose="02070309020205020404" pitchFamily="49" charset="0"/>
              </a:rPr>
              <a:t>ylabel</a:t>
            </a:r>
            <a:r>
              <a:rPr lang="en-US" altLang="zh-CN" dirty="0"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800000"/>
                </a:solidFill>
                <a:latin typeface="Courier New" panose="02070309020205020404" pitchFamily="49" charset="0"/>
              </a:rPr>
              <a:t>'y'</a:t>
            </a:r>
            <a:r>
              <a:rPr lang="en-US" altLang="zh-CN" dirty="0">
                <a:latin typeface="Courier New" panose="02070309020205020404" pitchFamily="49" charset="0"/>
              </a:rPr>
              <a:t>);</a:t>
            </a:r>
            <a:endParaRPr lang="en-US" altLang="zh-CN" dirty="0"/>
          </a:p>
        </p:txBody>
      </p:sp>
      <p:pic>
        <p:nvPicPr>
          <p:cNvPr id="1843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3644900"/>
            <a:ext cx="4895850" cy="280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731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 autoUpdateAnimBg="0"/>
      <p:bldP spid="5325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19459" name="Rectangle 1026"/>
          <p:cNvSpPr>
            <a:spLocks noChangeArrowheads="1"/>
          </p:cNvSpPr>
          <p:nvPr/>
        </p:nvSpPr>
        <p:spPr bwMode="auto">
          <a:xfrm>
            <a:off x="3505200" y="228600"/>
            <a:ext cx="5181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4000" b="1"/>
              <a:t>离散系统时域分析</a:t>
            </a:r>
            <a:endParaRPr lang="zh-CN" altLang="en-US" sz="4000" b="1">
              <a:ea typeface="隶书" panose="02010509060101010101" pitchFamily="49" charset="-122"/>
            </a:endParaRPr>
          </a:p>
        </p:txBody>
      </p:sp>
      <p:graphicFrame>
        <p:nvGraphicFramePr>
          <p:cNvPr id="19460" name="Object 1027"/>
          <p:cNvGraphicFramePr>
            <a:graphicFrameLocks noChangeAspect="1"/>
          </p:cNvGraphicFramePr>
          <p:nvPr/>
        </p:nvGraphicFramePr>
        <p:xfrm>
          <a:off x="3143250" y="1484313"/>
          <a:ext cx="5761038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Visio" r:id="rId3" imgW="1990954" imgH="507797" progId="Visio.Drawing.6">
                  <p:embed/>
                </p:oleObj>
              </mc:Choice>
              <mc:Fallback>
                <p:oleObj name="Visio" r:id="rId3" imgW="1990954" imgH="507797" progId="Visio.Drawing.6">
                  <p:embed/>
                  <p:pic>
                    <p:nvPicPr>
                      <p:cNvPr id="1946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484313"/>
                        <a:ext cx="5761038" cy="142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1028"/>
          <p:cNvSpPr txBox="1">
            <a:spLocks noChangeArrowheads="1"/>
          </p:cNvSpPr>
          <p:nvPr/>
        </p:nvSpPr>
        <p:spPr bwMode="auto">
          <a:xfrm>
            <a:off x="5016500" y="328453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/>
              <a:t>y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</a:t>
            </a:r>
            <a:r>
              <a:rPr lang="en-US" altLang="zh-CN" sz="2800" i="1"/>
              <a:t> </a:t>
            </a:r>
            <a:r>
              <a:rPr lang="en-US" altLang="zh-CN" sz="2800"/>
              <a:t>= </a:t>
            </a:r>
            <a:r>
              <a:rPr lang="en-US" altLang="zh-CN" sz="2800" i="1"/>
              <a:t>T</a:t>
            </a:r>
            <a:r>
              <a:rPr lang="en-US" altLang="zh-CN" sz="2800"/>
              <a:t>{</a:t>
            </a:r>
            <a:r>
              <a:rPr lang="en-US" altLang="zh-CN" sz="2800" i="1"/>
              <a:t>x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]}</a:t>
            </a:r>
          </a:p>
        </p:txBody>
      </p:sp>
      <p:graphicFrame>
        <p:nvGraphicFramePr>
          <p:cNvPr id="19463" name="Object 1031"/>
          <p:cNvGraphicFramePr>
            <a:graphicFrameLocks noChangeAspect="1"/>
          </p:cNvGraphicFramePr>
          <p:nvPr/>
        </p:nvGraphicFramePr>
        <p:xfrm>
          <a:off x="3648076" y="4941889"/>
          <a:ext cx="48609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公式" r:id="rId5" imgW="1860365" imgH="425588" progId="Equation.3">
                  <p:embed/>
                </p:oleObj>
              </mc:Choice>
              <mc:Fallback>
                <p:oleObj name="公式" r:id="rId5" imgW="1860365" imgH="425588" progId="Equation.3">
                  <p:embed/>
                  <p:pic>
                    <p:nvPicPr>
                      <p:cNvPr id="19463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6" y="4941889"/>
                        <a:ext cx="48609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Text Box 1032"/>
          <p:cNvSpPr txBox="1">
            <a:spLocks noChangeArrowheads="1"/>
          </p:cNvSpPr>
          <p:nvPr/>
        </p:nvSpPr>
        <p:spPr bwMode="auto">
          <a:xfrm>
            <a:off x="2063751" y="4437063"/>
            <a:ext cx="835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i="1"/>
              <a:t> </a:t>
            </a:r>
            <a:r>
              <a:rPr lang="zh-CN" altLang="en-US"/>
              <a:t>离散</a:t>
            </a:r>
            <a:r>
              <a:rPr lang="en-US" altLang="zh-CN"/>
              <a:t>LTI</a:t>
            </a:r>
            <a:r>
              <a:rPr lang="zh-CN" altLang="en-US"/>
              <a:t>系统可由线性常系统差分方程描述</a:t>
            </a:r>
          </a:p>
        </p:txBody>
      </p:sp>
    </p:spTree>
    <p:extLst>
      <p:ext uri="{BB962C8B-B14F-4D97-AF65-F5344CB8AC3E}">
        <p14:creationId xmlns:p14="http://schemas.microsoft.com/office/powerpoint/2010/main" val="4788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2667000" y="228600"/>
            <a:ext cx="670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/>
              <a:t>离散系统单位脉冲响应</a:t>
            </a:r>
            <a:endParaRPr lang="zh-CN" altLang="en-US" b="1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782888" y="1452564"/>
            <a:ext cx="20939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定义：</a:t>
            </a:r>
          </a:p>
        </p:txBody>
      </p:sp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5105400" y="1452564"/>
          <a:ext cx="28194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公式" r:id="rId3" imgW="939392" imgH="203112" progId="Equation.3">
                  <p:embed/>
                </p:oleObj>
              </mc:Choice>
              <mc:Fallback>
                <p:oleObj name="公式" r:id="rId3" imgW="939392" imgH="203112" progId="Equation.3">
                  <p:embed/>
                  <p:pic>
                    <p:nvPicPr>
                      <p:cNvPr id="204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452564"/>
                        <a:ext cx="28194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992313" y="2492376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例：已知累加器的输入输出关系为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4583113" y="2924176"/>
          <a:ext cx="24892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公式" r:id="rId5" imgW="914400" imgH="368300" progId="Equation.3">
                  <p:embed/>
                </p:oleObj>
              </mc:Choice>
              <mc:Fallback>
                <p:oleObj name="公式" r:id="rId5" imgW="914400" imgH="368300" progId="Equation.3">
                  <p:embed/>
                  <p:pic>
                    <p:nvPicPr>
                      <p:cNvPr id="20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2924176"/>
                        <a:ext cx="24892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2135188" y="4508500"/>
          <a:ext cx="5256212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公式" r:id="rId7" imgW="1726451" imgH="393529" progId="Equation.3">
                  <p:embed/>
                </p:oleObj>
              </mc:Choice>
              <mc:Fallback>
                <p:oleObj name="公式" r:id="rId7" imgW="1726451" imgH="393529" progId="Equation.3">
                  <p:embed/>
                  <p:pic>
                    <p:nvPicPr>
                      <p:cNvPr id="307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508500"/>
                        <a:ext cx="5256212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16"/>
          <p:cNvSpPr>
            <a:spLocks noChangeArrowheads="1"/>
          </p:cNvSpPr>
          <p:nvPr/>
        </p:nvSpPr>
        <p:spPr bwMode="auto">
          <a:xfrm>
            <a:off x="2855914" y="3933826"/>
            <a:ext cx="4103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试求其单位脉冲响应</a:t>
            </a:r>
            <a:r>
              <a:rPr lang="en-US" altLang="zh-CN" sz="2800" i="1"/>
              <a:t>h</a:t>
            </a:r>
            <a:r>
              <a:rPr lang="en-US" altLang="zh-CN" sz="2800"/>
              <a:t>[</a:t>
            </a:r>
            <a:r>
              <a:rPr lang="en-US" altLang="zh-CN" sz="2800" i="1"/>
              <a:t>k</a:t>
            </a:r>
            <a:r>
              <a:rPr lang="en-US" altLang="zh-CN" sz="280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1793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accent2"/>
                </a:solidFill>
              </a:rPr>
              <a:t>离散时间信号与系统</a:t>
            </a:r>
            <a:endParaRPr lang="zh-CN" altLang="en-US" sz="3600">
              <a:solidFill>
                <a:schemeClr val="accent2"/>
              </a:solidFill>
            </a:endParaRPr>
          </a:p>
        </p:txBody>
      </p:sp>
      <p:sp>
        <p:nvSpPr>
          <p:cNvPr id="21507" name="Text Box 1026"/>
          <p:cNvSpPr txBox="1">
            <a:spLocks noChangeArrowheads="1"/>
          </p:cNvSpPr>
          <p:nvPr/>
        </p:nvSpPr>
        <p:spPr bwMode="auto">
          <a:xfrm>
            <a:off x="2927350" y="228600"/>
            <a:ext cx="6445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  </a:t>
            </a:r>
            <a:r>
              <a:rPr lang="zh-CN" altLang="en-US" sz="3200" b="1"/>
              <a:t>离散</a:t>
            </a:r>
            <a:r>
              <a:rPr lang="en-US" altLang="zh-CN" sz="3200" b="1"/>
              <a:t>LTI</a:t>
            </a:r>
            <a:r>
              <a:rPr lang="zh-CN" altLang="en-US" sz="3200" b="1"/>
              <a:t>系统对任意输入的响应</a:t>
            </a:r>
          </a:p>
        </p:txBody>
      </p:sp>
      <p:graphicFrame>
        <p:nvGraphicFramePr>
          <p:cNvPr id="46083" name="Object 1027"/>
          <p:cNvGraphicFramePr>
            <a:graphicFrameLocks noChangeAspect="1"/>
          </p:cNvGraphicFramePr>
          <p:nvPr/>
        </p:nvGraphicFramePr>
        <p:xfrm>
          <a:off x="4151313" y="1268413"/>
          <a:ext cx="3086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公式" r:id="rId3" imgW="1180588" imgH="317362" progId="Equation.3">
                  <p:embed/>
                </p:oleObj>
              </mc:Choice>
              <mc:Fallback>
                <p:oleObj name="公式" r:id="rId3" imgW="1180588" imgH="317362" progId="Equation.3">
                  <p:embed/>
                  <p:pic>
                    <p:nvPicPr>
                      <p:cNvPr id="46083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1268413"/>
                        <a:ext cx="3086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1028"/>
          <p:cNvGraphicFramePr>
            <a:graphicFrameLocks noChangeAspect="1"/>
          </p:cNvGraphicFramePr>
          <p:nvPr/>
        </p:nvGraphicFramePr>
        <p:xfrm>
          <a:off x="3987801" y="2320926"/>
          <a:ext cx="43084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公式" r:id="rId5" imgW="1548728" imgH="317362" progId="Equation.3">
                  <p:embed/>
                </p:oleObj>
              </mc:Choice>
              <mc:Fallback>
                <p:oleObj name="公式" r:id="rId5" imgW="1548728" imgH="317362" progId="Equation.3">
                  <p:embed/>
                  <p:pic>
                    <p:nvPicPr>
                      <p:cNvPr id="46084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1" y="2320926"/>
                        <a:ext cx="430847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1029"/>
          <p:cNvGraphicFramePr>
            <a:graphicFrameLocks noChangeAspect="1"/>
          </p:cNvGraphicFramePr>
          <p:nvPr/>
        </p:nvGraphicFramePr>
        <p:xfrm>
          <a:off x="5087939" y="3500439"/>
          <a:ext cx="28844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公式" r:id="rId7" imgW="1066800" imgH="342900" progId="Equation.3">
                  <p:embed/>
                </p:oleObj>
              </mc:Choice>
              <mc:Fallback>
                <p:oleObj name="公式" r:id="rId7" imgW="1066800" imgH="342900" progId="Equation.3">
                  <p:embed/>
                  <p:pic>
                    <p:nvPicPr>
                      <p:cNvPr id="46085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3500439"/>
                        <a:ext cx="28844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1030"/>
          <p:cNvGraphicFramePr>
            <a:graphicFrameLocks noChangeAspect="1"/>
          </p:cNvGraphicFramePr>
          <p:nvPr/>
        </p:nvGraphicFramePr>
        <p:xfrm>
          <a:off x="5159375" y="4508500"/>
          <a:ext cx="20891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公式" r:id="rId9" imgW="774364" imgH="203112" progId="Equation.3">
                  <p:embed/>
                </p:oleObj>
              </mc:Choice>
              <mc:Fallback>
                <p:oleObj name="公式" r:id="rId9" imgW="774364" imgH="203112" progId="Equation.3">
                  <p:embed/>
                  <p:pic>
                    <p:nvPicPr>
                      <p:cNvPr id="46086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4508500"/>
                        <a:ext cx="20891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1037"/>
          <p:cNvGraphicFramePr>
            <a:graphicFrameLocks noChangeAspect="1"/>
          </p:cNvGraphicFramePr>
          <p:nvPr/>
        </p:nvGraphicFramePr>
        <p:xfrm>
          <a:off x="3810001" y="5410200"/>
          <a:ext cx="417036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公式" r:id="rId11" imgW="1040948" imgH="190417" progId="Equation.3">
                  <p:embed/>
                </p:oleObj>
              </mc:Choice>
              <mc:Fallback>
                <p:oleObj name="公式" r:id="rId11" imgW="1040948" imgH="190417" progId="Equation.3">
                  <p:embed/>
                  <p:pic>
                    <p:nvPicPr>
                      <p:cNvPr id="46093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5410200"/>
                        <a:ext cx="4170363" cy="76358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Text Box 1038"/>
          <p:cNvSpPr txBox="1">
            <a:spLocks noChangeArrowheads="1"/>
          </p:cNvSpPr>
          <p:nvPr/>
        </p:nvSpPr>
        <p:spPr bwMode="auto">
          <a:xfrm>
            <a:off x="2495551" y="1268413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由于</a:t>
            </a:r>
          </a:p>
        </p:txBody>
      </p:sp>
      <p:sp>
        <p:nvSpPr>
          <p:cNvPr id="21515" name="Text Box 1039"/>
          <p:cNvSpPr txBox="1">
            <a:spLocks noChangeArrowheads="1"/>
          </p:cNvSpPr>
          <p:nvPr/>
        </p:nvSpPr>
        <p:spPr bwMode="auto">
          <a:xfrm>
            <a:off x="2495551" y="2420938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F8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所以</a:t>
            </a:r>
          </a:p>
        </p:txBody>
      </p:sp>
    </p:spTree>
    <p:extLst>
      <p:ext uri="{BB962C8B-B14F-4D97-AF65-F5344CB8AC3E}">
        <p14:creationId xmlns:p14="http://schemas.microsoft.com/office/powerpoint/2010/main" val="387782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426</Words>
  <Application>Microsoft Office PowerPoint</Application>
  <PresentationFormat>宽屏</PresentationFormat>
  <Paragraphs>64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等线</vt:lpstr>
      <vt:lpstr>隶书</vt:lpstr>
      <vt:lpstr>宋体</vt:lpstr>
      <vt:lpstr>Arial</vt:lpstr>
      <vt:lpstr>Comic Sans MS</vt:lpstr>
      <vt:lpstr>Courier New</vt:lpstr>
      <vt:lpstr>Symbol</vt:lpstr>
      <vt:lpstr>Times New Roman</vt:lpstr>
      <vt:lpstr>icfp99</vt:lpstr>
      <vt:lpstr>公式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离散时间信号与系统</dc:title>
  <dc:creator>Administrator</dc:creator>
  <cp:lastModifiedBy>CHAO WU</cp:lastModifiedBy>
  <cp:revision>40</cp:revision>
  <dcterms:created xsi:type="dcterms:W3CDTF">2020-08-06T07:23:58Z</dcterms:created>
  <dcterms:modified xsi:type="dcterms:W3CDTF">2023-09-14T06:18:36Z</dcterms:modified>
</cp:coreProperties>
</file>