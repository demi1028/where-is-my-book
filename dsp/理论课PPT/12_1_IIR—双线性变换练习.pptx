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91" r:id="rId2"/>
    <p:sldId id="287" r:id="rId3"/>
    <p:sldId id="292" r:id="rId4"/>
    <p:sldId id="288" r:id="rId5"/>
    <p:sldId id="289" r:id="rId6"/>
    <p:sldId id="29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230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4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DE8779-9A25-448F-8182-1AE0765117B0}" type="datetimeFigureOut">
              <a:rPr lang="zh-CN" altLang="en-US" smtClean="0"/>
              <a:t>2020/12/11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9A2067-EBAE-4796-A48D-2E12FA4BE8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830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EB89419-C344-40C6-B4AF-B64360F5EC6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2020/12/11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54864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9408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AD0EC15D-9C77-4188-80FD-534CB4D6259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4689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67" y="165100"/>
            <a:ext cx="1405467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009DD4-B744-4A5A-9BCF-2BE1219C878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2020/12/11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68623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DB5375B-8E09-4DD8-A950-D279B55D1AF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2020/12/11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684607E7-4DB9-45E5-BF73-16A5A03CEE1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4024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EA3D01B-CED5-4F8A-B6C8-7E3E79320ED9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2020/12/11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D40AEE6-7319-4B5B-93D0-3548900E185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5767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D440ECF-C06C-4365-A82F-7FCF58AB175D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2020/12/11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1916CC5-3ED3-4E00-85B5-005DC67C0A92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3990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1AF378D-529B-499C-888D-96616A7FD7B3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2020/12/11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247B3999-57F6-416E-A1A2-5253D300C464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71257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9C2F7E0-74B7-4DF6-835D-211E54381D8A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2020/12/11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688483-54E8-444F-A583-0A553B1CE94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5370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221B5CF-6445-489A-A45C-4EC7F4623F90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2020/12/11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1114EFF-8E6F-4E42-8213-F37E8D3AB8C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08155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4BE24FC-2A45-4A55-B139-5F9494B1CB5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2020/12/11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8908285-CA4E-423B-8642-8726C1B3382C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1696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BEAA45-778A-4741-845A-F018261E7A9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2020/12/11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413AA134-3FB7-4864-BDD9-113D7FC3B5C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1524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15400" y="457200"/>
            <a:ext cx="2768600" cy="5562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102600" cy="55626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BDC5DBC-5A12-4956-B0A7-3CBFEBC2F06C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2020/12/11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F6064C9-616C-418B-B0ED-83E8E1DAAE91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0953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769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603FB61-C213-45FB-A763-B77CDEFEA231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2020/12/11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CD01B68-6309-4BDA-8324-A2F95C8B9363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0121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76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1074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17600" y="6172200"/>
            <a:ext cx="203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5F930D0-305E-4488-9A18-18976C29D3CE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2020/12/11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1722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172200"/>
            <a:ext cx="172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4FF258E-67CD-4D95-B960-4634DDA9265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371600"/>
            <a:ext cx="1076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270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8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标题 1"/>
          <p:cNvSpPr>
            <a:spLocks noGrp="1"/>
          </p:cNvSpPr>
          <p:nvPr>
            <p:ph type="title"/>
          </p:nvPr>
        </p:nvSpPr>
        <p:spPr>
          <a:xfrm>
            <a:off x="2743200" y="457200"/>
            <a:ext cx="7315200" cy="914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例题</a:t>
            </a:r>
          </a:p>
        </p:txBody>
      </p:sp>
      <p:sp>
        <p:nvSpPr>
          <p:cNvPr id="15257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F5267FE-C345-4204-85CF-C5F025C28704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2580" name="Text Box 4"/>
          <p:cNvSpPr txBox="1">
            <a:spLocks noChangeArrowheads="1"/>
          </p:cNvSpPr>
          <p:nvPr/>
        </p:nvSpPr>
        <p:spPr bwMode="auto">
          <a:xfrm>
            <a:off x="1752600" y="1371601"/>
            <a:ext cx="8763000" cy="856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设计一个一阶数字低通滤波器，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</a:rPr>
              <a:t>3dB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截止频率为</a:t>
            </a:r>
            <a:r>
              <a:rPr kumimoji="1" lang="en-US" altLang="zh-CN" sz="1800" i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sz="18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</a:rPr>
              <a:t>=0.25π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，将双线性变换应用于模拟巴特沃思滤波器 </a:t>
            </a:r>
          </a:p>
        </p:txBody>
      </p:sp>
      <p:graphicFrame>
        <p:nvGraphicFramePr>
          <p:cNvPr id="152581" name="Object 5"/>
          <p:cNvGraphicFramePr>
            <a:graphicFrameLocks noChangeAspect="1"/>
          </p:cNvGraphicFramePr>
          <p:nvPr/>
        </p:nvGraphicFramePr>
        <p:xfrm>
          <a:off x="4038601" y="1752601"/>
          <a:ext cx="1820863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3" name="Equation" r:id="rId3" imgW="1231366" imgH="431613" progId="Equation.3">
                  <p:embed/>
                </p:oleObj>
              </mc:Choice>
              <mc:Fallback>
                <p:oleObj name="Equation" r:id="rId3" imgW="1231366" imgH="431613" progId="Equation.3">
                  <p:embed/>
                  <p:pic>
                    <p:nvPicPr>
                      <p:cNvPr id="15258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1" y="1752601"/>
                        <a:ext cx="1820863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6041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标题 1"/>
          <p:cNvSpPr>
            <a:spLocks noGrp="1"/>
          </p:cNvSpPr>
          <p:nvPr>
            <p:ph type="title"/>
          </p:nvPr>
        </p:nvSpPr>
        <p:spPr>
          <a:xfrm>
            <a:off x="2743200" y="457200"/>
            <a:ext cx="7315200" cy="914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例题</a:t>
            </a:r>
          </a:p>
        </p:txBody>
      </p:sp>
      <p:sp>
        <p:nvSpPr>
          <p:cNvPr id="15257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F5267FE-C345-4204-85CF-C5F025C28704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2580" name="Text Box 4"/>
          <p:cNvSpPr txBox="1">
            <a:spLocks noChangeArrowheads="1"/>
          </p:cNvSpPr>
          <p:nvPr/>
        </p:nvSpPr>
        <p:spPr bwMode="auto">
          <a:xfrm>
            <a:off x="1752600" y="1371601"/>
            <a:ext cx="8763000" cy="856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设计一个一阶数字低通滤波器，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</a:rPr>
              <a:t>3dB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截止频率为</a:t>
            </a:r>
            <a:r>
              <a:rPr kumimoji="1" lang="en-US" altLang="zh-CN" sz="1800" i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sz="18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</a:rPr>
              <a:t>=0.25π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，将双线性变换应用于模拟巴特沃思滤波器 </a:t>
            </a:r>
          </a:p>
        </p:txBody>
      </p:sp>
      <p:graphicFrame>
        <p:nvGraphicFramePr>
          <p:cNvPr id="152581" name="Object 5"/>
          <p:cNvGraphicFramePr>
            <a:graphicFrameLocks noChangeAspect="1"/>
          </p:cNvGraphicFramePr>
          <p:nvPr/>
        </p:nvGraphicFramePr>
        <p:xfrm>
          <a:off x="4038601" y="1752601"/>
          <a:ext cx="1820863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06" name="Equation" r:id="rId3" imgW="1231366" imgH="431613" progId="Equation.3">
                  <p:embed/>
                </p:oleObj>
              </mc:Choice>
              <mc:Fallback>
                <p:oleObj name="Equation" r:id="rId3" imgW="1231366" imgH="431613" progId="Equation.3">
                  <p:embed/>
                  <p:pic>
                    <p:nvPicPr>
                      <p:cNvPr id="15258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1" y="1752601"/>
                        <a:ext cx="1820863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82" name="Text Box 6"/>
          <p:cNvSpPr txBox="1">
            <a:spLocks noChangeArrowheads="1"/>
          </p:cNvSpPr>
          <p:nvPr/>
        </p:nvSpPr>
        <p:spPr bwMode="auto">
          <a:xfrm>
            <a:off x="1524000" y="2514601"/>
            <a:ext cx="8763000" cy="856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解：数字低通滤波器的截止频率为</a:t>
            </a:r>
            <a:r>
              <a:rPr kumimoji="1" lang="en-US" altLang="zh-CN" sz="1800" i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sz="18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</a:rPr>
              <a:t>=0.25π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，相应的巴特沃思模拟滤波器的 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</a:rPr>
              <a:t>3 dB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截止频率是</a:t>
            </a:r>
            <a:r>
              <a:rPr kumimoji="1" lang="en-US" altLang="zh-CN" sz="1800" i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sz="18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，就有 </a:t>
            </a:r>
          </a:p>
        </p:txBody>
      </p:sp>
      <p:graphicFrame>
        <p:nvGraphicFramePr>
          <p:cNvPr id="152583" name="Object 7"/>
          <p:cNvGraphicFramePr>
            <a:graphicFrameLocks noChangeAspect="1"/>
          </p:cNvGraphicFramePr>
          <p:nvPr/>
        </p:nvGraphicFramePr>
        <p:xfrm>
          <a:off x="3765550" y="2971800"/>
          <a:ext cx="3549650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07" name="Equation" r:id="rId5" imgW="2590800" imgH="431800" progId="Equation.3">
                  <p:embed/>
                </p:oleObj>
              </mc:Choice>
              <mc:Fallback>
                <p:oleObj name="Equation" r:id="rId5" imgW="2590800" imgH="431800" progId="Equation.3">
                  <p:embed/>
                  <p:pic>
                    <p:nvPicPr>
                      <p:cNvPr id="15258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5550" y="2971800"/>
                        <a:ext cx="3549650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84" name="Text Box 8"/>
          <p:cNvSpPr txBox="1">
            <a:spLocks noChangeArrowheads="1"/>
          </p:cNvSpPr>
          <p:nvPr/>
        </p:nvSpPr>
        <p:spPr bwMode="auto">
          <a:xfrm>
            <a:off x="2133601" y="3821114"/>
            <a:ext cx="2798763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模拟滤波器的系统函数为 </a:t>
            </a:r>
          </a:p>
        </p:txBody>
      </p:sp>
      <p:graphicFrame>
        <p:nvGraphicFramePr>
          <p:cNvPr id="152585" name="Object 9"/>
          <p:cNvGraphicFramePr>
            <a:graphicFrameLocks noChangeAspect="1"/>
          </p:cNvGraphicFramePr>
          <p:nvPr/>
        </p:nvGraphicFramePr>
        <p:xfrm>
          <a:off x="4876800" y="3722688"/>
          <a:ext cx="3538538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08" name="Equation" r:id="rId7" imgW="2298700" imgH="431800" progId="Equation.3">
                  <p:embed/>
                </p:oleObj>
              </mc:Choice>
              <mc:Fallback>
                <p:oleObj name="Equation" r:id="rId7" imgW="2298700" imgH="431800" progId="Equation.3">
                  <p:embed/>
                  <p:pic>
                    <p:nvPicPr>
                      <p:cNvPr id="15258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722688"/>
                        <a:ext cx="3538538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6" name="对象 10"/>
          <p:cNvGraphicFramePr>
            <a:graphicFrameLocks noChangeAspect="1"/>
          </p:cNvGraphicFramePr>
          <p:nvPr/>
        </p:nvGraphicFramePr>
        <p:xfrm>
          <a:off x="3895726" y="4762501"/>
          <a:ext cx="5324475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09" name="Equation" r:id="rId9" imgW="3403600" imgH="939800" progId="Equation.3">
                  <p:embed/>
                </p:oleObj>
              </mc:Choice>
              <mc:Fallback>
                <p:oleObj name="Equation" r:id="rId9" imgW="3403600" imgH="939800" progId="Equation.3">
                  <p:embed/>
                  <p:pic>
                    <p:nvPicPr>
                      <p:cNvPr id="152586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5726" y="4762501"/>
                        <a:ext cx="5324475" cy="1471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87" name="TextBox 11"/>
          <p:cNvSpPr txBox="1">
            <a:spLocks noChangeArrowheads="1"/>
          </p:cNvSpPr>
          <p:nvPr/>
        </p:nvSpPr>
        <p:spPr bwMode="auto">
          <a:xfrm>
            <a:off x="2362201" y="4876800"/>
            <a:ext cx="1579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solidFill>
                  <a:srgbClr val="000000"/>
                </a:solidFill>
              </a:rPr>
              <a:t>双线性变换：</a:t>
            </a:r>
          </a:p>
        </p:txBody>
      </p:sp>
      <p:sp>
        <p:nvSpPr>
          <p:cNvPr id="152588" name="TextBox 12"/>
          <p:cNvSpPr txBox="1">
            <a:spLocks noChangeArrowheads="1"/>
          </p:cNvSpPr>
          <p:nvPr/>
        </p:nvSpPr>
        <p:spPr bwMode="auto">
          <a:xfrm>
            <a:off x="7010400" y="6096000"/>
            <a:ext cx="16525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</a:rPr>
              <a:t>T</a:t>
            </a:r>
            <a:r>
              <a:rPr lang="zh-CN" altLang="en-US">
                <a:solidFill>
                  <a:srgbClr val="000000"/>
                </a:solidFill>
              </a:rPr>
              <a:t>不参与运算</a:t>
            </a:r>
          </a:p>
        </p:txBody>
      </p:sp>
    </p:spTree>
    <p:extLst>
      <p:ext uri="{BB962C8B-B14F-4D97-AF65-F5344CB8AC3E}">
        <p14:creationId xmlns:p14="http://schemas.microsoft.com/office/powerpoint/2010/main" val="3002031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例题</a:t>
            </a:r>
          </a:p>
        </p:txBody>
      </p:sp>
      <p:sp>
        <p:nvSpPr>
          <p:cNvPr id="15360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5510423-5F0E-4CFB-B10F-C531B04DEF61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04" name="Text Box 4"/>
          <p:cNvSpPr txBox="1">
            <a:spLocks noChangeArrowheads="1"/>
          </p:cNvSpPr>
          <p:nvPr/>
        </p:nvSpPr>
        <p:spPr bwMode="auto">
          <a:xfrm>
            <a:off x="1752600" y="1292226"/>
            <a:ext cx="8686800" cy="1239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用双线性变换法设计一个三阶巴特沃思数字低通滤波器，采样频率为</a:t>
            </a:r>
            <a:r>
              <a:rPr kumimoji="1"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kumimoji="1" lang="en-US" altLang="zh-CN" sz="180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=4 kHz</a:t>
            </a:r>
            <a:r>
              <a:rPr kumimoji="1"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（即采样周期为</a:t>
            </a:r>
            <a:r>
              <a:rPr kumimoji="1"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=250 </a:t>
            </a:r>
            <a:r>
              <a:rPr kumimoji="1" lang="en-US" altLang="zh-CN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μs</a:t>
            </a:r>
            <a:r>
              <a:rPr kumimoji="1"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），其</a:t>
            </a:r>
            <a:r>
              <a:rPr kumimoji="1"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3dB</a:t>
            </a:r>
            <a:r>
              <a:rPr kumimoji="1"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截止频率为</a:t>
            </a:r>
            <a:r>
              <a:rPr kumimoji="1"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kumimoji="1" lang="en-US" altLang="zh-CN" sz="180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=1 kHz</a:t>
            </a:r>
            <a:r>
              <a:rPr kumimoji="1"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。 三阶模拟巴特沃思滤波器为 </a:t>
            </a:r>
          </a:p>
        </p:txBody>
      </p:sp>
      <p:graphicFrame>
        <p:nvGraphicFramePr>
          <p:cNvPr id="153605" name="Object 5"/>
          <p:cNvGraphicFramePr>
            <a:graphicFrameLocks noChangeAspect="1"/>
          </p:cNvGraphicFramePr>
          <p:nvPr/>
        </p:nvGraphicFramePr>
        <p:xfrm>
          <a:off x="2438401" y="2057400"/>
          <a:ext cx="447516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6" name="Equation" r:id="rId3" imgW="2667000" imgH="431800" progId="Equation.3">
                  <p:embed/>
                </p:oleObj>
              </mc:Choice>
              <mc:Fallback>
                <p:oleObj name="Equation" r:id="rId3" imgW="2667000" imgH="431800" progId="Equation.3">
                  <p:embed/>
                  <p:pic>
                    <p:nvPicPr>
                      <p:cNvPr id="1536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1" y="2057400"/>
                        <a:ext cx="4475163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4140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例题</a:t>
            </a:r>
          </a:p>
        </p:txBody>
      </p:sp>
      <p:sp>
        <p:nvSpPr>
          <p:cNvPr id="15360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5510423-5F0E-4CFB-B10F-C531B04DEF61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04" name="Text Box 4"/>
          <p:cNvSpPr txBox="1">
            <a:spLocks noChangeArrowheads="1"/>
          </p:cNvSpPr>
          <p:nvPr/>
        </p:nvSpPr>
        <p:spPr bwMode="auto">
          <a:xfrm>
            <a:off x="1752600" y="1292226"/>
            <a:ext cx="8686800" cy="1239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用双线性变换法设计一个三阶巴特沃思数字低通滤波器，采样频率为</a:t>
            </a:r>
            <a:r>
              <a:rPr kumimoji="1" lang="en-US" altLang="zh-CN" sz="1800" i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kumimoji="1" lang="en-US" altLang="zh-CN" sz="18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</a:rPr>
              <a:t>=4 kHz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（即采样周期为</a:t>
            </a:r>
            <a:r>
              <a:rPr kumimoji="1" lang="en-US" altLang="zh-CN" sz="1800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</a:rPr>
              <a:t>=250 μs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），其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</a:rPr>
              <a:t>3dB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截止频率为</a:t>
            </a:r>
            <a:r>
              <a:rPr kumimoji="1" lang="en-US" altLang="zh-CN" sz="1800" i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kumimoji="1" lang="en-US" altLang="zh-CN" sz="18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</a:rPr>
              <a:t>=1 kHz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。 三阶模拟巴特沃思滤波器为 </a:t>
            </a:r>
          </a:p>
        </p:txBody>
      </p:sp>
      <p:graphicFrame>
        <p:nvGraphicFramePr>
          <p:cNvPr id="153605" name="Object 5"/>
          <p:cNvGraphicFramePr>
            <a:graphicFrameLocks noChangeAspect="1"/>
          </p:cNvGraphicFramePr>
          <p:nvPr/>
        </p:nvGraphicFramePr>
        <p:xfrm>
          <a:off x="2438401" y="2057400"/>
          <a:ext cx="447516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0" name="Equation" r:id="rId3" imgW="2667000" imgH="431800" progId="Equation.3">
                  <p:embed/>
                </p:oleObj>
              </mc:Choice>
              <mc:Fallback>
                <p:oleObj name="Equation" r:id="rId3" imgW="2667000" imgH="431800" progId="Equation.3">
                  <p:embed/>
                  <p:pic>
                    <p:nvPicPr>
                      <p:cNvPr id="1536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1" y="2057400"/>
                        <a:ext cx="4475163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06" name="Text Box 6"/>
          <p:cNvSpPr txBox="1">
            <a:spLocks noChangeArrowheads="1"/>
          </p:cNvSpPr>
          <p:nvPr/>
        </p:nvSpPr>
        <p:spPr bwMode="auto">
          <a:xfrm>
            <a:off x="1676400" y="2971801"/>
            <a:ext cx="8686800" cy="995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解 首先，确定数字域截止频率</a:t>
            </a:r>
            <a:r>
              <a:rPr kumimoji="1" lang="en-US" altLang="zh-CN" sz="1800" i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sz="18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</a:rPr>
              <a:t>=2π</a:t>
            </a:r>
            <a:r>
              <a:rPr kumimoji="1" lang="en-US" altLang="zh-CN" sz="1800" i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kumimoji="1" lang="en-US" altLang="zh-CN" sz="18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sz="1800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</a:rPr>
              <a:t>=0.5π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。</a:t>
            </a:r>
          </a:p>
          <a:p>
            <a:pPr algn="just" fontAlgn="base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        第二步，预畸变 </a:t>
            </a:r>
          </a:p>
        </p:txBody>
      </p:sp>
      <p:graphicFrame>
        <p:nvGraphicFramePr>
          <p:cNvPr id="153607" name="Object 7"/>
          <p:cNvGraphicFramePr>
            <a:graphicFrameLocks noChangeAspect="1"/>
          </p:cNvGraphicFramePr>
          <p:nvPr/>
        </p:nvGraphicFramePr>
        <p:xfrm>
          <a:off x="3962401" y="3429000"/>
          <a:ext cx="3382963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1" name="Equation" r:id="rId5" imgW="2273300" imgH="431800" progId="Equation.3">
                  <p:embed/>
                </p:oleObj>
              </mc:Choice>
              <mc:Fallback>
                <p:oleObj name="Equation" r:id="rId5" imgW="2273300" imgH="431800" progId="Equation.3">
                  <p:embed/>
                  <p:pic>
                    <p:nvPicPr>
                      <p:cNvPr id="1536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1" y="3429000"/>
                        <a:ext cx="3382963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08" name="Text Box 4"/>
          <p:cNvSpPr txBox="1">
            <a:spLocks noChangeArrowheads="1"/>
          </p:cNvSpPr>
          <p:nvPr/>
        </p:nvSpPr>
        <p:spPr bwMode="auto">
          <a:xfrm>
            <a:off x="2133600" y="4024314"/>
            <a:ext cx="563245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第三步，将</a:t>
            </a:r>
            <a:r>
              <a:rPr kumimoji="1" lang="en-US" altLang="zh-CN" sz="1800" i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sz="18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代入三阶模拟巴特沃思滤波器</a:t>
            </a:r>
            <a:r>
              <a:rPr kumimoji="1" lang="en-US" altLang="zh-CN" sz="1800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sz="18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1800" i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，得 </a:t>
            </a:r>
          </a:p>
        </p:txBody>
      </p:sp>
      <p:graphicFrame>
        <p:nvGraphicFramePr>
          <p:cNvPr id="153609" name="Object 5"/>
          <p:cNvGraphicFramePr>
            <a:graphicFrameLocks noChangeAspect="1"/>
          </p:cNvGraphicFramePr>
          <p:nvPr/>
        </p:nvGraphicFramePr>
        <p:xfrm>
          <a:off x="4297364" y="4495800"/>
          <a:ext cx="359727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2" name="Equation" r:id="rId7" imgW="2667000" imgH="419100" progId="Equation.3">
                  <p:embed/>
                </p:oleObj>
              </mc:Choice>
              <mc:Fallback>
                <p:oleObj name="Equation" r:id="rId7" imgW="2667000" imgH="419100" progId="Equation.3">
                  <p:embed/>
                  <p:pic>
                    <p:nvPicPr>
                      <p:cNvPr id="1536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7364" y="4495800"/>
                        <a:ext cx="3597275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10" name="Text Box 6"/>
          <p:cNvSpPr txBox="1">
            <a:spLocks noChangeArrowheads="1"/>
          </p:cNvSpPr>
          <p:nvPr/>
        </p:nvSpPr>
        <p:spPr bwMode="auto">
          <a:xfrm>
            <a:off x="2173288" y="5192714"/>
            <a:ext cx="6284912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最后，将双线性变换关系代入就得到数字滤波器的系统函数 </a:t>
            </a:r>
          </a:p>
        </p:txBody>
      </p:sp>
      <p:graphicFrame>
        <p:nvGraphicFramePr>
          <p:cNvPr id="153611" name="Object 7"/>
          <p:cNvGraphicFramePr>
            <a:graphicFrameLocks noChangeAspect="1"/>
          </p:cNvGraphicFramePr>
          <p:nvPr/>
        </p:nvGraphicFramePr>
        <p:xfrm>
          <a:off x="3470276" y="5610226"/>
          <a:ext cx="5211763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3" name="Equation" r:id="rId9" imgW="2400300" imgH="469900" progId="Equation.DSMT4">
                  <p:embed/>
                </p:oleObj>
              </mc:Choice>
              <mc:Fallback>
                <p:oleObj name="Equation" r:id="rId9" imgW="2400300" imgH="469900" progId="Equation.DSMT4">
                  <p:embed/>
                  <p:pic>
                    <p:nvPicPr>
                      <p:cNvPr id="15361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0276" y="5610226"/>
                        <a:ext cx="5211763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2403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标题 1"/>
          <p:cNvSpPr>
            <a:spLocks noGrp="1"/>
          </p:cNvSpPr>
          <p:nvPr>
            <p:ph type="title"/>
          </p:nvPr>
        </p:nvSpPr>
        <p:spPr>
          <a:xfrm>
            <a:off x="2743200" y="457200"/>
            <a:ext cx="7315200" cy="914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例题</a:t>
            </a:r>
          </a:p>
        </p:txBody>
      </p:sp>
      <p:sp>
        <p:nvSpPr>
          <p:cNvPr id="15462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EB6ED79-3A94-4A0C-9329-39F56CEC4B21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4628" name="Text Box 4"/>
          <p:cNvSpPr txBox="1">
            <a:spLocks noChangeArrowheads="1"/>
          </p:cNvSpPr>
          <p:nvPr/>
        </p:nvSpPr>
        <p:spPr bwMode="auto">
          <a:xfrm>
            <a:off x="2290764" y="5721350"/>
            <a:ext cx="7539037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用双线性变换法设计得到的三阶巴特沃思数字低通滤波器的频响 </a:t>
            </a:r>
          </a:p>
        </p:txBody>
      </p:sp>
      <p:sp>
        <p:nvSpPr>
          <p:cNvPr id="154629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10058400" y="6858000"/>
            <a:ext cx="609600" cy="381000"/>
          </a:xfrm>
          <a:prstGeom prst="actionButtonBackPreviou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154630" name="Picture 8" descr="5-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1752601"/>
            <a:ext cx="5715000" cy="360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8790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     第</a:t>
            </a:r>
            <a:r>
              <a:rPr lang="en-US" altLang="zh-CN" smtClean="0">
                <a:ea typeface="宋体" panose="02010600030101010101" pitchFamily="2" charset="-122"/>
              </a:rPr>
              <a:t>6</a:t>
            </a:r>
            <a:r>
              <a:rPr lang="zh-CN" altLang="en-US" smtClean="0">
                <a:ea typeface="宋体" panose="02010600030101010101" pitchFamily="2" charset="-122"/>
              </a:rPr>
              <a:t>章 作业</a:t>
            </a:r>
          </a:p>
        </p:txBody>
      </p:sp>
      <p:sp>
        <p:nvSpPr>
          <p:cNvPr id="15565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5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12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16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15565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46D0304B-6319-4732-9A6C-CB2AE0A8A28A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982857"/>
      </p:ext>
    </p:extLst>
  </p:cSld>
  <p:clrMapOvr>
    <a:masterClrMapping/>
  </p:clrMapOvr>
</p:sld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</TotalTime>
  <Words>225</Words>
  <Application>Microsoft Office PowerPoint</Application>
  <PresentationFormat>宽屏</PresentationFormat>
  <Paragraphs>28</Paragraphs>
  <Slides>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宋体</vt:lpstr>
      <vt:lpstr>Comic Sans MS</vt:lpstr>
      <vt:lpstr>Times New Roman</vt:lpstr>
      <vt:lpstr>icfp99</vt:lpstr>
      <vt:lpstr>Equation</vt:lpstr>
      <vt:lpstr>例题</vt:lpstr>
      <vt:lpstr>例题</vt:lpstr>
      <vt:lpstr>例题</vt:lpstr>
      <vt:lpstr>例题</vt:lpstr>
      <vt:lpstr>例题</vt:lpstr>
      <vt:lpstr>     第6章 作业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第6章 IIR数字滤波器的设计方法 </dc:title>
  <dc:creator>Administrator</dc:creator>
  <cp:lastModifiedBy>CHAO WU</cp:lastModifiedBy>
  <cp:revision>29</cp:revision>
  <dcterms:created xsi:type="dcterms:W3CDTF">2020-08-06T07:37:53Z</dcterms:created>
  <dcterms:modified xsi:type="dcterms:W3CDTF">2020-12-11T02:51:01Z</dcterms:modified>
</cp:coreProperties>
</file>