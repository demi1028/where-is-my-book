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6"/>
  </p:notesMasterIdLst>
  <p:sldIdLst>
    <p:sldId id="308" r:id="rId2"/>
    <p:sldId id="309" r:id="rId3"/>
    <p:sldId id="317" r:id="rId4"/>
    <p:sldId id="310" r:id="rId5"/>
    <p:sldId id="311" r:id="rId6"/>
    <p:sldId id="313" r:id="rId7"/>
    <p:sldId id="291" r:id="rId8"/>
    <p:sldId id="315" r:id="rId9"/>
    <p:sldId id="316" r:id="rId10"/>
    <p:sldId id="312" r:id="rId11"/>
    <p:sldId id="314" r:id="rId12"/>
    <p:sldId id="292" r:id="rId13"/>
    <p:sldId id="306" r:id="rId14"/>
    <p:sldId id="30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4.wmf"/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7.wmf"/><Relationship Id="rId4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27.wmf"/><Relationship Id="rId2" Type="http://schemas.openxmlformats.org/officeDocument/2006/relationships/image" Target="../media/image7.wmf"/><Relationship Id="rId1" Type="http://schemas.openxmlformats.org/officeDocument/2006/relationships/image" Target="../media/image20.wmf"/><Relationship Id="rId6" Type="http://schemas.openxmlformats.org/officeDocument/2006/relationships/image" Target="../media/image26.wmf"/><Relationship Id="rId5" Type="http://schemas.openxmlformats.org/officeDocument/2006/relationships/image" Target="../media/image13.wmf"/><Relationship Id="rId4" Type="http://schemas.openxmlformats.org/officeDocument/2006/relationships/image" Target="../media/image1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29.wmf"/><Relationship Id="rId2" Type="http://schemas.openxmlformats.org/officeDocument/2006/relationships/image" Target="../media/image7.wmf"/><Relationship Id="rId1" Type="http://schemas.openxmlformats.org/officeDocument/2006/relationships/image" Target="../media/image21.wmf"/><Relationship Id="rId6" Type="http://schemas.openxmlformats.org/officeDocument/2006/relationships/image" Target="../media/image28.wmf"/><Relationship Id="rId5" Type="http://schemas.openxmlformats.org/officeDocument/2006/relationships/image" Target="../media/image13.wmf"/><Relationship Id="rId4" Type="http://schemas.openxmlformats.org/officeDocument/2006/relationships/image" Target="../media/image15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image" Target="../media/image33.wmf"/><Relationship Id="rId7" Type="http://schemas.openxmlformats.org/officeDocument/2006/relationships/image" Target="../media/image37.wmf"/><Relationship Id="rId2" Type="http://schemas.openxmlformats.org/officeDocument/2006/relationships/image" Target="../media/image32.emf"/><Relationship Id="rId1" Type="http://schemas.openxmlformats.org/officeDocument/2006/relationships/image" Target="../media/image31.wmf"/><Relationship Id="rId6" Type="http://schemas.openxmlformats.org/officeDocument/2006/relationships/image" Target="../media/image36.emf"/><Relationship Id="rId11" Type="http://schemas.openxmlformats.org/officeDocument/2006/relationships/image" Target="../media/image41.wmf"/><Relationship Id="rId5" Type="http://schemas.openxmlformats.org/officeDocument/2006/relationships/image" Target="../media/image35.wmf"/><Relationship Id="rId10" Type="http://schemas.openxmlformats.org/officeDocument/2006/relationships/image" Target="../media/image40.wmf"/><Relationship Id="rId4" Type="http://schemas.openxmlformats.org/officeDocument/2006/relationships/image" Target="../media/image34.emf"/><Relationship Id="rId9" Type="http://schemas.openxmlformats.org/officeDocument/2006/relationships/image" Target="../media/image39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9D4694-0E45-4BC0-B015-0BBD0D220DE6}" type="datetimeFigureOut">
              <a:rPr lang="zh-CN" altLang="en-US" smtClean="0"/>
              <a:t>2023/11/15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6083B1-1128-4C87-AA51-BAED7875A2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29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>
                <a:solidFill>
                  <a:prstClr val="black"/>
                </a:solidFill>
                <a:latin typeface="等线"/>
                <a:ea typeface="等线" panose="02010600030101010101" pitchFamily="2" charset="-122"/>
              </a:rPr>
              <a:pPr/>
              <a:t>1</a:t>
            </a:fld>
            <a:endParaRPr lang="zh-CN" altLang="en-US" dirty="0">
              <a:solidFill>
                <a:prstClr val="black"/>
              </a:solidFill>
              <a:latin typeface="等线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1587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C29F5-5CAD-45E2-8601-ADB508C2F6A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0573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DE82A54-22DA-410F-ABEF-A148282DD685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628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D4B616D-F430-45A3-B2FD-A074B147F3DA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364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BF25EBD-7889-4D06-A5FA-7ABE535C7BEE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843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39B0306-37BD-4B50-B81E-190F57FEE726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8969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D55E9E8-05E8-42F4-8AED-2183AE192781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3506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CA4AB3D-7713-4529-927E-9521FA68C7A3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619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AB772E0-243E-4D7B-BB9A-06DCA235BC98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426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BBAD808-F593-4881-A275-3766FD759F40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553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D59A1DF-E25B-4194-BB58-DDFBB6433824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142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0D9BBDC-2BCC-48D5-9527-AE1DC8D57224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431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90B9C86-C698-4C2D-A9F9-CB9444561DCE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060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593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477000"/>
            <a:ext cx="2540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477000"/>
            <a:ext cx="4978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66CC"/>
                </a:solidFill>
                <a:latin typeface="华文仿宋" panose="02010600040101010101" pitchFamily="2" charset="-122"/>
                <a:ea typeface="华文仿宋" panose="0201060004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593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C03A3D8-4374-46BE-BE2B-F1E8B64D146B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769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/>
  <p:txStyles>
    <p:titleStyle>
      <a:lvl1pPr algn="ctr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13" Type="http://schemas.openxmlformats.org/officeDocument/2006/relationships/oleObject" Target="../embeddings/oleObject5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wmf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oleObject" Target="../embeddings/oleObject4.bin"/><Relationship Id="rId5" Type="http://schemas.openxmlformats.org/officeDocument/2006/relationships/image" Target="../media/image4.wmf"/><Relationship Id="rId10" Type="http://schemas.openxmlformats.org/officeDocument/2006/relationships/image" Target="../media/image6.wmf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3.bin"/><Relationship Id="rId14" Type="http://schemas.openxmlformats.org/officeDocument/2006/relationships/image" Target="../media/image8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0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4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10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oleObject" Target="../embeddings/oleObject12.bin"/><Relationship Id="rId7" Type="http://schemas.openxmlformats.org/officeDocument/2006/relationships/image" Target="../media/image16.wmf"/><Relationship Id="rId12" Type="http://schemas.openxmlformats.org/officeDocument/2006/relationships/image" Target="../media/image1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8.wmf"/><Relationship Id="rId5" Type="http://schemas.openxmlformats.org/officeDocument/2006/relationships/image" Target="../media/image18.png"/><Relationship Id="rId10" Type="http://schemas.openxmlformats.org/officeDocument/2006/relationships/oleObject" Target="../embeddings/oleObject15.bin"/><Relationship Id="rId4" Type="http://schemas.openxmlformats.org/officeDocument/2006/relationships/image" Target="../media/image7.wmf"/><Relationship Id="rId9" Type="http://schemas.openxmlformats.org/officeDocument/2006/relationships/image" Target="../media/image17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oleObject" Target="../embeddings/oleObject16.bin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0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13.wmf"/><Relationship Id="rId3" Type="http://schemas.openxmlformats.org/officeDocument/2006/relationships/oleObject" Target="../embeddings/oleObject18.bin"/><Relationship Id="rId7" Type="http://schemas.openxmlformats.org/officeDocument/2006/relationships/image" Target="../media/image7.wmf"/><Relationship Id="rId12" Type="http://schemas.openxmlformats.org/officeDocument/2006/relationships/oleObject" Target="../embeddings/oleObject9.bin"/><Relationship Id="rId17" Type="http://schemas.openxmlformats.org/officeDocument/2006/relationships/image" Target="../media/image2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1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5.wmf"/><Relationship Id="rId5" Type="http://schemas.openxmlformats.org/officeDocument/2006/relationships/image" Target="../media/image22.png"/><Relationship Id="rId15" Type="http://schemas.openxmlformats.org/officeDocument/2006/relationships/image" Target="../media/image26.wmf"/><Relationship Id="rId10" Type="http://schemas.openxmlformats.org/officeDocument/2006/relationships/oleObject" Target="../embeddings/oleObject11.bin"/><Relationship Id="rId4" Type="http://schemas.openxmlformats.org/officeDocument/2006/relationships/image" Target="../media/image20.wmf"/><Relationship Id="rId9" Type="http://schemas.openxmlformats.org/officeDocument/2006/relationships/image" Target="../media/image8.wmf"/><Relationship Id="rId14" Type="http://schemas.openxmlformats.org/officeDocument/2006/relationships/oleObject" Target="../embeddings/oleObject20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13.wmf"/><Relationship Id="rId3" Type="http://schemas.openxmlformats.org/officeDocument/2006/relationships/oleObject" Target="../embeddings/oleObject17.bin"/><Relationship Id="rId7" Type="http://schemas.openxmlformats.org/officeDocument/2006/relationships/image" Target="../media/image7.wmf"/><Relationship Id="rId12" Type="http://schemas.openxmlformats.org/officeDocument/2006/relationships/oleObject" Target="../embeddings/oleObject9.bin"/><Relationship Id="rId17" Type="http://schemas.openxmlformats.org/officeDocument/2006/relationships/image" Target="../media/image2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4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5.wmf"/><Relationship Id="rId5" Type="http://schemas.openxmlformats.org/officeDocument/2006/relationships/image" Target="../media/image23.png"/><Relationship Id="rId15" Type="http://schemas.openxmlformats.org/officeDocument/2006/relationships/image" Target="../media/image28.wmf"/><Relationship Id="rId10" Type="http://schemas.openxmlformats.org/officeDocument/2006/relationships/oleObject" Target="../embeddings/oleObject11.bin"/><Relationship Id="rId4" Type="http://schemas.openxmlformats.org/officeDocument/2006/relationships/image" Target="../media/image21.wmf"/><Relationship Id="rId9" Type="http://schemas.openxmlformats.org/officeDocument/2006/relationships/image" Target="../media/image8.wmf"/><Relationship Id="rId14" Type="http://schemas.openxmlformats.org/officeDocument/2006/relationships/oleObject" Target="../embeddings/oleObject23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30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31.bin"/><Relationship Id="rId18" Type="http://schemas.openxmlformats.org/officeDocument/2006/relationships/image" Target="../media/image38.emf"/><Relationship Id="rId3" Type="http://schemas.openxmlformats.org/officeDocument/2006/relationships/oleObject" Target="../embeddings/oleObject26.bin"/><Relationship Id="rId21" Type="http://schemas.openxmlformats.org/officeDocument/2006/relationships/oleObject" Target="../embeddings/oleObject35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35.wmf"/><Relationship Id="rId17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7.wmf"/><Relationship Id="rId20" Type="http://schemas.openxmlformats.org/officeDocument/2006/relationships/image" Target="../media/image39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2.emf"/><Relationship Id="rId11" Type="http://schemas.openxmlformats.org/officeDocument/2006/relationships/oleObject" Target="../embeddings/oleObject30.bin"/><Relationship Id="rId24" Type="http://schemas.openxmlformats.org/officeDocument/2006/relationships/image" Target="../media/image41.wmf"/><Relationship Id="rId5" Type="http://schemas.openxmlformats.org/officeDocument/2006/relationships/oleObject" Target="../embeddings/oleObject27.bin"/><Relationship Id="rId15" Type="http://schemas.openxmlformats.org/officeDocument/2006/relationships/oleObject" Target="../embeddings/oleObject32.bin"/><Relationship Id="rId23" Type="http://schemas.openxmlformats.org/officeDocument/2006/relationships/oleObject" Target="../embeddings/oleObject36.bin"/><Relationship Id="rId10" Type="http://schemas.openxmlformats.org/officeDocument/2006/relationships/image" Target="../media/image34.emf"/><Relationship Id="rId19" Type="http://schemas.openxmlformats.org/officeDocument/2006/relationships/oleObject" Target="../embeddings/oleObject34.bin"/><Relationship Id="rId4" Type="http://schemas.openxmlformats.org/officeDocument/2006/relationships/image" Target="../media/image31.wmf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36.emf"/><Relationship Id="rId22" Type="http://schemas.openxmlformats.org/officeDocument/2006/relationships/image" Target="../media/image40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4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59185" y="2074630"/>
            <a:ext cx="6339151" cy="1854200"/>
          </a:xfrm>
        </p:spPr>
        <p:txBody>
          <a:bodyPr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4000" dirty="0" smtClean="0">
                <a:solidFill>
                  <a:srgbClr val="234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endParaRPr lang="zh-CN" altLang="en-US" sz="4000" dirty="0">
              <a:solidFill>
                <a:srgbClr val="23477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013" y="399944"/>
            <a:ext cx="1912647" cy="463382"/>
          </a:xfrm>
          <a:prstGeom prst="rect">
            <a:avLst/>
          </a:prstGeom>
        </p:spPr>
      </p:pic>
      <p:grpSp>
        <p:nvGrpSpPr>
          <p:cNvPr id="10" name="组合 9"/>
          <p:cNvGrpSpPr>
            <a:grpSpLocks noChangeAspect="1"/>
          </p:cNvGrpSpPr>
          <p:nvPr/>
        </p:nvGrpSpPr>
        <p:grpSpPr>
          <a:xfrm>
            <a:off x="787180" y="2192687"/>
            <a:ext cx="2863589" cy="1617313"/>
            <a:chOff x="3367821" y="2336603"/>
            <a:chExt cx="3846124" cy="2172237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000"/>
            <a:stretch/>
          </p:blipFill>
          <p:spPr>
            <a:xfrm>
              <a:off x="3367821" y="2337641"/>
              <a:ext cx="3846124" cy="217119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588" t="-273" r="15178" b="91664"/>
            <a:stretch/>
          </p:blipFill>
          <p:spPr>
            <a:xfrm>
              <a:off x="4279348" y="2336603"/>
              <a:ext cx="712760" cy="176959"/>
            </a:xfrm>
            <a:prstGeom prst="rect">
              <a:avLst/>
            </a:prstGeom>
          </p:spPr>
        </p:pic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D28F5323-CD48-4559-805E-B472C5FB008E}"/>
              </a:ext>
            </a:extLst>
          </p:cNvPr>
          <p:cNvGrpSpPr/>
          <p:nvPr/>
        </p:nvGrpSpPr>
        <p:grpSpPr>
          <a:xfrm>
            <a:off x="3003583" y="3103060"/>
            <a:ext cx="928337" cy="905057"/>
            <a:chOff x="4480943" y="4021832"/>
            <a:chExt cx="980406" cy="103868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202CC45-2CC5-4C2F-A9D1-3ED274598467}"/>
                </a:ext>
              </a:extLst>
            </p:cNvPr>
            <p:cNvSpPr/>
            <p:nvPr/>
          </p:nvSpPr>
          <p:spPr>
            <a:xfrm>
              <a:off x="4480943" y="4021832"/>
              <a:ext cx="980406" cy="1038683"/>
            </a:xfrm>
            <a:prstGeom prst="rect">
              <a:avLst/>
            </a:prstGeom>
            <a:solidFill>
              <a:srgbClr val="2347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4511092" y="4218008"/>
              <a:ext cx="950257" cy="600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en-US" altLang="zh-CN" sz="2800" b="1" baseline="-25000" dirty="0" smtClean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</a:t>
              </a:r>
              <a:endParaRPr lang="en-US" altLang="zh-CN" sz="3600" b="1" baseline="-25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副标题 2"/>
          <p:cNvSpPr txBox="1">
            <a:spLocks/>
          </p:cNvSpPr>
          <p:nvPr/>
        </p:nvSpPr>
        <p:spPr>
          <a:xfrm>
            <a:off x="6397067" y="4149608"/>
            <a:ext cx="2941320" cy="9905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吴超</a:t>
            </a:r>
            <a:endParaRPr lang="en-US" altLang="zh-CN" sz="280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 </a:t>
            </a:r>
            <a:r>
              <a:rPr lang="zh-CN" altLang="en-US" sz="20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 工 程 学 院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4763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10"/>
          <p:cNvSpPr/>
          <p:nvPr/>
        </p:nvSpPr>
        <p:spPr>
          <a:xfrm>
            <a:off x="729205" y="1585122"/>
            <a:ext cx="10741306" cy="4794511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977" y="353440"/>
            <a:ext cx="1748577" cy="587059"/>
          </a:xfrm>
        </p:spPr>
        <p:txBody>
          <a:bodyPr anchor="ctr">
            <a:noAutofit/>
          </a:bodyPr>
          <a:lstStyle/>
          <a:p>
            <a:r>
              <a:rPr lang="zh-CN" altLang="en-US" sz="2800" dirty="0" smtClean="0"/>
              <a:t>复习</a:t>
            </a:r>
            <a:endParaRPr lang="zh-CN" altLang="en-US" sz="2800" dirty="0"/>
          </a:p>
        </p:txBody>
      </p:sp>
      <p:sp>
        <p:nvSpPr>
          <p:cNvPr id="9" name="Oval 1"/>
          <p:cNvSpPr txBox="1"/>
          <p:nvPr/>
        </p:nvSpPr>
        <p:spPr>
          <a:xfrm>
            <a:off x="1180055" y="1917684"/>
            <a:ext cx="10042200" cy="433965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DTFT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性质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时移、频移、卷积特性、</a:t>
            </a:r>
            <a:r>
              <a:rPr kumimoji="1" lang="en-US" altLang="zh-CN" sz="2400" b="1" dirty="0" err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Parseval</a:t>
            </a:r>
            <a:r>
              <a:rPr kumimoji="1" lang="zh-CN" altLang="en-US" sz="2400" b="1" dirty="0" smtClean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定理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en-US" altLang="zh-CN" sz="24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IDFS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endParaRPr lang="en-US" altLang="zh-CN" sz="24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en-US" altLang="zh-CN" sz="24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性质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、时移、频移、对称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特性、周期卷积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例如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特殊的时域是实函数、实对称函数的频谱特点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</a:p>
        </p:txBody>
      </p:sp>
      <p:graphicFrame>
        <p:nvGraphicFramePr>
          <p:cNvPr id="5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349511"/>
              </p:ext>
            </p:extLst>
          </p:nvPr>
        </p:nvGraphicFramePr>
        <p:xfrm>
          <a:off x="1872572" y="3713373"/>
          <a:ext cx="4103158" cy="7309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8" name="Equation" r:id="rId4" imgW="2489040" imgH="444240" progId="Equation.DSMT4">
                  <p:embed/>
                </p:oleObj>
              </mc:Choice>
              <mc:Fallback>
                <p:oleObj name="Equation" r:id="rId4" imgW="2489040" imgH="444240" progId="Equation.DSMT4">
                  <p:embed/>
                  <p:pic>
                    <p:nvPicPr>
                      <p:cNvPr id="8218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2572" y="3713373"/>
                        <a:ext cx="4103158" cy="730986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552532"/>
              </p:ext>
            </p:extLst>
          </p:nvPr>
        </p:nvGraphicFramePr>
        <p:xfrm>
          <a:off x="6031822" y="3713373"/>
          <a:ext cx="4623673" cy="7309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9" name="Equation" r:id="rId6" imgW="2234880" imgH="444240" progId="Equation.DSMT4">
                  <p:embed/>
                </p:oleObj>
              </mc:Choice>
              <mc:Fallback>
                <p:oleObj name="Equation" r:id="rId6" imgW="2234880" imgH="444240" progId="Equation.DSMT4">
                  <p:embed/>
                  <p:pic>
                    <p:nvPicPr>
                      <p:cNvPr id="8217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1822" y="3713373"/>
                        <a:ext cx="4623673" cy="730986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72572" y="2531340"/>
            <a:ext cx="4666488" cy="601980"/>
          </a:xfrm>
          <a:prstGeom prst="rect">
            <a:avLst/>
          </a:prstGeom>
        </p:spPr>
      </p:pic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2611806"/>
              </p:ext>
            </p:extLst>
          </p:nvPr>
        </p:nvGraphicFramePr>
        <p:xfrm>
          <a:off x="6809005" y="2477030"/>
          <a:ext cx="441325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0" name="Equation" r:id="rId9" imgW="1765080" imgH="228600" progId="Equation.DSMT4">
                  <p:embed/>
                </p:oleObj>
              </mc:Choice>
              <mc:Fallback>
                <p:oleObj name="Equation" r:id="rId9" imgW="1765080" imgH="228600" progId="Equation.DSMT4">
                  <p:embed/>
                  <p:pic>
                    <p:nvPicPr>
                      <p:cNvPr id="4915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9005" y="2477030"/>
                        <a:ext cx="4413250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572674"/>
              </p:ext>
            </p:extLst>
          </p:nvPr>
        </p:nvGraphicFramePr>
        <p:xfrm>
          <a:off x="2188634" y="5059654"/>
          <a:ext cx="3395663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1" name="Equation" r:id="rId11" imgW="1358640" imgH="228600" progId="Equation.DSMT4">
                  <p:embed/>
                </p:oleObj>
              </mc:Choice>
              <mc:Fallback>
                <p:oleObj name="Equation" r:id="rId11" imgW="1358640" imgH="228600" progId="Equation.DSMT4">
                  <p:embed/>
                  <p:pic>
                    <p:nvPicPr>
                      <p:cNvPr id="112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8634" y="5059654"/>
                        <a:ext cx="3395663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9411993"/>
              </p:ext>
            </p:extLst>
          </p:nvPr>
        </p:nvGraphicFramePr>
        <p:xfrm>
          <a:off x="5795433" y="5051841"/>
          <a:ext cx="3395663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2" name="Equation" r:id="rId13" imgW="1358640" imgH="228600" progId="Equation.DSMT4">
                  <p:embed/>
                </p:oleObj>
              </mc:Choice>
              <mc:Fallback>
                <p:oleObj name="Equation" r:id="rId13" imgW="1358640" imgH="228600" progId="Equation.DSMT4">
                  <p:embed/>
                  <p:pic>
                    <p:nvPicPr>
                      <p:cNvPr id="112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433" y="5051841"/>
                        <a:ext cx="3395663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185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900" y="419100"/>
            <a:ext cx="10363200" cy="1143000"/>
          </a:xfrm>
        </p:spPr>
        <p:txBody>
          <a:bodyPr/>
          <a:lstStyle/>
          <a:p>
            <a:r>
              <a:rPr lang="zh-CN" altLang="en-US" dirty="0"/>
              <a:t>周期</a:t>
            </a:r>
            <a:r>
              <a:rPr lang="zh-CN" altLang="en-US" dirty="0" smtClean="0"/>
              <a:t>卷积与线性卷积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7132990"/>
              </p:ext>
            </p:extLst>
          </p:nvPr>
        </p:nvGraphicFramePr>
        <p:xfrm>
          <a:off x="629709" y="2301875"/>
          <a:ext cx="3549650" cy="362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7" name="Equation" r:id="rId3" imgW="1155600" imgH="1180800" progId="Equation.DSMT4">
                  <p:embed/>
                </p:oleObj>
              </mc:Choice>
              <mc:Fallback>
                <p:oleObj name="Equation" r:id="rId3" imgW="1155600" imgH="1180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9709" y="2301875"/>
                        <a:ext cx="3549650" cy="3625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6183844"/>
              </p:ext>
            </p:extLst>
          </p:nvPr>
        </p:nvGraphicFramePr>
        <p:xfrm>
          <a:off x="4707996" y="2374371"/>
          <a:ext cx="7254875" cy="319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8" name="Equation" r:id="rId5" imgW="2361960" imgH="1041120" progId="Equation.DSMT4">
                  <p:embed/>
                </p:oleObj>
              </mc:Choice>
              <mc:Fallback>
                <p:oleObj name="Equation" r:id="rId5" imgW="2361960" imgH="104112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07996" y="2374371"/>
                        <a:ext cx="7254875" cy="3197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3878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DFS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14" name="Text Box 22"/>
          <p:cNvSpPr txBox="1">
            <a:spLocks noChangeArrowheads="1"/>
          </p:cNvSpPr>
          <p:nvPr/>
        </p:nvSpPr>
        <p:spPr bwMode="auto">
          <a:xfrm>
            <a:off x="3071813" y="1268413"/>
            <a:ext cx="3886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周期为</a:t>
            </a:r>
            <a:r>
              <a:rPr kumimoji="1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的任意序列</a:t>
            </a:r>
          </a:p>
        </p:txBody>
      </p:sp>
      <p:graphicFrame>
        <p:nvGraphicFramePr>
          <p:cNvPr id="8217" name="Object 25"/>
          <p:cNvGraphicFramePr>
            <a:graphicFrameLocks noChangeAspect="1"/>
          </p:cNvGraphicFramePr>
          <p:nvPr>
            <p:extLst/>
          </p:nvPr>
        </p:nvGraphicFramePr>
        <p:xfrm>
          <a:off x="2547938" y="3860800"/>
          <a:ext cx="6376987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0" name="Equation" r:id="rId3" imgW="2234880" imgH="444240" progId="Equation.DSMT4">
                  <p:embed/>
                </p:oleObj>
              </mc:Choice>
              <mc:Fallback>
                <p:oleObj name="Equation" r:id="rId3" imgW="2234880" imgH="444240" progId="Equation.DSMT4">
                  <p:embed/>
                  <p:pic>
                    <p:nvPicPr>
                      <p:cNvPr id="8217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7938" y="3860800"/>
                        <a:ext cx="6376987" cy="1106488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8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7540956"/>
              </p:ext>
            </p:extLst>
          </p:nvPr>
        </p:nvGraphicFramePr>
        <p:xfrm>
          <a:off x="2616200" y="2132013"/>
          <a:ext cx="621982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1" name="Equation" r:id="rId5" imgW="2489040" imgH="444240" progId="Equation.DSMT4">
                  <p:embed/>
                </p:oleObj>
              </mc:Choice>
              <mc:Fallback>
                <p:oleObj name="Equation" r:id="rId5" imgW="2489040" imgH="444240" progId="Equation.DSMT4">
                  <p:embed/>
                  <p:pic>
                    <p:nvPicPr>
                      <p:cNvPr id="8218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6200" y="2132013"/>
                        <a:ext cx="6219825" cy="110807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0" name="Object 28"/>
          <p:cNvGraphicFramePr>
            <a:graphicFrameLocks noChangeAspect="1"/>
          </p:cNvGraphicFramePr>
          <p:nvPr>
            <p:extLst/>
          </p:nvPr>
        </p:nvGraphicFramePr>
        <p:xfrm>
          <a:off x="5776913" y="1236663"/>
          <a:ext cx="73025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2" name="Equation" r:id="rId7" imgW="291960" imgH="203040" progId="Equation.DSMT4">
                  <p:embed/>
                </p:oleObj>
              </mc:Choice>
              <mc:Fallback>
                <p:oleObj name="Equation" r:id="rId7" imgW="291960" imgH="203040" progId="Equation.DSMT4">
                  <p:embed/>
                  <p:pic>
                    <p:nvPicPr>
                      <p:cNvPr id="822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6913" y="1236663"/>
                        <a:ext cx="73025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1" name="Text Box 29"/>
          <p:cNvSpPr txBox="1">
            <a:spLocks noChangeArrowheads="1"/>
          </p:cNvSpPr>
          <p:nvPr/>
        </p:nvSpPr>
        <p:spPr bwMode="auto">
          <a:xfrm>
            <a:off x="3886200" y="319088"/>
            <a:ext cx="4267200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周期序列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DFS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IDFS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定义</a:t>
            </a:r>
          </a:p>
        </p:txBody>
      </p:sp>
      <p:sp>
        <p:nvSpPr>
          <p:cNvPr id="8222" name="Rectangle 30"/>
          <p:cNvSpPr>
            <a:spLocks noChangeArrowheads="1"/>
          </p:cNvSpPr>
          <p:nvPr/>
        </p:nvSpPr>
        <p:spPr bwMode="auto">
          <a:xfrm>
            <a:off x="1676400" y="11430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3103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DFS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1703389" y="1196975"/>
            <a:ext cx="2447925" cy="946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20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对称特性</a:t>
            </a: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269" name="Object 5"/>
          <p:cNvGraphicFramePr>
            <a:graphicFrameLocks noChangeAspect="1"/>
          </p:cNvGraphicFramePr>
          <p:nvPr>
            <p:extLst/>
          </p:nvPr>
        </p:nvGraphicFramePr>
        <p:xfrm>
          <a:off x="3949700" y="2016125"/>
          <a:ext cx="3395663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2" name="Equation" r:id="rId3" imgW="1358640" imgH="228600" progId="Equation.DSMT4">
                  <p:embed/>
                </p:oleObj>
              </mc:Choice>
              <mc:Fallback>
                <p:oleObj name="Equation" r:id="rId3" imgW="1358640" imgH="228600" progId="Equation.DSMT4">
                  <p:embed/>
                  <p:pic>
                    <p:nvPicPr>
                      <p:cNvPr id="112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9700" y="2016125"/>
                        <a:ext cx="3395663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6"/>
          <p:cNvGraphicFramePr>
            <a:graphicFrameLocks noChangeAspect="1"/>
          </p:cNvGraphicFramePr>
          <p:nvPr>
            <p:extLst/>
          </p:nvPr>
        </p:nvGraphicFramePr>
        <p:xfrm>
          <a:off x="3949700" y="2701925"/>
          <a:ext cx="3395663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3" name="Equation" r:id="rId5" imgW="1358640" imgH="228600" progId="Equation.DSMT4">
                  <p:embed/>
                </p:oleObj>
              </mc:Choice>
              <mc:Fallback>
                <p:oleObj name="Equation" r:id="rId5" imgW="1358640" imgH="228600" progId="Equation.DSMT4">
                  <p:embed/>
                  <p:pic>
                    <p:nvPicPr>
                      <p:cNvPr id="112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9700" y="2701925"/>
                        <a:ext cx="3395663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5" name="Text Box 11"/>
          <p:cNvSpPr txBox="1">
            <a:spLocks noChangeArrowheads="1"/>
          </p:cNvSpPr>
          <p:nvPr/>
        </p:nvSpPr>
        <p:spPr bwMode="auto">
          <a:xfrm>
            <a:off x="1992314" y="3716338"/>
            <a:ext cx="52678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Tx/>
              <a:buChar char="•"/>
            </a:pP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若为实序列，则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</a:t>
            </a:r>
            <a:endParaRPr kumimoji="1"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276" name="Object 12"/>
          <p:cNvGraphicFramePr>
            <a:graphicFrameLocks noChangeAspect="1"/>
          </p:cNvGraphicFramePr>
          <p:nvPr>
            <p:extLst/>
          </p:nvPr>
        </p:nvGraphicFramePr>
        <p:xfrm>
          <a:off x="4321175" y="4292600"/>
          <a:ext cx="1903413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4" name="Equation" r:id="rId7" imgW="952200" imgH="228600" progId="Equation.DSMT4">
                  <p:embed/>
                </p:oleObj>
              </mc:Choice>
              <mc:Fallback>
                <p:oleObj name="Equation" r:id="rId7" imgW="952200" imgH="228600" progId="Equation.DSMT4">
                  <p:embed/>
                  <p:pic>
                    <p:nvPicPr>
                      <p:cNvPr id="1127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1175" y="4292600"/>
                        <a:ext cx="1903413" cy="455613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4" name="Text Box 20"/>
          <p:cNvSpPr txBox="1">
            <a:spLocks noChangeArrowheads="1"/>
          </p:cNvSpPr>
          <p:nvPr/>
        </p:nvSpPr>
        <p:spPr bwMode="auto">
          <a:xfrm>
            <a:off x="3935413" y="260351"/>
            <a:ext cx="4114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DFS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的基本性质</a:t>
            </a:r>
            <a:endParaRPr kumimoji="1"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85" name="Rectangle 21"/>
          <p:cNvSpPr>
            <a:spLocks noChangeArrowheads="1"/>
          </p:cNvSpPr>
          <p:nvPr/>
        </p:nvSpPr>
        <p:spPr bwMode="auto">
          <a:xfrm>
            <a:off x="1752600" y="8366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286" name="Object 22"/>
          <p:cNvGraphicFramePr>
            <a:graphicFrameLocks noChangeAspect="1"/>
          </p:cNvGraphicFramePr>
          <p:nvPr>
            <p:extLst/>
          </p:nvPr>
        </p:nvGraphicFramePr>
        <p:xfrm>
          <a:off x="2406650" y="5173663"/>
          <a:ext cx="2055813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5" name="Equation" r:id="rId9" imgW="1028520" imgH="457200" progId="Equation.DSMT4">
                  <p:embed/>
                </p:oleObj>
              </mc:Choice>
              <mc:Fallback>
                <p:oleObj name="Equation" r:id="rId9" imgW="1028520" imgH="457200" progId="Equation.DSMT4">
                  <p:embed/>
                  <p:pic>
                    <p:nvPicPr>
                      <p:cNvPr id="1128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6650" y="5173663"/>
                        <a:ext cx="2055813" cy="911225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7" name="Object 23"/>
          <p:cNvGraphicFramePr>
            <a:graphicFrameLocks noChangeAspect="1"/>
          </p:cNvGraphicFramePr>
          <p:nvPr>
            <p:extLst/>
          </p:nvPr>
        </p:nvGraphicFramePr>
        <p:xfrm>
          <a:off x="6126163" y="5211763"/>
          <a:ext cx="2106612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6" name="Equation" r:id="rId11" imgW="1054080" imgH="482400" progId="Equation.DSMT4">
                  <p:embed/>
                </p:oleObj>
              </mc:Choice>
              <mc:Fallback>
                <p:oleObj name="Equation" r:id="rId11" imgW="1054080" imgH="482400" progId="Equation.DSMT4">
                  <p:embed/>
                  <p:pic>
                    <p:nvPicPr>
                      <p:cNvPr id="1128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6163" y="5211763"/>
                        <a:ext cx="2106612" cy="962025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8" name="Line 24"/>
          <p:cNvSpPr>
            <a:spLocks noChangeShapeType="1"/>
          </p:cNvSpPr>
          <p:nvPr/>
        </p:nvSpPr>
        <p:spPr bwMode="auto">
          <a:xfrm flipH="1">
            <a:off x="3432176" y="4724400"/>
            <a:ext cx="1871663" cy="433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89" name="Line 25"/>
          <p:cNvSpPr>
            <a:spLocks noChangeShapeType="1"/>
          </p:cNvSpPr>
          <p:nvPr/>
        </p:nvSpPr>
        <p:spPr bwMode="auto">
          <a:xfrm>
            <a:off x="5303839" y="4724401"/>
            <a:ext cx="1800225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0755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9157469"/>
              </p:ext>
            </p:extLst>
          </p:nvPr>
        </p:nvGraphicFramePr>
        <p:xfrm>
          <a:off x="486568" y="148136"/>
          <a:ext cx="3395663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9" name="Equation" r:id="rId3" imgW="1358640" imgH="228600" progId="Equation.DSMT4">
                  <p:embed/>
                </p:oleObj>
              </mc:Choice>
              <mc:Fallback>
                <p:oleObj name="Equation" r:id="rId3" imgW="1358640" imgH="228600" progId="Equation.DSMT4">
                  <p:embed/>
                  <p:pic>
                    <p:nvPicPr>
                      <p:cNvPr id="112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568" y="148136"/>
                        <a:ext cx="3395663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714874"/>
            <a:ext cx="5572227" cy="1079086"/>
          </a:xfrm>
          <a:prstGeom prst="rect">
            <a:avLst/>
          </a:prstGeom>
        </p:spPr>
      </p:pic>
      <p:graphicFrame>
        <p:nvGraphicFramePr>
          <p:cNvPr id="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4766073"/>
              </p:ext>
            </p:extLst>
          </p:nvPr>
        </p:nvGraphicFramePr>
        <p:xfrm>
          <a:off x="2225675" y="1822450"/>
          <a:ext cx="4094163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40" name="Equation" r:id="rId6" imgW="1434960" imgH="444240" progId="Equation.DSMT4">
                  <p:embed/>
                </p:oleObj>
              </mc:Choice>
              <mc:Fallback>
                <p:oleObj name="Equation" r:id="rId6" imgW="1434960" imgH="444240" progId="Equation.DSMT4">
                  <p:embed/>
                  <p:pic>
                    <p:nvPicPr>
                      <p:cNvPr id="8217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5675" y="1822450"/>
                        <a:ext cx="4094163" cy="1106488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9291122"/>
              </p:ext>
            </p:extLst>
          </p:nvPr>
        </p:nvGraphicFramePr>
        <p:xfrm>
          <a:off x="6761526" y="1793960"/>
          <a:ext cx="3478212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41" name="Equation" r:id="rId8" imgW="1218960" imgH="431640" progId="Equation.DSMT4">
                  <p:embed/>
                </p:oleObj>
              </mc:Choice>
              <mc:Fallback>
                <p:oleObj name="Equation" r:id="rId8" imgW="1218960" imgH="431640" progId="Equation.DSMT4">
                  <p:embed/>
                  <p:pic>
                    <p:nvPicPr>
                      <p:cNvPr id="6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1526" y="1793960"/>
                        <a:ext cx="3478212" cy="1074737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3209383"/>
              </p:ext>
            </p:extLst>
          </p:nvPr>
        </p:nvGraphicFramePr>
        <p:xfrm>
          <a:off x="527843" y="3568742"/>
          <a:ext cx="3395663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42" name="Equation" r:id="rId10" imgW="1358640" imgH="228600" progId="Equation.DSMT4">
                  <p:embed/>
                </p:oleObj>
              </mc:Choice>
              <mc:Fallback>
                <p:oleObj name="Equation" r:id="rId10" imgW="1358640" imgH="228600" progId="Equation.DSMT4">
                  <p:embed/>
                  <p:pic>
                    <p:nvPicPr>
                      <p:cNvPr id="112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843" y="3568742"/>
                        <a:ext cx="3395663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5096" y="4484245"/>
            <a:ext cx="5151566" cy="1298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809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DFS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99" name="Text Box 11"/>
          <p:cNvSpPr txBox="1">
            <a:spLocks noChangeArrowheads="1"/>
          </p:cNvSpPr>
          <p:nvPr/>
        </p:nvSpPr>
        <p:spPr bwMode="auto">
          <a:xfrm>
            <a:off x="1992313" y="3500438"/>
            <a:ext cx="54721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Tx/>
              <a:buChar char="•"/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若          为奇对称的实序列，则有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05" name="Text Box 17"/>
          <p:cNvSpPr txBox="1">
            <a:spLocks noChangeArrowheads="1"/>
          </p:cNvSpPr>
          <p:nvPr/>
        </p:nvSpPr>
        <p:spPr bwMode="auto">
          <a:xfrm>
            <a:off x="1919288" y="1844675"/>
            <a:ext cx="5327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Tx/>
              <a:buChar char="•"/>
            </a:pP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若         为偶对称的实序列，则有</a:t>
            </a:r>
          </a:p>
        </p:txBody>
      </p:sp>
      <p:sp>
        <p:nvSpPr>
          <p:cNvPr id="12307" name="Text Box 19"/>
          <p:cNvSpPr txBox="1">
            <a:spLocks noChangeArrowheads="1"/>
          </p:cNvSpPr>
          <p:nvPr/>
        </p:nvSpPr>
        <p:spPr bwMode="auto">
          <a:xfrm>
            <a:off x="3935413" y="260351"/>
            <a:ext cx="4114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DFS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的基本性质</a:t>
            </a:r>
            <a:endParaRPr kumimoji="1"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08" name="Rectangle 20"/>
          <p:cNvSpPr>
            <a:spLocks noChangeArrowheads="1"/>
          </p:cNvSpPr>
          <p:nvPr/>
        </p:nvSpPr>
        <p:spPr bwMode="auto">
          <a:xfrm>
            <a:off x="1752600" y="8366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230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132928"/>
              </p:ext>
            </p:extLst>
          </p:nvPr>
        </p:nvGraphicFramePr>
        <p:xfrm>
          <a:off x="2463800" y="1812925"/>
          <a:ext cx="728663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49" name="Equation" r:id="rId3" imgW="291960" imgH="203040" progId="Equation.DSMT4">
                  <p:embed/>
                </p:oleObj>
              </mc:Choice>
              <mc:Fallback>
                <p:oleObj name="Equation" r:id="rId3" imgW="291960" imgH="203040" progId="Equation.DSMT4">
                  <p:embed/>
                  <p:pic>
                    <p:nvPicPr>
                      <p:cNvPr id="1230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0" y="1812925"/>
                        <a:ext cx="728663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4095032"/>
              </p:ext>
            </p:extLst>
          </p:nvPr>
        </p:nvGraphicFramePr>
        <p:xfrm>
          <a:off x="2608263" y="3468688"/>
          <a:ext cx="728662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50" name="Equation" r:id="rId5" imgW="291960" imgH="203040" progId="Equation.DSMT4">
                  <p:embed/>
                </p:oleObj>
              </mc:Choice>
              <mc:Fallback>
                <p:oleObj name="Equation" r:id="rId5" imgW="291960" imgH="203040" progId="Equation.DSMT4">
                  <p:embed/>
                  <p:pic>
                    <p:nvPicPr>
                      <p:cNvPr id="1231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8263" y="3468688"/>
                        <a:ext cx="728662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9633" y="2451100"/>
            <a:ext cx="4350808" cy="66463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9633" y="4135437"/>
            <a:ext cx="4676775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2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9" grpId="0" autoUpdateAnimBg="0"/>
      <p:bldP spid="1230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208433" y="1604432"/>
            <a:ext cx="23325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c</a:t>
            </a:r>
            <a:r>
              <a:rPr lang="en-US" altLang="zh-CN" sz="3600" dirty="0" smtClean="0"/>
              <a:t>os</a:t>
            </a:r>
            <a:r>
              <a:rPr lang="zh-CN" altLang="en-US" sz="3600" dirty="0" smtClean="0"/>
              <a:t>（</a:t>
            </a:r>
            <a:r>
              <a:rPr lang="en-US" altLang="zh-CN" sz="3600" dirty="0" smtClean="0"/>
              <a:t>pi/5n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66" y="442383"/>
            <a:ext cx="7344833" cy="550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737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31" y="573617"/>
            <a:ext cx="7611533" cy="57086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208433" y="1604432"/>
            <a:ext cx="23325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smtClean="0"/>
              <a:t>sin</a:t>
            </a:r>
            <a:r>
              <a:rPr lang="zh-CN" altLang="en-US" sz="3600" dirty="0" smtClean="0"/>
              <a:t>（</a:t>
            </a:r>
            <a:r>
              <a:rPr lang="en-US" altLang="zh-CN" sz="3600" dirty="0" smtClean="0"/>
              <a:t>pi/5n</a:t>
            </a:r>
            <a:r>
              <a:rPr lang="zh-CN" altLang="en-US" sz="3600" dirty="0" smtClean="0"/>
              <a:t>）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802283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DFS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05" name="Text Box 17"/>
          <p:cNvSpPr txBox="1">
            <a:spLocks noChangeArrowheads="1"/>
          </p:cNvSpPr>
          <p:nvPr/>
        </p:nvSpPr>
        <p:spPr bwMode="auto">
          <a:xfrm>
            <a:off x="528638" y="993775"/>
            <a:ext cx="5327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Tx/>
              <a:buChar char="•"/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若         为偶对称的实序列，则有</a:t>
            </a:r>
          </a:p>
        </p:txBody>
      </p:sp>
      <p:sp>
        <p:nvSpPr>
          <p:cNvPr id="12307" name="Text Box 19"/>
          <p:cNvSpPr txBox="1">
            <a:spLocks noChangeArrowheads="1"/>
          </p:cNvSpPr>
          <p:nvPr/>
        </p:nvSpPr>
        <p:spPr bwMode="auto">
          <a:xfrm>
            <a:off x="3935413" y="260351"/>
            <a:ext cx="4114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DFS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的基本性质</a:t>
            </a:r>
            <a:endParaRPr kumimoji="1"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08" name="Rectangle 20"/>
          <p:cNvSpPr>
            <a:spLocks noChangeArrowheads="1"/>
          </p:cNvSpPr>
          <p:nvPr/>
        </p:nvSpPr>
        <p:spPr bwMode="auto">
          <a:xfrm>
            <a:off x="1752600" y="8366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230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5840376"/>
              </p:ext>
            </p:extLst>
          </p:nvPr>
        </p:nvGraphicFramePr>
        <p:xfrm>
          <a:off x="1118326" y="944562"/>
          <a:ext cx="728663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89" name="Equation" r:id="rId3" imgW="291960" imgH="203040" progId="Equation.DSMT4">
                  <p:embed/>
                </p:oleObj>
              </mc:Choice>
              <mc:Fallback>
                <p:oleObj name="Equation" r:id="rId3" imgW="291960" imgH="203040" progId="Equation.DSMT4">
                  <p:embed/>
                  <p:pic>
                    <p:nvPicPr>
                      <p:cNvPr id="1230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8326" y="944562"/>
                        <a:ext cx="728663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9021" y="944562"/>
            <a:ext cx="4350808" cy="664633"/>
          </a:xfrm>
          <a:prstGeom prst="rect">
            <a:avLst/>
          </a:prstGeom>
        </p:spPr>
      </p:pic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8251931"/>
              </p:ext>
            </p:extLst>
          </p:nvPr>
        </p:nvGraphicFramePr>
        <p:xfrm>
          <a:off x="1572260" y="2099469"/>
          <a:ext cx="3395663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90" name="Equation" r:id="rId6" imgW="1358640" imgH="228600" progId="Equation.DSMT4">
                  <p:embed/>
                </p:oleObj>
              </mc:Choice>
              <mc:Fallback>
                <p:oleObj name="Equation" r:id="rId6" imgW="1358640" imgH="228600" progId="Equation.DSMT4">
                  <p:embed/>
                  <p:pic>
                    <p:nvPicPr>
                      <p:cNvPr id="112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2260" y="2099469"/>
                        <a:ext cx="3395663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3481396"/>
              </p:ext>
            </p:extLst>
          </p:nvPr>
        </p:nvGraphicFramePr>
        <p:xfrm>
          <a:off x="5289021" y="2099469"/>
          <a:ext cx="3395663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91" name="Equation" r:id="rId8" imgW="1358640" imgH="228600" progId="Equation.DSMT4">
                  <p:embed/>
                </p:oleObj>
              </mc:Choice>
              <mc:Fallback>
                <p:oleObj name="Equation" r:id="rId8" imgW="1358640" imgH="228600" progId="Equation.DSMT4">
                  <p:embed/>
                  <p:pic>
                    <p:nvPicPr>
                      <p:cNvPr id="112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9021" y="2099469"/>
                        <a:ext cx="3395663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40517"/>
              </p:ext>
            </p:extLst>
          </p:nvPr>
        </p:nvGraphicFramePr>
        <p:xfrm>
          <a:off x="1572260" y="4299743"/>
          <a:ext cx="2106612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92" name="Equation" r:id="rId10" imgW="1054080" imgH="482400" progId="Equation.DSMT4">
                  <p:embed/>
                </p:oleObj>
              </mc:Choice>
              <mc:Fallback>
                <p:oleObj name="Equation" r:id="rId10" imgW="1054080" imgH="482400" progId="Equation.DSMT4">
                  <p:embed/>
                  <p:pic>
                    <p:nvPicPr>
                      <p:cNvPr id="1128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2260" y="4299743"/>
                        <a:ext cx="2106612" cy="962025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3257433"/>
              </p:ext>
            </p:extLst>
          </p:nvPr>
        </p:nvGraphicFramePr>
        <p:xfrm>
          <a:off x="1610012" y="3314701"/>
          <a:ext cx="1903413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93" name="Equation" r:id="rId12" imgW="952200" imgH="228600" progId="Equation.DSMT4">
                  <p:embed/>
                </p:oleObj>
              </mc:Choice>
              <mc:Fallback>
                <p:oleObj name="Equation" r:id="rId12" imgW="952200" imgH="228600" progId="Equation.DSMT4">
                  <p:embed/>
                  <p:pic>
                    <p:nvPicPr>
                      <p:cNvPr id="1127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0012" y="3314701"/>
                        <a:ext cx="1903413" cy="455613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0773316"/>
              </p:ext>
            </p:extLst>
          </p:nvPr>
        </p:nvGraphicFramePr>
        <p:xfrm>
          <a:off x="5483225" y="3205163"/>
          <a:ext cx="1725613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94" name="Equation" r:id="rId14" imgW="863280" imgH="228600" progId="Equation.DSMT4">
                  <p:embed/>
                </p:oleObj>
              </mc:Choice>
              <mc:Fallback>
                <p:oleObj name="Equation" r:id="rId14" imgW="863280" imgH="228600" progId="Equation.DSMT4">
                  <p:embed/>
                  <p:pic>
                    <p:nvPicPr>
                      <p:cNvPr id="1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3225" y="3205163"/>
                        <a:ext cx="1725613" cy="455612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4368913"/>
              </p:ext>
            </p:extLst>
          </p:nvPr>
        </p:nvGraphicFramePr>
        <p:xfrm>
          <a:off x="5483225" y="4299743"/>
          <a:ext cx="1217613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95" name="Equation" r:id="rId16" imgW="609480" imgH="241200" progId="Equation.DSMT4">
                  <p:embed/>
                </p:oleObj>
              </mc:Choice>
              <mc:Fallback>
                <p:oleObj name="Equation" r:id="rId16" imgW="609480" imgH="241200" progId="Equation.DSMT4">
                  <p:embed/>
                  <p:pic>
                    <p:nvPicPr>
                      <p:cNvPr id="13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3225" y="4299743"/>
                        <a:ext cx="1217613" cy="481012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74268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5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581525" y="417604"/>
            <a:ext cx="54721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Tx/>
              <a:buChar char="•"/>
            </a:pP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若          为奇对称的实序列，则有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5198025"/>
              </p:ext>
            </p:extLst>
          </p:nvPr>
        </p:nvGraphicFramePr>
        <p:xfrm>
          <a:off x="1197384" y="417604"/>
          <a:ext cx="728662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04" name="Equation" r:id="rId3" imgW="291960" imgH="203040" progId="Equation.DSMT4">
                  <p:embed/>
                </p:oleObj>
              </mc:Choice>
              <mc:Fallback>
                <p:oleObj name="Equation" r:id="rId3" imgW="291960" imgH="203040" progId="Equation.DSMT4">
                  <p:embed/>
                  <p:pic>
                    <p:nvPicPr>
                      <p:cNvPr id="1231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7384" y="417604"/>
                        <a:ext cx="728662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4925" y="260441"/>
            <a:ext cx="4676775" cy="771525"/>
          </a:xfrm>
          <a:prstGeom prst="rect">
            <a:avLst/>
          </a:prstGeom>
        </p:spPr>
      </p:pic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4170976"/>
              </p:ext>
            </p:extLst>
          </p:nvPr>
        </p:nvGraphicFramePr>
        <p:xfrm>
          <a:off x="1572260" y="2099469"/>
          <a:ext cx="3395663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05" name="Equation" r:id="rId6" imgW="1358640" imgH="228600" progId="Equation.DSMT4">
                  <p:embed/>
                </p:oleObj>
              </mc:Choice>
              <mc:Fallback>
                <p:oleObj name="Equation" r:id="rId6" imgW="1358640" imgH="228600" progId="Equation.DSMT4">
                  <p:embed/>
                  <p:pic>
                    <p:nvPicPr>
                      <p:cNvPr id="1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2260" y="2099469"/>
                        <a:ext cx="3395663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8201744"/>
              </p:ext>
            </p:extLst>
          </p:nvPr>
        </p:nvGraphicFramePr>
        <p:xfrm>
          <a:off x="5289021" y="2099469"/>
          <a:ext cx="3395663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06" name="Equation" r:id="rId8" imgW="1358640" imgH="228600" progId="Equation.DSMT4">
                  <p:embed/>
                </p:oleObj>
              </mc:Choice>
              <mc:Fallback>
                <p:oleObj name="Equation" r:id="rId8" imgW="1358640" imgH="228600" progId="Equation.DSMT4">
                  <p:embed/>
                  <p:pic>
                    <p:nvPicPr>
                      <p:cNvPr id="1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9021" y="2099469"/>
                        <a:ext cx="3395663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0295908"/>
              </p:ext>
            </p:extLst>
          </p:nvPr>
        </p:nvGraphicFramePr>
        <p:xfrm>
          <a:off x="1572260" y="4299743"/>
          <a:ext cx="2106612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07" name="Equation" r:id="rId10" imgW="1054080" imgH="482400" progId="Equation.DSMT4">
                  <p:embed/>
                </p:oleObj>
              </mc:Choice>
              <mc:Fallback>
                <p:oleObj name="Equation" r:id="rId10" imgW="1054080" imgH="482400" progId="Equation.DSMT4">
                  <p:embed/>
                  <p:pic>
                    <p:nvPicPr>
                      <p:cNvPr id="13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2260" y="4299743"/>
                        <a:ext cx="2106612" cy="962025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0019276"/>
              </p:ext>
            </p:extLst>
          </p:nvPr>
        </p:nvGraphicFramePr>
        <p:xfrm>
          <a:off x="1610012" y="3314701"/>
          <a:ext cx="1903413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08" name="Equation" r:id="rId12" imgW="952200" imgH="228600" progId="Equation.DSMT4">
                  <p:embed/>
                </p:oleObj>
              </mc:Choice>
              <mc:Fallback>
                <p:oleObj name="Equation" r:id="rId12" imgW="952200" imgH="228600" progId="Equation.DSMT4">
                  <p:embed/>
                  <p:pic>
                    <p:nvPicPr>
                      <p:cNvPr id="1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0012" y="3314701"/>
                        <a:ext cx="1903413" cy="455613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3437724"/>
              </p:ext>
            </p:extLst>
          </p:nvPr>
        </p:nvGraphicFramePr>
        <p:xfrm>
          <a:off x="5395913" y="3205163"/>
          <a:ext cx="190182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09" name="Equation" r:id="rId14" imgW="952200" imgH="228600" progId="Equation.DSMT4">
                  <p:embed/>
                </p:oleObj>
              </mc:Choice>
              <mc:Fallback>
                <p:oleObj name="Equation" r:id="rId14" imgW="952200" imgH="228600" progId="Equation.DSMT4">
                  <p:embed/>
                  <p:pic>
                    <p:nvPicPr>
                      <p:cNvPr id="1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913" y="3205163"/>
                        <a:ext cx="1901825" cy="455612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1970146"/>
              </p:ext>
            </p:extLst>
          </p:nvPr>
        </p:nvGraphicFramePr>
        <p:xfrm>
          <a:off x="5484314" y="4312013"/>
          <a:ext cx="12938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10" name="Equation" r:id="rId16" imgW="647640" imgH="241200" progId="Equation.DSMT4">
                  <p:embed/>
                </p:oleObj>
              </mc:Choice>
              <mc:Fallback>
                <p:oleObj name="Equation" r:id="rId16" imgW="647640" imgH="241200" progId="Equation.DSMT4">
                  <p:embed/>
                  <p:pic>
                    <p:nvPicPr>
                      <p:cNvPr id="16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4314" y="4312013"/>
                        <a:ext cx="1293813" cy="481013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3433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DFS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1992313" y="1412875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4.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周期卷积定理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2495550" y="2205038"/>
            <a:ext cx="259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周期卷积定义：</a:t>
            </a:r>
          </a:p>
        </p:txBody>
      </p:sp>
      <p:graphicFrame>
        <p:nvGraphicFramePr>
          <p:cNvPr id="133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710071"/>
              </p:ext>
            </p:extLst>
          </p:nvPr>
        </p:nvGraphicFramePr>
        <p:xfrm>
          <a:off x="3503613" y="2751138"/>
          <a:ext cx="4956175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7" name="Equation" r:id="rId3" imgW="1981080" imgH="431640" progId="Equation.DSMT4">
                  <p:embed/>
                </p:oleObj>
              </mc:Choice>
              <mc:Fallback>
                <p:oleObj name="Equation" r:id="rId3" imgW="1981080" imgH="431640" progId="Equation.DSMT4">
                  <p:embed/>
                  <p:pic>
                    <p:nvPicPr>
                      <p:cNvPr id="133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3" y="2751138"/>
                        <a:ext cx="4956175" cy="1074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6" name="Text Box 24"/>
          <p:cNvSpPr txBox="1">
            <a:spLocks noChangeArrowheads="1"/>
          </p:cNvSpPr>
          <p:nvPr/>
        </p:nvSpPr>
        <p:spPr bwMode="auto">
          <a:xfrm>
            <a:off x="3935413" y="260351"/>
            <a:ext cx="4114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DFS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的基本性质</a:t>
            </a:r>
            <a:endParaRPr kumimoji="1"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37" name="Rectangle 25"/>
          <p:cNvSpPr>
            <a:spLocks noChangeArrowheads="1"/>
          </p:cNvSpPr>
          <p:nvPr/>
        </p:nvSpPr>
        <p:spPr bwMode="auto">
          <a:xfrm>
            <a:off x="1752600" y="8366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38" name="Text Box 26"/>
          <p:cNvSpPr txBox="1">
            <a:spLocks noChangeArrowheads="1"/>
          </p:cNvSpPr>
          <p:nvPr/>
        </p:nvSpPr>
        <p:spPr bwMode="auto">
          <a:xfrm>
            <a:off x="2566988" y="4221164"/>
            <a:ext cx="69850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周期卷积是</a:t>
            </a:r>
            <a:r>
              <a:rPr kumimoji="1" lang="zh-CN" altLang="en-US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两个等周期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的周期序列的</a:t>
            </a:r>
            <a:r>
              <a:rPr kumimoji="1" lang="zh-CN" altLang="en-US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卷积运算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周期卷积的结果仍为</a:t>
            </a:r>
            <a:r>
              <a:rPr kumimoji="1" lang="zh-CN" altLang="en-US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相同周期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的周期序列。</a:t>
            </a:r>
          </a:p>
        </p:txBody>
      </p:sp>
    </p:spTree>
    <p:extLst>
      <p:ext uri="{BB962C8B-B14F-4D97-AF65-F5344CB8AC3E}">
        <p14:creationId xmlns:p14="http://schemas.microsoft.com/office/powerpoint/2010/main" val="2063452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DFS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43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3395562"/>
              </p:ext>
            </p:extLst>
          </p:nvPr>
        </p:nvGraphicFramePr>
        <p:xfrm>
          <a:off x="2798763" y="1757363"/>
          <a:ext cx="7270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21" name="Equation" r:id="rId3" imgW="291960" imgH="203040" progId="Equation.DSMT4">
                  <p:embed/>
                </p:oleObj>
              </mc:Choice>
              <mc:Fallback>
                <p:oleObj name="Equation" r:id="rId3" imgW="291960" imgH="203040" progId="Equation.DSMT4">
                  <p:embed/>
                  <p:pic>
                    <p:nvPicPr>
                      <p:cNvPr id="143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8763" y="1757363"/>
                        <a:ext cx="72707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4"/>
          <p:cNvGraphicFramePr>
            <a:graphicFrameLocks noChangeAspect="1"/>
          </p:cNvGraphicFramePr>
          <p:nvPr/>
        </p:nvGraphicFramePr>
        <p:xfrm>
          <a:off x="2135189" y="2205038"/>
          <a:ext cx="2763837" cy="1471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22" name="Visio" r:id="rId5" imgW="1189939" imgH="644347" progId="Visio.Drawing.6">
                  <p:embed/>
                </p:oleObj>
              </mc:Choice>
              <mc:Fallback>
                <p:oleObj name="Visio" r:id="rId5" imgW="1189939" imgH="644347" progId="Visio.Drawing.6">
                  <p:embed/>
                  <p:pic>
                    <p:nvPicPr>
                      <p:cNvPr id="143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2205038"/>
                        <a:ext cx="2763837" cy="1471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5"/>
          <p:cNvGraphicFramePr>
            <a:graphicFrameLocks noChangeAspect="1"/>
          </p:cNvGraphicFramePr>
          <p:nvPr/>
        </p:nvGraphicFramePr>
        <p:xfrm>
          <a:off x="6089650" y="1384300"/>
          <a:ext cx="11366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23" name="公式" r:id="rId7" imgW="457200" imgH="177480" progId="Equation.3">
                  <p:embed/>
                </p:oleObj>
              </mc:Choice>
              <mc:Fallback>
                <p:oleObj name="公式" r:id="rId7" imgW="457200" imgH="177480" progId="Equation.3">
                  <p:embed/>
                  <p:pic>
                    <p:nvPicPr>
                      <p:cNvPr id="143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9650" y="1384300"/>
                        <a:ext cx="113665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6"/>
          <p:cNvGraphicFramePr>
            <a:graphicFrameLocks noChangeAspect="1"/>
          </p:cNvGraphicFramePr>
          <p:nvPr/>
        </p:nvGraphicFramePr>
        <p:xfrm>
          <a:off x="7032625" y="1501776"/>
          <a:ext cx="2763838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24" name="Visio" r:id="rId9" imgW="1189939" imgH="655015" progId="Visio.Drawing.6">
                  <p:embed/>
                </p:oleObj>
              </mc:Choice>
              <mc:Fallback>
                <p:oleObj name="Visio" r:id="rId9" imgW="1189939" imgH="655015" progId="Visio.Drawing.6">
                  <p:embed/>
                  <p:pic>
                    <p:nvPicPr>
                      <p:cNvPr id="143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25" y="1501776"/>
                        <a:ext cx="2763838" cy="149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7"/>
          <p:cNvGraphicFramePr>
            <a:graphicFrameLocks noChangeAspect="1"/>
          </p:cNvGraphicFramePr>
          <p:nvPr/>
        </p:nvGraphicFramePr>
        <p:xfrm>
          <a:off x="6096001" y="2997201"/>
          <a:ext cx="12350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25" name="公式" r:id="rId11" imgW="495000" imgH="203040" progId="Equation.3">
                  <p:embed/>
                </p:oleObj>
              </mc:Choice>
              <mc:Fallback>
                <p:oleObj name="公式" r:id="rId11" imgW="495000" imgH="203040" progId="Equation.3">
                  <p:embed/>
                  <p:pic>
                    <p:nvPicPr>
                      <p:cNvPr id="1434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2997201"/>
                        <a:ext cx="123507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8"/>
          <p:cNvGraphicFramePr>
            <a:graphicFrameLocks noChangeAspect="1"/>
          </p:cNvGraphicFramePr>
          <p:nvPr/>
        </p:nvGraphicFramePr>
        <p:xfrm>
          <a:off x="6989764" y="3357564"/>
          <a:ext cx="2763837" cy="150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26" name="Visio" r:id="rId13" imgW="1189939" imgH="655625" progId="Visio.Drawing.6">
                  <p:embed/>
                </p:oleObj>
              </mc:Choice>
              <mc:Fallback>
                <p:oleObj name="Visio" r:id="rId13" imgW="1189939" imgH="655625" progId="Visio.Drawing.6">
                  <p:embed/>
                  <p:pic>
                    <p:nvPicPr>
                      <p:cNvPr id="1434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9764" y="3357564"/>
                        <a:ext cx="2763837" cy="1500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9"/>
          <p:cNvGraphicFramePr>
            <a:graphicFrameLocks noChangeAspect="1"/>
          </p:cNvGraphicFramePr>
          <p:nvPr/>
        </p:nvGraphicFramePr>
        <p:xfrm>
          <a:off x="6324601" y="4918076"/>
          <a:ext cx="13303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27" name="公式" r:id="rId15" imgW="533160" imgH="203040" progId="Equation.3">
                  <p:embed/>
                </p:oleObj>
              </mc:Choice>
              <mc:Fallback>
                <p:oleObj name="公式" r:id="rId15" imgW="533160" imgH="203040" progId="Equation.3">
                  <p:embed/>
                  <p:pic>
                    <p:nvPicPr>
                      <p:cNvPr id="1434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1" y="4918076"/>
                        <a:ext cx="13303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10"/>
          <p:cNvGraphicFramePr>
            <a:graphicFrameLocks noChangeAspect="1"/>
          </p:cNvGraphicFramePr>
          <p:nvPr/>
        </p:nvGraphicFramePr>
        <p:xfrm>
          <a:off x="6907214" y="5313364"/>
          <a:ext cx="2770187" cy="150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28" name="Visio" r:id="rId17" imgW="1189939" imgH="651053" progId="Visio.Drawing.6">
                  <p:embed/>
                </p:oleObj>
              </mc:Choice>
              <mc:Fallback>
                <p:oleObj name="Visio" r:id="rId17" imgW="1189939" imgH="651053" progId="Visio.Drawing.6">
                  <p:embed/>
                  <p:pic>
                    <p:nvPicPr>
                      <p:cNvPr id="1434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7214" y="5313364"/>
                        <a:ext cx="2770187" cy="1500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73" name="Group 37"/>
          <p:cNvGrpSpPr>
            <a:grpSpLocks/>
          </p:cNvGrpSpPr>
          <p:nvPr/>
        </p:nvGrpSpPr>
        <p:grpSpPr bwMode="auto">
          <a:xfrm>
            <a:off x="2279650" y="4652962"/>
            <a:ext cx="2255838" cy="1628774"/>
            <a:chOff x="331" y="2906"/>
            <a:chExt cx="1421" cy="1026"/>
          </a:xfrm>
        </p:grpSpPr>
        <p:grpSp>
          <p:nvGrpSpPr>
            <p:cNvPr id="14368" name="Group 32"/>
            <p:cNvGrpSpPr>
              <a:grpSpLocks/>
            </p:cNvGrpSpPr>
            <p:nvPr/>
          </p:nvGrpSpPr>
          <p:grpSpPr bwMode="auto">
            <a:xfrm>
              <a:off x="331" y="3146"/>
              <a:ext cx="1421" cy="786"/>
              <a:chOff x="331" y="2928"/>
              <a:chExt cx="1421" cy="786"/>
            </a:xfrm>
          </p:grpSpPr>
          <p:sp>
            <p:nvSpPr>
              <p:cNvPr id="14352" name="Line 16"/>
              <p:cNvSpPr>
                <a:spLocks noChangeShapeType="1"/>
              </p:cNvSpPr>
              <p:nvPr/>
            </p:nvSpPr>
            <p:spPr bwMode="auto">
              <a:xfrm>
                <a:off x="331" y="3445"/>
                <a:ext cx="1421" cy="1"/>
              </a:xfrm>
              <a:prstGeom prst="line">
                <a:avLst/>
              </a:prstGeom>
              <a:noFill/>
              <a:ln w="17463" cap="rnd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354" name="Line 18"/>
              <p:cNvSpPr>
                <a:spLocks noChangeShapeType="1"/>
              </p:cNvSpPr>
              <p:nvPr/>
            </p:nvSpPr>
            <p:spPr bwMode="auto">
              <a:xfrm flipV="1">
                <a:off x="554" y="3224"/>
                <a:ext cx="1" cy="221"/>
              </a:xfrm>
              <a:prstGeom prst="line">
                <a:avLst/>
              </a:prstGeom>
              <a:noFill/>
              <a:ln w="25400" cap="rnd">
                <a:solidFill>
                  <a:srgbClr val="000000"/>
                </a:solidFill>
                <a:round/>
                <a:headEnd/>
                <a:tailEnd type="oval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356" name="Rectangle 20"/>
              <p:cNvSpPr>
                <a:spLocks noChangeArrowheads="1"/>
              </p:cNvSpPr>
              <p:nvPr/>
            </p:nvSpPr>
            <p:spPr bwMode="auto">
              <a:xfrm>
                <a:off x="491" y="3481"/>
                <a:ext cx="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0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357" name="Rectangle 21"/>
              <p:cNvSpPr>
                <a:spLocks noChangeArrowheads="1"/>
              </p:cNvSpPr>
              <p:nvPr/>
            </p:nvSpPr>
            <p:spPr bwMode="auto">
              <a:xfrm>
                <a:off x="728" y="3468"/>
                <a:ext cx="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1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358" name="Rectangle 22"/>
              <p:cNvSpPr>
                <a:spLocks noChangeArrowheads="1"/>
              </p:cNvSpPr>
              <p:nvPr/>
            </p:nvSpPr>
            <p:spPr bwMode="auto">
              <a:xfrm>
                <a:off x="937" y="3481"/>
                <a:ext cx="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2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359" name="Rectangle 23"/>
              <p:cNvSpPr>
                <a:spLocks noChangeArrowheads="1"/>
              </p:cNvSpPr>
              <p:nvPr/>
            </p:nvSpPr>
            <p:spPr bwMode="auto">
              <a:xfrm>
                <a:off x="1620" y="3205"/>
                <a:ext cx="8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k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364" name="Rectangle 28"/>
              <p:cNvSpPr>
                <a:spLocks noChangeArrowheads="1"/>
              </p:cNvSpPr>
              <p:nvPr/>
            </p:nvSpPr>
            <p:spPr bwMode="auto">
              <a:xfrm>
                <a:off x="480" y="2928"/>
                <a:ext cx="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1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4369" name="Group 33"/>
            <p:cNvGrpSpPr>
              <a:grpSpLocks/>
            </p:cNvGrpSpPr>
            <p:nvPr/>
          </p:nvGrpSpPr>
          <p:grpSpPr bwMode="auto">
            <a:xfrm>
              <a:off x="728" y="2906"/>
              <a:ext cx="97" cy="751"/>
              <a:chOff x="728" y="2688"/>
              <a:chExt cx="97" cy="751"/>
            </a:xfrm>
          </p:grpSpPr>
          <p:sp>
            <p:nvSpPr>
              <p:cNvPr id="14360" name="Line 24"/>
              <p:cNvSpPr>
                <a:spLocks noChangeShapeType="1"/>
              </p:cNvSpPr>
              <p:nvPr/>
            </p:nvSpPr>
            <p:spPr bwMode="auto">
              <a:xfrm flipV="1">
                <a:off x="775" y="2989"/>
                <a:ext cx="1" cy="450"/>
              </a:xfrm>
              <a:prstGeom prst="line">
                <a:avLst/>
              </a:prstGeom>
              <a:noFill/>
              <a:ln w="25400" cap="rnd">
                <a:solidFill>
                  <a:srgbClr val="000000"/>
                </a:solidFill>
                <a:round/>
                <a:headEnd/>
                <a:tailEnd type="oval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365" name="Rectangle 29"/>
              <p:cNvSpPr>
                <a:spLocks noChangeArrowheads="1"/>
              </p:cNvSpPr>
              <p:nvPr/>
            </p:nvSpPr>
            <p:spPr bwMode="auto">
              <a:xfrm>
                <a:off x="728" y="2688"/>
                <a:ext cx="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2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4370" name="Group 34"/>
            <p:cNvGrpSpPr>
              <a:grpSpLocks/>
            </p:cNvGrpSpPr>
            <p:nvPr/>
          </p:nvGrpSpPr>
          <p:grpSpPr bwMode="auto">
            <a:xfrm>
              <a:off x="937" y="3108"/>
              <a:ext cx="97" cy="549"/>
              <a:chOff x="937" y="2890"/>
              <a:chExt cx="97" cy="549"/>
            </a:xfrm>
          </p:grpSpPr>
          <p:sp>
            <p:nvSpPr>
              <p:cNvPr id="14362" name="Line 26"/>
              <p:cNvSpPr>
                <a:spLocks noChangeShapeType="1"/>
              </p:cNvSpPr>
              <p:nvPr/>
            </p:nvSpPr>
            <p:spPr bwMode="auto">
              <a:xfrm flipV="1">
                <a:off x="994" y="3218"/>
                <a:ext cx="1" cy="221"/>
              </a:xfrm>
              <a:prstGeom prst="line">
                <a:avLst/>
              </a:prstGeom>
              <a:noFill/>
              <a:ln w="25400" cap="rnd">
                <a:solidFill>
                  <a:srgbClr val="000000"/>
                </a:solidFill>
                <a:round/>
                <a:headEnd/>
                <a:tailEnd type="oval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366" name="Rectangle 30"/>
              <p:cNvSpPr>
                <a:spLocks noChangeArrowheads="1"/>
              </p:cNvSpPr>
              <p:nvPr/>
            </p:nvSpPr>
            <p:spPr bwMode="auto">
              <a:xfrm>
                <a:off x="937" y="2890"/>
                <a:ext cx="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1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aphicFrame>
        <p:nvGraphicFramePr>
          <p:cNvPr id="1434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5633133"/>
              </p:ext>
            </p:extLst>
          </p:nvPr>
        </p:nvGraphicFramePr>
        <p:xfrm>
          <a:off x="2398713" y="4149725"/>
          <a:ext cx="16510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29" name="Equation" r:id="rId19" imgW="660240" imgH="203040" progId="Equation.DSMT4">
                  <p:embed/>
                </p:oleObj>
              </mc:Choice>
              <mc:Fallback>
                <p:oleObj name="Equation" r:id="rId19" imgW="660240" imgH="203040" progId="Equation.DSMT4">
                  <p:embed/>
                  <p:pic>
                    <p:nvPicPr>
                      <p:cNvPr id="1434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8713" y="4149725"/>
                        <a:ext cx="165100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9" name="Text Box 13"/>
          <p:cNvSpPr txBox="1">
            <a:spLocks noChangeArrowheads="1"/>
          </p:cNvSpPr>
          <p:nvPr/>
        </p:nvSpPr>
        <p:spPr bwMode="auto">
          <a:xfrm>
            <a:off x="1524000" y="-90488"/>
            <a:ext cx="7924800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50000"/>
              </a:spcBef>
              <a:spcAft>
                <a:spcPct val="500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例：周期</a:t>
            </a:r>
            <a:r>
              <a:rPr kumimoji="1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的序列         如图所示，试计算</a:t>
            </a:r>
          </a:p>
        </p:txBody>
      </p:sp>
      <p:graphicFrame>
        <p:nvGraphicFramePr>
          <p:cNvPr id="1435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5786354"/>
              </p:ext>
            </p:extLst>
          </p:nvPr>
        </p:nvGraphicFramePr>
        <p:xfrm>
          <a:off x="4237038" y="246063"/>
          <a:ext cx="642937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30" name="Equation" r:id="rId21" imgW="291960" imgH="203040" progId="Equation.DSMT4">
                  <p:embed/>
                </p:oleObj>
              </mc:Choice>
              <mc:Fallback>
                <p:oleObj name="Equation" r:id="rId21" imgW="291960" imgH="203040" progId="Equation.DSMT4">
                  <p:embed/>
                  <p:pic>
                    <p:nvPicPr>
                      <p:cNvPr id="1435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7038" y="246063"/>
                        <a:ext cx="642937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557067"/>
              </p:ext>
            </p:extLst>
          </p:nvPr>
        </p:nvGraphicFramePr>
        <p:xfrm>
          <a:off x="7493000" y="188913"/>
          <a:ext cx="23558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31" name="Equation" r:id="rId23" imgW="1066680" imgH="203040" progId="Equation.DSMT4">
                  <p:embed/>
                </p:oleObj>
              </mc:Choice>
              <mc:Fallback>
                <p:oleObj name="Equation" r:id="rId23" imgW="1066680" imgH="203040" progId="Equation.DSMT4">
                  <p:embed/>
                  <p:pic>
                    <p:nvPicPr>
                      <p:cNvPr id="1435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3000" y="188913"/>
                        <a:ext cx="235585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72" name="Rectangle 36"/>
          <p:cNvSpPr>
            <a:spLocks noChangeArrowheads="1"/>
          </p:cNvSpPr>
          <p:nvPr/>
        </p:nvSpPr>
        <p:spPr bwMode="auto">
          <a:xfrm>
            <a:off x="1752600" y="8366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188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DFS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4295775" y="188913"/>
            <a:ext cx="4248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周期卷积的矩阵表示</a:t>
            </a:r>
          </a:p>
        </p:txBody>
      </p:sp>
      <p:graphicFrame>
        <p:nvGraphicFramePr>
          <p:cNvPr id="583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9795187"/>
              </p:ext>
            </p:extLst>
          </p:nvPr>
        </p:nvGraphicFramePr>
        <p:xfrm>
          <a:off x="3503613" y="1020763"/>
          <a:ext cx="4956175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4" name="Equation" r:id="rId3" imgW="1981080" imgH="431640" progId="Equation.DSMT4">
                  <p:embed/>
                </p:oleObj>
              </mc:Choice>
              <mc:Fallback>
                <p:oleObj name="Equation" r:id="rId3" imgW="1981080" imgH="431640" progId="Equation.DSMT4">
                  <p:embed/>
                  <p:pic>
                    <p:nvPicPr>
                      <p:cNvPr id="5837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3" y="1020763"/>
                        <a:ext cx="4956175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3" name="Object 5"/>
          <p:cNvGraphicFramePr>
            <a:graphicFrameLocks noChangeAspect="1"/>
          </p:cNvGraphicFramePr>
          <p:nvPr/>
        </p:nvGraphicFramePr>
        <p:xfrm>
          <a:off x="4008439" y="4508501"/>
          <a:ext cx="5138737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5" name="公式" r:id="rId5" imgW="2336760" imgH="863280" progId="Equation.3">
                  <p:embed/>
                </p:oleObj>
              </mc:Choice>
              <mc:Fallback>
                <p:oleObj name="公式" r:id="rId5" imgW="2336760" imgH="863280" progId="Equation.3">
                  <p:embed/>
                  <p:pic>
                    <p:nvPicPr>
                      <p:cNvPr id="583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439" y="4508501"/>
                        <a:ext cx="5138737" cy="189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375" name="Group 7"/>
          <p:cNvGrpSpPr>
            <a:grpSpLocks/>
          </p:cNvGrpSpPr>
          <p:nvPr/>
        </p:nvGrpSpPr>
        <p:grpSpPr bwMode="auto">
          <a:xfrm>
            <a:off x="1919289" y="1916113"/>
            <a:ext cx="7642225" cy="2354262"/>
            <a:chOff x="240" y="1008"/>
            <a:chExt cx="4814" cy="1483"/>
          </a:xfrm>
        </p:grpSpPr>
        <p:graphicFrame>
          <p:nvGraphicFramePr>
            <p:cNvPr id="58372" name="Object 4"/>
            <p:cNvGraphicFramePr>
              <a:graphicFrameLocks noChangeAspect="1"/>
            </p:cNvGraphicFramePr>
            <p:nvPr/>
          </p:nvGraphicFramePr>
          <p:xfrm>
            <a:off x="934" y="1296"/>
            <a:ext cx="4120" cy="1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76" name="公式" r:id="rId7" imgW="2971800" imgH="863280" progId="Equation.3">
                    <p:embed/>
                  </p:oleObj>
                </mc:Choice>
                <mc:Fallback>
                  <p:oleObj name="公式" r:id="rId7" imgW="2971800" imgH="863280" progId="Equation.3">
                    <p:embed/>
                    <p:pic>
                      <p:nvPicPr>
                        <p:cNvPr id="58372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4" y="1296"/>
                          <a:ext cx="4120" cy="1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374" name="Text Box 6"/>
            <p:cNvSpPr txBox="1">
              <a:spLocks noChangeArrowheads="1"/>
            </p:cNvSpPr>
            <p:nvPr/>
          </p:nvSpPr>
          <p:spPr bwMode="auto">
            <a:xfrm>
              <a:off x="240" y="1008"/>
              <a:ext cx="8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例：</a:t>
              </a:r>
              <a:r>
                <a:rPr kumimoji="1" lang="en-US" altLang="zh-CN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=4</a:t>
              </a:r>
            </a:p>
          </p:txBody>
        </p:sp>
      </p:grpSp>
      <p:sp>
        <p:nvSpPr>
          <p:cNvPr id="58377" name="Rectangle 9"/>
          <p:cNvSpPr>
            <a:spLocks noChangeArrowheads="1"/>
          </p:cNvSpPr>
          <p:nvPr/>
        </p:nvSpPr>
        <p:spPr bwMode="auto">
          <a:xfrm>
            <a:off x="1752600" y="8366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9336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766"/>
  <p:tag name="KSO_WM_TAG_VERSION" val="1.0"/>
  <p:tag name="KSO_WM_SLIDE_ID" val="custom20182766_12"/>
  <p:tag name="KSO_WM_SLIDE_INDEX" val="12"/>
  <p:tag name="KSO_WM_SLIDE_ITEM_CNT" val="2"/>
  <p:tag name="KSO_WM_SLIDE_LAYOUT" val="a_b"/>
  <p:tag name="KSO_WM_SLIDE_LAYOUT_CNT" val="1_1"/>
  <p:tag name="KSO_WM_SLIDE_TYPE" val="sectionTitle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766"/>
  <p:tag name="KSO_WM_UNIT_TYPE" val="a"/>
  <p:tag name="KSO_WM_UNIT_INDEX" val="1"/>
  <p:tag name="KSO_WM_UNIT_ID" val="custom20182766_12*a*1"/>
  <p:tag name="KSO_WM_UNIT_LAYERLEVEL" val="1"/>
  <p:tag name="KSO_WM_UNIT_VALUE" val="9"/>
  <p:tag name="KSO_WM_UNIT_ISCONTENTSTITLE" val="0"/>
  <p:tag name="KSO_WM_UNIT_HIGHLIGHT" val="0"/>
  <p:tag name="KSO_WM_UNIT_COMPATIBLE" val="0"/>
  <p:tag name="KSO_WM_UNIT_CLEAR" val="0"/>
  <p:tag name="KSO_WM_BEAUTIFY_FLAG" val="#wm#"/>
  <p:tag name="KSO_WM_TAG_VERSION" val="1.0"/>
  <p:tag name="KSO_WM_UNIT_PRESET_TEXT" val="SECTION TITLE"/>
</p:tagLst>
</file>

<file path=ppt/theme/theme1.xml><?xml version="1.0" encoding="utf-8"?>
<a:theme xmlns:a="http://schemas.openxmlformats.org/drawingml/2006/main" name="DSP">
  <a:themeElements>
    <a:clrScheme name="DSP.pot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SP.pot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DSP.po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SP.po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230</Words>
  <Application>Microsoft Office PowerPoint</Application>
  <PresentationFormat>宽屏</PresentationFormat>
  <Paragraphs>55</Paragraphs>
  <Slides>14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等线</vt:lpstr>
      <vt:lpstr>微软雅黑</vt:lpstr>
      <vt:lpstr>宋体</vt:lpstr>
      <vt:lpstr>华文仿宋</vt:lpstr>
      <vt:lpstr>Arial</vt:lpstr>
      <vt:lpstr>Calibri</vt:lpstr>
      <vt:lpstr>Times New Roman</vt:lpstr>
      <vt:lpstr>Wingdings</vt:lpstr>
      <vt:lpstr>DSP</vt:lpstr>
      <vt:lpstr>Equation</vt:lpstr>
      <vt:lpstr>MathType 7.0 Equation</vt:lpstr>
      <vt:lpstr>Visio</vt:lpstr>
      <vt:lpstr>公式</vt:lpstr>
      <vt:lpstr>DFS</vt:lpstr>
      <vt:lpstr>复习</vt:lpstr>
      <vt:lpstr>周期卷积与线性卷积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3.2周期序列的离散傅立叶级数及性质</dc:title>
  <dc:creator>CHAO WU</dc:creator>
  <cp:lastModifiedBy>CHAO WU</cp:lastModifiedBy>
  <cp:revision>53</cp:revision>
  <dcterms:created xsi:type="dcterms:W3CDTF">2020-11-10T01:04:39Z</dcterms:created>
  <dcterms:modified xsi:type="dcterms:W3CDTF">2023-11-15T14:57:06Z</dcterms:modified>
</cp:coreProperties>
</file>