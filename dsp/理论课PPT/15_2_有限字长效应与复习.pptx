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94" r:id="rId2"/>
    <p:sldId id="295" r:id="rId3"/>
    <p:sldId id="291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90" r:id="rId21"/>
    <p:sldId id="293" r:id="rId22"/>
    <p:sldId id="257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304" y="-3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image" Target="../media/image13.emf"/><Relationship Id="rId5" Type="http://schemas.openxmlformats.org/officeDocument/2006/relationships/image" Target="../media/image17.wmf"/><Relationship Id="rId4" Type="http://schemas.openxmlformats.org/officeDocument/2006/relationships/image" Target="../media/image1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image" Target="../media/image20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image" Target="../media/image24.emf"/><Relationship Id="rId4" Type="http://schemas.openxmlformats.org/officeDocument/2006/relationships/image" Target="../media/image27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601690-5F0A-4DED-9D2F-165A9CE1199D}" type="datetimeFigureOut">
              <a:rPr lang="zh-CN" altLang="en-US" smtClean="0"/>
              <a:t>2022/12/17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9DA2D6-A551-4B59-8C78-FD7C800F49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5734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99D9AA-3580-411E-BAF4-C34818F8FEA3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1157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 b="1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D2E08E4-B8BF-4D3A-9C4F-54A4CEC7D2F3}" type="slidenum">
              <a:rPr kumimoji="0" lang="zh-CN" altLang="en-US" sz="1200">
                <a:solidFill>
                  <a:srgbClr val="000000"/>
                </a:solidFill>
                <a:latin typeface="Calibri" panose="020F0502020204030204" pitchFamily="34" charset="0"/>
              </a:rPr>
              <a:pPr eaLnBrk="1" hangingPunct="1"/>
              <a:t>2</a:t>
            </a:fld>
            <a:endParaRPr kumimoji="0" lang="zh-CN" altLang="en-U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67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9DA2D6-A551-4B59-8C78-FD7C800F495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6758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7112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EB89419-C344-40C6-B4AF-B64360F5EC6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2022/12/17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54864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9408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AD0EC15D-9C77-4188-80FD-534CB4D62597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98314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67" y="165100"/>
            <a:ext cx="1405467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009DD4-B744-4A5A-9BCF-2BE1219C878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2022/12/17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73165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DB5375B-8E09-4DD8-A950-D279B55D1AF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2022/12/17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684607E7-4DB9-45E5-BF73-16A5A03CEE1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01511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EA3D01B-CED5-4F8A-B6C8-7E3E79320ED9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2022/12/17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D40AEE6-7319-4B5B-93D0-3548900E185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73631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D440ECF-C06C-4365-A82F-7FCF58AB175D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2022/12/17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E1916CC5-3ED3-4E00-85B5-005DC67C0A92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7067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1AF378D-529B-499C-888D-96616A7FD7B3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2022/12/17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247B3999-57F6-416E-A1A2-5253D300C464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0854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9C2F7E0-74B7-4DF6-835D-211E54381D8A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2022/12/17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688483-54E8-444F-A583-0A553B1CE94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9392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221B5CF-6445-489A-A45C-4EC7F4623F90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2022/12/17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1114EFF-8E6F-4E42-8213-F37E8D3AB8C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8912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4BE24FC-2A45-4A55-B139-5F9494B1CB5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2022/12/17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8908285-CA4E-423B-8642-8726C1B3382C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2501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BEAA45-778A-4741-845A-F018261E7A9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2022/12/17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413AA134-3FB7-4864-BDD9-113D7FC3B5C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4219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15400" y="457200"/>
            <a:ext cx="2768600" cy="55626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102600" cy="55626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BDC5DBC-5A12-4956-B0A7-3CBFEBC2F06C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2022/12/17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FF6064C9-616C-418B-B0ED-83E8E1DAAE91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31745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7696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603FB61-C213-45FB-A763-B77CDEFEA231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2022/12/17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CD01B68-6309-4BDA-8324-A2F95C8B9363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43664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76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1074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17600" y="6172200"/>
            <a:ext cx="203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5F930D0-305E-4488-9A18-18976C29D3CE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2022/12/17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4400" y="61722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45600" y="6172200"/>
            <a:ext cx="172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4FF258E-67CD-4D95-B960-4634DDA9265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609600" y="1371600"/>
            <a:ext cx="10769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3057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4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0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7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4.e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6.emf"/><Relationship Id="rId4" Type="http://schemas.openxmlformats.org/officeDocument/2006/relationships/image" Target="../media/image13.emf"/><Relationship Id="rId9" Type="http://schemas.openxmlformats.org/officeDocument/2006/relationships/oleObject" Target="../embeddings/oleObject11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8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9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0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3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5.emf"/><Relationship Id="rId5" Type="http://schemas.openxmlformats.org/officeDocument/2006/relationships/oleObject" Target="../embeddings/oleObject20.bin"/><Relationship Id="rId10" Type="http://schemas.openxmlformats.org/officeDocument/2006/relationships/image" Target="../media/image27.wmf"/><Relationship Id="rId4" Type="http://schemas.openxmlformats.org/officeDocument/2006/relationships/image" Target="../media/image24.emf"/><Relationship Id="rId9" Type="http://schemas.openxmlformats.org/officeDocument/2006/relationships/oleObject" Target="../embeddings/oleObject22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8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30.wmf"/><Relationship Id="rId4" Type="http://schemas.openxmlformats.org/officeDocument/2006/relationships/oleObject" Target="../embeddings/oleObject25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31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7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943476" y="2413000"/>
            <a:ext cx="4754563" cy="1390650"/>
          </a:xfrm>
        </p:spPr>
        <p:txBody>
          <a:bodyPr anchor="ctr"/>
          <a:lstStyle/>
          <a:p>
            <a:pPr>
              <a:lnSpc>
                <a:spcPct val="120000"/>
              </a:lnSpc>
            </a:pPr>
            <a:r>
              <a:rPr lang="en-US" altLang="zh-CN" sz="3000" dirty="0" smtClean="0">
                <a:solidFill>
                  <a:srgbClr val="234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FIR</a:t>
            </a:r>
            <a:r>
              <a:rPr lang="zh-CN" altLang="en-US" sz="3000" dirty="0" smtClean="0">
                <a:solidFill>
                  <a:srgbClr val="234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滤波器基本结构与有限字长效应</a:t>
            </a:r>
            <a:endParaRPr lang="zh-CN" altLang="en-US" sz="3000" dirty="0">
              <a:solidFill>
                <a:srgbClr val="23477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75" name="图片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988" y="666222"/>
            <a:ext cx="2347912" cy="568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76" name="组合 9"/>
          <p:cNvGrpSpPr>
            <a:grpSpLocks noChangeAspect="1"/>
          </p:cNvGrpSpPr>
          <p:nvPr/>
        </p:nvGrpSpPr>
        <p:grpSpPr bwMode="auto">
          <a:xfrm>
            <a:off x="2114550" y="2501900"/>
            <a:ext cx="2147888" cy="1212850"/>
            <a:chOff x="3367821" y="2336603"/>
            <a:chExt cx="3846124" cy="2172237"/>
          </a:xfrm>
        </p:grpSpPr>
        <p:pic>
          <p:nvPicPr>
            <p:cNvPr id="3081" name="图片 13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001"/>
            <a:stretch>
              <a:fillRect/>
            </a:stretch>
          </p:blipFill>
          <p:spPr bwMode="auto">
            <a:xfrm>
              <a:off x="3367821" y="2337641"/>
              <a:ext cx="3846124" cy="2171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2" name="图片 15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587" t="-273" r="15178" b="91664"/>
            <a:stretch>
              <a:fillRect/>
            </a:stretch>
          </p:blipFill>
          <p:spPr bwMode="auto">
            <a:xfrm>
              <a:off x="4279348" y="2336603"/>
              <a:ext cx="712760" cy="1769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077" name="组合 5"/>
          <p:cNvGrpSpPr>
            <a:grpSpLocks/>
          </p:cNvGrpSpPr>
          <p:nvPr/>
        </p:nvGrpSpPr>
        <p:grpSpPr bwMode="auto">
          <a:xfrm>
            <a:off x="3776663" y="3184525"/>
            <a:ext cx="735012" cy="679450"/>
            <a:chOff x="4480943" y="4021832"/>
            <a:chExt cx="1035157" cy="103868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9202CC45-2CC5-4C2F-A9D1-3ED274598467}"/>
                </a:ext>
              </a:extLst>
            </p:cNvPr>
            <p:cNvSpPr/>
            <p:nvPr/>
          </p:nvSpPr>
          <p:spPr>
            <a:xfrm>
              <a:off x="4480943" y="4021832"/>
              <a:ext cx="981499" cy="1038683"/>
            </a:xfrm>
            <a:prstGeom prst="rect">
              <a:avLst/>
            </a:prstGeom>
            <a:solidFill>
              <a:srgbClr val="2347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080" name="文本框 1"/>
            <p:cNvSpPr txBox="1">
              <a:spLocks noChangeArrowheads="1"/>
            </p:cNvSpPr>
            <p:nvPr/>
          </p:nvSpPr>
          <p:spPr bwMode="auto">
            <a:xfrm>
              <a:off x="4511092" y="4218008"/>
              <a:ext cx="1005008" cy="635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1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16</a:t>
              </a:r>
              <a:r>
                <a:rPr lang="en-US" altLang="zh-CN" sz="2100" b="1" baseline="-25000" dirty="0" smtClean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r>
                <a:rPr kumimoji="1" lang="en-US" altLang="zh-CN" sz="2100" b="1" i="0" u="none" strike="noStrike" kern="1200" cap="none" spc="0" normalizeH="0" baseline="-2500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h</a:t>
              </a:r>
              <a:endParaRPr kumimoji="1" lang="en-US" altLang="zh-CN" sz="2700" b="1" i="0" u="none" strike="noStrike" kern="1200" cap="none" spc="0" normalizeH="0" baseline="-25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2" name="副标题 2"/>
          <p:cNvSpPr txBox="1">
            <a:spLocks/>
          </p:cNvSpPr>
          <p:nvPr/>
        </p:nvSpPr>
        <p:spPr>
          <a:xfrm>
            <a:off x="6321426" y="3968750"/>
            <a:ext cx="2206625" cy="742950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808080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吴超</a:t>
            </a:r>
            <a:endParaRPr kumimoji="0" lang="en-US" altLang="zh-CN" sz="2100" b="0" i="0" u="none" strike="noStrike" kern="1200" cap="none" spc="0" normalizeH="0" baseline="0" noProof="0">
              <a:ln>
                <a:noFill/>
              </a:ln>
              <a:solidFill>
                <a:srgbClr val="808080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通 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信 工 程 学 院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493891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角矩形 10"/>
          <p:cNvSpPr/>
          <p:nvPr/>
        </p:nvSpPr>
        <p:spPr>
          <a:xfrm>
            <a:off x="867834" y="1443567"/>
            <a:ext cx="10426700" cy="5414433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 defTabSz="685800">
              <a:defRPr/>
            </a:pPr>
            <a:endParaRPr lang="zh-CN" altLang="en-US" sz="1350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123" name="标题 1"/>
          <p:cNvSpPr>
            <a:spLocks noGrp="1"/>
          </p:cNvSpPr>
          <p:nvPr>
            <p:ph type="title"/>
          </p:nvPr>
        </p:nvSpPr>
        <p:spPr>
          <a:xfrm>
            <a:off x="1842030" y="656698"/>
            <a:ext cx="1311275" cy="439737"/>
          </a:xfrm>
        </p:spPr>
        <p:txBody>
          <a:bodyPr/>
          <a:lstStyle/>
          <a:p>
            <a:r>
              <a:rPr lang="zh-CN" altLang="en-US" sz="4000" dirty="0"/>
              <a:t>复习</a:t>
            </a:r>
          </a:p>
        </p:txBody>
      </p:sp>
      <p:sp>
        <p:nvSpPr>
          <p:cNvPr id="5124" name="Oval 1"/>
          <p:cNvSpPr txBox="1">
            <a:spLocks noChangeArrowheads="1"/>
          </p:cNvSpPr>
          <p:nvPr/>
        </p:nvSpPr>
        <p:spPr bwMode="auto">
          <a:xfrm>
            <a:off x="1520826" y="876566"/>
            <a:ext cx="8761942" cy="8340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257175" indent="-257175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ts val="450"/>
              </a:spcBef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</a:t>
            </a:r>
            <a:r>
              <a:rPr lang="zh-CN" altLang="en-US" sz="28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</a:t>
            </a:r>
            <a:endParaRPr lang="en-US" altLang="zh-CN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Bef>
                <a:spcPts val="450"/>
              </a:spcBef>
              <a:buFont typeface="Wingdings" panose="05000000000000000000" pitchFamily="2" charset="2"/>
              <a:buChar char="l"/>
            </a:pPr>
            <a:r>
              <a:rPr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Ⅰ</a:t>
            </a:r>
            <a:r>
              <a:rPr lang="zh-CN" altLang="en-US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型、</a:t>
            </a:r>
            <a:r>
              <a:rPr lang="en-US" altLang="zh-CN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Ⅱ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型、转置直接 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II </a:t>
            </a:r>
            <a:endParaRPr lang="en-US" altLang="zh-CN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Bef>
                <a:spcPts val="450"/>
              </a:spcBef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特点：对有限字长效应太敏感，容易出现不稳定现象</a:t>
            </a:r>
            <a:endParaRPr lang="en-US" altLang="zh-CN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450"/>
              </a:spcBef>
              <a:buFont typeface="Wingdings" panose="05000000000000000000" pitchFamily="2" charset="2"/>
              <a:buChar char="p"/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</a:t>
            </a:r>
            <a:r>
              <a:rPr lang="zh-CN" altLang="en-US" sz="28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联型</a:t>
            </a:r>
            <a:endParaRPr lang="en-US" altLang="zh-CN" sz="28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Bef>
                <a:spcPts val="45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基于直接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II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型的级联型结构、基于转置直接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II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型的级联型结构</a:t>
            </a:r>
          </a:p>
          <a:p>
            <a:pPr marL="457200" indent="-457200">
              <a:lnSpc>
                <a:spcPct val="150000"/>
              </a:lnSpc>
              <a:spcBef>
                <a:spcPts val="45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特点：误差容易积累，</a:t>
            </a:r>
            <a:r>
              <a:rPr lang="zh-CN" altLang="en-US" sz="2000" dirty="0"/>
              <a:t>对系数变化的敏感度小，受有限字长的影响比直接型</a:t>
            </a:r>
            <a:r>
              <a:rPr lang="zh-CN" altLang="en-US" sz="2000" dirty="0" smtClean="0"/>
              <a:t>低 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450"/>
              </a:spcBef>
              <a:buFont typeface="Wingdings" panose="05000000000000000000" pitchFamily="2" charset="2"/>
              <a:buChar char="p"/>
            </a:pPr>
            <a:r>
              <a:rPr lang="zh-CN" altLang="en-US" sz="28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并联型</a:t>
            </a:r>
            <a:endParaRPr lang="en-US" altLang="zh-CN" sz="28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Bef>
                <a:spcPts val="45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基于直接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II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型的并联型结构、基于转置直接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II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型的并联型结构 </a:t>
            </a:r>
            <a:endParaRPr lang="en-US" altLang="zh-CN" sz="20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Bef>
                <a:spcPts val="45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运算速度快，不能向级联型那样直接调整零点</a:t>
            </a:r>
          </a:p>
          <a:p>
            <a:pPr marL="457200" indent="-457200">
              <a:lnSpc>
                <a:spcPct val="150000"/>
              </a:lnSpc>
              <a:spcBef>
                <a:spcPts val="450"/>
              </a:spcBef>
              <a:buFont typeface="Wingdings" panose="05000000000000000000" pitchFamily="2" charset="2"/>
              <a:buChar char="l"/>
            </a:pP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spcBef>
                <a:spcPts val="450"/>
              </a:spcBef>
              <a:buFont typeface="Wingdings" panose="05000000000000000000" pitchFamily="2" charset="2"/>
              <a:buChar char="l"/>
            </a:pP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450"/>
              </a:spcBef>
              <a:buFont typeface="Wingdings" panose="05000000000000000000" pitchFamily="2" charset="2"/>
              <a:buChar char="p"/>
            </a:pP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450"/>
              </a:spcBef>
              <a:buFont typeface="Wingdings" panose="05000000000000000000" pitchFamily="2" charset="2"/>
              <a:buChar char="p"/>
            </a:pPr>
            <a:endParaRPr lang="en-US" altLang="zh-CN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Picture 7" descr="4-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1600" y="755650"/>
            <a:ext cx="3242733" cy="1459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37881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标题 1"/>
          <p:cNvSpPr>
            <a:spLocks noGrp="1"/>
          </p:cNvSpPr>
          <p:nvPr>
            <p:ph type="title"/>
          </p:nvPr>
        </p:nvSpPr>
        <p:spPr>
          <a:xfrm>
            <a:off x="2831592" y="280416"/>
            <a:ext cx="7239000" cy="914400"/>
          </a:xfrm>
        </p:spPr>
        <p:txBody>
          <a:bodyPr/>
          <a:lstStyle/>
          <a:p>
            <a:r>
              <a:rPr lang="zh-CN" altLang="en-US" sz="4800" dirty="0" smtClean="0">
                <a:ea typeface="宋体" panose="02010600030101010101" pitchFamily="2" charset="-122"/>
              </a:rPr>
              <a:t>第九章 有限字长效应</a:t>
            </a:r>
          </a:p>
        </p:txBody>
      </p:sp>
      <p:sp>
        <p:nvSpPr>
          <p:cNvPr id="20480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4800" dirty="0"/>
              <a:t>截尾和舍入效应</a:t>
            </a:r>
          </a:p>
          <a:p>
            <a:r>
              <a:rPr lang="zh-CN" altLang="en-US" sz="4800" dirty="0"/>
              <a:t>滤波器输入信号量化效应</a:t>
            </a:r>
          </a:p>
          <a:p>
            <a:r>
              <a:rPr lang="zh-CN" altLang="en-US" sz="4800" dirty="0"/>
              <a:t>滤波器系数量化效应</a:t>
            </a:r>
          </a:p>
          <a:p>
            <a:endParaRPr lang="zh-CN" altLang="en-US" sz="5400" dirty="0" smtClean="0">
              <a:ea typeface="宋体" panose="02010600030101010101" pitchFamily="2" charset="-122"/>
            </a:endParaRPr>
          </a:p>
        </p:txBody>
      </p:sp>
      <p:sp>
        <p:nvSpPr>
          <p:cNvPr id="20480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049C4A5F-06BA-40D7-A7D5-FF7B651A3CC3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750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533400"/>
            <a:ext cx="7772400" cy="838200"/>
          </a:xfrm>
        </p:spPr>
        <p:txBody>
          <a:bodyPr/>
          <a:lstStyle/>
          <a:p>
            <a:r>
              <a:rPr lang="zh-CN" altLang="en-US" sz="3600">
                <a:ea typeface="黑体" panose="02010609060101010101" pitchFamily="49" charset="-122"/>
              </a:rPr>
              <a:t>问题的提出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38400" y="3657600"/>
            <a:ext cx="7368032" cy="1828800"/>
          </a:xfrm>
        </p:spPr>
        <p:txBody>
          <a:bodyPr/>
          <a:lstStyle/>
          <a:p>
            <a:pPr algn="just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accent2"/>
                </a:solidFill>
              </a:rPr>
              <a:t>(1) </a:t>
            </a:r>
            <a:r>
              <a:rPr lang="zh-CN" altLang="en-US" b="1" dirty="0">
                <a:solidFill>
                  <a:schemeClr val="accent2"/>
                </a:solidFill>
              </a:rPr>
              <a:t>输入信号经</a:t>
            </a:r>
            <a:r>
              <a:rPr lang="en-US" altLang="zh-CN" b="1" dirty="0">
                <a:solidFill>
                  <a:schemeClr val="accent2"/>
                </a:solidFill>
              </a:rPr>
              <a:t>A/D</a:t>
            </a:r>
            <a:r>
              <a:rPr lang="zh-CN" altLang="en-US" b="1" dirty="0">
                <a:solidFill>
                  <a:schemeClr val="accent2"/>
                </a:solidFill>
              </a:rPr>
              <a:t>变换而产生的量化误差。</a:t>
            </a:r>
          </a:p>
          <a:p>
            <a:pPr algn="just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accent2"/>
                </a:solidFill>
              </a:rPr>
              <a:t>(2) </a:t>
            </a:r>
            <a:r>
              <a:rPr lang="zh-CN" altLang="en-US" b="1" dirty="0">
                <a:solidFill>
                  <a:schemeClr val="accent2"/>
                </a:solidFill>
              </a:rPr>
              <a:t>滤波器的系数量化误差。</a:t>
            </a:r>
          </a:p>
          <a:p>
            <a:pPr algn="just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accent2"/>
                </a:solidFill>
              </a:rPr>
              <a:t>(3) </a:t>
            </a:r>
            <a:r>
              <a:rPr lang="zh-CN" altLang="en-US" b="1" dirty="0">
                <a:solidFill>
                  <a:schemeClr val="accent2"/>
                </a:solidFill>
              </a:rPr>
              <a:t>运算误差。</a:t>
            </a:r>
          </a:p>
        </p:txBody>
      </p:sp>
      <p:sp>
        <p:nvSpPr>
          <p:cNvPr id="59396" name="Text Box 4"/>
          <p:cNvSpPr txBox="1">
            <a:spLocks noChangeArrowheads="1"/>
          </p:cNvSpPr>
          <p:nvPr/>
        </p:nvSpPr>
        <p:spPr bwMode="auto">
          <a:xfrm>
            <a:off x="3200400" y="1843088"/>
            <a:ext cx="5486400" cy="519112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/>
              <a:t>数字系统，存储单元的容量有限。</a:t>
            </a:r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2209800" y="2757488"/>
            <a:ext cx="6858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/>
              <a:t>有限字长的影响，主要表现在以下三方面</a:t>
            </a:r>
          </a:p>
        </p:txBody>
      </p:sp>
    </p:spTree>
    <p:extLst>
      <p:ext uri="{BB962C8B-B14F-4D97-AF65-F5344CB8AC3E}">
        <p14:creationId xmlns:p14="http://schemas.microsoft.com/office/powerpoint/2010/main" val="1117751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build="p" autoUpdateAnimBg="0"/>
      <p:bldP spid="59396" grpId="0" animBg="1" autoUpdateAnimBg="0"/>
      <p:bldP spid="59397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533400"/>
            <a:ext cx="7772400" cy="1143000"/>
          </a:xfrm>
        </p:spPr>
        <p:txBody>
          <a:bodyPr/>
          <a:lstStyle/>
          <a:p>
            <a:r>
              <a:rPr lang="zh-CN" altLang="en-US" sz="3600">
                <a:ea typeface="黑体" panose="02010609060101010101" pitchFamily="49" charset="-122"/>
              </a:rPr>
              <a:t>截尾和舍入效应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81400" y="2514600"/>
            <a:ext cx="5715000" cy="167640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/>
              <a:t>定点二进制数的表示</a:t>
            </a:r>
          </a:p>
          <a:p>
            <a:pPr>
              <a:spcBef>
                <a:spcPct val="50000"/>
              </a:spcBef>
            </a:pPr>
            <a:r>
              <a:rPr lang="zh-CN" altLang="en-US"/>
              <a:t>量化及量化误差</a:t>
            </a:r>
          </a:p>
        </p:txBody>
      </p:sp>
    </p:spTree>
    <p:extLst>
      <p:ext uri="{BB962C8B-B14F-4D97-AF65-F5344CB8AC3E}">
        <p14:creationId xmlns:p14="http://schemas.microsoft.com/office/powerpoint/2010/main" val="554057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457200"/>
            <a:ext cx="7772400" cy="609600"/>
          </a:xfrm>
        </p:spPr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一、定点二进制数的表示</a:t>
            </a:r>
          </a:p>
        </p:txBody>
      </p:sp>
      <p:sp>
        <p:nvSpPr>
          <p:cNvPr id="61443" name="Text Box 3"/>
          <p:cNvSpPr txBox="1">
            <a:spLocks noChangeArrowheads="1"/>
          </p:cNvSpPr>
          <p:nvPr/>
        </p:nvSpPr>
        <p:spPr bwMode="auto">
          <a:xfrm>
            <a:off x="2209800" y="1524001"/>
            <a:ext cx="7848600" cy="954107"/>
          </a:xfrm>
          <a:prstGeom prst="rect">
            <a:avLst/>
          </a:prstGeom>
          <a:solidFill>
            <a:srgbClr val="FFFF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/>
              <a:t>定点二进制数</a:t>
            </a:r>
            <a:r>
              <a:rPr lang="en-US" altLang="zh-CN" sz="2800" i="1"/>
              <a:t>x</a:t>
            </a:r>
            <a:r>
              <a:rPr lang="zh-CN" altLang="en-US" sz="2800" b="1">
                <a:solidFill>
                  <a:schemeClr val="accent2"/>
                </a:solidFill>
              </a:rPr>
              <a:t>有原码、反码和补码</a:t>
            </a:r>
            <a:r>
              <a:rPr lang="zh-CN" altLang="en-US" sz="2800"/>
              <a:t>三种表示形式</a:t>
            </a:r>
          </a:p>
        </p:txBody>
      </p:sp>
      <p:graphicFrame>
        <p:nvGraphicFramePr>
          <p:cNvPr id="61444" name="Object 4"/>
          <p:cNvGraphicFramePr>
            <a:graphicFrameLocks noChangeAspect="1"/>
          </p:cNvGraphicFramePr>
          <p:nvPr/>
        </p:nvGraphicFramePr>
        <p:xfrm>
          <a:off x="3009900" y="2743200"/>
          <a:ext cx="6280150" cy="115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5" name="公式" r:id="rId3" imgW="2616120" imgH="482400" progId="Equation.3">
                  <p:embed/>
                </p:oleObj>
              </mc:Choice>
              <mc:Fallback>
                <p:oleObj name="公式" r:id="rId3" imgW="2616120" imgH="482400" progId="Equation.3">
                  <p:embed/>
                  <p:pic>
                    <p:nvPicPr>
                      <p:cNvPr id="614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9900" y="2743200"/>
                        <a:ext cx="6280150" cy="1157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5" name="Object 5"/>
          <p:cNvGraphicFramePr>
            <a:graphicFrameLocks noChangeAspect="1"/>
          </p:cNvGraphicFramePr>
          <p:nvPr/>
        </p:nvGraphicFramePr>
        <p:xfrm>
          <a:off x="2971800" y="4038600"/>
          <a:ext cx="6369050" cy="115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" name="公式" r:id="rId5" imgW="2654280" imgH="482400" progId="Equation.3">
                  <p:embed/>
                </p:oleObj>
              </mc:Choice>
              <mc:Fallback>
                <p:oleObj name="公式" r:id="rId5" imgW="2654280" imgH="482400" progId="Equation.3">
                  <p:embed/>
                  <p:pic>
                    <p:nvPicPr>
                      <p:cNvPr id="614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038600"/>
                        <a:ext cx="6369050" cy="1157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6" name="Object 6"/>
          <p:cNvGraphicFramePr>
            <a:graphicFrameLocks noChangeAspect="1"/>
          </p:cNvGraphicFramePr>
          <p:nvPr/>
        </p:nvGraphicFramePr>
        <p:xfrm>
          <a:off x="4065588" y="5257801"/>
          <a:ext cx="3960812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" name="公式" r:id="rId7" imgW="1650960" imgH="457200" progId="Equation.3">
                  <p:embed/>
                </p:oleObj>
              </mc:Choice>
              <mc:Fallback>
                <p:oleObj name="公式" r:id="rId7" imgW="1650960" imgH="457200" progId="Equation.3">
                  <p:embed/>
                  <p:pic>
                    <p:nvPicPr>
                      <p:cNvPr id="6144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5588" y="5257801"/>
                        <a:ext cx="3960812" cy="1096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7" name="Text Box 7"/>
          <p:cNvSpPr txBox="1">
            <a:spLocks noChangeArrowheads="1"/>
          </p:cNvSpPr>
          <p:nvPr/>
        </p:nvSpPr>
        <p:spPr bwMode="auto">
          <a:xfrm>
            <a:off x="1905000" y="2147888"/>
            <a:ext cx="876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/>
              <a:t>若</a:t>
            </a:r>
            <a:r>
              <a:rPr lang="en-US" altLang="zh-CN" sz="2800" i="1"/>
              <a:t>x</a:t>
            </a:r>
            <a:r>
              <a:rPr lang="en-US" altLang="zh-CN" sz="2800"/>
              <a:t>=0.</a:t>
            </a:r>
            <a:r>
              <a:rPr lang="en-US" altLang="zh-CN" sz="2800" i="1"/>
              <a:t>X</a:t>
            </a:r>
            <a:r>
              <a:rPr lang="en-US" altLang="zh-CN" sz="2800" baseline="-25000"/>
              <a:t>1 </a:t>
            </a:r>
            <a:r>
              <a:rPr lang="en-US" altLang="zh-CN" sz="2800" i="1"/>
              <a:t>X</a:t>
            </a:r>
            <a:r>
              <a:rPr lang="en-US" altLang="zh-CN" sz="2800" baseline="-25000"/>
              <a:t>2 </a:t>
            </a:r>
            <a:r>
              <a:rPr lang="en-US" altLang="zh-CN" sz="2800" baseline="-25000">
                <a:sym typeface="Symbol" panose="05050102010706020507" pitchFamily="18" charset="2"/>
              </a:rPr>
              <a:t> </a:t>
            </a:r>
            <a:r>
              <a:rPr lang="en-US" altLang="zh-CN" sz="2800" i="1"/>
              <a:t>X</a:t>
            </a:r>
            <a:r>
              <a:rPr lang="en-US" altLang="zh-CN" sz="2800" baseline="-25000"/>
              <a:t>b</a:t>
            </a:r>
            <a:r>
              <a:rPr lang="zh-CN" altLang="en-US" sz="2800"/>
              <a:t>，则其原码、反码和补码分别定义为</a:t>
            </a:r>
          </a:p>
        </p:txBody>
      </p:sp>
    </p:spTree>
    <p:extLst>
      <p:ext uri="{BB962C8B-B14F-4D97-AF65-F5344CB8AC3E}">
        <p14:creationId xmlns:p14="http://schemas.microsoft.com/office/powerpoint/2010/main" val="4267734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61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6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6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animBg="1" autoUpdateAnimBg="0"/>
      <p:bldP spid="61447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457200"/>
            <a:ext cx="7772400" cy="609600"/>
          </a:xfrm>
        </p:spPr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二、量化及量化误差</a:t>
            </a:r>
          </a:p>
        </p:txBody>
      </p:sp>
      <p:sp>
        <p:nvSpPr>
          <p:cNvPr id="62467" name="Text Box 3"/>
          <p:cNvSpPr txBox="1">
            <a:spLocks noChangeArrowheads="1"/>
          </p:cNvSpPr>
          <p:nvPr/>
        </p:nvSpPr>
        <p:spPr bwMode="auto">
          <a:xfrm>
            <a:off x="2209800" y="1676401"/>
            <a:ext cx="7162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/>
              <a:t>理论上十进制数可用无穷多为二进制数表示</a:t>
            </a:r>
          </a:p>
        </p:txBody>
      </p:sp>
      <p:graphicFrame>
        <p:nvGraphicFramePr>
          <p:cNvPr id="62469" name="Object 5"/>
          <p:cNvGraphicFramePr>
            <a:graphicFrameLocks noChangeAspect="1"/>
          </p:cNvGraphicFramePr>
          <p:nvPr/>
        </p:nvGraphicFramePr>
        <p:xfrm>
          <a:off x="4648201" y="2347914"/>
          <a:ext cx="2595563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" name="公式" r:id="rId3" imgW="1180800" imgH="457200" progId="Equation.3">
                  <p:embed/>
                </p:oleObj>
              </mc:Choice>
              <mc:Fallback>
                <p:oleObj name="公式" r:id="rId3" imgW="1180800" imgH="457200" progId="Equation.3">
                  <p:embed/>
                  <p:pic>
                    <p:nvPicPr>
                      <p:cNvPr id="624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1" y="2347914"/>
                        <a:ext cx="2595563" cy="1004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0" name="AutoShape 6"/>
          <p:cNvSpPr>
            <a:spLocks noChangeArrowheads="1"/>
          </p:cNvSpPr>
          <p:nvPr/>
        </p:nvSpPr>
        <p:spPr bwMode="auto">
          <a:xfrm>
            <a:off x="4191000" y="3733800"/>
            <a:ext cx="1371600" cy="685800"/>
          </a:xfrm>
          <a:prstGeom prst="wedgeRoundRectCallout">
            <a:avLst>
              <a:gd name="adj1" fmla="val 36806"/>
              <a:gd name="adj2" fmla="val -141204"/>
              <a:gd name="adj3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sz="2800"/>
              <a:t>符号位</a:t>
            </a:r>
          </a:p>
        </p:txBody>
      </p:sp>
      <p:sp>
        <p:nvSpPr>
          <p:cNvPr id="62471" name="AutoShape 7"/>
          <p:cNvSpPr>
            <a:spLocks noChangeArrowheads="1"/>
          </p:cNvSpPr>
          <p:nvPr/>
        </p:nvSpPr>
        <p:spPr bwMode="auto">
          <a:xfrm>
            <a:off x="6400800" y="3657600"/>
            <a:ext cx="1752600" cy="762000"/>
          </a:xfrm>
          <a:prstGeom prst="wedgeRoundRectCallout">
            <a:avLst>
              <a:gd name="adj1" fmla="val -42935"/>
              <a:gd name="adj2" fmla="val -127083"/>
              <a:gd name="adj3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sz="2800"/>
              <a:t>有效数字位</a:t>
            </a:r>
          </a:p>
        </p:txBody>
      </p:sp>
      <p:sp>
        <p:nvSpPr>
          <p:cNvPr id="62472" name="Text Box 8"/>
          <p:cNvSpPr txBox="1">
            <a:spLocks noChangeArrowheads="1"/>
          </p:cNvSpPr>
          <p:nvPr/>
        </p:nvSpPr>
        <p:spPr bwMode="auto">
          <a:xfrm>
            <a:off x="2057400" y="4724400"/>
            <a:ext cx="80010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800"/>
              <a:t>    </a:t>
            </a:r>
            <a:r>
              <a:rPr lang="zh-CN" altLang="en-US" sz="2800"/>
              <a:t>实际中，只能用有限位近似表示</a:t>
            </a:r>
            <a:r>
              <a:rPr lang="en-US" altLang="zh-CN" sz="2800"/>
              <a:t>(b+1</a:t>
            </a:r>
            <a:r>
              <a:rPr lang="zh-CN" altLang="en-US" sz="2800"/>
              <a:t>位</a:t>
            </a:r>
            <a:r>
              <a:rPr lang="en-US" altLang="zh-CN" sz="2800"/>
              <a:t>)</a:t>
            </a:r>
            <a:r>
              <a:rPr lang="zh-CN" altLang="en-US" sz="2800"/>
              <a:t>，这种过程称为量化。</a:t>
            </a:r>
          </a:p>
        </p:txBody>
      </p:sp>
    </p:spTree>
    <p:extLst>
      <p:ext uri="{BB962C8B-B14F-4D97-AF65-F5344CB8AC3E}">
        <p14:creationId xmlns:p14="http://schemas.microsoft.com/office/powerpoint/2010/main" val="1615976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6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6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6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62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 autoUpdateAnimBg="0"/>
      <p:bldP spid="62470" grpId="0" animBg="1" autoUpdateAnimBg="0"/>
      <p:bldP spid="62471" grpId="0" animBg="1" autoUpdateAnimBg="0"/>
      <p:bldP spid="62472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07136" y="-7936"/>
            <a:ext cx="10363200" cy="1143000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  <a:ea typeface="楷体_GB2312" pitchFamily="49" charset="-122"/>
              </a:rPr>
              <a:t>量化方式</a:t>
            </a:r>
          </a:p>
        </p:txBody>
      </p:sp>
      <p:graphicFrame>
        <p:nvGraphicFramePr>
          <p:cNvPr id="63491" name="Object 3"/>
          <p:cNvGraphicFramePr>
            <a:graphicFrameLocks noChangeAspect="1"/>
          </p:cNvGraphicFramePr>
          <p:nvPr/>
        </p:nvGraphicFramePr>
        <p:xfrm>
          <a:off x="2057401" y="1676401"/>
          <a:ext cx="4016375" cy="334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3" name="Visio" r:id="rId3" imgW="1824228" imgH="1519428" progId="Visio.Drawing.6">
                  <p:embed/>
                </p:oleObj>
              </mc:Choice>
              <mc:Fallback>
                <p:oleObj name="Visio" r:id="rId3" imgW="1824228" imgH="1519428" progId="Visio.Drawing.6">
                  <p:embed/>
                  <p:pic>
                    <p:nvPicPr>
                      <p:cNvPr id="6349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1" y="1676401"/>
                        <a:ext cx="4016375" cy="3344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2" name="Object 4"/>
          <p:cNvGraphicFramePr>
            <a:graphicFrameLocks noChangeAspect="1"/>
          </p:cNvGraphicFramePr>
          <p:nvPr/>
        </p:nvGraphicFramePr>
        <p:xfrm>
          <a:off x="6270626" y="1677988"/>
          <a:ext cx="4016375" cy="334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" name="Visio" r:id="rId5" imgW="1824228" imgH="1519428" progId="Visio.Drawing.6">
                  <p:embed/>
                </p:oleObj>
              </mc:Choice>
              <mc:Fallback>
                <p:oleObj name="Visio" r:id="rId5" imgW="1824228" imgH="1519428" progId="Visio.Drawing.6">
                  <p:embed/>
                  <p:pic>
                    <p:nvPicPr>
                      <p:cNvPr id="634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0626" y="1677988"/>
                        <a:ext cx="4016375" cy="334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3" name="Text Box 5"/>
          <p:cNvSpPr txBox="1">
            <a:spLocks noChangeArrowheads="1"/>
          </p:cNvSpPr>
          <p:nvPr/>
        </p:nvSpPr>
        <p:spPr bwMode="auto">
          <a:xfrm>
            <a:off x="2514600" y="1219201"/>
            <a:ext cx="2819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截尾量化</a:t>
            </a:r>
          </a:p>
        </p:txBody>
      </p:sp>
      <p:sp>
        <p:nvSpPr>
          <p:cNvPr id="63494" name="Text Box 6"/>
          <p:cNvSpPr txBox="1">
            <a:spLocks noChangeArrowheads="1"/>
          </p:cNvSpPr>
          <p:nvPr/>
        </p:nvSpPr>
        <p:spPr bwMode="auto">
          <a:xfrm>
            <a:off x="7086600" y="1219201"/>
            <a:ext cx="228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舍入量化</a:t>
            </a:r>
          </a:p>
        </p:txBody>
      </p:sp>
      <p:graphicFrame>
        <p:nvGraphicFramePr>
          <p:cNvPr id="63495" name="Object 7"/>
          <p:cNvGraphicFramePr>
            <a:graphicFrameLocks noChangeAspect="1"/>
          </p:cNvGraphicFramePr>
          <p:nvPr/>
        </p:nvGraphicFramePr>
        <p:xfrm>
          <a:off x="2362201" y="5562600"/>
          <a:ext cx="2771775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" name="公式" r:id="rId7" imgW="1384200" imgH="457200" progId="Equation.3">
                  <p:embed/>
                </p:oleObj>
              </mc:Choice>
              <mc:Fallback>
                <p:oleObj name="公式" r:id="rId7" imgW="1384200" imgH="457200" progId="Equation.3">
                  <p:embed/>
                  <p:pic>
                    <p:nvPicPr>
                      <p:cNvPr id="6349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5562600"/>
                        <a:ext cx="2771775" cy="91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6" name="Text Box 8"/>
          <p:cNvSpPr txBox="1">
            <a:spLocks noChangeArrowheads="1"/>
          </p:cNvSpPr>
          <p:nvPr/>
        </p:nvSpPr>
        <p:spPr bwMode="auto">
          <a:xfrm>
            <a:off x="2286000" y="5105401"/>
            <a:ext cx="3048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/>
              <a:t>截掉</a:t>
            </a:r>
            <a:r>
              <a:rPr lang="en-US" altLang="zh-CN" sz="2800"/>
              <a:t>b</a:t>
            </a:r>
            <a:r>
              <a:rPr lang="zh-CN" altLang="en-US" sz="2800"/>
              <a:t>位后数据</a:t>
            </a:r>
          </a:p>
        </p:txBody>
      </p:sp>
      <p:sp>
        <p:nvSpPr>
          <p:cNvPr id="63497" name="Text Box 9"/>
          <p:cNvSpPr txBox="1">
            <a:spLocks noChangeArrowheads="1"/>
          </p:cNvSpPr>
          <p:nvPr/>
        </p:nvSpPr>
        <p:spPr bwMode="auto">
          <a:xfrm>
            <a:off x="6629400" y="5181600"/>
            <a:ext cx="3581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/>
              <a:t>视</a:t>
            </a:r>
            <a:r>
              <a:rPr lang="en-US" altLang="zh-CN" sz="2800"/>
              <a:t>b+1</a:t>
            </a:r>
            <a:r>
              <a:rPr lang="zh-CN" altLang="en-US" sz="2800"/>
              <a:t>位后数据的大小决定</a:t>
            </a:r>
            <a:r>
              <a:rPr lang="en-US" altLang="zh-CN" sz="2800"/>
              <a:t>b</a:t>
            </a:r>
            <a:r>
              <a:rPr lang="zh-CN" altLang="en-US" sz="2800"/>
              <a:t>位数据的值</a:t>
            </a:r>
          </a:p>
        </p:txBody>
      </p:sp>
      <p:sp>
        <p:nvSpPr>
          <p:cNvPr id="63498" name="Rectangle 10"/>
          <p:cNvSpPr>
            <a:spLocks noChangeArrowheads="1"/>
          </p:cNvSpPr>
          <p:nvPr/>
        </p:nvSpPr>
        <p:spPr bwMode="auto">
          <a:xfrm>
            <a:off x="1676400" y="10668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6878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6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6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63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6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3" grpId="0" autoUpdateAnimBg="0"/>
      <p:bldP spid="63494" grpId="0" autoUpdateAnimBg="0"/>
      <p:bldP spid="63496" grpId="0" autoUpdateAnimBg="0"/>
      <p:bldP spid="63497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457200"/>
            <a:ext cx="7772400" cy="609600"/>
          </a:xfrm>
        </p:spPr>
        <p:txBody>
          <a:bodyPr/>
          <a:lstStyle/>
          <a:p>
            <a:r>
              <a:rPr lang="zh-CN" altLang="en-US">
                <a:solidFill>
                  <a:schemeClr val="tx1"/>
                </a:solidFill>
                <a:ea typeface="楷体_GB2312" pitchFamily="49" charset="-122"/>
              </a:rPr>
              <a:t>量化误差</a:t>
            </a:r>
          </a:p>
        </p:txBody>
      </p:sp>
      <p:sp>
        <p:nvSpPr>
          <p:cNvPr id="64515" name="Text Box 3"/>
          <p:cNvSpPr txBox="1">
            <a:spLocks noChangeArrowheads="1"/>
          </p:cNvSpPr>
          <p:nvPr/>
        </p:nvSpPr>
        <p:spPr bwMode="auto">
          <a:xfrm>
            <a:off x="2133600" y="1371601"/>
            <a:ext cx="289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/>
              <a:t>截尾误差</a:t>
            </a:r>
          </a:p>
        </p:txBody>
      </p:sp>
      <p:graphicFrame>
        <p:nvGraphicFramePr>
          <p:cNvPr id="64516" name="Object 4"/>
          <p:cNvGraphicFramePr>
            <a:graphicFrameLocks noChangeAspect="1"/>
          </p:cNvGraphicFramePr>
          <p:nvPr/>
        </p:nvGraphicFramePr>
        <p:xfrm>
          <a:off x="5256214" y="1447801"/>
          <a:ext cx="1982787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3" name="公式" r:id="rId3" imgW="901440" imgH="215640" progId="Equation.3">
                  <p:embed/>
                </p:oleObj>
              </mc:Choice>
              <mc:Fallback>
                <p:oleObj name="公式" r:id="rId3" imgW="901440" imgH="215640" progId="Equation.3">
                  <p:embed/>
                  <p:pic>
                    <p:nvPicPr>
                      <p:cNvPr id="645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6214" y="1447801"/>
                        <a:ext cx="1982787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7" name="Text Box 5"/>
          <p:cNvSpPr txBox="1">
            <a:spLocks noChangeArrowheads="1"/>
          </p:cNvSpPr>
          <p:nvPr/>
        </p:nvSpPr>
        <p:spPr bwMode="auto">
          <a:xfrm>
            <a:off x="2133600" y="5043488"/>
            <a:ext cx="2438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/>
              <a:t>舍入误差范围</a:t>
            </a:r>
          </a:p>
        </p:txBody>
      </p:sp>
      <p:graphicFrame>
        <p:nvGraphicFramePr>
          <p:cNvPr id="64518" name="Object 6"/>
          <p:cNvGraphicFramePr>
            <a:graphicFrameLocks noChangeAspect="1"/>
          </p:cNvGraphicFramePr>
          <p:nvPr/>
        </p:nvGraphicFramePr>
        <p:xfrm>
          <a:off x="5486400" y="5065714"/>
          <a:ext cx="2579688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4" name="公式" r:id="rId5" imgW="1130040" imgH="215640" progId="Equation.3">
                  <p:embed/>
                </p:oleObj>
              </mc:Choice>
              <mc:Fallback>
                <p:oleObj name="公式" r:id="rId5" imgW="1130040" imgH="215640" progId="Equation.3">
                  <p:embed/>
                  <p:pic>
                    <p:nvPicPr>
                      <p:cNvPr id="6451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5065714"/>
                        <a:ext cx="2579688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9" name="Text Box 7"/>
          <p:cNvSpPr txBox="1">
            <a:spLocks noChangeArrowheads="1"/>
          </p:cNvSpPr>
          <p:nvPr/>
        </p:nvSpPr>
        <p:spPr bwMode="auto">
          <a:xfrm>
            <a:off x="2895600" y="2057401"/>
            <a:ext cx="556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/>
              <a:t>正数和补码负数截尾误差范围为</a:t>
            </a:r>
          </a:p>
        </p:txBody>
      </p:sp>
      <p:graphicFrame>
        <p:nvGraphicFramePr>
          <p:cNvPr id="64520" name="Object 8"/>
          <p:cNvGraphicFramePr>
            <a:graphicFrameLocks noChangeAspect="1"/>
          </p:cNvGraphicFramePr>
          <p:nvPr/>
        </p:nvGraphicFramePr>
        <p:xfrm>
          <a:off x="4495800" y="2743201"/>
          <a:ext cx="18161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5" name="公式" r:id="rId7" imgW="825480" imgH="215640" progId="Equation.3">
                  <p:embed/>
                </p:oleObj>
              </mc:Choice>
              <mc:Fallback>
                <p:oleObj name="公式" r:id="rId7" imgW="825480" imgH="215640" progId="Equation.3">
                  <p:embed/>
                  <p:pic>
                    <p:nvPicPr>
                      <p:cNvPr id="6452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2743201"/>
                        <a:ext cx="181610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1" name="Text Box 9"/>
          <p:cNvSpPr txBox="1">
            <a:spLocks noChangeArrowheads="1"/>
          </p:cNvSpPr>
          <p:nvPr/>
        </p:nvSpPr>
        <p:spPr bwMode="auto">
          <a:xfrm>
            <a:off x="2971800" y="3352801"/>
            <a:ext cx="594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/>
              <a:t>原码负数和反码负数截尾误差范围为</a:t>
            </a:r>
          </a:p>
        </p:txBody>
      </p:sp>
      <p:graphicFrame>
        <p:nvGraphicFramePr>
          <p:cNvPr id="64522" name="Object 10"/>
          <p:cNvGraphicFramePr>
            <a:graphicFrameLocks noChangeAspect="1"/>
          </p:cNvGraphicFramePr>
          <p:nvPr/>
        </p:nvGraphicFramePr>
        <p:xfrm>
          <a:off x="5181600" y="4191001"/>
          <a:ext cx="1563688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6" name="公式" r:id="rId9" imgW="711000" imgH="215640" progId="Equation.3">
                  <p:embed/>
                </p:oleObj>
              </mc:Choice>
              <mc:Fallback>
                <p:oleObj name="公式" r:id="rId9" imgW="711000" imgH="215640" progId="Equation.3">
                  <p:embed/>
                  <p:pic>
                    <p:nvPicPr>
                      <p:cNvPr id="6452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191001"/>
                        <a:ext cx="1563688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3" name="Text Box 11"/>
          <p:cNvSpPr txBox="1">
            <a:spLocks noChangeArrowheads="1"/>
          </p:cNvSpPr>
          <p:nvPr/>
        </p:nvSpPr>
        <p:spPr bwMode="auto">
          <a:xfrm>
            <a:off x="2362200" y="5791201"/>
            <a:ext cx="7696200" cy="519113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/>
              <a:t>区别：舍入误差对称分布，截尾误差单极性分布。</a:t>
            </a:r>
          </a:p>
        </p:txBody>
      </p:sp>
      <p:graphicFrame>
        <p:nvGraphicFramePr>
          <p:cNvPr id="64525" name="Object 13"/>
          <p:cNvGraphicFramePr>
            <a:graphicFrameLocks noChangeAspect="1"/>
          </p:cNvGraphicFramePr>
          <p:nvPr/>
        </p:nvGraphicFramePr>
        <p:xfrm>
          <a:off x="7315201" y="2667000"/>
          <a:ext cx="10969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7" name="公式" r:id="rId11" imgW="495000" imgH="241200" progId="Equation.3">
                  <p:embed/>
                </p:oleObj>
              </mc:Choice>
              <mc:Fallback>
                <p:oleObj name="公式" r:id="rId11" imgW="495000" imgH="241200" progId="Equation.3">
                  <p:embed/>
                  <p:pic>
                    <p:nvPicPr>
                      <p:cNvPr id="6452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1" y="2667000"/>
                        <a:ext cx="109696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65406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6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64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64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6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64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6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6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2" dur="500"/>
                                        <p:tgtEl>
                                          <p:spTgt spid="64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autoUpdateAnimBg="0"/>
      <p:bldP spid="64517" grpId="0" autoUpdateAnimBg="0"/>
      <p:bldP spid="64519" grpId="0" autoUpdateAnimBg="0"/>
      <p:bldP spid="64521" grpId="0" autoUpdateAnimBg="0"/>
      <p:bldP spid="64523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428752"/>
            <a:ext cx="10769600" cy="914400"/>
          </a:xfrm>
        </p:spPr>
        <p:txBody>
          <a:bodyPr/>
          <a:lstStyle/>
          <a:p>
            <a:r>
              <a:rPr lang="zh-CN" altLang="en-US" sz="3600" dirty="0">
                <a:ea typeface="黑体" panose="02010609060101010101" pitchFamily="49" charset="-122"/>
              </a:rPr>
              <a:t>滤波器输入信号量化效应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29000" y="2514600"/>
            <a:ext cx="5486400" cy="228600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dirty="0"/>
              <a:t>问题的提出</a:t>
            </a:r>
          </a:p>
          <a:p>
            <a:pPr>
              <a:spcBef>
                <a:spcPct val="50000"/>
              </a:spcBef>
            </a:pPr>
            <a:r>
              <a:rPr lang="zh-CN" altLang="en-US" dirty="0"/>
              <a:t>量化误差统计假设</a:t>
            </a:r>
          </a:p>
          <a:p>
            <a:pPr>
              <a:spcBef>
                <a:spcPct val="50000"/>
              </a:spcBef>
            </a:pPr>
            <a:r>
              <a:rPr lang="zh-CN" altLang="en-US" dirty="0"/>
              <a:t>信噪比和字长的关系</a:t>
            </a:r>
          </a:p>
        </p:txBody>
      </p:sp>
    </p:spTree>
    <p:extLst>
      <p:ext uri="{BB962C8B-B14F-4D97-AF65-F5344CB8AC3E}">
        <p14:creationId xmlns:p14="http://schemas.microsoft.com/office/powerpoint/2010/main" val="2205326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609600"/>
            <a:ext cx="7772400" cy="457200"/>
          </a:xfrm>
        </p:spPr>
        <p:txBody>
          <a:bodyPr/>
          <a:lstStyle/>
          <a:p>
            <a:r>
              <a:rPr lang="zh-CN" altLang="en-US"/>
              <a:t>一、问题的提出</a:t>
            </a:r>
          </a:p>
        </p:txBody>
      </p:sp>
      <p:sp>
        <p:nvSpPr>
          <p:cNvPr id="66563" name="Text Box 3"/>
          <p:cNvSpPr txBox="1">
            <a:spLocks noChangeArrowheads="1"/>
          </p:cNvSpPr>
          <p:nvPr/>
        </p:nvSpPr>
        <p:spPr bwMode="auto">
          <a:xfrm>
            <a:off x="2209800" y="1538288"/>
            <a:ext cx="7696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dirty="0"/>
              <a:t>模拟信号经过</a:t>
            </a:r>
            <a:r>
              <a:rPr lang="en-US" altLang="zh-CN" sz="2800" dirty="0"/>
              <a:t>A/D</a:t>
            </a:r>
            <a:r>
              <a:rPr lang="zh-CN" altLang="en-US" sz="2800" dirty="0"/>
              <a:t>转换为</a:t>
            </a:r>
            <a:r>
              <a:rPr lang="en-US" altLang="zh-CN" sz="2800" i="1" dirty="0"/>
              <a:t>b</a:t>
            </a:r>
            <a:r>
              <a:rPr lang="zh-CN" altLang="en-US" sz="2800" dirty="0"/>
              <a:t>位数字信号，即</a:t>
            </a:r>
          </a:p>
        </p:txBody>
      </p:sp>
      <p:graphicFrame>
        <p:nvGraphicFramePr>
          <p:cNvPr id="66564" name="Object 4"/>
          <p:cNvGraphicFramePr>
            <a:graphicFrameLocks noChangeAspect="1"/>
          </p:cNvGraphicFramePr>
          <p:nvPr/>
        </p:nvGraphicFramePr>
        <p:xfrm>
          <a:off x="4267201" y="2514600"/>
          <a:ext cx="274637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5" name="公式" r:id="rId3" imgW="1091880" imgH="203040" progId="Equation.3">
                  <p:embed/>
                </p:oleObj>
              </mc:Choice>
              <mc:Fallback>
                <p:oleObj name="公式" r:id="rId3" imgW="1091880" imgH="203040" progId="Equation.3">
                  <p:embed/>
                  <p:pic>
                    <p:nvPicPr>
                      <p:cNvPr id="665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1" y="2514600"/>
                        <a:ext cx="2746375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5" name="AutoShape 5"/>
          <p:cNvSpPr>
            <a:spLocks noChangeArrowheads="1"/>
          </p:cNvSpPr>
          <p:nvPr/>
        </p:nvSpPr>
        <p:spPr bwMode="auto">
          <a:xfrm>
            <a:off x="3657600" y="3581400"/>
            <a:ext cx="1828800" cy="685800"/>
          </a:xfrm>
          <a:prstGeom prst="wedgeRoundRectCallout">
            <a:avLst>
              <a:gd name="adj1" fmla="val 59375"/>
              <a:gd name="adj2" fmla="val -123843"/>
              <a:gd name="adj3" fmla="val 16667"/>
            </a:avLst>
          </a:prstGeom>
          <a:solidFill>
            <a:srgbClr val="FFFF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sz="2800"/>
              <a:t>精确抽样值</a:t>
            </a:r>
          </a:p>
        </p:txBody>
      </p:sp>
      <p:sp>
        <p:nvSpPr>
          <p:cNvPr id="66566" name="AutoShape 6"/>
          <p:cNvSpPr>
            <a:spLocks noChangeArrowheads="1"/>
          </p:cNvSpPr>
          <p:nvPr/>
        </p:nvSpPr>
        <p:spPr bwMode="auto">
          <a:xfrm>
            <a:off x="6705600" y="3581400"/>
            <a:ext cx="1447800" cy="609600"/>
          </a:xfrm>
          <a:prstGeom prst="wedgeRoundRectCallout">
            <a:avLst>
              <a:gd name="adj1" fmla="val -51644"/>
              <a:gd name="adj2" fmla="val -148176"/>
              <a:gd name="adj3" fmla="val 16667"/>
            </a:avLst>
          </a:prstGeom>
          <a:solidFill>
            <a:srgbClr val="FFFFDD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sz="2800"/>
              <a:t>量化误差</a:t>
            </a:r>
          </a:p>
        </p:txBody>
      </p:sp>
      <p:sp>
        <p:nvSpPr>
          <p:cNvPr id="66567" name="Text Box 7"/>
          <p:cNvSpPr txBox="1">
            <a:spLocks noChangeArrowheads="1"/>
          </p:cNvSpPr>
          <p:nvPr/>
        </p:nvSpPr>
        <p:spPr bwMode="auto">
          <a:xfrm>
            <a:off x="2133600" y="4800600"/>
            <a:ext cx="77724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800"/>
              <a:t>    </a:t>
            </a:r>
            <a:r>
              <a:rPr lang="zh-CN" altLang="en-US" sz="2800"/>
              <a:t>分析</a:t>
            </a:r>
            <a:r>
              <a:rPr lang="en-US" altLang="zh-CN" sz="2800"/>
              <a:t>A/D</a:t>
            </a:r>
            <a:r>
              <a:rPr lang="zh-CN" altLang="en-US" sz="2800"/>
              <a:t>转换器的量化效应目的在于选择合适的字长，以满足信噪比指标。</a:t>
            </a:r>
          </a:p>
        </p:txBody>
      </p:sp>
    </p:spTree>
    <p:extLst>
      <p:ext uri="{BB962C8B-B14F-4D97-AF65-F5344CB8AC3E}">
        <p14:creationId xmlns:p14="http://schemas.microsoft.com/office/powerpoint/2010/main" val="1014058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6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6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66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6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66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3" grpId="0" autoUpdateAnimBg="0"/>
      <p:bldP spid="66565" grpId="0" animBg="1" autoUpdateAnimBg="0"/>
      <p:bldP spid="66566" grpId="0" animBg="1" autoUpdateAnimBg="0"/>
      <p:bldP spid="66567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2"/>
          <p:cNvSpPr txBox="1">
            <a:spLocks noChangeArrowheads="1"/>
          </p:cNvSpPr>
          <p:nvPr/>
        </p:nvSpPr>
        <p:spPr bwMode="auto">
          <a:xfrm>
            <a:off x="3200400" y="457201"/>
            <a:ext cx="502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二、</a:t>
            </a:r>
            <a:r>
              <a:rPr lang="en-US" altLang="zh-CN" sz="2800" b="1" i="1"/>
              <a:t>e</a:t>
            </a:r>
            <a:r>
              <a:rPr lang="en-US" altLang="zh-CN" sz="2800" b="1"/>
              <a:t>[</a:t>
            </a:r>
            <a:r>
              <a:rPr lang="en-US" altLang="zh-CN" sz="2800" b="1" i="1"/>
              <a:t>k</a:t>
            </a:r>
            <a:r>
              <a:rPr lang="en-US" altLang="zh-CN" sz="2800" b="1"/>
              <a:t>]</a:t>
            </a:r>
            <a:r>
              <a:rPr lang="zh-CN" altLang="en-US" sz="2800" b="1"/>
              <a:t>统计假设</a:t>
            </a:r>
          </a:p>
        </p:txBody>
      </p:sp>
      <p:sp>
        <p:nvSpPr>
          <p:cNvPr id="67587" name="Text Box 3"/>
          <p:cNvSpPr txBox="1">
            <a:spLocks noChangeArrowheads="1"/>
          </p:cNvSpPr>
          <p:nvPr/>
        </p:nvSpPr>
        <p:spPr bwMode="auto">
          <a:xfrm>
            <a:off x="2871788" y="1371601"/>
            <a:ext cx="65770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/>
              <a:t>1) </a:t>
            </a:r>
            <a:r>
              <a:rPr lang="en-US" altLang="zh-CN" sz="2800" b="1" i="1"/>
              <a:t>e</a:t>
            </a:r>
            <a:r>
              <a:rPr lang="en-US" altLang="zh-CN" sz="2800" b="1"/>
              <a:t>[</a:t>
            </a:r>
            <a:r>
              <a:rPr lang="en-US" altLang="zh-CN" sz="2800" b="1" i="1"/>
              <a:t>k</a:t>
            </a:r>
            <a:r>
              <a:rPr lang="en-US" altLang="zh-CN" sz="2800" b="1"/>
              <a:t>]</a:t>
            </a:r>
            <a:r>
              <a:rPr lang="zh-CN" altLang="en-US" sz="2800" b="1"/>
              <a:t>是平稳随机序列 </a:t>
            </a:r>
          </a:p>
        </p:txBody>
      </p:sp>
      <p:sp>
        <p:nvSpPr>
          <p:cNvPr id="67588" name="Text Box 4"/>
          <p:cNvSpPr txBox="1">
            <a:spLocks noChangeArrowheads="1"/>
          </p:cNvSpPr>
          <p:nvPr/>
        </p:nvSpPr>
        <p:spPr bwMode="auto">
          <a:xfrm>
            <a:off x="2871788" y="1981201"/>
            <a:ext cx="70484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dirty="0"/>
              <a:t>2) </a:t>
            </a:r>
            <a:r>
              <a:rPr lang="en-US" altLang="zh-CN" sz="2800" b="1" i="1" dirty="0"/>
              <a:t>e</a:t>
            </a:r>
            <a:r>
              <a:rPr lang="en-US" altLang="zh-CN" sz="2800" b="1" dirty="0"/>
              <a:t>[</a:t>
            </a:r>
            <a:r>
              <a:rPr lang="en-US" altLang="zh-CN" sz="2800" b="1" i="1" dirty="0"/>
              <a:t>k</a:t>
            </a:r>
            <a:r>
              <a:rPr lang="en-US" altLang="zh-CN" sz="2800" b="1" dirty="0"/>
              <a:t>] </a:t>
            </a:r>
            <a:r>
              <a:rPr lang="zh-CN" altLang="en-US" sz="2800" b="1" dirty="0"/>
              <a:t>是白噪声，且</a:t>
            </a:r>
            <a:r>
              <a:rPr lang="en-US" altLang="zh-CN" sz="2800" b="1" i="1" dirty="0"/>
              <a:t>e</a:t>
            </a:r>
            <a:r>
              <a:rPr lang="en-US" altLang="zh-CN" sz="2800" b="1" dirty="0"/>
              <a:t>[</a:t>
            </a:r>
            <a:r>
              <a:rPr lang="en-US" altLang="zh-CN" sz="2800" b="1" i="1" dirty="0"/>
              <a:t>k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]</a:t>
            </a:r>
            <a:r>
              <a:rPr lang="zh-CN" altLang="en-US" sz="2800" b="1" dirty="0"/>
              <a:t>和</a:t>
            </a:r>
            <a:r>
              <a:rPr lang="en-US" altLang="zh-CN" sz="2800" b="1" i="1" dirty="0"/>
              <a:t>e</a:t>
            </a:r>
            <a:r>
              <a:rPr lang="en-US" altLang="zh-CN" sz="2800" b="1" dirty="0"/>
              <a:t>[</a:t>
            </a:r>
            <a:r>
              <a:rPr lang="en-US" altLang="zh-CN" sz="2800" b="1" i="1" dirty="0"/>
              <a:t>k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]</a:t>
            </a:r>
            <a:r>
              <a:rPr lang="zh-CN" altLang="en-US" sz="2800" b="1" dirty="0"/>
              <a:t>不相关 </a:t>
            </a:r>
          </a:p>
        </p:txBody>
      </p:sp>
      <p:sp>
        <p:nvSpPr>
          <p:cNvPr id="67589" name="Text Box 5"/>
          <p:cNvSpPr txBox="1">
            <a:spLocks noChangeArrowheads="1"/>
          </p:cNvSpPr>
          <p:nvPr/>
        </p:nvSpPr>
        <p:spPr bwMode="auto">
          <a:xfrm>
            <a:off x="2871788" y="2590801"/>
            <a:ext cx="4768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dirty="0"/>
              <a:t>3) </a:t>
            </a:r>
            <a:r>
              <a:rPr lang="en-US" altLang="zh-CN" sz="2800" b="1" i="1" dirty="0"/>
              <a:t>e</a:t>
            </a:r>
            <a:r>
              <a:rPr lang="en-US" altLang="zh-CN" sz="2800" b="1" dirty="0"/>
              <a:t>[</a:t>
            </a:r>
            <a:r>
              <a:rPr lang="en-US" altLang="zh-CN" sz="2800" b="1" i="1" dirty="0"/>
              <a:t>k</a:t>
            </a:r>
            <a:r>
              <a:rPr lang="en-US" altLang="zh-CN" sz="2800" b="1" dirty="0"/>
              <a:t>]</a:t>
            </a:r>
            <a:r>
              <a:rPr lang="zh-CN" altLang="en-US" sz="2800" b="1" dirty="0"/>
              <a:t>和</a:t>
            </a:r>
            <a:r>
              <a:rPr lang="en-US" altLang="zh-CN" sz="2800" b="1" i="1" dirty="0"/>
              <a:t>x</a:t>
            </a:r>
            <a:r>
              <a:rPr lang="en-US" altLang="zh-CN" sz="2800" b="1" dirty="0"/>
              <a:t>[</a:t>
            </a:r>
            <a:r>
              <a:rPr lang="en-US" altLang="zh-CN" sz="2800" b="1" i="1" dirty="0"/>
              <a:t>k</a:t>
            </a:r>
            <a:r>
              <a:rPr lang="en-US" altLang="zh-CN" sz="2800" b="1" dirty="0"/>
              <a:t>]</a:t>
            </a:r>
            <a:r>
              <a:rPr lang="zh-CN" altLang="en-US" sz="2800" b="1" dirty="0"/>
              <a:t>不相关</a:t>
            </a:r>
          </a:p>
        </p:txBody>
      </p:sp>
      <p:sp>
        <p:nvSpPr>
          <p:cNvPr id="67590" name="Text Box 6"/>
          <p:cNvSpPr txBox="1">
            <a:spLocks noChangeArrowheads="1"/>
          </p:cNvSpPr>
          <p:nvPr/>
        </p:nvSpPr>
        <p:spPr bwMode="auto">
          <a:xfrm>
            <a:off x="2871788" y="3200401"/>
            <a:ext cx="37004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/>
              <a:t>4) </a:t>
            </a:r>
            <a:r>
              <a:rPr lang="en-US" altLang="zh-CN" sz="2800" b="1" i="1"/>
              <a:t>e</a:t>
            </a:r>
            <a:r>
              <a:rPr lang="en-US" altLang="zh-CN" sz="2800" b="1"/>
              <a:t>[</a:t>
            </a:r>
            <a:r>
              <a:rPr lang="en-US" altLang="zh-CN" sz="2800" b="1" i="1"/>
              <a:t>k</a:t>
            </a:r>
            <a:r>
              <a:rPr lang="en-US" altLang="zh-CN" sz="2800" b="1"/>
              <a:t>]</a:t>
            </a:r>
            <a:r>
              <a:rPr lang="zh-CN" altLang="en-US" sz="2800" b="1"/>
              <a:t>等概率分布</a:t>
            </a:r>
          </a:p>
        </p:txBody>
      </p:sp>
      <p:graphicFrame>
        <p:nvGraphicFramePr>
          <p:cNvPr id="67591" name="Object 7"/>
          <p:cNvGraphicFramePr>
            <a:graphicFrameLocks noChangeAspect="1"/>
          </p:cNvGraphicFramePr>
          <p:nvPr/>
        </p:nvGraphicFramePr>
        <p:xfrm>
          <a:off x="4724401" y="3581401"/>
          <a:ext cx="3459163" cy="227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9" name="Visio" r:id="rId3" imgW="1381049" imgH="910438" progId="Visio.Drawing.6">
                  <p:embed/>
                </p:oleObj>
              </mc:Choice>
              <mc:Fallback>
                <p:oleObj name="Visio" r:id="rId3" imgW="1381049" imgH="910438" progId="Visio.Drawing.6">
                  <p:embed/>
                  <p:pic>
                    <p:nvPicPr>
                      <p:cNvPr id="6759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1" y="3581401"/>
                        <a:ext cx="3459163" cy="227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92" name="Text Box 8"/>
          <p:cNvSpPr txBox="1">
            <a:spLocks noChangeArrowheads="1"/>
          </p:cNvSpPr>
          <p:nvPr/>
        </p:nvSpPr>
        <p:spPr bwMode="auto">
          <a:xfrm>
            <a:off x="3124200" y="5943601"/>
            <a:ext cx="647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/>
              <a:t>舍入量化误差的概率密度函数曲线</a:t>
            </a:r>
          </a:p>
        </p:txBody>
      </p:sp>
    </p:spTree>
    <p:extLst>
      <p:ext uri="{BB962C8B-B14F-4D97-AF65-F5344CB8AC3E}">
        <p14:creationId xmlns:p14="http://schemas.microsoft.com/office/powerpoint/2010/main" val="4203649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7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6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67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6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67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67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7" grpId="0" autoUpdateAnimBg="0"/>
      <p:bldP spid="67588" grpId="0" autoUpdateAnimBg="0"/>
      <p:bldP spid="67589" grpId="0" autoUpdateAnimBg="0"/>
      <p:bldP spid="67590" grpId="0" autoUpdateAnimBg="0"/>
      <p:bldP spid="67592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2"/>
          <p:cNvSpPr txBox="1">
            <a:spLocks noChangeArrowheads="1"/>
          </p:cNvSpPr>
          <p:nvPr/>
        </p:nvSpPr>
        <p:spPr bwMode="auto">
          <a:xfrm>
            <a:off x="3276600" y="381001"/>
            <a:ext cx="609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三、信噪比和字长的关系</a:t>
            </a:r>
          </a:p>
        </p:txBody>
      </p:sp>
      <p:grpSp>
        <p:nvGrpSpPr>
          <p:cNvPr id="68611" name="Group 3"/>
          <p:cNvGrpSpPr>
            <a:grpSpLocks/>
          </p:cNvGrpSpPr>
          <p:nvPr/>
        </p:nvGrpSpPr>
        <p:grpSpPr bwMode="auto">
          <a:xfrm>
            <a:off x="2057401" y="1339850"/>
            <a:ext cx="4202113" cy="641350"/>
            <a:chOff x="336" y="844"/>
            <a:chExt cx="2647" cy="404"/>
          </a:xfrm>
        </p:grpSpPr>
        <p:sp>
          <p:nvSpPr>
            <p:cNvPr id="68612" name="Text Box 4"/>
            <p:cNvSpPr txBox="1">
              <a:spLocks noChangeArrowheads="1"/>
            </p:cNvSpPr>
            <p:nvPr/>
          </p:nvSpPr>
          <p:spPr bwMode="auto">
            <a:xfrm>
              <a:off x="336" y="864"/>
              <a:ext cx="249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sz="2800"/>
                <a:t>信号</a:t>
              </a:r>
              <a:r>
                <a:rPr lang="en-US" altLang="zh-CN" sz="2800" i="1"/>
                <a:t>x</a:t>
              </a:r>
              <a:r>
                <a:rPr lang="en-US" altLang="zh-CN" sz="2800"/>
                <a:t>[</a:t>
              </a:r>
              <a:r>
                <a:rPr lang="en-US" altLang="zh-CN" sz="2800" i="1"/>
                <a:t>k</a:t>
              </a:r>
              <a:r>
                <a:rPr lang="en-US" altLang="zh-CN" sz="2800"/>
                <a:t>]</a:t>
              </a:r>
              <a:r>
                <a:rPr lang="zh-CN" altLang="en-US" sz="2800"/>
                <a:t>的平均功率为 </a:t>
              </a:r>
            </a:p>
          </p:txBody>
        </p:sp>
        <p:graphicFrame>
          <p:nvGraphicFramePr>
            <p:cNvPr id="68613" name="Object 5"/>
            <p:cNvGraphicFramePr>
              <a:graphicFrameLocks noChangeAspect="1"/>
            </p:cNvGraphicFramePr>
            <p:nvPr/>
          </p:nvGraphicFramePr>
          <p:xfrm>
            <a:off x="2640" y="844"/>
            <a:ext cx="343" cy="4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69" name="公式" r:id="rId3" imgW="215640" imgH="253800" progId="Equation.3">
                    <p:embed/>
                  </p:oleObj>
                </mc:Choice>
                <mc:Fallback>
                  <p:oleObj name="公式" r:id="rId3" imgW="215640" imgH="253800" progId="Equation.3">
                    <p:embed/>
                    <p:pic>
                      <p:nvPicPr>
                        <p:cNvPr id="68613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844"/>
                          <a:ext cx="343" cy="4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8614" name="Text Box 6"/>
          <p:cNvSpPr txBox="1">
            <a:spLocks noChangeArrowheads="1"/>
          </p:cNvSpPr>
          <p:nvPr/>
        </p:nvSpPr>
        <p:spPr bwMode="auto">
          <a:xfrm>
            <a:off x="2133601" y="3443288"/>
            <a:ext cx="42957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/>
              <a:t>输入信号的信噪比</a:t>
            </a:r>
            <a:r>
              <a:rPr lang="en-US" altLang="zh-CN" sz="2800" b="1"/>
              <a:t>SNR</a:t>
            </a:r>
            <a:r>
              <a:rPr lang="zh-CN" altLang="en-US" sz="2800" b="1"/>
              <a:t>为</a:t>
            </a:r>
          </a:p>
        </p:txBody>
      </p:sp>
      <p:graphicFrame>
        <p:nvGraphicFramePr>
          <p:cNvPr id="686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7540473"/>
              </p:ext>
            </p:extLst>
          </p:nvPr>
        </p:nvGraphicFramePr>
        <p:xfrm>
          <a:off x="1857376" y="4167188"/>
          <a:ext cx="8601075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0" name="Equation" r:id="rId5" imgW="3441600" imgH="507960" progId="Equation.DSMT4">
                  <p:embed/>
                </p:oleObj>
              </mc:Choice>
              <mc:Fallback>
                <p:oleObj name="Equation" r:id="rId5" imgW="3441600" imgH="507960" progId="Equation.DSMT4">
                  <p:embed/>
                  <p:pic>
                    <p:nvPicPr>
                      <p:cNvPr id="6861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376" y="4167188"/>
                        <a:ext cx="8601075" cy="127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6" name="Text Box 8"/>
          <p:cNvSpPr txBox="1">
            <a:spLocks noChangeArrowheads="1"/>
          </p:cNvSpPr>
          <p:nvPr/>
        </p:nvSpPr>
        <p:spPr bwMode="auto">
          <a:xfrm>
            <a:off x="2867026" y="5729288"/>
            <a:ext cx="5895975" cy="519112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 dirty="0"/>
              <a:t>字长增加一位，</a:t>
            </a:r>
            <a:r>
              <a:rPr lang="en-US" altLang="zh-CN" sz="2800" b="1" dirty="0"/>
              <a:t>SNR</a:t>
            </a:r>
            <a:r>
              <a:rPr lang="zh-CN" altLang="en-US" sz="2800" b="1" dirty="0"/>
              <a:t>增加</a:t>
            </a:r>
            <a:r>
              <a:rPr lang="en-US" altLang="zh-CN" sz="2800" b="1" dirty="0"/>
              <a:t>6db</a:t>
            </a:r>
          </a:p>
        </p:txBody>
      </p:sp>
      <p:graphicFrame>
        <p:nvGraphicFramePr>
          <p:cNvPr id="68617" name="Object 9"/>
          <p:cNvGraphicFramePr>
            <a:graphicFrameLocks noChangeAspect="1"/>
          </p:cNvGraphicFramePr>
          <p:nvPr/>
        </p:nvGraphicFramePr>
        <p:xfrm>
          <a:off x="4949826" y="2127250"/>
          <a:ext cx="3140075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1" name="公式" r:id="rId7" imgW="1257120" imgH="431640" progId="Equation.3">
                  <p:embed/>
                </p:oleObj>
              </mc:Choice>
              <mc:Fallback>
                <p:oleObj name="公式" r:id="rId7" imgW="1257120" imgH="431640" progId="Equation.3">
                  <p:embed/>
                  <p:pic>
                    <p:nvPicPr>
                      <p:cNvPr id="6861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9826" y="2127250"/>
                        <a:ext cx="3140075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8" name="Text Box 10"/>
          <p:cNvSpPr txBox="1">
            <a:spLocks noChangeArrowheads="1"/>
          </p:cNvSpPr>
          <p:nvPr/>
        </p:nvSpPr>
        <p:spPr bwMode="auto">
          <a:xfrm>
            <a:off x="2057400" y="2452688"/>
            <a:ext cx="2362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/>
              <a:t>量化误差方差</a:t>
            </a:r>
          </a:p>
        </p:txBody>
      </p:sp>
    </p:spTree>
    <p:extLst>
      <p:ext uri="{BB962C8B-B14F-4D97-AF65-F5344CB8AC3E}">
        <p14:creationId xmlns:p14="http://schemas.microsoft.com/office/powerpoint/2010/main" val="2953137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68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68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6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68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4" grpId="0" autoUpdateAnimBg="0"/>
      <p:bldP spid="68616" grpId="0" animBg="1" autoUpdateAnimBg="0"/>
      <p:bldP spid="68618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1633728" y="408432"/>
            <a:ext cx="10769600" cy="914400"/>
          </a:xfrm>
        </p:spPr>
        <p:txBody>
          <a:bodyPr/>
          <a:lstStyle/>
          <a:p>
            <a:r>
              <a:rPr lang="zh-CN" altLang="en-US" sz="3600" dirty="0">
                <a:solidFill>
                  <a:schemeClr val="tx1"/>
                </a:solidFill>
                <a:ea typeface="黑体" panose="02010609060101010101" pitchFamily="49" charset="-122"/>
              </a:rPr>
              <a:t>滤波器系数量化效应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86200" y="2362200"/>
            <a:ext cx="4495800" cy="251460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/>
              <a:t>问题的提出</a:t>
            </a:r>
          </a:p>
          <a:p>
            <a:pPr>
              <a:spcBef>
                <a:spcPct val="50000"/>
              </a:spcBef>
            </a:pPr>
            <a:r>
              <a:rPr lang="en-US" altLang="zh-CN"/>
              <a:t>IIR</a:t>
            </a:r>
            <a:r>
              <a:rPr lang="zh-CN" altLang="en-US"/>
              <a:t>系数量化效应</a:t>
            </a:r>
          </a:p>
          <a:p>
            <a:pPr>
              <a:spcBef>
                <a:spcPct val="50000"/>
              </a:spcBef>
            </a:pPr>
            <a:r>
              <a:rPr lang="en-US" altLang="zh-CN"/>
              <a:t>FIR</a:t>
            </a:r>
            <a:r>
              <a:rPr lang="zh-CN" altLang="en-US"/>
              <a:t>系数量化效应</a:t>
            </a:r>
          </a:p>
        </p:txBody>
      </p:sp>
    </p:spTree>
    <p:extLst>
      <p:ext uri="{BB962C8B-B14F-4D97-AF65-F5344CB8AC3E}">
        <p14:creationId xmlns:p14="http://schemas.microsoft.com/office/powerpoint/2010/main" val="2540412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81000"/>
            <a:ext cx="7772400" cy="609600"/>
          </a:xfrm>
        </p:spPr>
        <p:txBody>
          <a:bodyPr/>
          <a:lstStyle/>
          <a:p>
            <a:r>
              <a:rPr lang="zh-CN" altLang="en-US"/>
              <a:t>一、问题的提出</a:t>
            </a:r>
          </a:p>
        </p:txBody>
      </p:sp>
      <p:graphicFrame>
        <p:nvGraphicFramePr>
          <p:cNvPr id="70659" name="Object 3"/>
          <p:cNvGraphicFramePr>
            <a:graphicFrameLocks noChangeAspect="1"/>
          </p:cNvGraphicFramePr>
          <p:nvPr/>
        </p:nvGraphicFramePr>
        <p:xfrm>
          <a:off x="3200400" y="2133600"/>
          <a:ext cx="5614988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7" name="公式" r:id="rId3" imgW="2806560" imgH="914400" progId="Equation.3">
                  <p:embed/>
                </p:oleObj>
              </mc:Choice>
              <mc:Fallback>
                <p:oleObj name="公式" r:id="rId3" imgW="2806560" imgH="914400" progId="Equation.3">
                  <p:embed/>
                  <p:pic>
                    <p:nvPicPr>
                      <p:cNvPr id="7065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133600"/>
                        <a:ext cx="5614988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0" name="Text Box 4"/>
          <p:cNvSpPr txBox="1">
            <a:spLocks noChangeArrowheads="1"/>
          </p:cNvSpPr>
          <p:nvPr/>
        </p:nvSpPr>
        <p:spPr bwMode="auto">
          <a:xfrm>
            <a:off x="1981200" y="4114801"/>
            <a:ext cx="8153400" cy="519113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/>
              <a:t>因字长有限，滤波器系数</a:t>
            </a:r>
            <a:r>
              <a:rPr lang="en-US" altLang="zh-CN" sz="2800" i="1"/>
              <a:t>a</a:t>
            </a:r>
            <a:r>
              <a:rPr lang="en-US" altLang="zh-CN" sz="2800" i="1" baseline="-25000"/>
              <a:t>k</a:t>
            </a:r>
            <a:r>
              <a:rPr lang="zh-CN" altLang="en-US" sz="2800"/>
              <a:t>、</a:t>
            </a:r>
            <a:r>
              <a:rPr lang="en-US" altLang="zh-CN" sz="2800" i="1"/>
              <a:t>b</a:t>
            </a:r>
            <a:r>
              <a:rPr lang="en-US" altLang="zh-CN" sz="2800" i="1" baseline="-25000"/>
              <a:t>k</a:t>
            </a:r>
            <a:r>
              <a:rPr lang="zh-CN" altLang="en-US" sz="2800"/>
              <a:t>量化后将产生误差</a:t>
            </a:r>
          </a:p>
        </p:txBody>
      </p:sp>
      <p:sp>
        <p:nvSpPr>
          <p:cNvPr id="70661" name="Text Box 5"/>
          <p:cNvSpPr txBox="1">
            <a:spLocks noChangeArrowheads="1"/>
          </p:cNvSpPr>
          <p:nvPr/>
        </p:nvSpPr>
        <p:spPr bwMode="auto">
          <a:xfrm>
            <a:off x="2209801" y="4800601"/>
            <a:ext cx="8251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>
                <a:solidFill>
                  <a:schemeClr val="accent2"/>
                </a:solidFill>
              </a:rPr>
              <a:t>1. </a:t>
            </a:r>
            <a:r>
              <a:rPr lang="zh-CN" altLang="en-US" sz="2800" b="1">
                <a:solidFill>
                  <a:schemeClr val="accent2"/>
                </a:solidFill>
              </a:rPr>
              <a:t>系统的实际频响与所要求的频响出现偏差。</a:t>
            </a:r>
          </a:p>
        </p:txBody>
      </p:sp>
      <p:sp>
        <p:nvSpPr>
          <p:cNvPr id="70662" name="Text Box 6"/>
          <p:cNvSpPr txBox="1">
            <a:spLocks noChangeArrowheads="1"/>
          </p:cNvSpPr>
          <p:nvPr/>
        </p:nvSpPr>
        <p:spPr bwMode="auto">
          <a:xfrm>
            <a:off x="2209800" y="5486400"/>
            <a:ext cx="8001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>
                <a:solidFill>
                  <a:schemeClr val="accent2"/>
                </a:solidFill>
              </a:rPr>
              <a:t>2. </a:t>
            </a:r>
            <a:r>
              <a:rPr lang="zh-CN" altLang="en-US" sz="2800" b="1">
                <a:solidFill>
                  <a:schemeClr val="accent2"/>
                </a:solidFill>
              </a:rPr>
              <a:t>系统函数零极点的实际位置也与设计位置不同。 严重时，使系统失去稳定。</a:t>
            </a:r>
          </a:p>
        </p:txBody>
      </p:sp>
      <p:sp>
        <p:nvSpPr>
          <p:cNvPr id="70663" name="Text Box 7"/>
          <p:cNvSpPr txBox="1">
            <a:spLocks noChangeArrowheads="1"/>
          </p:cNvSpPr>
          <p:nvPr/>
        </p:nvSpPr>
        <p:spPr bwMode="auto">
          <a:xfrm>
            <a:off x="1905000" y="1462088"/>
            <a:ext cx="8001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dirty="0"/>
              <a:t>设系统只有单极点，理想</a:t>
            </a:r>
            <a:r>
              <a:rPr lang="en-US" altLang="zh-CN" sz="2800" dirty="0"/>
              <a:t>DF</a:t>
            </a:r>
            <a:r>
              <a:rPr lang="zh-CN" altLang="en-US" sz="2800" dirty="0"/>
              <a:t>的系统函数可表示为</a:t>
            </a:r>
          </a:p>
        </p:txBody>
      </p:sp>
    </p:spTree>
    <p:extLst>
      <p:ext uri="{BB962C8B-B14F-4D97-AF65-F5344CB8AC3E}">
        <p14:creationId xmlns:p14="http://schemas.microsoft.com/office/powerpoint/2010/main" val="4169756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70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70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70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70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7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0" grpId="0" animBg="1" autoUpdateAnimBg="0"/>
      <p:bldP spid="70661" grpId="0" autoUpdateAnimBg="0"/>
      <p:bldP spid="70662" grpId="0" autoUpdateAnimBg="0"/>
      <p:bldP spid="70663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53440" y="184945"/>
            <a:ext cx="10363200" cy="1143000"/>
          </a:xfrm>
        </p:spPr>
        <p:txBody>
          <a:bodyPr/>
          <a:lstStyle/>
          <a:p>
            <a:r>
              <a:rPr lang="zh-CN" altLang="en-US" dirty="0"/>
              <a:t>二、</a:t>
            </a:r>
            <a:r>
              <a:rPr lang="en-US" altLang="zh-CN" dirty="0"/>
              <a:t>IIR</a:t>
            </a:r>
            <a:r>
              <a:rPr lang="zh-CN" altLang="en-US" dirty="0"/>
              <a:t>系数量化效应</a:t>
            </a:r>
          </a:p>
        </p:txBody>
      </p:sp>
      <p:sp>
        <p:nvSpPr>
          <p:cNvPr id="71683" name="Text Box 3"/>
          <p:cNvSpPr txBox="1">
            <a:spLocks noChangeArrowheads="1"/>
          </p:cNvSpPr>
          <p:nvPr/>
        </p:nvSpPr>
        <p:spPr bwMode="auto">
          <a:xfrm>
            <a:off x="1828800" y="1295401"/>
            <a:ext cx="2819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/>
              <a:t>{</a:t>
            </a:r>
            <a:r>
              <a:rPr lang="en-US" altLang="zh-CN" sz="2800" i="1"/>
              <a:t>a</a:t>
            </a:r>
            <a:r>
              <a:rPr lang="en-US" altLang="zh-CN" sz="2800" i="1" baseline="-25000"/>
              <a:t>k</a:t>
            </a:r>
            <a:r>
              <a:rPr lang="en-US" altLang="zh-CN" sz="2800"/>
              <a:t>}</a:t>
            </a:r>
            <a:r>
              <a:rPr lang="zh-CN" altLang="en-US" sz="2800"/>
              <a:t>量化后的值</a:t>
            </a:r>
          </a:p>
        </p:txBody>
      </p:sp>
      <p:graphicFrame>
        <p:nvGraphicFramePr>
          <p:cNvPr id="71684" name="Object 4"/>
          <p:cNvGraphicFramePr>
            <a:graphicFrameLocks noChangeAspect="1"/>
          </p:cNvGraphicFramePr>
          <p:nvPr/>
        </p:nvGraphicFramePr>
        <p:xfrm>
          <a:off x="4953001" y="1295400"/>
          <a:ext cx="428942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0" name="公式" r:id="rId3" imgW="1714320" imgH="228600" progId="Equation.3">
                  <p:embed/>
                </p:oleObj>
              </mc:Choice>
              <mc:Fallback>
                <p:oleObj name="公式" r:id="rId3" imgW="1714320" imgH="228600" progId="Equation.3">
                  <p:embed/>
                  <p:pic>
                    <p:nvPicPr>
                      <p:cNvPr id="7168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1" y="1295400"/>
                        <a:ext cx="428942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5" name="Object 5"/>
          <p:cNvGraphicFramePr>
            <a:graphicFrameLocks noChangeAspect="1"/>
          </p:cNvGraphicFramePr>
          <p:nvPr/>
        </p:nvGraphicFramePr>
        <p:xfrm>
          <a:off x="5202238" y="1905001"/>
          <a:ext cx="4094162" cy="114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1" name="公式" r:id="rId5" imgW="1638000" imgH="457200" progId="Equation.3">
                  <p:embed/>
                </p:oleObj>
              </mc:Choice>
              <mc:Fallback>
                <p:oleObj name="公式" r:id="rId5" imgW="1638000" imgH="457200" progId="Equation.3">
                  <p:embed/>
                  <p:pic>
                    <p:nvPicPr>
                      <p:cNvPr id="7168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2238" y="1905001"/>
                        <a:ext cx="4094162" cy="1147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6" name="Object 6"/>
          <p:cNvGraphicFramePr>
            <a:graphicFrameLocks noChangeAspect="1"/>
          </p:cNvGraphicFramePr>
          <p:nvPr/>
        </p:nvGraphicFramePr>
        <p:xfrm>
          <a:off x="4495800" y="3581401"/>
          <a:ext cx="2605088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2" name="公式" r:id="rId7" imgW="1041120" imgH="457200" progId="Equation.3">
                  <p:embed/>
                </p:oleObj>
              </mc:Choice>
              <mc:Fallback>
                <p:oleObj name="公式" r:id="rId7" imgW="1041120" imgH="457200" progId="Equation.3">
                  <p:embed/>
                  <p:pic>
                    <p:nvPicPr>
                      <p:cNvPr id="7168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3581401"/>
                        <a:ext cx="2605088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7" name="Object 7"/>
          <p:cNvGraphicFramePr>
            <a:graphicFrameLocks noChangeAspect="1"/>
          </p:cNvGraphicFramePr>
          <p:nvPr/>
        </p:nvGraphicFramePr>
        <p:xfrm>
          <a:off x="4279900" y="5257800"/>
          <a:ext cx="3652838" cy="1208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3" name="公式" r:id="rId9" imgW="1460160" imgH="482400" progId="Equation.3">
                  <p:embed/>
                </p:oleObj>
              </mc:Choice>
              <mc:Fallback>
                <p:oleObj name="公式" r:id="rId9" imgW="1460160" imgH="482400" progId="Equation.3">
                  <p:embed/>
                  <p:pic>
                    <p:nvPicPr>
                      <p:cNvPr id="7168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9900" y="5257800"/>
                        <a:ext cx="3652838" cy="1208088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8" name="Text Box 8"/>
          <p:cNvSpPr txBox="1">
            <a:spLocks noChangeArrowheads="1"/>
          </p:cNvSpPr>
          <p:nvPr/>
        </p:nvSpPr>
        <p:spPr bwMode="auto">
          <a:xfrm>
            <a:off x="1828801" y="4738688"/>
            <a:ext cx="60548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800" dirty="0"/>
              <a:t>保持稳定性的</a:t>
            </a:r>
            <a:r>
              <a:rPr lang="en-US" altLang="zh-CN" sz="2800" dirty="0"/>
              <a:t>IIR DF</a:t>
            </a:r>
            <a:r>
              <a:rPr lang="zh-CN" altLang="en-US" sz="2800" dirty="0"/>
              <a:t>系数的最小字长</a:t>
            </a:r>
          </a:p>
        </p:txBody>
      </p:sp>
      <p:sp>
        <p:nvSpPr>
          <p:cNvPr id="71689" name="Text Box 9"/>
          <p:cNvSpPr txBox="1">
            <a:spLocks noChangeArrowheads="1"/>
          </p:cNvSpPr>
          <p:nvPr/>
        </p:nvSpPr>
        <p:spPr bwMode="auto">
          <a:xfrm>
            <a:off x="1828800" y="2133601"/>
            <a:ext cx="297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/>
              <a:t>量化后极点位置</a:t>
            </a:r>
          </a:p>
        </p:txBody>
      </p:sp>
      <p:sp>
        <p:nvSpPr>
          <p:cNvPr id="71690" name="Text Box 10"/>
          <p:cNvSpPr txBox="1">
            <a:spLocks noChangeArrowheads="1"/>
          </p:cNvSpPr>
          <p:nvPr/>
        </p:nvSpPr>
        <p:spPr bwMode="auto">
          <a:xfrm>
            <a:off x="1828800" y="2986088"/>
            <a:ext cx="7696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/>
              <a:t>为了保持稳定，设极点在单位圆内接近</a:t>
            </a:r>
            <a:r>
              <a:rPr lang="en-US" altLang="zh-CN" sz="2800" i="1"/>
              <a:t>z</a:t>
            </a:r>
            <a:r>
              <a:rPr lang="en-US" altLang="zh-CN" sz="2800"/>
              <a:t>=1</a:t>
            </a:r>
          </a:p>
        </p:txBody>
      </p:sp>
      <p:sp>
        <p:nvSpPr>
          <p:cNvPr id="71691" name="Rectangle 11"/>
          <p:cNvSpPr>
            <a:spLocks noChangeArrowheads="1"/>
          </p:cNvSpPr>
          <p:nvPr/>
        </p:nvSpPr>
        <p:spPr bwMode="auto">
          <a:xfrm>
            <a:off x="1676400" y="11430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1553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71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7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71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7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71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71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71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71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3" grpId="0" autoUpdateAnimBg="0"/>
      <p:bldP spid="71688" grpId="0" autoUpdateAnimBg="0"/>
      <p:bldP spid="71689" grpId="0" autoUpdateAnimBg="0"/>
      <p:bldP spid="71690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AutoShape 2"/>
          <p:cNvSpPr>
            <a:spLocks noChangeArrowheads="1"/>
          </p:cNvSpPr>
          <p:nvPr/>
        </p:nvSpPr>
        <p:spPr bwMode="auto">
          <a:xfrm>
            <a:off x="5943600" y="2438400"/>
            <a:ext cx="685800" cy="762000"/>
          </a:xfrm>
          <a:prstGeom prst="wedgeEllipseCallout">
            <a:avLst>
              <a:gd name="adj1" fmla="val 121528"/>
              <a:gd name="adj2" fmla="val 55000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 sz="2800"/>
          </a:p>
        </p:txBody>
      </p:sp>
      <p:sp>
        <p:nvSpPr>
          <p:cNvPr id="72707" name="AutoShape 3"/>
          <p:cNvSpPr>
            <a:spLocks noChangeArrowheads="1"/>
          </p:cNvSpPr>
          <p:nvPr/>
        </p:nvSpPr>
        <p:spPr bwMode="auto">
          <a:xfrm>
            <a:off x="5805488" y="3429000"/>
            <a:ext cx="838200" cy="1219200"/>
          </a:xfrm>
          <a:prstGeom prst="wedgeEllipseCallout">
            <a:avLst>
              <a:gd name="adj1" fmla="val -50000"/>
              <a:gd name="adj2" fmla="val 73440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 sz="2800"/>
          </a:p>
        </p:txBody>
      </p:sp>
      <p:graphicFrame>
        <p:nvGraphicFramePr>
          <p:cNvPr id="72708" name="Object 4"/>
          <p:cNvGraphicFramePr>
            <a:graphicFrameLocks noChangeAspect="1"/>
          </p:cNvGraphicFramePr>
          <p:nvPr/>
        </p:nvGraphicFramePr>
        <p:xfrm>
          <a:off x="4343400" y="2514600"/>
          <a:ext cx="431800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8" name="公式" r:id="rId3" imgW="1726920" imgH="215640" progId="Equation.3">
                  <p:embed/>
                </p:oleObj>
              </mc:Choice>
              <mc:Fallback>
                <p:oleObj name="公式" r:id="rId3" imgW="1726920" imgH="215640" progId="Equation.3">
                  <p:embed/>
                  <p:pic>
                    <p:nvPicPr>
                      <p:cNvPr id="727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2514600"/>
                        <a:ext cx="4318000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9" name="Object 5"/>
          <p:cNvGraphicFramePr>
            <a:graphicFrameLocks noChangeAspect="1"/>
          </p:cNvGraphicFramePr>
          <p:nvPr/>
        </p:nvGraphicFramePr>
        <p:xfrm>
          <a:off x="4237038" y="3411538"/>
          <a:ext cx="3078162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9" name="公式" r:id="rId5" imgW="1231560" imgH="457200" progId="Equation.3">
                  <p:embed/>
                </p:oleObj>
              </mc:Choice>
              <mc:Fallback>
                <p:oleObj name="公式" r:id="rId5" imgW="1231560" imgH="457200" progId="Equation.3">
                  <p:embed/>
                  <p:pic>
                    <p:nvPicPr>
                      <p:cNvPr id="727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7038" y="3411538"/>
                        <a:ext cx="3078162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0" name="Text Box 6"/>
          <p:cNvSpPr txBox="1">
            <a:spLocks noChangeArrowheads="1"/>
          </p:cNvSpPr>
          <p:nvPr/>
        </p:nvSpPr>
        <p:spPr bwMode="auto">
          <a:xfrm>
            <a:off x="4343401" y="404813"/>
            <a:ext cx="41132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800" b="1">
                <a:ea typeface="楷体_GB2312" pitchFamily="49" charset="-122"/>
              </a:rPr>
              <a:t>系统对系数量化的灵敏度</a:t>
            </a:r>
            <a:endParaRPr lang="zh-CN" altLang="en-US" sz="2800">
              <a:ea typeface="楷体_GB2312" pitchFamily="49" charset="-122"/>
            </a:endParaRPr>
          </a:p>
        </p:txBody>
      </p:sp>
      <p:sp>
        <p:nvSpPr>
          <p:cNvPr id="72711" name="Text Box 7"/>
          <p:cNvSpPr txBox="1">
            <a:spLocks noChangeArrowheads="1"/>
          </p:cNvSpPr>
          <p:nvPr/>
        </p:nvSpPr>
        <p:spPr bwMode="auto">
          <a:xfrm>
            <a:off x="1905000" y="2528888"/>
            <a:ext cx="2057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/>
              <a:t>量化后极点</a:t>
            </a:r>
          </a:p>
        </p:txBody>
      </p:sp>
      <p:sp>
        <p:nvSpPr>
          <p:cNvPr id="72712" name="Text Box 8"/>
          <p:cNvSpPr txBox="1">
            <a:spLocks noChangeArrowheads="1"/>
          </p:cNvSpPr>
          <p:nvPr/>
        </p:nvSpPr>
        <p:spPr bwMode="auto">
          <a:xfrm>
            <a:off x="2438400" y="4876801"/>
            <a:ext cx="708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/>
              <a:t>第</a:t>
            </a:r>
            <a:r>
              <a:rPr lang="en-US" altLang="zh-CN" sz="2800" i="1"/>
              <a:t>r</a:t>
            </a:r>
            <a:r>
              <a:rPr lang="zh-CN" altLang="en-US" sz="2800"/>
              <a:t>个极点对第</a:t>
            </a:r>
            <a:r>
              <a:rPr lang="en-US" altLang="zh-CN" sz="2800" i="1"/>
              <a:t>k</a:t>
            </a:r>
            <a:r>
              <a:rPr lang="zh-CN" altLang="en-US" sz="2800"/>
              <a:t>个系数变化的敏感度</a:t>
            </a:r>
          </a:p>
        </p:txBody>
      </p:sp>
      <p:sp>
        <p:nvSpPr>
          <p:cNvPr id="72713" name="Text Box 9"/>
          <p:cNvSpPr txBox="1">
            <a:spLocks noChangeArrowheads="1"/>
          </p:cNvSpPr>
          <p:nvPr/>
        </p:nvSpPr>
        <p:spPr bwMode="auto">
          <a:xfrm>
            <a:off x="6858000" y="3124201"/>
            <a:ext cx="190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/>
              <a:t>位置误差</a:t>
            </a:r>
          </a:p>
        </p:txBody>
      </p:sp>
      <p:sp>
        <p:nvSpPr>
          <p:cNvPr id="72714" name="Text Box 10"/>
          <p:cNvSpPr txBox="1">
            <a:spLocks noChangeArrowheads="1"/>
          </p:cNvSpPr>
          <p:nvPr/>
        </p:nvSpPr>
        <p:spPr bwMode="auto">
          <a:xfrm>
            <a:off x="2362201" y="5653088"/>
            <a:ext cx="7694613" cy="519112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>
                <a:sym typeface="Symbol" panose="05050102010706020507" pitchFamily="18" charset="2"/>
              </a:rPr>
              <a:t></a:t>
            </a:r>
            <a:r>
              <a:rPr lang="en-US" altLang="zh-CN" sz="2800" i="1"/>
              <a:t>p</a:t>
            </a:r>
            <a:r>
              <a:rPr lang="en-US" altLang="zh-CN" sz="2800" i="1" baseline="-25000"/>
              <a:t>r</a:t>
            </a:r>
            <a:r>
              <a:rPr lang="en-US" altLang="zh-CN" sz="2800"/>
              <a:t> /</a:t>
            </a:r>
            <a:r>
              <a:rPr lang="en-US" altLang="zh-CN" sz="2800">
                <a:sym typeface="Symbol" panose="05050102010706020507" pitchFamily="18" charset="2"/>
              </a:rPr>
              <a:t></a:t>
            </a:r>
            <a:r>
              <a:rPr lang="en-US" altLang="zh-CN" sz="2800" i="1"/>
              <a:t>a</a:t>
            </a:r>
            <a:r>
              <a:rPr lang="en-US" altLang="zh-CN" sz="2800" i="1" baseline="-25000"/>
              <a:t>k</a:t>
            </a:r>
            <a:r>
              <a:rPr lang="zh-CN" altLang="en-US" sz="2800"/>
              <a:t>越大，</a:t>
            </a:r>
            <a:r>
              <a:rPr lang="zh-CN" altLang="en-US" sz="2800">
                <a:sym typeface="Symbol" panose="05050102010706020507" pitchFamily="18" charset="2"/>
              </a:rPr>
              <a:t></a:t>
            </a:r>
            <a:r>
              <a:rPr lang="en-US" altLang="zh-CN" sz="2800" i="1"/>
              <a:t>a</a:t>
            </a:r>
            <a:r>
              <a:rPr lang="en-US" altLang="zh-CN" sz="2800" i="1" baseline="-25000"/>
              <a:t>k</a:t>
            </a:r>
            <a:r>
              <a:rPr lang="zh-CN" altLang="en-US" sz="2800"/>
              <a:t>对</a:t>
            </a:r>
            <a:r>
              <a:rPr lang="zh-CN" altLang="en-US" sz="2800">
                <a:sym typeface="Symbol" panose="05050102010706020507" pitchFamily="18" charset="2"/>
              </a:rPr>
              <a:t></a:t>
            </a:r>
            <a:r>
              <a:rPr lang="en-US" altLang="zh-CN" sz="2800" i="1"/>
              <a:t>p</a:t>
            </a:r>
            <a:r>
              <a:rPr lang="en-US" altLang="zh-CN" sz="2800" i="1" baseline="-25000"/>
              <a:t>r</a:t>
            </a:r>
            <a:r>
              <a:rPr lang="zh-CN" altLang="en-US" sz="2800"/>
              <a:t>的影响越大，反之亦然。</a:t>
            </a:r>
          </a:p>
        </p:txBody>
      </p:sp>
      <p:sp>
        <p:nvSpPr>
          <p:cNvPr id="72715" name="Text Box 11"/>
          <p:cNvSpPr txBox="1">
            <a:spLocks noChangeArrowheads="1"/>
          </p:cNvSpPr>
          <p:nvPr/>
        </p:nvSpPr>
        <p:spPr bwMode="auto">
          <a:xfrm>
            <a:off x="1905000" y="1439070"/>
            <a:ext cx="82296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dirty="0"/>
              <a:t>    </a:t>
            </a:r>
            <a:r>
              <a:rPr lang="zh-CN" altLang="en-US" sz="2800" dirty="0"/>
              <a:t>将系数量化误差所造成的零、极点位置误差作为对系数量化灵敏度的度量。</a:t>
            </a:r>
          </a:p>
        </p:txBody>
      </p:sp>
    </p:spTree>
    <p:extLst>
      <p:ext uri="{BB962C8B-B14F-4D97-AF65-F5344CB8AC3E}">
        <p14:creationId xmlns:p14="http://schemas.microsoft.com/office/powerpoint/2010/main" val="74886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72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7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7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7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7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7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72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6" grpId="0" animBg="1" autoUpdateAnimBg="0"/>
      <p:bldP spid="72707" grpId="0" animBg="1" autoUpdateAnimBg="0"/>
      <p:bldP spid="72711" grpId="0" autoUpdateAnimBg="0"/>
      <p:bldP spid="72712" grpId="0" autoUpdateAnimBg="0"/>
      <p:bldP spid="72713" grpId="0" autoUpdateAnimBg="0"/>
      <p:bldP spid="72714" grpId="0" animBg="1" autoUpdateAnimBg="0"/>
      <p:bldP spid="72715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457200"/>
            <a:ext cx="7772400" cy="533400"/>
          </a:xfrm>
        </p:spPr>
        <p:txBody>
          <a:bodyPr/>
          <a:lstStyle/>
          <a:p>
            <a:r>
              <a:rPr lang="zh-CN" altLang="en-US" dirty="0">
                <a:ea typeface="楷体_GB2312" pitchFamily="49" charset="-122"/>
              </a:rPr>
              <a:t>系统对系数量化的灵敏度</a:t>
            </a:r>
          </a:p>
        </p:txBody>
      </p:sp>
      <p:graphicFrame>
        <p:nvGraphicFramePr>
          <p:cNvPr id="737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8189042"/>
              </p:ext>
            </p:extLst>
          </p:nvPr>
        </p:nvGraphicFramePr>
        <p:xfrm>
          <a:off x="4541838" y="1781175"/>
          <a:ext cx="3016250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9" name="公式" r:id="rId4" imgW="1206360" imgH="761760" progId="Equation.3">
                  <p:embed/>
                </p:oleObj>
              </mc:Choice>
              <mc:Fallback>
                <p:oleObj name="公式" r:id="rId4" imgW="1206360" imgH="761760" progId="Equation.3">
                  <p:embed/>
                  <p:pic>
                    <p:nvPicPr>
                      <p:cNvPr id="7373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1838" y="1781175"/>
                        <a:ext cx="3016250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2" name="Text Box 4"/>
          <p:cNvSpPr txBox="1">
            <a:spLocks noChangeArrowheads="1"/>
          </p:cNvSpPr>
          <p:nvPr/>
        </p:nvSpPr>
        <p:spPr bwMode="auto">
          <a:xfrm>
            <a:off x="1981200" y="5410200"/>
            <a:ext cx="8458200" cy="94615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dirty="0"/>
              <a:t>    </a:t>
            </a:r>
            <a:r>
              <a:rPr lang="zh-CN" altLang="en-US" sz="2800" b="1" dirty="0"/>
              <a:t>对级联或并联型，每个子系统最多只有两个共轭极点，故对系数量化影响较小。</a:t>
            </a:r>
          </a:p>
        </p:txBody>
      </p:sp>
      <p:sp>
        <p:nvSpPr>
          <p:cNvPr id="73734" name="Text Box 6"/>
          <p:cNvSpPr txBox="1">
            <a:spLocks noChangeArrowheads="1"/>
          </p:cNvSpPr>
          <p:nvPr/>
        </p:nvSpPr>
        <p:spPr bwMode="auto">
          <a:xfrm>
            <a:off x="2330450" y="4121151"/>
            <a:ext cx="76850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accent2"/>
                </a:solidFill>
              </a:rPr>
              <a:t>极点彼此之间距离越远，极点位置灵敏度就越低</a:t>
            </a:r>
          </a:p>
        </p:txBody>
      </p:sp>
      <p:sp>
        <p:nvSpPr>
          <p:cNvPr id="73735" name="Text Box 7"/>
          <p:cNvSpPr txBox="1">
            <a:spLocks noChangeArrowheads="1"/>
          </p:cNvSpPr>
          <p:nvPr/>
        </p:nvSpPr>
        <p:spPr bwMode="auto">
          <a:xfrm>
            <a:off x="2332039" y="4724401"/>
            <a:ext cx="6613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极点彼此越密集，极点位置灵敏度就越高</a:t>
            </a:r>
          </a:p>
        </p:txBody>
      </p:sp>
    </p:spTree>
    <p:extLst>
      <p:ext uri="{BB962C8B-B14F-4D97-AF65-F5344CB8AC3E}">
        <p14:creationId xmlns:p14="http://schemas.microsoft.com/office/powerpoint/2010/main" val="716709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7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7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73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2" grpId="0" animBg="1" autoUpdateAnimBg="0"/>
      <p:bldP spid="73734" grpId="0" autoUpdateAnimBg="0"/>
      <p:bldP spid="73735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ext Box 2"/>
          <p:cNvSpPr txBox="1">
            <a:spLocks noChangeArrowheads="1"/>
          </p:cNvSpPr>
          <p:nvPr/>
        </p:nvSpPr>
        <p:spPr bwMode="auto">
          <a:xfrm>
            <a:off x="4038601" y="381001"/>
            <a:ext cx="40560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/>
              <a:t>三、 </a:t>
            </a:r>
            <a:r>
              <a:rPr lang="en-US" altLang="zh-CN" sz="2800" b="1"/>
              <a:t>FIR</a:t>
            </a:r>
            <a:r>
              <a:rPr lang="zh-CN" altLang="en-US" sz="2800" b="1"/>
              <a:t>系数量化效应</a:t>
            </a:r>
          </a:p>
        </p:txBody>
      </p:sp>
      <p:sp>
        <p:nvSpPr>
          <p:cNvPr id="74755" name="Text Box 3"/>
          <p:cNvSpPr txBox="1">
            <a:spLocks noChangeArrowheads="1"/>
          </p:cNvSpPr>
          <p:nvPr/>
        </p:nvSpPr>
        <p:spPr bwMode="auto">
          <a:xfrm>
            <a:off x="2286000" y="1492250"/>
            <a:ext cx="71628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800" b="1">
                <a:solidFill>
                  <a:schemeClr val="accent2"/>
                </a:solidFill>
              </a:rPr>
              <a:t>    </a:t>
            </a:r>
            <a:r>
              <a:rPr lang="zh-CN" altLang="en-US" sz="2800" b="1">
                <a:solidFill>
                  <a:schemeClr val="accent2"/>
                </a:solidFill>
              </a:rPr>
              <a:t>系数量化只影响零点，不涉及稳定性问题，但会影响频率特性。</a:t>
            </a:r>
          </a:p>
        </p:txBody>
      </p:sp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2346326" y="2895601"/>
            <a:ext cx="72564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2800"/>
              <a:t>若要求频响误差为</a:t>
            </a:r>
            <a:r>
              <a:rPr lang="en-US" altLang="zh-CN" sz="2800" i="1"/>
              <a:t>E</a:t>
            </a:r>
            <a:r>
              <a:rPr lang="en-US" altLang="zh-CN" sz="2800"/>
              <a:t>(e</a:t>
            </a:r>
            <a:r>
              <a:rPr lang="en-US" altLang="zh-CN" sz="2800" baseline="30000"/>
              <a:t>j</a:t>
            </a:r>
            <a:r>
              <a:rPr lang="en-US" altLang="zh-CN" sz="2800" i="1" baseline="30000">
                <a:sym typeface="Symbol" panose="05050102010706020507" pitchFamily="18" charset="2"/>
              </a:rPr>
              <a:t></a:t>
            </a:r>
            <a:r>
              <a:rPr lang="en-US" altLang="zh-CN" sz="2800"/>
              <a:t>)</a:t>
            </a:r>
            <a:r>
              <a:rPr lang="zh-CN" altLang="en-US" sz="2800"/>
              <a:t>，则所需字长为</a:t>
            </a:r>
          </a:p>
        </p:txBody>
      </p:sp>
      <p:graphicFrame>
        <p:nvGraphicFramePr>
          <p:cNvPr id="747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0917310"/>
              </p:ext>
            </p:extLst>
          </p:nvPr>
        </p:nvGraphicFramePr>
        <p:xfrm>
          <a:off x="4429125" y="3962400"/>
          <a:ext cx="3284538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3" name="公式" r:id="rId3" imgW="1485720" imgH="393480" progId="Equation.3">
                  <p:embed/>
                </p:oleObj>
              </mc:Choice>
              <mc:Fallback>
                <p:oleObj name="公式" r:id="rId3" imgW="1485720" imgH="393480" progId="Equation.3">
                  <p:embed/>
                  <p:pic>
                    <p:nvPicPr>
                      <p:cNvPr id="7475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125" y="3962400"/>
                        <a:ext cx="3284538" cy="866775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9" name="Text Box 7"/>
          <p:cNvSpPr txBox="1">
            <a:spLocks noChangeArrowheads="1"/>
          </p:cNvSpPr>
          <p:nvPr/>
        </p:nvSpPr>
        <p:spPr bwMode="auto">
          <a:xfrm>
            <a:off x="2514601" y="5408147"/>
            <a:ext cx="7301999" cy="523220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/>
              <a:t>实际中，需要在估计字长的基础上加上</a:t>
            </a:r>
            <a:r>
              <a:rPr lang="en-US" altLang="zh-CN" sz="2800" dirty="0"/>
              <a:t>3~4</a:t>
            </a:r>
            <a:r>
              <a:rPr lang="zh-CN" altLang="en-US" sz="2800" dirty="0"/>
              <a:t>位</a:t>
            </a:r>
          </a:p>
        </p:txBody>
      </p:sp>
    </p:spTree>
    <p:extLst>
      <p:ext uri="{BB962C8B-B14F-4D97-AF65-F5344CB8AC3E}">
        <p14:creationId xmlns:p14="http://schemas.microsoft.com/office/powerpoint/2010/main" val="538625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7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7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7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7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autoUpdateAnimBg="0"/>
      <p:bldP spid="74756" grpId="0" autoUpdateAnimBg="0"/>
      <p:bldP spid="74759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76200"/>
            <a:ext cx="7772400" cy="1143000"/>
          </a:xfrm>
        </p:spPr>
        <p:txBody>
          <a:bodyPr/>
          <a:lstStyle/>
          <a:p>
            <a:r>
              <a:rPr lang="zh-CN" altLang="en-US" sz="3200"/>
              <a:t>减小有限字长效应的方法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适当地增加字长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选择合适的滤波器结构</a:t>
            </a:r>
          </a:p>
          <a:p>
            <a:pPr>
              <a:lnSpc>
                <a:spcPct val="120000"/>
              </a:lnSpc>
              <a:buFontTx/>
              <a:buNone/>
            </a:pPr>
            <a:r>
              <a:rPr lang="zh-CN" altLang="en-US" dirty="0"/>
              <a:t>    即对二阶以上的系统尽量避免使用直接型结构，可采用并联型和级联型结构。</a:t>
            </a:r>
          </a:p>
        </p:txBody>
      </p:sp>
    </p:spTree>
    <p:extLst>
      <p:ext uri="{BB962C8B-B14F-4D97-AF65-F5344CB8AC3E}">
        <p14:creationId xmlns:p14="http://schemas.microsoft.com/office/powerpoint/2010/main" val="109530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3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16" y="231269"/>
            <a:ext cx="11112207" cy="6488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27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标题 1"/>
          <p:cNvSpPr>
            <a:spLocks noGrp="1"/>
          </p:cNvSpPr>
          <p:nvPr>
            <p:ph type="title"/>
          </p:nvPr>
        </p:nvSpPr>
        <p:spPr>
          <a:xfrm>
            <a:off x="2819400" y="304800"/>
            <a:ext cx="7239000" cy="914400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考试复习</a:t>
            </a:r>
          </a:p>
        </p:txBody>
      </p:sp>
      <p:sp>
        <p:nvSpPr>
          <p:cNvPr id="20480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一、填空题（</a:t>
            </a:r>
            <a:r>
              <a:rPr lang="en-US" altLang="zh-CN" smtClean="0">
                <a:ea typeface="宋体" panose="02010600030101010101" pitchFamily="2" charset="-122"/>
              </a:rPr>
              <a:t>10*1.5=15</a:t>
            </a:r>
            <a:r>
              <a:rPr lang="zh-CN" altLang="en-US" smtClean="0">
                <a:ea typeface="宋体" panose="02010600030101010101" pitchFamily="2" charset="-122"/>
              </a:rPr>
              <a:t>）</a:t>
            </a:r>
            <a:endParaRPr lang="en-US" altLang="zh-CN" smtClean="0">
              <a:ea typeface="宋体" panose="02010600030101010101" pitchFamily="2" charset="-122"/>
            </a:endParaRPr>
          </a:p>
          <a:p>
            <a:r>
              <a:rPr lang="zh-CN" altLang="en-US" smtClean="0">
                <a:ea typeface="宋体" panose="02010600030101010101" pitchFamily="2" charset="-122"/>
              </a:rPr>
              <a:t>二、</a:t>
            </a:r>
            <a:r>
              <a:rPr lang="en-US" altLang="zh-CN" smtClean="0">
                <a:ea typeface="宋体" panose="02010600030101010101" pitchFamily="2" charset="-122"/>
              </a:rPr>
              <a:t>LTI</a:t>
            </a:r>
            <a:r>
              <a:rPr lang="zh-CN" altLang="en-US" smtClean="0">
                <a:ea typeface="宋体" panose="02010600030101010101" pitchFamily="2" charset="-122"/>
              </a:rPr>
              <a:t>系统的频率响应、输入与输出</a:t>
            </a:r>
            <a:endParaRPr lang="en-US" altLang="zh-CN" smtClean="0">
              <a:ea typeface="宋体" panose="02010600030101010101" pitchFamily="2" charset="-122"/>
            </a:endParaRPr>
          </a:p>
          <a:p>
            <a:r>
              <a:rPr lang="zh-CN" altLang="en-US" smtClean="0">
                <a:ea typeface="宋体" panose="02010600030101010101" pitchFamily="2" charset="-122"/>
              </a:rPr>
              <a:t>三、系统函数、差分方程、单位脉冲响应</a:t>
            </a:r>
            <a:endParaRPr lang="en-US" altLang="zh-CN" smtClean="0">
              <a:ea typeface="宋体" panose="02010600030101010101" pitchFamily="2" charset="-122"/>
            </a:endParaRPr>
          </a:p>
          <a:p>
            <a:r>
              <a:rPr lang="zh-CN" altLang="en-US" smtClean="0">
                <a:ea typeface="宋体" panose="02010600030101010101" pitchFamily="2" charset="-122"/>
              </a:rPr>
              <a:t>四、圆周卷积与线性卷积</a:t>
            </a:r>
            <a:r>
              <a:rPr lang="en-US" altLang="zh-CN" smtClean="0">
                <a:ea typeface="宋体" panose="02010600030101010101" pitchFamily="2" charset="-122"/>
              </a:rPr>
              <a:t>\DFT</a:t>
            </a:r>
          </a:p>
          <a:p>
            <a:r>
              <a:rPr lang="zh-CN" altLang="en-US" smtClean="0">
                <a:ea typeface="宋体" panose="02010600030101010101" pitchFamily="2" charset="-122"/>
              </a:rPr>
              <a:t>五、</a:t>
            </a:r>
            <a:r>
              <a:rPr lang="en-US" altLang="zh-CN" smtClean="0">
                <a:ea typeface="宋体" panose="02010600030101010101" pitchFamily="2" charset="-122"/>
              </a:rPr>
              <a:t>FFT\</a:t>
            </a:r>
            <a:r>
              <a:rPr lang="zh-CN" altLang="en-US" smtClean="0">
                <a:ea typeface="宋体" panose="02010600030101010101" pitchFamily="2" charset="-122"/>
              </a:rPr>
              <a:t>谱分析</a:t>
            </a:r>
            <a:endParaRPr lang="en-US" altLang="zh-CN" smtClean="0">
              <a:ea typeface="宋体" panose="02010600030101010101" pitchFamily="2" charset="-122"/>
            </a:endParaRPr>
          </a:p>
          <a:p>
            <a:r>
              <a:rPr lang="zh-CN" altLang="en-US" smtClean="0">
                <a:ea typeface="宋体" panose="02010600030101010101" pitchFamily="2" charset="-122"/>
              </a:rPr>
              <a:t>六、滤波器结构（由结构写出系统函数，反之）</a:t>
            </a:r>
            <a:endParaRPr lang="en-US" altLang="zh-CN" smtClean="0">
              <a:ea typeface="宋体" panose="02010600030101010101" pitchFamily="2" charset="-122"/>
            </a:endParaRPr>
          </a:p>
          <a:p>
            <a:r>
              <a:rPr lang="zh-CN" altLang="en-US" smtClean="0">
                <a:ea typeface="宋体" panose="02010600030101010101" pitchFamily="2" charset="-122"/>
              </a:rPr>
              <a:t>七、双线性变换法</a:t>
            </a:r>
            <a:r>
              <a:rPr lang="en-US" altLang="zh-CN" smtClean="0">
                <a:ea typeface="宋体" panose="02010600030101010101" pitchFamily="2" charset="-122"/>
              </a:rPr>
              <a:t>\</a:t>
            </a:r>
            <a:r>
              <a:rPr lang="zh-CN" altLang="en-US" smtClean="0">
                <a:ea typeface="宋体" panose="02010600030101010101" pitchFamily="2" charset="-122"/>
              </a:rPr>
              <a:t>脉冲响应不变法</a:t>
            </a:r>
            <a:endParaRPr lang="en-US" altLang="zh-CN" smtClean="0">
              <a:ea typeface="宋体" panose="02010600030101010101" pitchFamily="2" charset="-122"/>
            </a:endParaRPr>
          </a:p>
          <a:p>
            <a:r>
              <a:rPr lang="zh-CN" altLang="en-US" smtClean="0">
                <a:ea typeface="宋体" panose="02010600030101010101" pitchFamily="2" charset="-122"/>
              </a:rPr>
              <a:t>八、窗函数法</a:t>
            </a:r>
            <a:r>
              <a:rPr lang="en-US" altLang="zh-CN" smtClean="0">
                <a:ea typeface="宋体" panose="02010600030101010101" pitchFamily="2" charset="-122"/>
              </a:rPr>
              <a:t>\</a:t>
            </a:r>
            <a:r>
              <a:rPr lang="zh-CN" altLang="en-US" smtClean="0">
                <a:ea typeface="宋体" panose="02010600030101010101" pitchFamily="2" charset="-122"/>
              </a:rPr>
              <a:t>频率采样法</a:t>
            </a:r>
          </a:p>
        </p:txBody>
      </p:sp>
      <p:sp>
        <p:nvSpPr>
          <p:cNvPr id="20480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049C4A5F-06BA-40D7-A7D5-FF7B651A3CC3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565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766"/>
  <p:tag name="KSO_WM_TAG_VERSION" val="1.0"/>
  <p:tag name="KSO_WM_SLIDE_ID" val="custom20182766_12"/>
  <p:tag name="KSO_WM_SLIDE_INDEX" val="12"/>
  <p:tag name="KSO_WM_SLIDE_ITEM_CNT" val="2"/>
  <p:tag name="KSO_WM_SLIDE_LAYOUT" val="a_b"/>
  <p:tag name="KSO_WM_SLIDE_LAYOUT_CNT" val="1_1"/>
  <p:tag name="KSO_WM_SLIDE_TYPE" val="sectionTitle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766"/>
  <p:tag name="KSO_WM_UNIT_TYPE" val="a"/>
  <p:tag name="KSO_WM_UNIT_INDEX" val="1"/>
  <p:tag name="KSO_WM_UNIT_ID" val="custom20182766_12*a*1"/>
  <p:tag name="KSO_WM_UNIT_LAYERLEVEL" val="1"/>
  <p:tag name="KSO_WM_UNIT_VALUE" val="9"/>
  <p:tag name="KSO_WM_UNIT_ISCONTENTSTITLE" val="0"/>
  <p:tag name="KSO_WM_UNIT_HIGHLIGHT" val="0"/>
  <p:tag name="KSO_WM_UNIT_COMPATIBLE" val="0"/>
  <p:tag name="KSO_WM_UNIT_CLEAR" val="0"/>
  <p:tag name="KSO_WM_BEAUTIFY_FLAG" val="#wm#"/>
  <p:tag name="KSO_WM_TAG_VERSION" val="1.0"/>
  <p:tag name="KSO_WM_UNIT_PRESET_TEXT" val="SECTION TITLE"/>
</p:tagLst>
</file>

<file path=ppt/theme/theme1.xml><?xml version="1.0" encoding="utf-8"?>
<a:theme xmlns:a="http://schemas.openxmlformats.org/drawingml/2006/main" name="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lnDef>
  </a:objectDefaults>
  <a:extraClrSchemeLst>
    <a:extraClrScheme>
      <a:clrScheme name="icfp9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fp99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857</Words>
  <Application>Microsoft Office PowerPoint</Application>
  <PresentationFormat>宽屏</PresentationFormat>
  <Paragraphs>115</Paragraphs>
  <Slides>22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22</vt:i4>
      </vt:variant>
    </vt:vector>
  </HeadingPairs>
  <TitlesOfParts>
    <vt:vector size="38" baseType="lpstr">
      <vt:lpstr>等线</vt:lpstr>
      <vt:lpstr>楷体_GB2312</vt:lpstr>
      <vt:lpstr>微软雅黑</vt:lpstr>
      <vt:lpstr>黑体</vt:lpstr>
      <vt:lpstr>宋体</vt:lpstr>
      <vt:lpstr>Arial</vt:lpstr>
      <vt:lpstr>Calibri</vt:lpstr>
      <vt:lpstr>Comic Sans MS</vt:lpstr>
      <vt:lpstr>Symbol</vt:lpstr>
      <vt:lpstr>Tahoma</vt:lpstr>
      <vt:lpstr>Times New Roman</vt:lpstr>
      <vt:lpstr>Wingdings</vt:lpstr>
      <vt:lpstr>icfp99</vt:lpstr>
      <vt:lpstr>公式</vt:lpstr>
      <vt:lpstr>Visio</vt:lpstr>
      <vt:lpstr>Equation</vt:lpstr>
      <vt:lpstr>FIR滤波器基本结构与有限字长效应</vt:lpstr>
      <vt:lpstr>复习</vt:lpstr>
      <vt:lpstr>第九章 有限字长效应</vt:lpstr>
      <vt:lpstr>问题的提出</vt:lpstr>
      <vt:lpstr>截尾和舍入效应</vt:lpstr>
      <vt:lpstr>一、定点二进制数的表示</vt:lpstr>
      <vt:lpstr>二、量化及量化误差</vt:lpstr>
      <vt:lpstr>量化方式</vt:lpstr>
      <vt:lpstr>量化误差</vt:lpstr>
      <vt:lpstr>滤波器输入信号量化效应</vt:lpstr>
      <vt:lpstr>一、问题的提出</vt:lpstr>
      <vt:lpstr>PowerPoint 演示文稿</vt:lpstr>
      <vt:lpstr>PowerPoint 演示文稿</vt:lpstr>
      <vt:lpstr>滤波器系数量化效应</vt:lpstr>
      <vt:lpstr>一、问题的提出</vt:lpstr>
      <vt:lpstr>二、IIR系数量化效应</vt:lpstr>
      <vt:lpstr>PowerPoint 演示文稿</vt:lpstr>
      <vt:lpstr>系统对系数量化的灵敏度</vt:lpstr>
      <vt:lpstr>PowerPoint 演示文稿</vt:lpstr>
      <vt:lpstr>减小有限字长效应的方法</vt:lpstr>
      <vt:lpstr>PowerPoint 演示文稿</vt:lpstr>
      <vt:lpstr>考试复习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9、有限字长效应</dc:title>
  <dc:creator>Administrator</dc:creator>
  <cp:lastModifiedBy>CHAO WU</cp:lastModifiedBy>
  <cp:revision>26</cp:revision>
  <dcterms:created xsi:type="dcterms:W3CDTF">2020-08-06T07:39:41Z</dcterms:created>
  <dcterms:modified xsi:type="dcterms:W3CDTF">2022-12-17T13:28:52Z</dcterms:modified>
</cp:coreProperties>
</file>