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8"/>
  </p:notesMasterIdLst>
  <p:sldIdLst>
    <p:sldId id="344" r:id="rId2"/>
    <p:sldId id="345" r:id="rId3"/>
    <p:sldId id="347" r:id="rId4"/>
    <p:sldId id="348" r:id="rId5"/>
    <p:sldId id="346" r:id="rId6"/>
    <p:sldId id="343" r:id="rId7"/>
    <p:sldId id="325" r:id="rId8"/>
    <p:sldId id="341" r:id="rId9"/>
    <p:sldId id="326" r:id="rId10"/>
    <p:sldId id="327" r:id="rId11"/>
    <p:sldId id="328" r:id="rId12"/>
    <p:sldId id="329" r:id="rId13"/>
    <p:sldId id="338" r:id="rId14"/>
    <p:sldId id="334" r:id="rId15"/>
    <p:sldId id="335" r:id="rId16"/>
    <p:sldId id="336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5" autoAdjust="0"/>
    <p:restoredTop sz="94660"/>
  </p:normalViewPr>
  <p:slideViewPr>
    <p:cSldViewPr snapToGrid="0">
      <p:cViewPr varScale="1">
        <p:scale>
          <a:sx n="75" d="100"/>
          <a:sy n="75" d="100"/>
        </p:scale>
        <p:origin x="31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5" Type="http://schemas.openxmlformats.org/officeDocument/2006/relationships/image" Target="../media/image14.wmf"/><Relationship Id="rId4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image" Target="../media/image20.wmf"/><Relationship Id="rId7" Type="http://schemas.openxmlformats.org/officeDocument/2006/relationships/image" Target="../media/image24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6" Type="http://schemas.openxmlformats.org/officeDocument/2006/relationships/image" Target="../media/image23.wmf"/><Relationship Id="rId5" Type="http://schemas.openxmlformats.org/officeDocument/2006/relationships/image" Target="../media/image22.wmf"/><Relationship Id="rId4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image" Target="../media/image32.emf"/><Relationship Id="rId4" Type="http://schemas.openxmlformats.org/officeDocument/2006/relationships/image" Target="../media/image35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F058FF-8803-41B6-8250-B0AAA5482101}" type="datetimeFigureOut">
              <a:rPr lang="zh-CN" altLang="en-US" smtClean="0"/>
              <a:t>2023/11/1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6584C1-775B-4727-B9BE-6E8AEA61F6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3523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>
                <a:solidFill>
                  <a:prstClr val="black"/>
                </a:solidFill>
                <a:latin typeface="等线"/>
                <a:ea typeface="等线" panose="02010600030101010101" pitchFamily="2" charset="-122"/>
              </a:rPr>
              <a:pPr/>
              <a:t>1</a:t>
            </a:fld>
            <a:endParaRPr lang="zh-CN" altLang="en-US" dirty="0">
              <a:solidFill>
                <a:prstClr val="black"/>
              </a:solidFill>
              <a:latin typeface="等线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658217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3C29F5-5CAD-45E2-8601-ADB508C2F6A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9517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53B5114-5ACE-4C89-BAC3-5D57885C982B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50412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7B69D0-3BF3-4C26-83B8-3A780F644DD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69692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3D262B-07AE-4E3F-B480-0A3FB646DDE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3376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EC77BC-BB16-4754-AEF2-51D427CD299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21534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32AC54-5E15-4CA5-9D13-83B0D8568AC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79743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A5FB2D-7BB9-42E8-AFCD-36341F1AB2F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10498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FF6534-B473-4017-9024-713DD814830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7350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ED0861-1349-410C-8B12-9EF63F476E5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85511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495936-99AE-47A2-A696-4BD073E35E9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46647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80931A-B180-4FC2-B1F1-B0DB9EA168D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1291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8C0315-42CF-421E-BD1F-92D471BBD07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7934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609BC5-EC44-4F48-A539-2FB2C36F354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2315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477000"/>
            <a:ext cx="2540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604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54400" y="6477000"/>
            <a:ext cx="49784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66CC"/>
                </a:solidFill>
                <a:latin typeface="华文仿宋" panose="02010600040101010101" pitchFamily="2" charset="-122"/>
                <a:ea typeface="华文仿宋" panose="02010600040101010101" pitchFamily="2" charset="-122"/>
              </a:defRPr>
            </a:lvl1pPr>
          </a:lstStyle>
          <a:p>
            <a:endParaRPr lang="zh-CN" altLang="zh-CN"/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24F0BF5-7760-4DED-9C8C-1EB1FB50492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466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sldNum="0" hdr="0" ftr="0"/>
  <p:txStyles>
    <p:titleStyle>
      <a:lvl1pPr algn="ctr" rtl="0" fontAlgn="base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jpe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.jpe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notesSlide" Target="../notesSlides/notesSlide2.xml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png"/><Relationship Id="rId5" Type="http://schemas.openxmlformats.org/officeDocument/2006/relationships/image" Target="../media/image4.wmf"/><Relationship Id="rId10" Type="http://schemas.openxmlformats.org/officeDocument/2006/relationships/image" Target="../media/image6.wmf"/><Relationship Id="rId4" Type="http://schemas.openxmlformats.org/officeDocument/2006/relationships/oleObject" Target="../embeddings/oleObject1.bin"/><Relationship Id="rId9" Type="http://schemas.openxmlformats.org/officeDocument/2006/relationships/oleObject" Target="../embeddings/oleObject3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8.wmf"/><Relationship Id="rId4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1.w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0" Type="http://schemas.openxmlformats.org/officeDocument/2006/relationships/image" Target="../media/image13.wmf"/><Relationship Id="rId4" Type="http://schemas.openxmlformats.org/officeDocument/2006/relationships/image" Target="../media/image10.wmf"/><Relationship Id="rId9" Type="http://schemas.openxmlformats.org/officeDocument/2006/relationships/oleObject" Target="../embeddings/oleObject9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5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13" Type="http://schemas.openxmlformats.org/officeDocument/2006/relationships/oleObject" Target="../embeddings/oleObject19.bin"/><Relationship Id="rId18" Type="http://schemas.openxmlformats.org/officeDocument/2006/relationships/image" Target="../media/image25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22.wmf"/><Relationship Id="rId17" Type="http://schemas.openxmlformats.org/officeDocument/2006/relationships/oleObject" Target="../embeddings/oleObject2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4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19.w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5.bin"/><Relationship Id="rId15" Type="http://schemas.openxmlformats.org/officeDocument/2006/relationships/oleObject" Target="../embeddings/oleObject20.bin"/><Relationship Id="rId10" Type="http://schemas.openxmlformats.org/officeDocument/2006/relationships/image" Target="../media/image21.wmf"/><Relationship Id="rId4" Type="http://schemas.openxmlformats.org/officeDocument/2006/relationships/image" Target="../media/image18.wmf"/><Relationship Id="rId9" Type="http://schemas.openxmlformats.org/officeDocument/2006/relationships/oleObject" Target="../embeddings/oleObject17.bin"/><Relationship Id="rId14" Type="http://schemas.openxmlformats.org/officeDocument/2006/relationships/image" Target="../media/image23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26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29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emf"/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oleObject2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30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emf"/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oleObject3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3.emf"/><Relationship Id="rId5" Type="http://schemas.openxmlformats.org/officeDocument/2006/relationships/oleObject" Target="../embeddings/oleObject30.bin"/><Relationship Id="rId10" Type="http://schemas.openxmlformats.org/officeDocument/2006/relationships/image" Target="../media/image35.emf"/><Relationship Id="rId4" Type="http://schemas.openxmlformats.org/officeDocument/2006/relationships/image" Target="../media/image32.emf"/><Relationship Id="rId9" Type="http://schemas.openxmlformats.org/officeDocument/2006/relationships/oleObject" Target="../embeddings/oleObject32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36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38.w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41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42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43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59185" y="2074630"/>
            <a:ext cx="6339151" cy="1854200"/>
          </a:xfrm>
        </p:spPr>
        <p:txBody>
          <a:bodyPr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4000" dirty="0" smtClean="0">
                <a:solidFill>
                  <a:srgbClr val="234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DTFT</a:t>
            </a:r>
            <a:endParaRPr lang="zh-CN" altLang="en-US" sz="4000" dirty="0">
              <a:solidFill>
                <a:srgbClr val="23477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2013" y="399944"/>
            <a:ext cx="1912647" cy="463382"/>
          </a:xfrm>
          <a:prstGeom prst="rect">
            <a:avLst/>
          </a:prstGeom>
        </p:spPr>
      </p:pic>
      <p:grpSp>
        <p:nvGrpSpPr>
          <p:cNvPr id="10" name="组合 9"/>
          <p:cNvGrpSpPr>
            <a:grpSpLocks noChangeAspect="1"/>
          </p:cNvGrpSpPr>
          <p:nvPr/>
        </p:nvGrpSpPr>
        <p:grpSpPr>
          <a:xfrm>
            <a:off x="787180" y="2192687"/>
            <a:ext cx="2863589" cy="1617313"/>
            <a:chOff x="3367821" y="2336603"/>
            <a:chExt cx="3846124" cy="2172237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000"/>
            <a:stretch/>
          </p:blipFill>
          <p:spPr>
            <a:xfrm>
              <a:off x="3367821" y="2337641"/>
              <a:ext cx="3846124" cy="2171199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588" t="-273" r="15178" b="91664"/>
            <a:stretch/>
          </p:blipFill>
          <p:spPr>
            <a:xfrm>
              <a:off x="4279348" y="2336603"/>
              <a:ext cx="712760" cy="176959"/>
            </a:xfrm>
            <a:prstGeom prst="rect">
              <a:avLst/>
            </a:prstGeom>
          </p:spPr>
        </p:pic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D28F5323-CD48-4559-805E-B472C5FB008E}"/>
              </a:ext>
            </a:extLst>
          </p:cNvPr>
          <p:cNvGrpSpPr/>
          <p:nvPr/>
        </p:nvGrpSpPr>
        <p:grpSpPr>
          <a:xfrm>
            <a:off x="3003583" y="3103060"/>
            <a:ext cx="928337" cy="905057"/>
            <a:chOff x="4480943" y="4021832"/>
            <a:chExt cx="980406" cy="1038683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9202CC45-2CC5-4C2F-A9D1-3ED274598467}"/>
                </a:ext>
              </a:extLst>
            </p:cNvPr>
            <p:cNvSpPr/>
            <p:nvPr/>
          </p:nvSpPr>
          <p:spPr>
            <a:xfrm>
              <a:off x="4480943" y="4021832"/>
              <a:ext cx="980406" cy="1038683"/>
            </a:xfrm>
            <a:prstGeom prst="rect">
              <a:avLst/>
            </a:prstGeom>
            <a:solidFill>
              <a:srgbClr val="2347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" name="文本框 1"/>
            <p:cNvSpPr txBox="1"/>
            <p:nvPr/>
          </p:nvSpPr>
          <p:spPr>
            <a:xfrm>
              <a:off x="4511092" y="4218008"/>
              <a:ext cx="950257" cy="6004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r>
                <a:rPr lang="en-US" altLang="zh-CN" sz="2800" b="1" baseline="-25000" dirty="0" smtClean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th</a:t>
              </a:r>
              <a:endParaRPr lang="en-US" altLang="zh-CN" sz="3600" b="1" baseline="-25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副标题 2"/>
          <p:cNvSpPr txBox="1">
            <a:spLocks/>
          </p:cNvSpPr>
          <p:nvPr/>
        </p:nvSpPr>
        <p:spPr>
          <a:xfrm>
            <a:off x="6397067" y="4149608"/>
            <a:ext cx="2941320" cy="9905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吴超</a:t>
            </a:r>
            <a:endParaRPr lang="en-US" altLang="zh-CN" sz="280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 </a:t>
            </a:r>
            <a:r>
              <a:rPr lang="zh-CN" altLang="en-US" sz="20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 工 程 学 院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43110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圆角矩形 10"/>
          <p:cNvSpPr/>
          <p:nvPr/>
        </p:nvSpPr>
        <p:spPr>
          <a:xfrm>
            <a:off x="640305" y="1727201"/>
            <a:ext cx="10741306" cy="3980894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3977" y="353440"/>
            <a:ext cx="1748577" cy="587059"/>
          </a:xfrm>
        </p:spPr>
        <p:txBody>
          <a:bodyPr anchor="ctr">
            <a:noAutofit/>
          </a:bodyPr>
          <a:lstStyle/>
          <a:p>
            <a:r>
              <a:rPr lang="zh-CN" altLang="en-US" sz="2800" dirty="0" smtClean="0"/>
              <a:t>复习</a:t>
            </a:r>
            <a:endParaRPr lang="zh-CN" altLang="en-US" sz="2800" dirty="0"/>
          </a:p>
        </p:txBody>
      </p:sp>
      <p:sp>
        <p:nvSpPr>
          <p:cNvPr id="9" name="Oval 1"/>
          <p:cNvSpPr txBox="1"/>
          <p:nvPr/>
        </p:nvSpPr>
        <p:spPr>
          <a:xfrm>
            <a:off x="1069988" y="1850006"/>
            <a:ext cx="10042200" cy="370870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342900" lvl="0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r>
              <a:rPr lang="en-US" altLang="zh-CN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DTFT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定义及</a:t>
            </a:r>
            <a:r>
              <a:rPr lang="en-US" altLang="zh-CN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IDTFT【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为什么要</a:t>
            </a:r>
            <a:r>
              <a:rPr lang="en-US" altLang="zh-CN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DTFT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DTFT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需要满足什么条件</a:t>
            </a:r>
            <a:r>
              <a:rPr lang="en-US" altLang="zh-CN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；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</a:t>
            </a:r>
            <a:r>
              <a:rPr kumimoji="1" lang="en-US" altLang="zh-CN" sz="2400" i="1" dirty="0" err="1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a</a:t>
            </a:r>
            <a:r>
              <a:rPr kumimoji="1" lang="en-US" altLang="zh-CN" sz="2400" i="1" baseline="300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 i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[</a:t>
            </a:r>
            <a:r>
              <a:rPr kumimoji="1"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</a:t>
            </a:r>
            <a:r>
              <a:rPr kumimoji="1"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kumimoji="1"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变换为        （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|a|&lt;|z|</a:t>
            </a:r>
            <a:r>
              <a:rPr kumimoji="1"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kumimoji="1"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所以</a:t>
            </a:r>
            <a:r>
              <a:rPr kumimoji="1" lang="en-US" altLang="zh-CN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en-US" altLang="zh-CN" sz="2400" baseline="300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[n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</a:t>
            </a:r>
            <a:r>
              <a:rPr kumimoji="1"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DTFT</a:t>
            </a:r>
            <a:r>
              <a:rPr kumimoji="1"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endParaRPr kumimoji="1" lang="en-US" altLang="zh-CN" sz="2400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r>
              <a:rPr kumimoji="1"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常用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DTFT</a:t>
            </a:r>
            <a:r>
              <a:rPr kumimoji="1"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变换，比如</a:t>
            </a:r>
            <a:r>
              <a:rPr lang="el-GR" altLang="zh-CN" dirty="0"/>
              <a:t> </a:t>
            </a:r>
            <a:r>
              <a:rPr lang="el-GR" altLang="zh-CN" sz="2400" dirty="0"/>
              <a:t>δ</a:t>
            </a:r>
            <a:r>
              <a:rPr lang="en-US" altLang="zh-CN" sz="2400" dirty="0"/>
              <a:t>(n)~1</a:t>
            </a:r>
            <a:r>
              <a:rPr lang="en-US" altLang="zh-CN" dirty="0" smtClean="0"/>
              <a:t>,</a:t>
            </a:r>
            <a:r>
              <a:rPr lang="el-GR" altLang="zh-CN" sz="2400" dirty="0"/>
              <a:t> δ</a:t>
            </a:r>
            <a:r>
              <a:rPr lang="en-US" altLang="zh-CN" sz="2400" dirty="0" smtClean="0"/>
              <a:t>(n-n0)~</a:t>
            </a:r>
            <a:r>
              <a:rPr lang="en-US" altLang="zh-CN" sz="2400" dirty="0" err="1" smtClean="0"/>
              <a:t>exp</a:t>
            </a:r>
            <a:r>
              <a:rPr lang="en-US" altLang="zh-CN" sz="2400" dirty="0" smtClean="0"/>
              <a:t>(-jwn0)</a:t>
            </a: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怎么判断</a:t>
            </a:r>
            <a:r>
              <a:rPr lang="en-US" altLang="zh-CN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DTFT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收敛性（知道有些不绝对可和的也有</a:t>
            </a:r>
            <a:r>
              <a:rPr lang="en-US" altLang="zh-CN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DTFT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r>
              <a:rPr lang="en-US" altLang="zh-CN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DTFT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性质</a:t>
            </a:r>
            <a:r>
              <a:rPr lang="en-US" altLang="zh-CN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线性、对称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特性</a:t>
            </a:r>
            <a:r>
              <a:rPr lang="en-US" altLang="zh-CN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/>
            </a:pP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难点                                        ，</a:t>
            </a:r>
            <a:endParaRPr kumimoji="0" lang="zh-CN" altLang="en-US" sz="24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0332908"/>
              </p:ext>
            </p:extLst>
          </p:nvPr>
        </p:nvGraphicFramePr>
        <p:xfrm>
          <a:off x="4292599" y="2628774"/>
          <a:ext cx="622871" cy="48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82" name="Equation" r:id="rId4" imgW="507960" imgH="393480" progId="Equation.DSMT4">
                  <p:embed/>
                </p:oleObj>
              </mc:Choice>
              <mc:Fallback>
                <p:oleObj name="Equation" r:id="rId4" imgW="50796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92599" y="2628774"/>
                        <a:ext cx="622871" cy="482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 3"/>
              <p:cNvSpPr/>
              <p:nvPr/>
            </p:nvSpPr>
            <p:spPr>
              <a:xfrm>
                <a:off x="8925296" y="2541135"/>
                <a:ext cx="1301382" cy="9350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m:rPr>
                              <m:nor/>
                            </m:rPr>
                            <a:rPr lang="zh-CN" altLang="en-US" i="1">
                              <a:latin typeface="Cambria Math" panose="02040503050406030204" pitchFamily="18" charset="0"/>
                            </a:rPr>
                            <m:t> </m:t>
                          </m:r>
                          <m:sSup>
                            <m:sSup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zh-CN" dirty="0" smtClean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5296" y="2541135"/>
                <a:ext cx="1301382" cy="935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096397"/>
              </p:ext>
            </p:extLst>
          </p:nvPr>
        </p:nvGraphicFramePr>
        <p:xfrm>
          <a:off x="1863725" y="4977101"/>
          <a:ext cx="3848100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83" name="Equation" r:id="rId7" imgW="1536480" imgH="228600" progId="Equation.DSMT4">
                  <p:embed/>
                </p:oleObj>
              </mc:Choice>
              <mc:Fallback>
                <p:oleObj name="Equation" r:id="rId7" imgW="1536480" imgH="228600" progId="Equation.DSMT4">
                  <p:embed/>
                  <p:pic>
                    <p:nvPicPr>
                      <p:cNvPr id="6246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3725" y="4977101"/>
                        <a:ext cx="3848100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7930463"/>
              </p:ext>
            </p:extLst>
          </p:nvPr>
        </p:nvGraphicFramePr>
        <p:xfrm>
          <a:off x="5599642" y="4963813"/>
          <a:ext cx="3910013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84" name="Equation" r:id="rId9" imgW="1562040" imgH="228600" progId="Equation.DSMT4">
                  <p:embed/>
                </p:oleObj>
              </mc:Choice>
              <mc:Fallback>
                <p:oleObj name="Equation" r:id="rId9" imgW="1562040" imgH="228600" progId="Equation.DSMT4">
                  <p:embed/>
                  <p:pic>
                    <p:nvPicPr>
                      <p:cNvPr id="62486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9642" y="4963813"/>
                        <a:ext cx="3910013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18799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DTFT</a:t>
            </a:r>
            <a:endParaRPr kumimoji="1" lang="en-US" altLang="zh-CN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7891" name="Text Box 3"/>
          <p:cNvSpPr txBox="1">
            <a:spLocks noChangeArrowheads="1"/>
          </p:cNvSpPr>
          <p:nvPr/>
        </p:nvSpPr>
        <p:spPr bwMode="auto">
          <a:xfrm>
            <a:off x="3962400" y="304800"/>
            <a:ext cx="3962400" cy="5794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序列的</a:t>
            </a:r>
            <a:r>
              <a:rPr kumimoji="1"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DTFT</a:t>
            </a:r>
            <a:r>
              <a:rPr kumimoji="1"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定义</a:t>
            </a:r>
          </a:p>
        </p:txBody>
      </p:sp>
      <p:sp>
        <p:nvSpPr>
          <p:cNvPr id="37893" name="Text Box 5"/>
          <p:cNvSpPr txBox="1">
            <a:spLocks noChangeArrowheads="1"/>
          </p:cNvSpPr>
          <p:nvPr/>
        </p:nvSpPr>
        <p:spPr bwMode="auto">
          <a:xfrm>
            <a:off x="3000375" y="3141663"/>
            <a:ext cx="6078538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l"/>
            </a:pP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kumimoji="1" lang="en-US" altLang="zh-CN" sz="2800" i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(e </a:t>
            </a:r>
            <a:r>
              <a:rPr kumimoji="1" lang="en-US" altLang="zh-CN" sz="2800" baseline="30000" dirty="0" smtClean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kumimoji="1" lang="en-US" altLang="zh-CN" sz="2800" baseline="30000" dirty="0" smtClean="0">
                <a:solidFill>
                  <a:srgbClr val="FF33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 </a:t>
            </a:r>
            <a:r>
              <a:rPr lang="el-GR" altLang="zh-CN" sz="2800" baseline="30000" dirty="0">
                <a:solidFill>
                  <a:srgbClr val="FF0000"/>
                </a:solidFill>
              </a:rPr>
              <a:t>ω</a:t>
            </a:r>
            <a:r>
              <a:rPr kumimoji="1" lang="en-US" altLang="zh-CN" sz="2800" dirty="0" smtClean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1" lang="zh-CN" altLang="en-US" sz="2400" dirty="0" smtClean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是</a:t>
            </a:r>
            <a:r>
              <a:rPr kumimoji="1" lang="en-US" altLang="zh-CN" sz="2400" i="1" dirty="0" smtClean="0">
                <a:solidFill>
                  <a:srgbClr val="FF33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 </a:t>
            </a:r>
            <a:r>
              <a:rPr lang="el-GR" altLang="zh-CN" dirty="0">
                <a:solidFill>
                  <a:srgbClr val="FF0000"/>
                </a:solidFill>
              </a:rPr>
              <a:t>ω</a:t>
            </a:r>
            <a:r>
              <a:rPr kumimoji="1" lang="zh-CN" altLang="en-US" sz="2400" dirty="0" smtClean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kumimoji="1" lang="zh-CN" altLang="en-US" sz="24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连续函数</a:t>
            </a:r>
            <a:endParaRPr kumimoji="1" lang="zh-CN" altLang="en-US" sz="2800" dirty="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l"/>
            </a:pPr>
            <a:r>
              <a:rPr kumimoji="1" lang="zh-CN" altLang="en-US" sz="2800" i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kumimoji="1" lang="en-US" altLang="zh-CN" sz="2800" i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(e </a:t>
            </a:r>
            <a:r>
              <a:rPr kumimoji="1" lang="en-US" altLang="zh-CN" sz="2800" baseline="30000" dirty="0" smtClean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el-GR" altLang="zh-CN" sz="2800" dirty="0">
                <a:solidFill>
                  <a:srgbClr val="FF0000"/>
                </a:solidFill>
              </a:rPr>
              <a:t> </a:t>
            </a:r>
            <a:r>
              <a:rPr lang="el-GR" altLang="zh-CN" sz="2800" baseline="30000" dirty="0">
                <a:solidFill>
                  <a:srgbClr val="FF0000"/>
                </a:solidFill>
              </a:rPr>
              <a:t>ω</a:t>
            </a:r>
            <a:r>
              <a:rPr kumimoji="1" lang="en-US" altLang="zh-CN" sz="2800" i="1" baseline="30000" dirty="0" smtClean="0">
                <a:solidFill>
                  <a:srgbClr val="FF33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 </a:t>
            </a:r>
            <a:r>
              <a:rPr kumimoji="1" lang="en-US" altLang="zh-CN" sz="28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1" lang="zh-CN" altLang="en-US" sz="24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是周期为</a:t>
            </a:r>
            <a:r>
              <a:rPr kumimoji="1" lang="en-US" altLang="zh-CN" sz="24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400" dirty="0">
                <a:solidFill>
                  <a:srgbClr val="FF33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p</a:t>
            </a:r>
            <a:r>
              <a:rPr kumimoji="1" lang="zh-CN" altLang="en-US" sz="24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的周期函数</a:t>
            </a:r>
          </a:p>
        </p:txBody>
      </p:sp>
      <p:sp>
        <p:nvSpPr>
          <p:cNvPr id="37895" name="Text Box 7"/>
          <p:cNvSpPr txBox="1">
            <a:spLocks noChangeArrowheads="1"/>
          </p:cNvSpPr>
          <p:nvPr/>
        </p:nvSpPr>
        <p:spPr bwMode="auto">
          <a:xfrm>
            <a:off x="2135188" y="4292601"/>
            <a:ext cx="152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IDTFT:</a:t>
            </a:r>
          </a:p>
        </p:txBody>
      </p:sp>
      <p:graphicFrame>
        <p:nvGraphicFramePr>
          <p:cNvPr id="37896" name="Object 8"/>
          <p:cNvGraphicFramePr>
            <a:graphicFrameLocks noChangeAspect="1"/>
          </p:cNvGraphicFramePr>
          <p:nvPr>
            <p:extLst/>
          </p:nvPr>
        </p:nvGraphicFramePr>
        <p:xfrm>
          <a:off x="3825875" y="4864100"/>
          <a:ext cx="4706938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8" name="Equation" r:id="rId4" imgW="1879560" imgH="393480" progId="Equation.DSMT4">
                  <p:embed/>
                </p:oleObj>
              </mc:Choice>
              <mc:Fallback>
                <p:oleObj name="Equation" r:id="rId4" imgW="1879560" imgH="393480" progId="Equation.DSMT4">
                  <p:embed/>
                  <p:pic>
                    <p:nvPicPr>
                      <p:cNvPr id="3789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5875" y="4864100"/>
                        <a:ext cx="4706938" cy="981075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2" name="Object 4"/>
          <p:cNvGraphicFramePr>
            <a:graphicFrameLocks noChangeAspect="1"/>
          </p:cNvGraphicFramePr>
          <p:nvPr>
            <p:extLst/>
          </p:nvPr>
        </p:nvGraphicFramePr>
        <p:xfrm>
          <a:off x="4024313" y="1836738"/>
          <a:ext cx="3621087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9" name="Equation" r:id="rId6" imgW="1447560" imgH="431640" progId="Equation.DSMT4">
                  <p:embed/>
                </p:oleObj>
              </mc:Choice>
              <mc:Fallback>
                <p:oleObj name="Equation" r:id="rId6" imgW="1447560" imgH="431640" progId="Equation.DSMT4">
                  <p:embed/>
                  <p:pic>
                    <p:nvPicPr>
                      <p:cNvPr id="3789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4313" y="1836738"/>
                        <a:ext cx="3621087" cy="1079500"/>
                      </a:xfrm>
                      <a:prstGeom prst="rect">
                        <a:avLst/>
                      </a:prstGeom>
                      <a:solidFill>
                        <a:srgbClr val="EAEAEA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0" name="Text Box 12"/>
          <p:cNvSpPr txBox="1">
            <a:spLocks noChangeArrowheads="1"/>
          </p:cNvSpPr>
          <p:nvPr/>
        </p:nvSpPr>
        <p:spPr bwMode="auto">
          <a:xfrm>
            <a:off x="1992313" y="1412876"/>
            <a:ext cx="152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DTFT:</a:t>
            </a:r>
          </a:p>
        </p:txBody>
      </p:sp>
      <p:sp>
        <p:nvSpPr>
          <p:cNvPr id="37901" name="Rectangle 13"/>
          <p:cNvSpPr>
            <a:spLocks noChangeArrowheads="1"/>
          </p:cNvSpPr>
          <p:nvPr/>
        </p:nvSpPr>
        <p:spPr bwMode="auto">
          <a:xfrm>
            <a:off x="1676400" y="106680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31133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7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7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7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3" grpId="0" autoUpdateAnimBg="0"/>
      <p:bldP spid="37895" grpId="0" autoUpdateAnimBg="0"/>
      <p:bldP spid="37900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DTFT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4367213" y="246063"/>
            <a:ext cx="274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DTFT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的收敛性</a:t>
            </a:r>
          </a:p>
        </p:txBody>
      </p:sp>
      <p:sp>
        <p:nvSpPr>
          <p:cNvPr id="41987" name="Text Box 3"/>
          <p:cNvSpPr txBox="1">
            <a:spLocks noChangeArrowheads="1"/>
          </p:cNvSpPr>
          <p:nvPr/>
        </p:nvSpPr>
        <p:spPr bwMode="auto">
          <a:xfrm>
            <a:off x="2135188" y="1412875"/>
            <a:ext cx="449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定义</a:t>
            </a:r>
            <a:r>
              <a:rPr kumimoji="1" lang="en-US" altLang="zh-CN" sz="2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en-US" altLang="zh-CN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</a:t>
            </a:r>
            <a:r>
              <a:rPr kumimoji="1" lang="en-US" altLang="zh-CN" sz="2400" b="0" i="0" u="none" strike="noStrike" kern="1200" cap="none" spc="0" normalizeH="0" baseline="3000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j</a:t>
            </a:r>
            <a:r>
              <a:rPr lang="el-GR" altLang="zh-CN" sz="2400" baseline="30000" dirty="0"/>
              <a:t>ω</a:t>
            </a:r>
            <a:r>
              <a:rPr kumimoji="1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的部分和</a:t>
            </a:r>
          </a:p>
        </p:txBody>
      </p:sp>
      <p:graphicFrame>
        <p:nvGraphicFramePr>
          <p:cNvPr id="41989" name="Object 5"/>
          <p:cNvGraphicFramePr>
            <a:graphicFrameLocks noChangeAspect="1"/>
          </p:cNvGraphicFramePr>
          <p:nvPr>
            <p:extLst/>
          </p:nvPr>
        </p:nvGraphicFramePr>
        <p:xfrm>
          <a:off x="4826000" y="1133475"/>
          <a:ext cx="3908425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46" name="Equation" r:id="rId3" imgW="1562040" imgH="431640" progId="Equation.DSMT4">
                  <p:embed/>
                </p:oleObj>
              </mc:Choice>
              <mc:Fallback>
                <p:oleObj name="Equation" r:id="rId3" imgW="1562040" imgH="431640" progId="Equation.DSMT4">
                  <p:embed/>
                  <p:pic>
                    <p:nvPicPr>
                      <p:cNvPr id="4198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6000" y="1133475"/>
                        <a:ext cx="3908425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0" name="Object 6"/>
          <p:cNvGraphicFramePr>
            <a:graphicFrameLocks noChangeAspect="1"/>
          </p:cNvGraphicFramePr>
          <p:nvPr>
            <p:extLst/>
          </p:nvPr>
        </p:nvGraphicFramePr>
        <p:xfrm>
          <a:off x="2905919" y="2008982"/>
          <a:ext cx="2319338" cy="107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47" name="Equation" r:id="rId5" imgW="927000" imgH="431640" progId="Equation.DSMT4">
                  <p:embed/>
                </p:oleObj>
              </mc:Choice>
              <mc:Fallback>
                <p:oleObj name="Equation" r:id="rId5" imgW="927000" imgH="431640" progId="Equation.DSMT4">
                  <p:embed/>
                  <p:pic>
                    <p:nvPicPr>
                      <p:cNvPr id="4199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5919" y="2008982"/>
                        <a:ext cx="2319338" cy="1074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1" name="Object 7"/>
          <p:cNvGraphicFramePr>
            <a:graphicFrameLocks noChangeAspect="1"/>
          </p:cNvGraphicFramePr>
          <p:nvPr>
            <p:extLst/>
          </p:nvPr>
        </p:nvGraphicFramePr>
        <p:xfrm>
          <a:off x="2463800" y="3108325"/>
          <a:ext cx="447675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48" name="Equation" r:id="rId7" imgW="1790640" imgH="304560" progId="Equation.DSMT4">
                  <p:embed/>
                </p:oleObj>
              </mc:Choice>
              <mc:Fallback>
                <p:oleObj name="Equation" r:id="rId7" imgW="1790640" imgH="304560" progId="Equation.DSMT4">
                  <p:embed/>
                  <p:pic>
                    <p:nvPicPr>
                      <p:cNvPr id="4199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3800" y="3108325"/>
                        <a:ext cx="447675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2" name="Object 8"/>
          <p:cNvGraphicFramePr>
            <a:graphicFrameLocks noChangeAspect="1"/>
          </p:cNvGraphicFramePr>
          <p:nvPr>
            <p:extLst/>
          </p:nvPr>
        </p:nvGraphicFramePr>
        <p:xfrm>
          <a:off x="2827338" y="3870325"/>
          <a:ext cx="2476500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49" name="Equation" r:id="rId9" imgW="990360" imgH="431640" progId="Equation.DSMT4">
                  <p:embed/>
                </p:oleObj>
              </mc:Choice>
              <mc:Fallback>
                <p:oleObj name="Equation" r:id="rId9" imgW="990360" imgH="431640" progId="Equation.DSMT4">
                  <p:embed/>
                  <p:pic>
                    <p:nvPicPr>
                      <p:cNvPr id="4199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7338" y="3870325"/>
                        <a:ext cx="2476500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3" name="Object 9"/>
          <p:cNvGraphicFramePr>
            <a:graphicFrameLocks noChangeAspect="1"/>
          </p:cNvGraphicFramePr>
          <p:nvPr>
            <p:extLst/>
          </p:nvPr>
        </p:nvGraphicFramePr>
        <p:xfrm>
          <a:off x="2581275" y="4754563"/>
          <a:ext cx="5370513" cy="77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50" name="Equation" r:id="rId11" imgW="2349360" imgH="342720" progId="Equation.DSMT4">
                  <p:embed/>
                </p:oleObj>
              </mc:Choice>
              <mc:Fallback>
                <p:oleObj name="Equation" r:id="rId11" imgW="2349360" imgH="342720" progId="Equation.DSMT4">
                  <p:embed/>
                  <p:pic>
                    <p:nvPicPr>
                      <p:cNvPr id="4199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1275" y="4754563"/>
                        <a:ext cx="5370513" cy="779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7" name="Rectangle 13"/>
          <p:cNvSpPr>
            <a:spLocks noChangeArrowheads="1"/>
          </p:cNvSpPr>
          <p:nvPr/>
        </p:nvSpPr>
        <p:spPr bwMode="auto">
          <a:xfrm>
            <a:off x="1676400" y="83185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98" name="Text Box 14"/>
          <p:cNvSpPr txBox="1">
            <a:spLocks noChangeArrowheads="1"/>
          </p:cNvSpPr>
          <p:nvPr/>
        </p:nvSpPr>
        <p:spPr bwMode="auto">
          <a:xfrm>
            <a:off x="5159375" y="2276475"/>
            <a:ext cx="165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绝对可和</a:t>
            </a:r>
          </a:p>
        </p:txBody>
      </p:sp>
      <p:sp>
        <p:nvSpPr>
          <p:cNvPr id="41999" name="Text Box 15"/>
          <p:cNvSpPr txBox="1">
            <a:spLocks noChangeArrowheads="1"/>
          </p:cNvSpPr>
          <p:nvPr/>
        </p:nvSpPr>
        <p:spPr bwMode="auto">
          <a:xfrm>
            <a:off x="7319963" y="3140075"/>
            <a:ext cx="165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一致收敛</a:t>
            </a:r>
          </a:p>
        </p:txBody>
      </p:sp>
      <p:sp>
        <p:nvSpPr>
          <p:cNvPr id="42000" name="Text Box 16"/>
          <p:cNvSpPr txBox="1">
            <a:spLocks noChangeArrowheads="1"/>
          </p:cNvSpPr>
          <p:nvPr/>
        </p:nvSpPr>
        <p:spPr bwMode="auto">
          <a:xfrm>
            <a:off x="5303838" y="4149725"/>
            <a:ext cx="165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能量有限</a:t>
            </a:r>
          </a:p>
        </p:txBody>
      </p:sp>
      <p:sp>
        <p:nvSpPr>
          <p:cNvPr id="42001" name="Text Box 17"/>
          <p:cNvSpPr txBox="1">
            <a:spLocks noChangeArrowheads="1"/>
          </p:cNvSpPr>
          <p:nvPr/>
        </p:nvSpPr>
        <p:spPr bwMode="auto">
          <a:xfrm>
            <a:off x="8256588" y="4870450"/>
            <a:ext cx="165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均方收敛</a:t>
            </a:r>
          </a:p>
        </p:txBody>
      </p:sp>
      <p:sp>
        <p:nvSpPr>
          <p:cNvPr id="42002" name="Text Box 18"/>
          <p:cNvSpPr txBox="1">
            <a:spLocks noChangeArrowheads="1"/>
          </p:cNvSpPr>
          <p:nvPr/>
        </p:nvSpPr>
        <p:spPr bwMode="auto">
          <a:xfrm>
            <a:off x="2424114" y="5661026"/>
            <a:ext cx="7705725" cy="904863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若序列满足绝对可和，则序列存在</a:t>
            </a: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DTFT</a:t>
            </a: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（充分条件）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但某些满足能量有限的序列，也存在</a:t>
            </a: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DTFT</a:t>
            </a: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</a:t>
            </a:r>
          </a:p>
        </p:txBody>
      </p:sp>
      <p:sp>
        <p:nvSpPr>
          <p:cNvPr id="16" name="Text Box 3"/>
          <p:cNvSpPr txBox="1">
            <a:spLocks noChangeArrowheads="1"/>
          </p:cNvSpPr>
          <p:nvPr/>
        </p:nvSpPr>
        <p:spPr bwMode="auto">
          <a:xfrm>
            <a:off x="2320925" y="2289175"/>
            <a:ext cx="449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1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若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Text Box 3"/>
          <p:cNvSpPr txBox="1">
            <a:spLocks noChangeArrowheads="1"/>
          </p:cNvSpPr>
          <p:nvPr/>
        </p:nvSpPr>
        <p:spPr bwMode="auto">
          <a:xfrm>
            <a:off x="2284412" y="3220509"/>
            <a:ext cx="449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1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则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Text Box 3"/>
          <p:cNvSpPr txBox="1">
            <a:spLocks noChangeArrowheads="1"/>
          </p:cNvSpPr>
          <p:nvPr/>
        </p:nvSpPr>
        <p:spPr bwMode="auto">
          <a:xfrm>
            <a:off x="2320925" y="4155016"/>
            <a:ext cx="449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1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若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Text Box 3"/>
          <p:cNvSpPr txBox="1">
            <a:spLocks noChangeArrowheads="1"/>
          </p:cNvSpPr>
          <p:nvPr/>
        </p:nvSpPr>
        <p:spPr bwMode="auto">
          <a:xfrm>
            <a:off x="2315633" y="4963583"/>
            <a:ext cx="449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1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则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7435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DTFT</a:t>
            </a:r>
            <a:endParaRPr kumimoji="1" lang="en-US" altLang="zh-CN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8610" name="Text Box 2"/>
          <p:cNvSpPr txBox="1">
            <a:spLocks noChangeArrowheads="1"/>
          </p:cNvSpPr>
          <p:nvPr/>
        </p:nvSpPr>
        <p:spPr bwMode="auto">
          <a:xfrm>
            <a:off x="3719514" y="260350"/>
            <a:ext cx="4194175" cy="5794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序列</a:t>
            </a:r>
            <a:r>
              <a:rPr kumimoji="1" lang="en-US" altLang="zh-CN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DTFT</a:t>
            </a:r>
            <a:r>
              <a:rPr kumimoji="1" lang="zh-CN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的性质</a:t>
            </a:r>
            <a:endParaRPr kumimoji="1" lang="zh-CN" altLang="en-US" sz="32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8611" name="Rectangle 3"/>
          <p:cNvSpPr>
            <a:spLocks noChangeArrowheads="1"/>
          </p:cNvSpPr>
          <p:nvPr/>
        </p:nvSpPr>
        <p:spPr bwMode="auto">
          <a:xfrm>
            <a:off x="1676400" y="106680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68616" name="Object 8"/>
          <p:cNvGraphicFramePr>
            <a:graphicFrameLocks noChangeAspect="1"/>
          </p:cNvGraphicFramePr>
          <p:nvPr>
            <p:extLst/>
          </p:nvPr>
        </p:nvGraphicFramePr>
        <p:xfrm>
          <a:off x="2362200" y="4622800"/>
          <a:ext cx="6665913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54" name="Equation" r:id="rId3" imgW="2666880" imgH="241200" progId="Equation.DSMT4">
                  <p:embed/>
                </p:oleObj>
              </mc:Choice>
              <mc:Fallback>
                <p:oleObj name="Equation" r:id="rId3" imgW="2666880" imgH="241200" progId="Equation.DSMT4">
                  <p:embed/>
                  <p:pic>
                    <p:nvPicPr>
                      <p:cNvPr id="6861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4622800"/>
                        <a:ext cx="6665913" cy="596900"/>
                      </a:xfrm>
                      <a:prstGeom prst="rect">
                        <a:avLst/>
                      </a:prstGeom>
                      <a:solidFill>
                        <a:srgbClr val="F8F8F8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17" name="Text Box 9"/>
          <p:cNvSpPr txBox="1">
            <a:spLocks noChangeArrowheads="1"/>
          </p:cNvSpPr>
          <p:nvPr/>
        </p:nvSpPr>
        <p:spPr bwMode="auto">
          <a:xfrm>
            <a:off x="2351089" y="1412875"/>
            <a:ext cx="1800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 </a:t>
            </a:r>
            <a:r>
              <a:rPr kumimoji="1" lang="zh-CN" altLang="en-US" sz="2400" b="1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线性特性</a:t>
            </a:r>
          </a:p>
        </p:txBody>
      </p:sp>
      <p:graphicFrame>
        <p:nvGraphicFramePr>
          <p:cNvPr id="68618" name="Object 10"/>
          <p:cNvGraphicFramePr>
            <a:graphicFrameLocks noChangeAspect="1"/>
          </p:cNvGraphicFramePr>
          <p:nvPr>
            <p:extLst/>
          </p:nvPr>
        </p:nvGraphicFramePr>
        <p:xfrm>
          <a:off x="3851275" y="2246313"/>
          <a:ext cx="339725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55" name="Equation" r:id="rId5" imgW="1358640" imgH="241200" progId="Equation.DSMT4">
                  <p:embed/>
                </p:oleObj>
              </mc:Choice>
              <mc:Fallback>
                <p:oleObj name="Equation" r:id="rId5" imgW="1358640" imgH="241200" progId="Equation.DSMT4">
                  <p:embed/>
                  <p:pic>
                    <p:nvPicPr>
                      <p:cNvPr id="6861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2246313"/>
                        <a:ext cx="3397250" cy="596900"/>
                      </a:xfrm>
                      <a:prstGeom prst="rect">
                        <a:avLst/>
                      </a:prstGeom>
                      <a:solidFill>
                        <a:srgbClr val="F8F8F8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9" name="Object 11"/>
          <p:cNvGraphicFramePr>
            <a:graphicFrameLocks noChangeAspect="1"/>
          </p:cNvGraphicFramePr>
          <p:nvPr>
            <p:extLst/>
          </p:nvPr>
        </p:nvGraphicFramePr>
        <p:xfrm>
          <a:off x="3786188" y="2965450"/>
          <a:ext cx="3492500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56" name="Equation" r:id="rId7" imgW="1396800" imgH="241200" progId="Equation.DSMT4">
                  <p:embed/>
                </p:oleObj>
              </mc:Choice>
              <mc:Fallback>
                <p:oleObj name="Equation" r:id="rId7" imgW="1396800" imgH="241200" progId="Equation.DSMT4">
                  <p:embed/>
                  <p:pic>
                    <p:nvPicPr>
                      <p:cNvPr id="6861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6188" y="2965450"/>
                        <a:ext cx="3492500" cy="598488"/>
                      </a:xfrm>
                      <a:prstGeom prst="rect">
                        <a:avLst/>
                      </a:prstGeom>
                      <a:solidFill>
                        <a:srgbClr val="F8F8F8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20" name="Text Box 12"/>
          <p:cNvSpPr txBox="1">
            <a:spLocks noChangeArrowheads="1"/>
          </p:cNvSpPr>
          <p:nvPr/>
        </p:nvSpPr>
        <p:spPr bwMode="auto">
          <a:xfrm>
            <a:off x="2640013" y="2276475"/>
            <a:ext cx="86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若</a:t>
            </a:r>
          </a:p>
        </p:txBody>
      </p:sp>
      <p:sp>
        <p:nvSpPr>
          <p:cNvPr id="68621" name="Text Box 13"/>
          <p:cNvSpPr txBox="1">
            <a:spLocks noChangeArrowheads="1"/>
          </p:cNvSpPr>
          <p:nvPr/>
        </p:nvSpPr>
        <p:spPr bwMode="auto">
          <a:xfrm>
            <a:off x="2566988" y="3933825"/>
            <a:ext cx="86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则有</a:t>
            </a:r>
          </a:p>
        </p:txBody>
      </p:sp>
    </p:spTree>
    <p:extLst>
      <p:ext uri="{BB962C8B-B14F-4D97-AF65-F5344CB8AC3E}">
        <p14:creationId xmlns:p14="http://schemas.microsoft.com/office/powerpoint/2010/main" val="485636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8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8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8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3" name="Text Box 11"/>
          <p:cNvSpPr txBox="1">
            <a:spLocks noChangeArrowheads="1"/>
          </p:cNvSpPr>
          <p:nvPr/>
        </p:nvSpPr>
        <p:spPr bwMode="auto">
          <a:xfrm>
            <a:off x="3795714" y="112714"/>
            <a:ext cx="4194175" cy="5794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序列</a:t>
            </a:r>
            <a:r>
              <a:rPr kumimoji="1"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DTFT</a:t>
            </a:r>
            <a:r>
              <a:rPr kumimoji="1"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的性质</a:t>
            </a:r>
            <a:endParaRPr kumimoji="1" lang="zh-C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Text Box 13"/>
          <p:cNvSpPr txBox="1">
            <a:spLocks noChangeArrowheads="1"/>
          </p:cNvSpPr>
          <p:nvPr/>
        </p:nvSpPr>
        <p:spPr bwMode="auto">
          <a:xfrm>
            <a:off x="448732" y="944564"/>
            <a:ext cx="1128606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dirty="0" smtClean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任何一个序列可以看成是共轭对称序列</a:t>
            </a:r>
            <a:r>
              <a:rPr kumimoji="1" lang="en-US" altLang="zh-CN" sz="2800" dirty="0" smtClean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【e】</a:t>
            </a:r>
            <a:r>
              <a:rPr kumimoji="1" lang="zh-CN" altLang="en-US" sz="2800" dirty="0" smtClean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和共轭反对称序列</a:t>
            </a:r>
            <a:r>
              <a:rPr kumimoji="1" lang="en-US" altLang="zh-CN" sz="2800" dirty="0" smtClean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【o】</a:t>
            </a:r>
            <a:r>
              <a:rPr kumimoji="1" lang="zh-CN" altLang="en-US" sz="2800" dirty="0" smtClean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endParaRPr kumimoji="1" lang="zh-CN" altLang="en-US" sz="28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073575"/>
              </p:ext>
            </p:extLst>
          </p:nvPr>
        </p:nvGraphicFramePr>
        <p:xfrm>
          <a:off x="655638" y="1720197"/>
          <a:ext cx="3656012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51" name="Equation" r:id="rId3" imgW="1460160" imgH="431640" progId="Equation.DSMT4">
                  <p:embed/>
                </p:oleObj>
              </mc:Choice>
              <mc:Fallback>
                <p:oleObj name="Equation" r:id="rId3" imgW="1460160" imgH="431640" progId="Equation.DSMT4">
                  <p:embed/>
                  <p:pic>
                    <p:nvPicPr>
                      <p:cNvPr id="4710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638" y="1720197"/>
                        <a:ext cx="3656012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7196674"/>
              </p:ext>
            </p:extLst>
          </p:nvPr>
        </p:nvGraphicFramePr>
        <p:xfrm>
          <a:off x="671249" y="2969031"/>
          <a:ext cx="3656012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52" name="Equation" r:id="rId5" imgW="1460160" imgH="431640" progId="Equation.DSMT4">
                  <p:embed/>
                </p:oleObj>
              </mc:Choice>
              <mc:Fallback>
                <p:oleObj name="Equation" r:id="rId5" imgW="1460160" imgH="431640" progId="Equation.DSMT4">
                  <p:embed/>
                  <p:pic>
                    <p:nvPicPr>
                      <p:cNvPr id="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249" y="2969031"/>
                        <a:ext cx="3656012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6191007"/>
              </p:ext>
            </p:extLst>
          </p:nvPr>
        </p:nvGraphicFramePr>
        <p:xfrm>
          <a:off x="292100" y="3962400"/>
          <a:ext cx="4483100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53" name="Equation" r:id="rId7" imgW="1790640" imgH="457200" progId="Equation.DSMT4">
                  <p:embed/>
                </p:oleObj>
              </mc:Choice>
              <mc:Fallback>
                <p:oleObj name="Equation" r:id="rId7" imgW="1790640" imgH="457200" progId="Equation.DSMT4">
                  <p:embed/>
                  <p:pic>
                    <p:nvPicPr>
                      <p:cNvPr id="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100" y="3962400"/>
                        <a:ext cx="4483100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8499035"/>
              </p:ext>
            </p:extLst>
          </p:nvPr>
        </p:nvGraphicFramePr>
        <p:xfrm>
          <a:off x="403225" y="5164666"/>
          <a:ext cx="4514850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54" name="Equation" r:id="rId9" imgW="1803240" imgH="457200" progId="Equation.DSMT4">
                  <p:embed/>
                </p:oleObj>
              </mc:Choice>
              <mc:Fallback>
                <p:oleObj name="Equation" r:id="rId9" imgW="1803240" imgH="457200" progId="Equation.DSMT4">
                  <p:embed/>
                  <p:pic>
                    <p:nvPicPr>
                      <p:cNvPr id="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225" y="5164666"/>
                        <a:ext cx="4514850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6086764"/>
              </p:ext>
            </p:extLst>
          </p:nvPr>
        </p:nvGraphicFramePr>
        <p:xfrm>
          <a:off x="7446963" y="4146550"/>
          <a:ext cx="3433762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55" name="Equation" r:id="rId11" imgW="1371600" imgH="431640" progId="Equation.DSMT4">
                  <p:embed/>
                </p:oleObj>
              </mc:Choice>
              <mc:Fallback>
                <p:oleObj name="Equation" r:id="rId11" imgW="1371600" imgH="431640" progId="Equation.DSMT4">
                  <p:embed/>
                  <p:pic>
                    <p:nvPicPr>
                      <p:cNvPr id="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6963" y="4146550"/>
                        <a:ext cx="3433762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4947968"/>
              </p:ext>
            </p:extLst>
          </p:nvPr>
        </p:nvGraphicFramePr>
        <p:xfrm>
          <a:off x="7558088" y="5272088"/>
          <a:ext cx="3433762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56" name="Equation" r:id="rId13" imgW="1371600" imgH="431640" progId="Equation.DSMT4">
                  <p:embed/>
                </p:oleObj>
              </mc:Choice>
              <mc:Fallback>
                <p:oleObj name="Equation" r:id="rId13" imgW="1371600" imgH="431640" progId="Equation.DSMT4">
                  <p:embed/>
                  <p:pic>
                    <p:nvPicPr>
                      <p:cNvPr id="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8088" y="5272088"/>
                        <a:ext cx="3433762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9525278"/>
              </p:ext>
            </p:extLst>
          </p:nvPr>
        </p:nvGraphicFramePr>
        <p:xfrm>
          <a:off x="6807200" y="1611313"/>
          <a:ext cx="4356100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57" name="Equation" r:id="rId15" imgW="1739880" imgH="457200" progId="Equation.DSMT4">
                  <p:embed/>
                </p:oleObj>
              </mc:Choice>
              <mc:Fallback>
                <p:oleObj name="Equation" r:id="rId15" imgW="1739880" imgH="457200" progId="Equation.DSMT4">
                  <p:embed/>
                  <p:pic>
                    <p:nvPicPr>
                      <p:cNvPr id="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7200" y="1611313"/>
                        <a:ext cx="4356100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4590336"/>
              </p:ext>
            </p:extLst>
          </p:nvPr>
        </p:nvGraphicFramePr>
        <p:xfrm>
          <a:off x="6945313" y="2854325"/>
          <a:ext cx="4324350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58" name="Equation" r:id="rId17" imgW="1726920" imgH="457200" progId="Equation.DSMT4">
                  <p:embed/>
                </p:oleObj>
              </mc:Choice>
              <mc:Fallback>
                <p:oleObj name="Equation" r:id="rId17" imgW="1726920" imgH="457200" progId="Equation.DSMT4">
                  <p:embed/>
                  <p:pic>
                    <p:nvPicPr>
                      <p:cNvPr id="1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5313" y="2854325"/>
                        <a:ext cx="4324350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99581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DTFT</a:t>
            </a:r>
            <a:endParaRPr kumimoji="1" lang="en-US" altLang="zh-CN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915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2921035"/>
              </p:ext>
            </p:extLst>
          </p:nvPr>
        </p:nvGraphicFramePr>
        <p:xfrm>
          <a:off x="3355975" y="2749550"/>
          <a:ext cx="466407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60" name="Equation" r:id="rId3" imgW="1866600" imgH="241200" progId="Equation.DSMT4">
                  <p:embed/>
                </p:oleObj>
              </mc:Choice>
              <mc:Fallback>
                <p:oleObj name="Equation" r:id="rId3" imgW="1866600" imgH="241200" progId="Equation.DSMT4">
                  <p:embed/>
                  <p:pic>
                    <p:nvPicPr>
                      <p:cNvPr id="4915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5975" y="2749550"/>
                        <a:ext cx="4664075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6767849"/>
              </p:ext>
            </p:extLst>
          </p:nvPr>
        </p:nvGraphicFramePr>
        <p:xfrm>
          <a:off x="3481388" y="3484563"/>
          <a:ext cx="4413250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61" name="Equation" r:id="rId5" imgW="1765080" imgH="228600" progId="Equation.DSMT4">
                  <p:embed/>
                </p:oleObj>
              </mc:Choice>
              <mc:Fallback>
                <p:oleObj name="Equation" r:id="rId5" imgW="1765080" imgH="228600" progId="Equation.DSMT4">
                  <p:embed/>
                  <p:pic>
                    <p:nvPicPr>
                      <p:cNvPr id="4915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1388" y="3484563"/>
                        <a:ext cx="4413250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63" name="Text Box 11"/>
          <p:cNvSpPr txBox="1">
            <a:spLocks noChangeArrowheads="1"/>
          </p:cNvSpPr>
          <p:nvPr/>
        </p:nvSpPr>
        <p:spPr bwMode="auto">
          <a:xfrm>
            <a:off x="3795714" y="112714"/>
            <a:ext cx="4194175" cy="5794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序列</a:t>
            </a:r>
            <a:r>
              <a:rPr kumimoji="1" lang="en-US" altLang="zh-CN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DTFT</a:t>
            </a:r>
            <a:r>
              <a:rPr kumimoji="1" lang="zh-CN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的性质</a:t>
            </a:r>
            <a:endParaRPr kumimoji="1" lang="zh-CN" altLang="en-US" sz="32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164" name="Rectangle 12"/>
          <p:cNvSpPr>
            <a:spLocks noChangeArrowheads="1"/>
          </p:cNvSpPr>
          <p:nvPr/>
        </p:nvSpPr>
        <p:spPr bwMode="auto">
          <a:xfrm>
            <a:off x="1631950" y="80645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165" name="Text Box 13"/>
          <p:cNvSpPr txBox="1">
            <a:spLocks noChangeArrowheads="1"/>
          </p:cNvSpPr>
          <p:nvPr/>
        </p:nvSpPr>
        <p:spPr bwMode="auto">
          <a:xfrm>
            <a:off x="2135188" y="1268413"/>
            <a:ext cx="2736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3. </a:t>
            </a:r>
            <a:r>
              <a:rPr kumimoji="1" lang="zh-CN" altLang="en-US" sz="2400" b="1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位移特性</a:t>
            </a:r>
          </a:p>
        </p:txBody>
      </p:sp>
      <p:graphicFrame>
        <p:nvGraphicFramePr>
          <p:cNvPr id="4916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0531607"/>
              </p:ext>
            </p:extLst>
          </p:nvPr>
        </p:nvGraphicFramePr>
        <p:xfrm>
          <a:off x="3602038" y="1900238"/>
          <a:ext cx="3206750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62" name="Equation" r:id="rId7" imgW="1282680" imgH="228600" progId="Equation.DSMT4">
                  <p:embed/>
                </p:oleObj>
              </mc:Choice>
              <mc:Fallback>
                <p:oleObj name="Equation" r:id="rId7" imgW="1282680" imgH="228600" progId="Equation.DSMT4">
                  <p:embed/>
                  <p:pic>
                    <p:nvPicPr>
                      <p:cNvPr id="49166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2038" y="1900238"/>
                        <a:ext cx="3206750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67" name="Text Box 15"/>
          <p:cNvSpPr txBox="1">
            <a:spLocks noChangeArrowheads="1"/>
          </p:cNvSpPr>
          <p:nvPr/>
        </p:nvSpPr>
        <p:spPr bwMode="auto">
          <a:xfrm>
            <a:off x="2711450" y="1916113"/>
            <a:ext cx="1150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若</a:t>
            </a:r>
          </a:p>
        </p:txBody>
      </p:sp>
      <p:sp>
        <p:nvSpPr>
          <p:cNvPr id="49168" name="Text Box 16"/>
          <p:cNvSpPr txBox="1">
            <a:spLocks noChangeArrowheads="1"/>
          </p:cNvSpPr>
          <p:nvPr/>
        </p:nvSpPr>
        <p:spPr bwMode="auto">
          <a:xfrm>
            <a:off x="2782889" y="2781300"/>
            <a:ext cx="11509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则</a:t>
            </a:r>
          </a:p>
        </p:txBody>
      </p:sp>
      <p:sp>
        <p:nvSpPr>
          <p:cNvPr id="49169" name="Text Box 17"/>
          <p:cNvSpPr txBox="1">
            <a:spLocks noChangeArrowheads="1"/>
          </p:cNvSpPr>
          <p:nvPr/>
        </p:nvSpPr>
        <p:spPr bwMode="auto">
          <a:xfrm>
            <a:off x="2855913" y="4508501"/>
            <a:ext cx="5903912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l"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序列的</a:t>
            </a:r>
            <a:r>
              <a:rPr kumimoji="1" lang="zh-CN" altLang="en-US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时域位移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对应</a:t>
            </a:r>
            <a:r>
              <a:rPr kumimoji="1" lang="zh-CN" altLang="en-US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频域的相移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l"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序列的</a:t>
            </a:r>
            <a:r>
              <a:rPr kumimoji="1" lang="zh-CN" altLang="en-US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时域相移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对应</a:t>
            </a:r>
            <a:r>
              <a:rPr kumimoji="1" lang="zh-CN" altLang="en-US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频域的频移</a:t>
            </a:r>
          </a:p>
        </p:txBody>
      </p:sp>
    </p:spTree>
    <p:extLst>
      <p:ext uri="{BB962C8B-B14F-4D97-AF65-F5344CB8AC3E}">
        <p14:creationId xmlns:p14="http://schemas.microsoft.com/office/powerpoint/2010/main" val="1058178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3" name="Text Box 7"/>
          <p:cNvSpPr txBox="1">
            <a:spLocks noChangeArrowheads="1"/>
          </p:cNvSpPr>
          <p:nvPr/>
        </p:nvSpPr>
        <p:spPr bwMode="auto">
          <a:xfrm>
            <a:off x="1601788" y="2171662"/>
            <a:ext cx="8763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例：已知</a:t>
            </a:r>
            <a:r>
              <a:rPr kumimoji="1" lang="en-US" altLang="zh-CN" sz="24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[</a:t>
            </a:r>
            <a:r>
              <a:rPr kumimoji="1"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的频谱如图所示，试求</a:t>
            </a:r>
            <a:r>
              <a:rPr kumimoji="1" lang="en-US" altLang="zh-CN" sz="24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[</a:t>
            </a:r>
            <a:r>
              <a:rPr kumimoji="1"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]=</a:t>
            </a:r>
            <a:r>
              <a:rPr kumimoji="1" lang="en-US" altLang="zh-CN" sz="24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[</a:t>
            </a:r>
            <a:r>
              <a:rPr kumimoji="1" lang="en-US" altLang="zh-CN" sz="24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]cos(</a:t>
            </a:r>
            <a:r>
              <a:rPr kumimoji="1" lang="en-US" altLang="zh-CN" sz="2400" dirty="0" err="1" smtClean="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p</a:t>
            </a:r>
            <a:r>
              <a:rPr kumimoji="1" lang="en-US" altLang="zh-CN" sz="2400" i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的频谱。</a:t>
            </a:r>
          </a:p>
        </p:txBody>
      </p:sp>
      <p:graphicFrame>
        <p:nvGraphicFramePr>
          <p:cNvPr id="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5708929"/>
              </p:ext>
            </p:extLst>
          </p:nvPr>
        </p:nvGraphicFramePr>
        <p:xfrm>
          <a:off x="3071813" y="3594081"/>
          <a:ext cx="5903912" cy="191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59" name="Visio" r:id="rId3" imgW="3330472" imgH="1098701" progId="Visio.Drawing.11">
                  <p:embed/>
                </p:oleObj>
              </mc:Choice>
              <mc:Fallback>
                <p:oleObj name="Visio" r:id="rId3" imgW="3330472" imgH="1098701" progId="Visio.Drawing.11">
                  <p:embed/>
                  <p:pic>
                    <p:nvPicPr>
                      <p:cNvPr id="7066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3" y="3594081"/>
                        <a:ext cx="5903912" cy="191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82803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DTFT</a:t>
            </a:r>
            <a:endParaRPr kumimoji="1" lang="en-US" altLang="zh-CN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7066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7466755"/>
              </p:ext>
            </p:extLst>
          </p:nvPr>
        </p:nvGraphicFramePr>
        <p:xfrm>
          <a:off x="3325813" y="3522663"/>
          <a:ext cx="4533900" cy="63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84" name="Equation" r:id="rId3" imgW="1612800" imgH="228600" progId="Equation.DSMT4">
                  <p:embed/>
                </p:oleObj>
              </mc:Choice>
              <mc:Fallback>
                <p:oleObj name="Equation" r:id="rId3" imgW="1612800" imgH="228600" progId="Equation.DSMT4">
                  <p:embed/>
                  <p:pic>
                    <p:nvPicPr>
                      <p:cNvPr id="7066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5813" y="3522663"/>
                        <a:ext cx="4533900" cy="639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2988591"/>
              </p:ext>
            </p:extLst>
          </p:nvPr>
        </p:nvGraphicFramePr>
        <p:xfrm>
          <a:off x="3289300" y="4706938"/>
          <a:ext cx="6043613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85" name="Equation" r:id="rId5" imgW="2209680" imgH="228600" progId="Equation.DSMT4">
                  <p:embed/>
                </p:oleObj>
              </mc:Choice>
              <mc:Fallback>
                <p:oleObj name="Equation" r:id="rId5" imgW="2209680" imgH="228600" progId="Equation.DSMT4">
                  <p:embed/>
                  <p:pic>
                    <p:nvPicPr>
                      <p:cNvPr id="7066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9300" y="4706938"/>
                        <a:ext cx="6043613" cy="620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3" name="Text Box 7"/>
          <p:cNvSpPr txBox="1">
            <a:spLocks noChangeArrowheads="1"/>
          </p:cNvSpPr>
          <p:nvPr/>
        </p:nvSpPr>
        <p:spPr bwMode="auto">
          <a:xfrm>
            <a:off x="1703388" y="188913"/>
            <a:ext cx="8763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例：已知</a:t>
            </a:r>
            <a:r>
              <a:rPr kumimoji="1" lang="en-US" altLang="zh-CN" sz="24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[</a:t>
            </a:r>
            <a:r>
              <a:rPr kumimoji="1"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的频谱如图所示，试求</a:t>
            </a:r>
            <a:r>
              <a:rPr kumimoji="1" lang="en-US" altLang="zh-CN" sz="24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[</a:t>
            </a:r>
            <a:r>
              <a:rPr kumimoji="1"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]=</a:t>
            </a:r>
            <a:r>
              <a:rPr kumimoji="1" lang="en-US" altLang="zh-CN" sz="24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[</a:t>
            </a:r>
            <a:r>
              <a:rPr kumimoji="1" lang="en-US" altLang="zh-CN" sz="24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]cos(</a:t>
            </a:r>
            <a:r>
              <a:rPr kumimoji="1" lang="en-US" altLang="zh-CN" sz="2400" dirty="0" err="1" smtClean="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p</a:t>
            </a:r>
            <a:r>
              <a:rPr kumimoji="1" lang="en-US" altLang="zh-CN" sz="2400" i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的频谱。</a:t>
            </a:r>
          </a:p>
        </p:txBody>
      </p:sp>
      <p:sp>
        <p:nvSpPr>
          <p:cNvPr id="70665" name="Text Box 9"/>
          <p:cNvSpPr txBox="1">
            <a:spLocks noChangeArrowheads="1"/>
          </p:cNvSpPr>
          <p:nvPr/>
        </p:nvSpPr>
        <p:spPr bwMode="auto">
          <a:xfrm>
            <a:off x="1847850" y="2852738"/>
            <a:ext cx="228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解：</a:t>
            </a:r>
          </a:p>
        </p:txBody>
      </p:sp>
      <p:sp>
        <p:nvSpPr>
          <p:cNvPr id="70667" name="Rectangle 11"/>
          <p:cNvSpPr>
            <a:spLocks noChangeArrowheads="1"/>
          </p:cNvSpPr>
          <p:nvPr/>
        </p:nvSpPr>
        <p:spPr bwMode="auto">
          <a:xfrm>
            <a:off x="1631950" y="256540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1606998"/>
              </p:ext>
            </p:extLst>
          </p:nvPr>
        </p:nvGraphicFramePr>
        <p:xfrm>
          <a:off x="3071813" y="690033"/>
          <a:ext cx="5903912" cy="191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86" name="Visio" r:id="rId7" imgW="3330472" imgH="1098701" progId="Visio.Drawing.11">
                  <p:embed/>
                </p:oleObj>
              </mc:Choice>
              <mc:Fallback>
                <p:oleObj name="Visio" r:id="rId7" imgW="3330472" imgH="1098701" progId="Visio.Drawing.11">
                  <p:embed/>
                  <p:pic>
                    <p:nvPicPr>
                      <p:cNvPr id="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3" y="690033"/>
                        <a:ext cx="5903912" cy="191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982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70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0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0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65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DTFT</a:t>
            </a:r>
            <a:endParaRPr kumimoji="1" lang="en-US" altLang="zh-CN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5017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92332"/>
              </p:ext>
            </p:extLst>
          </p:nvPr>
        </p:nvGraphicFramePr>
        <p:xfrm>
          <a:off x="3503613" y="1974850"/>
          <a:ext cx="5472112" cy="156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46" name="Visio" r:id="rId3" imgW="3330472" imgH="971491" progId="Visio.Drawing.11">
                  <p:embed/>
                </p:oleObj>
              </mc:Choice>
              <mc:Fallback>
                <p:oleObj name="Visio" r:id="rId3" imgW="3330472" imgH="971491" progId="Visio.Drawing.11">
                  <p:embed/>
                  <p:pic>
                    <p:nvPicPr>
                      <p:cNvPr id="5017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3613" y="1974850"/>
                        <a:ext cx="5472112" cy="1568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331215"/>
              </p:ext>
            </p:extLst>
          </p:nvPr>
        </p:nvGraphicFramePr>
        <p:xfrm>
          <a:off x="3503614" y="3573463"/>
          <a:ext cx="5424487" cy="1554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47" name="Visio" r:id="rId5" imgW="3330472" imgH="971491" progId="Visio.Drawing.11">
                  <p:embed/>
                </p:oleObj>
              </mc:Choice>
              <mc:Fallback>
                <p:oleObj name="Visio" r:id="rId5" imgW="3330472" imgH="971491" progId="Visio.Drawing.11">
                  <p:embed/>
                  <p:pic>
                    <p:nvPicPr>
                      <p:cNvPr id="5018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3614" y="3573463"/>
                        <a:ext cx="5424487" cy="1554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2879435"/>
              </p:ext>
            </p:extLst>
          </p:nvPr>
        </p:nvGraphicFramePr>
        <p:xfrm>
          <a:off x="4367213" y="5013325"/>
          <a:ext cx="3389312" cy="169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48" name="Visio" r:id="rId7" imgW="2228939" imgH="1114336" progId="Visio.Drawing.11">
                  <p:embed/>
                </p:oleObj>
              </mc:Choice>
              <mc:Fallback>
                <p:oleObj name="Visio" r:id="rId7" imgW="2228939" imgH="1114336" progId="Visio.Drawing.11">
                  <p:embed/>
                  <p:pic>
                    <p:nvPicPr>
                      <p:cNvPr id="5018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7213" y="5013325"/>
                        <a:ext cx="3389312" cy="169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3761907"/>
              </p:ext>
            </p:extLst>
          </p:nvPr>
        </p:nvGraphicFramePr>
        <p:xfrm>
          <a:off x="3354389" y="404813"/>
          <a:ext cx="5837237" cy="189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49" name="Visio" r:id="rId9" imgW="3330472" imgH="1098701" progId="Visio.Drawing.11">
                  <p:embed/>
                </p:oleObj>
              </mc:Choice>
              <mc:Fallback>
                <p:oleObj name="Visio" r:id="rId9" imgW="3330472" imgH="1098701" progId="Visio.Drawing.11">
                  <p:embed/>
                  <p:pic>
                    <p:nvPicPr>
                      <p:cNvPr id="5018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4389" y="404813"/>
                        <a:ext cx="5837237" cy="1897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96013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0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DTFT</a:t>
            </a:r>
            <a:endParaRPr kumimoji="1" lang="en-US" altLang="zh-CN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5120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8682214"/>
              </p:ext>
            </p:extLst>
          </p:nvPr>
        </p:nvGraphicFramePr>
        <p:xfrm>
          <a:off x="3041650" y="2260600"/>
          <a:ext cx="5211763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96" name="Equation" r:id="rId3" imgW="2082600" imgH="228600" progId="Equation.DSMT4">
                  <p:embed/>
                </p:oleObj>
              </mc:Choice>
              <mc:Fallback>
                <p:oleObj name="Equation" r:id="rId3" imgW="2082600" imgH="228600" progId="Equation.DSMT4">
                  <p:embed/>
                  <p:pic>
                    <p:nvPicPr>
                      <p:cNvPr id="5120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1650" y="2260600"/>
                        <a:ext cx="5211763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7869756"/>
              </p:ext>
            </p:extLst>
          </p:nvPr>
        </p:nvGraphicFramePr>
        <p:xfrm>
          <a:off x="2971800" y="3005138"/>
          <a:ext cx="6764338" cy="1169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97" name="Equation" r:id="rId5" imgW="2705040" imgH="469800" progId="Equation.DSMT4">
                  <p:embed/>
                </p:oleObj>
              </mc:Choice>
              <mc:Fallback>
                <p:oleObj name="Equation" r:id="rId5" imgW="2705040" imgH="469800" progId="Equation.DSMT4">
                  <p:embed/>
                  <p:pic>
                    <p:nvPicPr>
                      <p:cNvPr id="5120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3005138"/>
                        <a:ext cx="6764338" cy="1169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9" name="Text Box 9"/>
          <p:cNvSpPr txBox="1">
            <a:spLocks noChangeArrowheads="1"/>
          </p:cNvSpPr>
          <p:nvPr/>
        </p:nvSpPr>
        <p:spPr bwMode="auto">
          <a:xfrm>
            <a:off x="3795714" y="112714"/>
            <a:ext cx="4194175" cy="5794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序列</a:t>
            </a:r>
            <a:r>
              <a:rPr kumimoji="1" lang="en-US" altLang="zh-CN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DTFT</a:t>
            </a:r>
            <a:r>
              <a:rPr kumimoji="1" lang="zh-CN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的性质</a:t>
            </a:r>
            <a:endParaRPr kumimoji="1" lang="zh-CN" altLang="en-US" sz="32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210" name="Rectangle 10"/>
          <p:cNvSpPr>
            <a:spLocks noChangeArrowheads="1"/>
          </p:cNvSpPr>
          <p:nvPr/>
        </p:nvSpPr>
        <p:spPr bwMode="auto">
          <a:xfrm>
            <a:off x="1631950" y="80645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211" name="Text Box 11"/>
          <p:cNvSpPr txBox="1">
            <a:spLocks noChangeArrowheads="1"/>
          </p:cNvSpPr>
          <p:nvPr/>
        </p:nvSpPr>
        <p:spPr bwMode="auto">
          <a:xfrm>
            <a:off x="2135188" y="1268413"/>
            <a:ext cx="2736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4. </a:t>
            </a:r>
            <a:r>
              <a:rPr kumimoji="1" lang="zh-CN" altLang="en-US" sz="2400" b="1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卷积特性</a:t>
            </a:r>
          </a:p>
        </p:txBody>
      </p:sp>
      <p:sp>
        <p:nvSpPr>
          <p:cNvPr id="51212" name="Text Box 12"/>
          <p:cNvSpPr txBox="1">
            <a:spLocks noChangeArrowheads="1"/>
          </p:cNvSpPr>
          <p:nvPr/>
        </p:nvSpPr>
        <p:spPr bwMode="auto">
          <a:xfrm>
            <a:off x="3071813" y="4652964"/>
            <a:ext cx="5903912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l"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序列</a:t>
            </a:r>
            <a:r>
              <a:rPr kumimoji="1" lang="zh-CN" altLang="en-US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时域的卷积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对应</a:t>
            </a:r>
            <a:r>
              <a:rPr kumimoji="1" lang="zh-CN" altLang="en-US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频域的乘积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l"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序列</a:t>
            </a:r>
            <a:r>
              <a:rPr kumimoji="1" lang="zh-CN" altLang="en-US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时域的乘积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对应</a:t>
            </a:r>
            <a:r>
              <a:rPr kumimoji="1" lang="zh-CN" altLang="en-US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频域的卷积</a:t>
            </a:r>
          </a:p>
        </p:txBody>
      </p:sp>
    </p:spTree>
    <p:extLst>
      <p:ext uri="{BB962C8B-B14F-4D97-AF65-F5344CB8AC3E}">
        <p14:creationId xmlns:p14="http://schemas.microsoft.com/office/powerpoint/2010/main" val="3375023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DTFT</a:t>
            </a:r>
            <a:endParaRPr kumimoji="1" lang="en-US" altLang="zh-CN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7270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8516306"/>
              </p:ext>
            </p:extLst>
          </p:nvPr>
        </p:nvGraphicFramePr>
        <p:xfrm>
          <a:off x="3381375" y="1852613"/>
          <a:ext cx="5137150" cy="117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20" name="Equation" r:id="rId3" imgW="2057400" imgH="469800" progId="Equation.DSMT4">
                  <p:embed/>
                </p:oleObj>
              </mc:Choice>
              <mc:Fallback>
                <p:oleObj name="Equation" r:id="rId3" imgW="2057400" imgH="469800" progId="Equation.DSMT4">
                  <p:embed/>
                  <p:pic>
                    <p:nvPicPr>
                      <p:cNvPr id="7270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1375" y="1852613"/>
                        <a:ext cx="5137150" cy="117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14" name="Text Box 10"/>
          <p:cNvSpPr txBox="1">
            <a:spLocks noChangeArrowheads="1"/>
          </p:cNvSpPr>
          <p:nvPr/>
        </p:nvSpPr>
        <p:spPr bwMode="auto">
          <a:xfrm>
            <a:off x="3795714" y="112714"/>
            <a:ext cx="4194175" cy="5794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序列</a:t>
            </a:r>
            <a:r>
              <a:rPr kumimoji="1" lang="en-US" altLang="zh-CN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DTFT</a:t>
            </a:r>
            <a:r>
              <a:rPr kumimoji="1" lang="zh-CN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的性质</a:t>
            </a:r>
            <a:endParaRPr kumimoji="1" lang="zh-CN" altLang="en-US" sz="32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715" name="Rectangle 11"/>
          <p:cNvSpPr>
            <a:spLocks noChangeArrowheads="1"/>
          </p:cNvSpPr>
          <p:nvPr/>
        </p:nvSpPr>
        <p:spPr bwMode="auto">
          <a:xfrm>
            <a:off x="1631950" y="80645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716" name="Text Box 12"/>
          <p:cNvSpPr txBox="1">
            <a:spLocks noChangeArrowheads="1"/>
          </p:cNvSpPr>
          <p:nvPr/>
        </p:nvSpPr>
        <p:spPr bwMode="auto">
          <a:xfrm>
            <a:off x="2135188" y="1268413"/>
            <a:ext cx="2736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5. Parseval</a:t>
            </a:r>
            <a:r>
              <a:rPr kumimoji="1" lang="zh-CN" altLang="en-US" sz="2400" b="1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定理</a:t>
            </a:r>
          </a:p>
        </p:txBody>
      </p:sp>
      <p:sp>
        <p:nvSpPr>
          <p:cNvPr id="72717" name="Text Box 13"/>
          <p:cNvSpPr txBox="1">
            <a:spLocks noChangeArrowheads="1"/>
          </p:cNvSpPr>
          <p:nvPr/>
        </p:nvSpPr>
        <p:spPr bwMode="auto">
          <a:xfrm>
            <a:off x="3000376" y="3141663"/>
            <a:ext cx="59039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l"/>
            </a:pP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序列</a:t>
            </a:r>
            <a:r>
              <a:rPr kumimoji="1" lang="zh-CN" altLang="en-US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时域的能量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等于</a:t>
            </a:r>
            <a:r>
              <a:rPr kumimoji="1" lang="zh-CN" altLang="en-US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频域的能量</a:t>
            </a:r>
          </a:p>
        </p:txBody>
      </p:sp>
      <p:graphicFrame>
        <p:nvGraphicFramePr>
          <p:cNvPr id="7271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092670"/>
              </p:ext>
            </p:extLst>
          </p:nvPr>
        </p:nvGraphicFramePr>
        <p:xfrm>
          <a:off x="2796117" y="3946525"/>
          <a:ext cx="8243888" cy="275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21" name="Equation" r:id="rId5" imgW="4317840" imgH="1447560" progId="Equation.DSMT4">
                  <p:embed/>
                </p:oleObj>
              </mc:Choice>
              <mc:Fallback>
                <p:oleObj name="Equation" r:id="rId5" imgW="4317840" imgH="1447560" progId="Equation.DSMT4">
                  <p:embed/>
                  <p:pic>
                    <p:nvPicPr>
                      <p:cNvPr id="72718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6117" y="3946525"/>
                        <a:ext cx="8243888" cy="2759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19" name="Text Box 15"/>
          <p:cNvSpPr txBox="1">
            <a:spLocks noChangeArrowheads="1"/>
          </p:cNvSpPr>
          <p:nvPr/>
        </p:nvSpPr>
        <p:spPr bwMode="auto">
          <a:xfrm>
            <a:off x="1774825" y="4221163"/>
            <a:ext cx="1512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证明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549298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2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022" y="124737"/>
            <a:ext cx="9541039" cy="673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4115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DTFT</a:t>
            </a:r>
            <a:endParaRPr kumimoji="1" lang="en-US" altLang="zh-CN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322" name="Text Box 2"/>
          <p:cNvSpPr txBox="1">
            <a:spLocks noChangeArrowheads="1"/>
          </p:cNvSpPr>
          <p:nvPr/>
        </p:nvSpPr>
        <p:spPr bwMode="auto">
          <a:xfrm>
            <a:off x="3657601" y="152400"/>
            <a:ext cx="5091113" cy="5794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利用</a:t>
            </a:r>
            <a:r>
              <a:rPr kumimoji="1" lang="en-US" altLang="zh-CN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MATLAB</a:t>
            </a:r>
            <a:r>
              <a:rPr kumimoji="1" lang="zh-CN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计算</a:t>
            </a:r>
            <a:r>
              <a:rPr kumimoji="1" lang="en-US" altLang="zh-CN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DTFT</a:t>
            </a:r>
          </a:p>
        </p:txBody>
      </p:sp>
      <p:graphicFrame>
        <p:nvGraphicFramePr>
          <p:cNvPr id="5632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7999916"/>
              </p:ext>
            </p:extLst>
          </p:nvPr>
        </p:nvGraphicFramePr>
        <p:xfrm>
          <a:off x="2286000" y="1266825"/>
          <a:ext cx="6523038" cy="1093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01" name="Equation" r:id="rId3" imgW="2717640" imgH="457200" progId="Equation.DSMT4">
                  <p:embed/>
                </p:oleObj>
              </mc:Choice>
              <mc:Fallback>
                <p:oleObj name="Equation" r:id="rId3" imgW="2717640" imgH="457200" progId="Equation.DSMT4">
                  <p:embed/>
                  <p:pic>
                    <p:nvPicPr>
                      <p:cNvPr id="5632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266825"/>
                        <a:ext cx="6523038" cy="1093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4" name="Text Box 4"/>
          <p:cNvSpPr txBox="1">
            <a:spLocks noChangeArrowheads="1"/>
          </p:cNvSpPr>
          <p:nvPr/>
        </p:nvSpPr>
        <p:spPr bwMode="auto">
          <a:xfrm>
            <a:off x="2424113" y="2492375"/>
            <a:ext cx="594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 = </a:t>
            </a:r>
            <a:r>
              <a:rPr kumimoji="1" lang="en-US" altLang="zh-CN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freqz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(b, a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l-GR" altLang="zh-CN" dirty="0"/>
              <a:t> ω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kumimoji="1"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325" name="Text Box 5"/>
          <p:cNvSpPr txBox="1">
            <a:spLocks noChangeArrowheads="1"/>
          </p:cNvSpPr>
          <p:nvPr/>
        </p:nvSpPr>
        <p:spPr bwMode="auto">
          <a:xfrm>
            <a:off x="2332038" y="3200401"/>
            <a:ext cx="59436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    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分子的系数矩阵      </a:t>
            </a:r>
            <a:r>
              <a:rPr kumimoji="1" lang="zh-CN" altLang="en-US" sz="240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分母系数矩阵</a:t>
            </a:r>
          </a:p>
        </p:txBody>
      </p:sp>
      <p:sp>
        <p:nvSpPr>
          <p:cNvPr id="56326" name="Text Box 6"/>
          <p:cNvSpPr txBox="1">
            <a:spLocks noChangeArrowheads="1"/>
          </p:cNvSpPr>
          <p:nvPr/>
        </p:nvSpPr>
        <p:spPr bwMode="auto">
          <a:xfrm>
            <a:off x="2343150" y="4292600"/>
            <a:ext cx="670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l-GR" altLang="zh-CN" dirty="0"/>
              <a:t>ω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在一个周期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[0,2</a:t>
            </a:r>
            <a:r>
              <a:rPr kumimoji="1" lang="en-US" altLang="zh-CN" sz="2400" dirty="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p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上的抽样频率点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至少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点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56327" name="Rectangle 7"/>
          <p:cNvSpPr>
            <a:spLocks noChangeArrowheads="1"/>
          </p:cNvSpPr>
          <p:nvPr/>
        </p:nvSpPr>
        <p:spPr bwMode="auto">
          <a:xfrm>
            <a:off x="1676400" y="106680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328" name="Rectangle 8"/>
          <p:cNvSpPr>
            <a:spLocks noChangeArrowheads="1"/>
          </p:cNvSpPr>
          <p:nvPr/>
        </p:nvSpPr>
        <p:spPr bwMode="auto">
          <a:xfrm>
            <a:off x="2495550" y="5229225"/>
            <a:ext cx="66246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计算</a:t>
            </a:r>
            <a:r>
              <a:rPr kumimoji="1" lang="en-US" altLang="zh-CN" sz="24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DTFT</a:t>
            </a:r>
            <a:r>
              <a:rPr kumimoji="1" lang="zh-CN" altLang="en-US" sz="24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的相关函数</a:t>
            </a:r>
            <a:r>
              <a:rPr kumimoji="1" lang="en-US" altLang="zh-CN" sz="24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  abs, angle,unwrap</a:t>
            </a:r>
          </a:p>
        </p:txBody>
      </p:sp>
    </p:spTree>
    <p:extLst>
      <p:ext uri="{BB962C8B-B14F-4D97-AF65-F5344CB8AC3E}">
        <p14:creationId xmlns:p14="http://schemas.microsoft.com/office/powerpoint/2010/main" val="3351414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56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56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56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56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4" grpId="0" autoUpdateAnimBg="0"/>
      <p:bldP spid="56325" grpId="0" autoUpdateAnimBg="0"/>
      <p:bldP spid="56326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DTFT</a:t>
            </a:r>
            <a:endParaRPr kumimoji="1" lang="en-US" altLang="zh-CN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5734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6168022"/>
              </p:ext>
            </p:extLst>
          </p:nvPr>
        </p:nvGraphicFramePr>
        <p:xfrm>
          <a:off x="3219450" y="34925"/>
          <a:ext cx="2894013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25" name="Equation" r:id="rId3" imgW="1206360" imgH="431640" progId="Equation.DSMT4">
                  <p:embed/>
                </p:oleObj>
              </mc:Choice>
              <mc:Fallback>
                <p:oleObj name="Equation" r:id="rId3" imgW="1206360" imgH="431640" progId="Equation.DSMT4">
                  <p:embed/>
                  <p:pic>
                    <p:nvPicPr>
                      <p:cNvPr id="5734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9450" y="34925"/>
                        <a:ext cx="2894013" cy="103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47" name="Text Box 3"/>
          <p:cNvSpPr txBox="1">
            <a:spLocks noChangeArrowheads="1"/>
          </p:cNvSpPr>
          <p:nvPr/>
        </p:nvSpPr>
        <p:spPr bwMode="auto">
          <a:xfrm>
            <a:off x="2063751" y="1557339"/>
            <a:ext cx="8088313" cy="350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dirty="0">
                <a:solidFill>
                  <a:srgbClr val="008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%  Computation of Sequence DTFT 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b=[1];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a1=[1 -0.9]; a2=[1 0.9];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w=</a:t>
            </a:r>
            <a:r>
              <a:rPr kumimoji="1" lang="en-US" altLang="zh-CN" sz="28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linspace</a:t>
            </a:r>
            <a:r>
              <a:rPr kumimoji="1" lang="en-US" altLang="zh-CN" sz="28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(0,2*pi,512);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h1=</a:t>
            </a:r>
            <a:r>
              <a:rPr kumimoji="1" lang="en-US" altLang="zh-CN" sz="28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freqz</a:t>
            </a:r>
            <a:r>
              <a:rPr kumimoji="1" lang="en-US" altLang="zh-CN" sz="28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(b,a1,w);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h2=</a:t>
            </a:r>
            <a:r>
              <a:rPr kumimoji="1" lang="en-US" altLang="zh-CN" sz="28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freqz</a:t>
            </a:r>
            <a:r>
              <a:rPr kumimoji="1" lang="en-US" altLang="zh-CN" sz="28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(b,a2,w);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plot(w/</a:t>
            </a:r>
            <a:r>
              <a:rPr kumimoji="1" lang="en-US" altLang="zh-CN" sz="28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pi,abs</a:t>
            </a:r>
            <a:r>
              <a:rPr kumimoji="1" lang="en-US" altLang="zh-CN" sz="28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(h1),w/</a:t>
            </a:r>
            <a:r>
              <a:rPr kumimoji="1" lang="en-US" altLang="zh-CN" sz="28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pi,abs</a:t>
            </a:r>
            <a:r>
              <a:rPr kumimoji="1" lang="en-US" altLang="zh-CN" sz="28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(h2),</a:t>
            </a:r>
            <a:r>
              <a:rPr kumimoji="1" lang="en-US" altLang="zh-CN" sz="2800" dirty="0">
                <a:solidFill>
                  <a:srgbClr val="8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':'</a:t>
            </a:r>
            <a:r>
              <a:rPr kumimoji="1" lang="en-US" altLang="zh-CN" sz="28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);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legend(</a:t>
            </a:r>
            <a:r>
              <a:rPr kumimoji="1" lang="en-US" altLang="zh-CN" sz="2800" dirty="0">
                <a:solidFill>
                  <a:srgbClr val="8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'\alpha=0.9'</a:t>
            </a:r>
            <a:r>
              <a:rPr kumimoji="1" lang="en-US" altLang="zh-CN" sz="28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,</a:t>
            </a:r>
            <a:r>
              <a:rPr kumimoji="1" lang="en-US" altLang="zh-CN" sz="2800" dirty="0">
                <a:solidFill>
                  <a:srgbClr val="8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'\alpha=-0.9'</a:t>
            </a:r>
            <a:r>
              <a:rPr kumimoji="1" lang="en-US" altLang="zh-CN" sz="28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);</a:t>
            </a:r>
            <a:endParaRPr kumimoji="1" lang="en-US" altLang="zh-CN" sz="28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7348" name="Rectangle 4"/>
          <p:cNvSpPr>
            <a:spLocks noChangeArrowheads="1"/>
          </p:cNvSpPr>
          <p:nvPr/>
        </p:nvSpPr>
        <p:spPr bwMode="auto">
          <a:xfrm>
            <a:off x="1676400" y="106680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2184400" y="230719"/>
            <a:ext cx="808831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画出</a:t>
            </a:r>
            <a:endParaRPr kumimoji="1" lang="en-US" altLang="zh-CN" sz="28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11846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7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7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7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7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7" grpId="0" build="p" autoUpdateAnimBg="0"/>
      <p:bldP spid="6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DTFT</a:t>
            </a:r>
            <a:endParaRPr kumimoji="1" lang="en-US" altLang="zh-CN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59484" name="Group 92"/>
          <p:cNvGrpSpPr>
            <a:grpSpLocks/>
          </p:cNvGrpSpPr>
          <p:nvPr/>
        </p:nvGrpSpPr>
        <p:grpSpPr bwMode="auto">
          <a:xfrm>
            <a:off x="1847851" y="1484313"/>
            <a:ext cx="8112125" cy="4703762"/>
            <a:chOff x="286" y="237"/>
            <a:chExt cx="4718" cy="3352"/>
          </a:xfrm>
        </p:grpSpPr>
        <p:sp>
          <p:nvSpPr>
            <p:cNvPr id="59396" name="Rectangle 4"/>
            <p:cNvSpPr>
              <a:spLocks noChangeArrowheads="1"/>
            </p:cNvSpPr>
            <p:nvPr/>
          </p:nvSpPr>
          <p:spPr bwMode="auto">
            <a:xfrm>
              <a:off x="709" y="311"/>
              <a:ext cx="4261" cy="278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397" name="Rectangle 5"/>
            <p:cNvSpPr>
              <a:spLocks noChangeArrowheads="1"/>
            </p:cNvSpPr>
            <p:nvPr/>
          </p:nvSpPr>
          <p:spPr bwMode="auto">
            <a:xfrm>
              <a:off x="703" y="572"/>
              <a:ext cx="4261" cy="2787"/>
            </a:xfrm>
            <a:prstGeom prst="rect">
              <a:avLst/>
            </a:prstGeom>
            <a:noFill/>
            <a:ln w="15875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398" name="Line 6"/>
            <p:cNvSpPr>
              <a:spLocks noChangeShapeType="1"/>
            </p:cNvSpPr>
            <p:nvPr/>
          </p:nvSpPr>
          <p:spPr bwMode="auto">
            <a:xfrm>
              <a:off x="709" y="3098"/>
              <a:ext cx="4261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399" name="Line 7"/>
            <p:cNvSpPr>
              <a:spLocks noChangeShapeType="1"/>
            </p:cNvSpPr>
            <p:nvPr/>
          </p:nvSpPr>
          <p:spPr bwMode="auto">
            <a:xfrm>
              <a:off x="709" y="311"/>
              <a:ext cx="4261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00" name="Line 8"/>
            <p:cNvSpPr>
              <a:spLocks noChangeShapeType="1"/>
            </p:cNvSpPr>
            <p:nvPr/>
          </p:nvSpPr>
          <p:spPr bwMode="auto">
            <a:xfrm flipV="1">
              <a:off x="709" y="311"/>
              <a:ext cx="1" cy="278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01" name="Line 9"/>
            <p:cNvSpPr>
              <a:spLocks noChangeShapeType="1"/>
            </p:cNvSpPr>
            <p:nvPr/>
          </p:nvSpPr>
          <p:spPr bwMode="auto">
            <a:xfrm flipV="1">
              <a:off x="4970" y="311"/>
              <a:ext cx="1" cy="278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02" name="Line 10"/>
            <p:cNvSpPr>
              <a:spLocks noChangeShapeType="1"/>
            </p:cNvSpPr>
            <p:nvPr/>
          </p:nvSpPr>
          <p:spPr bwMode="auto">
            <a:xfrm>
              <a:off x="709" y="3098"/>
              <a:ext cx="4261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03" name="Line 11"/>
            <p:cNvSpPr>
              <a:spLocks noChangeShapeType="1"/>
            </p:cNvSpPr>
            <p:nvPr/>
          </p:nvSpPr>
          <p:spPr bwMode="auto">
            <a:xfrm flipV="1">
              <a:off x="709" y="311"/>
              <a:ext cx="1" cy="278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04" name="Line 12"/>
            <p:cNvSpPr>
              <a:spLocks noChangeShapeType="1"/>
            </p:cNvSpPr>
            <p:nvPr/>
          </p:nvSpPr>
          <p:spPr bwMode="auto">
            <a:xfrm flipV="1">
              <a:off x="709" y="3061"/>
              <a:ext cx="1" cy="3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05" name="Line 13"/>
            <p:cNvSpPr>
              <a:spLocks noChangeShapeType="1"/>
            </p:cNvSpPr>
            <p:nvPr/>
          </p:nvSpPr>
          <p:spPr bwMode="auto">
            <a:xfrm>
              <a:off x="709" y="311"/>
              <a:ext cx="1" cy="3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06" name="Rectangle 14"/>
            <p:cNvSpPr>
              <a:spLocks noChangeArrowheads="1"/>
            </p:cNvSpPr>
            <p:nvPr/>
          </p:nvSpPr>
          <p:spPr bwMode="auto">
            <a:xfrm>
              <a:off x="679" y="3135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500">
                  <a:solidFill>
                    <a:srgbClr val="000000"/>
                  </a:solidFill>
                  <a:latin typeface="Helvetica" panose="020B0604020202020204" pitchFamily="34" charset="0"/>
                  <a:ea typeface="宋体" panose="02010600030101010101" pitchFamily="2" charset="-122"/>
                </a:rPr>
                <a:t>0</a:t>
              </a:r>
              <a:endPara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07" name="Line 15"/>
            <p:cNvSpPr>
              <a:spLocks noChangeShapeType="1"/>
            </p:cNvSpPr>
            <p:nvPr/>
          </p:nvSpPr>
          <p:spPr bwMode="auto">
            <a:xfrm flipV="1">
              <a:off x="1132" y="3061"/>
              <a:ext cx="1" cy="3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08" name="Line 16"/>
            <p:cNvSpPr>
              <a:spLocks noChangeShapeType="1"/>
            </p:cNvSpPr>
            <p:nvPr/>
          </p:nvSpPr>
          <p:spPr bwMode="auto">
            <a:xfrm>
              <a:off x="1132" y="311"/>
              <a:ext cx="1" cy="3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09" name="Rectangle 17"/>
            <p:cNvSpPr>
              <a:spLocks noChangeArrowheads="1"/>
            </p:cNvSpPr>
            <p:nvPr/>
          </p:nvSpPr>
          <p:spPr bwMode="auto">
            <a:xfrm>
              <a:off x="1042" y="3135"/>
              <a:ext cx="156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500">
                  <a:solidFill>
                    <a:srgbClr val="000000"/>
                  </a:solidFill>
                  <a:latin typeface="Helvetica" panose="020B0604020202020204" pitchFamily="34" charset="0"/>
                  <a:ea typeface="宋体" panose="02010600030101010101" pitchFamily="2" charset="-122"/>
                </a:rPr>
                <a:t>0.2</a:t>
              </a:r>
              <a:endPara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10" name="Line 18"/>
            <p:cNvSpPr>
              <a:spLocks noChangeShapeType="1"/>
            </p:cNvSpPr>
            <p:nvPr/>
          </p:nvSpPr>
          <p:spPr bwMode="auto">
            <a:xfrm flipV="1">
              <a:off x="1565" y="3061"/>
              <a:ext cx="1" cy="3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11" name="Line 19"/>
            <p:cNvSpPr>
              <a:spLocks noChangeShapeType="1"/>
            </p:cNvSpPr>
            <p:nvPr/>
          </p:nvSpPr>
          <p:spPr bwMode="auto">
            <a:xfrm>
              <a:off x="1565" y="311"/>
              <a:ext cx="1" cy="3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12" name="Rectangle 20"/>
            <p:cNvSpPr>
              <a:spLocks noChangeArrowheads="1"/>
            </p:cNvSpPr>
            <p:nvPr/>
          </p:nvSpPr>
          <p:spPr bwMode="auto">
            <a:xfrm>
              <a:off x="1476" y="3135"/>
              <a:ext cx="156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500">
                  <a:solidFill>
                    <a:srgbClr val="000000"/>
                  </a:solidFill>
                  <a:latin typeface="Helvetica" panose="020B0604020202020204" pitchFamily="34" charset="0"/>
                  <a:ea typeface="宋体" panose="02010600030101010101" pitchFamily="2" charset="-122"/>
                </a:rPr>
                <a:t>0.4</a:t>
              </a:r>
              <a:endPara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13" name="Line 21"/>
            <p:cNvSpPr>
              <a:spLocks noChangeShapeType="1"/>
            </p:cNvSpPr>
            <p:nvPr/>
          </p:nvSpPr>
          <p:spPr bwMode="auto">
            <a:xfrm flipV="1">
              <a:off x="1988" y="3061"/>
              <a:ext cx="1" cy="3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14" name="Line 22"/>
            <p:cNvSpPr>
              <a:spLocks noChangeShapeType="1"/>
            </p:cNvSpPr>
            <p:nvPr/>
          </p:nvSpPr>
          <p:spPr bwMode="auto">
            <a:xfrm>
              <a:off x="1988" y="311"/>
              <a:ext cx="1" cy="3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15" name="Rectangle 23"/>
            <p:cNvSpPr>
              <a:spLocks noChangeArrowheads="1"/>
            </p:cNvSpPr>
            <p:nvPr/>
          </p:nvSpPr>
          <p:spPr bwMode="auto">
            <a:xfrm>
              <a:off x="1899" y="3135"/>
              <a:ext cx="156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500">
                  <a:solidFill>
                    <a:srgbClr val="000000"/>
                  </a:solidFill>
                  <a:latin typeface="Helvetica" panose="020B0604020202020204" pitchFamily="34" charset="0"/>
                  <a:ea typeface="宋体" panose="02010600030101010101" pitchFamily="2" charset="-122"/>
                </a:rPr>
                <a:t>0.6</a:t>
              </a:r>
              <a:endPara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16" name="Line 24"/>
            <p:cNvSpPr>
              <a:spLocks noChangeShapeType="1"/>
            </p:cNvSpPr>
            <p:nvPr/>
          </p:nvSpPr>
          <p:spPr bwMode="auto">
            <a:xfrm flipV="1">
              <a:off x="2411" y="3061"/>
              <a:ext cx="1" cy="3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17" name="Line 25"/>
            <p:cNvSpPr>
              <a:spLocks noChangeShapeType="1"/>
            </p:cNvSpPr>
            <p:nvPr/>
          </p:nvSpPr>
          <p:spPr bwMode="auto">
            <a:xfrm>
              <a:off x="2411" y="311"/>
              <a:ext cx="1" cy="3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18" name="Rectangle 26"/>
            <p:cNvSpPr>
              <a:spLocks noChangeArrowheads="1"/>
            </p:cNvSpPr>
            <p:nvPr/>
          </p:nvSpPr>
          <p:spPr bwMode="auto">
            <a:xfrm>
              <a:off x="2323" y="3135"/>
              <a:ext cx="156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500">
                  <a:solidFill>
                    <a:srgbClr val="000000"/>
                  </a:solidFill>
                  <a:latin typeface="Helvetica" panose="020B0604020202020204" pitchFamily="34" charset="0"/>
                  <a:ea typeface="宋体" panose="02010600030101010101" pitchFamily="2" charset="-122"/>
                </a:rPr>
                <a:t>0.8</a:t>
              </a:r>
              <a:endPara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19" name="Line 27"/>
            <p:cNvSpPr>
              <a:spLocks noChangeShapeType="1"/>
            </p:cNvSpPr>
            <p:nvPr/>
          </p:nvSpPr>
          <p:spPr bwMode="auto">
            <a:xfrm flipV="1">
              <a:off x="2844" y="3061"/>
              <a:ext cx="1" cy="3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20" name="Line 28"/>
            <p:cNvSpPr>
              <a:spLocks noChangeShapeType="1"/>
            </p:cNvSpPr>
            <p:nvPr/>
          </p:nvSpPr>
          <p:spPr bwMode="auto">
            <a:xfrm>
              <a:off x="2844" y="311"/>
              <a:ext cx="1" cy="3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21" name="Rectangle 29"/>
            <p:cNvSpPr>
              <a:spLocks noChangeArrowheads="1"/>
            </p:cNvSpPr>
            <p:nvPr/>
          </p:nvSpPr>
          <p:spPr bwMode="auto">
            <a:xfrm>
              <a:off x="2815" y="3135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500">
                  <a:solidFill>
                    <a:srgbClr val="000000"/>
                  </a:solidFill>
                  <a:latin typeface="Helvetica" panose="020B0604020202020204" pitchFamily="34" charset="0"/>
                  <a:ea typeface="宋体" panose="02010600030101010101" pitchFamily="2" charset="-122"/>
                </a:rPr>
                <a:t>1</a:t>
              </a:r>
              <a:endPara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22" name="Line 30"/>
            <p:cNvSpPr>
              <a:spLocks noChangeShapeType="1"/>
            </p:cNvSpPr>
            <p:nvPr/>
          </p:nvSpPr>
          <p:spPr bwMode="auto">
            <a:xfrm flipV="1">
              <a:off x="3267" y="3061"/>
              <a:ext cx="1" cy="3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23" name="Line 31"/>
            <p:cNvSpPr>
              <a:spLocks noChangeShapeType="1"/>
            </p:cNvSpPr>
            <p:nvPr/>
          </p:nvSpPr>
          <p:spPr bwMode="auto">
            <a:xfrm>
              <a:off x="3267" y="311"/>
              <a:ext cx="1" cy="3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24" name="Rectangle 32"/>
            <p:cNvSpPr>
              <a:spLocks noChangeArrowheads="1"/>
            </p:cNvSpPr>
            <p:nvPr/>
          </p:nvSpPr>
          <p:spPr bwMode="auto">
            <a:xfrm>
              <a:off x="3178" y="3135"/>
              <a:ext cx="156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500">
                  <a:solidFill>
                    <a:srgbClr val="000000"/>
                  </a:solidFill>
                  <a:latin typeface="Helvetica" panose="020B0604020202020204" pitchFamily="34" charset="0"/>
                  <a:ea typeface="宋体" panose="02010600030101010101" pitchFamily="2" charset="-122"/>
                </a:rPr>
                <a:t>1.2</a:t>
              </a:r>
              <a:endPara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25" name="Line 33"/>
            <p:cNvSpPr>
              <a:spLocks noChangeShapeType="1"/>
            </p:cNvSpPr>
            <p:nvPr/>
          </p:nvSpPr>
          <p:spPr bwMode="auto">
            <a:xfrm flipV="1">
              <a:off x="3691" y="3061"/>
              <a:ext cx="1" cy="3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26" name="Line 34"/>
            <p:cNvSpPr>
              <a:spLocks noChangeShapeType="1"/>
            </p:cNvSpPr>
            <p:nvPr/>
          </p:nvSpPr>
          <p:spPr bwMode="auto">
            <a:xfrm>
              <a:off x="3691" y="311"/>
              <a:ext cx="1" cy="3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27" name="Rectangle 35"/>
            <p:cNvSpPr>
              <a:spLocks noChangeArrowheads="1"/>
            </p:cNvSpPr>
            <p:nvPr/>
          </p:nvSpPr>
          <p:spPr bwMode="auto">
            <a:xfrm>
              <a:off x="3602" y="3135"/>
              <a:ext cx="155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500">
                  <a:solidFill>
                    <a:srgbClr val="000000"/>
                  </a:solidFill>
                  <a:latin typeface="Helvetica" panose="020B0604020202020204" pitchFamily="34" charset="0"/>
                  <a:ea typeface="宋体" panose="02010600030101010101" pitchFamily="2" charset="-122"/>
                </a:rPr>
                <a:t>1.4</a:t>
              </a:r>
              <a:endPara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28" name="Line 36"/>
            <p:cNvSpPr>
              <a:spLocks noChangeShapeType="1"/>
            </p:cNvSpPr>
            <p:nvPr/>
          </p:nvSpPr>
          <p:spPr bwMode="auto">
            <a:xfrm flipV="1">
              <a:off x="4114" y="3061"/>
              <a:ext cx="1" cy="3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29" name="Line 37"/>
            <p:cNvSpPr>
              <a:spLocks noChangeShapeType="1"/>
            </p:cNvSpPr>
            <p:nvPr/>
          </p:nvSpPr>
          <p:spPr bwMode="auto">
            <a:xfrm>
              <a:off x="4114" y="311"/>
              <a:ext cx="1" cy="3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30" name="Rectangle 38"/>
            <p:cNvSpPr>
              <a:spLocks noChangeArrowheads="1"/>
            </p:cNvSpPr>
            <p:nvPr/>
          </p:nvSpPr>
          <p:spPr bwMode="auto">
            <a:xfrm>
              <a:off x="4025" y="3135"/>
              <a:ext cx="155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500">
                  <a:solidFill>
                    <a:srgbClr val="000000"/>
                  </a:solidFill>
                  <a:latin typeface="Helvetica" panose="020B0604020202020204" pitchFamily="34" charset="0"/>
                  <a:ea typeface="宋体" panose="02010600030101010101" pitchFamily="2" charset="-122"/>
                </a:rPr>
                <a:t>1.6</a:t>
              </a:r>
              <a:endPara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31" name="Line 39"/>
            <p:cNvSpPr>
              <a:spLocks noChangeShapeType="1"/>
            </p:cNvSpPr>
            <p:nvPr/>
          </p:nvSpPr>
          <p:spPr bwMode="auto">
            <a:xfrm flipV="1">
              <a:off x="4547" y="3061"/>
              <a:ext cx="1" cy="3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32" name="Line 40"/>
            <p:cNvSpPr>
              <a:spLocks noChangeShapeType="1"/>
            </p:cNvSpPr>
            <p:nvPr/>
          </p:nvSpPr>
          <p:spPr bwMode="auto">
            <a:xfrm>
              <a:off x="4547" y="311"/>
              <a:ext cx="1" cy="3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33" name="Rectangle 41"/>
            <p:cNvSpPr>
              <a:spLocks noChangeArrowheads="1"/>
            </p:cNvSpPr>
            <p:nvPr/>
          </p:nvSpPr>
          <p:spPr bwMode="auto">
            <a:xfrm>
              <a:off x="4458" y="3135"/>
              <a:ext cx="155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500">
                  <a:solidFill>
                    <a:srgbClr val="000000"/>
                  </a:solidFill>
                  <a:latin typeface="Helvetica" panose="020B0604020202020204" pitchFamily="34" charset="0"/>
                  <a:ea typeface="宋体" panose="02010600030101010101" pitchFamily="2" charset="-122"/>
                </a:rPr>
                <a:t>1.8</a:t>
              </a:r>
              <a:endPara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34" name="Line 42"/>
            <p:cNvSpPr>
              <a:spLocks noChangeShapeType="1"/>
            </p:cNvSpPr>
            <p:nvPr/>
          </p:nvSpPr>
          <p:spPr bwMode="auto">
            <a:xfrm flipV="1">
              <a:off x="4970" y="3061"/>
              <a:ext cx="1" cy="3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35" name="Line 43"/>
            <p:cNvSpPr>
              <a:spLocks noChangeShapeType="1"/>
            </p:cNvSpPr>
            <p:nvPr/>
          </p:nvSpPr>
          <p:spPr bwMode="auto">
            <a:xfrm>
              <a:off x="4970" y="311"/>
              <a:ext cx="1" cy="3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36" name="Rectangle 44"/>
            <p:cNvSpPr>
              <a:spLocks noChangeArrowheads="1"/>
            </p:cNvSpPr>
            <p:nvPr/>
          </p:nvSpPr>
          <p:spPr bwMode="auto">
            <a:xfrm>
              <a:off x="4942" y="3135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500">
                  <a:solidFill>
                    <a:srgbClr val="000000"/>
                  </a:solidFill>
                  <a:latin typeface="Helvetica" panose="020B0604020202020204" pitchFamily="34" charset="0"/>
                  <a:ea typeface="宋体" panose="02010600030101010101" pitchFamily="2" charset="-122"/>
                </a:rPr>
                <a:t>2</a:t>
              </a:r>
              <a:endPara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37" name="Line 45"/>
            <p:cNvSpPr>
              <a:spLocks noChangeShapeType="1"/>
            </p:cNvSpPr>
            <p:nvPr/>
          </p:nvSpPr>
          <p:spPr bwMode="auto">
            <a:xfrm>
              <a:off x="709" y="3098"/>
              <a:ext cx="39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38" name="Line 46"/>
            <p:cNvSpPr>
              <a:spLocks noChangeShapeType="1"/>
            </p:cNvSpPr>
            <p:nvPr/>
          </p:nvSpPr>
          <p:spPr bwMode="auto">
            <a:xfrm flipH="1">
              <a:off x="4931" y="3098"/>
              <a:ext cx="39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39" name="Rectangle 47"/>
            <p:cNvSpPr>
              <a:spLocks noChangeArrowheads="1"/>
            </p:cNvSpPr>
            <p:nvPr/>
          </p:nvSpPr>
          <p:spPr bwMode="auto">
            <a:xfrm>
              <a:off x="600" y="3024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500">
                  <a:solidFill>
                    <a:srgbClr val="000000"/>
                  </a:solidFill>
                  <a:latin typeface="Helvetica" panose="020B0604020202020204" pitchFamily="34" charset="0"/>
                  <a:ea typeface="宋体" panose="02010600030101010101" pitchFamily="2" charset="-122"/>
                </a:rPr>
                <a:t>0</a:t>
              </a:r>
              <a:endPara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40" name="Line 48"/>
            <p:cNvSpPr>
              <a:spLocks noChangeShapeType="1"/>
            </p:cNvSpPr>
            <p:nvPr/>
          </p:nvSpPr>
          <p:spPr bwMode="auto">
            <a:xfrm>
              <a:off x="709" y="2635"/>
              <a:ext cx="39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41" name="Line 49"/>
            <p:cNvSpPr>
              <a:spLocks noChangeShapeType="1"/>
            </p:cNvSpPr>
            <p:nvPr/>
          </p:nvSpPr>
          <p:spPr bwMode="auto">
            <a:xfrm flipH="1">
              <a:off x="4931" y="2635"/>
              <a:ext cx="39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42" name="Rectangle 50"/>
            <p:cNvSpPr>
              <a:spLocks noChangeArrowheads="1"/>
            </p:cNvSpPr>
            <p:nvPr/>
          </p:nvSpPr>
          <p:spPr bwMode="auto">
            <a:xfrm>
              <a:off x="600" y="2561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500">
                  <a:solidFill>
                    <a:srgbClr val="000000"/>
                  </a:solidFill>
                  <a:latin typeface="Helvetica" panose="020B0604020202020204" pitchFamily="34" charset="0"/>
                  <a:ea typeface="宋体" panose="02010600030101010101" pitchFamily="2" charset="-122"/>
                </a:rPr>
                <a:t>2</a:t>
              </a:r>
              <a:endPara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43" name="Line 51"/>
            <p:cNvSpPr>
              <a:spLocks noChangeShapeType="1"/>
            </p:cNvSpPr>
            <p:nvPr/>
          </p:nvSpPr>
          <p:spPr bwMode="auto">
            <a:xfrm>
              <a:off x="709" y="2172"/>
              <a:ext cx="39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44" name="Line 52"/>
            <p:cNvSpPr>
              <a:spLocks noChangeShapeType="1"/>
            </p:cNvSpPr>
            <p:nvPr/>
          </p:nvSpPr>
          <p:spPr bwMode="auto">
            <a:xfrm flipH="1">
              <a:off x="4931" y="2172"/>
              <a:ext cx="39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45" name="Rectangle 53"/>
            <p:cNvSpPr>
              <a:spLocks noChangeArrowheads="1"/>
            </p:cNvSpPr>
            <p:nvPr/>
          </p:nvSpPr>
          <p:spPr bwMode="auto">
            <a:xfrm>
              <a:off x="600" y="2098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500">
                  <a:solidFill>
                    <a:srgbClr val="000000"/>
                  </a:solidFill>
                  <a:latin typeface="Helvetica" panose="020B0604020202020204" pitchFamily="34" charset="0"/>
                  <a:ea typeface="宋体" panose="02010600030101010101" pitchFamily="2" charset="-122"/>
                </a:rPr>
                <a:t>4</a:t>
              </a:r>
              <a:endPara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46" name="Line 54"/>
            <p:cNvSpPr>
              <a:spLocks noChangeShapeType="1"/>
            </p:cNvSpPr>
            <p:nvPr/>
          </p:nvSpPr>
          <p:spPr bwMode="auto">
            <a:xfrm>
              <a:off x="709" y="1709"/>
              <a:ext cx="39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47" name="Line 55"/>
            <p:cNvSpPr>
              <a:spLocks noChangeShapeType="1"/>
            </p:cNvSpPr>
            <p:nvPr/>
          </p:nvSpPr>
          <p:spPr bwMode="auto">
            <a:xfrm flipH="1">
              <a:off x="4931" y="1709"/>
              <a:ext cx="39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48" name="Rectangle 56"/>
            <p:cNvSpPr>
              <a:spLocks noChangeArrowheads="1"/>
            </p:cNvSpPr>
            <p:nvPr/>
          </p:nvSpPr>
          <p:spPr bwMode="auto">
            <a:xfrm>
              <a:off x="600" y="1634"/>
              <a:ext cx="6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500">
                  <a:solidFill>
                    <a:srgbClr val="000000"/>
                  </a:solidFill>
                  <a:latin typeface="Helvetica" panose="020B0604020202020204" pitchFamily="34" charset="0"/>
                  <a:ea typeface="宋体" panose="02010600030101010101" pitchFamily="2" charset="-122"/>
                </a:rPr>
                <a:t>6</a:t>
              </a:r>
              <a:endPara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49" name="Line 57"/>
            <p:cNvSpPr>
              <a:spLocks noChangeShapeType="1"/>
            </p:cNvSpPr>
            <p:nvPr/>
          </p:nvSpPr>
          <p:spPr bwMode="auto">
            <a:xfrm>
              <a:off x="709" y="1237"/>
              <a:ext cx="39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50" name="Line 58"/>
            <p:cNvSpPr>
              <a:spLocks noChangeShapeType="1"/>
            </p:cNvSpPr>
            <p:nvPr/>
          </p:nvSpPr>
          <p:spPr bwMode="auto">
            <a:xfrm flipH="1">
              <a:off x="4931" y="1237"/>
              <a:ext cx="39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51" name="Rectangle 59"/>
            <p:cNvSpPr>
              <a:spLocks noChangeArrowheads="1"/>
            </p:cNvSpPr>
            <p:nvPr/>
          </p:nvSpPr>
          <p:spPr bwMode="auto">
            <a:xfrm>
              <a:off x="600" y="1164"/>
              <a:ext cx="62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500">
                  <a:solidFill>
                    <a:srgbClr val="000000"/>
                  </a:solidFill>
                  <a:latin typeface="Helvetica" panose="020B0604020202020204" pitchFamily="34" charset="0"/>
                  <a:ea typeface="宋体" panose="02010600030101010101" pitchFamily="2" charset="-122"/>
                </a:rPr>
                <a:t>8</a:t>
              </a:r>
              <a:endPara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52" name="Line 60"/>
            <p:cNvSpPr>
              <a:spLocks noChangeShapeType="1"/>
            </p:cNvSpPr>
            <p:nvPr/>
          </p:nvSpPr>
          <p:spPr bwMode="auto">
            <a:xfrm>
              <a:off x="709" y="774"/>
              <a:ext cx="39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53" name="Line 61"/>
            <p:cNvSpPr>
              <a:spLocks noChangeShapeType="1"/>
            </p:cNvSpPr>
            <p:nvPr/>
          </p:nvSpPr>
          <p:spPr bwMode="auto">
            <a:xfrm flipH="1">
              <a:off x="4931" y="774"/>
              <a:ext cx="39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54" name="Rectangle 62"/>
            <p:cNvSpPr>
              <a:spLocks noChangeArrowheads="1"/>
            </p:cNvSpPr>
            <p:nvPr/>
          </p:nvSpPr>
          <p:spPr bwMode="auto">
            <a:xfrm>
              <a:off x="531" y="701"/>
              <a:ext cx="125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500">
                  <a:solidFill>
                    <a:srgbClr val="000000"/>
                  </a:solidFill>
                  <a:latin typeface="Helvetica" panose="020B0604020202020204" pitchFamily="34" charset="0"/>
                  <a:ea typeface="宋体" panose="02010600030101010101" pitchFamily="2" charset="-122"/>
                </a:rPr>
                <a:t>10</a:t>
              </a:r>
              <a:endPara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55" name="Line 63"/>
            <p:cNvSpPr>
              <a:spLocks noChangeShapeType="1"/>
            </p:cNvSpPr>
            <p:nvPr/>
          </p:nvSpPr>
          <p:spPr bwMode="auto">
            <a:xfrm>
              <a:off x="709" y="311"/>
              <a:ext cx="39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56" name="Line 64"/>
            <p:cNvSpPr>
              <a:spLocks noChangeShapeType="1"/>
            </p:cNvSpPr>
            <p:nvPr/>
          </p:nvSpPr>
          <p:spPr bwMode="auto">
            <a:xfrm flipH="1">
              <a:off x="4931" y="311"/>
              <a:ext cx="39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57" name="Rectangle 65"/>
            <p:cNvSpPr>
              <a:spLocks noChangeArrowheads="1"/>
            </p:cNvSpPr>
            <p:nvPr/>
          </p:nvSpPr>
          <p:spPr bwMode="auto">
            <a:xfrm>
              <a:off x="531" y="237"/>
              <a:ext cx="125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500">
                  <a:solidFill>
                    <a:srgbClr val="000000"/>
                  </a:solidFill>
                  <a:latin typeface="Helvetica" panose="020B0604020202020204" pitchFamily="34" charset="0"/>
                  <a:ea typeface="宋体" panose="02010600030101010101" pitchFamily="2" charset="-122"/>
                </a:rPr>
                <a:t>12</a:t>
              </a:r>
              <a:endPara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58" name="Line 66"/>
            <p:cNvSpPr>
              <a:spLocks noChangeShapeType="1"/>
            </p:cNvSpPr>
            <p:nvPr/>
          </p:nvSpPr>
          <p:spPr bwMode="auto">
            <a:xfrm>
              <a:off x="709" y="3098"/>
              <a:ext cx="4261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59" name="Line 67"/>
            <p:cNvSpPr>
              <a:spLocks noChangeShapeType="1"/>
            </p:cNvSpPr>
            <p:nvPr/>
          </p:nvSpPr>
          <p:spPr bwMode="auto">
            <a:xfrm>
              <a:off x="709" y="311"/>
              <a:ext cx="4261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60" name="Line 68"/>
            <p:cNvSpPr>
              <a:spLocks noChangeShapeType="1"/>
            </p:cNvSpPr>
            <p:nvPr/>
          </p:nvSpPr>
          <p:spPr bwMode="auto">
            <a:xfrm flipV="1">
              <a:off x="709" y="311"/>
              <a:ext cx="1" cy="278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61" name="Line 69"/>
            <p:cNvSpPr>
              <a:spLocks noChangeShapeType="1"/>
            </p:cNvSpPr>
            <p:nvPr/>
          </p:nvSpPr>
          <p:spPr bwMode="auto">
            <a:xfrm flipV="1">
              <a:off x="4970" y="311"/>
              <a:ext cx="1" cy="278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62" name="Freeform 70"/>
            <p:cNvSpPr>
              <a:spLocks/>
            </p:cNvSpPr>
            <p:nvPr/>
          </p:nvSpPr>
          <p:spPr bwMode="auto">
            <a:xfrm>
              <a:off x="709" y="774"/>
              <a:ext cx="4261" cy="2204"/>
            </a:xfrm>
            <a:custGeom>
              <a:avLst/>
              <a:gdLst>
                <a:gd name="T0" fmla="*/ 59 w 4261"/>
                <a:gd name="T1" fmla="*/ 528 h 2204"/>
                <a:gd name="T2" fmla="*/ 128 w 4261"/>
                <a:gd name="T3" fmla="*/ 1167 h 2204"/>
                <a:gd name="T4" fmla="*/ 187 w 4261"/>
                <a:gd name="T5" fmla="*/ 1509 h 2204"/>
                <a:gd name="T6" fmla="*/ 255 w 4261"/>
                <a:gd name="T7" fmla="*/ 1704 h 2204"/>
                <a:gd name="T8" fmla="*/ 324 w 4261"/>
                <a:gd name="T9" fmla="*/ 1824 h 2204"/>
                <a:gd name="T10" fmla="*/ 393 w 4261"/>
                <a:gd name="T11" fmla="*/ 1898 h 2204"/>
                <a:gd name="T12" fmla="*/ 462 w 4261"/>
                <a:gd name="T13" fmla="*/ 1963 h 2204"/>
                <a:gd name="T14" fmla="*/ 541 w 4261"/>
                <a:gd name="T15" fmla="*/ 2009 h 2204"/>
                <a:gd name="T16" fmla="*/ 620 w 4261"/>
                <a:gd name="T17" fmla="*/ 2046 h 2204"/>
                <a:gd name="T18" fmla="*/ 698 w 4261"/>
                <a:gd name="T19" fmla="*/ 2074 h 2204"/>
                <a:gd name="T20" fmla="*/ 777 w 4261"/>
                <a:gd name="T21" fmla="*/ 2102 h 2204"/>
                <a:gd name="T22" fmla="*/ 856 w 4261"/>
                <a:gd name="T23" fmla="*/ 2120 h 2204"/>
                <a:gd name="T24" fmla="*/ 935 w 4261"/>
                <a:gd name="T25" fmla="*/ 2129 h 2204"/>
                <a:gd name="T26" fmla="*/ 1013 w 4261"/>
                <a:gd name="T27" fmla="*/ 2148 h 2204"/>
                <a:gd name="T28" fmla="*/ 1092 w 4261"/>
                <a:gd name="T29" fmla="*/ 2157 h 2204"/>
                <a:gd name="T30" fmla="*/ 1171 w 4261"/>
                <a:gd name="T31" fmla="*/ 2167 h 2204"/>
                <a:gd name="T32" fmla="*/ 1250 w 4261"/>
                <a:gd name="T33" fmla="*/ 2167 h 2204"/>
                <a:gd name="T34" fmla="*/ 1328 w 4261"/>
                <a:gd name="T35" fmla="*/ 2176 h 2204"/>
                <a:gd name="T36" fmla="*/ 1407 w 4261"/>
                <a:gd name="T37" fmla="*/ 2185 h 2204"/>
                <a:gd name="T38" fmla="*/ 1486 w 4261"/>
                <a:gd name="T39" fmla="*/ 2185 h 2204"/>
                <a:gd name="T40" fmla="*/ 1564 w 4261"/>
                <a:gd name="T41" fmla="*/ 2194 h 2204"/>
                <a:gd name="T42" fmla="*/ 1643 w 4261"/>
                <a:gd name="T43" fmla="*/ 2194 h 2204"/>
                <a:gd name="T44" fmla="*/ 1722 w 4261"/>
                <a:gd name="T45" fmla="*/ 2194 h 2204"/>
                <a:gd name="T46" fmla="*/ 1801 w 4261"/>
                <a:gd name="T47" fmla="*/ 2194 h 2204"/>
                <a:gd name="T48" fmla="*/ 1879 w 4261"/>
                <a:gd name="T49" fmla="*/ 2204 h 2204"/>
                <a:gd name="T50" fmla="*/ 1958 w 4261"/>
                <a:gd name="T51" fmla="*/ 2204 h 2204"/>
                <a:gd name="T52" fmla="*/ 2037 w 4261"/>
                <a:gd name="T53" fmla="*/ 2204 h 2204"/>
                <a:gd name="T54" fmla="*/ 2116 w 4261"/>
                <a:gd name="T55" fmla="*/ 2204 h 2204"/>
                <a:gd name="T56" fmla="*/ 2194 w 4261"/>
                <a:gd name="T57" fmla="*/ 2204 h 2204"/>
                <a:gd name="T58" fmla="*/ 2273 w 4261"/>
                <a:gd name="T59" fmla="*/ 2204 h 2204"/>
                <a:gd name="T60" fmla="*/ 2352 w 4261"/>
                <a:gd name="T61" fmla="*/ 2204 h 2204"/>
                <a:gd name="T62" fmla="*/ 2431 w 4261"/>
                <a:gd name="T63" fmla="*/ 2194 h 2204"/>
                <a:gd name="T64" fmla="*/ 2509 w 4261"/>
                <a:gd name="T65" fmla="*/ 2194 h 2204"/>
                <a:gd name="T66" fmla="*/ 2588 w 4261"/>
                <a:gd name="T67" fmla="*/ 2194 h 2204"/>
                <a:gd name="T68" fmla="*/ 2667 w 4261"/>
                <a:gd name="T69" fmla="*/ 2194 h 2204"/>
                <a:gd name="T70" fmla="*/ 2745 w 4261"/>
                <a:gd name="T71" fmla="*/ 2185 h 2204"/>
                <a:gd name="T72" fmla="*/ 2824 w 4261"/>
                <a:gd name="T73" fmla="*/ 2185 h 2204"/>
                <a:gd name="T74" fmla="*/ 2903 w 4261"/>
                <a:gd name="T75" fmla="*/ 2176 h 2204"/>
                <a:gd name="T76" fmla="*/ 2982 w 4261"/>
                <a:gd name="T77" fmla="*/ 2176 h 2204"/>
                <a:gd name="T78" fmla="*/ 3060 w 4261"/>
                <a:gd name="T79" fmla="*/ 2167 h 2204"/>
                <a:gd name="T80" fmla="*/ 3139 w 4261"/>
                <a:gd name="T81" fmla="*/ 2157 h 2204"/>
                <a:gd name="T82" fmla="*/ 3218 w 4261"/>
                <a:gd name="T83" fmla="*/ 2148 h 2204"/>
                <a:gd name="T84" fmla="*/ 3297 w 4261"/>
                <a:gd name="T85" fmla="*/ 2139 h 2204"/>
                <a:gd name="T86" fmla="*/ 3375 w 4261"/>
                <a:gd name="T87" fmla="*/ 2120 h 2204"/>
                <a:gd name="T88" fmla="*/ 3454 w 4261"/>
                <a:gd name="T89" fmla="*/ 2111 h 2204"/>
                <a:gd name="T90" fmla="*/ 3533 w 4261"/>
                <a:gd name="T91" fmla="*/ 2083 h 2204"/>
                <a:gd name="T92" fmla="*/ 3612 w 4261"/>
                <a:gd name="T93" fmla="*/ 2065 h 2204"/>
                <a:gd name="T94" fmla="*/ 3690 w 4261"/>
                <a:gd name="T95" fmla="*/ 2028 h 2204"/>
                <a:gd name="T96" fmla="*/ 3769 w 4261"/>
                <a:gd name="T97" fmla="*/ 1981 h 2204"/>
                <a:gd name="T98" fmla="*/ 3848 w 4261"/>
                <a:gd name="T99" fmla="*/ 1926 h 2204"/>
                <a:gd name="T100" fmla="*/ 3907 w 4261"/>
                <a:gd name="T101" fmla="*/ 1852 h 2204"/>
                <a:gd name="T102" fmla="*/ 3976 w 4261"/>
                <a:gd name="T103" fmla="*/ 1750 h 2204"/>
                <a:gd name="T104" fmla="*/ 4045 w 4261"/>
                <a:gd name="T105" fmla="*/ 1592 h 2204"/>
                <a:gd name="T106" fmla="*/ 4113 w 4261"/>
                <a:gd name="T107" fmla="*/ 1324 h 2204"/>
                <a:gd name="T108" fmla="*/ 4182 w 4261"/>
                <a:gd name="T109" fmla="*/ 815 h 2204"/>
                <a:gd name="T110" fmla="*/ 4241 w 4261"/>
                <a:gd name="T111" fmla="*/ 65 h 2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261" h="2204">
                  <a:moveTo>
                    <a:pt x="0" y="0"/>
                  </a:moveTo>
                  <a:lnTo>
                    <a:pt x="9" y="18"/>
                  </a:lnTo>
                  <a:lnTo>
                    <a:pt x="19" y="65"/>
                  </a:lnTo>
                  <a:lnTo>
                    <a:pt x="29" y="130"/>
                  </a:lnTo>
                  <a:lnTo>
                    <a:pt x="29" y="222"/>
                  </a:lnTo>
                  <a:lnTo>
                    <a:pt x="39" y="315"/>
                  </a:lnTo>
                  <a:lnTo>
                    <a:pt x="49" y="417"/>
                  </a:lnTo>
                  <a:lnTo>
                    <a:pt x="59" y="528"/>
                  </a:lnTo>
                  <a:lnTo>
                    <a:pt x="68" y="630"/>
                  </a:lnTo>
                  <a:lnTo>
                    <a:pt x="78" y="722"/>
                  </a:lnTo>
                  <a:lnTo>
                    <a:pt x="78" y="815"/>
                  </a:lnTo>
                  <a:lnTo>
                    <a:pt x="88" y="898"/>
                  </a:lnTo>
                  <a:lnTo>
                    <a:pt x="98" y="972"/>
                  </a:lnTo>
                  <a:lnTo>
                    <a:pt x="108" y="1046"/>
                  </a:lnTo>
                  <a:lnTo>
                    <a:pt x="118" y="1111"/>
                  </a:lnTo>
                  <a:lnTo>
                    <a:pt x="128" y="1167"/>
                  </a:lnTo>
                  <a:lnTo>
                    <a:pt x="137" y="1222"/>
                  </a:lnTo>
                  <a:lnTo>
                    <a:pt x="137" y="1278"/>
                  </a:lnTo>
                  <a:lnTo>
                    <a:pt x="147" y="1324"/>
                  </a:lnTo>
                  <a:lnTo>
                    <a:pt x="157" y="1370"/>
                  </a:lnTo>
                  <a:lnTo>
                    <a:pt x="167" y="1407"/>
                  </a:lnTo>
                  <a:lnTo>
                    <a:pt x="177" y="1444"/>
                  </a:lnTo>
                  <a:lnTo>
                    <a:pt x="187" y="1481"/>
                  </a:lnTo>
                  <a:lnTo>
                    <a:pt x="187" y="1509"/>
                  </a:lnTo>
                  <a:lnTo>
                    <a:pt x="196" y="1537"/>
                  </a:lnTo>
                  <a:lnTo>
                    <a:pt x="206" y="1565"/>
                  </a:lnTo>
                  <a:lnTo>
                    <a:pt x="216" y="1592"/>
                  </a:lnTo>
                  <a:lnTo>
                    <a:pt x="226" y="1620"/>
                  </a:lnTo>
                  <a:lnTo>
                    <a:pt x="236" y="1639"/>
                  </a:lnTo>
                  <a:lnTo>
                    <a:pt x="246" y="1667"/>
                  </a:lnTo>
                  <a:lnTo>
                    <a:pt x="246" y="1685"/>
                  </a:lnTo>
                  <a:lnTo>
                    <a:pt x="255" y="1704"/>
                  </a:lnTo>
                  <a:lnTo>
                    <a:pt x="265" y="1722"/>
                  </a:lnTo>
                  <a:lnTo>
                    <a:pt x="275" y="1741"/>
                  </a:lnTo>
                  <a:lnTo>
                    <a:pt x="285" y="1750"/>
                  </a:lnTo>
                  <a:lnTo>
                    <a:pt x="295" y="1768"/>
                  </a:lnTo>
                  <a:lnTo>
                    <a:pt x="305" y="1778"/>
                  </a:lnTo>
                  <a:lnTo>
                    <a:pt x="305" y="1796"/>
                  </a:lnTo>
                  <a:lnTo>
                    <a:pt x="315" y="1805"/>
                  </a:lnTo>
                  <a:lnTo>
                    <a:pt x="324" y="1824"/>
                  </a:lnTo>
                  <a:lnTo>
                    <a:pt x="334" y="1833"/>
                  </a:lnTo>
                  <a:lnTo>
                    <a:pt x="344" y="1842"/>
                  </a:lnTo>
                  <a:lnTo>
                    <a:pt x="354" y="1852"/>
                  </a:lnTo>
                  <a:lnTo>
                    <a:pt x="354" y="1861"/>
                  </a:lnTo>
                  <a:lnTo>
                    <a:pt x="364" y="1870"/>
                  </a:lnTo>
                  <a:lnTo>
                    <a:pt x="374" y="1879"/>
                  </a:lnTo>
                  <a:lnTo>
                    <a:pt x="383" y="1889"/>
                  </a:lnTo>
                  <a:lnTo>
                    <a:pt x="393" y="1898"/>
                  </a:lnTo>
                  <a:lnTo>
                    <a:pt x="403" y="1907"/>
                  </a:lnTo>
                  <a:lnTo>
                    <a:pt x="413" y="1917"/>
                  </a:lnTo>
                  <a:lnTo>
                    <a:pt x="413" y="1926"/>
                  </a:lnTo>
                  <a:lnTo>
                    <a:pt x="423" y="1935"/>
                  </a:lnTo>
                  <a:lnTo>
                    <a:pt x="433" y="1944"/>
                  </a:lnTo>
                  <a:lnTo>
                    <a:pt x="442" y="1944"/>
                  </a:lnTo>
                  <a:lnTo>
                    <a:pt x="452" y="1954"/>
                  </a:lnTo>
                  <a:lnTo>
                    <a:pt x="462" y="1963"/>
                  </a:lnTo>
                  <a:lnTo>
                    <a:pt x="472" y="1972"/>
                  </a:lnTo>
                  <a:lnTo>
                    <a:pt x="482" y="1981"/>
                  </a:lnTo>
                  <a:lnTo>
                    <a:pt x="492" y="1981"/>
                  </a:lnTo>
                  <a:lnTo>
                    <a:pt x="502" y="1991"/>
                  </a:lnTo>
                  <a:lnTo>
                    <a:pt x="511" y="1991"/>
                  </a:lnTo>
                  <a:lnTo>
                    <a:pt x="521" y="2000"/>
                  </a:lnTo>
                  <a:lnTo>
                    <a:pt x="531" y="2009"/>
                  </a:lnTo>
                  <a:lnTo>
                    <a:pt x="541" y="2009"/>
                  </a:lnTo>
                  <a:lnTo>
                    <a:pt x="551" y="2018"/>
                  </a:lnTo>
                  <a:lnTo>
                    <a:pt x="561" y="2018"/>
                  </a:lnTo>
                  <a:lnTo>
                    <a:pt x="570" y="2028"/>
                  </a:lnTo>
                  <a:lnTo>
                    <a:pt x="580" y="2037"/>
                  </a:lnTo>
                  <a:lnTo>
                    <a:pt x="590" y="2037"/>
                  </a:lnTo>
                  <a:lnTo>
                    <a:pt x="600" y="2037"/>
                  </a:lnTo>
                  <a:lnTo>
                    <a:pt x="610" y="2046"/>
                  </a:lnTo>
                  <a:lnTo>
                    <a:pt x="620" y="2046"/>
                  </a:lnTo>
                  <a:lnTo>
                    <a:pt x="629" y="2055"/>
                  </a:lnTo>
                  <a:lnTo>
                    <a:pt x="639" y="2055"/>
                  </a:lnTo>
                  <a:lnTo>
                    <a:pt x="649" y="2065"/>
                  </a:lnTo>
                  <a:lnTo>
                    <a:pt x="659" y="2065"/>
                  </a:lnTo>
                  <a:lnTo>
                    <a:pt x="669" y="2065"/>
                  </a:lnTo>
                  <a:lnTo>
                    <a:pt x="679" y="2074"/>
                  </a:lnTo>
                  <a:lnTo>
                    <a:pt x="689" y="2074"/>
                  </a:lnTo>
                  <a:lnTo>
                    <a:pt x="698" y="2074"/>
                  </a:lnTo>
                  <a:lnTo>
                    <a:pt x="708" y="2083"/>
                  </a:lnTo>
                  <a:lnTo>
                    <a:pt x="718" y="2083"/>
                  </a:lnTo>
                  <a:lnTo>
                    <a:pt x="728" y="2083"/>
                  </a:lnTo>
                  <a:lnTo>
                    <a:pt x="738" y="2092"/>
                  </a:lnTo>
                  <a:lnTo>
                    <a:pt x="748" y="2092"/>
                  </a:lnTo>
                  <a:lnTo>
                    <a:pt x="757" y="2092"/>
                  </a:lnTo>
                  <a:lnTo>
                    <a:pt x="767" y="2092"/>
                  </a:lnTo>
                  <a:lnTo>
                    <a:pt x="777" y="2102"/>
                  </a:lnTo>
                  <a:lnTo>
                    <a:pt x="787" y="2102"/>
                  </a:lnTo>
                  <a:lnTo>
                    <a:pt x="797" y="2102"/>
                  </a:lnTo>
                  <a:lnTo>
                    <a:pt x="807" y="2111"/>
                  </a:lnTo>
                  <a:lnTo>
                    <a:pt x="816" y="2111"/>
                  </a:lnTo>
                  <a:lnTo>
                    <a:pt x="826" y="2111"/>
                  </a:lnTo>
                  <a:lnTo>
                    <a:pt x="836" y="2111"/>
                  </a:lnTo>
                  <a:lnTo>
                    <a:pt x="846" y="2120"/>
                  </a:lnTo>
                  <a:lnTo>
                    <a:pt x="856" y="2120"/>
                  </a:lnTo>
                  <a:lnTo>
                    <a:pt x="866" y="2120"/>
                  </a:lnTo>
                  <a:lnTo>
                    <a:pt x="876" y="2120"/>
                  </a:lnTo>
                  <a:lnTo>
                    <a:pt x="885" y="2120"/>
                  </a:lnTo>
                  <a:lnTo>
                    <a:pt x="895" y="2120"/>
                  </a:lnTo>
                  <a:lnTo>
                    <a:pt x="905" y="2129"/>
                  </a:lnTo>
                  <a:lnTo>
                    <a:pt x="915" y="2129"/>
                  </a:lnTo>
                  <a:lnTo>
                    <a:pt x="925" y="2129"/>
                  </a:lnTo>
                  <a:lnTo>
                    <a:pt x="935" y="2129"/>
                  </a:lnTo>
                  <a:lnTo>
                    <a:pt x="944" y="2129"/>
                  </a:lnTo>
                  <a:lnTo>
                    <a:pt x="954" y="2139"/>
                  </a:lnTo>
                  <a:lnTo>
                    <a:pt x="964" y="2139"/>
                  </a:lnTo>
                  <a:lnTo>
                    <a:pt x="974" y="2139"/>
                  </a:lnTo>
                  <a:lnTo>
                    <a:pt x="984" y="2139"/>
                  </a:lnTo>
                  <a:lnTo>
                    <a:pt x="994" y="2139"/>
                  </a:lnTo>
                  <a:lnTo>
                    <a:pt x="1003" y="2139"/>
                  </a:lnTo>
                  <a:lnTo>
                    <a:pt x="1013" y="2148"/>
                  </a:lnTo>
                  <a:lnTo>
                    <a:pt x="1023" y="2148"/>
                  </a:lnTo>
                  <a:lnTo>
                    <a:pt x="1033" y="2148"/>
                  </a:lnTo>
                  <a:lnTo>
                    <a:pt x="1043" y="2148"/>
                  </a:lnTo>
                  <a:lnTo>
                    <a:pt x="1053" y="2148"/>
                  </a:lnTo>
                  <a:lnTo>
                    <a:pt x="1063" y="2148"/>
                  </a:lnTo>
                  <a:lnTo>
                    <a:pt x="1072" y="2148"/>
                  </a:lnTo>
                  <a:lnTo>
                    <a:pt x="1082" y="2157"/>
                  </a:lnTo>
                  <a:lnTo>
                    <a:pt x="1092" y="2157"/>
                  </a:lnTo>
                  <a:lnTo>
                    <a:pt x="1102" y="2157"/>
                  </a:lnTo>
                  <a:lnTo>
                    <a:pt x="1112" y="2157"/>
                  </a:lnTo>
                  <a:lnTo>
                    <a:pt x="1122" y="2157"/>
                  </a:lnTo>
                  <a:lnTo>
                    <a:pt x="1131" y="2157"/>
                  </a:lnTo>
                  <a:lnTo>
                    <a:pt x="1141" y="2157"/>
                  </a:lnTo>
                  <a:lnTo>
                    <a:pt x="1151" y="2157"/>
                  </a:lnTo>
                  <a:lnTo>
                    <a:pt x="1161" y="2167"/>
                  </a:lnTo>
                  <a:lnTo>
                    <a:pt x="1171" y="2167"/>
                  </a:lnTo>
                  <a:lnTo>
                    <a:pt x="1181" y="2167"/>
                  </a:lnTo>
                  <a:lnTo>
                    <a:pt x="1190" y="2167"/>
                  </a:lnTo>
                  <a:lnTo>
                    <a:pt x="1200" y="2167"/>
                  </a:lnTo>
                  <a:lnTo>
                    <a:pt x="1210" y="2167"/>
                  </a:lnTo>
                  <a:lnTo>
                    <a:pt x="1220" y="2167"/>
                  </a:lnTo>
                  <a:lnTo>
                    <a:pt x="1230" y="2167"/>
                  </a:lnTo>
                  <a:lnTo>
                    <a:pt x="1240" y="2167"/>
                  </a:lnTo>
                  <a:lnTo>
                    <a:pt x="1250" y="2167"/>
                  </a:lnTo>
                  <a:lnTo>
                    <a:pt x="1259" y="2176"/>
                  </a:lnTo>
                  <a:lnTo>
                    <a:pt x="1269" y="2176"/>
                  </a:lnTo>
                  <a:lnTo>
                    <a:pt x="1279" y="2176"/>
                  </a:lnTo>
                  <a:lnTo>
                    <a:pt x="1289" y="2176"/>
                  </a:lnTo>
                  <a:lnTo>
                    <a:pt x="1299" y="2176"/>
                  </a:lnTo>
                  <a:lnTo>
                    <a:pt x="1309" y="2176"/>
                  </a:lnTo>
                  <a:lnTo>
                    <a:pt x="1318" y="2176"/>
                  </a:lnTo>
                  <a:lnTo>
                    <a:pt x="1328" y="2176"/>
                  </a:lnTo>
                  <a:lnTo>
                    <a:pt x="1338" y="2176"/>
                  </a:lnTo>
                  <a:lnTo>
                    <a:pt x="1348" y="2176"/>
                  </a:lnTo>
                  <a:lnTo>
                    <a:pt x="1358" y="2176"/>
                  </a:lnTo>
                  <a:lnTo>
                    <a:pt x="1368" y="2176"/>
                  </a:lnTo>
                  <a:lnTo>
                    <a:pt x="1377" y="2176"/>
                  </a:lnTo>
                  <a:lnTo>
                    <a:pt x="1387" y="2185"/>
                  </a:lnTo>
                  <a:lnTo>
                    <a:pt x="1397" y="2185"/>
                  </a:lnTo>
                  <a:lnTo>
                    <a:pt x="1407" y="2185"/>
                  </a:lnTo>
                  <a:lnTo>
                    <a:pt x="1417" y="2185"/>
                  </a:lnTo>
                  <a:lnTo>
                    <a:pt x="1427" y="2185"/>
                  </a:lnTo>
                  <a:lnTo>
                    <a:pt x="1436" y="2185"/>
                  </a:lnTo>
                  <a:lnTo>
                    <a:pt x="1446" y="2185"/>
                  </a:lnTo>
                  <a:lnTo>
                    <a:pt x="1456" y="2185"/>
                  </a:lnTo>
                  <a:lnTo>
                    <a:pt x="1466" y="2185"/>
                  </a:lnTo>
                  <a:lnTo>
                    <a:pt x="1476" y="2185"/>
                  </a:lnTo>
                  <a:lnTo>
                    <a:pt x="1486" y="2185"/>
                  </a:lnTo>
                  <a:lnTo>
                    <a:pt x="1496" y="2185"/>
                  </a:lnTo>
                  <a:lnTo>
                    <a:pt x="1505" y="2185"/>
                  </a:lnTo>
                  <a:lnTo>
                    <a:pt x="1515" y="2185"/>
                  </a:lnTo>
                  <a:lnTo>
                    <a:pt x="1525" y="2185"/>
                  </a:lnTo>
                  <a:lnTo>
                    <a:pt x="1535" y="2185"/>
                  </a:lnTo>
                  <a:lnTo>
                    <a:pt x="1545" y="2185"/>
                  </a:lnTo>
                  <a:lnTo>
                    <a:pt x="1555" y="2194"/>
                  </a:lnTo>
                  <a:lnTo>
                    <a:pt x="1564" y="2194"/>
                  </a:lnTo>
                  <a:lnTo>
                    <a:pt x="1574" y="2194"/>
                  </a:lnTo>
                  <a:lnTo>
                    <a:pt x="1584" y="2194"/>
                  </a:lnTo>
                  <a:lnTo>
                    <a:pt x="1594" y="2194"/>
                  </a:lnTo>
                  <a:lnTo>
                    <a:pt x="1604" y="2194"/>
                  </a:lnTo>
                  <a:lnTo>
                    <a:pt x="1614" y="2194"/>
                  </a:lnTo>
                  <a:lnTo>
                    <a:pt x="1623" y="2194"/>
                  </a:lnTo>
                  <a:lnTo>
                    <a:pt x="1633" y="2194"/>
                  </a:lnTo>
                  <a:lnTo>
                    <a:pt x="1643" y="2194"/>
                  </a:lnTo>
                  <a:lnTo>
                    <a:pt x="1653" y="2194"/>
                  </a:lnTo>
                  <a:lnTo>
                    <a:pt x="1663" y="2194"/>
                  </a:lnTo>
                  <a:lnTo>
                    <a:pt x="1673" y="2194"/>
                  </a:lnTo>
                  <a:lnTo>
                    <a:pt x="1683" y="2194"/>
                  </a:lnTo>
                  <a:lnTo>
                    <a:pt x="1692" y="2194"/>
                  </a:lnTo>
                  <a:lnTo>
                    <a:pt x="1702" y="2194"/>
                  </a:lnTo>
                  <a:lnTo>
                    <a:pt x="1712" y="2194"/>
                  </a:lnTo>
                  <a:lnTo>
                    <a:pt x="1722" y="2194"/>
                  </a:lnTo>
                  <a:lnTo>
                    <a:pt x="1732" y="2194"/>
                  </a:lnTo>
                  <a:lnTo>
                    <a:pt x="1742" y="2194"/>
                  </a:lnTo>
                  <a:lnTo>
                    <a:pt x="1751" y="2194"/>
                  </a:lnTo>
                  <a:lnTo>
                    <a:pt x="1761" y="2194"/>
                  </a:lnTo>
                  <a:lnTo>
                    <a:pt x="1771" y="2194"/>
                  </a:lnTo>
                  <a:lnTo>
                    <a:pt x="1781" y="2194"/>
                  </a:lnTo>
                  <a:lnTo>
                    <a:pt x="1791" y="2194"/>
                  </a:lnTo>
                  <a:lnTo>
                    <a:pt x="1801" y="2194"/>
                  </a:lnTo>
                  <a:lnTo>
                    <a:pt x="1810" y="2194"/>
                  </a:lnTo>
                  <a:lnTo>
                    <a:pt x="1820" y="2194"/>
                  </a:lnTo>
                  <a:lnTo>
                    <a:pt x="1830" y="2194"/>
                  </a:lnTo>
                  <a:lnTo>
                    <a:pt x="1840" y="2194"/>
                  </a:lnTo>
                  <a:lnTo>
                    <a:pt x="1850" y="2204"/>
                  </a:lnTo>
                  <a:lnTo>
                    <a:pt x="1860" y="2204"/>
                  </a:lnTo>
                  <a:lnTo>
                    <a:pt x="1870" y="2204"/>
                  </a:lnTo>
                  <a:lnTo>
                    <a:pt x="1879" y="2204"/>
                  </a:lnTo>
                  <a:lnTo>
                    <a:pt x="1889" y="2204"/>
                  </a:lnTo>
                  <a:lnTo>
                    <a:pt x="1899" y="2204"/>
                  </a:lnTo>
                  <a:lnTo>
                    <a:pt x="1909" y="2204"/>
                  </a:lnTo>
                  <a:lnTo>
                    <a:pt x="1919" y="2204"/>
                  </a:lnTo>
                  <a:lnTo>
                    <a:pt x="1929" y="2204"/>
                  </a:lnTo>
                  <a:lnTo>
                    <a:pt x="1938" y="2204"/>
                  </a:lnTo>
                  <a:lnTo>
                    <a:pt x="1948" y="2204"/>
                  </a:lnTo>
                  <a:lnTo>
                    <a:pt x="1958" y="2204"/>
                  </a:lnTo>
                  <a:lnTo>
                    <a:pt x="1968" y="2204"/>
                  </a:lnTo>
                  <a:lnTo>
                    <a:pt x="1978" y="2204"/>
                  </a:lnTo>
                  <a:lnTo>
                    <a:pt x="1988" y="2204"/>
                  </a:lnTo>
                  <a:lnTo>
                    <a:pt x="1997" y="2204"/>
                  </a:lnTo>
                  <a:lnTo>
                    <a:pt x="2007" y="2204"/>
                  </a:lnTo>
                  <a:lnTo>
                    <a:pt x="2017" y="2204"/>
                  </a:lnTo>
                  <a:lnTo>
                    <a:pt x="2027" y="2204"/>
                  </a:lnTo>
                  <a:lnTo>
                    <a:pt x="2037" y="2204"/>
                  </a:lnTo>
                  <a:lnTo>
                    <a:pt x="2047" y="2204"/>
                  </a:lnTo>
                  <a:lnTo>
                    <a:pt x="2057" y="2204"/>
                  </a:lnTo>
                  <a:lnTo>
                    <a:pt x="2066" y="2204"/>
                  </a:lnTo>
                  <a:lnTo>
                    <a:pt x="2076" y="2204"/>
                  </a:lnTo>
                  <a:lnTo>
                    <a:pt x="2086" y="2204"/>
                  </a:lnTo>
                  <a:lnTo>
                    <a:pt x="2096" y="2204"/>
                  </a:lnTo>
                  <a:lnTo>
                    <a:pt x="2106" y="2204"/>
                  </a:lnTo>
                  <a:lnTo>
                    <a:pt x="2116" y="2204"/>
                  </a:lnTo>
                  <a:lnTo>
                    <a:pt x="2125" y="2204"/>
                  </a:lnTo>
                  <a:lnTo>
                    <a:pt x="2135" y="2204"/>
                  </a:lnTo>
                  <a:lnTo>
                    <a:pt x="2145" y="2204"/>
                  </a:lnTo>
                  <a:lnTo>
                    <a:pt x="2155" y="2204"/>
                  </a:lnTo>
                  <a:lnTo>
                    <a:pt x="2165" y="2204"/>
                  </a:lnTo>
                  <a:lnTo>
                    <a:pt x="2175" y="2204"/>
                  </a:lnTo>
                  <a:lnTo>
                    <a:pt x="2184" y="2204"/>
                  </a:lnTo>
                  <a:lnTo>
                    <a:pt x="2194" y="2204"/>
                  </a:lnTo>
                  <a:lnTo>
                    <a:pt x="2204" y="2204"/>
                  </a:lnTo>
                  <a:lnTo>
                    <a:pt x="2214" y="2204"/>
                  </a:lnTo>
                  <a:lnTo>
                    <a:pt x="2224" y="2204"/>
                  </a:lnTo>
                  <a:lnTo>
                    <a:pt x="2234" y="2204"/>
                  </a:lnTo>
                  <a:lnTo>
                    <a:pt x="2244" y="2204"/>
                  </a:lnTo>
                  <a:lnTo>
                    <a:pt x="2253" y="2204"/>
                  </a:lnTo>
                  <a:lnTo>
                    <a:pt x="2263" y="2204"/>
                  </a:lnTo>
                  <a:lnTo>
                    <a:pt x="2273" y="2204"/>
                  </a:lnTo>
                  <a:lnTo>
                    <a:pt x="2283" y="2204"/>
                  </a:lnTo>
                  <a:lnTo>
                    <a:pt x="2293" y="2204"/>
                  </a:lnTo>
                  <a:lnTo>
                    <a:pt x="2303" y="2204"/>
                  </a:lnTo>
                  <a:lnTo>
                    <a:pt x="2312" y="2204"/>
                  </a:lnTo>
                  <a:lnTo>
                    <a:pt x="2322" y="2204"/>
                  </a:lnTo>
                  <a:lnTo>
                    <a:pt x="2332" y="2204"/>
                  </a:lnTo>
                  <a:lnTo>
                    <a:pt x="2342" y="2204"/>
                  </a:lnTo>
                  <a:lnTo>
                    <a:pt x="2352" y="2204"/>
                  </a:lnTo>
                  <a:lnTo>
                    <a:pt x="2362" y="2204"/>
                  </a:lnTo>
                  <a:lnTo>
                    <a:pt x="2371" y="2204"/>
                  </a:lnTo>
                  <a:lnTo>
                    <a:pt x="2381" y="2204"/>
                  </a:lnTo>
                  <a:lnTo>
                    <a:pt x="2391" y="2204"/>
                  </a:lnTo>
                  <a:lnTo>
                    <a:pt x="2401" y="2204"/>
                  </a:lnTo>
                  <a:lnTo>
                    <a:pt x="2411" y="2204"/>
                  </a:lnTo>
                  <a:lnTo>
                    <a:pt x="2421" y="2194"/>
                  </a:lnTo>
                  <a:lnTo>
                    <a:pt x="2431" y="2194"/>
                  </a:lnTo>
                  <a:lnTo>
                    <a:pt x="2440" y="2194"/>
                  </a:lnTo>
                  <a:lnTo>
                    <a:pt x="2450" y="2194"/>
                  </a:lnTo>
                  <a:lnTo>
                    <a:pt x="2460" y="2194"/>
                  </a:lnTo>
                  <a:lnTo>
                    <a:pt x="2470" y="2194"/>
                  </a:lnTo>
                  <a:lnTo>
                    <a:pt x="2480" y="2194"/>
                  </a:lnTo>
                  <a:lnTo>
                    <a:pt x="2490" y="2194"/>
                  </a:lnTo>
                  <a:lnTo>
                    <a:pt x="2499" y="2194"/>
                  </a:lnTo>
                  <a:lnTo>
                    <a:pt x="2509" y="2194"/>
                  </a:lnTo>
                  <a:lnTo>
                    <a:pt x="2519" y="2194"/>
                  </a:lnTo>
                  <a:lnTo>
                    <a:pt x="2529" y="2194"/>
                  </a:lnTo>
                  <a:lnTo>
                    <a:pt x="2539" y="2194"/>
                  </a:lnTo>
                  <a:lnTo>
                    <a:pt x="2549" y="2194"/>
                  </a:lnTo>
                  <a:lnTo>
                    <a:pt x="2558" y="2194"/>
                  </a:lnTo>
                  <a:lnTo>
                    <a:pt x="2568" y="2194"/>
                  </a:lnTo>
                  <a:lnTo>
                    <a:pt x="2578" y="2194"/>
                  </a:lnTo>
                  <a:lnTo>
                    <a:pt x="2588" y="2194"/>
                  </a:lnTo>
                  <a:lnTo>
                    <a:pt x="2598" y="2194"/>
                  </a:lnTo>
                  <a:lnTo>
                    <a:pt x="2608" y="2194"/>
                  </a:lnTo>
                  <a:lnTo>
                    <a:pt x="2618" y="2194"/>
                  </a:lnTo>
                  <a:lnTo>
                    <a:pt x="2627" y="2194"/>
                  </a:lnTo>
                  <a:lnTo>
                    <a:pt x="2637" y="2194"/>
                  </a:lnTo>
                  <a:lnTo>
                    <a:pt x="2647" y="2194"/>
                  </a:lnTo>
                  <a:lnTo>
                    <a:pt x="2657" y="2194"/>
                  </a:lnTo>
                  <a:lnTo>
                    <a:pt x="2667" y="2194"/>
                  </a:lnTo>
                  <a:lnTo>
                    <a:pt x="2677" y="2194"/>
                  </a:lnTo>
                  <a:lnTo>
                    <a:pt x="2686" y="2194"/>
                  </a:lnTo>
                  <a:lnTo>
                    <a:pt x="2696" y="2194"/>
                  </a:lnTo>
                  <a:lnTo>
                    <a:pt x="2706" y="2185"/>
                  </a:lnTo>
                  <a:lnTo>
                    <a:pt x="2716" y="2185"/>
                  </a:lnTo>
                  <a:lnTo>
                    <a:pt x="2726" y="2185"/>
                  </a:lnTo>
                  <a:lnTo>
                    <a:pt x="2736" y="2185"/>
                  </a:lnTo>
                  <a:lnTo>
                    <a:pt x="2745" y="2185"/>
                  </a:lnTo>
                  <a:lnTo>
                    <a:pt x="2755" y="2185"/>
                  </a:lnTo>
                  <a:lnTo>
                    <a:pt x="2765" y="2185"/>
                  </a:lnTo>
                  <a:lnTo>
                    <a:pt x="2775" y="2185"/>
                  </a:lnTo>
                  <a:lnTo>
                    <a:pt x="2785" y="2185"/>
                  </a:lnTo>
                  <a:lnTo>
                    <a:pt x="2795" y="2185"/>
                  </a:lnTo>
                  <a:lnTo>
                    <a:pt x="2804" y="2185"/>
                  </a:lnTo>
                  <a:lnTo>
                    <a:pt x="2814" y="2185"/>
                  </a:lnTo>
                  <a:lnTo>
                    <a:pt x="2824" y="2185"/>
                  </a:lnTo>
                  <a:lnTo>
                    <a:pt x="2834" y="2185"/>
                  </a:lnTo>
                  <a:lnTo>
                    <a:pt x="2844" y="2185"/>
                  </a:lnTo>
                  <a:lnTo>
                    <a:pt x="2854" y="2185"/>
                  </a:lnTo>
                  <a:lnTo>
                    <a:pt x="2864" y="2185"/>
                  </a:lnTo>
                  <a:lnTo>
                    <a:pt x="2873" y="2185"/>
                  </a:lnTo>
                  <a:lnTo>
                    <a:pt x="2883" y="2176"/>
                  </a:lnTo>
                  <a:lnTo>
                    <a:pt x="2893" y="2176"/>
                  </a:lnTo>
                  <a:lnTo>
                    <a:pt x="2903" y="2176"/>
                  </a:lnTo>
                  <a:lnTo>
                    <a:pt x="2913" y="2176"/>
                  </a:lnTo>
                  <a:lnTo>
                    <a:pt x="2923" y="2176"/>
                  </a:lnTo>
                  <a:lnTo>
                    <a:pt x="2932" y="2176"/>
                  </a:lnTo>
                  <a:lnTo>
                    <a:pt x="2942" y="2176"/>
                  </a:lnTo>
                  <a:lnTo>
                    <a:pt x="2952" y="2176"/>
                  </a:lnTo>
                  <a:lnTo>
                    <a:pt x="2962" y="2176"/>
                  </a:lnTo>
                  <a:lnTo>
                    <a:pt x="2972" y="2176"/>
                  </a:lnTo>
                  <a:lnTo>
                    <a:pt x="2982" y="2176"/>
                  </a:lnTo>
                  <a:lnTo>
                    <a:pt x="2991" y="2176"/>
                  </a:lnTo>
                  <a:lnTo>
                    <a:pt x="3001" y="2176"/>
                  </a:lnTo>
                  <a:lnTo>
                    <a:pt x="3011" y="2167"/>
                  </a:lnTo>
                  <a:lnTo>
                    <a:pt x="3021" y="2167"/>
                  </a:lnTo>
                  <a:lnTo>
                    <a:pt x="3031" y="2167"/>
                  </a:lnTo>
                  <a:lnTo>
                    <a:pt x="3041" y="2167"/>
                  </a:lnTo>
                  <a:lnTo>
                    <a:pt x="3051" y="2167"/>
                  </a:lnTo>
                  <a:lnTo>
                    <a:pt x="3060" y="2167"/>
                  </a:lnTo>
                  <a:lnTo>
                    <a:pt x="3070" y="2167"/>
                  </a:lnTo>
                  <a:lnTo>
                    <a:pt x="3080" y="2167"/>
                  </a:lnTo>
                  <a:lnTo>
                    <a:pt x="3090" y="2167"/>
                  </a:lnTo>
                  <a:lnTo>
                    <a:pt x="3100" y="2167"/>
                  </a:lnTo>
                  <a:lnTo>
                    <a:pt x="3110" y="2157"/>
                  </a:lnTo>
                  <a:lnTo>
                    <a:pt x="3119" y="2157"/>
                  </a:lnTo>
                  <a:lnTo>
                    <a:pt x="3129" y="2157"/>
                  </a:lnTo>
                  <a:lnTo>
                    <a:pt x="3139" y="2157"/>
                  </a:lnTo>
                  <a:lnTo>
                    <a:pt x="3149" y="2157"/>
                  </a:lnTo>
                  <a:lnTo>
                    <a:pt x="3159" y="2157"/>
                  </a:lnTo>
                  <a:lnTo>
                    <a:pt x="3169" y="2157"/>
                  </a:lnTo>
                  <a:lnTo>
                    <a:pt x="3178" y="2157"/>
                  </a:lnTo>
                  <a:lnTo>
                    <a:pt x="3188" y="2148"/>
                  </a:lnTo>
                  <a:lnTo>
                    <a:pt x="3198" y="2148"/>
                  </a:lnTo>
                  <a:lnTo>
                    <a:pt x="3208" y="2148"/>
                  </a:lnTo>
                  <a:lnTo>
                    <a:pt x="3218" y="2148"/>
                  </a:lnTo>
                  <a:lnTo>
                    <a:pt x="3228" y="2148"/>
                  </a:lnTo>
                  <a:lnTo>
                    <a:pt x="3238" y="2148"/>
                  </a:lnTo>
                  <a:lnTo>
                    <a:pt x="3247" y="2148"/>
                  </a:lnTo>
                  <a:lnTo>
                    <a:pt x="3257" y="2139"/>
                  </a:lnTo>
                  <a:lnTo>
                    <a:pt x="3267" y="2139"/>
                  </a:lnTo>
                  <a:lnTo>
                    <a:pt x="3277" y="2139"/>
                  </a:lnTo>
                  <a:lnTo>
                    <a:pt x="3287" y="2139"/>
                  </a:lnTo>
                  <a:lnTo>
                    <a:pt x="3297" y="2139"/>
                  </a:lnTo>
                  <a:lnTo>
                    <a:pt x="3306" y="2139"/>
                  </a:lnTo>
                  <a:lnTo>
                    <a:pt x="3316" y="2129"/>
                  </a:lnTo>
                  <a:lnTo>
                    <a:pt x="3326" y="2129"/>
                  </a:lnTo>
                  <a:lnTo>
                    <a:pt x="3336" y="2129"/>
                  </a:lnTo>
                  <a:lnTo>
                    <a:pt x="3346" y="2129"/>
                  </a:lnTo>
                  <a:lnTo>
                    <a:pt x="3356" y="2129"/>
                  </a:lnTo>
                  <a:lnTo>
                    <a:pt x="3365" y="2120"/>
                  </a:lnTo>
                  <a:lnTo>
                    <a:pt x="3375" y="2120"/>
                  </a:lnTo>
                  <a:lnTo>
                    <a:pt x="3385" y="2120"/>
                  </a:lnTo>
                  <a:lnTo>
                    <a:pt x="3395" y="2120"/>
                  </a:lnTo>
                  <a:lnTo>
                    <a:pt x="3405" y="2120"/>
                  </a:lnTo>
                  <a:lnTo>
                    <a:pt x="3415" y="2111"/>
                  </a:lnTo>
                  <a:lnTo>
                    <a:pt x="3425" y="2111"/>
                  </a:lnTo>
                  <a:lnTo>
                    <a:pt x="3434" y="2111"/>
                  </a:lnTo>
                  <a:lnTo>
                    <a:pt x="3444" y="2111"/>
                  </a:lnTo>
                  <a:lnTo>
                    <a:pt x="3454" y="2111"/>
                  </a:lnTo>
                  <a:lnTo>
                    <a:pt x="3464" y="2102"/>
                  </a:lnTo>
                  <a:lnTo>
                    <a:pt x="3474" y="2102"/>
                  </a:lnTo>
                  <a:lnTo>
                    <a:pt x="3484" y="2102"/>
                  </a:lnTo>
                  <a:lnTo>
                    <a:pt x="3493" y="2092"/>
                  </a:lnTo>
                  <a:lnTo>
                    <a:pt x="3503" y="2092"/>
                  </a:lnTo>
                  <a:lnTo>
                    <a:pt x="3513" y="2092"/>
                  </a:lnTo>
                  <a:lnTo>
                    <a:pt x="3523" y="2083"/>
                  </a:lnTo>
                  <a:lnTo>
                    <a:pt x="3533" y="2083"/>
                  </a:lnTo>
                  <a:lnTo>
                    <a:pt x="3543" y="2083"/>
                  </a:lnTo>
                  <a:lnTo>
                    <a:pt x="3552" y="2083"/>
                  </a:lnTo>
                  <a:lnTo>
                    <a:pt x="3562" y="2074"/>
                  </a:lnTo>
                  <a:lnTo>
                    <a:pt x="3572" y="2074"/>
                  </a:lnTo>
                  <a:lnTo>
                    <a:pt x="3582" y="2065"/>
                  </a:lnTo>
                  <a:lnTo>
                    <a:pt x="3592" y="2065"/>
                  </a:lnTo>
                  <a:lnTo>
                    <a:pt x="3602" y="2065"/>
                  </a:lnTo>
                  <a:lnTo>
                    <a:pt x="3612" y="2065"/>
                  </a:lnTo>
                  <a:lnTo>
                    <a:pt x="3621" y="2055"/>
                  </a:lnTo>
                  <a:lnTo>
                    <a:pt x="3631" y="2046"/>
                  </a:lnTo>
                  <a:lnTo>
                    <a:pt x="3641" y="2046"/>
                  </a:lnTo>
                  <a:lnTo>
                    <a:pt x="3651" y="2046"/>
                  </a:lnTo>
                  <a:lnTo>
                    <a:pt x="3661" y="2037"/>
                  </a:lnTo>
                  <a:lnTo>
                    <a:pt x="3671" y="2037"/>
                  </a:lnTo>
                  <a:lnTo>
                    <a:pt x="3680" y="2037"/>
                  </a:lnTo>
                  <a:lnTo>
                    <a:pt x="3690" y="2028"/>
                  </a:lnTo>
                  <a:lnTo>
                    <a:pt x="3700" y="2018"/>
                  </a:lnTo>
                  <a:lnTo>
                    <a:pt x="3710" y="2018"/>
                  </a:lnTo>
                  <a:lnTo>
                    <a:pt x="3720" y="2009"/>
                  </a:lnTo>
                  <a:lnTo>
                    <a:pt x="3730" y="2009"/>
                  </a:lnTo>
                  <a:lnTo>
                    <a:pt x="3739" y="2000"/>
                  </a:lnTo>
                  <a:lnTo>
                    <a:pt x="3749" y="1991"/>
                  </a:lnTo>
                  <a:lnTo>
                    <a:pt x="3759" y="1991"/>
                  </a:lnTo>
                  <a:lnTo>
                    <a:pt x="3769" y="1981"/>
                  </a:lnTo>
                  <a:lnTo>
                    <a:pt x="3779" y="1981"/>
                  </a:lnTo>
                  <a:lnTo>
                    <a:pt x="3789" y="1972"/>
                  </a:lnTo>
                  <a:lnTo>
                    <a:pt x="3799" y="1963"/>
                  </a:lnTo>
                  <a:lnTo>
                    <a:pt x="3808" y="1954"/>
                  </a:lnTo>
                  <a:lnTo>
                    <a:pt x="3818" y="1944"/>
                  </a:lnTo>
                  <a:lnTo>
                    <a:pt x="3828" y="1944"/>
                  </a:lnTo>
                  <a:lnTo>
                    <a:pt x="3838" y="1935"/>
                  </a:lnTo>
                  <a:lnTo>
                    <a:pt x="3848" y="1926"/>
                  </a:lnTo>
                  <a:lnTo>
                    <a:pt x="3848" y="1917"/>
                  </a:lnTo>
                  <a:lnTo>
                    <a:pt x="3858" y="1907"/>
                  </a:lnTo>
                  <a:lnTo>
                    <a:pt x="3867" y="1898"/>
                  </a:lnTo>
                  <a:lnTo>
                    <a:pt x="3877" y="1889"/>
                  </a:lnTo>
                  <a:lnTo>
                    <a:pt x="3887" y="1879"/>
                  </a:lnTo>
                  <a:lnTo>
                    <a:pt x="3897" y="1870"/>
                  </a:lnTo>
                  <a:lnTo>
                    <a:pt x="3907" y="1861"/>
                  </a:lnTo>
                  <a:lnTo>
                    <a:pt x="3907" y="1852"/>
                  </a:lnTo>
                  <a:lnTo>
                    <a:pt x="3917" y="1842"/>
                  </a:lnTo>
                  <a:lnTo>
                    <a:pt x="3926" y="1833"/>
                  </a:lnTo>
                  <a:lnTo>
                    <a:pt x="3936" y="1824"/>
                  </a:lnTo>
                  <a:lnTo>
                    <a:pt x="3946" y="1805"/>
                  </a:lnTo>
                  <a:lnTo>
                    <a:pt x="3956" y="1796"/>
                  </a:lnTo>
                  <a:lnTo>
                    <a:pt x="3956" y="1778"/>
                  </a:lnTo>
                  <a:lnTo>
                    <a:pt x="3966" y="1768"/>
                  </a:lnTo>
                  <a:lnTo>
                    <a:pt x="3976" y="1750"/>
                  </a:lnTo>
                  <a:lnTo>
                    <a:pt x="3986" y="1741"/>
                  </a:lnTo>
                  <a:lnTo>
                    <a:pt x="3995" y="1722"/>
                  </a:lnTo>
                  <a:lnTo>
                    <a:pt x="4005" y="1704"/>
                  </a:lnTo>
                  <a:lnTo>
                    <a:pt x="4015" y="1685"/>
                  </a:lnTo>
                  <a:lnTo>
                    <a:pt x="4015" y="1667"/>
                  </a:lnTo>
                  <a:lnTo>
                    <a:pt x="4025" y="1639"/>
                  </a:lnTo>
                  <a:lnTo>
                    <a:pt x="4035" y="1620"/>
                  </a:lnTo>
                  <a:lnTo>
                    <a:pt x="4045" y="1592"/>
                  </a:lnTo>
                  <a:lnTo>
                    <a:pt x="4054" y="1565"/>
                  </a:lnTo>
                  <a:lnTo>
                    <a:pt x="4064" y="1537"/>
                  </a:lnTo>
                  <a:lnTo>
                    <a:pt x="4074" y="1509"/>
                  </a:lnTo>
                  <a:lnTo>
                    <a:pt x="4074" y="1481"/>
                  </a:lnTo>
                  <a:lnTo>
                    <a:pt x="4084" y="1444"/>
                  </a:lnTo>
                  <a:lnTo>
                    <a:pt x="4094" y="1407"/>
                  </a:lnTo>
                  <a:lnTo>
                    <a:pt x="4104" y="1370"/>
                  </a:lnTo>
                  <a:lnTo>
                    <a:pt x="4113" y="1324"/>
                  </a:lnTo>
                  <a:lnTo>
                    <a:pt x="4123" y="1278"/>
                  </a:lnTo>
                  <a:lnTo>
                    <a:pt x="4123" y="1222"/>
                  </a:lnTo>
                  <a:lnTo>
                    <a:pt x="4133" y="1167"/>
                  </a:lnTo>
                  <a:lnTo>
                    <a:pt x="4143" y="1111"/>
                  </a:lnTo>
                  <a:lnTo>
                    <a:pt x="4153" y="1046"/>
                  </a:lnTo>
                  <a:lnTo>
                    <a:pt x="4163" y="972"/>
                  </a:lnTo>
                  <a:lnTo>
                    <a:pt x="4172" y="898"/>
                  </a:lnTo>
                  <a:lnTo>
                    <a:pt x="4182" y="815"/>
                  </a:lnTo>
                  <a:lnTo>
                    <a:pt x="4182" y="722"/>
                  </a:lnTo>
                  <a:lnTo>
                    <a:pt x="4192" y="630"/>
                  </a:lnTo>
                  <a:lnTo>
                    <a:pt x="4202" y="528"/>
                  </a:lnTo>
                  <a:lnTo>
                    <a:pt x="4212" y="417"/>
                  </a:lnTo>
                  <a:lnTo>
                    <a:pt x="4222" y="315"/>
                  </a:lnTo>
                  <a:lnTo>
                    <a:pt x="4232" y="222"/>
                  </a:lnTo>
                  <a:lnTo>
                    <a:pt x="4232" y="130"/>
                  </a:lnTo>
                  <a:lnTo>
                    <a:pt x="4241" y="65"/>
                  </a:lnTo>
                  <a:lnTo>
                    <a:pt x="4251" y="18"/>
                  </a:lnTo>
                  <a:lnTo>
                    <a:pt x="4261" y="0"/>
                  </a:lnTo>
                </a:path>
              </a:pathLst>
            </a:custGeom>
            <a:noFill/>
            <a:ln w="28575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63" name="Freeform 71"/>
            <p:cNvSpPr>
              <a:spLocks/>
            </p:cNvSpPr>
            <p:nvPr/>
          </p:nvSpPr>
          <p:spPr bwMode="auto">
            <a:xfrm>
              <a:off x="709" y="783"/>
              <a:ext cx="4261" cy="2195"/>
            </a:xfrm>
            <a:custGeom>
              <a:avLst/>
              <a:gdLst>
                <a:gd name="T0" fmla="*/ 68 w 4261"/>
                <a:gd name="T1" fmla="*/ 2195 h 2195"/>
                <a:gd name="T2" fmla="*/ 147 w 4261"/>
                <a:gd name="T3" fmla="*/ 2195 h 2195"/>
                <a:gd name="T4" fmla="*/ 226 w 4261"/>
                <a:gd name="T5" fmla="*/ 2195 h 2195"/>
                <a:gd name="T6" fmla="*/ 305 w 4261"/>
                <a:gd name="T7" fmla="*/ 2185 h 2195"/>
                <a:gd name="T8" fmla="*/ 383 w 4261"/>
                <a:gd name="T9" fmla="*/ 2185 h 2195"/>
                <a:gd name="T10" fmla="*/ 462 w 4261"/>
                <a:gd name="T11" fmla="*/ 2185 h 2195"/>
                <a:gd name="T12" fmla="*/ 541 w 4261"/>
                <a:gd name="T13" fmla="*/ 2185 h 2195"/>
                <a:gd name="T14" fmla="*/ 620 w 4261"/>
                <a:gd name="T15" fmla="*/ 2176 h 2195"/>
                <a:gd name="T16" fmla="*/ 698 w 4261"/>
                <a:gd name="T17" fmla="*/ 2176 h 2195"/>
                <a:gd name="T18" fmla="*/ 777 w 4261"/>
                <a:gd name="T19" fmla="*/ 2167 h 2195"/>
                <a:gd name="T20" fmla="*/ 856 w 4261"/>
                <a:gd name="T21" fmla="*/ 2167 h 2195"/>
                <a:gd name="T22" fmla="*/ 935 w 4261"/>
                <a:gd name="T23" fmla="*/ 2158 h 2195"/>
                <a:gd name="T24" fmla="*/ 1013 w 4261"/>
                <a:gd name="T25" fmla="*/ 2148 h 2195"/>
                <a:gd name="T26" fmla="*/ 1092 w 4261"/>
                <a:gd name="T27" fmla="*/ 2139 h 2195"/>
                <a:gd name="T28" fmla="*/ 1171 w 4261"/>
                <a:gd name="T29" fmla="*/ 2130 h 2195"/>
                <a:gd name="T30" fmla="*/ 1250 w 4261"/>
                <a:gd name="T31" fmla="*/ 2111 h 2195"/>
                <a:gd name="T32" fmla="*/ 1328 w 4261"/>
                <a:gd name="T33" fmla="*/ 2093 h 2195"/>
                <a:gd name="T34" fmla="*/ 1407 w 4261"/>
                <a:gd name="T35" fmla="*/ 2074 h 2195"/>
                <a:gd name="T36" fmla="*/ 1486 w 4261"/>
                <a:gd name="T37" fmla="*/ 2046 h 2195"/>
                <a:gd name="T38" fmla="*/ 1564 w 4261"/>
                <a:gd name="T39" fmla="*/ 2009 h 2195"/>
                <a:gd name="T40" fmla="*/ 1643 w 4261"/>
                <a:gd name="T41" fmla="*/ 1972 h 2195"/>
                <a:gd name="T42" fmla="*/ 1722 w 4261"/>
                <a:gd name="T43" fmla="*/ 1908 h 2195"/>
                <a:gd name="T44" fmla="*/ 1791 w 4261"/>
                <a:gd name="T45" fmla="*/ 1833 h 2195"/>
                <a:gd name="T46" fmla="*/ 1860 w 4261"/>
                <a:gd name="T47" fmla="*/ 1722 h 2195"/>
                <a:gd name="T48" fmla="*/ 1929 w 4261"/>
                <a:gd name="T49" fmla="*/ 1546 h 2195"/>
                <a:gd name="T50" fmla="*/ 1997 w 4261"/>
                <a:gd name="T51" fmla="*/ 1241 h 2195"/>
                <a:gd name="T52" fmla="*/ 2057 w 4261"/>
                <a:gd name="T53" fmla="*/ 667 h 2195"/>
                <a:gd name="T54" fmla="*/ 2125 w 4261"/>
                <a:gd name="T55" fmla="*/ 0 h 2195"/>
                <a:gd name="T56" fmla="*/ 2194 w 4261"/>
                <a:gd name="T57" fmla="*/ 565 h 2195"/>
                <a:gd name="T58" fmla="*/ 2263 w 4261"/>
                <a:gd name="T59" fmla="*/ 1185 h 2195"/>
                <a:gd name="T60" fmla="*/ 2322 w 4261"/>
                <a:gd name="T61" fmla="*/ 1519 h 2195"/>
                <a:gd name="T62" fmla="*/ 2391 w 4261"/>
                <a:gd name="T63" fmla="*/ 1704 h 2195"/>
                <a:gd name="T64" fmla="*/ 2460 w 4261"/>
                <a:gd name="T65" fmla="*/ 1815 h 2195"/>
                <a:gd name="T66" fmla="*/ 2529 w 4261"/>
                <a:gd name="T67" fmla="*/ 1898 h 2195"/>
                <a:gd name="T68" fmla="*/ 2608 w 4261"/>
                <a:gd name="T69" fmla="*/ 1963 h 2195"/>
                <a:gd name="T70" fmla="*/ 2686 w 4261"/>
                <a:gd name="T71" fmla="*/ 2009 h 2195"/>
                <a:gd name="T72" fmla="*/ 2765 w 4261"/>
                <a:gd name="T73" fmla="*/ 2046 h 2195"/>
                <a:gd name="T74" fmla="*/ 2844 w 4261"/>
                <a:gd name="T75" fmla="*/ 2074 h 2195"/>
                <a:gd name="T76" fmla="*/ 2923 w 4261"/>
                <a:gd name="T77" fmla="*/ 2093 h 2195"/>
                <a:gd name="T78" fmla="*/ 3001 w 4261"/>
                <a:gd name="T79" fmla="*/ 2111 h 2195"/>
                <a:gd name="T80" fmla="*/ 3080 w 4261"/>
                <a:gd name="T81" fmla="*/ 2120 h 2195"/>
                <a:gd name="T82" fmla="*/ 3159 w 4261"/>
                <a:gd name="T83" fmla="*/ 2139 h 2195"/>
                <a:gd name="T84" fmla="*/ 3238 w 4261"/>
                <a:gd name="T85" fmla="*/ 2148 h 2195"/>
                <a:gd name="T86" fmla="*/ 3316 w 4261"/>
                <a:gd name="T87" fmla="*/ 2158 h 2195"/>
                <a:gd name="T88" fmla="*/ 3395 w 4261"/>
                <a:gd name="T89" fmla="*/ 2167 h 2195"/>
                <a:gd name="T90" fmla="*/ 3474 w 4261"/>
                <a:gd name="T91" fmla="*/ 2167 h 2195"/>
                <a:gd name="T92" fmla="*/ 3552 w 4261"/>
                <a:gd name="T93" fmla="*/ 2176 h 2195"/>
                <a:gd name="T94" fmla="*/ 3631 w 4261"/>
                <a:gd name="T95" fmla="*/ 2176 h 2195"/>
                <a:gd name="T96" fmla="*/ 3710 w 4261"/>
                <a:gd name="T97" fmla="*/ 2185 h 2195"/>
                <a:gd name="T98" fmla="*/ 3789 w 4261"/>
                <a:gd name="T99" fmla="*/ 2185 h 2195"/>
                <a:gd name="T100" fmla="*/ 3867 w 4261"/>
                <a:gd name="T101" fmla="*/ 2185 h 2195"/>
                <a:gd name="T102" fmla="*/ 3946 w 4261"/>
                <a:gd name="T103" fmla="*/ 2185 h 2195"/>
                <a:gd name="T104" fmla="*/ 4025 w 4261"/>
                <a:gd name="T105" fmla="*/ 2195 h 2195"/>
                <a:gd name="T106" fmla="*/ 4104 w 4261"/>
                <a:gd name="T107" fmla="*/ 2195 h 2195"/>
                <a:gd name="T108" fmla="*/ 4182 w 4261"/>
                <a:gd name="T109" fmla="*/ 2195 h 2195"/>
                <a:gd name="T110" fmla="*/ 4261 w 4261"/>
                <a:gd name="T111" fmla="*/ 2195 h 2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261" h="2195">
                  <a:moveTo>
                    <a:pt x="0" y="2195"/>
                  </a:moveTo>
                  <a:lnTo>
                    <a:pt x="9" y="2195"/>
                  </a:lnTo>
                  <a:lnTo>
                    <a:pt x="19" y="2195"/>
                  </a:lnTo>
                  <a:lnTo>
                    <a:pt x="29" y="2195"/>
                  </a:lnTo>
                  <a:lnTo>
                    <a:pt x="39" y="2195"/>
                  </a:lnTo>
                  <a:lnTo>
                    <a:pt x="49" y="2195"/>
                  </a:lnTo>
                  <a:lnTo>
                    <a:pt x="59" y="2195"/>
                  </a:lnTo>
                  <a:lnTo>
                    <a:pt x="68" y="2195"/>
                  </a:lnTo>
                  <a:lnTo>
                    <a:pt x="78" y="2195"/>
                  </a:lnTo>
                  <a:lnTo>
                    <a:pt x="88" y="2195"/>
                  </a:lnTo>
                  <a:lnTo>
                    <a:pt x="98" y="2195"/>
                  </a:lnTo>
                  <a:lnTo>
                    <a:pt x="108" y="2195"/>
                  </a:lnTo>
                  <a:lnTo>
                    <a:pt x="118" y="2195"/>
                  </a:lnTo>
                  <a:lnTo>
                    <a:pt x="128" y="2195"/>
                  </a:lnTo>
                  <a:lnTo>
                    <a:pt x="137" y="2195"/>
                  </a:lnTo>
                  <a:lnTo>
                    <a:pt x="147" y="2195"/>
                  </a:lnTo>
                  <a:lnTo>
                    <a:pt x="157" y="2195"/>
                  </a:lnTo>
                  <a:lnTo>
                    <a:pt x="167" y="2195"/>
                  </a:lnTo>
                  <a:lnTo>
                    <a:pt x="177" y="2195"/>
                  </a:lnTo>
                  <a:lnTo>
                    <a:pt x="187" y="2195"/>
                  </a:lnTo>
                  <a:lnTo>
                    <a:pt x="196" y="2195"/>
                  </a:lnTo>
                  <a:lnTo>
                    <a:pt x="206" y="2195"/>
                  </a:lnTo>
                  <a:lnTo>
                    <a:pt x="216" y="2195"/>
                  </a:lnTo>
                  <a:lnTo>
                    <a:pt x="226" y="2195"/>
                  </a:lnTo>
                  <a:lnTo>
                    <a:pt x="236" y="2195"/>
                  </a:lnTo>
                  <a:lnTo>
                    <a:pt x="246" y="2195"/>
                  </a:lnTo>
                  <a:lnTo>
                    <a:pt x="255" y="2195"/>
                  </a:lnTo>
                  <a:lnTo>
                    <a:pt x="265" y="2195"/>
                  </a:lnTo>
                  <a:lnTo>
                    <a:pt x="275" y="2195"/>
                  </a:lnTo>
                  <a:lnTo>
                    <a:pt x="285" y="2195"/>
                  </a:lnTo>
                  <a:lnTo>
                    <a:pt x="295" y="2185"/>
                  </a:lnTo>
                  <a:lnTo>
                    <a:pt x="305" y="2185"/>
                  </a:lnTo>
                  <a:lnTo>
                    <a:pt x="315" y="2185"/>
                  </a:lnTo>
                  <a:lnTo>
                    <a:pt x="324" y="2185"/>
                  </a:lnTo>
                  <a:lnTo>
                    <a:pt x="334" y="2185"/>
                  </a:lnTo>
                  <a:lnTo>
                    <a:pt x="344" y="2185"/>
                  </a:lnTo>
                  <a:lnTo>
                    <a:pt x="354" y="2185"/>
                  </a:lnTo>
                  <a:lnTo>
                    <a:pt x="364" y="2185"/>
                  </a:lnTo>
                  <a:lnTo>
                    <a:pt x="374" y="2185"/>
                  </a:lnTo>
                  <a:lnTo>
                    <a:pt x="383" y="2185"/>
                  </a:lnTo>
                  <a:lnTo>
                    <a:pt x="393" y="2185"/>
                  </a:lnTo>
                  <a:lnTo>
                    <a:pt x="403" y="2185"/>
                  </a:lnTo>
                  <a:lnTo>
                    <a:pt x="413" y="2185"/>
                  </a:lnTo>
                  <a:lnTo>
                    <a:pt x="423" y="2185"/>
                  </a:lnTo>
                  <a:lnTo>
                    <a:pt x="433" y="2185"/>
                  </a:lnTo>
                  <a:lnTo>
                    <a:pt x="442" y="2185"/>
                  </a:lnTo>
                  <a:lnTo>
                    <a:pt x="452" y="2185"/>
                  </a:lnTo>
                  <a:lnTo>
                    <a:pt x="462" y="2185"/>
                  </a:lnTo>
                  <a:lnTo>
                    <a:pt x="472" y="2185"/>
                  </a:lnTo>
                  <a:lnTo>
                    <a:pt x="482" y="2185"/>
                  </a:lnTo>
                  <a:lnTo>
                    <a:pt x="492" y="2185"/>
                  </a:lnTo>
                  <a:lnTo>
                    <a:pt x="502" y="2185"/>
                  </a:lnTo>
                  <a:lnTo>
                    <a:pt x="511" y="2185"/>
                  </a:lnTo>
                  <a:lnTo>
                    <a:pt x="521" y="2185"/>
                  </a:lnTo>
                  <a:lnTo>
                    <a:pt x="531" y="2185"/>
                  </a:lnTo>
                  <a:lnTo>
                    <a:pt x="541" y="2185"/>
                  </a:lnTo>
                  <a:lnTo>
                    <a:pt x="551" y="2185"/>
                  </a:lnTo>
                  <a:lnTo>
                    <a:pt x="561" y="2185"/>
                  </a:lnTo>
                  <a:lnTo>
                    <a:pt x="570" y="2185"/>
                  </a:lnTo>
                  <a:lnTo>
                    <a:pt x="580" y="2176"/>
                  </a:lnTo>
                  <a:lnTo>
                    <a:pt x="590" y="2176"/>
                  </a:lnTo>
                  <a:lnTo>
                    <a:pt x="600" y="2176"/>
                  </a:lnTo>
                  <a:lnTo>
                    <a:pt x="610" y="2176"/>
                  </a:lnTo>
                  <a:lnTo>
                    <a:pt x="620" y="2176"/>
                  </a:lnTo>
                  <a:lnTo>
                    <a:pt x="629" y="2176"/>
                  </a:lnTo>
                  <a:lnTo>
                    <a:pt x="639" y="2176"/>
                  </a:lnTo>
                  <a:lnTo>
                    <a:pt x="649" y="2176"/>
                  </a:lnTo>
                  <a:lnTo>
                    <a:pt x="659" y="2176"/>
                  </a:lnTo>
                  <a:lnTo>
                    <a:pt x="669" y="2176"/>
                  </a:lnTo>
                  <a:lnTo>
                    <a:pt x="679" y="2176"/>
                  </a:lnTo>
                  <a:lnTo>
                    <a:pt x="689" y="2176"/>
                  </a:lnTo>
                  <a:lnTo>
                    <a:pt x="698" y="2176"/>
                  </a:lnTo>
                  <a:lnTo>
                    <a:pt x="708" y="2176"/>
                  </a:lnTo>
                  <a:lnTo>
                    <a:pt x="718" y="2176"/>
                  </a:lnTo>
                  <a:lnTo>
                    <a:pt x="728" y="2176"/>
                  </a:lnTo>
                  <a:lnTo>
                    <a:pt x="738" y="2176"/>
                  </a:lnTo>
                  <a:lnTo>
                    <a:pt x="748" y="2167"/>
                  </a:lnTo>
                  <a:lnTo>
                    <a:pt x="757" y="2167"/>
                  </a:lnTo>
                  <a:lnTo>
                    <a:pt x="767" y="2167"/>
                  </a:lnTo>
                  <a:lnTo>
                    <a:pt x="777" y="2167"/>
                  </a:lnTo>
                  <a:lnTo>
                    <a:pt x="787" y="2167"/>
                  </a:lnTo>
                  <a:lnTo>
                    <a:pt x="797" y="2167"/>
                  </a:lnTo>
                  <a:lnTo>
                    <a:pt x="807" y="2167"/>
                  </a:lnTo>
                  <a:lnTo>
                    <a:pt x="816" y="2167"/>
                  </a:lnTo>
                  <a:lnTo>
                    <a:pt x="826" y="2167"/>
                  </a:lnTo>
                  <a:lnTo>
                    <a:pt x="836" y="2167"/>
                  </a:lnTo>
                  <a:lnTo>
                    <a:pt x="846" y="2167"/>
                  </a:lnTo>
                  <a:lnTo>
                    <a:pt x="856" y="2167"/>
                  </a:lnTo>
                  <a:lnTo>
                    <a:pt x="866" y="2167"/>
                  </a:lnTo>
                  <a:lnTo>
                    <a:pt x="876" y="2158"/>
                  </a:lnTo>
                  <a:lnTo>
                    <a:pt x="885" y="2158"/>
                  </a:lnTo>
                  <a:lnTo>
                    <a:pt x="895" y="2158"/>
                  </a:lnTo>
                  <a:lnTo>
                    <a:pt x="905" y="2158"/>
                  </a:lnTo>
                  <a:lnTo>
                    <a:pt x="915" y="2158"/>
                  </a:lnTo>
                  <a:lnTo>
                    <a:pt x="925" y="2158"/>
                  </a:lnTo>
                  <a:lnTo>
                    <a:pt x="935" y="2158"/>
                  </a:lnTo>
                  <a:lnTo>
                    <a:pt x="944" y="2158"/>
                  </a:lnTo>
                  <a:lnTo>
                    <a:pt x="954" y="2158"/>
                  </a:lnTo>
                  <a:lnTo>
                    <a:pt x="964" y="2158"/>
                  </a:lnTo>
                  <a:lnTo>
                    <a:pt x="974" y="2148"/>
                  </a:lnTo>
                  <a:lnTo>
                    <a:pt x="984" y="2148"/>
                  </a:lnTo>
                  <a:lnTo>
                    <a:pt x="994" y="2148"/>
                  </a:lnTo>
                  <a:lnTo>
                    <a:pt x="1003" y="2148"/>
                  </a:lnTo>
                  <a:lnTo>
                    <a:pt x="1013" y="2148"/>
                  </a:lnTo>
                  <a:lnTo>
                    <a:pt x="1023" y="2148"/>
                  </a:lnTo>
                  <a:lnTo>
                    <a:pt x="1033" y="2148"/>
                  </a:lnTo>
                  <a:lnTo>
                    <a:pt x="1043" y="2148"/>
                  </a:lnTo>
                  <a:lnTo>
                    <a:pt x="1053" y="2148"/>
                  </a:lnTo>
                  <a:lnTo>
                    <a:pt x="1063" y="2139"/>
                  </a:lnTo>
                  <a:lnTo>
                    <a:pt x="1072" y="2139"/>
                  </a:lnTo>
                  <a:lnTo>
                    <a:pt x="1082" y="2139"/>
                  </a:lnTo>
                  <a:lnTo>
                    <a:pt x="1092" y="2139"/>
                  </a:lnTo>
                  <a:lnTo>
                    <a:pt x="1102" y="2139"/>
                  </a:lnTo>
                  <a:lnTo>
                    <a:pt x="1112" y="2139"/>
                  </a:lnTo>
                  <a:lnTo>
                    <a:pt x="1122" y="2130"/>
                  </a:lnTo>
                  <a:lnTo>
                    <a:pt x="1131" y="2130"/>
                  </a:lnTo>
                  <a:lnTo>
                    <a:pt x="1141" y="2130"/>
                  </a:lnTo>
                  <a:lnTo>
                    <a:pt x="1151" y="2130"/>
                  </a:lnTo>
                  <a:lnTo>
                    <a:pt x="1161" y="2130"/>
                  </a:lnTo>
                  <a:lnTo>
                    <a:pt x="1171" y="2130"/>
                  </a:lnTo>
                  <a:lnTo>
                    <a:pt x="1181" y="2120"/>
                  </a:lnTo>
                  <a:lnTo>
                    <a:pt x="1190" y="2120"/>
                  </a:lnTo>
                  <a:lnTo>
                    <a:pt x="1200" y="2120"/>
                  </a:lnTo>
                  <a:lnTo>
                    <a:pt x="1210" y="2120"/>
                  </a:lnTo>
                  <a:lnTo>
                    <a:pt x="1220" y="2120"/>
                  </a:lnTo>
                  <a:lnTo>
                    <a:pt x="1230" y="2120"/>
                  </a:lnTo>
                  <a:lnTo>
                    <a:pt x="1240" y="2111"/>
                  </a:lnTo>
                  <a:lnTo>
                    <a:pt x="1250" y="2111"/>
                  </a:lnTo>
                  <a:lnTo>
                    <a:pt x="1259" y="2111"/>
                  </a:lnTo>
                  <a:lnTo>
                    <a:pt x="1269" y="2111"/>
                  </a:lnTo>
                  <a:lnTo>
                    <a:pt x="1279" y="2102"/>
                  </a:lnTo>
                  <a:lnTo>
                    <a:pt x="1289" y="2102"/>
                  </a:lnTo>
                  <a:lnTo>
                    <a:pt x="1299" y="2102"/>
                  </a:lnTo>
                  <a:lnTo>
                    <a:pt x="1309" y="2102"/>
                  </a:lnTo>
                  <a:lnTo>
                    <a:pt x="1318" y="2102"/>
                  </a:lnTo>
                  <a:lnTo>
                    <a:pt x="1328" y="2093"/>
                  </a:lnTo>
                  <a:lnTo>
                    <a:pt x="1338" y="2093"/>
                  </a:lnTo>
                  <a:lnTo>
                    <a:pt x="1348" y="2093"/>
                  </a:lnTo>
                  <a:lnTo>
                    <a:pt x="1358" y="2093"/>
                  </a:lnTo>
                  <a:lnTo>
                    <a:pt x="1368" y="2083"/>
                  </a:lnTo>
                  <a:lnTo>
                    <a:pt x="1377" y="2083"/>
                  </a:lnTo>
                  <a:lnTo>
                    <a:pt x="1387" y="2083"/>
                  </a:lnTo>
                  <a:lnTo>
                    <a:pt x="1397" y="2074"/>
                  </a:lnTo>
                  <a:lnTo>
                    <a:pt x="1407" y="2074"/>
                  </a:lnTo>
                  <a:lnTo>
                    <a:pt x="1417" y="2074"/>
                  </a:lnTo>
                  <a:lnTo>
                    <a:pt x="1427" y="2074"/>
                  </a:lnTo>
                  <a:lnTo>
                    <a:pt x="1436" y="2065"/>
                  </a:lnTo>
                  <a:lnTo>
                    <a:pt x="1446" y="2065"/>
                  </a:lnTo>
                  <a:lnTo>
                    <a:pt x="1456" y="2056"/>
                  </a:lnTo>
                  <a:lnTo>
                    <a:pt x="1466" y="2056"/>
                  </a:lnTo>
                  <a:lnTo>
                    <a:pt x="1476" y="2056"/>
                  </a:lnTo>
                  <a:lnTo>
                    <a:pt x="1486" y="2046"/>
                  </a:lnTo>
                  <a:lnTo>
                    <a:pt x="1496" y="2046"/>
                  </a:lnTo>
                  <a:lnTo>
                    <a:pt x="1505" y="2037"/>
                  </a:lnTo>
                  <a:lnTo>
                    <a:pt x="1515" y="2037"/>
                  </a:lnTo>
                  <a:lnTo>
                    <a:pt x="1525" y="2037"/>
                  </a:lnTo>
                  <a:lnTo>
                    <a:pt x="1535" y="2028"/>
                  </a:lnTo>
                  <a:lnTo>
                    <a:pt x="1545" y="2028"/>
                  </a:lnTo>
                  <a:lnTo>
                    <a:pt x="1555" y="2019"/>
                  </a:lnTo>
                  <a:lnTo>
                    <a:pt x="1564" y="2009"/>
                  </a:lnTo>
                  <a:lnTo>
                    <a:pt x="1574" y="2009"/>
                  </a:lnTo>
                  <a:lnTo>
                    <a:pt x="1584" y="2009"/>
                  </a:lnTo>
                  <a:lnTo>
                    <a:pt x="1594" y="2000"/>
                  </a:lnTo>
                  <a:lnTo>
                    <a:pt x="1604" y="2000"/>
                  </a:lnTo>
                  <a:lnTo>
                    <a:pt x="1614" y="1991"/>
                  </a:lnTo>
                  <a:lnTo>
                    <a:pt x="1623" y="1982"/>
                  </a:lnTo>
                  <a:lnTo>
                    <a:pt x="1633" y="1972"/>
                  </a:lnTo>
                  <a:lnTo>
                    <a:pt x="1643" y="1972"/>
                  </a:lnTo>
                  <a:lnTo>
                    <a:pt x="1653" y="1963"/>
                  </a:lnTo>
                  <a:lnTo>
                    <a:pt x="1663" y="1954"/>
                  </a:lnTo>
                  <a:lnTo>
                    <a:pt x="1673" y="1945"/>
                  </a:lnTo>
                  <a:lnTo>
                    <a:pt x="1683" y="1945"/>
                  </a:lnTo>
                  <a:lnTo>
                    <a:pt x="1692" y="1935"/>
                  </a:lnTo>
                  <a:lnTo>
                    <a:pt x="1702" y="1926"/>
                  </a:lnTo>
                  <a:lnTo>
                    <a:pt x="1712" y="1917"/>
                  </a:lnTo>
                  <a:lnTo>
                    <a:pt x="1722" y="1908"/>
                  </a:lnTo>
                  <a:lnTo>
                    <a:pt x="1732" y="1898"/>
                  </a:lnTo>
                  <a:lnTo>
                    <a:pt x="1742" y="1889"/>
                  </a:lnTo>
                  <a:lnTo>
                    <a:pt x="1751" y="1880"/>
                  </a:lnTo>
                  <a:lnTo>
                    <a:pt x="1761" y="1870"/>
                  </a:lnTo>
                  <a:lnTo>
                    <a:pt x="1771" y="1861"/>
                  </a:lnTo>
                  <a:lnTo>
                    <a:pt x="1771" y="1852"/>
                  </a:lnTo>
                  <a:lnTo>
                    <a:pt x="1781" y="1843"/>
                  </a:lnTo>
                  <a:lnTo>
                    <a:pt x="1791" y="1833"/>
                  </a:lnTo>
                  <a:lnTo>
                    <a:pt x="1801" y="1815"/>
                  </a:lnTo>
                  <a:lnTo>
                    <a:pt x="1810" y="1806"/>
                  </a:lnTo>
                  <a:lnTo>
                    <a:pt x="1820" y="1796"/>
                  </a:lnTo>
                  <a:lnTo>
                    <a:pt x="1830" y="1778"/>
                  </a:lnTo>
                  <a:lnTo>
                    <a:pt x="1830" y="1769"/>
                  </a:lnTo>
                  <a:lnTo>
                    <a:pt x="1840" y="1750"/>
                  </a:lnTo>
                  <a:lnTo>
                    <a:pt x="1850" y="1732"/>
                  </a:lnTo>
                  <a:lnTo>
                    <a:pt x="1860" y="1722"/>
                  </a:lnTo>
                  <a:lnTo>
                    <a:pt x="1870" y="1704"/>
                  </a:lnTo>
                  <a:lnTo>
                    <a:pt x="1879" y="1685"/>
                  </a:lnTo>
                  <a:lnTo>
                    <a:pt x="1889" y="1667"/>
                  </a:lnTo>
                  <a:lnTo>
                    <a:pt x="1889" y="1639"/>
                  </a:lnTo>
                  <a:lnTo>
                    <a:pt x="1899" y="1620"/>
                  </a:lnTo>
                  <a:lnTo>
                    <a:pt x="1909" y="1593"/>
                  </a:lnTo>
                  <a:lnTo>
                    <a:pt x="1919" y="1574"/>
                  </a:lnTo>
                  <a:lnTo>
                    <a:pt x="1929" y="1546"/>
                  </a:lnTo>
                  <a:lnTo>
                    <a:pt x="1938" y="1519"/>
                  </a:lnTo>
                  <a:lnTo>
                    <a:pt x="1938" y="1482"/>
                  </a:lnTo>
                  <a:lnTo>
                    <a:pt x="1948" y="1454"/>
                  </a:lnTo>
                  <a:lnTo>
                    <a:pt x="1958" y="1417"/>
                  </a:lnTo>
                  <a:lnTo>
                    <a:pt x="1968" y="1380"/>
                  </a:lnTo>
                  <a:lnTo>
                    <a:pt x="1978" y="1333"/>
                  </a:lnTo>
                  <a:lnTo>
                    <a:pt x="1988" y="1287"/>
                  </a:lnTo>
                  <a:lnTo>
                    <a:pt x="1997" y="1241"/>
                  </a:lnTo>
                  <a:lnTo>
                    <a:pt x="1997" y="1185"/>
                  </a:lnTo>
                  <a:lnTo>
                    <a:pt x="2007" y="1130"/>
                  </a:lnTo>
                  <a:lnTo>
                    <a:pt x="2017" y="1065"/>
                  </a:lnTo>
                  <a:lnTo>
                    <a:pt x="2027" y="1000"/>
                  </a:lnTo>
                  <a:lnTo>
                    <a:pt x="2037" y="926"/>
                  </a:lnTo>
                  <a:lnTo>
                    <a:pt x="2047" y="843"/>
                  </a:lnTo>
                  <a:lnTo>
                    <a:pt x="2047" y="759"/>
                  </a:lnTo>
                  <a:lnTo>
                    <a:pt x="2057" y="667"/>
                  </a:lnTo>
                  <a:lnTo>
                    <a:pt x="2066" y="565"/>
                  </a:lnTo>
                  <a:lnTo>
                    <a:pt x="2076" y="463"/>
                  </a:lnTo>
                  <a:lnTo>
                    <a:pt x="2086" y="361"/>
                  </a:lnTo>
                  <a:lnTo>
                    <a:pt x="2096" y="259"/>
                  </a:lnTo>
                  <a:lnTo>
                    <a:pt x="2106" y="167"/>
                  </a:lnTo>
                  <a:lnTo>
                    <a:pt x="2106" y="84"/>
                  </a:lnTo>
                  <a:lnTo>
                    <a:pt x="2116" y="28"/>
                  </a:lnTo>
                  <a:lnTo>
                    <a:pt x="2125" y="0"/>
                  </a:lnTo>
                  <a:lnTo>
                    <a:pt x="2135" y="0"/>
                  </a:lnTo>
                  <a:lnTo>
                    <a:pt x="2145" y="28"/>
                  </a:lnTo>
                  <a:lnTo>
                    <a:pt x="2155" y="84"/>
                  </a:lnTo>
                  <a:lnTo>
                    <a:pt x="2155" y="167"/>
                  </a:lnTo>
                  <a:lnTo>
                    <a:pt x="2165" y="259"/>
                  </a:lnTo>
                  <a:lnTo>
                    <a:pt x="2175" y="361"/>
                  </a:lnTo>
                  <a:lnTo>
                    <a:pt x="2184" y="463"/>
                  </a:lnTo>
                  <a:lnTo>
                    <a:pt x="2194" y="565"/>
                  </a:lnTo>
                  <a:lnTo>
                    <a:pt x="2204" y="667"/>
                  </a:lnTo>
                  <a:lnTo>
                    <a:pt x="2214" y="759"/>
                  </a:lnTo>
                  <a:lnTo>
                    <a:pt x="2214" y="843"/>
                  </a:lnTo>
                  <a:lnTo>
                    <a:pt x="2224" y="926"/>
                  </a:lnTo>
                  <a:lnTo>
                    <a:pt x="2234" y="1000"/>
                  </a:lnTo>
                  <a:lnTo>
                    <a:pt x="2244" y="1065"/>
                  </a:lnTo>
                  <a:lnTo>
                    <a:pt x="2253" y="1130"/>
                  </a:lnTo>
                  <a:lnTo>
                    <a:pt x="2263" y="1185"/>
                  </a:lnTo>
                  <a:lnTo>
                    <a:pt x="2263" y="1241"/>
                  </a:lnTo>
                  <a:lnTo>
                    <a:pt x="2273" y="1287"/>
                  </a:lnTo>
                  <a:lnTo>
                    <a:pt x="2283" y="1333"/>
                  </a:lnTo>
                  <a:lnTo>
                    <a:pt x="2293" y="1380"/>
                  </a:lnTo>
                  <a:lnTo>
                    <a:pt x="2303" y="1417"/>
                  </a:lnTo>
                  <a:lnTo>
                    <a:pt x="2312" y="1454"/>
                  </a:lnTo>
                  <a:lnTo>
                    <a:pt x="2322" y="1482"/>
                  </a:lnTo>
                  <a:lnTo>
                    <a:pt x="2322" y="1519"/>
                  </a:lnTo>
                  <a:lnTo>
                    <a:pt x="2332" y="1546"/>
                  </a:lnTo>
                  <a:lnTo>
                    <a:pt x="2342" y="1574"/>
                  </a:lnTo>
                  <a:lnTo>
                    <a:pt x="2352" y="1593"/>
                  </a:lnTo>
                  <a:lnTo>
                    <a:pt x="2362" y="1620"/>
                  </a:lnTo>
                  <a:lnTo>
                    <a:pt x="2371" y="1639"/>
                  </a:lnTo>
                  <a:lnTo>
                    <a:pt x="2371" y="1667"/>
                  </a:lnTo>
                  <a:lnTo>
                    <a:pt x="2381" y="1685"/>
                  </a:lnTo>
                  <a:lnTo>
                    <a:pt x="2391" y="1704"/>
                  </a:lnTo>
                  <a:lnTo>
                    <a:pt x="2401" y="1722"/>
                  </a:lnTo>
                  <a:lnTo>
                    <a:pt x="2411" y="1732"/>
                  </a:lnTo>
                  <a:lnTo>
                    <a:pt x="2421" y="1750"/>
                  </a:lnTo>
                  <a:lnTo>
                    <a:pt x="2431" y="1769"/>
                  </a:lnTo>
                  <a:lnTo>
                    <a:pt x="2431" y="1778"/>
                  </a:lnTo>
                  <a:lnTo>
                    <a:pt x="2440" y="1796"/>
                  </a:lnTo>
                  <a:lnTo>
                    <a:pt x="2450" y="1806"/>
                  </a:lnTo>
                  <a:lnTo>
                    <a:pt x="2460" y="1815"/>
                  </a:lnTo>
                  <a:lnTo>
                    <a:pt x="2470" y="1833"/>
                  </a:lnTo>
                  <a:lnTo>
                    <a:pt x="2480" y="1843"/>
                  </a:lnTo>
                  <a:lnTo>
                    <a:pt x="2490" y="1852"/>
                  </a:lnTo>
                  <a:lnTo>
                    <a:pt x="2490" y="1861"/>
                  </a:lnTo>
                  <a:lnTo>
                    <a:pt x="2499" y="1870"/>
                  </a:lnTo>
                  <a:lnTo>
                    <a:pt x="2509" y="1880"/>
                  </a:lnTo>
                  <a:lnTo>
                    <a:pt x="2519" y="1889"/>
                  </a:lnTo>
                  <a:lnTo>
                    <a:pt x="2529" y="1898"/>
                  </a:lnTo>
                  <a:lnTo>
                    <a:pt x="2539" y="1908"/>
                  </a:lnTo>
                  <a:lnTo>
                    <a:pt x="2549" y="1917"/>
                  </a:lnTo>
                  <a:lnTo>
                    <a:pt x="2558" y="1926"/>
                  </a:lnTo>
                  <a:lnTo>
                    <a:pt x="2568" y="1935"/>
                  </a:lnTo>
                  <a:lnTo>
                    <a:pt x="2578" y="1945"/>
                  </a:lnTo>
                  <a:lnTo>
                    <a:pt x="2588" y="1945"/>
                  </a:lnTo>
                  <a:lnTo>
                    <a:pt x="2598" y="1954"/>
                  </a:lnTo>
                  <a:lnTo>
                    <a:pt x="2608" y="1963"/>
                  </a:lnTo>
                  <a:lnTo>
                    <a:pt x="2618" y="1972"/>
                  </a:lnTo>
                  <a:lnTo>
                    <a:pt x="2627" y="1972"/>
                  </a:lnTo>
                  <a:lnTo>
                    <a:pt x="2637" y="1982"/>
                  </a:lnTo>
                  <a:lnTo>
                    <a:pt x="2647" y="1991"/>
                  </a:lnTo>
                  <a:lnTo>
                    <a:pt x="2657" y="2000"/>
                  </a:lnTo>
                  <a:lnTo>
                    <a:pt x="2667" y="2000"/>
                  </a:lnTo>
                  <a:lnTo>
                    <a:pt x="2677" y="2009"/>
                  </a:lnTo>
                  <a:lnTo>
                    <a:pt x="2686" y="2009"/>
                  </a:lnTo>
                  <a:lnTo>
                    <a:pt x="2696" y="2009"/>
                  </a:lnTo>
                  <a:lnTo>
                    <a:pt x="2706" y="2019"/>
                  </a:lnTo>
                  <a:lnTo>
                    <a:pt x="2716" y="2028"/>
                  </a:lnTo>
                  <a:lnTo>
                    <a:pt x="2726" y="2028"/>
                  </a:lnTo>
                  <a:lnTo>
                    <a:pt x="2736" y="2037"/>
                  </a:lnTo>
                  <a:lnTo>
                    <a:pt x="2745" y="2037"/>
                  </a:lnTo>
                  <a:lnTo>
                    <a:pt x="2755" y="2046"/>
                  </a:lnTo>
                  <a:lnTo>
                    <a:pt x="2765" y="2046"/>
                  </a:lnTo>
                  <a:lnTo>
                    <a:pt x="2775" y="2046"/>
                  </a:lnTo>
                  <a:lnTo>
                    <a:pt x="2785" y="2056"/>
                  </a:lnTo>
                  <a:lnTo>
                    <a:pt x="2795" y="2056"/>
                  </a:lnTo>
                  <a:lnTo>
                    <a:pt x="2804" y="2056"/>
                  </a:lnTo>
                  <a:lnTo>
                    <a:pt x="2814" y="2065"/>
                  </a:lnTo>
                  <a:lnTo>
                    <a:pt x="2824" y="2065"/>
                  </a:lnTo>
                  <a:lnTo>
                    <a:pt x="2834" y="2074"/>
                  </a:lnTo>
                  <a:lnTo>
                    <a:pt x="2844" y="2074"/>
                  </a:lnTo>
                  <a:lnTo>
                    <a:pt x="2854" y="2074"/>
                  </a:lnTo>
                  <a:lnTo>
                    <a:pt x="2864" y="2083"/>
                  </a:lnTo>
                  <a:lnTo>
                    <a:pt x="2873" y="2083"/>
                  </a:lnTo>
                  <a:lnTo>
                    <a:pt x="2883" y="2083"/>
                  </a:lnTo>
                  <a:lnTo>
                    <a:pt x="2893" y="2083"/>
                  </a:lnTo>
                  <a:lnTo>
                    <a:pt x="2903" y="2093"/>
                  </a:lnTo>
                  <a:lnTo>
                    <a:pt x="2913" y="2093"/>
                  </a:lnTo>
                  <a:lnTo>
                    <a:pt x="2923" y="2093"/>
                  </a:lnTo>
                  <a:lnTo>
                    <a:pt x="2932" y="2093"/>
                  </a:lnTo>
                  <a:lnTo>
                    <a:pt x="2942" y="2102"/>
                  </a:lnTo>
                  <a:lnTo>
                    <a:pt x="2952" y="2102"/>
                  </a:lnTo>
                  <a:lnTo>
                    <a:pt x="2962" y="2102"/>
                  </a:lnTo>
                  <a:lnTo>
                    <a:pt x="2972" y="2102"/>
                  </a:lnTo>
                  <a:lnTo>
                    <a:pt x="2982" y="2111"/>
                  </a:lnTo>
                  <a:lnTo>
                    <a:pt x="2991" y="2111"/>
                  </a:lnTo>
                  <a:lnTo>
                    <a:pt x="3001" y="2111"/>
                  </a:lnTo>
                  <a:lnTo>
                    <a:pt x="3011" y="2111"/>
                  </a:lnTo>
                  <a:lnTo>
                    <a:pt x="3021" y="2111"/>
                  </a:lnTo>
                  <a:lnTo>
                    <a:pt x="3031" y="2120"/>
                  </a:lnTo>
                  <a:lnTo>
                    <a:pt x="3041" y="2120"/>
                  </a:lnTo>
                  <a:lnTo>
                    <a:pt x="3051" y="2120"/>
                  </a:lnTo>
                  <a:lnTo>
                    <a:pt x="3060" y="2120"/>
                  </a:lnTo>
                  <a:lnTo>
                    <a:pt x="3070" y="2120"/>
                  </a:lnTo>
                  <a:lnTo>
                    <a:pt x="3080" y="2120"/>
                  </a:lnTo>
                  <a:lnTo>
                    <a:pt x="3090" y="2130"/>
                  </a:lnTo>
                  <a:lnTo>
                    <a:pt x="3100" y="2130"/>
                  </a:lnTo>
                  <a:lnTo>
                    <a:pt x="3110" y="2130"/>
                  </a:lnTo>
                  <a:lnTo>
                    <a:pt x="3119" y="2130"/>
                  </a:lnTo>
                  <a:lnTo>
                    <a:pt x="3129" y="2130"/>
                  </a:lnTo>
                  <a:lnTo>
                    <a:pt x="3139" y="2139"/>
                  </a:lnTo>
                  <a:lnTo>
                    <a:pt x="3149" y="2139"/>
                  </a:lnTo>
                  <a:lnTo>
                    <a:pt x="3159" y="2139"/>
                  </a:lnTo>
                  <a:lnTo>
                    <a:pt x="3169" y="2139"/>
                  </a:lnTo>
                  <a:lnTo>
                    <a:pt x="3178" y="2139"/>
                  </a:lnTo>
                  <a:lnTo>
                    <a:pt x="3188" y="2139"/>
                  </a:lnTo>
                  <a:lnTo>
                    <a:pt x="3198" y="2139"/>
                  </a:lnTo>
                  <a:lnTo>
                    <a:pt x="3208" y="2148"/>
                  </a:lnTo>
                  <a:lnTo>
                    <a:pt x="3218" y="2148"/>
                  </a:lnTo>
                  <a:lnTo>
                    <a:pt x="3228" y="2148"/>
                  </a:lnTo>
                  <a:lnTo>
                    <a:pt x="3238" y="2148"/>
                  </a:lnTo>
                  <a:lnTo>
                    <a:pt x="3247" y="2148"/>
                  </a:lnTo>
                  <a:lnTo>
                    <a:pt x="3257" y="2148"/>
                  </a:lnTo>
                  <a:lnTo>
                    <a:pt x="3267" y="2148"/>
                  </a:lnTo>
                  <a:lnTo>
                    <a:pt x="3277" y="2148"/>
                  </a:lnTo>
                  <a:lnTo>
                    <a:pt x="3287" y="2148"/>
                  </a:lnTo>
                  <a:lnTo>
                    <a:pt x="3297" y="2158"/>
                  </a:lnTo>
                  <a:lnTo>
                    <a:pt x="3306" y="2158"/>
                  </a:lnTo>
                  <a:lnTo>
                    <a:pt x="3316" y="2158"/>
                  </a:lnTo>
                  <a:lnTo>
                    <a:pt x="3326" y="2158"/>
                  </a:lnTo>
                  <a:lnTo>
                    <a:pt x="3336" y="2158"/>
                  </a:lnTo>
                  <a:lnTo>
                    <a:pt x="3346" y="2158"/>
                  </a:lnTo>
                  <a:lnTo>
                    <a:pt x="3356" y="2158"/>
                  </a:lnTo>
                  <a:lnTo>
                    <a:pt x="3365" y="2158"/>
                  </a:lnTo>
                  <a:lnTo>
                    <a:pt x="3375" y="2158"/>
                  </a:lnTo>
                  <a:lnTo>
                    <a:pt x="3385" y="2158"/>
                  </a:lnTo>
                  <a:lnTo>
                    <a:pt x="3395" y="2167"/>
                  </a:lnTo>
                  <a:lnTo>
                    <a:pt x="3405" y="2167"/>
                  </a:lnTo>
                  <a:lnTo>
                    <a:pt x="3415" y="2167"/>
                  </a:lnTo>
                  <a:lnTo>
                    <a:pt x="3425" y="2167"/>
                  </a:lnTo>
                  <a:lnTo>
                    <a:pt x="3434" y="2167"/>
                  </a:lnTo>
                  <a:lnTo>
                    <a:pt x="3444" y="2167"/>
                  </a:lnTo>
                  <a:lnTo>
                    <a:pt x="3454" y="2167"/>
                  </a:lnTo>
                  <a:lnTo>
                    <a:pt x="3464" y="2167"/>
                  </a:lnTo>
                  <a:lnTo>
                    <a:pt x="3474" y="2167"/>
                  </a:lnTo>
                  <a:lnTo>
                    <a:pt x="3484" y="2167"/>
                  </a:lnTo>
                  <a:lnTo>
                    <a:pt x="3493" y="2167"/>
                  </a:lnTo>
                  <a:lnTo>
                    <a:pt x="3503" y="2167"/>
                  </a:lnTo>
                  <a:lnTo>
                    <a:pt x="3513" y="2167"/>
                  </a:lnTo>
                  <a:lnTo>
                    <a:pt x="3523" y="2176"/>
                  </a:lnTo>
                  <a:lnTo>
                    <a:pt x="3533" y="2176"/>
                  </a:lnTo>
                  <a:lnTo>
                    <a:pt x="3543" y="2176"/>
                  </a:lnTo>
                  <a:lnTo>
                    <a:pt x="3552" y="2176"/>
                  </a:lnTo>
                  <a:lnTo>
                    <a:pt x="3562" y="2176"/>
                  </a:lnTo>
                  <a:lnTo>
                    <a:pt x="3572" y="2176"/>
                  </a:lnTo>
                  <a:lnTo>
                    <a:pt x="3582" y="2176"/>
                  </a:lnTo>
                  <a:lnTo>
                    <a:pt x="3592" y="2176"/>
                  </a:lnTo>
                  <a:lnTo>
                    <a:pt x="3602" y="2176"/>
                  </a:lnTo>
                  <a:lnTo>
                    <a:pt x="3612" y="2176"/>
                  </a:lnTo>
                  <a:lnTo>
                    <a:pt x="3621" y="2176"/>
                  </a:lnTo>
                  <a:lnTo>
                    <a:pt x="3631" y="2176"/>
                  </a:lnTo>
                  <a:lnTo>
                    <a:pt x="3641" y="2176"/>
                  </a:lnTo>
                  <a:lnTo>
                    <a:pt x="3651" y="2176"/>
                  </a:lnTo>
                  <a:lnTo>
                    <a:pt x="3661" y="2176"/>
                  </a:lnTo>
                  <a:lnTo>
                    <a:pt x="3671" y="2176"/>
                  </a:lnTo>
                  <a:lnTo>
                    <a:pt x="3680" y="2176"/>
                  </a:lnTo>
                  <a:lnTo>
                    <a:pt x="3690" y="2185"/>
                  </a:lnTo>
                  <a:lnTo>
                    <a:pt x="3700" y="2185"/>
                  </a:lnTo>
                  <a:lnTo>
                    <a:pt x="3710" y="2185"/>
                  </a:lnTo>
                  <a:lnTo>
                    <a:pt x="3720" y="2185"/>
                  </a:lnTo>
                  <a:lnTo>
                    <a:pt x="3730" y="2185"/>
                  </a:lnTo>
                  <a:lnTo>
                    <a:pt x="3739" y="2185"/>
                  </a:lnTo>
                  <a:lnTo>
                    <a:pt x="3749" y="2185"/>
                  </a:lnTo>
                  <a:lnTo>
                    <a:pt x="3759" y="2185"/>
                  </a:lnTo>
                  <a:lnTo>
                    <a:pt x="3769" y="2185"/>
                  </a:lnTo>
                  <a:lnTo>
                    <a:pt x="3779" y="2185"/>
                  </a:lnTo>
                  <a:lnTo>
                    <a:pt x="3789" y="2185"/>
                  </a:lnTo>
                  <a:lnTo>
                    <a:pt x="3799" y="2185"/>
                  </a:lnTo>
                  <a:lnTo>
                    <a:pt x="3808" y="2185"/>
                  </a:lnTo>
                  <a:lnTo>
                    <a:pt x="3818" y="2185"/>
                  </a:lnTo>
                  <a:lnTo>
                    <a:pt x="3828" y="2185"/>
                  </a:lnTo>
                  <a:lnTo>
                    <a:pt x="3838" y="2185"/>
                  </a:lnTo>
                  <a:lnTo>
                    <a:pt x="3848" y="2185"/>
                  </a:lnTo>
                  <a:lnTo>
                    <a:pt x="3858" y="2185"/>
                  </a:lnTo>
                  <a:lnTo>
                    <a:pt x="3867" y="2185"/>
                  </a:lnTo>
                  <a:lnTo>
                    <a:pt x="3877" y="2185"/>
                  </a:lnTo>
                  <a:lnTo>
                    <a:pt x="3887" y="2185"/>
                  </a:lnTo>
                  <a:lnTo>
                    <a:pt x="3897" y="2185"/>
                  </a:lnTo>
                  <a:lnTo>
                    <a:pt x="3907" y="2185"/>
                  </a:lnTo>
                  <a:lnTo>
                    <a:pt x="3917" y="2185"/>
                  </a:lnTo>
                  <a:lnTo>
                    <a:pt x="3926" y="2185"/>
                  </a:lnTo>
                  <a:lnTo>
                    <a:pt x="3936" y="2185"/>
                  </a:lnTo>
                  <a:lnTo>
                    <a:pt x="3946" y="2185"/>
                  </a:lnTo>
                  <a:lnTo>
                    <a:pt x="3956" y="2185"/>
                  </a:lnTo>
                  <a:lnTo>
                    <a:pt x="3966" y="2185"/>
                  </a:lnTo>
                  <a:lnTo>
                    <a:pt x="3976" y="2195"/>
                  </a:lnTo>
                  <a:lnTo>
                    <a:pt x="3986" y="2195"/>
                  </a:lnTo>
                  <a:lnTo>
                    <a:pt x="3995" y="2195"/>
                  </a:lnTo>
                  <a:lnTo>
                    <a:pt x="4005" y="2195"/>
                  </a:lnTo>
                  <a:lnTo>
                    <a:pt x="4015" y="2195"/>
                  </a:lnTo>
                  <a:lnTo>
                    <a:pt x="4025" y="2195"/>
                  </a:lnTo>
                  <a:lnTo>
                    <a:pt x="4035" y="2195"/>
                  </a:lnTo>
                  <a:lnTo>
                    <a:pt x="4045" y="2195"/>
                  </a:lnTo>
                  <a:lnTo>
                    <a:pt x="4054" y="2195"/>
                  </a:lnTo>
                  <a:lnTo>
                    <a:pt x="4064" y="2195"/>
                  </a:lnTo>
                  <a:lnTo>
                    <a:pt x="4074" y="2195"/>
                  </a:lnTo>
                  <a:lnTo>
                    <a:pt x="4084" y="2195"/>
                  </a:lnTo>
                  <a:lnTo>
                    <a:pt x="4094" y="2195"/>
                  </a:lnTo>
                  <a:lnTo>
                    <a:pt x="4104" y="2195"/>
                  </a:lnTo>
                  <a:lnTo>
                    <a:pt x="4113" y="2195"/>
                  </a:lnTo>
                  <a:lnTo>
                    <a:pt x="4123" y="2195"/>
                  </a:lnTo>
                  <a:lnTo>
                    <a:pt x="4133" y="2195"/>
                  </a:lnTo>
                  <a:lnTo>
                    <a:pt x="4143" y="2195"/>
                  </a:lnTo>
                  <a:lnTo>
                    <a:pt x="4153" y="2195"/>
                  </a:lnTo>
                  <a:lnTo>
                    <a:pt x="4163" y="2195"/>
                  </a:lnTo>
                  <a:lnTo>
                    <a:pt x="4172" y="2195"/>
                  </a:lnTo>
                  <a:lnTo>
                    <a:pt x="4182" y="2195"/>
                  </a:lnTo>
                  <a:lnTo>
                    <a:pt x="4192" y="2195"/>
                  </a:lnTo>
                  <a:lnTo>
                    <a:pt x="4202" y="2195"/>
                  </a:lnTo>
                  <a:lnTo>
                    <a:pt x="4212" y="2195"/>
                  </a:lnTo>
                  <a:lnTo>
                    <a:pt x="4222" y="2195"/>
                  </a:lnTo>
                  <a:lnTo>
                    <a:pt x="4232" y="2195"/>
                  </a:lnTo>
                  <a:lnTo>
                    <a:pt x="4241" y="2195"/>
                  </a:lnTo>
                  <a:lnTo>
                    <a:pt x="4251" y="2195"/>
                  </a:lnTo>
                  <a:lnTo>
                    <a:pt x="4261" y="2195"/>
                  </a:lnTo>
                </a:path>
              </a:pathLst>
            </a:custGeom>
            <a:noFill/>
            <a:ln w="28575" cmpd="sng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64" name="Rectangle 72"/>
            <p:cNvSpPr>
              <a:spLocks noChangeArrowheads="1"/>
            </p:cNvSpPr>
            <p:nvPr/>
          </p:nvSpPr>
          <p:spPr bwMode="auto">
            <a:xfrm>
              <a:off x="3779" y="385"/>
              <a:ext cx="1083" cy="32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65" name="Rectangle 73"/>
            <p:cNvSpPr>
              <a:spLocks noChangeArrowheads="1"/>
            </p:cNvSpPr>
            <p:nvPr/>
          </p:nvSpPr>
          <p:spPr bwMode="auto">
            <a:xfrm>
              <a:off x="3779" y="385"/>
              <a:ext cx="1083" cy="324"/>
            </a:xfrm>
            <a:prstGeom prst="rect">
              <a:avLst/>
            </a:prstGeom>
            <a:noFill/>
            <a:ln w="15875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66" name="Line 74"/>
            <p:cNvSpPr>
              <a:spLocks noChangeShapeType="1"/>
            </p:cNvSpPr>
            <p:nvPr/>
          </p:nvSpPr>
          <p:spPr bwMode="auto">
            <a:xfrm>
              <a:off x="3779" y="709"/>
              <a:ext cx="1083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67" name="Line 75"/>
            <p:cNvSpPr>
              <a:spLocks noChangeShapeType="1"/>
            </p:cNvSpPr>
            <p:nvPr/>
          </p:nvSpPr>
          <p:spPr bwMode="auto">
            <a:xfrm>
              <a:off x="3779" y="385"/>
              <a:ext cx="1083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68" name="Line 76"/>
            <p:cNvSpPr>
              <a:spLocks noChangeShapeType="1"/>
            </p:cNvSpPr>
            <p:nvPr/>
          </p:nvSpPr>
          <p:spPr bwMode="auto">
            <a:xfrm flipV="1">
              <a:off x="3779" y="385"/>
              <a:ext cx="1" cy="324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69" name="Line 77"/>
            <p:cNvSpPr>
              <a:spLocks noChangeShapeType="1"/>
            </p:cNvSpPr>
            <p:nvPr/>
          </p:nvSpPr>
          <p:spPr bwMode="auto">
            <a:xfrm flipV="1">
              <a:off x="4862" y="385"/>
              <a:ext cx="1" cy="324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70" name="Line 78"/>
            <p:cNvSpPr>
              <a:spLocks noChangeShapeType="1"/>
            </p:cNvSpPr>
            <p:nvPr/>
          </p:nvSpPr>
          <p:spPr bwMode="auto">
            <a:xfrm>
              <a:off x="3779" y="709"/>
              <a:ext cx="1083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71" name="Line 79"/>
            <p:cNvSpPr>
              <a:spLocks noChangeShapeType="1"/>
            </p:cNvSpPr>
            <p:nvPr/>
          </p:nvSpPr>
          <p:spPr bwMode="auto">
            <a:xfrm flipV="1">
              <a:off x="3779" y="385"/>
              <a:ext cx="1" cy="324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72" name="Line 80"/>
            <p:cNvSpPr>
              <a:spLocks noChangeShapeType="1"/>
            </p:cNvSpPr>
            <p:nvPr/>
          </p:nvSpPr>
          <p:spPr bwMode="auto">
            <a:xfrm>
              <a:off x="3779" y="709"/>
              <a:ext cx="1083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73" name="Line 81"/>
            <p:cNvSpPr>
              <a:spLocks noChangeShapeType="1"/>
            </p:cNvSpPr>
            <p:nvPr/>
          </p:nvSpPr>
          <p:spPr bwMode="auto">
            <a:xfrm>
              <a:off x="3779" y="385"/>
              <a:ext cx="1083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74" name="Line 82"/>
            <p:cNvSpPr>
              <a:spLocks noChangeShapeType="1"/>
            </p:cNvSpPr>
            <p:nvPr/>
          </p:nvSpPr>
          <p:spPr bwMode="auto">
            <a:xfrm flipV="1">
              <a:off x="3779" y="385"/>
              <a:ext cx="1" cy="324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75" name="Line 83"/>
            <p:cNvSpPr>
              <a:spLocks noChangeShapeType="1"/>
            </p:cNvSpPr>
            <p:nvPr/>
          </p:nvSpPr>
          <p:spPr bwMode="auto">
            <a:xfrm flipV="1">
              <a:off x="4862" y="385"/>
              <a:ext cx="1" cy="324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76" name="Rectangle 84"/>
            <p:cNvSpPr>
              <a:spLocks noChangeArrowheads="1"/>
            </p:cNvSpPr>
            <p:nvPr/>
          </p:nvSpPr>
          <p:spPr bwMode="auto">
            <a:xfrm>
              <a:off x="4410" y="430"/>
              <a:ext cx="6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400">
                  <a:solidFill>
                    <a:srgbClr val="000000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a</a:t>
              </a:r>
              <a:endPara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77" name="Rectangle 85"/>
            <p:cNvSpPr>
              <a:spLocks noChangeArrowheads="1"/>
            </p:cNvSpPr>
            <p:nvPr/>
          </p:nvSpPr>
          <p:spPr bwMode="auto">
            <a:xfrm>
              <a:off x="4488" y="430"/>
              <a:ext cx="23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400">
                  <a:solidFill>
                    <a:srgbClr val="000000"/>
                  </a:solidFill>
                  <a:latin typeface="Helvetica" panose="020B0604020202020204" pitchFamily="34" charset="0"/>
                  <a:ea typeface="宋体" panose="02010600030101010101" pitchFamily="2" charset="-122"/>
                </a:rPr>
                <a:t>=0.9 </a:t>
              </a:r>
              <a:endPara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78" name="Line 86"/>
            <p:cNvSpPr>
              <a:spLocks noChangeShapeType="1"/>
            </p:cNvSpPr>
            <p:nvPr/>
          </p:nvSpPr>
          <p:spPr bwMode="auto">
            <a:xfrm>
              <a:off x="3868" y="496"/>
              <a:ext cx="334" cy="1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79" name="Rectangle 87"/>
            <p:cNvSpPr>
              <a:spLocks noChangeArrowheads="1"/>
            </p:cNvSpPr>
            <p:nvPr/>
          </p:nvSpPr>
          <p:spPr bwMode="auto">
            <a:xfrm>
              <a:off x="4410" y="535"/>
              <a:ext cx="6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400">
                  <a:solidFill>
                    <a:srgbClr val="000000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a</a:t>
              </a:r>
              <a:endPara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80" name="Rectangle 88"/>
            <p:cNvSpPr>
              <a:spLocks noChangeArrowheads="1"/>
            </p:cNvSpPr>
            <p:nvPr/>
          </p:nvSpPr>
          <p:spPr bwMode="auto">
            <a:xfrm>
              <a:off x="4488" y="535"/>
              <a:ext cx="24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400">
                  <a:solidFill>
                    <a:srgbClr val="000000"/>
                  </a:solidFill>
                  <a:latin typeface="Helvetica" panose="020B0604020202020204" pitchFamily="34" charset="0"/>
                  <a:ea typeface="宋体" panose="02010600030101010101" pitchFamily="2" charset="-122"/>
                </a:rPr>
                <a:t>=-0.9</a:t>
              </a:r>
              <a:endPara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81" name="Line 89"/>
            <p:cNvSpPr>
              <a:spLocks noChangeShapeType="1"/>
            </p:cNvSpPr>
            <p:nvPr/>
          </p:nvSpPr>
          <p:spPr bwMode="auto">
            <a:xfrm>
              <a:off x="3868" y="598"/>
              <a:ext cx="334" cy="1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82" name="Text Box 90"/>
            <p:cNvSpPr txBox="1">
              <a:spLocks noChangeArrowheads="1"/>
            </p:cNvSpPr>
            <p:nvPr/>
          </p:nvSpPr>
          <p:spPr bwMode="auto">
            <a:xfrm>
              <a:off x="2736" y="3263"/>
              <a:ext cx="432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400" i="1">
                  <a:solidFill>
                    <a:srgbClr val="000000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W</a:t>
              </a:r>
              <a:r>
                <a:rPr kumimoji="1" lang="en-US" altLang="zh-CN" sz="2400">
                  <a:solidFill>
                    <a:srgbClr val="000000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/p</a:t>
              </a:r>
              <a:endPara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83" name="Text Box 91"/>
            <p:cNvSpPr txBox="1">
              <a:spLocks noChangeArrowheads="1"/>
            </p:cNvSpPr>
            <p:nvPr/>
          </p:nvSpPr>
          <p:spPr bwMode="auto">
            <a:xfrm rot="-5320232">
              <a:off x="128" y="1550"/>
              <a:ext cx="529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1" lang="en-US" altLang="zh-CN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(e</a:t>
              </a:r>
              <a:r>
                <a:rPr kumimoji="1" lang="en-US" altLang="zh-CN" baseline="3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j</a:t>
              </a:r>
              <a:r>
                <a:rPr kumimoji="1" lang="en-US" altLang="zh-CN" i="1" baseline="30000">
                  <a:solidFill>
                    <a:srgbClr val="000000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W</a:t>
              </a:r>
              <a:r>
                <a:rPr kumimoji="1" lang="en-US" altLang="zh-CN">
                  <a:solidFill>
                    <a:srgbClr val="000000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)</a:t>
              </a:r>
              <a:endParaRPr kumimoji="1"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59485" name="Object 9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3573152"/>
              </p:ext>
            </p:extLst>
          </p:nvPr>
        </p:nvGraphicFramePr>
        <p:xfrm>
          <a:off x="3175000" y="111125"/>
          <a:ext cx="2894013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49" name="Equation" r:id="rId3" imgW="1206360" imgH="431640" progId="Equation.DSMT4">
                  <p:embed/>
                </p:oleObj>
              </mc:Choice>
              <mc:Fallback>
                <p:oleObj name="Equation" r:id="rId3" imgW="1206360" imgH="431640" progId="Equation.DSMT4">
                  <p:embed/>
                  <p:pic>
                    <p:nvPicPr>
                      <p:cNvPr id="59485" name="Object 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5000" y="111125"/>
                        <a:ext cx="2894013" cy="103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86" name="Rectangle 94"/>
          <p:cNvSpPr>
            <a:spLocks noChangeArrowheads="1"/>
          </p:cNvSpPr>
          <p:nvPr/>
        </p:nvSpPr>
        <p:spPr bwMode="auto">
          <a:xfrm>
            <a:off x="1676400" y="106680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35403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2766"/>
  <p:tag name="KSO_WM_TAG_VERSION" val="1.0"/>
  <p:tag name="KSO_WM_SLIDE_ID" val="custom20182766_12"/>
  <p:tag name="KSO_WM_SLIDE_INDEX" val="12"/>
  <p:tag name="KSO_WM_SLIDE_ITEM_CNT" val="2"/>
  <p:tag name="KSO_WM_SLIDE_LAYOUT" val="a_b"/>
  <p:tag name="KSO_WM_SLIDE_LAYOUT_CNT" val="1_1"/>
  <p:tag name="KSO_WM_SLIDE_TYPE" val="sectionTitle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2766"/>
  <p:tag name="KSO_WM_UNIT_TYPE" val="a"/>
  <p:tag name="KSO_WM_UNIT_INDEX" val="1"/>
  <p:tag name="KSO_WM_UNIT_ID" val="custom20182766_12*a*1"/>
  <p:tag name="KSO_WM_UNIT_LAYERLEVEL" val="1"/>
  <p:tag name="KSO_WM_UNIT_VALUE" val="9"/>
  <p:tag name="KSO_WM_UNIT_ISCONTENTSTITLE" val="0"/>
  <p:tag name="KSO_WM_UNIT_HIGHLIGHT" val="0"/>
  <p:tag name="KSO_WM_UNIT_COMPATIBLE" val="0"/>
  <p:tag name="KSO_WM_UNIT_CLEAR" val="0"/>
  <p:tag name="KSO_WM_BEAUTIFY_FLAG" val="#wm#"/>
  <p:tag name="KSO_WM_TAG_VERSION" val="1.0"/>
  <p:tag name="KSO_WM_UNIT_PRESET_TEXT" val="SECTION TITLE"/>
</p:tagLst>
</file>

<file path=ppt/theme/theme1.xml><?xml version="1.0" encoding="utf-8"?>
<a:theme xmlns:a="http://schemas.openxmlformats.org/drawingml/2006/main" name="DSP">
  <a:themeElements>
    <a:clrScheme name="DSP.pot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SP.pot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DSP.pot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SP.pot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P.pot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P.pot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P.po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P.po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P.po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</TotalTime>
  <Words>416</Words>
  <Application>Microsoft Office PowerPoint</Application>
  <PresentationFormat>宽屏</PresentationFormat>
  <Paragraphs>108</Paragraphs>
  <Slides>16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16</vt:i4>
      </vt:variant>
    </vt:vector>
  </HeadingPairs>
  <TitlesOfParts>
    <vt:vector size="32" baseType="lpstr">
      <vt:lpstr>等线</vt:lpstr>
      <vt:lpstr>微软雅黑</vt:lpstr>
      <vt:lpstr>宋体</vt:lpstr>
      <vt:lpstr>华文仿宋</vt:lpstr>
      <vt:lpstr>Arial</vt:lpstr>
      <vt:lpstr>Calibri</vt:lpstr>
      <vt:lpstr>Cambria Math</vt:lpstr>
      <vt:lpstr>Courier New</vt:lpstr>
      <vt:lpstr>Helvetica</vt:lpstr>
      <vt:lpstr>Symbol</vt:lpstr>
      <vt:lpstr>Times New Roman</vt:lpstr>
      <vt:lpstr>Wingdings</vt:lpstr>
      <vt:lpstr>DSP</vt:lpstr>
      <vt:lpstr>Equation</vt:lpstr>
      <vt:lpstr>Visio</vt:lpstr>
      <vt:lpstr>MathType 7.0 Equation</vt:lpstr>
      <vt:lpstr>DTFT</vt:lpstr>
      <vt:lpstr>复习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第3章 离散时间系统的频域分析—傅立叶变换</dc:title>
  <dc:creator>Administrator</dc:creator>
  <cp:lastModifiedBy>CHAO WU</cp:lastModifiedBy>
  <cp:revision>40</cp:revision>
  <dcterms:created xsi:type="dcterms:W3CDTF">2020-08-06T07:31:11Z</dcterms:created>
  <dcterms:modified xsi:type="dcterms:W3CDTF">2023-11-01T14:06:29Z</dcterms:modified>
</cp:coreProperties>
</file>