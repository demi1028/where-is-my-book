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336" r:id="rId2"/>
    <p:sldId id="337" r:id="rId3"/>
    <p:sldId id="318" r:id="rId4"/>
    <p:sldId id="319" r:id="rId5"/>
    <p:sldId id="322" r:id="rId6"/>
    <p:sldId id="323" r:id="rId7"/>
    <p:sldId id="324" r:id="rId8"/>
    <p:sldId id="326" r:id="rId9"/>
    <p:sldId id="327" r:id="rId10"/>
    <p:sldId id="328" r:id="rId11"/>
    <p:sldId id="330" r:id="rId12"/>
    <p:sldId id="332" r:id="rId13"/>
    <p:sldId id="333" r:id="rId14"/>
    <p:sldId id="334" r:id="rId15"/>
    <p:sldId id="335" r:id="rId16"/>
    <p:sldId id="273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4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e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27.e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366BD-A5B0-496B-94FC-CB3C101F2C21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ED852-2A16-4DE8-8237-7F151C998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09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A60AFD-D645-4C5F-9FAB-7576311F8FE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8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129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709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383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530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409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764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271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2343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483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7846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077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772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479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69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e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7.e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3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7.wmf"/><Relationship Id="rId4" Type="http://schemas.openxmlformats.org/officeDocument/2006/relationships/image" Target="../media/image34.emf"/><Relationship Id="rId9" Type="http://schemas.openxmlformats.org/officeDocument/2006/relationships/oleObject" Target="../embeddings/oleObject33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抽样</a:t>
            </a:r>
            <a:endParaRPr kumimoji="0" lang="zh-CN" altLang="en-US" sz="3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1905000" y="1052513"/>
            <a:ext cx="8001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设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是带限实信号，则抽样后信号频谱不混叠的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充分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条件为：</a:t>
            </a: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4267200" y="4533901"/>
            <a:ext cx="3810000" cy="584775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 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/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w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=1/(2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)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4572000" y="76200"/>
            <a:ext cx="335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时域抽样定理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342" name="Text Box 5"/>
          <p:cNvSpPr txBox="1">
            <a:spLocks noChangeArrowheads="1"/>
          </p:cNvSpPr>
          <p:nvPr/>
        </p:nvSpPr>
        <p:spPr bwMode="auto">
          <a:xfrm>
            <a:off x="3852864" y="2781301"/>
            <a:ext cx="4833937" cy="584775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sam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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32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（或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w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sam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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2 </a:t>
            </a:r>
            <a:r>
              <a:rPr kumimoji="1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w</a:t>
            </a:r>
            <a:r>
              <a:rPr kumimoji="1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</a:p>
        </p:txBody>
      </p:sp>
      <p:sp>
        <p:nvSpPr>
          <p:cNvPr id="14343" name="Text Box 6"/>
          <p:cNvSpPr txBox="1">
            <a:spLocks noChangeArrowheads="1"/>
          </p:cNvSpPr>
          <p:nvPr/>
        </p:nvSpPr>
        <p:spPr bwMode="auto">
          <a:xfrm>
            <a:off x="2209800" y="2095501"/>
            <a:ext cx="2954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抽样频率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满足： </a:t>
            </a:r>
          </a:p>
        </p:txBody>
      </p:sp>
      <p:sp>
        <p:nvSpPr>
          <p:cNvPr id="14344" name="Text Box 7"/>
          <p:cNvSpPr txBox="1">
            <a:spLocks noChangeArrowheads="1"/>
          </p:cNvSpPr>
          <p:nvPr/>
        </p:nvSpPr>
        <p:spPr bwMode="auto">
          <a:xfrm>
            <a:off x="2209800" y="3733801"/>
            <a:ext cx="739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或抽样间隔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满足</a:t>
            </a:r>
          </a:p>
        </p:txBody>
      </p:sp>
      <p:sp>
        <p:nvSpPr>
          <p:cNvPr id="14345" name="Text Box 8"/>
          <p:cNvSpPr txBox="1">
            <a:spLocks noChangeArrowheads="1"/>
          </p:cNvSpPr>
          <p:nvPr/>
        </p:nvSpPr>
        <p:spPr bwMode="auto">
          <a:xfrm>
            <a:off x="1809750" y="5353051"/>
            <a:ext cx="86106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sam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       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频谱不混叠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最小抽样频率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(Nyquist rate)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=1/(2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)     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频谱不混叠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最大抽样间隔</a:t>
            </a:r>
          </a:p>
        </p:txBody>
      </p:sp>
      <p:sp>
        <p:nvSpPr>
          <p:cNvPr id="14346" name="Rectangle 9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90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抽样</a:t>
            </a:r>
            <a:endParaRPr kumimoji="0" lang="zh-CN" altLang="en-US" sz="3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1870075" y="152400"/>
            <a:ext cx="79248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例：已知实信号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的最高频率为</a:t>
            </a:r>
            <a:r>
              <a:rPr kumimoji="1" lang="en-US" altLang="zh-CN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(Hz)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，试计算         </a:t>
            </a:r>
          </a:p>
          <a:p>
            <a:pPr marL="0" marR="0" lvl="0" indent="0" algn="l" defTabSz="914400" rtl="0" eaLnBrk="0" fontAlgn="auto" latinLnBrk="0" hangingPunct="0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对各信号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 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*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 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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抽样不混</a:t>
            </a:r>
          </a:p>
          <a:p>
            <a:pPr marL="0" marR="0" lvl="0" indent="0" algn="l" defTabSz="914400" rtl="0" eaLnBrk="0" fontAlgn="auto" latinLnBrk="0" hangingPunct="0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叠的最小抽样频率。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2667000" y="3105151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对信号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抽样时，最小抽样频率为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8305800" y="3962400"/>
            <a:ext cx="22098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2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(Hz)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0" i="1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2632075" y="3943351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*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抽样时，最小抽样频率为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8340725" y="3111501"/>
            <a:ext cx="19050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(Hz)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0" i="1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2743200" y="4781551"/>
            <a:ext cx="723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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抽样时，最小抽样频率为</a:t>
            </a:r>
            <a:endParaRPr kumimoji="1" lang="zh-CN" altLang="en-US" sz="2400" b="0" i="1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01" name="Text Box 9"/>
          <p:cNvSpPr txBox="1">
            <a:spLocks noChangeArrowheads="1"/>
          </p:cNvSpPr>
          <p:nvPr/>
        </p:nvSpPr>
        <p:spPr bwMode="auto">
          <a:xfrm>
            <a:off x="8229600" y="4781551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6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en-US" altLang="zh-CN" sz="2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(Hz)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800" b="0" i="1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2057400" y="2343151"/>
            <a:ext cx="861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解：根据信号时域与频域的对应关系及抽样定理得：</a:t>
            </a: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1676400" y="1925638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81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utoUpdateAnimBg="0"/>
      <p:bldP spid="59396" grpId="0" autoUpdateAnimBg="0"/>
      <p:bldP spid="59397" grpId="0" autoUpdateAnimBg="0"/>
      <p:bldP spid="59398" grpId="0" autoUpdateAnimBg="0"/>
      <p:bldP spid="59399" grpId="0" autoUpdateAnimBg="0"/>
      <p:bldP spid="59400" grpId="0" autoUpdateAnimBg="0"/>
      <p:bldP spid="59401" grpId="0" autoUpdateAnimBg="0"/>
      <p:bldP spid="5940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3962400" y="228600"/>
            <a:ext cx="4800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抽样定理的工程应用</a:t>
            </a:r>
          </a:p>
        </p:txBody>
      </p:sp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1676400" y="4267200"/>
          <a:ext cx="28067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4" name="Visio" r:id="rId3" imgW="1427468" imgH="1204856" progId="Visio.Drawing.11">
                  <p:embed/>
                </p:oleObj>
              </mc:Choice>
              <mc:Fallback>
                <p:oleObj name="Visio" r:id="rId3" imgW="1427468" imgH="1204856" progId="Visio.Drawing.11">
                  <p:embed/>
                  <p:pic>
                    <p:nvPicPr>
                      <p:cNvPr id="604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267200"/>
                        <a:ext cx="2806700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3276600" y="1371601"/>
            <a:ext cx="57150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/>
              <a:t>许多实际工程信号不满足带限条件</a:t>
            </a:r>
          </a:p>
        </p:txBody>
      </p:sp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4800600" y="4267200"/>
          <a:ext cx="28067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5" name="Visio" r:id="rId5" imgW="1426644" imgH="1204222" progId="Visio.Drawing.6">
                  <p:embed/>
                </p:oleObj>
              </mc:Choice>
              <mc:Fallback>
                <p:oleObj name="Visio" r:id="rId5" imgW="1426644" imgH="1204222" progId="Visio.Drawing.6">
                  <p:embed/>
                  <p:pic>
                    <p:nvPicPr>
                      <p:cNvPr id="604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267200"/>
                        <a:ext cx="2806700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Line 6"/>
          <p:cNvSpPr>
            <a:spLocks noChangeShapeType="1"/>
          </p:cNvSpPr>
          <p:nvPr/>
        </p:nvSpPr>
        <p:spPr bwMode="auto">
          <a:xfrm>
            <a:off x="2743200" y="3276600"/>
            <a:ext cx="2133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5181600" y="2819400"/>
            <a:ext cx="1752600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zh-CN" sz="2400"/>
              <a:t>     </a:t>
            </a:r>
            <a:r>
              <a:rPr lang="zh-CN" altLang="en-US" sz="2400" b="1"/>
              <a:t>抗  混</a:t>
            </a:r>
          </a:p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/>
              <a:t>低通滤波器</a:t>
            </a: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4876800" y="2743200"/>
            <a:ext cx="2286000" cy="1066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60425" name="Line 9"/>
          <p:cNvSpPr>
            <a:spLocks noChangeShapeType="1"/>
          </p:cNvSpPr>
          <p:nvPr/>
        </p:nvSpPr>
        <p:spPr bwMode="auto">
          <a:xfrm>
            <a:off x="7162800" y="3276600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0426" name="Object 10"/>
          <p:cNvGraphicFramePr>
            <a:graphicFrameLocks noChangeAspect="1"/>
          </p:cNvGraphicFramePr>
          <p:nvPr/>
        </p:nvGraphicFramePr>
        <p:xfrm>
          <a:off x="2735264" y="2695575"/>
          <a:ext cx="5492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6" name="公式" r:id="rId7" imgW="253670" imgH="177569" progId="Equation.3">
                  <p:embed/>
                </p:oleObj>
              </mc:Choice>
              <mc:Fallback>
                <p:oleObj name="公式" r:id="rId7" imgW="253670" imgH="177569" progId="Equation.3">
                  <p:embed/>
                  <p:pic>
                    <p:nvPicPr>
                      <p:cNvPr id="604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4" y="2695575"/>
                        <a:ext cx="54927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8194676" y="2771776"/>
          <a:ext cx="6318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7" name="公式" r:id="rId9" imgW="291973" imgH="190417" progId="Equation.3">
                  <p:embed/>
                </p:oleObj>
              </mc:Choice>
              <mc:Fallback>
                <p:oleObj name="公式" r:id="rId9" imgW="291973" imgH="190417" progId="Equation.3">
                  <p:embed/>
                  <p:pic>
                    <p:nvPicPr>
                      <p:cNvPr id="6042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4676" y="2771776"/>
                        <a:ext cx="6318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2"/>
          <p:cNvGraphicFramePr>
            <a:graphicFrameLocks noChangeAspect="1"/>
          </p:cNvGraphicFramePr>
          <p:nvPr/>
        </p:nvGraphicFramePr>
        <p:xfrm>
          <a:off x="5680075" y="2209800"/>
          <a:ext cx="603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8" name="公式" r:id="rId11" imgW="279279" imgH="203112" progId="Equation.3">
                  <p:embed/>
                </p:oleObj>
              </mc:Choice>
              <mc:Fallback>
                <p:oleObj name="公式" r:id="rId11" imgW="279279" imgH="203112" progId="Equation.3">
                  <p:embed/>
                  <p:pic>
                    <p:nvPicPr>
                      <p:cNvPr id="604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0075" y="2209800"/>
                        <a:ext cx="6032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13"/>
          <p:cNvGraphicFramePr>
            <a:graphicFrameLocks noChangeAspect="1"/>
          </p:cNvGraphicFramePr>
          <p:nvPr/>
        </p:nvGraphicFramePr>
        <p:xfrm>
          <a:off x="7696200" y="4419600"/>
          <a:ext cx="28067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9" name="Visio" r:id="rId13" imgW="1427468" imgH="1204856" progId="Visio.Drawing.11">
                  <p:embed/>
                </p:oleObj>
              </mc:Choice>
              <mc:Fallback>
                <p:oleObj name="Visio" r:id="rId13" imgW="1427468" imgH="1204856" progId="Visio.Drawing.11">
                  <p:embed/>
                  <p:pic>
                    <p:nvPicPr>
                      <p:cNvPr id="6042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4419600"/>
                        <a:ext cx="28067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11573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utoUpdateAnimBg="0"/>
      <p:bldP spid="60420" grpId="0" animBg="1" autoUpdateAnimBg="0"/>
      <p:bldP spid="60423" grpId="0" autoUpdateAnimBg="0"/>
      <p:bldP spid="604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3733800" y="228601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混叠误差与截断误差比较</a:t>
            </a:r>
            <a:endParaRPr lang="zh-CN" altLang="en-US" sz="2800" b="1"/>
          </a:p>
        </p:txBody>
      </p:sp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1687513" y="1012825"/>
          <a:ext cx="28067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2" name="Visio" r:id="rId3" imgW="1427468" imgH="1204856" progId="Visio.Drawing.11">
                  <p:embed/>
                </p:oleObj>
              </mc:Choice>
              <mc:Fallback>
                <p:oleObj name="Visio" r:id="rId3" imgW="1427468" imgH="1204856" progId="Visio.Drawing.11">
                  <p:embed/>
                  <p:pic>
                    <p:nvPicPr>
                      <p:cNvPr id="614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1012825"/>
                        <a:ext cx="2806700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2057401" y="2187576"/>
          <a:ext cx="7497763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3" name="Visio" r:id="rId5" imgW="3345141" imgH="1087354" progId="Visio.Drawing.11">
                  <p:embed/>
                </p:oleObj>
              </mc:Choice>
              <mc:Fallback>
                <p:oleObj name="Visio" r:id="rId5" imgW="3345141" imgH="1087354" progId="Visio.Drawing.11">
                  <p:embed/>
                  <p:pic>
                    <p:nvPicPr>
                      <p:cNvPr id="614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2187576"/>
                        <a:ext cx="7497763" cy="228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2097089" y="4364038"/>
          <a:ext cx="7634287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4" name="Visio" r:id="rId7" imgW="3435103" imgH="1087354" progId="Visio.Drawing.11">
                  <p:embed/>
                </p:oleObj>
              </mc:Choice>
              <mc:Fallback>
                <p:oleObj name="Visio" r:id="rId7" imgW="3435103" imgH="1087354" progId="Visio.Drawing.11">
                  <p:embed/>
                  <p:pic>
                    <p:nvPicPr>
                      <p:cNvPr id="614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89" y="4364038"/>
                        <a:ext cx="7634287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7388226" y="1095375"/>
          <a:ext cx="303847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5" name="Visio" r:id="rId9" imgW="1427468" imgH="1204856" progId="Visio.Drawing.11">
                  <p:embed/>
                </p:oleObj>
              </mc:Choice>
              <mc:Fallback>
                <p:oleObj name="Visio" r:id="rId9" imgW="1427468" imgH="1204856" progId="Visio.Drawing.11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8226" y="1095375"/>
                        <a:ext cx="3038475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6" name="Rectangle 7"/>
          <p:cNvSpPr>
            <a:spLocks noChangeArrowheads="1"/>
          </p:cNvSpPr>
          <p:nvPr/>
        </p:nvSpPr>
        <p:spPr bwMode="auto">
          <a:xfrm>
            <a:off x="1828800" y="914400"/>
            <a:ext cx="8610600" cy="76200"/>
          </a:xfrm>
          <a:prstGeom prst="rect">
            <a:avLst/>
          </a:prstGeom>
          <a:gradFill rotWithShape="0">
            <a:gsLst>
              <a:gs pos="0">
                <a:srgbClr val="663012"/>
              </a:gs>
              <a:gs pos="14999">
                <a:srgbClr val="A65528"/>
              </a:gs>
              <a:gs pos="35001">
                <a:srgbClr val="D49E6C"/>
              </a:gs>
              <a:gs pos="50000">
                <a:srgbClr val="D6B19C"/>
              </a:gs>
              <a:gs pos="64999">
                <a:srgbClr val="D49E6C"/>
              </a:gs>
              <a:gs pos="85001">
                <a:srgbClr val="A65528"/>
              </a:gs>
              <a:gs pos="100000">
                <a:srgbClr val="663012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63012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抽样</a:t>
            </a:r>
            <a:endParaRPr lang="zh-CN" altLang="en-US" sz="3000" b="1" dirty="0"/>
          </a:p>
        </p:txBody>
      </p:sp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4343400" y="22860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信号重建</a:t>
            </a: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587346"/>
              </p:ext>
            </p:extLst>
          </p:nvPr>
        </p:nvGraphicFramePr>
        <p:xfrm>
          <a:off x="6604000" y="2806700"/>
          <a:ext cx="23606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79" name="Equation" r:id="rId3" imgW="1180800" imgH="241200" progId="Equation.DSMT4">
                  <p:embed/>
                </p:oleObj>
              </mc:Choice>
              <mc:Fallback>
                <p:oleObj name="Equation" r:id="rId3" imgW="1180800" imgH="241200" progId="Equation.DSMT4">
                  <p:embed/>
                  <p:pic>
                    <p:nvPicPr>
                      <p:cNvPr id="634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2806700"/>
                        <a:ext cx="23606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895576"/>
              </p:ext>
            </p:extLst>
          </p:nvPr>
        </p:nvGraphicFramePr>
        <p:xfrm>
          <a:off x="9004300" y="2668588"/>
          <a:ext cx="1270000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0" name="Equation" r:id="rId5" imgW="634680" imgH="393480" progId="Equation.DSMT4">
                  <p:embed/>
                </p:oleObj>
              </mc:Choice>
              <mc:Fallback>
                <p:oleObj name="Equation" r:id="rId5" imgW="634680" imgH="393480" progId="Equation.DSMT4">
                  <p:embed/>
                  <p:pic>
                    <p:nvPicPr>
                      <p:cNvPr id="634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0" y="2668588"/>
                        <a:ext cx="1270000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2738438" y="5808663"/>
          <a:ext cx="284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1" name="公式" r:id="rId7" imgW="1066800" imgH="190500" progId="Equation.3">
                  <p:embed/>
                </p:oleObj>
              </mc:Choice>
              <mc:Fallback>
                <p:oleObj name="公式" r:id="rId7" imgW="1066800" imgH="190500" progId="Equation.3">
                  <p:embed/>
                  <p:pic>
                    <p:nvPicPr>
                      <p:cNvPr id="634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5808663"/>
                        <a:ext cx="2844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6"/>
          <p:cNvGraphicFramePr>
            <a:graphicFrameLocks noChangeAspect="1"/>
          </p:cNvGraphicFramePr>
          <p:nvPr/>
        </p:nvGraphicFramePr>
        <p:xfrm>
          <a:off x="5640388" y="5626100"/>
          <a:ext cx="28305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2" name="公式" r:id="rId9" imgW="1218671" imgH="393529" progId="Equation.3">
                  <p:embed/>
                </p:oleObj>
              </mc:Choice>
              <mc:Fallback>
                <p:oleObj name="公式" r:id="rId9" imgW="1218671" imgH="393529" progId="Equation.3">
                  <p:embed/>
                  <p:pic>
                    <p:nvPicPr>
                      <p:cNvPr id="634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388" y="5626100"/>
                        <a:ext cx="28305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249546"/>
              </p:ext>
            </p:extLst>
          </p:nvPr>
        </p:nvGraphicFramePr>
        <p:xfrm>
          <a:off x="6845300" y="1354138"/>
          <a:ext cx="3249613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3" name="Equation" r:id="rId11" imgW="1625400" imgH="507960" progId="Equation.DSMT4">
                  <p:embed/>
                </p:oleObj>
              </mc:Choice>
              <mc:Fallback>
                <p:oleObj name="Equation" r:id="rId11" imgW="1625400" imgH="507960" progId="Equation.DSMT4">
                  <p:embed/>
                  <p:pic>
                    <p:nvPicPr>
                      <p:cNvPr id="634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1354138"/>
                        <a:ext cx="3249613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008637"/>
              </p:ext>
            </p:extLst>
          </p:nvPr>
        </p:nvGraphicFramePr>
        <p:xfrm>
          <a:off x="2730500" y="3529013"/>
          <a:ext cx="6248400" cy="234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4" name="Visio" r:id="rId13" imgW="2974990" imgH="1174743" progId="Visio.Drawing.11">
                  <p:embed/>
                </p:oleObj>
              </mc:Choice>
              <mc:Fallback>
                <p:oleObj name="Visio" r:id="rId13" imgW="2974990" imgH="1174743" progId="Visio.Drawing.11">
                  <p:embed/>
                  <p:pic>
                    <p:nvPicPr>
                      <p:cNvPr id="634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3529013"/>
                        <a:ext cx="6248400" cy="234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1828800" y="1066800"/>
            <a:ext cx="8610600" cy="76200"/>
          </a:xfrm>
          <a:prstGeom prst="rect">
            <a:avLst/>
          </a:prstGeom>
          <a:gradFill rotWithShape="0">
            <a:gsLst>
              <a:gs pos="0">
                <a:srgbClr val="663012"/>
              </a:gs>
              <a:gs pos="14999">
                <a:srgbClr val="A65528"/>
              </a:gs>
              <a:gs pos="35001">
                <a:srgbClr val="D49E6C"/>
              </a:gs>
              <a:gs pos="50000">
                <a:srgbClr val="D6B19C"/>
              </a:gs>
              <a:gs pos="64999">
                <a:srgbClr val="D49E6C"/>
              </a:gs>
              <a:gs pos="85001">
                <a:srgbClr val="A65528"/>
              </a:gs>
              <a:gs pos="100000">
                <a:srgbClr val="663012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38052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-65087"/>
            <a:ext cx="10363200" cy="11430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solidFill>
                  <a:schemeClr val="tx1"/>
                </a:solidFill>
              </a:rPr>
              <a:t>由抽样信号</a:t>
            </a:r>
            <a:r>
              <a:rPr lang="en-US" altLang="zh-CN" i="1" dirty="0" err="1">
                <a:solidFill>
                  <a:schemeClr val="tx1"/>
                </a:solidFill>
              </a:rPr>
              <a:t>x</a:t>
            </a:r>
            <a:r>
              <a:rPr lang="en-US" altLang="zh-CN" baseline="-25000" dirty="0" err="1">
                <a:solidFill>
                  <a:schemeClr val="tx1"/>
                </a:solidFill>
              </a:rPr>
              <a:t>sam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t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sz="3200" dirty="0">
                <a:solidFill>
                  <a:schemeClr val="tx1"/>
                </a:solidFill>
              </a:rPr>
              <a:t>恢复连续信号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t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2743200" y="2895600"/>
          <a:ext cx="6858000" cy="378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7" name="Visio" r:id="rId3" imgW="3750890" imgH="1699192" progId="Visio.Drawing.11">
                  <p:embed/>
                </p:oleObj>
              </mc:Choice>
              <mc:Fallback>
                <p:oleObj name="Visio" r:id="rId3" imgW="3750890" imgH="1699192" progId="Visio.Drawing.11">
                  <p:embed/>
                  <p:pic>
                    <p:nvPicPr>
                      <p:cNvPr id="645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895600"/>
                        <a:ext cx="6858000" cy="378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3276600" y="1295400"/>
          <a:ext cx="73914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8" name="Visio" r:id="rId5" imgW="4267200" imgH="2286562" progId="Visio.Drawing.6">
                  <p:embed/>
                </p:oleObj>
              </mc:Choice>
              <mc:Fallback>
                <p:oleObj name="Visio" r:id="rId5" imgW="4267200" imgH="2286562" progId="Visio.Drawing.6">
                  <p:embed/>
                  <p:pic>
                    <p:nvPicPr>
                      <p:cNvPr id="6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295400"/>
                        <a:ext cx="73914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6477000" y="1295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zh-CN" sz="2400"/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6248400" y="1219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400" i="1"/>
              <a:t>h</a:t>
            </a:r>
            <a:r>
              <a:rPr lang="en-US" altLang="zh-CN" sz="2400" baseline="-25000"/>
              <a:t>r</a:t>
            </a:r>
            <a:r>
              <a:rPr lang="en-US" altLang="zh-CN" sz="2400"/>
              <a:t>(</a:t>
            </a:r>
            <a:r>
              <a:rPr lang="en-US" altLang="zh-CN" sz="2400" i="1"/>
              <a:t>t</a:t>
            </a:r>
            <a:r>
              <a:rPr lang="en-US" altLang="zh-CN" sz="2400"/>
              <a:t>)</a:t>
            </a:r>
          </a:p>
        </p:txBody>
      </p:sp>
      <p:graphicFrame>
        <p:nvGraphicFramePr>
          <p:cNvPr id="645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715204"/>
              </p:ext>
            </p:extLst>
          </p:nvPr>
        </p:nvGraphicFramePr>
        <p:xfrm>
          <a:off x="6870700" y="1065213"/>
          <a:ext cx="127000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9" name="Equation" r:id="rId7" imgW="634680" imgH="393480" progId="Equation.DSMT4">
                  <p:embed/>
                </p:oleObj>
              </mc:Choice>
              <mc:Fallback>
                <p:oleObj name="Equation" r:id="rId7" imgW="634680" imgH="393480" progId="Equation.DSMT4">
                  <p:embed/>
                  <p:pic>
                    <p:nvPicPr>
                      <p:cNvPr id="645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1065213"/>
                        <a:ext cx="1270000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33023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utoUpdateAnimBg="0"/>
      <p:bldP spid="6451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114300"/>
            <a:ext cx="10363200" cy="11430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solidFill>
                  <a:schemeClr val="tx1"/>
                </a:solidFill>
              </a:rPr>
              <a:t>抽样定理的实际应用举例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1828800" y="990600"/>
            <a:ext cx="8610600" cy="76200"/>
          </a:xfrm>
          <a:prstGeom prst="rect">
            <a:avLst/>
          </a:prstGeom>
          <a:gradFill rotWithShape="0">
            <a:gsLst>
              <a:gs pos="0">
                <a:srgbClr val="663012"/>
              </a:gs>
              <a:gs pos="14999">
                <a:srgbClr val="A65528"/>
              </a:gs>
              <a:gs pos="35001">
                <a:srgbClr val="D49E6C"/>
              </a:gs>
              <a:gs pos="50000">
                <a:srgbClr val="D6B19C"/>
              </a:gs>
              <a:gs pos="64999">
                <a:srgbClr val="D49E6C"/>
              </a:gs>
              <a:gs pos="85001">
                <a:srgbClr val="A65528"/>
              </a:gs>
              <a:gs pos="100000">
                <a:srgbClr val="663012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2533" name="Line 4"/>
          <p:cNvSpPr>
            <a:spLocks noChangeShapeType="1"/>
          </p:cNvSpPr>
          <p:nvPr/>
        </p:nvSpPr>
        <p:spPr bwMode="auto">
          <a:xfrm>
            <a:off x="2819400" y="34290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2534" name="Text Box 5"/>
          <p:cNvSpPr txBox="1">
            <a:spLocks noChangeArrowheads="1"/>
          </p:cNvSpPr>
          <p:nvPr/>
        </p:nvSpPr>
        <p:spPr bwMode="auto">
          <a:xfrm>
            <a:off x="3886200" y="3144839"/>
            <a:ext cx="990600" cy="528637"/>
          </a:xfrm>
          <a:prstGeom prst="rect">
            <a:avLst/>
          </a:prstGeom>
          <a:solidFill>
            <a:srgbClr val="99CCFF"/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ea typeface="黑体" panose="02010609060101010101" pitchFamily="49" charset="-122"/>
              </a:rPr>
              <a:t>A/D</a:t>
            </a:r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>
            <a:off x="4876800" y="34290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2536" name="Text Box 7"/>
          <p:cNvSpPr txBox="1">
            <a:spLocks noChangeArrowheads="1"/>
          </p:cNvSpPr>
          <p:nvPr/>
        </p:nvSpPr>
        <p:spPr bwMode="auto">
          <a:xfrm>
            <a:off x="5791200" y="3200400"/>
            <a:ext cx="990600" cy="528638"/>
          </a:xfrm>
          <a:prstGeom prst="rect">
            <a:avLst/>
          </a:prstGeom>
          <a:solidFill>
            <a:srgbClr val="33CCCC"/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bg1"/>
                </a:solidFill>
                <a:ea typeface="黑体" panose="02010609060101010101" pitchFamily="49" charset="-122"/>
              </a:rPr>
              <a:t>H(z)</a:t>
            </a:r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>
            <a:off x="6781800" y="34290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2538" name="Text Box 9"/>
          <p:cNvSpPr txBox="1">
            <a:spLocks noChangeArrowheads="1"/>
          </p:cNvSpPr>
          <p:nvPr/>
        </p:nvSpPr>
        <p:spPr bwMode="auto">
          <a:xfrm>
            <a:off x="7696200" y="3200400"/>
            <a:ext cx="990600" cy="528638"/>
          </a:xfrm>
          <a:prstGeom prst="rect">
            <a:avLst/>
          </a:prstGeom>
          <a:solidFill>
            <a:srgbClr val="99CCFF"/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ea typeface="黑体" panose="02010609060101010101" pitchFamily="49" charset="-122"/>
              </a:rPr>
              <a:t>D/A</a:t>
            </a:r>
          </a:p>
        </p:txBody>
      </p:sp>
      <p:sp>
        <p:nvSpPr>
          <p:cNvPr id="22539" name="Line 10"/>
          <p:cNvSpPr>
            <a:spLocks noChangeShapeType="1"/>
          </p:cNvSpPr>
          <p:nvPr/>
        </p:nvSpPr>
        <p:spPr bwMode="auto">
          <a:xfrm>
            <a:off x="8686800" y="34290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2540" name="Text Box 11"/>
          <p:cNvSpPr txBox="1">
            <a:spLocks noChangeArrowheads="1"/>
          </p:cNvSpPr>
          <p:nvPr/>
        </p:nvSpPr>
        <p:spPr bwMode="auto">
          <a:xfrm>
            <a:off x="2743200" y="28956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2800">
                <a:solidFill>
                  <a:schemeClr val="tx2"/>
                </a:solidFill>
                <a:ea typeface="黑体" panose="02010609060101010101" pitchFamily="49" charset="-122"/>
              </a:rPr>
              <a:t>(</a:t>
            </a:r>
            <a:r>
              <a:rPr lang="en-US" altLang="zh-CN" sz="2800" i="1">
                <a:solidFill>
                  <a:schemeClr val="tx2"/>
                </a:solidFill>
                <a:ea typeface="黑体" panose="02010609060101010101" pitchFamily="49" charset="-122"/>
              </a:rPr>
              <a:t>t</a:t>
            </a:r>
            <a:r>
              <a:rPr lang="en-US" altLang="zh-CN" sz="2800">
                <a:solidFill>
                  <a:schemeClr val="tx2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2541" name="Text Box 12"/>
          <p:cNvSpPr txBox="1">
            <a:spLocks noChangeArrowheads="1"/>
          </p:cNvSpPr>
          <p:nvPr/>
        </p:nvSpPr>
        <p:spPr bwMode="auto">
          <a:xfrm>
            <a:off x="4953000" y="28194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2800">
                <a:solidFill>
                  <a:schemeClr val="tx2"/>
                </a:solidFill>
                <a:ea typeface="黑体" panose="02010609060101010101" pitchFamily="49" charset="-122"/>
              </a:rPr>
              <a:t>[</a:t>
            </a:r>
            <a:r>
              <a:rPr lang="en-US" altLang="zh-CN" sz="2800" i="1">
                <a:solidFill>
                  <a:schemeClr val="tx2"/>
                </a:solidFill>
                <a:ea typeface="黑体" panose="02010609060101010101" pitchFamily="49" charset="-122"/>
              </a:rPr>
              <a:t>k</a:t>
            </a:r>
            <a:r>
              <a:rPr lang="en-US" altLang="zh-CN" sz="2800">
                <a:solidFill>
                  <a:schemeClr val="tx2"/>
                </a:solidFill>
                <a:ea typeface="黑体" panose="02010609060101010101" pitchFamily="49" charset="-122"/>
              </a:rPr>
              <a:t>]</a:t>
            </a:r>
          </a:p>
        </p:txBody>
      </p:sp>
      <p:sp>
        <p:nvSpPr>
          <p:cNvPr id="22542" name="Text Box 13"/>
          <p:cNvSpPr txBox="1">
            <a:spLocks noChangeArrowheads="1"/>
          </p:cNvSpPr>
          <p:nvPr/>
        </p:nvSpPr>
        <p:spPr bwMode="auto">
          <a:xfrm>
            <a:off x="6858000" y="28194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ea typeface="黑体" panose="02010609060101010101" pitchFamily="49" charset="-122"/>
              </a:rPr>
              <a:t>y</a:t>
            </a:r>
            <a:r>
              <a:rPr lang="en-US" altLang="zh-CN" sz="2800">
                <a:solidFill>
                  <a:schemeClr val="tx2"/>
                </a:solidFill>
                <a:ea typeface="黑体" panose="02010609060101010101" pitchFamily="49" charset="-122"/>
              </a:rPr>
              <a:t>[</a:t>
            </a:r>
            <a:r>
              <a:rPr lang="en-US" altLang="zh-CN" sz="2800" i="1">
                <a:solidFill>
                  <a:schemeClr val="tx2"/>
                </a:solidFill>
                <a:ea typeface="黑体" panose="02010609060101010101" pitchFamily="49" charset="-122"/>
              </a:rPr>
              <a:t>k</a:t>
            </a:r>
            <a:r>
              <a:rPr lang="en-US" altLang="zh-CN" sz="2800">
                <a:solidFill>
                  <a:schemeClr val="tx2"/>
                </a:solidFill>
                <a:ea typeface="黑体" panose="02010609060101010101" pitchFamily="49" charset="-122"/>
              </a:rPr>
              <a:t>]</a:t>
            </a:r>
          </a:p>
        </p:txBody>
      </p:sp>
      <p:sp>
        <p:nvSpPr>
          <p:cNvPr id="22543" name="Text Box 14"/>
          <p:cNvSpPr txBox="1">
            <a:spLocks noChangeArrowheads="1"/>
          </p:cNvSpPr>
          <p:nvPr/>
        </p:nvSpPr>
        <p:spPr bwMode="auto">
          <a:xfrm>
            <a:off x="9067800" y="28194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solidFill>
                  <a:schemeClr val="tx2"/>
                </a:solidFill>
                <a:ea typeface="黑体" panose="02010609060101010101" pitchFamily="49" charset="-122"/>
              </a:rPr>
              <a:t>y</a:t>
            </a:r>
            <a:r>
              <a:rPr lang="en-US" altLang="zh-CN" sz="2800">
                <a:solidFill>
                  <a:schemeClr val="tx2"/>
                </a:solidFill>
                <a:ea typeface="黑体" panose="02010609060101010101" pitchFamily="49" charset="-122"/>
              </a:rPr>
              <a:t>(t)</a:t>
            </a:r>
          </a:p>
        </p:txBody>
      </p:sp>
      <p:sp>
        <p:nvSpPr>
          <p:cNvPr id="22544" name="Rectangle 15"/>
          <p:cNvSpPr>
            <a:spLocks noChangeArrowheads="1"/>
          </p:cNvSpPr>
          <p:nvPr/>
        </p:nvSpPr>
        <p:spPr bwMode="auto">
          <a:xfrm>
            <a:off x="3505200" y="2438400"/>
            <a:ext cx="5638800" cy="1981200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2545" name="Rectangle 16"/>
          <p:cNvSpPr>
            <a:spLocks noChangeArrowheads="1"/>
          </p:cNvSpPr>
          <p:nvPr/>
        </p:nvSpPr>
        <p:spPr bwMode="auto">
          <a:xfrm>
            <a:off x="5638800" y="2971800"/>
            <a:ext cx="1295400" cy="990600"/>
          </a:xfrm>
          <a:prstGeom prst="rect">
            <a:avLst/>
          </a:prstGeom>
          <a:noFill/>
          <a:ln w="19050">
            <a:solidFill>
              <a:srgbClr val="FF66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2546" name="Text Box 17"/>
          <p:cNvSpPr txBox="1">
            <a:spLocks noChangeArrowheads="1"/>
          </p:cNvSpPr>
          <p:nvPr/>
        </p:nvSpPr>
        <p:spPr bwMode="auto">
          <a:xfrm>
            <a:off x="2590800" y="1371600"/>
            <a:ext cx="6324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利用离散系统处理连续时间信号</a:t>
            </a:r>
          </a:p>
        </p:txBody>
      </p:sp>
      <p:sp>
        <p:nvSpPr>
          <p:cNvPr id="22547" name="Text Box 18"/>
          <p:cNvSpPr txBox="1">
            <a:spLocks noChangeArrowheads="1"/>
          </p:cNvSpPr>
          <p:nvPr/>
        </p:nvSpPr>
        <p:spPr bwMode="auto">
          <a:xfrm>
            <a:off x="2971800" y="4953000"/>
            <a:ext cx="464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生物医学信号处理</a:t>
            </a:r>
          </a:p>
        </p:txBody>
      </p:sp>
      <p:sp>
        <p:nvSpPr>
          <p:cNvPr id="22548" name="Text Box 19"/>
          <p:cNvSpPr txBox="1">
            <a:spLocks noChangeArrowheads="1"/>
          </p:cNvSpPr>
          <p:nvPr/>
        </p:nvSpPr>
        <p:spPr bwMode="auto">
          <a:xfrm>
            <a:off x="3124200" y="5638800"/>
            <a:ext cx="441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铁路控制信号识别</a:t>
            </a:r>
          </a:p>
        </p:txBody>
      </p:sp>
    </p:spTree>
    <p:extLst>
      <p:ext uri="{BB962C8B-B14F-4D97-AF65-F5344CB8AC3E}">
        <p14:creationId xmlns:p14="http://schemas.microsoft.com/office/powerpoint/2010/main" val="2870829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4114800" y="228600"/>
            <a:ext cx="4038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生物医学信号处理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5132388" y="1957388"/>
            <a:ext cx="1789112" cy="1433512"/>
          </a:xfrm>
          <a:prstGeom prst="rect">
            <a:avLst/>
          </a:prstGeom>
          <a:solidFill>
            <a:srgbClr val="FFFFFF"/>
          </a:solidFill>
          <a:ln w="38100" cmpd="dbl">
            <a:solidFill>
              <a:srgbClr val="000000"/>
            </a:solidFill>
            <a:miter lim="800000"/>
            <a:headEnd/>
            <a:tailEnd/>
          </a:ln>
        </p:spPr>
        <p:txBody>
          <a:bodyPr lIns="54000" tIns="10800" rIns="54000" bIns="1080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 b="1">
                <a:solidFill>
                  <a:srgbClr val="FF9900"/>
                </a:solidFill>
              </a:rPr>
              <a:t>AdLink PCI 9112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 b="1">
                <a:solidFill>
                  <a:srgbClr val="FF9900"/>
                </a:solidFill>
              </a:rPr>
              <a:t>A/D, D/A Card</a:t>
            </a: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8412164" y="1752600"/>
            <a:ext cx="447675" cy="1843088"/>
          </a:xfrm>
          <a:prstGeom prst="can">
            <a:avLst>
              <a:gd name="adj" fmla="val 102926"/>
            </a:avLst>
          </a:prstGeom>
          <a:solidFill>
            <a:srgbClr val="00CCFF">
              <a:alpha val="50195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4582" name="Line 6"/>
          <p:cNvSpPr>
            <a:spLocks noChangeShapeType="1"/>
          </p:cNvSpPr>
          <p:nvPr/>
        </p:nvSpPr>
        <p:spPr bwMode="auto">
          <a:xfrm flipH="1">
            <a:off x="6921501" y="2366963"/>
            <a:ext cx="14906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 flipH="1">
            <a:off x="6921501" y="2571750"/>
            <a:ext cx="14906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 flipH="1">
            <a:off x="6921501" y="2776538"/>
            <a:ext cx="14906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H="1">
            <a:off x="6921501" y="2981325"/>
            <a:ext cx="14906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 flipH="1">
            <a:off x="6921501" y="3186113"/>
            <a:ext cx="14906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 flipH="1">
            <a:off x="6921501" y="2162175"/>
            <a:ext cx="14906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6623050" y="3390901"/>
            <a:ext cx="0" cy="409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>
            <a:off x="6623050" y="3800475"/>
            <a:ext cx="1938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 flipV="1">
            <a:off x="8561388" y="3186113"/>
            <a:ext cx="0" cy="6143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>
            <a:off x="6473825" y="3390901"/>
            <a:ext cx="0" cy="614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>
            <a:off x="6473825" y="4005263"/>
            <a:ext cx="22367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3" name="Line 17"/>
          <p:cNvSpPr>
            <a:spLocks noChangeShapeType="1"/>
          </p:cNvSpPr>
          <p:nvPr/>
        </p:nvSpPr>
        <p:spPr bwMode="auto">
          <a:xfrm flipV="1">
            <a:off x="8710613" y="3186113"/>
            <a:ext cx="0" cy="819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5878513" y="3390900"/>
            <a:ext cx="0" cy="819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5" name="Line 19"/>
          <p:cNvSpPr>
            <a:spLocks noChangeShapeType="1"/>
          </p:cNvSpPr>
          <p:nvPr/>
        </p:nvSpPr>
        <p:spPr bwMode="auto">
          <a:xfrm>
            <a:off x="5729288" y="3390900"/>
            <a:ext cx="0" cy="1023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>
            <a:off x="5580063" y="3390901"/>
            <a:ext cx="0" cy="1228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7" name="Line 21"/>
          <p:cNvSpPr>
            <a:spLocks noChangeShapeType="1"/>
          </p:cNvSpPr>
          <p:nvPr/>
        </p:nvSpPr>
        <p:spPr bwMode="auto">
          <a:xfrm>
            <a:off x="5430838" y="3390901"/>
            <a:ext cx="0" cy="14335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oval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8" name="Line 22"/>
          <p:cNvSpPr>
            <a:spLocks noChangeShapeType="1"/>
          </p:cNvSpPr>
          <p:nvPr/>
        </p:nvSpPr>
        <p:spPr bwMode="auto">
          <a:xfrm>
            <a:off x="5878514" y="4210050"/>
            <a:ext cx="32781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9" name="Line 23"/>
          <p:cNvSpPr>
            <a:spLocks noChangeShapeType="1"/>
          </p:cNvSpPr>
          <p:nvPr/>
        </p:nvSpPr>
        <p:spPr bwMode="auto">
          <a:xfrm flipV="1">
            <a:off x="9156700" y="3186114"/>
            <a:ext cx="0" cy="10239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0" name="Line 24"/>
          <p:cNvSpPr>
            <a:spLocks noChangeShapeType="1"/>
          </p:cNvSpPr>
          <p:nvPr/>
        </p:nvSpPr>
        <p:spPr bwMode="auto">
          <a:xfrm flipH="1">
            <a:off x="8859838" y="3186113"/>
            <a:ext cx="2968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1" name="Line 25"/>
          <p:cNvSpPr>
            <a:spLocks noChangeShapeType="1"/>
          </p:cNvSpPr>
          <p:nvPr/>
        </p:nvSpPr>
        <p:spPr bwMode="auto">
          <a:xfrm>
            <a:off x="5729289" y="4414838"/>
            <a:ext cx="3576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2" name="Line 26"/>
          <p:cNvSpPr>
            <a:spLocks noChangeShapeType="1"/>
          </p:cNvSpPr>
          <p:nvPr/>
        </p:nvSpPr>
        <p:spPr bwMode="auto">
          <a:xfrm flipV="1">
            <a:off x="9305925" y="2981326"/>
            <a:ext cx="0" cy="14335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3" name="Line 27"/>
          <p:cNvSpPr>
            <a:spLocks noChangeShapeType="1"/>
          </p:cNvSpPr>
          <p:nvPr/>
        </p:nvSpPr>
        <p:spPr bwMode="auto">
          <a:xfrm flipH="1">
            <a:off x="8859839" y="2981325"/>
            <a:ext cx="4460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4" name="Line 28"/>
          <p:cNvSpPr>
            <a:spLocks noChangeShapeType="1"/>
          </p:cNvSpPr>
          <p:nvPr/>
        </p:nvSpPr>
        <p:spPr bwMode="auto">
          <a:xfrm>
            <a:off x="5580064" y="4619625"/>
            <a:ext cx="38750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5" name="Line 29"/>
          <p:cNvSpPr>
            <a:spLocks noChangeShapeType="1"/>
          </p:cNvSpPr>
          <p:nvPr/>
        </p:nvSpPr>
        <p:spPr bwMode="auto">
          <a:xfrm flipV="1">
            <a:off x="9455150" y="2776539"/>
            <a:ext cx="0" cy="18430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6" name="Line 30"/>
          <p:cNvSpPr>
            <a:spLocks noChangeShapeType="1"/>
          </p:cNvSpPr>
          <p:nvPr/>
        </p:nvSpPr>
        <p:spPr bwMode="auto">
          <a:xfrm flipH="1">
            <a:off x="8859838" y="2776538"/>
            <a:ext cx="5953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7" name="Line 31"/>
          <p:cNvSpPr>
            <a:spLocks noChangeShapeType="1"/>
          </p:cNvSpPr>
          <p:nvPr/>
        </p:nvSpPr>
        <p:spPr bwMode="auto">
          <a:xfrm>
            <a:off x="5430839" y="4824413"/>
            <a:ext cx="41735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8" name="Line 32"/>
          <p:cNvSpPr>
            <a:spLocks noChangeShapeType="1"/>
          </p:cNvSpPr>
          <p:nvPr/>
        </p:nvSpPr>
        <p:spPr bwMode="auto">
          <a:xfrm flipV="1">
            <a:off x="9604375" y="2571751"/>
            <a:ext cx="0" cy="22526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9" name="Line 33"/>
          <p:cNvSpPr>
            <a:spLocks noChangeShapeType="1"/>
          </p:cNvSpPr>
          <p:nvPr/>
        </p:nvSpPr>
        <p:spPr bwMode="auto">
          <a:xfrm flipH="1">
            <a:off x="8859839" y="2571750"/>
            <a:ext cx="7445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0" name="Text Box 34"/>
          <p:cNvSpPr txBox="1">
            <a:spLocks noChangeArrowheads="1"/>
          </p:cNvSpPr>
          <p:nvPr/>
        </p:nvSpPr>
        <p:spPr bwMode="auto">
          <a:xfrm>
            <a:off x="3046413" y="1957389"/>
            <a:ext cx="1490662" cy="2867025"/>
          </a:xfrm>
          <a:prstGeom prst="rect">
            <a:avLst/>
          </a:prstGeom>
          <a:solidFill>
            <a:srgbClr val="FFFFFF"/>
          </a:solidFill>
          <a:ln w="38100" cmpd="dbl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endParaRPr kumimoji="0" lang="en-US" altLang="zh-CN" sz="1000"/>
          </a:p>
          <a:p>
            <a:pPr algn="just">
              <a:spcBef>
                <a:spcPct val="0"/>
              </a:spcBef>
              <a:buFontTx/>
              <a:buNone/>
            </a:pPr>
            <a:endParaRPr kumimoji="0" lang="en-US" altLang="zh-CN" sz="1000"/>
          </a:p>
          <a:p>
            <a:pPr algn="just">
              <a:spcBef>
                <a:spcPct val="0"/>
              </a:spcBef>
              <a:buFontTx/>
              <a:buNone/>
            </a:pPr>
            <a:endParaRPr kumimoji="0" lang="en-US" altLang="zh-CN" sz="1000"/>
          </a:p>
          <a:p>
            <a:pPr algn="just">
              <a:spcBef>
                <a:spcPct val="0"/>
              </a:spcBef>
              <a:buFontTx/>
              <a:buNone/>
            </a:pPr>
            <a:endParaRPr kumimoji="0" lang="en-US" altLang="zh-CN" sz="1000"/>
          </a:p>
          <a:p>
            <a:pPr algn="just">
              <a:spcBef>
                <a:spcPct val="0"/>
              </a:spcBef>
              <a:buFontTx/>
              <a:buNone/>
            </a:pPr>
            <a:endParaRPr kumimoji="0" lang="en-US" altLang="zh-CN" sz="1000"/>
          </a:p>
          <a:p>
            <a:pPr algn="just">
              <a:spcBef>
                <a:spcPct val="0"/>
              </a:spcBef>
              <a:buFontTx/>
              <a:buNone/>
            </a:pPr>
            <a:endParaRPr kumimoji="0" lang="en-US" altLang="zh-CN" sz="1000"/>
          </a:p>
          <a:p>
            <a:pPr algn="just">
              <a:spcBef>
                <a:spcPct val="0"/>
              </a:spcBef>
              <a:buFontTx/>
              <a:buNone/>
            </a:pPr>
            <a:endParaRPr kumimoji="0" lang="en-US" altLang="zh-CN" sz="1000"/>
          </a:p>
          <a:p>
            <a:pPr algn="just">
              <a:spcBef>
                <a:spcPct val="0"/>
              </a:spcBef>
              <a:buFontTx/>
              <a:buNone/>
            </a:pPr>
            <a:endParaRPr kumimoji="0" lang="en-US" altLang="zh-CN" sz="1000"/>
          </a:p>
          <a:p>
            <a:pPr algn="just">
              <a:spcBef>
                <a:spcPct val="0"/>
              </a:spcBef>
              <a:buFontTx/>
              <a:buNone/>
            </a:pPr>
            <a:endParaRPr kumimoji="0" lang="en-US" altLang="zh-CN" sz="1000"/>
          </a:p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 b="1">
                <a:solidFill>
                  <a:srgbClr val="009900"/>
                </a:solidFill>
              </a:rPr>
              <a:t>Personal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 b="1">
                <a:solidFill>
                  <a:srgbClr val="009900"/>
                </a:solidFill>
              </a:rPr>
              <a:t>Computers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 b="1">
                <a:solidFill>
                  <a:srgbClr val="009900"/>
                </a:solidFill>
              </a:rPr>
              <a:t>In Window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 b="1">
                <a:solidFill>
                  <a:srgbClr val="009900"/>
                </a:solidFill>
              </a:rPr>
              <a:t>Operation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 b="1">
                <a:solidFill>
                  <a:srgbClr val="009900"/>
                </a:solidFill>
              </a:rPr>
              <a:t>Environments</a:t>
            </a:r>
          </a:p>
        </p:txBody>
      </p:sp>
      <p:sp>
        <p:nvSpPr>
          <p:cNvPr id="24611" name="AutoShape 35"/>
          <p:cNvSpPr>
            <a:spLocks noChangeArrowheads="1"/>
          </p:cNvSpPr>
          <p:nvPr/>
        </p:nvSpPr>
        <p:spPr bwMode="auto">
          <a:xfrm>
            <a:off x="4537076" y="2162175"/>
            <a:ext cx="595313" cy="204788"/>
          </a:xfrm>
          <a:prstGeom prst="leftRightArrow">
            <a:avLst>
              <a:gd name="adj1" fmla="val 50000"/>
              <a:gd name="adj2" fmla="val 58139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4612" name="AutoShape 36"/>
          <p:cNvSpPr>
            <a:spLocks noChangeArrowheads="1"/>
          </p:cNvSpPr>
          <p:nvPr/>
        </p:nvSpPr>
        <p:spPr bwMode="auto">
          <a:xfrm>
            <a:off x="4537076" y="2571750"/>
            <a:ext cx="595313" cy="204788"/>
          </a:xfrm>
          <a:prstGeom prst="leftRightArrow">
            <a:avLst>
              <a:gd name="adj1" fmla="val 50000"/>
              <a:gd name="adj2" fmla="val 58139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4613" name="AutoShape 37"/>
          <p:cNvSpPr>
            <a:spLocks noChangeArrowheads="1"/>
          </p:cNvSpPr>
          <p:nvPr/>
        </p:nvSpPr>
        <p:spPr bwMode="auto">
          <a:xfrm>
            <a:off x="4537076" y="2981325"/>
            <a:ext cx="595313" cy="204788"/>
          </a:xfrm>
          <a:prstGeom prst="leftRightArrow">
            <a:avLst>
              <a:gd name="adj1" fmla="val 50000"/>
              <a:gd name="adj2" fmla="val 58139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4614" name="Text Box 38"/>
          <p:cNvSpPr txBox="1">
            <a:spLocks noChangeArrowheads="1"/>
          </p:cNvSpPr>
          <p:nvPr/>
        </p:nvSpPr>
        <p:spPr bwMode="auto">
          <a:xfrm>
            <a:off x="6623050" y="2571751"/>
            <a:ext cx="298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/>
              <a:t>AI</a:t>
            </a:r>
          </a:p>
        </p:txBody>
      </p:sp>
      <p:sp>
        <p:nvSpPr>
          <p:cNvPr id="24615" name="Text Box 39"/>
          <p:cNvSpPr txBox="1">
            <a:spLocks noChangeArrowheads="1"/>
          </p:cNvSpPr>
          <p:nvPr/>
        </p:nvSpPr>
        <p:spPr bwMode="auto">
          <a:xfrm>
            <a:off x="6326188" y="2981326"/>
            <a:ext cx="29686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/>
              <a:t>AO</a:t>
            </a:r>
          </a:p>
        </p:txBody>
      </p:sp>
      <p:sp>
        <p:nvSpPr>
          <p:cNvPr id="24616" name="Text Box 40"/>
          <p:cNvSpPr txBox="1">
            <a:spLocks noChangeArrowheads="1"/>
          </p:cNvSpPr>
          <p:nvPr/>
        </p:nvSpPr>
        <p:spPr bwMode="auto">
          <a:xfrm>
            <a:off x="5430838" y="2981326"/>
            <a:ext cx="298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/>
              <a:t>DO</a:t>
            </a:r>
          </a:p>
        </p:txBody>
      </p:sp>
      <p:sp>
        <p:nvSpPr>
          <p:cNvPr id="24617" name="Text Box 41"/>
          <p:cNvSpPr txBox="1">
            <a:spLocks noChangeArrowheads="1"/>
          </p:cNvSpPr>
          <p:nvPr/>
        </p:nvSpPr>
        <p:spPr bwMode="auto">
          <a:xfrm>
            <a:off x="4238625" y="2162176"/>
            <a:ext cx="298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/>
              <a:t>AB</a:t>
            </a:r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4238625" y="2571751"/>
            <a:ext cx="298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/>
              <a:t>CB</a:t>
            </a:r>
          </a:p>
        </p:txBody>
      </p:sp>
      <p:sp>
        <p:nvSpPr>
          <p:cNvPr id="24619" name="Text Box 43"/>
          <p:cNvSpPr txBox="1">
            <a:spLocks noChangeArrowheads="1"/>
          </p:cNvSpPr>
          <p:nvPr/>
        </p:nvSpPr>
        <p:spPr bwMode="auto">
          <a:xfrm>
            <a:off x="4238625" y="2981326"/>
            <a:ext cx="298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0" lang="en-US" altLang="zh-CN" sz="1600"/>
              <a:t>DB</a:t>
            </a:r>
          </a:p>
        </p:txBody>
      </p:sp>
      <p:sp>
        <p:nvSpPr>
          <p:cNvPr id="24620" name="Rectangle 44"/>
          <p:cNvSpPr>
            <a:spLocks noChangeArrowheads="1"/>
          </p:cNvSpPr>
          <p:nvPr/>
        </p:nvSpPr>
        <p:spPr bwMode="auto">
          <a:xfrm>
            <a:off x="2895601" y="1752600"/>
            <a:ext cx="4473575" cy="3276600"/>
          </a:xfrm>
          <a:prstGeom prst="rect">
            <a:avLst/>
          </a:prstGeom>
          <a:noFill/>
          <a:ln w="9525">
            <a:solidFill>
              <a:srgbClr val="80808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4621" name="Rectangle 45"/>
          <p:cNvSpPr>
            <a:spLocks noChangeArrowheads="1"/>
          </p:cNvSpPr>
          <p:nvPr/>
        </p:nvSpPr>
        <p:spPr bwMode="auto">
          <a:xfrm>
            <a:off x="7667626" y="1752600"/>
            <a:ext cx="2085975" cy="3276600"/>
          </a:xfrm>
          <a:prstGeom prst="rect">
            <a:avLst/>
          </a:prstGeom>
          <a:noFill/>
          <a:ln w="9525">
            <a:solidFill>
              <a:srgbClr val="80808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4622" name="Text Box 46"/>
          <p:cNvSpPr txBox="1">
            <a:spLocks noChangeArrowheads="1"/>
          </p:cNvSpPr>
          <p:nvPr/>
        </p:nvSpPr>
        <p:spPr bwMode="auto">
          <a:xfrm>
            <a:off x="3657600" y="5638800"/>
            <a:ext cx="563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</a:rPr>
              <a:t>生物信号采集系统组成框图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4623" name="Rectangle 47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69724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4114800" y="304800"/>
            <a:ext cx="4038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生物医学信号处理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562350" y="14097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371600"/>
            <a:ext cx="6781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3657600" y="6172200"/>
            <a:ext cx="563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</a:rPr>
              <a:t>生物信号采集系统接口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80504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4114800" y="304800"/>
            <a:ext cx="4038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生物医学信号处理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3562350" y="14097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657600" y="6172200"/>
            <a:ext cx="563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latin typeface="宋体" panose="02010600030101010101" pitchFamily="2" charset="-122"/>
              </a:rPr>
              <a:t>采集的生物信号的模式识别</a:t>
            </a: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3486150" y="16002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295400"/>
            <a:ext cx="7543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03335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4114800" y="304800"/>
            <a:ext cx="4038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铁路控制信号识别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3562350" y="14097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486150" y="16002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3657600" y="6248400"/>
            <a:ext cx="510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铁路控制信号的时域波形和频谱</a:t>
            </a:r>
            <a:endParaRPr lang="zh-CN" altLang="en-US" sz="2400"/>
          </a:p>
        </p:txBody>
      </p:sp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295400"/>
            <a:ext cx="7086600" cy="488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22683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3711575" y="222251"/>
            <a:ext cx="473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连续信号的离散处理</a:t>
            </a:r>
            <a:endParaRPr lang="zh-CN" altLang="en-US" sz="2400"/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2193925" y="3238500"/>
            <a:ext cx="335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假定 </a:t>
            </a:r>
            <a:r>
              <a:rPr lang="en-US" altLang="zh-CN" sz="2400" i="1"/>
              <a:t>x</a:t>
            </a:r>
            <a:r>
              <a:rPr lang="en-US" altLang="zh-CN" sz="2400"/>
              <a:t>(</a:t>
            </a:r>
            <a:r>
              <a:rPr lang="en-US" altLang="zh-CN" sz="2400" i="1"/>
              <a:t>t</a:t>
            </a:r>
            <a:r>
              <a:rPr lang="en-US" altLang="zh-CN" sz="2400"/>
              <a:t>)</a:t>
            </a:r>
            <a:r>
              <a:rPr lang="zh-CN" altLang="en-US" sz="2400"/>
              <a:t>是限带信号，</a:t>
            </a:r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579046"/>
              </p:ext>
            </p:extLst>
          </p:nvPr>
        </p:nvGraphicFramePr>
        <p:xfrm>
          <a:off x="4086225" y="3770313"/>
          <a:ext cx="3806825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4" name="Equation" r:id="rId3" imgW="1523880" imgH="253800" progId="Equation.DSMT4">
                  <p:embed/>
                </p:oleObj>
              </mc:Choice>
              <mc:Fallback>
                <p:oleObj name="Equation" r:id="rId3" imgW="1523880" imgH="253800" progId="Equation.DSMT4">
                  <p:embed/>
                  <p:pic>
                    <p:nvPicPr>
                      <p:cNvPr id="450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6225" y="3770313"/>
                        <a:ext cx="3806825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722122"/>
              </p:ext>
            </p:extLst>
          </p:nvPr>
        </p:nvGraphicFramePr>
        <p:xfrm>
          <a:off x="4002088" y="4595813"/>
          <a:ext cx="4002087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5" name="Equation" r:id="rId5" imgW="1600200" imgH="482400" progId="Equation.DSMT4">
                  <p:embed/>
                </p:oleObj>
              </mc:Choice>
              <mc:Fallback>
                <p:oleObj name="Equation" r:id="rId5" imgW="1600200" imgH="482400" progId="Equation.DSMT4">
                  <p:embed/>
                  <p:pic>
                    <p:nvPicPr>
                      <p:cNvPr id="450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088" y="4595813"/>
                        <a:ext cx="4002087" cy="120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4119564" y="5930901"/>
          <a:ext cx="36163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6" name="公式" r:id="rId7" imgW="1447172" imgH="215806" progId="Equation.3">
                  <p:embed/>
                </p:oleObj>
              </mc:Choice>
              <mc:Fallback>
                <p:oleObj name="公式" r:id="rId7" imgW="1447172" imgH="215806" progId="Equation.3">
                  <p:embed/>
                  <p:pic>
                    <p:nvPicPr>
                      <p:cNvPr id="450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9564" y="5930901"/>
                        <a:ext cx="36163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10"/>
          <p:cNvGraphicFramePr>
            <a:graphicFrameLocks noChangeAspect="1"/>
          </p:cNvGraphicFramePr>
          <p:nvPr/>
        </p:nvGraphicFramePr>
        <p:xfrm>
          <a:off x="2192338" y="1114425"/>
          <a:ext cx="8101012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7" name="Visio" r:id="rId9" imgW="3321038" imgH="768488" progId="Visio.Drawing.6">
                  <p:embed/>
                </p:oleObj>
              </mc:Choice>
              <mc:Fallback>
                <p:oleObj name="Visio" r:id="rId9" imgW="3321038" imgH="768488" progId="Visio.Drawing.6">
                  <p:embed/>
                  <p:pic>
                    <p:nvPicPr>
                      <p:cNvPr id="3072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38" y="1114425"/>
                        <a:ext cx="8101012" cy="18923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1670051" y="865188"/>
            <a:ext cx="8924925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64896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898700"/>
              </p:ext>
            </p:extLst>
          </p:nvPr>
        </p:nvGraphicFramePr>
        <p:xfrm>
          <a:off x="3994150" y="5487988"/>
          <a:ext cx="4908550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5" name="Equation" r:id="rId3" imgW="2171520" imgH="482400" progId="Equation.DSMT4">
                  <p:embed/>
                </p:oleObj>
              </mc:Choice>
              <mc:Fallback>
                <p:oleObj name="Equation" r:id="rId3" imgW="2171520" imgH="482400" progId="Equation.DSMT4">
                  <p:embed/>
                  <p:pic>
                    <p:nvPicPr>
                      <p:cNvPr id="460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5487988"/>
                        <a:ext cx="4908550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604839" y="5804692"/>
            <a:ext cx="3067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/>
              <a:t>等效的模拟滤波器为</a:t>
            </a:r>
          </a:p>
        </p:txBody>
      </p:sp>
      <p:graphicFrame>
        <p:nvGraphicFramePr>
          <p:cNvPr id="3174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657415"/>
              </p:ext>
            </p:extLst>
          </p:nvPr>
        </p:nvGraphicFramePr>
        <p:xfrm>
          <a:off x="2911475" y="4156075"/>
          <a:ext cx="6094413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6" name="Equation" r:id="rId5" imgW="2438280" imgH="482400" progId="Equation.DSMT4">
                  <p:embed/>
                </p:oleObj>
              </mc:Choice>
              <mc:Fallback>
                <p:oleObj name="Equation" r:id="rId5" imgW="2438280" imgH="482400" progId="Equation.DSMT4">
                  <p:embed/>
                  <p:pic>
                    <p:nvPicPr>
                      <p:cNvPr id="3174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475" y="4156075"/>
                        <a:ext cx="6094413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53851"/>
              </p:ext>
            </p:extLst>
          </p:nvPr>
        </p:nvGraphicFramePr>
        <p:xfrm>
          <a:off x="1908440" y="2783094"/>
          <a:ext cx="36512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7" name="公式" r:id="rId7" imgW="1459866" imgH="215806" progId="Equation.3">
                  <p:embed/>
                </p:oleObj>
              </mc:Choice>
              <mc:Fallback>
                <p:oleObj name="公式" r:id="rId7" imgW="1459866" imgH="215806" progId="Equation.3">
                  <p:embed/>
                  <p:pic>
                    <p:nvPicPr>
                      <p:cNvPr id="460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440" y="2783094"/>
                        <a:ext cx="36512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392807"/>
              </p:ext>
            </p:extLst>
          </p:nvPr>
        </p:nvGraphicFramePr>
        <p:xfrm>
          <a:off x="5559690" y="2783093"/>
          <a:ext cx="38735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8" name="公式" r:id="rId9" imgW="1548728" imgH="215806" progId="Equation.3">
                  <p:embed/>
                </p:oleObj>
              </mc:Choice>
              <mc:Fallback>
                <p:oleObj name="公式" r:id="rId9" imgW="1548728" imgH="215806" progId="Equation.3">
                  <p:embed/>
                  <p:pic>
                    <p:nvPicPr>
                      <p:cNvPr id="460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690" y="2783093"/>
                        <a:ext cx="38735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291329"/>
              </p:ext>
            </p:extLst>
          </p:nvPr>
        </p:nvGraphicFramePr>
        <p:xfrm>
          <a:off x="2943225" y="3260725"/>
          <a:ext cx="5780088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9" name="Equation" r:id="rId11" imgW="2311200" imgH="419040" progId="Equation.DSMT4">
                  <p:embed/>
                </p:oleObj>
              </mc:Choice>
              <mc:Fallback>
                <p:oleObj name="Equation" r:id="rId11" imgW="2311200" imgH="419040" progId="Equation.DSMT4">
                  <p:embed/>
                  <p:pic>
                    <p:nvPicPr>
                      <p:cNvPr id="460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3260725"/>
                        <a:ext cx="5780088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Text Box 8"/>
          <p:cNvSpPr txBox="1">
            <a:spLocks noChangeArrowheads="1"/>
          </p:cNvSpPr>
          <p:nvPr/>
        </p:nvSpPr>
        <p:spPr bwMode="auto">
          <a:xfrm>
            <a:off x="3711575" y="222251"/>
            <a:ext cx="473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连续信号的离散处理</a:t>
            </a:r>
            <a:endParaRPr lang="zh-CN" altLang="en-US" sz="2400"/>
          </a:p>
        </p:txBody>
      </p:sp>
      <p:sp>
        <p:nvSpPr>
          <p:cNvPr id="31754" name="Rectangle 9"/>
          <p:cNvSpPr>
            <a:spLocks noChangeArrowheads="1"/>
          </p:cNvSpPr>
          <p:nvPr/>
        </p:nvSpPr>
        <p:spPr bwMode="auto">
          <a:xfrm>
            <a:off x="1670051" y="865188"/>
            <a:ext cx="8924925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346210"/>
              </p:ext>
            </p:extLst>
          </p:nvPr>
        </p:nvGraphicFramePr>
        <p:xfrm>
          <a:off x="1908440" y="883458"/>
          <a:ext cx="8101012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00" name="Visio" r:id="rId13" imgW="3321038" imgH="768488" progId="Visio.Drawing.6">
                  <p:embed/>
                </p:oleObj>
              </mc:Choice>
              <mc:Fallback>
                <p:oleObj name="Visio" r:id="rId13" imgW="3321038" imgH="768488" progId="Visio.Drawing.6">
                  <p:embed/>
                  <p:pic>
                    <p:nvPicPr>
                      <p:cNvPr id="3072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440" y="883458"/>
                        <a:ext cx="8101012" cy="18923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309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2405063" y="80964"/>
            <a:ext cx="79629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例：对如图所示系统，已知输入模拟信号</a:t>
            </a:r>
            <a:r>
              <a:rPr lang="en-US" altLang="zh-CN" sz="2400" i="1"/>
              <a:t>X</a:t>
            </a:r>
            <a:r>
              <a:rPr lang="en-US" altLang="zh-CN" sz="2400"/>
              <a:t>(j</a:t>
            </a:r>
            <a:r>
              <a:rPr lang="en-US" altLang="zh-CN" sz="2400" i="1">
                <a:latin typeface="Symbol" panose="05050102010706020507" pitchFamily="18" charset="2"/>
              </a:rPr>
              <a:t>w</a:t>
            </a:r>
            <a:r>
              <a:rPr lang="en-US" altLang="zh-CN" sz="2400"/>
              <a:t>)</a:t>
            </a:r>
            <a:r>
              <a:rPr lang="zh-CN" altLang="en-US" sz="2400"/>
              <a:t>，离散系统</a:t>
            </a:r>
            <a:r>
              <a:rPr lang="en-US" altLang="zh-CN" sz="2400" i="1"/>
              <a:t>H</a:t>
            </a:r>
            <a:r>
              <a:rPr lang="en-US" altLang="zh-CN" sz="2400"/>
              <a:t>(e</a:t>
            </a:r>
            <a:r>
              <a:rPr lang="en-US" altLang="zh-CN" sz="2400" baseline="30000"/>
              <a:t>j</a:t>
            </a:r>
            <a:r>
              <a:rPr lang="en-US" altLang="zh-CN" sz="2400" i="1" baseline="30000">
                <a:latin typeface="Symbol" panose="05050102010706020507" pitchFamily="18" charset="2"/>
              </a:rPr>
              <a:t>W</a:t>
            </a:r>
            <a:r>
              <a:rPr lang="en-US" altLang="zh-CN" sz="2400"/>
              <a:t>)</a:t>
            </a:r>
            <a:r>
              <a:rPr lang="zh-CN" altLang="en-US" sz="2400"/>
              <a:t>，试画出</a:t>
            </a:r>
            <a:r>
              <a:rPr lang="en-US" altLang="zh-CN" sz="2400" i="1"/>
              <a:t>X</a:t>
            </a:r>
            <a:r>
              <a:rPr lang="en-US" altLang="zh-CN" sz="2400"/>
              <a:t>(e</a:t>
            </a:r>
            <a:r>
              <a:rPr lang="en-US" altLang="zh-CN" sz="2400" baseline="30000"/>
              <a:t>j</a:t>
            </a:r>
            <a:r>
              <a:rPr lang="en-US" altLang="zh-CN" sz="2400" i="1" baseline="30000">
                <a:latin typeface="Symbol" panose="05050102010706020507" pitchFamily="18" charset="2"/>
              </a:rPr>
              <a:t>W</a:t>
            </a:r>
            <a:r>
              <a:rPr lang="en-US" altLang="zh-CN" sz="2400"/>
              <a:t>)</a:t>
            </a:r>
            <a:r>
              <a:rPr lang="zh-CN" altLang="en-US" sz="2400"/>
              <a:t>、</a:t>
            </a:r>
            <a:r>
              <a:rPr lang="en-US" altLang="zh-CN" sz="2400" i="1"/>
              <a:t>Y</a:t>
            </a:r>
            <a:r>
              <a:rPr lang="en-US" altLang="zh-CN" sz="2400"/>
              <a:t>(e</a:t>
            </a:r>
            <a:r>
              <a:rPr lang="en-US" altLang="zh-CN" sz="2400" baseline="30000"/>
              <a:t>j</a:t>
            </a:r>
            <a:r>
              <a:rPr lang="en-US" altLang="zh-CN" sz="2400" i="1" baseline="30000">
                <a:latin typeface="Symbol" panose="05050102010706020507" pitchFamily="18" charset="2"/>
              </a:rPr>
              <a:t>W</a:t>
            </a:r>
            <a:r>
              <a:rPr lang="en-US" altLang="zh-CN" sz="2400"/>
              <a:t>)</a:t>
            </a:r>
            <a:r>
              <a:rPr lang="zh-CN" altLang="en-US" sz="2400"/>
              <a:t>和</a:t>
            </a:r>
            <a:r>
              <a:rPr lang="en-US" altLang="zh-CN" sz="2400" i="1"/>
              <a:t>Y</a:t>
            </a:r>
            <a:r>
              <a:rPr lang="en-US" altLang="zh-CN" sz="2400" i="1" baseline="-25000"/>
              <a:t>r</a:t>
            </a:r>
            <a:r>
              <a:rPr lang="en-US" altLang="zh-CN" sz="2400"/>
              <a:t>(j</a:t>
            </a:r>
            <a:r>
              <a:rPr lang="en-US" altLang="zh-CN" sz="2400" i="1">
                <a:latin typeface="Symbol" panose="05050102010706020507" pitchFamily="18" charset="2"/>
              </a:rPr>
              <a:t>w</a:t>
            </a:r>
            <a:r>
              <a:rPr lang="en-US" altLang="zh-CN" sz="2400"/>
              <a:t>)</a:t>
            </a:r>
            <a:r>
              <a:rPr lang="zh-CN" altLang="en-US" sz="2400"/>
              <a:t>。</a:t>
            </a:r>
          </a:p>
        </p:txBody>
      </p:sp>
      <p:grpSp>
        <p:nvGrpSpPr>
          <p:cNvPr id="32772" name="Group 15"/>
          <p:cNvGrpSpPr>
            <a:grpSpLocks/>
          </p:cNvGrpSpPr>
          <p:nvPr/>
        </p:nvGrpSpPr>
        <p:grpSpPr bwMode="auto">
          <a:xfrm>
            <a:off x="6437314" y="3241676"/>
            <a:ext cx="3419475" cy="1997075"/>
            <a:chOff x="2697" y="1996"/>
            <a:chExt cx="2723" cy="1586"/>
          </a:xfrm>
        </p:grpSpPr>
        <p:sp>
          <p:nvSpPr>
            <p:cNvPr id="32789" name="Line 16"/>
            <p:cNvSpPr>
              <a:spLocks noChangeShapeType="1"/>
            </p:cNvSpPr>
            <p:nvPr/>
          </p:nvSpPr>
          <p:spPr bwMode="auto">
            <a:xfrm>
              <a:off x="2697" y="3126"/>
              <a:ext cx="265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0" name="Freeform 17"/>
            <p:cNvSpPr>
              <a:spLocks/>
            </p:cNvSpPr>
            <p:nvPr/>
          </p:nvSpPr>
          <p:spPr bwMode="auto">
            <a:xfrm>
              <a:off x="5336" y="3090"/>
              <a:ext cx="84" cy="72"/>
            </a:xfrm>
            <a:custGeom>
              <a:avLst/>
              <a:gdLst>
                <a:gd name="T0" fmla="*/ 0 w 84"/>
                <a:gd name="T1" fmla="*/ 0 h 72"/>
                <a:gd name="T2" fmla="*/ 84 w 84"/>
                <a:gd name="T3" fmla="*/ 36 h 72"/>
                <a:gd name="T4" fmla="*/ 0 w 84"/>
                <a:gd name="T5" fmla="*/ 72 h 72"/>
                <a:gd name="T6" fmla="*/ 0 w 84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4" h="72">
                  <a:moveTo>
                    <a:pt x="0" y="0"/>
                  </a:moveTo>
                  <a:lnTo>
                    <a:pt x="84" y="36"/>
                  </a:lnTo>
                  <a:lnTo>
                    <a:pt x="0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Line 18"/>
            <p:cNvSpPr>
              <a:spLocks noChangeShapeType="1"/>
            </p:cNvSpPr>
            <p:nvPr/>
          </p:nvSpPr>
          <p:spPr bwMode="auto">
            <a:xfrm flipV="1">
              <a:off x="4053" y="2153"/>
              <a:ext cx="1" cy="14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Freeform 19"/>
            <p:cNvSpPr>
              <a:spLocks/>
            </p:cNvSpPr>
            <p:nvPr/>
          </p:nvSpPr>
          <p:spPr bwMode="auto">
            <a:xfrm>
              <a:off x="4017" y="2081"/>
              <a:ext cx="71" cy="84"/>
            </a:xfrm>
            <a:custGeom>
              <a:avLst/>
              <a:gdLst>
                <a:gd name="T0" fmla="*/ 0 w 71"/>
                <a:gd name="T1" fmla="*/ 84 h 84"/>
                <a:gd name="T2" fmla="*/ 36 w 71"/>
                <a:gd name="T3" fmla="*/ 0 h 84"/>
                <a:gd name="T4" fmla="*/ 71 w 71"/>
                <a:gd name="T5" fmla="*/ 84 h 84"/>
                <a:gd name="T6" fmla="*/ 0 w 71"/>
                <a:gd name="T7" fmla="*/ 84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1" h="84">
                  <a:moveTo>
                    <a:pt x="0" y="84"/>
                  </a:moveTo>
                  <a:lnTo>
                    <a:pt x="36" y="0"/>
                  </a:lnTo>
                  <a:lnTo>
                    <a:pt x="71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3" name="Rectangle 20"/>
            <p:cNvSpPr>
              <a:spLocks noChangeArrowheads="1"/>
            </p:cNvSpPr>
            <p:nvPr/>
          </p:nvSpPr>
          <p:spPr bwMode="auto">
            <a:xfrm>
              <a:off x="3921" y="2404"/>
              <a:ext cx="124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2400" b="1"/>
            </a:p>
          </p:txBody>
        </p:sp>
        <p:sp>
          <p:nvSpPr>
            <p:cNvPr id="32794" name="Rectangle 21"/>
            <p:cNvSpPr>
              <a:spLocks noChangeArrowheads="1"/>
            </p:cNvSpPr>
            <p:nvPr/>
          </p:nvSpPr>
          <p:spPr bwMode="auto">
            <a:xfrm>
              <a:off x="4740" y="2039"/>
              <a:ext cx="86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 b="1">
                  <a:solidFill>
                    <a:srgbClr val="000000"/>
                  </a:solidFill>
                </a:rPr>
                <a:t>)</a:t>
              </a:r>
              <a:endParaRPr lang="en-US" altLang="zh-CN" sz="2400" b="1"/>
            </a:p>
          </p:txBody>
        </p:sp>
        <p:sp>
          <p:nvSpPr>
            <p:cNvPr id="32795" name="Rectangle 22"/>
            <p:cNvSpPr>
              <a:spLocks noChangeArrowheads="1"/>
            </p:cNvSpPr>
            <p:nvPr/>
          </p:nvSpPr>
          <p:spPr bwMode="auto">
            <a:xfrm>
              <a:off x="4387" y="2039"/>
              <a:ext cx="86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 b="1">
                  <a:solidFill>
                    <a:srgbClr val="000000"/>
                  </a:solidFill>
                </a:rPr>
                <a:t>(</a:t>
              </a:r>
              <a:endParaRPr lang="en-US" altLang="zh-CN" sz="2400" b="1"/>
            </a:p>
          </p:txBody>
        </p:sp>
        <p:sp>
          <p:nvSpPr>
            <p:cNvPr id="32796" name="Rectangle 23"/>
            <p:cNvSpPr>
              <a:spLocks noChangeArrowheads="1"/>
            </p:cNvSpPr>
            <p:nvPr/>
          </p:nvSpPr>
          <p:spPr bwMode="auto">
            <a:xfrm>
              <a:off x="4613" y="1996"/>
              <a:ext cx="12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 sz="2400" b="1"/>
            </a:p>
          </p:txBody>
        </p:sp>
        <p:sp>
          <p:nvSpPr>
            <p:cNvPr id="32797" name="Rectangle 24"/>
            <p:cNvSpPr>
              <a:spLocks noChangeArrowheads="1"/>
            </p:cNvSpPr>
            <p:nvPr/>
          </p:nvSpPr>
          <p:spPr bwMode="auto">
            <a:xfrm>
              <a:off x="4577" y="2010"/>
              <a:ext cx="55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000000"/>
                  </a:solidFill>
                </a:rPr>
                <a:t>j</a:t>
              </a:r>
              <a:endParaRPr lang="en-US" altLang="zh-CN" sz="2400" b="1"/>
            </a:p>
          </p:txBody>
        </p:sp>
        <p:sp>
          <p:nvSpPr>
            <p:cNvPr id="32798" name="Rectangle 25"/>
            <p:cNvSpPr>
              <a:spLocks noChangeArrowheads="1"/>
            </p:cNvSpPr>
            <p:nvPr/>
          </p:nvSpPr>
          <p:spPr bwMode="auto">
            <a:xfrm>
              <a:off x="4453" y="2039"/>
              <a:ext cx="114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 b="1">
                  <a:solidFill>
                    <a:srgbClr val="000000"/>
                  </a:solidFill>
                </a:rPr>
                <a:t>e</a:t>
              </a:r>
              <a:endParaRPr lang="en-US" altLang="zh-CN" sz="2400" b="1"/>
            </a:p>
          </p:txBody>
        </p:sp>
        <p:sp>
          <p:nvSpPr>
            <p:cNvPr id="32799" name="Rectangle 26"/>
            <p:cNvSpPr>
              <a:spLocks noChangeArrowheads="1"/>
            </p:cNvSpPr>
            <p:nvPr/>
          </p:nvSpPr>
          <p:spPr bwMode="auto">
            <a:xfrm>
              <a:off x="4219" y="2039"/>
              <a:ext cx="199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 b="1" i="1">
                  <a:solidFill>
                    <a:srgbClr val="000000"/>
                  </a:solidFill>
                </a:rPr>
                <a:t>H</a:t>
              </a:r>
              <a:endParaRPr lang="en-US" altLang="zh-CN" sz="2400" b="1"/>
            </a:p>
          </p:txBody>
        </p:sp>
        <p:sp>
          <p:nvSpPr>
            <p:cNvPr id="32800" name="Rectangle 27"/>
            <p:cNvSpPr>
              <a:spLocks noChangeArrowheads="1"/>
            </p:cNvSpPr>
            <p:nvPr/>
          </p:nvSpPr>
          <p:spPr bwMode="auto">
            <a:xfrm>
              <a:off x="4881" y="3108"/>
              <a:ext cx="140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 b="1">
                  <a:solidFill>
                    <a:srgbClr val="000000"/>
                  </a:solidFill>
                  <a:latin typeface="Symbol" panose="05050102010706020507" pitchFamily="18" charset="2"/>
                </a:rPr>
                <a:t>p</a:t>
              </a:r>
              <a:endParaRPr lang="en-US" altLang="zh-CN" sz="2400" b="1"/>
            </a:p>
          </p:txBody>
        </p:sp>
        <p:sp>
          <p:nvSpPr>
            <p:cNvPr id="32801" name="Rectangle 28"/>
            <p:cNvSpPr>
              <a:spLocks noChangeArrowheads="1"/>
            </p:cNvSpPr>
            <p:nvPr/>
          </p:nvSpPr>
          <p:spPr bwMode="auto">
            <a:xfrm>
              <a:off x="3699" y="3252"/>
              <a:ext cx="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 i="1">
                  <a:solidFill>
                    <a:srgbClr val="000000"/>
                  </a:solidFill>
                </a:rPr>
                <a:t>c</a:t>
              </a:r>
              <a:endParaRPr lang="en-US" altLang="zh-CN" sz="2400" b="1"/>
            </a:p>
          </p:txBody>
        </p:sp>
        <p:sp>
          <p:nvSpPr>
            <p:cNvPr id="32802" name="Rectangle 29"/>
            <p:cNvSpPr>
              <a:spLocks noChangeArrowheads="1"/>
            </p:cNvSpPr>
            <p:nvPr/>
          </p:nvSpPr>
          <p:spPr bwMode="auto">
            <a:xfrm>
              <a:off x="3539" y="3126"/>
              <a:ext cx="189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 sz="2400" b="1"/>
            </a:p>
          </p:txBody>
        </p:sp>
        <p:sp>
          <p:nvSpPr>
            <p:cNvPr id="32803" name="Rectangle 30"/>
            <p:cNvSpPr>
              <a:spLocks noChangeArrowheads="1"/>
            </p:cNvSpPr>
            <p:nvPr/>
          </p:nvSpPr>
          <p:spPr bwMode="auto">
            <a:xfrm>
              <a:off x="3399" y="3126"/>
              <a:ext cx="134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zh-CN" sz="2400" b="1"/>
            </a:p>
          </p:txBody>
        </p:sp>
        <p:sp>
          <p:nvSpPr>
            <p:cNvPr id="32804" name="Rectangle 31"/>
            <p:cNvSpPr>
              <a:spLocks noChangeArrowheads="1"/>
            </p:cNvSpPr>
            <p:nvPr/>
          </p:nvSpPr>
          <p:spPr bwMode="auto">
            <a:xfrm>
              <a:off x="5206" y="2880"/>
              <a:ext cx="175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 b="1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 sz="2400" b="1"/>
            </a:p>
          </p:txBody>
        </p:sp>
        <p:sp>
          <p:nvSpPr>
            <p:cNvPr id="32805" name="Rectangle 32"/>
            <p:cNvSpPr>
              <a:spLocks noChangeArrowheads="1"/>
            </p:cNvSpPr>
            <p:nvPr/>
          </p:nvSpPr>
          <p:spPr bwMode="auto">
            <a:xfrm>
              <a:off x="3597" y="2669"/>
              <a:ext cx="911" cy="457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2806" name="Rectangle 33"/>
            <p:cNvSpPr>
              <a:spLocks noChangeArrowheads="1"/>
            </p:cNvSpPr>
            <p:nvPr/>
          </p:nvSpPr>
          <p:spPr bwMode="auto">
            <a:xfrm>
              <a:off x="4576" y="3252"/>
              <a:ext cx="73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 i="1">
                  <a:solidFill>
                    <a:srgbClr val="000000"/>
                  </a:solidFill>
                </a:rPr>
                <a:t>c</a:t>
              </a:r>
              <a:endParaRPr lang="en-US" altLang="zh-CN" sz="2400" b="1"/>
            </a:p>
          </p:txBody>
        </p:sp>
        <p:sp>
          <p:nvSpPr>
            <p:cNvPr id="32807" name="Rectangle 34"/>
            <p:cNvSpPr>
              <a:spLocks noChangeArrowheads="1"/>
            </p:cNvSpPr>
            <p:nvPr/>
          </p:nvSpPr>
          <p:spPr bwMode="auto">
            <a:xfrm>
              <a:off x="4414" y="3126"/>
              <a:ext cx="189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 sz="2400" b="1"/>
            </a:p>
          </p:txBody>
        </p:sp>
        <p:sp>
          <p:nvSpPr>
            <p:cNvPr id="32808" name="Rectangle 35"/>
            <p:cNvSpPr>
              <a:spLocks noChangeArrowheads="1"/>
            </p:cNvSpPr>
            <p:nvPr/>
          </p:nvSpPr>
          <p:spPr bwMode="auto">
            <a:xfrm>
              <a:off x="3081" y="3108"/>
              <a:ext cx="140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 b="1">
                  <a:solidFill>
                    <a:srgbClr val="000000"/>
                  </a:solidFill>
                  <a:latin typeface="Symbol" panose="05050102010706020507" pitchFamily="18" charset="2"/>
                </a:rPr>
                <a:t>p</a:t>
              </a:r>
              <a:endParaRPr lang="en-US" altLang="zh-CN" sz="2400" b="1"/>
            </a:p>
          </p:txBody>
        </p:sp>
        <p:sp>
          <p:nvSpPr>
            <p:cNvPr id="32809" name="Rectangle 36"/>
            <p:cNvSpPr>
              <a:spLocks noChangeArrowheads="1"/>
            </p:cNvSpPr>
            <p:nvPr/>
          </p:nvSpPr>
          <p:spPr bwMode="auto">
            <a:xfrm>
              <a:off x="2954" y="3108"/>
              <a:ext cx="140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 b="1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zh-CN" sz="2400" b="1"/>
            </a:p>
          </p:txBody>
        </p:sp>
        <p:sp>
          <p:nvSpPr>
            <p:cNvPr id="32810" name="Line 37"/>
            <p:cNvSpPr>
              <a:spLocks noChangeShapeType="1"/>
            </p:cNvSpPr>
            <p:nvPr/>
          </p:nvSpPr>
          <p:spPr bwMode="auto">
            <a:xfrm>
              <a:off x="3153" y="3078"/>
              <a:ext cx="1" cy="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1" name="Line 38"/>
            <p:cNvSpPr>
              <a:spLocks noChangeShapeType="1"/>
            </p:cNvSpPr>
            <p:nvPr/>
          </p:nvSpPr>
          <p:spPr bwMode="auto">
            <a:xfrm>
              <a:off x="4964" y="3054"/>
              <a:ext cx="1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2773" name="Object 39"/>
          <p:cNvGraphicFramePr>
            <a:graphicFrameLocks noChangeAspect="1"/>
          </p:cNvGraphicFramePr>
          <p:nvPr/>
        </p:nvGraphicFramePr>
        <p:xfrm>
          <a:off x="2212975" y="1274764"/>
          <a:ext cx="7969250" cy="186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3" name="Visio" r:id="rId3" imgW="3331769" imgH="779983" progId="Visio.Drawing.6">
                  <p:embed/>
                </p:oleObj>
              </mc:Choice>
              <mc:Fallback>
                <p:oleObj name="Visio" r:id="rId3" imgW="3331769" imgH="779983" progId="Visio.Drawing.6">
                  <p:embed/>
                  <p:pic>
                    <p:nvPicPr>
                      <p:cNvPr id="32773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1274764"/>
                        <a:ext cx="7969250" cy="186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74" name="Group 42"/>
          <p:cNvGrpSpPr>
            <a:grpSpLocks/>
          </p:cNvGrpSpPr>
          <p:nvPr/>
        </p:nvGrpSpPr>
        <p:grpSpPr bwMode="auto">
          <a:xfrm>
            <a:off x="2009776" y="3041651"/>
            <a:ext cx="4068763" cy="2403475"/>
            <a:chOff x="0" y="1887"/>
            <a:chExt cx="2723" cy="1551"/>
          </a:xfrm>
        </p:grpSpPr>
        <p:sp>
          <p:nvSpPr>
            <p:cNvPr id="32776" name="Line 3"/>
            <p:cNvSpPr>
              <a:spLocks noChangeShapeType="1"/>
            </p:cNvSpPr>
            <p:nvPr/>
          </p:nvSpPr>
          <p:spPr bwMode="auto">
            <a:xfrm flipV="1">
              <a:off x="1311" y="2014"/>
              <a:ext cx="1" cy="14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7" name="Line 4"/>
            <p:cNvSpPr>
              <a:spLocks noChangeShapeType="1"/>
            </p:cNvSpPr>
            <p:nvPr/>
          </p:nvSpPr>
          <p:spPr bwMode="auto">
            <a:xfrm>
              <a:off x="0" y="2955"/>
              <a:ext cx="265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8" name="Freeform 5"/>
            <p:cNvSpPr>
              <a:spLocks/>
            </p:cNvSpPr>
            <p:nvPr/>
          </p:nvSpPr>
          <p:spPr bwMode="auto">
            <a:xfrm>
              <a:off x="2639" y="2907"/>
              <a:ext cx="84" cy="84"/>
            </a:xfrm>
            <a:custGeom>
              <a:avLst/>
              <a:gdLst>
                <a:gd name="T0" fmla="*/ 0 w 84"/>
                <a:gd name="T1" fmla="*/ 0 h 84"/>
                <a:gd name="T2" fmla="*/ 84 w 84"/>
                <a:gd name="T3" fmla="*/ 48 h 84"/>
                <a:gd name="T4" fmla="*/ 0 w 84"/>
                <a:gd name="T5" fmla="*/ 84 h 84"/>
                <a:gd name="T6" fmla="*/ 0 w 84"/>
                <a:gd name="T7" fmla="*/ 0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4" h="84">
                  <a:moveTo>
                    <a:pt x="0" y="0"/>
                  </a:moveTo>
                  <a:lnTo>
                    <a:pt x="84" y="48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9" name="Freeform 6"/>
            <p:cNvSpPr>
              <a:spLocks/>
            </p:cNvSpPr>
            <p:nvPr/>
          </p:nvSpPr>
          <p:spPr bwMode="auto">
            <a:xfrm>
              <a:off x="420" y="2267"/>
              <a:ext cx="1811" cy="688"/>
            </a:xfrm>
            <a:custGeom>
              <a:avLst/>
              <a:gdLst>
                <a:gd name="T0" fmla="*/ 0 w 1811"/>
                <a:gd name="T1" fmla="*/ 688 h 688"/>
                <a:gd name="T2" fmla="*/ 900 w 1811"/>
                <a:gd name="T3" fmla="*/ 0 h 688"/>
                <a:gd name="T4" fmla="*/ 1811 w 1811"/>
                <a:gd name="T5" fmla="*/ 688 h 6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11" h="688">
                  <a:moveTo>
                    <a:pt x="0" y="688"/>
                  </a:moveTo>
                  <a:lnTo>
                    <a:pt x="900" y="0"/>
                  </a:lnTo>
                  <a:lnTo>
                    <a:pt x="1811" y="688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0" name="Rectangle 7"/>
            <p:cNvSpPr>
              <a:spLocks noChangeArrowheads="1"/>
            </p:cNvSpPr>
            <p:nvPr/>
          </p:nvSpPr>
          <p:spPr bwMode="auto">
            <a:xfrm>
              <a:off x="1224" y="2098"/>
              <a:ext cx="103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endParaRPr lang="en-US" altLang="zh-CN" sz="2400"/>
            </a:p>
          </p:txBody>
        </p:sp>
        <p:sp>
          <p:nvSpPr>
            <p:cNvPr id="32781" name="Rectangle 8"/>
            <p:cNvSpPr>
              <a:spLocks noChangeArrowheads="1"/>
            </p:cNvSpPr>
            <p:nvPr/>
          </p:nvSpPr>
          <p:spPr bwMode="auto">
            <a:xfrm>
              <a:off x="1945" y="1910"/>
              <a:ext cx="7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 sz="2400"/>
            </a:p>
          </p:txBody>
        </p:sp>
        <p:sp>
          <p:nvSpPr>
            <p:cNvPr id="32782" name="Rectangle 9"/>
            <p:cNvSpPr>
              <a:spLocks noChangeArrowheads="1"/>
            </p:cNvSpPr>
            <p:nvPr/>
          </p:nvSpPr>
          <p:spPr bwMode="auto">
            <a:xfrm>
              <a:off x="1636" y="1910"/>
              <a:ext cx="7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 sz="2400"/>
            </a:p>
          </p:txBody>
        </p:sp>
        <p:sp>
          <p:nvSpPr>
            <p:cNvPr id="32783" name="Rectangle 10"/>
            <p:cNvSpPr>
              <a:spLocks noChangeArrowheads="1"/>
            </p:cNvSpPr>
            <p:nvPr/>
          </p:nvSpPr>
          <p:spPr bwMode="auto">
            <a:xfrm>
              <a:off x="1796" y="1887"/>
              <a:ext cx="147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 sz="2400"/>
            </a:p>
          </p:txBody>
        </p:sp>
        <p:sp>
          <p:nvSpPr>
            <p:cNvPr id="32784" name="Rectangle 11"/>
            <p:cNvSpPr>
              <a:spLocks noChangeArrowheads="1"/>
            </p:cNvSpPr>
            <p:nvPr/>
          </p:nvSpPr>
          <p:spPr bwMode="auto">
            <a:xfrm>
              <a:off x="1741" y="1910"/>
              <a:ext cx="6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>
                  <a:solidFill>
                    <a:srgbClr val="000000"/>
                  </a:solidFill>
                </a:rPr>
                <a:t>j</a:t>
              </a:r>
              <a:endParaRPr lang="en-US" altLang="zh-CN" sz="2400"/>
            </a:p>
          </p:txBody>
        </p:sp>
        <p:sp>
          <p:nvSpPr>
            <p:cNvPr id="32785" name="Rectangle 12"/>
            <p:cNvSpPr>
              <a:spLocks noChangeArrowheads="1"/>
            </p:cNvSpPr>
            <p:nvPr/>
          </p:nvSpPr>
          <p:spPr bwMode="auto">
            <a:xfrm>
              <a:off x="1498" y="1910"/>
              <a:ext cx="131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 sz="2400"/>
            </a:p>
          </p:txBody>
        </p:sp>
        <p:sp>
          <p:nvSpPr>
            <p:cNvPr id="32786" name="Rectangle 13"/>
            <p:cNvSpPr>
              <a:spLocks noChangeArrowheads="1"/>
            </p:cNvSpPr>
            <p:nvPr/>
          </p:nvSpPr>
          <p:spPr bwMode="auto">
            <a:xfrm>
              <a:off x="2041" y="2954"/>
              <a:ext cx="355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dirty="0" err="1" smtClean="0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r>
                <a:rPr lang="en-US" altLang="zh-CN" sz="2400" baseline="-25000" dirty="0" err="1" smtClean="0">
                  <a:solidFill>
                    <a:srgbClr val="000000"/>
                  </a:solidFill>
                </a:rPr>
                <a:t>s</a:t>
              </a:r>
              <a:r>
                <a:rPr lang="en-US" altLang="zh-CN" sz="2400" dirty="0" smtClean="0">
                  <a:solidFill>
                    <a:srgbClr val="000000"/>
                  </a:solidFill>
                </a:rPr>
                <a:t>/</a:t>
              </a:r>
              <a:r>
                <a:rPr lang="en-US" altLang="zh-CN" sz="2400" dirty="0" smtClean="0">
                  <a:solidFill>
                    <a:srgbClr val="000000"/>
                  </a:solidFill>
                  <a:latin typeface="Symbol" panose="05050102010706020507" pitchFamily="18" charset="2"/>
                </a:rPr>
                <a:t>2</a:t>
              </a:r>
              <a:endParaRPr lang="en-US" altLang="zh-CN" sz="2400" dirty="0"/>
            </a:p>
          </p:txBody>
        </p:sp>
        <p:sp>
          <p:nvSpPr>
            <p:cNvPr id="32787" name="Rectangle 14"/>
            <p:cNvSpPr>
              <a:spLocks noChangeArrowheads="1"/>
            </p:cNvSpPr>
            <p:nvPr/>
          </p:nvSpPr>
          <p:spPr bwMode="auto">
            <a:xfrm>
              <a:off x="2509" y="2708"/>
              <a:ext cx="147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00" i="1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endParaRPr lang="en-US" altLang="zh-CN" sz="2400"/>
            </a:p>
          </p:txBody>
        </p:sp>
        <p:sp>
          <p:nvSpPr>
            <p:cNvPr id="32788" name="Rectangle 40"/>
            <p:cNvSpPr>
              <a:spLocks noChangeArrowheads="1"/>
            </p:cNvSpPr>
            <p:nvPr/>
          </p:nvSpPr>
          <p:spPr bwMode="auto">
            <a:xfrm>
              <a:off x="217" y="2954"/>
              <a:ext cx="46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dirty="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r>
                <a:rPr lang="en-US" altLang="zh-CN" sz="2400" i="1" dirty="0" err="1" smtClean="0">
                  <a:solidFill>
                    <a:srgbClr val="000000"/>
                  </a:solidFill>
                  <a:latin typeface="Symbol" panose="05050102010706020507" pitchFamily="18" charset="2"/>
                </a:rPr>
                <a:t>w</a:t>
              </a:r>
              <a:r>
                <a:rPr lang="en-US" altLang="zh-CN" sz="2400" baseline="-25000" dirty="0" err="1" smtClean="0">
                  <a:solidFill>
                    <a:srgbClr val="000000"/>
                  </a:solidFill>
                </a:rPr>
                <a:t>s</a:t>
              </a:r>
              <a:r>
                <a:rPr lang="en-US" altLang="zh-CN" sz="2400" dirty="0" smtClean="0">
                  <a:solidFill>
                    <a:srgbClr val="000000"/>
                  </a:solidFill>
                </a:rPr>
                <a:t>/</a:t>
              </a:r>
              <a:r>
                <a:rPr lang="en-US" altLang="zh-CN" sz="2400" dirty="0" smtClean="0">
                  <a:solidFill>
                    <a:srgbClr val="000000"/>
                  </a:solidFill>
                  <a:latin typeface="Symbol" panose="05050102010706020507" pitchFamily="18" charset="2"/>
                </a:rPr>
                <a:t>2</a:t>
              </a:r>
              <a:endParaRPr lang="en-US" altLang="zh-CN" sz="2400" dirty="0"/>
            </a:p>
          </p:txBody>
        </p:sp>
      </p:grpSp>
      <p:sp>
        <p:nvSpPr>
          <p:cNvPr id="32775" name="Rectangle 41"/>
          <p:cNvSpPr>
            <a:spLocks noChangeArrowheads="1"/>
          </p:cNvSpPr>
          <p:nvPr/>
        </p:nvSpPr>
        <p:spPr bwMode="auto">
          <a:xfrm>
            <a:off x="1670051" y="909638"/>
            <a:ext cx="8924925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41658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抽样</a:t>
            </a:r>
            <a:endParaRPr lang="zh-CN" altLang="en-US" sz="3000" b="1"/>
          </a:p>
        </p:txBody>
      </p:sp>
      <p:graphicFrame>
        <p:nvGraphicFramePr>
          <p:cNvPr id="48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556855"/>
              </p:ext>
            </p:extLst>
          </p:nvPr>
        </p:nvGraphicFramePr>
        <p:xfrm>
          <a:off x="3559175" y="2872582"/>
          <a:ext cx="3463925" cy="225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0" name="Visio" r:id="rId3" imgW="1929994" imgH="1133551" progId="Visio.Drawing.6">
                  <p:embed/>
                </p:oleObj>
              </mc:Choice>
              <mc:Fallback>
                <p:oleObj name="Visio" r:id="rId3" imgW="1929994" imgH="1133551" progId="Visio.Drawing.6">
                  <p:embed/>
                  <p:pic>
                    <p:nvPicPr>
                      <p:cNvPr id="481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175" y="2872582"/>
                        <a:ext cx="3463925" cy="225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402514"/>
              </p:ext>
            </p:extLst>
          </p:nvPr>
        </p:nvGraphicFramePr>
        <p:xfrm>
          <a:off x="7495382" y="2771775"/>
          <a:ext cx="4014787" cy="227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1" name="Visio" r:id="rId5" imgW="1929994" imgH="1107034" progId="Visio.Drawing.6">
                  <p:embed/>
                </p:oleObj>
              </mc:Choice>
              <mc:Fallback>
                <p:oleObj name="Visio" r:id="rId5" imgW="1929994" imgH="1107034" progId="Visio.Drawing.6">
                  <p:embed/>
                  <p:pic>
                    <p:nvPicPr>
                      <p:cNvPr id="481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5382" y="2771775"/>
                        <a:ext cx="4014787" cy="227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2047875" y="5546726"/>
            <a:ext cx="80200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(1)</a:t>
            </a:r>
            <a:r>
              <a:rPr lang="zh-CN" altLang="en-US" sz="2400"/>
              <a:t>已知</a:t>
            </a:r>
            <a:r>
              <a:rPr lang="en-US" altLang="zh-CN" sz="2400"/>
              <a:t>DF</a:t>
            </a:r>
            <a:r>
              <a:rPr lang="zh-CN" altLang="en-US" sz="2400"/>
              <a:t>的截频</a:t>
            </a:r>
            <a:r>
              <a:rPr lang="en-US" altLang="zh-CN" sz="2400" i="1">
                <a:latin typeface="Symbol" panose="05050102010706020507" pitchFamily="18" charset="2"/>
              </a:rPr>
              <a:t>W</a:t>
            </a:r>
            <a:r>
              <a:rPr lang="en-US" altLang="zh-CN" sz="2400" baseline="-25000"/>
              <a:t>c</a:t>
            </a:r>
            <a:r>
              <a:rPr lang="zh-CN" altLang="en-US" sz="2400"/>
              <a:t>，等效的</a:t>
            </a:r>
            <a:r>
              <a:rPr lang="en-US" altLang="zh-CN" sz="2400"/>
              <a:t>AF</a:t>
            </a:r>
            <a:r>
              <a:rPr lang="zh-CN" altLang="en-US" sz="2400"/>
              <a:t>的截频</a:t>
            </a:r>
            <a:r>
              <a:rPr lang="en-US" altLang="zh-CN" sz="2400" i="1">
                <a:latin typeface="Symbol" panose="05050102010706020507" pitchFamily="18" charset="2"/>
              </a:rPr>
              <a:t>w</a:t>
            </a:r>
            <a:r>
              <a:rPr lang="en-US" altLang="zh-CN" sz="2400" baseline="-25000"/>
              <a:t>c</a:t>
            </a:r>
            <a:r>
              <a:rPr lang="en-US" altLang="zh-CN" sz="2400"/>
              <a:t>=</a:t>
            </a:r>
            <a:r>
              <a:rPr lang="en-US" altLang="zh-CN" sz="2400" i="1">
                <a:latin typeface="Symbol" panose="05050102010706020507" pitchFamily="18" charset="2"/>
              </a:rPr>
              <a:t>W</a:t>
            </a:r>
            <a:r>
              <a:rPr lang="en-US" altLang="zh-CN" sz="2400" baseline="-25000"/>
              <a:t>c</a:t>
            </a:r>
            <a:r>
              <a:rPr lang="en-US" altLang="zh-CN" sz="2400"/>
              <a:t>/</a:t>
            </a:r>
            <a:r>
              <a:rPr lang="en-US" altLang="zh-CN" sz="2400" i="1"/>
              <a:t>T</a:t>
            </a:r>
            <a:endParaRPr lang="en-US" altLang="zh-CN" sz="240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(2)</a:t>
            </a:r>
            <a:r>
              <a:rPr lang="zh-CN" altLang="en-US" sz="2400"/>
              <a:t>要求</a:t>
            </a:r>
            <a:r>
              <a:rPr lang="en-US" altLang="zh-CN" sz="2400"/>
              <a:t>AF</a:t>
            </a:r>
            <a:r>
              <a:rPr lang="zh-CN" altLang="en-US" sz="2400"/>
              <a:t>的截频为</a:t>
            </a:r>
            <a:r>
              <a:rPr lang="en-US" altLang="zh-CN" sz="2400" i="1">
                <a:latin typeface="Symbol" panose="05050102010706020507" pitchFamily="18" charset="2"/>
              </a:rPr>
              <a:t>w</a:t>
            </a:r>
            <a:r>
              <a:rPr lang="en-US" altLang="zh-CN" sz="2400" baseline="-25000"/>
              <a:t>c</a:t>
            </a:r>
            <a:r>
              <a:rPr lang="zh-CN" altLang="en-US" sz="2400"/>
              <a:t>，</a:t>
            </a:r>
            <a:r>
              <a:rPr lang="en-US" altLang="zh-CN" sz="2400"/>
              <a:t>DF</a:t>
            </a:r>
            <a:r>
              <a:rPr lang="zh-CN" altLang="en-US" sz="2400"/>
              <a:t>的截频应设计为</a:t>
            </a:r>
            <a:r>
              <a:rPr lang="en-US" altLang="zh-CN" sz="2400" i="1">
                <a:latin typeface="Symbol" panose="05050102010706020507" pitchFamily="18" charset="2"/>
              </a:rPr>
              <a:t>W</a:t>
            </a:r>
            <a:r>
              <a:rPr lang="en-US" altLang="zh-CN" sz="2400" baseline="-25000"/>
              <a:t>c</a:t>
            </a:r>
            <a:r>
              <a:rPr lang="en-US" altLang="zh-CN" sz="2400"/>
              <a:t> =</a:t>
            </a:r>
            <a:r>
              <a:rPr lang="en-US" altLang="zh-CN" sz="2400" i="1"/>
              <a:t>T</a:t>
            </a:r>
            <a:r>
              <a:rPr lang="en-US" altLang="zh-CN" sz="2400" i="1">
                <a:latin typeface="Symbol" panose="05050102010706020507" pitchFamily="18" charset="2"/>
              </a:rPr>
              <a:t>w</a:t>
            </a:r>
            <a:r>
              <a:rPr lang="en-US" altLang="zh-CN" sz="2400" baseline="-25000"/>
              <a:t>c</a:t>
            </a:r>
            <a:r>
              <a:rPr lang="en-US" altLang="zh-CN" sz="2400"/>
              <a:t>  </a:t>
            </a:r>
          </a:p>
        </p:txBody>
      </p:sp>
      <p:sp>
        <p:nvSpPr>
          <p:cNvPr id="33798" name="Text Box 5"/>
          <p:cNvSpPr txBox="1">
            <a:spLocks noChangeArrowheads="1"/>
          </p:cNvSpPr>
          <p:nvPr/>
        </p:nvSpPr>
        <p:spPr bwMode="auto">
          <a:xfrm>
            <a:off x="690563" y="5218849"/>
            <a:ext cx="1714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/>
              <a:t>抽样后的谱</a:t>
            </a:r>
          </a:p>
        </p:txBody>
      </p:sp>
      <p:graphicFrame>
        <p:nvGraphicFramePr>
          <p:cNvPr id="48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130960"/>
              </p:ext>
            </p:extLst>
          </p:nvPr>
        </p:nvGraphicFramePr>
        <p:xfrm>
          <a:off x="-27613" y="2846389"/>
          <a:ext cx="3357563" cy="230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2" name="Visio" r:id="rId7" imgW="1929994" imgH="1133551" progId="Visio.Drawing.6">
                  <p:embed/>
                </p:oleObj>
              </mc:Choice>
              <mc:Fallback>
                <p:oleObj name="Visio" r:id="rId7" imgW="1929994" imgH="1133551" progId="Visio.Drawing.6">
                  <p:embed/>
                  <p:pic>
                    <p:nvPicPr>
                      <p:cNvPr id="481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7613" y="2846389"/>
                        <a:ext cx="3357563" cy="230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4195763" y="5102540"/>
            <a:ext cx="2190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DF</a:t>
            </a:r>
            <a:r>
              <a:rPr lang="zh-CN" altLang="en-US" sz="2400" dirty="0"/>
              <a:t>滤波后的谱</a:t>
            </a:r>
          </a:p>
        </p:txBody>
      </p:sp>
      <p:graphicFrame>
        <p:nvGraphicFramePr>
          <p:cNvPr id="33801" name="Object 8"/>
          <p:cNvGraphicFramePr>
            <a:graphicFrameLocks noChangeAspect="1"/>
          </p:cNvGraphicFramePr>
          <p:nvPr/>
        </p:nvGraphicFramePr>
        <p:xfrm>
          <a:off x="6038851" y="3321051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3" name="公式" r:id="rId9" imgW="114151" imgH="215619" progId="Equation.3">
                  <p:embed/>
                </p:oleObj>
              </mc:Choice>
              <mc:Fallback>
                <p:oleObj name="公式" r:id="rId9" imgW="114151" imgH="215619" progId="Equation.3">
                  <p:embed/>
                  <p:pic>
                    <p:nvPicPr>
                      <p:cNvPr id="3380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1" y="3321051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Text Box 9"/>
          <p:cNvSpPr txBox="1">
            <a:spLocks noChangeArrowheads="1"/>
          </p:cNvSpPr>
          <p:nvPr/>
        </p:nvSpPr>
        <p:spPr bwMode="auto">
          <a:xfrm>
            <a:off x="2405063" y="80964"/>
            <a:ext cx="79629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/>
              <a:t>例：对如图所示系统，已知输入模拟信号</a:t>
            </a:r>
            <a:r>
              <a:rPr lang="en-US" altLang="zh-CN" sz="2400" i="1"/>
              <a:t>X</a:t>
            </a:r>
            <a:r>
              <a:rPr lang="en-US" altLang="zh-CN" sz="2400"/>
              <a:t>(j</a:t>
            </a:r>
            <a:r>
              <a:rPr lang="en-US" altLang="zh-CN" sz="2400" i="1">
                <a:latin typeface="Symbol" panose="05050102010706020507" pitchFamily="18" charset="2"/>
              </a:rPr>
              <a:t>w</a:t>
            </a:r>
            <a:r>
              <a:rPr lang="en-US" altLang="zh-CN" sz="2400"/>
              <a:t>)</a:t>
            </a:r>
            <a:r>
              <a:rPr lang="zh-CN" altLang="en-US" sz="2400"/>
              <a:t>，离散系统</a:t>
            </a:r>
            <a:r>
              <a:rPr lang="en-US" altLang="zh-CN" sz="2400" i="1"/>
              <a:t>H</a:t>
            </a:r>
            <a:r>
              <a:rPr lang="en-US" altLang="zh-CN" sz="2400"/>
              <a:t>(e</a:t>
            </a:r>
            <a:r>
              <a:rPr lang="en-US" altLang="zh-CN" sz="2400" baseline="30000"/>
              <a:t>j</a:t>
            </a:r>
            <a:r>
              <a:rPr lang="en-US" altLang="zh-CN" sz="2400" i="1" baseline="30000">
                <a:latin typeface="Symbol" panose="05050102010706020507" pitchFamily="18" charset="2"/>
              </a:rPr>
              <a:t>W</a:t>
            </a:r>
            <a:r>
              <a:rPr lang="en-US" altLang="zh-CN" sz="2400"/>
              <a:t>)</a:t>
            </a:r>
            <a:r>
              <a:rPr lang="zh-CN" altLang="en-US" sz="2400"/>
              <a:t>，试画出</a:t>
            </a:r>
            <a:r>
              <a:rPr lang="en-US" altLang="zh-CN" sz="2400" i="1"/>
              <a:t>X</a:t>
            </a:r>
            <a:r>
              <a:rPr lang="en-US" altLang="zh-CN" sz="2400"/>
              <a:t>(e</a:t>
            </a:r>
            <a:r>
              <a:rPr lang="en-US" altLang="zh-CN" sz="2400" baseline="30000"/>
              <a:t>j</a:t>
            </a:r>
            <a:r>
              <a:rPr lang="en-US" altLang="zh-CN" sz="2400" i="1" baseline="30000">
                <a:latin typeface="Symbol" panose="05050102010706020507" pitchFamily="18" charset="2"/>
              </a:rPr>
              <a:t>W</a:t>
            </a:r>
            <a:r>
              <a:rPr lang="en-US" altLang="zh-CN" sz="2400"/>
              <a:t>)</a:t>
            </a:r>
            <a:r>
              <a:rPr lang="zh-CN" altLang="en-US" sz="2400"/>
              <a:t>、</a:t>
            </a:r>
            <a:r>
              <a:rPr lang="en-US" altLang="zh-CN" sz="2400" i="1"/>
              <a:t>Y</a:t>
            </a:r>
            <a:r>
              <a:rPr lang="en-US" altLang="zh-CN" sz="2400"/>
              <a:t>(e</a:t>
            </a:r>
            <a:r>
              <a:rPr lang="en-US" altLang="zh-CN" sz="2400" baseline="30000"/>
              <a:t>j</a:t>
            </a:r>
            <a:r>
              <a:rPr lang="en-US" altLang="zh-CN" sz="2400" i="1" baseline="30000">
                <a:latin typeface="Symbol" panose="05050102010706020507" pitchFamily="18" charset="2"/>
              </a:rPr>
              <a:t>W</a:t>
            </a:r>
            <a:r>
              <a:rPr lang="en-US" altLang="zh-CN" sz="2400"/>
              <a:t>)</a:t>
            </a:r>
            <a:r>
              <a:rPr lang="zh-CN" altLang="en-US" sz="2400"/>
              <a:t>和</a:t>
            </a:r>
            <a:r>
              <a:rPr lang="en-US" altLang="zh-CN" sz="2400" i="1"/>
              <a:t>Y</a:t>
            </a:r>
            <a:r>
              <a:rPr lang="en-US" altLang="zh-CN" sz="2400" i="1" baseline="-25000"/>
              <a:t>r</a:t>
            </a:r>
            <a:r>
              <a:rPr lang="en-US" altLang="zh-CN" sz="2400"/>
              <a:t>(j</a:t>
            </a:r>
            <a:r>
              <a:rPr lang="en-US" altLang="zh-CN" sz="2400" i="1">
                <a:latin typeface="Symbol" panose="05050102010706020507" pitchFamily="18" charset="2"/>
              </a:rPr>
              <a:t>w</a:t>
            </a:r>
            <a:r>
              <a:rPr lang="en-US" altLang="zh-CN" sz="2400"/>
              <a:t>)</a:t>
            </a:r>
            <a:r>
              <a:rPr lang="zh-CN" altLang="en-US" sz="2400"/>
              <a:t>。</a:t>
            </a:r>
          </a:p>
        </p:txBody>
      </p:sp>
      <p:sp>
        <p:nvSpPr>
          <p:cNvPr id="33803" name="Rectangle 10"/>
          <p:cNvSpPr>
            <a:spLocks noChangeArrowheads="1"/>
          </p:cNvSpPr>
          <p:nvPr/>
        </p:nvSpPr>
        <p:spPr bwMode="auto">
          <a:xfrm>
            <a:off x="1670051" y="909638"/>
            <a:ext cx="8924925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aphicFrame>
        <p:nvGraphicFramePr>
          <p:cNvPr id="12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574639"/>
              </p:ext>
            </p:extLst>
          </p:nvPr>
        </p:nvGraphicFramePr>
        <p:xfrm>
          <a:off x="1125789" y="1038739"/>
          <a:ext cx="7969250" cy="186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4" name="Visio" r:id="rId11" imgW="3331769" imgH="779983" progId="Visio.Drawing.6">
                  <p:embed/>
                </p:oleObj>
              </mc:Choice>
              <mc:Fallback>
                <p:oleObj name="Visio" r:id="rId11" imgW="3331769" imgH="779983" progId="Visio.Drawing.6">
                  <p:embed/>
                  <p:pic>
                    <p:nvPicPr>
                      <p:cNvPr id="32773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789" y="1038739"/>
                        <a:ext cx="7969250" cy="186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198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8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 build="p" autoUpdateAnimBg="0"/>
      <p:bldP spid="4813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EE2C6FF-541F-45C7-AE4B-ED2652D8DB99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381000"/>
            <a:ext cx="8077200" cy="10668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</a:t>
            </a:r>
            <a:r>
              <a:rPr lang="en-US" altLang="zh-CN" dirty="0" smtClean="0">
                <a:ea typeface="宋体" panose="02010600030101010101" pitchFamily="2" charset="-122"/>
              </a:rPr>
              <a:t>1</a:t>
            </a:r>
            <a:r>
              <a:rPr lang="zh-CN" altLang="en-US" dirty="0" smtClean="0">
                <a:ea typeface="宋体" panose="02010600030101010101" pitchFamily="2" charset="-122"/>
              </a:rPr>
              <a:t>章 作业（基础题</a:t>
            </a:r>
            <a:r>
              <a:rPr lang="en-US" altLang="zh-CN" dirty="0" smtClean="0">
                <a:ea typeface="宋体" panose="02010600030101010101" pitchFamily="2" charset="-122"/>
              </a:rPr>
              <a:t>【</a:t>
            </a:r>
            <a:r>
              <a:rPr lang="zh-CN" altLang="en-US" smtClean="0">
                <a:ea typeface="宋体" panose="02010600030101010101" pitchFamily="2" charset="-122"/>
              </a:rPr>
              <a:t>第三版</a:t>
            </a:r>
            <a:r>
              <a:rPr lang="en-US" altLang="zh-CN" smtClean="0">
                <a:ea typeface="宋体" panose="02010600030101010101" pitchFamily="2" charset="-122"/>
              </a:rPr>
              <a:t>】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1600200"/>
            <a:ext cx="6934200" cy="44196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mtClean="0">
                <a:ea typeface="宋体" panose="02010600030101010101" pitchFamily="2" charset="-122"/>
              </a:rPr>
              <a:t>1</a:t>
            </a:r>
          </a:p>
          <a:p>
            <a:pPr marL="0" indent="0">
              <a:buNone/>
            </a:pPr>
            <a:r>
              <a:rPr lang="en-US" altLang="zh-CN" smtClean="0">
                <a:ea typeface="宋体" panose="02010600030101010101" pitchFamily="2" charset="-122"/>
              </a:rPr>
              <a:t>3</a:t>
            </a:r>
            <a:r>
              <a:rPr lang="zh-CN" altLang="en-US" smtClean="0">
                <a:ea typeface="宋体" panose="02010600030101010101" pitchFamily="2" charset="-122"/>
              </a:rPr>
              <a:t>（</a:t>
            </a:r>
            <a:r>
              <a:rPr lang="en-US" altLang="zh-CN" smtClean="0">
                <a:ea typeface="宋体" panose="02010600030101010101" pitchFamily="2" charset="-122"/>
              </a:rPr>
              <a:t>1</a:t>
            </a:r>
            <a:r>
              <a:rPr lang="zh-CN" altLang="en-US" smtClean="0">
                <a:ea typeface="宋体" panose="02010600030101010101" pitchFamily="2" charset="-122"/>
              </a:rPr>
              <a:t>）（</a:t>
            </a:r>
            <a:r>
              <a:rPr lang="en-US" altLang="zh-CN" smtClean="0">
                <a:ea typeface="宋体" panose="02010600030101010101" pitchFamily="2" charset="-122"/>
              </a:rPr>
              <a:t>3</a:t>
            </a:r>
            <a:r>
              <a:rPr lang="zh-CN" altLang="en-US" smtClean="0">
                <a:ea typeface="宋体" panose="02010600030101010101" pitchFamily="2" charset="-122"/>
              </a:rPr>
              <a:t>）（</a:t>
            </a:r>
            <a:r>
              <a:rPr lang="en-US" altLang="zh-CN" smtClean="0">
                <a:ea typeface="宋体" panose="02010600030101010101" pitchFamily="2" charset="-122"/>
              </a:rPr>
              <a:t>4</a:t>
            </a:r>
            <a:r>
              <a:rPr lang="zh-CN" altLang="en-US" smtClean="0">
                <a:ea typeface="宋体" panose="02010600030101010101" pitchFamily="2" charset="-122"/>
              </a:rPr>
              <a:t>）（</a:t>
            </a:r>
            <a:r>
              <a:rPr lang="en-US" altLang="zh-CN" smtClean="0">
                <a:ea typeface="宋体" panose="02010600030101010101" pitchFamily="2" charset="-122"/>
              </a:rPr>
              <a:t>6</a:t>
            </a:r>
            <a:r>
              <a:rPr lang="zh-CN" altLang="en-US" smtClean="0">
                <a:ea typeface="宋体" panose="02010600030101010101" pitchFamily="2" charset="-122"/>
              </a:rPr>
              <a:t>）</a:t>
            </a:r>
            <a:endParaRPr lang="en-US" altLang="zh-CN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mtClean="0">
                <a:ea typeface="宋体" panose="02010600030101010101" pitchFamily="2" charset="-122"/>
              </a:rPr>
              <a:t>9</a:t>
            </a:r>
            <a:r>
              <a:rPr lang="zh-CN" altLang="en-US" smtClean="0">
                <a:ea typeface="宋体" panose="02010600030101010101" pitchFamily="2" charset="-122"/>
              </a:rPr>
              <a:t>（</a:t>
            </a:r>
            <a:r>
              <a:rPr lang="en-US" altLang="zh-CN" smtClean="0">
                <a:ea typeface="宋体" panose="02010600030101010101" pitchFamily="2" charset="-122"/>
              </a:rPr>
              <a:t>2</a:t>
            </a:r>
            <a:r>
              <a:rPr lang="zh-CN" altLang="en-US" smtClean="0">
                <a:ea typeface="宋体" panose="02010600030101010101" pitchFamily="2" charset="-122"/>
              </a:rPr>
              <a:t>）（</a:t>
            </a:r>
            <a:r>
              <a:rPr lang="en-US" altLang="zh-CN" smtClean="0">
                <a:ea typeface="宋体" panose="02010600030101010101" pitchFamily="2" charset="-122"/>
              </a:rPr>
              <a:t>4</a:t>
            </a:r>
            <a:r>
              <a:rPr lang="zh-CN" altLang="en-US" smtClean="0">
                <a:ea typeface="宋体" panose="02010600030101010101" pitchFamily="2" charset="-122"/>
              </a:rPr>
              <a:t>）</a:t>
            </a:r>
            <a:endParaRPr lang="en-US" altLang="zh-CN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mtClean="0">
                <a:ea typeface="宋体" panose="02010600030101010101" pitchFamily="2" charset="-122"/>
              </a:rPr>
              <a:t>10</a:t>
            </a:r>
            <a:r>
              <a:rPr lang="zh-CN" altLang="en-US" smtClean="0">
                <a:ea typeface="宋体" panose="02010600030101010101" pitchFamily="2" charset="-122"/>
              </a:rPr>
              <a:t>（</a:t>
            </a:r>
            <a:r>
              <a:rPr lang="en-US" altLang="zh-CN" smtClean="0">
                <a:ea typeface="宋体" panose="02010600030101010101" pitchFamily="2" charset="-122"/>
              </a:rPr>
              <a:t>5</a:t>
            </a:r>
            <a:r>
              <a:rPr lang="zh-CN" altLang="en-US" smtClean="0">
                <a:ea typeface="宋体" panose="02010600030101010101" pitchFamily="2" charset="-122"/>
              </a:rPr>
              <a:t>）（</a:t>
            </a:r>
            <a:r>
              <a:rPr lang="en-US" altLang="zh-CN" smtClean="0">
                <a:ea typeface="宋体" panose="02010600030101010101" pitchFamily="2" charset="-122"/>
              </a:rPr>
              <a:t>6</a:t>
            </a:r>
            <a:r>
              <a:rPr lang="zh-CN" altLang="en-US" smtClean="0">
                <a:ea typeface="宋体" panose="02010600030101010101" pitchFamily="2" charset="-122"/>
              </a:rPr>
              <a:t>）（</a:t>
            </a:r>
            <a:r>
              <a:rPr lang="en-US" altLang="zh-CN" smtClean="0">
                <a:ea typeface="宋体" panose="02010600030101010101" pitchFamily="2" charset="-122"/>
              </a:rPr>
              <a:t>8</a:t>
            </a:r>
            <a:r>
              <a:rPr lang="zh-CN" altLang="en-US" smtClean="0">
                <a:ea typeface="宋体" panose="02010600030101010101" pitchFamily="2" charset="-122"/>
              </a:rPr>
              <a:t>）</a:t>
            </a:r>
            <a:endParaRPr lang="en-US" altLang="zh-CN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mtClean="0">
                <a:ea typeface="宋体" panose="02010600030101010101" pitchFamily="2" charset="-122"/>
              </a:rPr>
              <a:t>12</a:t>
            </a:r>
            <a:r>
              <a:rPr lang="zh-CN" altLang="en-US" smtClean="0">
                <a:ea typeface="宋体" panose="02010600030101010101" pitchFamily="2" charset="-122"/>
              </a:rPr>
              <a:t>（</a:t>
            </a:r>
            <a:r>
              <a:rPr lang="en-US" altLang="zh-CN" smtClean="0">
                <a:ea typeface="宋体" panose="02010600030101010101" pitchFamily="2" charset="-122"/>
              </a:rPr>
              <a:t>2</a:t>
            </a:r>
            <a:r>
              <a:rPr lang="zh-CN" altLang="en-US" smtClean="0">
                <a:ea typeface="宋体" panose="02010600030101010101" pitchFamily="2" charset="-122"/>
              </a:rPr>
              <a:t>）（</a:t>
            </a:r>
            <a:r>
              <a:rPr lang="en-US" altLang="zh-CN" smtClean="0">
                <a:ea typeface="宋体" panose="02010600030101010101" pitchFamily="2" charset="-122"/>
              </a:rPr>
              <a:t>3</a:t>
            </a:r>
            <a:r>
              <a:rPr lang="zh-CN" altLang="en-US" smtClean="0">
                <a:ea typeface="宋体" panose="02010600030101010101" pitchFamily="2" charset="-122"/>
              </a:rPr>
              <a:t>）</a:t>
            </a:r>
            <a:endParaRPr lang="en-US" altLang="zh-CN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mtClean="0">
                <a:ea typeface="宋体" panose="02010600030101010101" pitchFamily="2" charset="-122"/>
              </a:rPr>
              <a:t>18</a:t>
            </a:r>
          </a:p>
          <a:p>
            <a:pPr marL="0" indent="0">
              <a:buNone/>
            </a:pPr>
            <a:r>
              <a:rPr lang="en-US" altLang="zh-CN" smtClean="0">
                <a:ea typeface="宋体" panose="02010600030101010101" pitchFamily="2" charset="-122"/>
              </a:rPr>
              <a:t>25</a:t>
            </a:r>
          </a:p>
          <a:p>
            <a:pPr marL="0" indent="0">
              <a:buNone/>
            </a:pPr>
            <a:r>
              <a:rPr lang="en-US" altLang="zh-CN" smtClean="0">
                <a:ea typeface="宋体" panose="02010600030101010101" pitchFamily="2" charset="-122"/>
              </a:rPr>
              <a:t>29</a:t>
            </a:r>
          </a:p>
          <a:p>
            <a:pPr marL="0" indent="0">
              <a:buNone/>
            </a:pPr>
            <a:endParaRPr lang="en-US" altLang="zh-CN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606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522</Words>
  <Application>Microsoft Office PowerPoint</Application>
  <PresentationFormat>宽屏</PresentationFormat>
  <Paragraphs>128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等线</vt:lpstr>
      <vt:lpstr>隶书</vt:lpstr>
      <vt:lpstr>黑体</vt:lpstr>
      <vt:lpstr>宋体</vt:lpstr>
      <vt:lpstr>Comic Sans MS</vt:lpstr>
      <vt:lpstr>Symbol</vt:lpstr>
      <vt:lpstr>Times New Roman</vt:lpstr>
      <vt:lpstr>icfp99</vt:lpstr>
      <vt:lpstr>Visio</vt:lpstr>
      <vt:lpstr>公式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由抽样信号xsam(t)恢复连续信号x (t)</vt:lpstr>
      <vt:lpstr>抽样定理的实际应用举例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第1章 作业（基础题【第三版】）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离散时间信号与系统</dc:title>
  <dc:creator>Administrator</dc:creator>
  <cp:lastModifiedBy>CHAO WU</cp:lastModifiedBy>
  <cp:revision>49</cp:revision>
  <dcterms:created xsi:type="dcterms:W3CDTF">2020-08-06T07:23:58Z</dcterms:created>
  <dcterms:modified xsi:type="dcterms:W3CDTF">2023-10-12T09:17:11Z</dcterms:modified>
</cp:coreProperties>
</file>