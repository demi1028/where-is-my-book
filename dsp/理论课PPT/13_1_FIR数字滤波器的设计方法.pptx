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77" r:id="rId2"/>
    <p:sldId id="302" r:id="rId3"/>
    <p:sldId id="278" r:id="rId4"/>
    <p:sldId id="30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5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5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B00B-54CB-4FD4-AD3F-796709BABE15}" type="datetimeFigureOut">
              <a:rPr lang="zh-CN" altLang="en-US" smtClean="0"/>
              <a:t>2022/11/26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2C5B2-54EB-4804-8D08-12B7DE2D61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7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2C5B2-54EB-4804-8D08-12B7DE2D612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43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634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011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917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18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98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372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366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40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269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18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749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8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2022/11/26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19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e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0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7.2  </a:t>
            </a:r>
            <a:r>
              <a:rPr lang="zh-CN" altLang="en-US" smtClean="0">
                <a:ea typeface="宋体" panose="02010600030101010101" pitchFamily="2" charset="-122"/>
              </a:rPr>
              <a:t>用窗函数法设计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781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2AE6FE2-16F8-4CB4-88C4-6047CEC5E64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180" name="Text Box 5"/>
          <p:cNvSpPr txBox="1">
            <a:spLocks noChangeArrowheads="1"/>
          </p:cNvSpPr>
          <p:nvPr/>
        </p:nvSpPr>
        <p:spPr bwMode="auto">
          <a:xfrm>
            <a:off x="1981201" y="1450976"/>
            <a:ext cx="8162925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设计方法</a:t>
            </a:r>
          </a:p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理想滤波器的频率响应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40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jω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，对应的单位脉冲响应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  <p:graphicFrame>
        <p:nvGraphicFramePr>
          <p:cNvPr id="178181" name="Object 8"/>
          <p:cNvGraphicFramePr>
            <a:graphicFrameLocks noChangeAspect="1"/>
          </p:cNvGraphicFramePr>
          <p:nvPr/>
        </p:nvGraphicFramePr>
        <p:xfrm>
          <a:off x="4419601" y="2971800"/>
          <a:ext cx="34512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8" name="Equation" r:id="rId4" imgW="1841500" imgH="393700" progId="Equation.3">
                  <p:embed/>
                </p:oleObj>
              </mc:Choice>
              <mc:Fallback>
                <p:oleObj name="Equation" r:id="rId4" imgW="1841500" imgH="393700" progId="Equation.3">
                  <p:embed/>
                  <p:pic>
                    <p:nvPicPr>
                      <p:cNvPr id="17818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2971800"/>
                        <a:ext cx="34512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029969" y="3784599"/>
            <a:ext cx="8162925" cy="1185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i="1" dirty="0" err="1"/>
              <a:t>h</a:t>
            </a:r>
            <a:r>
              <a:rPr lang="en-US" altLang="zh-CN" sz="2400" baseline="-25000" dirty="0" err="1"/>
              <a:t>d</a:t>
            </a:r>
            <a:r>
              <a:rPr lang="en-US" altLang="zh-CN" sz="2400" i="1" baseline="-25000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 smtClean="0"/>
              <a:t>n)</a:t>
            </a:r>
            <a:r>
              <a:rPr lang="zh-CN" altLang="en-US" sz="2400" dirty="0" smtClean="0"/>
              <a:t>一般</a:t>
            </a:r>
            <a:r>
              <a:rPr lang="zh-CN" altLang="en-US" sz="2400" dirty="0"/>
              <a:t>情况下是非因果无穷序列，需对其进行截断和因果化处理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9" name="Text Box 1034"/>
          <p:cNvSpPr txBox="1">
            <a:spLocks noChangeArrowheads="1"/>
          </p:cNvSpPr>
          <p:nvPr/>
        </p:nvSpPr>
        <p:spPr bwMode="auto">
          <a:xfrm>
            <a:off x="5057776" y="4892487"/>
            <a:ext cx="29033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sz="3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3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2286001" y="5000436"/>
            <a:ext cx="2765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</a:rPr>
              <a:t>实际滤波器，加窗截断</a:t>
            </a:r>
          </a:p>
        </p:txBody>
      </p:sp>
    </p:spTree>
    <p:extLst>
      <p:ext uri="{BB962C8B-B14F-4D97-AF65-F5344CB8AC3E}">
        <p14:creationId xmlns:p14="http://schemas.microsoft.com/office/powerpoint/2010/main" val="346002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09600"/>
          </a:xfrm>
        </p:spPr>
        <p:txBody>
          <a:bodyPr/>
          <a:lstStyle/>
          <a:p>
            <a:r>
              <a:rPr lang="zh-CN" altLang="en-US" sz="3200">
                <a:solidFill>
                  <a:schemeClr val="tx1"/>
                </a:solidFill>
                <a:ea typeface="SimHei" panose="02010609060101010101" pitchFamily="49" charset="-122"/>
              </a:rPr>
              <a:t>设计方法</a:t>
            </a:r>
            <a:r>
              <a:rPr lang="en-US" altLang="zh-CN" sz="3200">
                <a:solidFill>
                  <a:schemeClr val="tx1"/>
                </a:solidFill>
                <a:ea typeface="SimHei" panose="02010609060101010101" pitchFamily="49" charset="-122"/>
              </a:rPr>
              <a:t>——</a:t>
            </a:r>
            <a:r>
              <a:rPr lang="zh-CN" altLang="en-US">
                <a:solidFill>
                  <a:schemeClr val="accent2"/>
                </a:solidFill>
              </a:rPr>
              <a:t>可实现性处理方案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1905000" y="1380333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990033"/>
                </a:solidFill>
              </a:rPr>
              <a:t>方案一：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065866" y="2065272"/>
            <a:ext cx="9062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1)</a:t>
            </a:r>
            <a:r>
              <a:rPr lang="zh-CN" altLang="en-US" sz="2800" dirty="0"/>
              <a:t>将</a:t>
            </a:r>
            <a:r>
              <a:rPr lang="en-US" altLang="zh-CN" sz="2800" i="1" dirty="0" err="1" smtClean="0"/>
              <a:t>h</a:t>
            </a:r>
            <a:r>
              <a:rPr lang="en-US" altLang="zh-CN" sz="2800" baseline="-25000" dirty="0" err="1" smtClean="0"/>
              <a:t>d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 </a:t>
            </a:r>
            <a:r>
              <a:rPr lang="zh-CN" altLang="en-US" sz="2800" dirty="0" smtClean="0"/>
              <a:t>关于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=0</a:t>
            </a:r>
            <a:r>
              <a:rPr lang="zh-CN" altLang="en-US" sz="2800" dirty="0"/>
              <a:t>对称截断，即</a:t>
            </a:r>
            <a:r>
              <a:rPr lang="en-US" altLang="zh-CN" sz="2800" i="1" dirty="0" smtClean="0"/>
              <a:t>h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]=</a:t>
            </a:r>
            <a:r>
              <a:rPr lang="en-US" altLang="zh-CN" sz="2800" i="1" dirty="0" smtClean="0"/>
              <a:t> </a:t>
            </a:r>
            <a:r>
              <a:rPr lang="en-US" altLang="zh-CN" sz="2800" i="1" dirty="0" err="1" smtClean="0"/>
              <a:t>h</a:t>
            </a:r>
            <a:r>
              <a:rPr lang="en-US" altLang="zh-CN" sz="2800" baseline="-25000" dirty="0" err="1" smtClean="0"/>
              <a:t>d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], </a:t>
            </a:r>
            <a:r>
              <a:rPr lang="en-US" altLang="zh-CN" sz="2800" dirty="0">
                <a:latin typeface="Symbol" panose="05050102010706020507" pitchFamily="18" charset="2"/>
              </a:rPr>
              <a:t>-</a:t>
            </a:r>
            <a:r>
              <a:rPr lang="en-US" altLang="zh-CN" sz="2800" i="1" dirty="0" err="1"/>
              <a:t>K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</a:t>
            </a:r>
            <a:r>
              <a:rPr lang="en-US" altLang="zh-CN" sz="2800" i="1" dirty="0" err="1">
                <a:sym typeface="Symbol" panose="05050102010706020507" pitchFamily="18" charset="2"/>
              </a:rPr>
              <a:t>n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</a:t>
            </a:r>
            <a:r>
              <a:rPr lang="en-US" altLang="zh-CN" sz="2800" i="1" dirty="0" err="1"/>
              <a:t>K</a:t>
            </a:r>
            <a:endParaRPr lang="en-US" altLang="zh-CN" sz="2800" i="1" dirty="0"/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133600" y="2692404"/>
            <a:ext cx="853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2)</a:t>
            </a:r>
            <a:r>
              <a:rPr lang="zh-CN" altLang="en-US" sz="2800" dirty="0"/>
              <a:t>若 </a:t>
            </a:r>
            <a:r>
              <a:rPr lang="en-US" altLang="zh-CN" sz="2800" i="1" dirty="0" smtClean="0"/>
              <a:t>h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</a:t>
            </a:r>
            <a:r>
              <a:rPr lang="zh-CN" altLang="en-US" sz="2800" dirty="0"/>
              <a:t>非因果系统，可将其右移使其成为因果系统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438400" y="3454404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 dirty="0" smtClean="0"/>
              <a:t>h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]=</a:t>
            </a:r>
            <a:r>
              <a:rPr lang="en-US" altLang="zh-CN" sz="2800" i="1" dirty="0" smtClean="0"/>
              <a:t> </a:t>
            </a:r>
            <a:r>
              <a:rPr lang="en-US" altLang="zh-CN" sz="2800" i="1" dirty="0" err="1" smtClean="0"/>
              <a:t>h</a:t>
            </a:r>
            <a:r>
              <a:rPr lang="en-US" altLang="zh-CN" sz="2800" baseline="-25000" dirty="0" err="1" smtClean="0"/>
              <a:t>d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i="1" dirty="0" smtClean="0">
                <a:latin typeface="Symbol" panose="05050102010706020507" pitchFamily="18" charset="2"/>
              </a:rPr>
              <a:t>- </a:t>
            </a:r>
            <a:r>
              <a:rPr lang="en-US" altLang="zh-CN" sz="2800" i="1" dirty="0" smtClean="0"/>
              <a:t>k</a:t>
            </a:r>
            <a:r>
              <a:rPr lang="en-US" altLang="zh-CN" sz="2800" dirty="0" smtClean="0"/>
              <a:t>]</a:t>
            </a:r>
            <a:r>
              <a:rPr lang="zh-CN" altLang="en-US" sz="2800" dirty="0"/>
              <a:t>， </a:t>
            </a:r>
            <a:r>
              <a:rPr lang="en-US" altLang="zh-CN" sz="2800" dirty="0">
                <a:latin typeface="Symbol" panose="05050102010706020507" pitchFamily="18" charset="2"/>
              </a:rPr>
              <a:t>0</a:t>
            </a:r>
            <a:r>
              <a:rPr lang="en-US" altLang="zh-CN" sz="2800" dirty="0">
                <a:sym typeface="Symbol" panose="05050102010706020507" pitchFamily="18" charset="2"/>
              </a:rPr>
              <a:t></a:t>
            </a:r>
            <a:r>
              <a:rPr lang="en-US" altLang="zh-CN" sz="2800" i="1" dirty="0"/>
              <a:t>k</a:t>
            </a:r>
            <a:r>
              <a:rPr lang="en-US" altLang="zh-CN" sz="2800" dirty="0"/>
              <a:t> </a:t>
            </a:r>
            <a:r>
              <a:rPr lang="en-US" altLang="zh-CN" sz="2800" dirty="0" smtClean="0">
                <a:sym typeface="Symbol" panose="05050102010706020507" pitchFamily="18" charset="2"/>
              </a:rPr>
              <a:t></a:t>
            </a:r>
            <a:r>
              <a:rPr lang="en-US" altLang="zh-CN" sz="2800" i="1" dirty="0" smtClean="0"/>
              <a:t>K</a:t>
            </a:r>
            <a:endParaRPr lang="en-US" altLang="zh-CN" sz="2800" i="1" dirty="0"/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905000" y="4154491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0033"/>
                </a:solidFill>
              </a:rPr>
              <a:t>方案二：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2209800" y="4916491"/>
            <a:ext cx="807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en-US" altLang="zh-CN" sz="2800" dirty="0" smtClean="0"/>
              <a:t>1)</a:t>
            </a:r>
            <a:r>
              <a:rPr lang="zh-CN" altLang="en-US" sz="2800" dirty="0" smtClean="0"/>
              <a:t>将线性相位因子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</a:t>
            </a:r>
            <a:r>
              <a:rPr lang="en-US" altLang="zh-CN" sz="2800" b="1" baseline="30000" dirty="0" err="1" smtClean="0">
                <a:solidFill>
                  <a:srgbClr val="FF0000"/>
                </a:solidFill>
              </a:rPr>
              <a:t>j</a:t>
            </a:r>
            <a:r>
              <a:rPr lang="en-US" altLang="zh-CN" sz="2800" b="1" baseline="30000" dirty="0" smtClean="0">
                <a:solidFill>
                  <a:srgbClr val="FF0000"/>
                </a:solidFill>
              </a:rPr>
              <a:t>(</a:t>
            </a:r>
            <a:r>
              <a:rPr lang="en-US" altLang="zh-CN" sz="2800" b="1" baseline="30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800" b="1" baseline="30000" dirty="0" smtClean="0">
                <a:solidFill>
                  <a:srgbClr val="FF0000"/>
                </a:solidFill>
              </a:rPr>
              <a:t>0.5</a:t>
            </a:r>
            <a:r>
              <a:rPr lang="en-US" altLang="zh-CN" sz="2800" b="1" i="1" baseline="30000" dirty="0" smtClean="0">
                <a:solidFill>
                  <a:srgbClr val="FF0000"/>
                </a:solidFill>
              </a:rPr>
              <a:t>M</a:t>
            </a:r>
            <a:r>
              <a:rPr lang="el-GR" altLang="zh-CN" baseline="30000" dirty="0">
                <a:solidFill>
                  <a:srgbClr val="FF0000"/>
                </a:solidFill>
              </a:rPr>
              <a:t>ω</a:t>
            </a:r>
            <a:r>
              <a:rPr lang="en-US" altLang="zh-CN" sz="2800" b="1" baseline="30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+</a:t>
            </a:r>
            <a:r>
              <a:rPr lang="en-US" altLang="zh-CN" sz="2800" b="1" i="1" baseline="30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800" b="1" baseline="30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)</a:t>
            </a:r>
            <a:r>
              <a:rPr lang="zh-CN" altLang="en-US" sz="2800" dirty="0" smtClean="0"/>
              <a:t>加入</a:t>
            </a:r>
            <a:r>
              <a:rPr lang="en-US" altLang="zh-CN" sz="2800" b="1" i="1" dirty="0" err="1" smtClean="0">
                <a:solidFill>
                  <a:srgbClr val="000000"/>
                </a:solidFill>
              </a:rPr>
              <a:t>H</a:t>
            </a:r>
            <a:r>
              <a:rPr lang="en-US" altLang="zh-CN" sz="2800" b="1" baseline="-25000" dirty="0" err="1" smtClean="0">
                <a:solidFill>
                  <a:srgbClr val="000000"/>
                </a:solidFill>
              </a:rPr>
              <a:t>d</a:t>
            </a:r>
            <a:r>
              <a:rPr lang="en-US" altLang="zh-CN" sz="2800" b="1" i="1" baseline="-25000" dirty="0" smtClean="0">
                <a:solidFill>
                  <a:srgbClr val="000000"/>
                </a:solidFill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</a:rPr>
              <a:t>(</a:t>
            </a:r>
            <a:r>
              <a:rPr lang="en-US" altLang="zh-CN" sz="2800" b="1" dirty="0" err="1" smtClean="0">
                <a:solidFill>
                  <a:srgbClr val="000000"/>
                </a:solidFill>
              </a:rPr>
              <a:t>e</a:t>
            </a:r>
            <a:r>
              <a:rPr lang="en-US" altLang="zh-CN" sz="2800" b="1" baseline="30000" dirty="0" err="1" smtClean="0">
                <a:solidFill>
                  <a:srgbClr val="000000"/>
                </a:solidFill>
              </a:rPr>
              <a:t>j</a:t>
            </a:r>
            <a:r>
              <a:rPr lang="el-GR" altLang="zh-CN" dirty="0"/>
              <a:t>ω</a:t>
            </a:r>
            <a:r>
              <a:rPr lang="en-US" altLang="zh-CN" sz="2800" b="1" i="1" baseline="30000" dirty="0" smtClean="0">
                <a:solidFill>
                  <a:srgbClr val="000000"/>
                </a:solidFill>
                <a:latin typeface="Symbol" panose="05050102010706020507" pitchFamily="18" charset="2"/>
              </a:rPr>
              <a:t>  </a:t>
            </a:r>
            <a:r>
              <a:rPr lang="en-US" altLang="zh-CN" sz="2800" b="1" dirty="0" smtClean="0">
                <a:solidFill>
                  <a:srgbClr val="000000"/>
                </a:solidFill>
              </a:rPr>
              <a:t>)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中</a:t>
            </a:r>
            <a:endParaRPr lang="zh-CN" altLang="en-US" sz="2800" dirty="0"/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3657600" y="1473204"/>
            <a:ext cx="6096000" cy="51911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只能设计出为</a:t>
            </a:r>
            <a:r>
              <a:rPr lang="en-US" altLang="zh-CN" sz="2800"/>
              <a:t>I</a:t>
            </a:r>
            <a:r>
              <a:rPr lang="zh-CN" altLang="en-US" sz="2800"/>
              <a:t>型或</a:t>
            </a:r>
            <a:r>
              <a:rPr lang="en-US" altLang="zh-CN" sz="2800"/>
              <a:t>III</a:t>
            </a:r>
            <a:r>
              <a:rPr lang="zh-CN" altLang="en-US" sz="2800"/>
              <a:t>型滤波器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3657600" y="4140204"/>
            <a:ext cx="6248400" cy="51911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可设计四种类型的线性相位滤波器</a:t>
            </a: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2209800" y="5589591"/>
            <a:ext cx="800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2)</a:t>
            </a:r>
            <a:r>
              <a:rPr lang="zh-CN" altLang="en-US" sz="2800" dirty="0"/>
              <a:t>计算出</a:t>
            </a:r>
            <a:r>
              <a:rPr lang="en-US" altLang="zh-CN" sz="2800" i="1" dirty="0" err="1" smtClean="0"/>
              <a:t>h</a:t>
            </a:r>
            <a:r>
              <a:rPr lang="en-US" altLang="zh-CN" sz="2800" baseline="-25000" dirty="0" err="1" smtClean="0"/>
              <a:t>d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</a:t>
            </a:r>
            <a:r>
              <a:rPr lang="zh-CN" altLang="en-US" sz="2800" dirty="0"/>
              <a:t>后，取其在</a:t>
            </a:r>
            <a:r>
              <a:rPr lang="en-US" altLang="zh-CN" sz="2800" dirty="0"/>
              <a:t>0</a:t>
            </a:r>
            <a:r>
              <a:rPr lang="en-US" altLang="zh-CN" sz="2800" dirty="0">
                <a:sym typeface="Symbol" panose="05050102010706020507" pitchFamily="18" charset="2"/>
              </a:rPr>
              <a:t></a:t>
            </a:r>
            <a:r>
              <a:rPr lang="en-US" altLang="zh-CN" sz="2800" dirty="0"/>
              <a:t> </a:t>
            </a:r>
            <a:r>
              <a:rPr lang="en-US" altLang="zh-CN" sz="2800" i="1" dirty="0" smtClean="0"/>
              <a:t>n </a:t>
            </a:r>
            <a:r>
              <a:rPr lang="en-US" altLang="zh-CN" sz="2800" dirty="0" smtClean="0">
                <a:sym typeface="Symbol" panose="05050102010706020507" pitchFamily="18" charset="2"/>
              </a:rPr>
              <a:t></a:t>
            </a:r>
            <a:r>
              <a:rPr lang="en-US" altLang="zh-CN" sz="2800" i="1" dirty="0"/>
              <a:t>M</a:t>
            </a:r>
            <a:r>
              <a:rPr lang="zh-CN" altLang="en-US" sz="2800" dirty="0"/>
              <a:t>范围的值</a:t>
            </a:r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2362200" y="6364291"/>
            <a:ext cx="754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 dirty="0" smtClean="0"/>
              <a:t>h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]=</a:t>
            </a:r>
            <a:r>
              <a:rPr lang="en-US" altLang="zh-CN" sz="2800" i="1" dirty="0" smtClean="0"/>
              <a:t> </a:t>
            </a:r>
            <a:r>
              <a:rPr lang="en-US" altLang="zh-CN" sz="2800" i="1" dirty="0" err="1" smtClean="0"/>
              <a:t>h</a:t>
            </a:r>
            <a:r>
              <a:rPr lang="en-US" altLang="zh-CN" sz="2800" baseline="-25000" dirty="0" err="1" smtClean="0"/>
              <a:t>d</a:t>
            </a:r>
            <a:r>
              <a:rPr lang="en-US" altLang="zh-CN" sz="2800" dirty="0" smtClean="0"/>
              <a:t>[</a:t>
            </a:r>
            <a:r>
              <a:rPr lang="en-US" altLang="zh-CN" sz="2800" i="1" dirty="0"/>
              <a:t>n</a:t>
            </a:r>
            <a:r>
              <a:rPr lang="en-US" altLang="zh-CN" sz="2800" dirty="0" smtClean="0"/>
              <a:t>]</a:t>
            </a:r>
            <a:r>
              <a:rPr lang="zh-CN" altLang="en-US" sz="2800" dirty="0"/>
              <a:t>， </a:t>
            </a:r>
            <a:r>
              <a:rPr lang="en-US" altLang="zh-CN" sz="2800" dirty="0">
                <a:latin typeface="Symbol" panose="05050102010706020507" pitchFamily="18" charset="2"/>
              </a:rPr>
              <a:t>0</a:t>
            </a:r>
            <a:r>
              <a:rPr lang="en-US" altLang="zh-CN" sz="2800" dirty="0" smtClean="0">
                <a:sym typeface="Symbol" panose="05050102010706020507" pitchFamily="18" charset="2"/>
              </a:rPr>
              <a:t></a:t>
            </a:r>
            <a:r>
              <a:rPr lang="en-US" altLang="zh-CN" sz="2800" i="1" dirty="0">
                <a:sym typeface="Symbol" panose="05050102010706020507" pitchFamily="18" charset="2"/>
              </a:rPr>
              <a:t>n</a:t>
            </a:r>
            <a:r>
              <a:rPr lang="en-US" altLang="zh-CN" sz="2800" dirty="0" smtClean="0">
                <a:sym typeface="Symbol" panose="05050102010706020507" pitchFamily="18" charset="2"/>
              </a:rPr>
              <a:t></a:t>
            </a:r>
            <a:r>
              <a:rPr lang="en-US" altLang="zh-CN" sz="2800" i="1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18256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77" grpId="0" autoUpdateAnimBg="0"/>
      <p:bldP spid="3078" grpId="0" autoUpdateAnimBg="0"/>
      <p:bldP spid="3079" grpId="0" autoUpdateAnimBg="0"/>
      <p:bldP spid="3080" grpId="0" autoUpdateAnimBg="0"/>
      <p:bldP spid="3081" grpId="0" animBg="1" autoUpdateAnimBg="0"/>
      <p:bldP spid="3082" grpId="0" animBg="1" autoUpdateAnimBg="0"/>
      <p:bldP spid="3083" grpId="0" autoUpdateAnimBg="0"/>
      <p:bldP spid="308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标题 1"/>
          <p:cNvSpPr>
            <a:spLocks noGrp="1"/>
          </p:cNvSpPr>
          <p:nvPr>
            <p:ph type="title"/>
          </p:nvPr>
        </p:nvSpPr>
        <p:spPr>
          <a:xfrm>
            <a:off x="2667000" y="457200"/>
            <a:ext cx="73914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7.2  </a:t>
            </a:r>
            <a:r>
              <a:rPr lang="zh-CN" altLang="en-US" smtClean="0">
                <a:ea typeface="宋体" panose="02010600030101010101" pitchFamily="2" charset="-122"/>
              </a:rPr>
              <a:t>用窗函数法设计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792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EBBBFFA-411F-46CF-8BD9-A6781972E6DD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9204" name="Text Box 11"/>
          <p:cNvSpPr txBox="1">
            <a:spLocks noChangeArrowheads="1"/>
          </p:cNvSpPr>
          <p:nvPr/>
        </p:nvSpPr>
        <p:spPr bwMode="auto">
          <a:xfrm>
            <a:off x="1981200" y="1600200"/>
            <a:ext cx="7924800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要求设计一个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低通数字滤波器，假设理想低通滤波器的频率响应为 </a:t>
            </a:r>
          </a:p>
        </p:txBody>
      </p:sp>
      <p:grpSp>
        <p:nvGrpSpPr>
          <p:cNvPr id="179205" name="Group 17"/>
          <p:cNvGrpSpPr>
            <a:grpSpLocks/>
          </p:cNvGrpSpPr>
          <p:nvPr/>
        </p:nvGrpSpPr>
        <p:grpSpPr bwMode="auto">
          <a:xfrm>
            <a:off x="2514600" y="2409338"/>
            <a:ext cx="4126274" cy="1174936"/>
            <a:chOff x="1502" y="3032"/>
            <a:chExt cx="3174" cy="712"/>
          </a:xfrm>
        </p:grpSpPr>
        <p:graphicFrame>
          <p:nvGraphicFramePr>
            <p:cNvPr id="17920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382405"/>
                </p:ext>
              </p:extLst>
            </p:nvPr>
          </p:nvGraphicFramePr>
          <p:xfrm>
            <a:off x="1502" y="3059"/>
            <a:ext cx="1533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8" name="Equation" r:id="rId3" imgW="1091880" imgH="482400" progId="Equation.DSMT4">
                    <p:embed/>
                  </p:oleObj>
                </mc:Choice>
                <mc:Fallback>
                  <p:oleObj name="Equation" r:id="rId3" imgW="1091880" imgH="482400" progId="Equation.DSMT4">
                    <p:embed/>
                    <p:pic>
                      <p:nvPicPr>
                        <p:cNvPr id="17920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3059"/>
                          <a:ext cx="1533" cy="6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9210" name="Text Box 14"/>
            <p:cNvSpPr txBox="1">
              <a:spLocks noChangeArrowheads="1"/>
            </p:cNvSpPr>
            <p:nvPr/>
          </p:nvSpPr>
          <p:spPr bwMode="auto">
            <a:xfrm>
              <a:off x="3603" y="3032"/>
              <a:ext cx="8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|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|≤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79211" name="Text Box 15"/>
            <p:cNvSpPr txBox="1">
              <a:spLocks noChangeArrowheads="1"/>
            </p:cNvSpPr>
            <p:nvPr/>
          </p:nvSpPr>
          <p:spPr bwMode="auto">
            <a:xfrm>
              <a:off x="3565" y="3464"/>
              <a:ext cx="1111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&lt;|</a:t>
              </a: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ω</a:t>
              </a: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|≤π </a:t>
              </a:r>
            </a:p>
          </p:txBody>
        </p:sp>
      </p:grpSp>
      <p:graphicFrame>
        <p:nvGraphicFramePr>
          <p:cNvPr id="179206" name="对象 9"/>
          <p:cNvGraphicFramePr>
            <a:graphicFrameLocks noChangeAspect="1"/>
          </p:cNvGraphicFramePr>
          <p:nvPr/>
        </p:nvGraphicFramePr>
        <p:xfrm>
          <a:off x="2452689" y="3733801"/>
          <a:ext cx="3324225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9" name="Equation" r:id="rId5" imgW="1663700" imgH="914400" progId="Equation.3">
                  <p:embed/>
                </p:oleObj>
              </mc:Choice>
              <mc:Fallback>
                <p:oleObj name="Equation" r:id="rId5" imgW="1663700" imgH="914400" progId="Equation.3">
                  <p:embed/>
                  <p:pic>
                    <p:nvPicPr>
                      <p:cNvPr id="179206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9" y="3733801"/>
                        <a:ext cx="3324225" cy="182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9207" name="Picture 7" descr="6-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276600"/>
            <a:ext cx="3778250" cy="322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9208" name="对象 11"/>
          <p:cNvGraphicFramePr>
            <a:graphicFrameLocks noChangeAspect="1"/>
          </p:cNvGraphicFramePr>
          <p:nvPr/>
        </p:nvGraphicFramePr>
        <p:xfrm>
          <a:off x="2406650" y="5715001"/>
          <a:ext cx="36893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0" name="Equation" r:id="rId8" imgW="1625600" imgH="419100" progId="Equation.DSMT4">
                  <p:embed/>
                </p:oleObj>
              </mc:Choice>
              <mc:Fallback>
                <p:oleObj name="Equation" r:id="rId8" imgW="1625600" imgH="419100" progId="Equation.DSMT4">
                  <p:embed/>
                  <p:pic>
                    <p:nvPicPr>
                      <p:cNvPr id="179208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5715001"/>
                        <a:ext cx="36893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912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24" name="AutoShape 48"/>
          <p:cNvSpPr>
            <a:spLocks noChangeArrowheads="1"/>
          </p:cNvSpPr>
          <p:nvPr/>
        </p:nvSpPr>
        <p:spPr bwMode="auto">
          <a:xfrm>
            <a:off x="6172200" y="1752600"/>
            <a:ext cx="1828800" cy="990600"/>
          </a:xfrm>
          <a:prstGeom prst="wedgeRoundRectCallout">
            <a:avLst>
              <a:gd name="adj1" fmla="val 67449"/>
              <a:gd name="adj2" fmla="val -9391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828800" y="121920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窗函数的频谱</a:t>
            </a:r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7621"/>
              </p:ext>
            </p:extLst>
          </p:nvPr>
        </p:nvGraphicFramePr>
        <p:xfrm>
          <a:off x="3143250" y="1752600"/>
          <a:ext cx="485933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9" name="公式" r:id="rId3" imgW="1942920" imgH="419040" progId="Equation.3">
                  <p:embed/>
                </p:oleObj>
              </mc:Choice>
              <mc:Fallback>
                <p:oleObj name="公式" r:id="rId3" imgW="1942920" imgH="419040" progId="Equation.3">
                  <p:embed/>
                  <p:pic>
                    <p:nvPicPr>
                      <p:cNvPr id="501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752600"/>
                        <a:ext cx="485933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23" name="Group 47"/>
          <p:cNvGrpSpPr>
            <a:grpSpLocks/>
          </p:cNvGrpSpPr>
          <p:nvPr/>
        </p:nvGrpSpPr>
        <p:grpSpPr bwMode="auto">
          <a:xfrm>
            <a:off x="1600454" y="3370263"/>
            <a:ext cx="6388100" cy="3165474"/>
            <a:chOff x="48" y="1977"/>
            <a:chExt cx="4024" cy="1994"/>
          </a:xfrm>
        </p:grpSpPr>
        <p:sp>
          <p:nvSpPr>
            <p:cNvPr id="50183" name="Freeform 7"/>
            <p:cNvSpPr>
              <a:spLocks/>
            </p:cNvSpPr>
            <p:nvPr/>
          </p:nvSpPr>
          <p:spPr bwMode="auto">
            <a:xfrm>
              <a:off x="320" y="2189"/>
              <a:ext cx="3472" cy="1686"/>
            </a:xfrm>
            <a:custGeom>
              <a:avLst/>
              <a:gdLst>
                <a:gd name="T0" fmla="*/ 74 w 3472"/>
                <a:gd name="T1" fmla="*/ 1303 h 1686"/>
                <a:gd name="T2" fmla="*/ 155 w 3472"/>
                <a:gd name="T3" fmla="*/ 1229 h 1686"/>
                <a:gd name="T4" fmla="*/ 236 w 3472"/>
                <a:gd name="T5" fmla="*/ 1259 h 1686"/>
                <a:gd name="T6" fmla="*/ 316 w 3472"/>
                <a:gd name="T7" fmla="*/ 1333 h 1686"/>
                <a:gd name="T8" fmla="*/ 375 w 3472"/>
                <a:gd name="T9" fmla="*/ 1414 h 1686"/>
                <a:gd name="T10" fmla="*/ 456 w 3472"/>
                <a:gd name="T11" fmla="*/ 1495 h 1686"/>
                <a:gd name="T12" fmla="*/ 537 w 3472"/>
                <a:gd name="T13" fmla="*/ 1524 h 1686"/>
                <a:gd name="T14" fmla="*/ 625 w 3472"/>
                <a:gd name="T15" fmla="*/ 1465 h 1686"/>
                <a:gd name="T16" fmla="*/ 692 w 3472"/>
                <a:gd name="T17" fmla="*/ 1384 h 1686"/>
                <a:gd name="T18" fmla="*/ 743 w 3472"/>
                <a:gd name="T19" fmla="*/ 1303 h 1686"/>
                <a:gd name="T20" fmla="*/ 817 w 3472"/>
                <a:gd name="T21" fmla="*/ 1215 h 1686"/>
                <a:gd name="T22" fmla="*/ 898 w 3472"/>
                <a:gd name="T23" fmla="*/ 1178 h 1686"/>
                <a:gd name="T24" fmla="*/ 978 w 3472"/>
                <a:gd name="T25" fmla="*/ 1244 h 1686"/>
                <a:gd name="T26" fmla="*/ 1023 w 3472"/>
                <a:gd name="T27" fmla="*/ 1333 h 1686"/>
                <a:gd name="T28" fmla="*/ 1059 w 3472"/>
                <a:gd name="T29" fmla="*/ 1414 h 1686"/>
                <a:gd name="T30" fmla="*/ 1104 w 3472"/>
                <a:gd name="T31" fmla="*/ 1495 h 1686"/>
                <a:gd name="T32" fmla="*/ 1148 w 3472"/>
                <a:gd name="T33" fmla="*/ 1576 h 1686"/>
                <a:gd name="T34" fmla="*/ 1199 w 3472"/>
                <a:gd name="T35" fmla="*/ 1664 h 1686"/>
                <a:gd name="T36" fmla="*/ 1280 w 3472"/>
                <a:gd name="T37" fmla="*/ 1664 h 1686"/>
                <a:gd name="T38" fmla="*/ 1324 w 3472"/>
                <a:gd name="T39" fmla="*/ 1576 h 1686"/>
                <a:gd name="T40" fmla="*/ 1368 w 3472"/>
                <a:gd name="T41" fmla="*/ 1465 h 1686"/>
                <a:gd name="T42" fmla="*/ 1390 w 3472"/>
                <a:gd name="T43" fmla="*/ 1340 h 1686"/>
                <a:gd name="T44" fmla="*/ 1435 w 3472"/>
                <a:gd name="T45" fmla="*/ 1178 h 1686"/>
                <a:gd name="T46" fmla="*/ 1464 w 3472"/>
                <a:gd name="T47" fmla="*/ 1009 h 1686"/>
                <a:gd name="T48" fmla="*/ 1501 w 3472"/>
                <a:gd name="T49" fmla="*/ 817 h 1686"/>
                <a:gd name="T50" fmla="*/ 1530 w 3472"/>
                <a:gd name="T51" fmla="*/ 640 h 1686"/>
                <a:gd name="T52" fmla="*/ 1574 w 3472"/>
                <a:gd name="T53" fmla="*/ 456 h 1686"/>
                <a:gd name="T54" fmla="*/ 1611 w 3472"/>
                <a:gd name="T55" fmla="*/ 294 h 1686"/>
                <a:gd name="T56" fmla="*/ 1640 w 3472"/>
                <a:gd name="T57" fmla="*/ 169 h 1686"/>
                <a:gd name="T58" fmla="*/ 1685 w 3472"/>
                <a:gd name="T59" fmla="*/ 73 h 1686"/>
                <a:gd name="T60" fmla="*/ 1736 w 3472"/>
                <a:gd name="T61" fmla="*/ 0 h 1686"/>
                <a:gd name="T62" fmla="*/ 1795 w 3472"/>
                <a:gd name="T63" fmla="*/ 73 h 1686"/>
                <a:gd name="T64" fmla="*/ 1832 w 3472"/>
                <a:gd name="T65" fmla="*/ 169 h 1686"/>
                <a:gd name="T66" fmla="*/ 1861 w 3472"/>
                <a:gd name="T67" fmla="*/ 294 h 1686"/>
                <a:gd name="T68" fmla="*/ 1905 w 3472"/>
                <a:gd name="T69" fmla="*/ 456 h 1686"/>
                <a:gd name="T70" fmla="*/ 1942 w 3472"/>
                <a:gd name="T71" fmla="*/ 640 h 1686"/>
                <a:gd name="T72" fmla="*/ 1971 w 3472"/>
                <a:gd name="T73" fmla="*/ 817 h 1686"/>
                <a:gd name="T74" fmla="*/ 2016 w 3472"/>
                <a:gd name="T75" fmla="*/ 1009 h 1686"/>
                <a:gd name="T76" fmla="*/ 2038 w 3472"/>
                <a:gd name="T77" fmla="*/ 1178 h 1686"/>
                <a:gd name="T78" fmla="*/ 2082 w 3472"/>
                <a:gd name="T79" fmla="*/ 1340 h 1686"/>
                <a:gd name="T80" fmla="*/ 2111 w 3472"/>
                <a:gd name="T81" fmla="*/ 1465 h 1686"/>
                <a:gd name="T82" fmla="*/ 2148 w 3472"/>
                <a:gd name="T83" fmla="*/ 1576 h 1686"/>
                <a:gd name="T84" fmla="*/ 2192 w 3472"/>
                <a:gd name="T85" fmla="*/ 1664 h 1686"/>
                <a:gd name="T86" fmla="*/ 2273 w 3472"/>
                <a:gd name="T87" fmla="*/ 1664 h 1686"/>
                <a:gd name="T88" fmla="*/ 2347 w 3472"/>
                <a:gd name="T89" fmla="*/ 1576 h 1686"/>
                <a:gd name="T90" fmla="*/ 2369 w 3472"/>
                <a:gd name="T91" fmla="*/ 1495 h 1686"/>
                <a:gd name="T92" fmla="*/ 2413 w 3472"/>
                <a:gd name="T93" fmla="*/ 1414 h 1686"/>
                <a:gd name="T94" fmla="*/ 2457 w 3472"/>
                <a:gd name="T95" fmla="*/ 1333 h 1686"/>
                <a:gd name="T96" fmla="*/ 2508 w 3472"/>
                <a:gd name="T97" fmla="*/ 1244 h 1686"/>
                <a:gd name="T98" fmla="*/ 2582 w 3472"/>
                <a:gd name="T99" fmla="*/ 1178 h 1686"/>
                <a:gd name="T100" fmla="*/ 2663 w 3472"/>
                <a:gd name="T101" fmla="*/ 1215 h 1686"/>
                <a:gd name="T102" fmla="*/ 2729 w 3472"/>
                <a:gd name="T103" fmla="*/ 1303 h 1686"/>
                <a:gd name="T104" fmla="*/ 2788 w 3472"/>
                <a:gd name="T105" fmla="*/ 1384 h 1686"/>
                <a:gd name="T106" fmla="*/ 2854 w 3472"/>
                <a:gd name="T107" fmla="*/ 1465 h 1686"/>
                <a:gd name="T108" fmla="*/ 2935 w 3472"/>
                <a:gd name="T109" fmla="*/ 1524 h 1686"/>
                <a:gd name="T110" fmla="*/ 3016 w 3472"/>
                <a:gd name="T111" fmla="*/ 1495 h 1686"/>
                <a:gd name="T112" fmla="*/ 3104 w 3472"/>
                <a:gd name="T113" fmla="*/ 1414 h 1686"/>
                <a:gd name="T114" fmla="*/ 3170 w 3472"/>
                <a:gd name="T115" fmla="*/ 1333 h 1686"/>
                <a:gd name="T116" fmla="*/ 3237 w 3472"/>
                <a:gd name="T117" fmla="*/ 1244 h 1686"/>
                <a:gd name="T118" fmla="*/ 3325 w 3472"/>
                <a:gd name="T119" fmla="*/ 1244 h 1686"/>
                <a:gd name="T120" fmla="*/ 3406 w 3472"/>
                <a:gd name="T121" fmla="*/ 1303 h 1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72" h="1686">
                  <a:moveTo>
                    <a:pt x="0" y="1369"/>
                  </a:moveTo>
                  <a:lnTo>
                    <a:pt x="15" y="1355"/>
                  </a:lnTo>
                  <a:lnTo>
                    <a:pt x="30" y="1340"/>
                  </a:lnTo>
                  <a:lnTo>
                    <a:pt x="44" y="1333"/>
                  </a:lnTo>
                  <a:lnTo>
                    <a:pt x="59" y="1318"/>
                  </a:lnTo>
                  <a:lnTo>
                    <a:pt x="74" y="1303"/>
                  </a:lnTo>
                  <a:lnTo>
                    <a:pt x="88" y="1288"/>
                  </a:lnTo>
                  <a:lnTo>
                    <a:pt x="96" y="1274"/>
                  </a:lnTo>
                  <a:lnTo>
                    <a:pt x="110" y="1259"/>
                  </a:lnTo>
                  <a:lnTo>
                    <a:pt x="125" y="1244"/>
                  </a:lnTo>
                  <a:lnTo>
                    <a:pt x="140" y="1244"/>
                  </a:lnTo>
                  <a:lnTo>
                    <a:pt x="155" y="1229"/>
                  </a:lnTo>
                  <a:lnTo>
                    <a:pt x="169" y="1229"/>
                  </a:lnTo>
                  <a:lnTo>
                    <a:pt x="184" y="1229"/>
                  </a:lnTo>
                  <a:lnTo>
                    <a:pt x="191" y="1229"/>
                  </a:lnTo>
                  <a:lnTo>
                    <a:pt x="206" y="1244"/>
                  </a:lnTo>
                  <a:lnTo>
                    <a:pt x="221" y="1244"/>
                  </a:lnTo>
                  <a:lnTo>
                    <a:pt x="236" y="1259"/>
                  </a:lnTo>
                  <a:lnTo>
                    <a:pt x="250" y="1259"/>
                  </a:lnTo>
                  <a:lnTo>
                    <a:pt x="265" y="1274"/>
                  </a:lnTo>
                  <a:lnTo>
                    <a:pt x="280" y="1288"/>
                  </a:lnTo>
                  <a:lnTo>
                    <a:pt x="294" y="1303"/>
                  </a:lnTo>
                  <a:lnTo>
                    <a:pt x="302" y="1318"/>
                  </a:lnTo>
                  <a:lnTo>
                    <a:pt x="316" y="1333"/>
                  </a:lnTo>
                  <a:lnTo>
                    <a:pt x="331" y="1340"/>
                  </a:lnTo>
                  <a:lnTo>
                    <a:pt x="331" y="1355"/>
                  </a:lnTo>
                  <a:lnTo>
                    <a:pt x="346" y="1369"/>
                  </a:lnTo>
                  <a:lnTo>
                    <a:pt x="361" y="1384"/>
                  </a:lnTo>
                  <a:lnTo>
                    <a:pt x="375" y="1399"/>
                  </a:lnTo>
                  <a:lnTo>
                    <a:pt x="375" y="1414"/>
                  </a:lnTo>
                  <a:lnTo>
                    <a:pt x="390" y="1428"/>
                  </a:lnTo>
                  <a:lnTo>
                    <a:pt x="405" y="1443"/>
                  </a:lnTo>
                  <a:lnTo>
                    <a:pt x="412" y="1450"/>
                  </a:lnTo>
                  <a:lnTo>
                    <a:pt x="427" y="1465"/>
                  </a:lnTo>
                  <a:lnTo>
                    <a:pt x="441" y="1480"/>
                  </a:lnTo>
                  <a:lnTo>
                    <a:pt x="456" y="1495"/>
                  </a:lnTo>
                  <a:lnTo>
                    <a:pt x="471" y="1509"/>
                  </a:lnTo>
                  <a:lnTo>
                    <a:pt x="486" y="1524"/>
                  </a:lnTo>
                  <a:lnTo>
                    <a:pt x="500" y="1524"/>
                  </a:lnTo>
                  <a:lnTo>
                    <a:pt x="515" y="1524"/>
                  </a:lnTo>
                  <a:lnTo>
                    <a:pt x="522" y="1524"/>
                  </a:lnTo>
                  <a:lnTo>
                    <a:pt x="537" y="1524"/>
                  </a:lnTo>
                  <a:lnTo>
                    <a:pt x="552" y="1524"/>
                  </a:lnTo>
                  <a:lnTo>
                    <a:pt x="567" y="1524"/>
                  </a:lnTo>
                  <a:lnTo>
                    <a:pt x="581" y="1509"/>
                  </a:lnTo>
                  <a:lnTo>
                    <a:pt x="596" y="1495"/>
                  </a:lnTo>
                  <a:lnTo>
                    <a:pt x="611" y="1480"/>
                  </a:lnTo>
                  <a:lnTo>
                    <a:pt x="625" y="1465"/>
                  </a:lnTo>
                  <a:lnTo>
                    <a:pt x="633" y="1450"/>
                  </a:lnTo>
                  <a:lnTo>
                    <a:pt x="647" y="1443"/>
                  </a:lnTo>
                  <a:lnTo>
                    <a:pt x="662" y="1428"/>
                  </a:lnTo>
                  <a:lnTo>
                    <a:pt x="677" y="1414"/>
                  </a:lnTo>
                  <a:lnTo>
                    <a:pt x="677" y="1399"/>
                  </a:lnTo>
                  <a:lnTo>
                    <a:pt x="692" y="1384"/>
                  </a:lnTo>
                  <a:lnTo>
                    <a:pt x="706" y="1369"/>
                  </a:lnTo>
                  <a:lnTo>
                    <a:pt x="706" y="1355"/>
                  </a:lnTo>
                  <a:lnTo>
                    <a:pt x="721" y="1340"/>
                  </a:lnTo>
                  <a:lnTo>
                    <a:pt x="736" y="1333"/>
                  </a:lnTo>
                  <a:lnTo>
                    <a:pt x="736" y="1318"/>
                  </a:lnTo>
                  <a:lnTo>
                    <a:pt x="743" y="1303"/>
                  </a:lnTo>
                  <a:lnTo>
                    <a:pt x="758" y="1288"/>
                  </a:lnTo>
                  <a:lnTo>
                    <a:pt x="773" y="1274"/>
                  </a:lnTo>
                  <a:lnTo>
                    <a:pt x="773" y="1259"/>
                  </a:lnTo>
                  <a:lnTo>
                    <a:pt x="787" y="1244"/>
                  </a:lnTo>
                  <a:lnTo>
                    <a:pt x="802" y="1229"/>
                  </a:lnTo>
                  <a:lnTo>
                    <a:pt x="817" y="1215"/>
                  </a:lnTo>
                  <a:lnTo>
                    <a:pt x="831" y="1207"/>
                  </a:lnTo>
                  <a:lnTo>
                    <a:pt x="846" y="1193"/>
                  </a:lnTo>
                  <a:lnTo>
                    <a:pt x="853" y="1178"/>
                  </a:lnTo>
                  <a:lnTo>
                    <a:pt x="868" y="1178"/>
                  </a:lnTo>
                  <a:lnTo>
                    <a:pt x="883" y="1178"/>
                  </a:lnTo>
                  <a:lnTo>
                    <a:pt x="898" y="1178"/>
                  </a:lnTo>
                  <a:lnTo>
                    <a:pt x="912" y="1193"/>
                  </a:lnTo>
                  <a:lnTo>
                    <a:pt x="927" y="1193"/>
                  </a:lnTo>
                  <a:lnTo>
                    <a:pt x="942" y="1207"/>
                  </a:lnTo>
                  <a:lnTo>
                    <a:pt x="956" y="1215"/>
                  </a:lnTo>
                  <a:lnTo>
                    <a:pt x="964" y="1229"/>
                  </a:lnTo>
                  <a:lnTo>
                    <a:pt x="978" y="1244"/>
                  </a:lnTo>
                  <a:lnTo>
                    <a:pt x="978" y="1259"/>
                  </a:lnTo>
                  <a:lnTo>
                    <a:pt x="993" y="1274"/>
                  </a:lnTo>
                  <a:lnTo>
                    <a:pt x="993" y="1288"/>
                  </a:lnTo>
                  <a:lnTo>
                    <a:pt x="1008" y="1303"/>
                  </a:lnTo>
                  <a:lnTo>
                    <a:pt x="1023" y="1318"/>
                  </a:lnTo>
                  <a:lnTo>
                    <a:pt x="1023" y="1333"/>
                  </a:lnTo>
                  <a:lnTo>
                    <a:pt x="1023" y="1340"/>
                  </a:lnTo>
                  <a:lnTo>
                    <a:pt x="1037" y="1355"/>
                  </a:lnTo>
                  <a:lnTo>
                    <a:pt x="1052" y="1369"/>
                  </a:lnTo>
                  <a:lnTo>
                    <a:pt x="1052" y="1384"/>
                  </a:lnTo>
                  <a:lnTo>
                    <a:pt x="1059" y="1399"/>
                  </a:lnTo>
                  <a:lnTo>
                    <a:pt x="1059" y="1414"/>
                  </a:lnTo>
                  <a:lnTo>
                    <a:pt x="1059" y="1428"/>
                  </a:lnTo>
                  <a:lnTo>
                    <a:pt x="1074" y="1443"/>
                  </a:lnTo>
                  <a:lnTo>
                    <a:pt x="1074" y="1450"/>
                  </a:lnTo>
                  <a:lnTo>
                    <a:pt x="1089" y="1465"/>
                  </a:lnTo>
                  <a:lnTo>
                    <a:pt x="1089" y="1480"/>
                  </a:lnTo>
                  <a:lnTo>
                    <a:pt x="1104" y="1495"/>
                  </a:lnTo>
                  <a:lnTo>
                    <a:pt x="1104" y="1509"/>
                  </a:lnTo>
                  <a:lnTo>
                    <a:pt x="1118" y="1524"/>
                  </a:lnTo>
                  <a:lnTo>
                    <a:pt x="1118" y="1539"/>
                  </a:lnTo>
                  <a:lnTo>
                    <a:pt x="1133" y="1553"/>
                  </a:lnTo>
                  <a:lnTo>
                    <a:pt x="1133" y="1561"/>
                  </a:lnTo>
                  <a:lnTo>
                    <a:pt x="1148" y="1576"/>
                  </a:lnTo>
                  <a:lnTo>
                    <a:pt x="1148" y="1590"/>
                  </a:lnTo>
                  <a:lnTo>
                    <a:pt x="1162" y="1605"/>
                  </a:lnTo>
                  <a:lnTo>
                    <a:pt x="1170" y="1620"/>
                  </a:lnTo>
                  <a:lnTo>
                    <a:pt x="1170" y="1634"/>
                  </a:lnTo>
                  <a:lnTo>
                    <a:pt x="1184" y="1649"/>
                  </a:lnTo>
                  <a:lnTo>
                    <a:pt x="1199" y="1664"/>
                  </a:lnTo>
                  <a:lnTo>
                    <a:pt x="1214" y="1671"/>
                  </a:lnTo>
                  <a:lnTo>
                    <a:pt x="1229" y="1671"/>
                  </a:lnTo>
                  <a:lnTo>
                    <a:pt x="1243" y="1686"/>
                  </a:lnTo>
                  <a:lnTo>
                    <a:pt x="1258" y="1671"/>
                  </a:lnTo>
                  <a:lnTo>
                    <a:pt x="1273" y="1671"/>
                  </a:lnTo>
                  <a:lnTo>
                    <a:pt x="1280" y="1664"/>
                  </a:lnTo>
                  <a:lnTo>
                    <a:pt x="1295" y="1649"/>
                  </a:lnTo>
                  <a:lnTo>
                    <a:pt x="1295" y="1634"/>
                  </a:lnTo>
                  <a:lnTo>
                    <a:pt x="1309" y="1620"/>
                  </a:lnTo>
                  <a:lnTo>
                    <a:pt x="1324" y="1605"/>
                  </a:lnTo>
                  <a:lnTo>
                    <a:pt x="1324" y="1590"/>
                  </a:lnTo>
                  <a:lnTo>
                    <a:pt x="1324" y="1576"/>
                  </a:lnTo>
                  <a:lnTo>
                    <a:pt x="1339" y="1561"/>
                  </a:lnTo>
                  <a:lnTo>
                    <a:pt x="1339" y="1553"/>
                  </a:lnTo>
                  <a:lnTo>
                    <a:pt x="1354" y="1524"/>
                  </a:lnTo>
                  <a:lnTo>
                    <a:pt x="1354" y="1509"/>
                  </a:lnTo>
                  <a:lnTo>
                    <a:pt x="1354" y="1495"/>
                  </a:lnTo>
                  <a:lnTo>
                    <a:pt x="1368" y="1465"/>
                  </a:lnTo>
                  <a:lnTo>
                    <a:pt x="1368" y="1450"/>
                  </a:lnTo>
                  <a:lnTo>
                    <a:pt x="1383" y="1428"/>
                  </a:lnTo>
                  <a:lnTo>
                    <a:pt x="1383" y="1414"/>
                  </a:lnTo>
                  <a:lnTo>
                    <a:pt x="1390" y="1384"/>
                  </a:lnTo>
                  <a:lnTo>
                    <a:pt x="1390" y="1369"/>
                  </a:lnTo>
                  <a:lnTo>
                    <a:pt x="1390" y="1340"/>
                  </a:lnTo>
                  <a:lnTo>
                    <a:pt x="1405" y="1318"/>
                  </a:lnTo>
                  <a:lnTo>
                    <a:pt x="1405" y="1288"/>
                  </a:lnTo>
                  <a:lnTo>
                    <a:pt x="1420" y="1259"/>
                  </a:lnTo>
                  <a:lnTo>
                    <a:pt x="1420" y="1229"/>
                  </a:lnTo>
                  <a:lnTo>
                    <a:pt x="1435" y="1207"/>
                  </a:lnTo>
                  <a:lnTo>
                    <a:pt x="1435" y="1178"/>
                  </a:lnTo>
                  <a:lnTo>
                    <a:pt x="1435" y="1148"/>
                  </a:lnTo>
                  <a:lnTo>
                    <a:pt x="1449" y="1119"/>
                  </a:lnTo>
                  <a:lnTo>
                    <a:pt x="1449" y="1097"/>
                  </a:lnTo>
                  <a:lnTo>
                    <a:pt x="1464" y="1067"/>
                  </a:lnTo>
                  <a:lnTo>
                    <a:pt x="1464" y="1038"/>
                  </a:lnTo>
                  <a:lnTo>
                    <a:pt x="1464" y="1009"/>
                  </a:lnTo>
                  <a:lnTo>
                    <a:pt x="1479" y="972"/>
                  </a:lnTo>
                  <a:lnTo>
                    <a:pt x="1479" y="942"/>
                  </a:lnTo>
                  <a:lnTo>
                    <a:pt x="1493" y="913"/>
                  </a:lnTo>
                  <a:lnTo>
                    <a:pt x="1493" y="883"/>
                  </a:lnTo>
                  <a:lnTo>
                    <a:pt x="1501" y="847"/>
                  </a:lnTo>
                  <a:lnTo>
                    <a:pt x="1501" y="817"/>
                  </a:lnTo>
                  <a:lnTo>
                    <a:pt x="1501" y="788"/>
                  </a:lnTo>
                  <a:lnTo>
                    <a:pt x="1515" y="766"/>
                  </a:lnTo>
                  <a:lnTo>
                    <a:pt x="1515" y="721"/>
                  </a:lnTo>
                  <a:lnTo>
                    <a:pt x="1530" y="692"/>
                  </a:lnTo>
                  <a:lnTo>
                    <a:pt x="1530" y="662"/>
                  </a:lnTo>
                  <a:lnTo>
                    <a:pt x="1530" y="640"/>
                  </a:lnTo>
                  <a:lnTo>
                    <a:pt x="1545" y="596"/>
                  </a:lnTo>
                  <a:lnTo>
                    <a:pt x="1545" y="567"/>
                  </a:lnTo>
                  <a:lnTo>
                    <a:pt x="1560" y="545"/>
                  </a:lnTo>
                  <a:lnTo>
                    <a:pt x="1560" y="515"/>
                  </a:lnTo>
                  <a:lnTo>
                    <a:pt x="1574" y="486"/>
                  </a:lnTo>
                  <a:lnTo>
                    <a:pt x="1574" y="456"/>
                  </a:lnTo>
                  <a:lnTo>
                    <a:pt x="1574" y="434"/>
                  </a:lnTo>
                  <a:lnTo>
                    <a:pt x="1589" y="405"/>
                  </a:lnTo>
                  <a:lnTo>
                    <a:pt x="1589" y="375"/>
                  </a:lnTo>
                  <a:lnTo>
                    <a:pt x="1604" y="346"/>
                  </a:lnTo>
                  <a:lnTo>
                    <a:pt x="1604" y="324"/>
                  </a:lnTo>
                  <a:lnTo>
                    <a:pt x="1611" y="294"/>
                  </a:lnTo>
                  <a:lnTo>
                    <a:pt x="1611" y="279"/>
                  </a:lnTo>
                  <a:lnTo>
                    <a:pt x="1611" y="250"/>
                  </a:lnTo>
                  <a:lnTo>
                    <a:pt x="1626" y="221"/>
                  </a:lnTo>
                  <a:lnTo>
                    <a:pt x="1626" y="213"/>
                  </a:lnTo>
                  <a:lnTo>
                    <a:pt x="1640" y="184"/>
                  </a:lnTo>
                  <a:lnTo>
                    <a:pt x="1640" y="169"/>
                  </a:lnTo>
                  <a:lnTo>
                    <a:pt x="1640" y="140"/>
                  </a:lnTo>
                  <a:lnTo>
                    <a:pt x="1655" y="125"/>
                  </a:lnTo>
                  <a:lnTo>
                    <a:pt x="1655" y="110"/>
                  </a:lnTo>
                  <a:lnTo>
                    <a:pt x="1670" y="95"/>
                  </a:lnTo>
                  <a:lnTo>
                    <a:pt x="1670" y="88"/>
                  </a:lnTo>
                  <a:lnTo>
                    <a:pt x="1685" y="73"/>
                  </a:lnTo>
                  <a:lnTo>
                    <a:pt x="1685" y="59"/>
                  </a:lnTo>
                  <a:lnTo>
                    <a:pt x="1685" y="44"/>
                  </a:lnTo>
                  <a:lnTo>
                    <a:pt x="1699" y="29"/>
                  </a:lnTo>
                  <a:lnTo>
                    <a:pt x="1714" y="14"/>
                  </a:lnTo>
                  <a:lnTo>
                    <a:pt x="1721" y="0"/>
                  </a:lnTo>
                  <a:lnTo>
                    <a:pt x="1736" y="0"/>
                  </a:lnTo>
                  <a:lnTo>
                    <a:pt x="1751" y="0"/>
                  </a:lnTo>
                  <a:lnTo>
                    <a:pt x="1766" y="14"/>
                  </a:lnTo>
                  <a:lnTo>
                    <a:pt x="1780" y="29"/>
                  </a:lnTo>
                  <a:lnTo>
                    <a:pt x="1795" y="44"/>
                  </a:lnTo>
                  <a:lnTo>
                    <a:pt x="1795" y="59"/>
                  </a:lnTo>
                  <a:lnTo>
                    <a:pt x="1795" y="73"/>
                  </a:lnTo>
                  <a:lnTo>
                    <a:pt x="1810" y="88"/>
                  </a:lnTo>
                  <a:lnTo>
                    <a:pt x="1810" y="95"/>
                  </a:lnTo>
                  <a:lnTo>
                    <a:pt x="1817" y="110"/>
                  </a:lnTo>
                  <a:lnTo>
                    <a:pt x="1817" y="125"/>
                  </a:lnTo>
                  <a:lnTo>
                    <a:pt x="1832" y="140"/>
                  </a:lnTo>
                  <a:lnTo>
                    <a:pt x="1832" y="169"/>
                  </a:lnTo>
                  <a:lnTo>
                    <a:pt x="1832" y="184"/>
                  </a:lnTo>
                  <a:lnTo>
                    <a:pt x="1846" y="213"/>
                  </a:lnTo>
                  <a:lnTo>
                    <a:pt x="1846" y="221"/>
                  </a:lnTo>
                  <a:lnTo>
                    <a:pt x="1861" y="250"/>
                  </a:lnTo>
                  <a:lnTo>
                    <a:pt x="1861" y="279"/>
                  </a:lnTo>
                  <a:lnTo>
                    <a:pt x="1861" y="294"/>
                  </a:lnTo>
                  <a:lnTo>
                    <a:pt x="1876" y="324"/>
                  </a:lnTo>
                  <a:lnTo>
                    <a:pt x="1876" y="346"/>
                  </a:lnTo>
                  <a:lnTo>
                    <a:pt x="1891" y="375"/>
                  </a:lnTo>
                  <a:lnTo>
                    <a:pt x="1891" y="405"/>
                  </a:lnTo>
                  <a:lnTo>
                    <a:pt x="1905" y="434"/>
                  </a:lnTo>
                  <a:lnTo>
                    <a:pt x="1905" y="456"/>
                  </a:lnTo>
                  <a:lnTo>
                    <a:pt x="1905" y="486"/>
                  </a:lnTo>
                  <a:lnTo>
                    <a:pt x="1920" y="515"/>
                  </a:lnTo>
                  <a:lnTo>
                    <a:pt x="1920" y="545"/>
                  </a:lnTo>
                  <a:lnTo>
                    <a:pt x="1927" y="567"/>
                  </a:lnTo>
                  <a:lnTo>
                    <a:pt x="1927" y="596"/>
                  </a:lnTo>
                  <a:lnTo>
                    <a:pt x="1942" y="640"/>
                  </a:lnTo>
                  <a:lnTo>
                    <a:pt x="1942" y="662"/>
                  </a:lnTo>
                  <a:lnTo>
                    <a:pt x="1942" y="692"/>
                  </a:lnTo>
                  <a:lnTo>
                    <a:pt x="1957" y="721"/>
                  </a:lnTo>
                  <a:lnTo>
                    <a:pt x="1957" y="766"/>
                  </a:lnTo>
                  <a:lnTo>
                    <a:pt x="1971" y="788"/>
                  </a:lnTo>
                  <a:lnTo>
                    <a:pt x="1971" y="817"/>
                  </a:lnTo>
                  <a:lnTo>
                    <a:pt x="1971" y="847"/>
                  </a:lnTo>
                  <a:lnTo>
                    <a:pt x="1986" y="883"/>
                  </a:lnTo>
                  <a:lnTo>
                    <a:pt x="1986" y="913"/>
                  </a:lnTo>
                  <a:lnTo>
                    <a:pt x="2001" y="942"/>
                  </a:lnTo>
                  <a:lnTo>
                    <a:pt x="2001" y="972"/>
                  </a:lnTo>
                  <a:lnTo>
                    <a:pt x="2016" y="1009"/>
                  </a:lnTo>
                  <a:lnTo>
                    <a:pt x="2016" y="1038"/>
                  </a:lnTo>
                  <a:lnTo>
                    <a:pt x="2016" y="1067"/>
                  </a:lnTo>
                  <a:lnTo>
                    <a:pt x="2030" y="1097"/>
                  </a:lnTo>
                  <a:lnTo>
                    <a:pt x="2030" y="1119"/>
                  </a:lnTo>
                  <a:lnTo>
                    <a:pt x="2038" y="1148"/>
                  </a:lnTo>
                  <a:lnTo>
                    <a:pt x="2038" y="1178"/>
                  </a:lnTo>
                  <a:lnTo>
                    <a:pt x="2038" y="1207"/>
                  </a:lnTo>
                  <a:lnTo>
                    <a:pt x="2052" y="1229"/>
                  </a:lnTo>
                  <a:lnTo>
                    <a:pt x="2052" y="1259"/>
                  </a:lnTo>
                  <a:lnTo>
                    <a:pt x="2067" y="1288"/>
                  </a:lnTo>
                  <a:lnTo>
                    <a:pt x="2067" y="1318"/>
                  </a:lnTo>
                  <a:lnTo>
                    <a:pt x="2082" y="1340"/>
                  </a:lnTo>
                  <a:lnTo>
                    <a:pt x="2082" y="1369"/>
                  </a:lnTo>
                  <a:lnTo>
                    <a:pt x="2082" y="1384"/>
                  </a:lnTo>
                  <a:lnTo>
                    <a:pt x="2097" y="1414"/>
                  </a:lnTo>
                  <a:lnTo>
                    <a:pt x="2097" y="1428"/>
                  </a:lnTo>
                  <a:lnTo>
                    <a:pt x="2111" y="1450"/>
                  </a:lnTo>
                  <a:lnTo>
                    <a:pt x="2111" y="1465"/>
                  </a:lnTo>
                  <a:lnTo>
                    <a:pt x="2126" y="1495"/>
                  </a:lnTo>
                  <a:lnTo>
                    <a:pt x="2126" y="1509"/>
                  </a:lnTo>
                  <a:lnTo>
                    <a:pt x="2126" y="1524"/>
                  </a:lnTo>
                  <a:lnTo>
                    <a:pt x="2141" y="1553"/>
                  </a:lnTo>
                  <a:lnTo>
                    <a:pt x="2141" y="1561"/>
                  </a:lnTo>
                  <a:lnTo>
                    <a:pt x="2148" y="1576"/>
                  </a:lnTo>
                  <a:lnTo>
                    <a:pt x="2148" y="1590"/>
                  </a:lnTo>
                  <a:lnTo>
                    <a:pt x="2163" y="1605"/>
                  </a:lnTo>
                  <a:lnTo>
                    <a:pt x="2163" y="1620"/>
                  </a:lnTo>
                  <a:lnTo>
                    <a:pt x="2177" y="1634"/>
                  </a:lnTo>
                  <a:lnTo>
                    <a:pt x="2192" y="1649"/>
                  </a:lnTo>
                  <a:lnTo>
                    <a:pt x="2192" y="1664"/>
                  </a:lnTo>
                  <a:lnTo>
                    <a:pt x="2207" y="1671"/>
                  </a:lnTo>
                  <a:lnTo>
                    <a:pt x="2222" y="1671"/>
                  </a:lnTo>
                  <a:lnTo>
                    <a:pt x="2236" y="1686"/>
                  </a:lnTo>
                  <a:lnTo>
                    <a:pt x="2251" y="1671"/>
                  </a:lnTo>
                  <a:lnTo>
                    <a:pt x="2258" y="1671"/>
                  </a:lnTo>
                  <a:lnTo>
                    <a:pt x="2273" y="1664"/>
                  </a:lnTo>
                  <a:lnTo>
                    <a:pt x="2288" y="1649"/>
                  </a:lnTo>
                  <a:lnTo>
                    <a:pt x="2302" y="1634"/>
                  </a:lnTo>
                  <a:lnTo>
                    <a:pt x="2317" y="1620"/>
                  </a:lnTo>
                  <a:lnTo>
                    <a:pt x="2317" y="1605"/>
                  </a:lnTo>
                  <a:lnTo>
                    <a:pt x="2332" y="1590"/>
                  </a:lnTo>
                  <a:lnTo>
                    <a:pt x="2347" y="1576"/>
                  </a:lnTo>
                  <a:lnTo>
                    <a:pt x="2347" y="1561"/>
                  </a:lnTo>
                  <a:lnTo>
                    <a:pt x="2347" y="1553"/>
                  </a:lnTo>
                  <a:lnTo>
                    <a:pt x="2361" y="1539"/>
                  </a:lnTo>
                  <a:lnTo>
                    <a:pt x="2369" y="1524"/>
                  </a:lnTo>
                  <a:lnTo>
                    <a:pt x="2369" y="1509"/>
                  </a:lnTo>
                  <a:lnTo>
                    <a:pt x="2369" y="1495"/>
                  </a:lnTo>
                  <a:lnTo>
                    <a:pt x="2383" y="1480"/>
                  </a:lnTo>
                  <a:lnTo>
                    <a:pt x="2383" y="1465"/>
                  </a:lnTo>
                  <a:lnTo>
                    <a:pt x="2398" y="1450"/>
                  </a:lnTo>
                  <a:lnTo>
                    <a:pt x="2398" y="1443"/>
                  </a:lnTo>
                  <a:lnTo>
                    <a:pt x="2413" y="1428"/>
                  </a:lnTo>
                  <a:lnTo>
                    <a:pt x="2413" y="1414"/>
                  </a:lnTo>
                  <a:lnTo>
                    <a:pt x="2413" y="1399"/>
                  </a:lnTo>
                  <a:lnTo>
                    <a:pt x="2428" y="1384"/>
                  </a:lnTo>
                  <a:lnTo>
                    <a:pt x="2442" y="1369"/>
                  </a:lnTo>
                  <a:lnTo>
                    <a:pt x="2442" y="1355"/>
                  </a:lnTo>
                  <a:lnTo>
                    <a:pt x="2457" y="1340"/>
                  </a:lnTo>
                  <a:lnTo>
                    <a:pt x="2457" y="1333"/>
                  </a:lnTo>
                  <a:lnTo>
                    <a:pt x="2457" y="1318"/>
                  </a:lnTo>
                  <a:lnTo>
                    <a:pt x="2472" y="1303"/>
                  </a:lnTo>
                  <a:lnTo>
                    <a:pt x="2479" y="1288"/>
                  </a:lnTo>
                  <a:lnTo>
                    <a:pt x="2479" y="1274"/>
                  </a:lnTo>
                  <a:lnTo>
                    <a:pt x="2494" y="1259"/>
                  </a:lnTo>
                  <a:lnTo>
                    <a:pt x="2508" y="1244"/>
                  </a:lnTo>
                  <a:lnTo>
                    <a:pt x="2523" y="1229"/>
                  </a:lnTo>
                  <a:lnTo>
                    <a:pt x="2523" y="1215"/>
                  </a:lnTo>
                  <a:lnTo>
                    <a:pt x="2538" y="1207"/>
                  </a:lnTo>
                  <a:lnTo>
                    <a:pt x="2553" y="1193"/>
                  </a:lnTo>
                  <a:lnTo>
                    <a:pt x="2567" y="1178"/>
                  </a:lnTo>
                  <a:lnTo>
                    <a:pt x="2582" y="1178"/>
                  </a:lnTo>
                  <a:lnTo>
                    <a:pt x="2589" y="1178"/>
                  </a:lnTo>
                  <a:lnTo>
                    <a:pt x="2604" y="1178"/>
                  </a:lnTo>
                  <a:lnTo>
                    <a:pt x="2619" y="1193"/>
                  </a:lnTo>
                  <a:lnTo>
                    <a:pt x="2633" y="1193"/>
                  </a:lnTo>
                  <a:lnTo>
                    <a:pt x="2648" y="1207"/>
                  </a:lnTo>
                  <a:lnTo>
                    <a:pt x="2663" y="1215"/>
                  </a:lnTo>
                  <a:lnTo>
                    <a:pt x="2678" y="1229"/>
                  </a:lnTo>
                  <a:lnTo>
                    <a:pt x="2685" y="1244"/>
                  </a:lnTo>
                  <a:lnTo>
                    <a:pt x="2700" y="1259"/>
                  </a:lnTo>
                  <a:lnTo>
                    <a:pt x="2714" y="1274"/>
                  </a:lnTo>
                  <a:lnTo>
                    <a:pt x="2729" y="1288"/>
                  </a:lnTo>
                  <a:lnTo>
                    <a:pt x="2729" y="1303"/>
                  </a:lnTo>
                  <a:lnTo>
                    <a:pt x="2744" y="1318"/>
                  </a:lnTo>
                  <a:lnTo>
                    <a:pt x="2759" y="1333"/>
                  </a:lnTo>
                  <a:lnTo>
                    <a:pt x="2759" y="1340"/>
                  </a:lnTo>
                  <a:lnTo>
                    <a:pt x="2773" y="1355"/>
                  </a:lnTo>
                  <a:lnTo>
                    <a:pt x="2773" y="1369"/>
                  </a:lnTo>
                  <a:lnTo>
                    <a:pt x="2788" y="1384"/>
                  </a:lnTo>
                  <a:lnTo>
                    <a:pt x="2795" y="1399"/>
                  </a:lnTo>
                  <a:lnTo>
                    <a:pt x="2810" y="1414"/>
                  </a:lnTo>
                  <a:lnTo>
                    <a:pt x="2810" y="1428"/>
                  </a:lnTo>
                  <a:lnTo>
                    <a:pt x="2825" y="1443"/>
                  </a:lnTo>
                  <a:lnTo>
                    <a:pt x="2839" y="1450"/>
                  </a:lnTo>
                  <a:lnTo>
                    <a:pt x="2854" y="1465"/>
                  </a:lnTo>
                  <a:lnTo>
                    <a:pt x="2869" y="1480"/>
                  </a:lnTo>
                  <a:lnTo>
                    <a:pt x="2884" y="1495"/>
                  </a:lnTo>
                  <a:lnTo>
                    <a:pt x="2898" y="1509"/>
                  </a:lnTo>
                  <a:lnTo>
                    <a:pt x="2906" y="1524"/>
                  </a:lnTo>
                  <a:lnTo>
                    <a:pt x="2920" y="1524"/>
                  </a:lnTo>
                  <a:lnTo>
                    <a:pt x="2935" y="1524"/>
                  </a:lnTo>
                  <a:lnTo>
                    <a:pt x="2950" y="1524"/>
                  </a:lnTo>
                  <a:lnTo>
                    <a:pt x="2964" y="1524"/>
                  </a:lnTo>
                  <a:lnTo>
                    <a:pt x="2979" y="1524"/>
                  </a:lnTo>
                  <a:lnTo>
                    <a:pt x="2994" y="1509"/>
                  </a:lnTo>
                  <a:lnTo>
                    <a:pt x="3009" y="1509"/>
                  </a:lnTo>
                  <a:lnTo>
                    <a:pt x="3016" y="1495"/>
                  </a:lnTo>
                  <a:lnTo>
                    <a:pt x="3031" y="1480"/>
                  </a:lnTo>
                  <a:lnTo>
                    <a:pt x="3045" y="1465"/>
                  </a:lnTo>
                  <a:lnTo>
                    <a:pt x="3060" y="1450"/>
                  </a:lnTo>
                  <a:lnTo>
                    <a:pt x="3075" y="1443"/>
                  </a:lnTo>
                  <a:lnTo>
                    <a:pt x="3090" y="1428"/>
                  </a:lnTo>
                  <a:lnTo>
                    <a:pt x="3104" y="1414"/>
                  </a:lnTo>
                  <a:lnTo>
                    <a:pt x="3104" y="1399"/>
                  </a:lnTo>
                  <a:lnTo>
                    <a:pt x="3119" y="1384"/>
                  </a:lnTo>
                  <a:lnTo>
                    <a:pt x="3126" y="1369"/>
                  </a:lnTo>
                  <a:lnTo>
                    <a:pt x="3141" y="1355"/>
                  </a:lnTo>
                  <a:lnTo>
                    <a:pt x="3156" y="1340"/>
                  </a:lnTo>
                  <a:lnTo>
                    <a:pt x="3170" y="1333"/>
                  </a:lnTo>
                  <a:lnTo>
                    <a:pt x="3185" y="1318"/>
                  </a:lnTo>
                  <a:lnTo>
                    <a:pt x="3185" y="1303"/>
                  </a:lnTo>
                  <a:lnTo>
                    <a:pt x="3200" y="1288"/>
                  </a:lnTo>
                  <a:lnTo>
                    <a:pt x="3215" y="1274"/>
                  </a:lnTo>
                  <a:lnTo>
                    <a:pt x="3229" y="1259"/>
                  </a:lnTo>
                  <a:lnTo>
                    <a:pt x="3237" y="1244"/>
                  </a:lnTo>
                  <a:lnTo>
                    <a:pt x="3251" y="1244"/>
                  </a:lnTo>
                  <a:lnTo>
                    <a:pt x="3266" y="1229"/>
                  </a:lnTo>
                  <a:lnTo>
                    <a:pt x="3281" y="1229"/>
                  </a:lnTo>
                  <a:lnTo>
                    <a:pt x="3295" y="1229"/>
                  </a:lnTo>
                  <a:lnTo>
                    <a:pt x="3310" y="1229"/>
                  </a:lnTo>
                  <a:lnTo>
                    <a:pt x="3325" y="1244"/>
                  </a:lnTo>
                  <a:lnTo>
                    <a:pt x="3340" y="1244"/>
                  </a:lnTo>
                  <a:lnTo>
                    <a:pt x="3347" y="1244"/>
                  </a:lnTo>
                  <a:lnTo>
                    <a:pt x="3362" y="1259"/>
                  </a:lnTo>
                  <a:lnTo>
                    <a:pt x="3376" y="1274"/>
                  </a:lnTo>
                  <a:lnTo>
                    <a:pt x="3391" y="1288"/>
                  </a:lnTo>
                  <a:lnTo>
                    <a:pt x="3406" y="1303"/>
                  </a:lnTo>
                  <a:lnTo>
                    <a:pt x="3421" y="1318"/>
                  </a:lnTo>
                  <a:lnTo>
                    <a:pt x="3435" y="1333"/>
                  </a:lnTo>
                  <a:lnTo>
                    <a:pt x="3450" y="1340"/>
                  </a:lnTo>
                  <a:lnTo>
                    <a:pt x="3457" y="1355"/>
                  </a:lnTo>
                  <a:lnTo>
                    <a:pt x="3472" y="136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4" name="Line 8"/>
            <p:cNvSpPr>
              <a:spLocks noChangeShapeType="1"/>
            </p:cNvSpPr>
            <p:nvPr/>
          </p:nvSpPr>
          <p:spPr bwMode="auto">
            <a:xfrm flipV="1">
              <a:off x="48" y="3551"/>
              <a:ext cx="3862" cy="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5" name="Freeform 9"/>
            <p:cNvSpPr>
              <a:spLocks/>
            </p:cNvSpPr>
            <p:nvPr/>
          </p:nvSpPr>
          <p:spPr bwMode="auto">
            <a:xfrm>
              <a:off x="3895" y="3507"/>
              <a:ext cx="88" cy="96"/>
            </a:xfrm>
            <a:custGeom>
              <a:avLst/>
              <a:gdLst>
                <a:gd name="T0" fmla="*/ 0 w 88"/>
                <a:gd name="T1" fmla="*/ 96 h 96"/>
                <a:gd name="T2" fmla="*/ 88 w 88"/>
                <a:gd name="T3" fmla="*/ 44 h 96"/>
                <a:gd name="T4" fmla="*/ 0 w 88"/>
                <a:gd name="T5" fmla="*/ 0 h 96"/>
                <a:gd name="T6" fmla="*/ 0 w 88"/>
                <a:gd name="T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" h="96">
                  <a:moveTo>
                    <a:pt x="0" y="96"/>
                  </a:moveTo>
                  <a:lnTo>
                    <a:pt x="88" y="44"/>
                  </a:lnTo>
                  <a:lnTo>
                    <a:pt x="0" y="0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6" name="Line 10"/>
            <p:cNvSpPr>
              <a:spLocks noChangeShapeType="1"/>
            </p:cNvSpPr>
            <p:nvPr/>
          </p:nvSpPr>
          <p:spPr bwMode="auto">
            <a:xfrm flipV="1">
              <a:off x="2056" y="2130"/>
              <a:ext cx="1" cy="184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7" name="Freeform 11"/>
            <p:cNvSpPr>
              <a:spLocks/>
            </p:cNvSpPr>
            <p:nvPr/>
          </p:nvSpPr>
          <p:spPr bwMode="auto">
            <a:xfrm>
              <a:off x="2012" y="2056"/>
              <a:ext cx="96" cy="88"/>
            </a:xfrm>
            <a:custGeom>
              <a:avLst/>
              <a:gdLst>
                <a:gd name="T0" fmla="*/ 96 w 96"/>
                <a:gd name="T1" fmla="*/ 88 h 88"/>
                <a:gd name="T2" fmla="*/ 44 w 96"/>
                <a:gd name="T3" fmla="*/ 0 h 88"/>
                <a:gd name="T4" fmla="*/ 0 w 96"/>
                <a:gd name="T5" fmla="*/ 88 h 88"/>
                <a:gd name="T6" fmla="*/ 96 w 96"/>
                <a:gd name="T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8">
                  <a:moveTo>
                    <a:pt x="96" y="88"/>
                  </a:moveTo>
                  <a:lnTo>
                    <a:pt x="44" y="0"/>
                  </a:lnTo>
                  <a:lnTo>
                    <a:pt x="0" y="88"/>
                  </a:lnTo>
                  <a:lnTo>
                    <a:pt x="96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8" name="Line 12"/>
            <p:cNvSpPr>
              <a:spLocks noChangeShapeType="1"/>
            </p:cNvSpPr>
            <p:nvPr/>
          </p:nvSpPr>
          <p:spPr bwMode="auto">
            <a:xfrm flipV="1">
              <a:off x="1372" y="3529"/>
              <a:ext cx="1" cy="2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9" name="Line 13"/>
            <p:cNvSpPr>
              <a:spLocks noChangeShapeType="1"/>
            </p:cNvSpPr>
            <p:nvPr/>
          </p:nvSpPr>
          <p:spPr bwMode="auto">
            <a:xfrm flipV="1">
              <a:off x="1718" y="3529"/>
              <a:ext cx="1" cy="2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Line 14"/>
            <p:cNvSpPr>
              <a:spLocks noChangeShapeType="1"/>
            </p:cNvSpPr>
            <p:nvPr/>
          </p:nvSpPr>
          <p:spPr bwMode="auto">
            <a:xfrm flipV="1">
              <a:off x="2402" y="3529"/>
              <a:ext cx="1" cy="2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1" name="Line 15"/>
            <p:cNvSpPr>
              <a:spLocks noChangeShapeType="1"/>
            </p:cNvSpPr>
            <p:nvPr/>
          </p:nvSpPr>
          <p:spPr bwMode="auto">
            <a:xfrm flipV="1">
              <a:off x="2748" y="3529"/>
              <a:ext cx="1" cy="2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2" name="Rectangle 16"/>
            <p:cNvSpPr>
              <a:spLocks noChangeArrowheads="1"/>
            </p:cNvSpPr>
            <p:nvPr/>
          </p:nvSpPr>
          <p:spPr bwMode="auto">
            <a:xfrm>
              <a:off x="2218" y="3529"/>
              <a:ext cx="243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Rectangle 17"/>
            <p:cNvSpPr>
              <a:spLocks noChangeArrowheads="1"/>
            </p:cNvSpPr>
            <p:nvPr/>
          </p:nvSpPr>
          <p:spPr bwMode="auto">
            <a:xfrm>
              <a:off x="2218" y="352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2</a:t>
              </a:r>
              <a:endParaRPr lang="en-US" altLang="zh-CN" sz="2000"/>
            </a:p>
          </p:txBody>
        </p:sp>
        <p:sp>
          <p:nvSpPr>
            <p:cNvPr id="50194" name="Rectangle 18"/>
            <p:cNvSpPr>
              <a:spLocks noChangeArrowheads="1"/>
            </p:cNvSpPr>
            <p:nvPr/>
          </p:nvSpPr>
          <p:spPr bwMode="auto">
            <a:xfrm>
              <a:off x="2306" y="3522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p</a:t>
              </a:r>
              <a:endParaRPr lang="en-US" altLang="zh-CN" sz="2000"/>
            </a:p>
          </p:txBody>
        </p:sp>
        <p:sp>
          <p:nvSpPr>
            <p:cNvPr id="50195" name="Rectangle 19"/>
            <p:cNvSpPr>
              <a:spLocks noChangeArrowheads="1"/>
            </p:cNvSpPr>
            <p:nvPr/>
          </p:nvSpPr>
          <p:spPr bwMode="auto">
            <a:xfrm>
              <a:off x="2279" y="3735"/>
              <a:ext cx="12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</a:rPr>
                <a:t>N</a:t>
              </a:r>
              <a:endParaRPr lang="en-US" altLang="zh-CN" sz="2000"/>
            </a:p>
          </p:txBody>
        </p:sp>
        <p:sp>
          <p:nvSpPr>
            <p:cNvPr id="50196" name="Line 20"/>
            <p:cNvSpPr>
              <a:spLocks noChangeShapeType="1"/>
            </p:cNvSpPr>
            <p:nvPr/>
          </p:nvSpPr>
          <p:spPr bwMode="auto">
            <a:xfrm>
              <a:off x="2056" y="2189"/>
              <a:ext cx="4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Rectangle 21"/>
            <p:cNvSpPr>
              <a:spLocks noChangeArrowheads="1"/>
            </p:cNvSpPr>
            <p:nvPr/>
          </p:nvSpPr>
          <p:spPr bwMode="auto">
            <a:xfrm>
              <a:off x="1828" y="2078"/>
              <a:ext cx="280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Rectangle 22"/>
            <p:cNvSpPr>
              <a:spLocks noChangeArrowheads="1"/>
            </p:cNvSpPr>
            <p:nvPr/>
          </p:nvSpPr>
          <p:spPr bwMode="auto">
            <a:xfrm>
              <a:off x="1821" y="2130"/>
              <a:ext cx="12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</a:rPr>
                <a:t>N</a:t>
              </a:r>
              <a:endParaRPr lang="en-US" altLang="zh-CN" sz="2000"/>
            </a:p>
          </p:txBody>
        </p:sp>
        <p:sp>
          <p:nvSpPr>
            <p:cNvPr id="50199" name="Rectangle 23"/>
            <p:cNvSpPr>
              <a:spLocks noChangeArrowheads="1"/>
            </p:cNvSpPr>
            <p:nvPr/>
          </p:nvSpPr>
          <p:spPr bwMode="auto">
            <a:xfrm>
              <a:off x="1924" y="3558"/>
              <a:ext cx="184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Rectangle 24"/>
            <p:cNvSpPr>
              <a:spLocks noChangeArrowheads="1"/>
            </p:cNvSpPr>
            <p:nvPr/>
          </p:nvSpPr>
          <p:spPr bwMode="auto">
            <a:xfrm>
              <a:off x="1924" y="3610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lang="en-US" altLang="zh-CN" sz="2000"/>
            </a:p>
          </p:txBody>
        </p:sp>
        <p:sp>
          <p:nvSpPr>
            <p:cNvPr id="50201" name="Rectangle 25"/>
            <p:cNvSpPr>
              <a:spLocks noChangeArrowheads="1"/>
            </p:cNvSpPr>
            <p:nvPr/>
          </p:nvSpPr>
          <p:spPr bwMode="auto">
            <a:xfrm>
              <a:off x="2748" y="3529"/>
              <a:ext cx="250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Rectangle 26"/>
            <p:cNvSpPr>
              <a:spLocks noChangeArrowheads="1"/>
            </p:cNvSpPr>
            <p:nvPr/>
          </p:nvSpPr>
          <p:spPr bwMode="auto">
            <a:xfrm>
              <a:off x="2748" y="352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4</a:t>
              </a:r>
              <a:endParaRPr lang="en-US" altLang="zh-CN" sz="2000"/>
            </a:p>
          </p:txBody>
        </p:sp>
        <p:sp>
          <p:nvSpPr>
            <p:cNvPr id="50203" name="Rectangle 27"/>
            <p:cNvSpPr>
              <a:spLocks noChangeArrowheads="1"/>
            </p:cNvSpPr>
            <p:nvPr/>
          </p:nvSpPr>
          <p:spPr bwMode="auto">
            <a:xfrm>
              <a:off x="2836" y="3522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p</a:t>
              </a:r>
              <a:endParaRPr lang="en-US" altLang="zh-CN" sz="2000"/>
            </a:p>
          </p:txBody>
        </p:sp>
        <p:sp>
          <p:nvSpPr>
            <p:cNvPr id="50204" name="Rectangle 28"/>
            <p:cNvSpPr>
              <a:spLocks noChangeArrowheads="1"/>
            </p:cNvSpPr>
            <p:nvPr/>
          </p:nvSpPr>
          <p:spPr bwMode="auto">
            <a:xfrm>
              <a:off x="2807" y="3735"/>
              <a:ext cx="12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</a:rPr>
                <a:t>N</a:t>
              </a:r>
              <a:endParaRPr lang="en-US" altLang="zh-CN" sz="2000"/>
            </a:p>
          </p:txBody>
        </p:sp>
        <p:sp>
          <p:nvSpPr>
            <p:cNvPr id="50205" name="Line 29"/>
            <p:cNvSpPr>
              <a:spLocks noChangeShapeType="1"/>
            </p:cNvSpPr>
            <p:nvPr/>
          </p:nvSpPr>
          <p:spPr bwMode="auto">
            <a:xfrm>
              <a:off x="2218" y="3735"/>
              <a:ext cx="23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Line 30"/>
            <p:cNvSpPr>
              <a:spLocks noChangeShapeType="1"/>
            </p:cNvSpPr>
            <p:nvPr/>
          </p:nvSpPr>
          <p:spPr bwMode="auto">
            <a:xfrm>
              <a:off x="2748" y="3735"/>
              <a:ext cx="242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7" name="Rectangle 31"/>
            <p:cNvSpPr>
              <a:spLocks noChangeArrowheads="1"/>
            </p:cNvSpPr>
            <p:nvPr/>
          </p:nvSpPr>
          <p:spPr bwMode="auto">
            <a:xfrm>
              <a:off x="3814" y="3256"/>
              <a:ext cx="258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8" name="Rectangle 32"/>
            <p:cNvSpPr>
              <a:spLocks noChangeArrowheads="1"/>
            </p:cNvSpPr>
            <p:nvPr/>
          </p:nvSpPr>
          <p:spPr bwMode="auto">
            <a:xfrm>
              <a:off x="3862" y="3312"/>
              <a:ext cx="1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2000" i="1" dirty="0" smtClean="0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000" i="1" dirty="0"/>
            </a:p>
          </p:txBody>
        </p:sp>
        <p:sp>
          <p:nvSpPr>
            <p:cNvPr id="50209" name="Rectangle 33"/>
            <p:cNvSpPr>
              <a:spLocks noChangeArrowheads="1"/>
            </p:cNvSpPr>
            <p:nvPr/>
          </p:nvSpPr>
          <p:spPr bwMode="auto">
            <a:xfrm>
              <a:off x="3552" y="3558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p</a:t>
              </a:r>
              <a:endParaRPr lang="en-US" altLang="zh-CN" sz="2000"/>
            </a:p>
          </p:txBody>
        </p:sp>
        <p:sp>
          <p:nvSpPr>
            <p:cNvPr id="50210" name="Freeform 34"/>
            <p:cNvSpPr>
              <a:spLocks/>
            </p:cNvSpPr>
            <p:nvPr/>
          </p:nvSpPr>
          <p:spPr bwMode="auto">
            <a:xfrm>
              <a:off x="2556" y="3573"/>
              <a:ext cx="8" cy="30"/>
            </a:xfrm>
            <a:custGeom>
              <a:avLst/>
              <a:gdLst>
                <a:gd name="T0" fmla="*/ 8 w 8"/>
                <a:gd name="T1" fmla="*/ 0 h 30"/>
                <a:gd name="T2" fmla="*/ 0 w 8"/>
                <a:gd name="T3" fmla="*/ 0 h 30"/>
                <a:gd name="T4" fmla="*/ 0 w 8"/>
                <a:gd name="T5" fmla="*/ 0 h 30"/>
                <a:gd name="T6" fmla="*/ 0 w 8"/>
                <a:gd name="T7" fmla="*/ 30 h 30"/>
                <a:gd name="T8" fmla="*/ 0 w 8"/>
                <a:gd name="T9" fmla="*/ 30 h 30"/>
                <a:gd name="T10" fmla="*/ 8 w 8"/>
                <a:gd name="T11" fmla="*/ 30 h 30"/>
                <a:gd name="T12" fmla="*/ 8 w 8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0">
                  <a:moveTo>
                    <a:pt x="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8" y="3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Freeform 35"/>
            <p:cNvSpPr>
              <a:spLocks/>
            </p:cNvSpPr>
            <p:nvPr/>
          </p:nvSpPr>
          <p:spPr bwMode="auto">
            <a:xfrm>
              <a:off x="2556" y="3617"/>
              <a:ext cx="8" cy="37"/>
            </a:xfrm>
            <a:custGeom>
              <a:avLst/>
              <a:gdLst>
                <a:gd name="T0" fmla="*/ 8 w 8"/>
                <a:gd name="T1" fmla="*/ 8 h 37"/>
                <a:gd name="T2" fmla="*/ 0 w 8"/>
                <a:gd name="T3" fmla="*/ 0 h 37"/>
                <a:gd name="T4" fmla="*/ 0 w 8"/>
                <a:gd name="T5" fmla="*/ 8 h 37"/>
                <a:gd name="T6" fmla="*/ 0 w 8"/>
                <a:gd name="T7" fmla="*/ 37 h 37"/>
                <a:gd name="T8" fmla="*/ 0 w 8"/>
                <a:gd name="T9" fmla="*/ 37 h 37"/>
                <a:gd name="T10" fmla="*/ 8 w 8"/>
                <a:gd name="T11" fmla="*/ 37 h 37"/>
                <a:gd name="T12" fmla="*/ 8 w 8"/>
                <a:gd name="T13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7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8" y="37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Freeform 36"/>
            <p:cNvSpPr>
              <a:spLocks/>
            </p:cNvSpPr>
            <p:nvPr/>
          </p:nvSpPr>
          <p:spPr bwMode="auto">
            <a:xfrm>
              <a:off x="2556" y="3669"/>
              <a:ext cx="8" cy="37"/>
            </a:xfrm>
            <a:custGeom>
              <a:avLst/>
              <a:gdLst>
                <a:gd name="T0" fmla="*/ 8 w 8"/>
                <a:gd name="T1" fmla="*/ 7 h 37"/>
                <a:gd name="T2" fmla="*/ 0 w 8"/>
                <a:gd name="T3" fmla="*/ 0 h 37"/>
                <a:gd name="T4" fmla="*/ 0 w 8"/>
                <a:gd name="T5" fmla="*/ 7 h 37"/>
                <a:gd name="T6" fmla="*/ 0 w 8"/>
                <a:gd name="T7" fmla="*/ 37 h 37"/>
                <a:gd name="T8" fmla="*/ 0 w 8"/>
                <a:gd name="T9" fmla="*/ 37 h 37"/>
                <a:gd name="T10" fmla="*/ 8 w 8"/>
                <a:gd name="T11" fmla="*/ 37 h 37"/>
                <a:gd name="T12" fmla="*/ 8 w 8"/>
                <a:gd name="T13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7">
                  <a:moveTo>
                    <a:pt x="8" y="7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8" y="3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3" name="Freeform 37"/>
            <p:cNvSpPr>
              <a:spLocks/>
            </p:cNvSpPr>
            <p:nvPr/>
          </p:nvSpPr>
          <p:spPr bwMode="auto">
            <a:xfrm>
              <a:off x="2556" y="3720"/>
              <a:ext cx="8" cy="37"/>
            </a:xfrm>
            <a:custGeom>
              <a:avLst/>
              <a:gdLst>
                <a:gd name="T0" fmla="*/ 8 w 8"/>
                <a:gd name="T1" fmla="*/ 8 h 37"/>
                <a:gd name="T2" fmla="*/ 0 w 8"/>
                <a:gd name="T3" fmla="*/ 0 h 37"/>
                <a:gd name="T4" fmla="*/ 0 w 8"/>
                <a:gd name="T5" fmla="*/ 8 h 37"/>
                <a:gd name="T6" fmla="*/ 0 w 8"/>
                <a:gd name="T7" fmla="*/ 37 h 37"/>
                <a:gd name="T8" fmla="*/ 0 w 8"/>
                <a:gd name="T9" fmla="*/ 37 h 37"/>
                <a:gd name="T10" fmla="*/ 8 w 8"/>
                <a:gd name="T11" fmla="*/ 37 h 37"/>
                <a:gd name="T12" fmla="*/ 8 w 8"/>
                <a:gd name="T13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7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8" y="37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4" name="Freeform 38"/>
            <p:cNvSpPr>
              <a:spLocks/>
            </p:cNvSpPr>
            <p:nvPr/>
          </p:nvSpPr>
          <p:spPr bwMode="auto">
            <a:xfrm>
              <a:off x="2556" y="3772"/>
              <a:ext cx="8" cy="37"/>
            </a:xfrm>
            <a:custGeom>
              <a:avLst/>
              <a:gdLst>
                <a:gd name="T0" fmla="*/ 8 w 8"/>
                <a:gd name="T1" fmla="*/ 7 h 37"/>
                <a:gd name="T2" fmla="*/ 0 w 8"/>
                <a:gd name="T3" fmla="*/ 0 h 37"/>
                <a:gd name="T4" fmla="*/ 0 w 8"/>
                <a:gd name="T5" fmla="*/ 7 h 37"/>
                <a:gd name="T6" fmla="*/ 0 w 8"/>
                <a:gd name="T7" fmla="*/ 37 h 37"/>
                <a:gd name="T8" fmla="*/ 0 w 8"/>
                <a:gd name="T9" fmla="*/ 37 h 37"/>
                <a:gd name="T10" fmla="*/ 8 w 8"/>
                <a:gd name="T11" fmla="*/ 37 h 37"/>
                <a:gd name="T12" fmla="*/ 8 w 8"/>
                <a:gd name="T13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7">
                  <a:moveTo>
                    <a:pt x="8" y="7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8" y="3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Freeform 39"/>
            <p:cNvSpPr>
              <a:spLocks/>
            </p:cNvSpPr>
            <p:nvPr/>
          </p:nvSpPr>
          <p:spPr bwMode="auto">
            <a:xfrm>
              <a:off x="2556" y="3823"/>
              <a:ext cx="8" cy="37"/>
            </a:xfrm>
            <a:custGeom>
              <a:avLst/>
              <a:gdLst>
                <a:gd name="T0" fmla="*/ 8 w 8"/>
                <a:gd name="T1" fmla="*/ 8 h 37"/>
                <a:gd name="T2" fmla="*/ 0 w 8"/>
                <a:gd name="T3" fmla="*/ 0 h 37"/>
                <a:gd name="T4" fmla="*/ 0 w 8"/>
                <a:gd name="T5" fmla="*/ 8 h 37"/>
                <a:gd name="T6" fmla="*/ 0 w 8"/>
                <a:gd name="T7" fmla="*/ 37 h 37"/>
                <a:gd name="T8" fmla="*/ 0 w 8"/>
                <a:gd name="T9" fmla="*/ 37 h 37"/>
                <a:gd name="T10" fmla="*/ 8 w 8"/>
                <a:gd name="T11" fmla="*/ 37 h 37"/>
                <a:gd name="T12" fmla="*/ 8 w 8"/>
                <a:gd name="T13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7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8" y="37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Rectangle 40"/>
            <p:cNvSpPr>
              <a:spLocks noChangeArrowheads="1"/>
            </p:cNvSpPr>
            <p:nvPr/>
          </p:nvSpPr>
          <p:spPr bwMode="auto">
            <a:xfrm>
              <a:off x="2475" y="3161"/>
              <a:ext cx="250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Rectangle 41"/>
            <p:cNvSpPr>
              <a:spLocks noChangeArrowheads="1"/>
            </p:cNvSpPr>
            <p:nvPr/>
          </p:nvSpPr>
          <p:spPr bwMode="auto">
            <a:xfrm>
              <a:off x="2475" y="3153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3</a:t>
              </a:r>
              <a:endParaRPr lang="en-US" altLang="zh-CN" sz="2000"/>
            </a:p>
          </p:txBody>
        </p:sp>
        <p:sp>
          <p:nvSpPr>
            <p:cNvPr id="50218" name="Rectangle 42"/>
            <p:cNvSpPr>
              <a:spLocks noChangeArrowheads="1"/>
            </p:cNvSpPr>
            <p:nvPr/>
          </p:nvSpPr>
          <p:spPr bwMode="auto">
            <a:xfrm>
              <a:off x="2564" y="3153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Symbol" panose="05050102010706020507" pitchFamily="18" charset="2"/>
                </a:rPr>
                <a:t>p</a:t>
              </a:r>
              <a:endParaRPr lang="en-US" altLang="zh-CN" sz="2000"/>
            </a:p>
          </p:txBody>
        </p:sp>
        <p:sp>
          <p:nvSpPr>
            <p:cNvPr id="50219" name="Rectangle 43"/>
            <p:cNvSpPr>
              <a:spLocks noChangeArrowheads="1"/>
            </p:cNvSpPr>
            <p:nvPr/>
          </p:nvSpPr>
          <p:spPr bwMode="auto">
            <a:xfrm>
              <a:off x="2544" y="3367"/>
              <a:ext cx="12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</a:rPr>
                <a:t>N</a:t>
              </a:r>
              <a:endParaRPr lang="en-US" altLang="zh-CN" sz="2000"/>
            </a:p>
          </p:txBody>
        </p:sp>
        <p:sp>
          <p:nvSpPr>
            <p:cNvPr id="50220" name="Line 44"/>
            <p:cNvSpPr>
              <a:spLocks noChangeShapeType="1"/>
            </p:cNvSpPr>
            <p:nvPr/>
          </p:nvSpPr>
          <p:spPr bwMode="auto">
            <a:xfrm>
              <a:off x="2483" y="3374"/>
              <a:ext cx="242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0221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4336596"/>
                </p:ext>
              </p:extLst>
            </p:nvPr>
          </p:nvGraphicFramePr>
          <p:xfrm>
            <a:off x="2077" y="1977"/>
            <a:ext cx="61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" name="公式" r:id="rId5" imgW="444240" imgH="215640" progId="Equation.3">
                    <p:embed/>
                  </p:oleObj>
                </mc:Choice>
                <mc:Fallback>
                  <p:oleObj name="公式" r:id="rId5" imgW="444240" imgH="215640" progId="Equation.3">
                    <p:embed/>
                    <p:pic>
                      <p:nvPicPr>
                        <p:cNvPr id="50221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7" y="1977"/>
                          <a:ext cx="61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225" name="Text Box 49"/>
          <p:cNvSpPr txBox="1">
            <a:spLocks noChangeArrowheads="1"/>
          </p:cNvSpPr>
          <p:nvPr/>
        </p:nvSpPr>
        <p:spPr bwMode="auto">
          <a:xfrm>
            <a:off x="8299704" y="1074318"/>
            <a:ext cx="2133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333399"/>
                </a:solidFill>
              </a:rPr>
              <a:t>矩形窗的幅度</a:t>
            </a:r>
            <a:r>
              <a:rPr lang="zh-CN" altLang="en-US" b="1" dirty="0" smtClean="0">
                <a:solidFill>
                  <a:srgbClr val="333399"/>
                </a:solidFill>
              </a:rPr>
              <a:t>函数</a:t>
            </a:r>
            <a:endParaRPr lang="en-US" altLang="zh-CN" b="1" dirty="0">
              <a:solidFill>
                <a:srgbClr val="333399"/>
              </a:solidFill>
            </a:endParaRPr>
          </a:p>
        </p:txBody>
      </p:sp>
      <p:sp>
        <p:nvSpPr>
          <p:cNvPr id="50226" name="Text Box 50"/>
          <p:cNvSpPr txBox="1">
            <a:spLocks noChangeArrowheads="1"/>
          </p:cNvSpPr>
          <p:nvPr/>
        </p:nvSpPr>
        <p:spPr bwMode="auto">
          <a:xfrm>
            <a:off x="6248400" y="3276600"/>
            <a:ext cx="2971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 smtClean="0"/>
              <a:t>1.</a:t>
            </a:r>
            <a:r>
              <a:rPr lang="zh-CN" altLang="en-US" b="1" dirty="0" smtClean="0"/>
              <a:t>主瓣</a:t>
            </a:r>
            <a:r>
              <a:rPr lang="zh-CN" altLang="en-US" b="1" dirty="0"/>
              <a:t>宽度</a:t>
            </a:r>
          </a:p>
        </p:txBody>
      </p:sp>
      <p:sp>
        <p:nvSpPr>
          <p:cNvPr id="50227" name="Text Box 51"/>
          <p:cNvSpPr txBox="1">
            <a:spLocks noChangeArrowheads="1"/>
          </p:cNvSpPr>
          <p:nvPr/>
        </p:nvSpPr>
        <p:spPr bwMode="auto">
          <a:xfrm>
            <a:off x="7124954" y="3293032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990033"/>
                </a:solidFill>
              </a:rPr>
              <a:t>4</a:t>
            </a:r>
            <a:r>
              <a:rPr lang="en-US" altLang="zh-CN" b="1" dirty="0">
                <a:solidFill>
                  <a:srgbClr val="990033"/>
                </a:solidFill>
                <a:latin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990033"/>
                </a:solidFill>
              </a:rPr>
              <a:t>/</a:t>
            </a:r>
            <a:r>
              <a:rPr lang="en-US" altLang="zh-CN" b="1" i="1" dirty="0">
                <a:solidFill>
                  <a:srgbClr val="990033"/>
                </a:solidFill>
              </a:rPr>
              <a:t>N</a:t>
            </a:r>
          </a:p>
        </p:txBody>
      </p:sp>
      <p:sp>
        <p:nvSpPr>
          <p:cNvPr id="50228" name="Text Box 52"/>
          <p:cNvSpPr txBox="1">
            <a:spLocks noChangeArrowheads="1"/>
          </p:cNvSpPr>
          <p:nvPr/>
        </p:nvSpPr>
        <p:spPr bwMode="auto">
          <a:xfrm>
            <a:off x="6248400" y="3886200"/>
            <a:ext cx="342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2.</a:t>
            </a:r>
            <a:r>
              <a:rPr lang="zh-CN" altLang="en-US" b="1">
                <a:solidFill>
                  <a:srgbClr val="990033"/>
                </a:solidFill>
              </a:rPr>
              <a:t>旁瓣相对衰减为常数</a:t>
            </a:r>
          </a:p>
        </p:txBody>
      </p:sp>
      <p:graphicFrame>
        <p:nvGraphicFramePr>
          <p:cNvPr id="5022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990407"/>
              </p:ext>
            </p:extLst>
          </p:nvPr>
        </p:nvGraphicFramePr>
        <p:xfrm>
          <a:off x="7332663" y="4149726"/>
          <a:ext cx="25209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" name="公式" r:id="rId7" imgW="1257120" imgH="647640" progId="Equation.3">
                  <p:embed/>
                </p:oleObj>
              </mc:Choice>
              <mc:Fallback>
                <p:oleObj name="公式" r:id="rId7" imgW="1257120" imgH="647640" progId="Equation.3">
                  <p:embed/>
                  <p:pic>
                    <p:nvPicPr>
                      <p:cNvPr id="50229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3" y="4149726"/>
                        <a:ext cx="25209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30" name="Text Box 54"/>
          <p:cNvSpPr txBox="1">
            <a:spLocks noChangeArrowheads="1"/>
          </p:cNvSpPr>
          <p:nvPr/>
        </p:nvSpPr>
        <p:spPr bwMode="auto">
          <a:xfrm>
            <a:off x="9718676" y="4396232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=13dB</a:t>
            </a:r>
          </a:p>
        </p:txBody>
      </p:sp>
    </p:spTree>
    <p:extLst>
      <p:ext uri="{BB962C8B-B14F-4D97-AF65-F5344CB8AC3E}">
        <p14:creationId xmlns:p14="http://schemas.microsoft.com/office/powerpoint/2010/main" val="60448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24" grpId="0" animBg="1" autoUpdateAnimBg="0"/>
      <p:bldP spid="50225" grpId="0" autoUpdateAnimBg="0"/>
      <p:bldP spid="50226" grpId="0" autoUpdateAnimBg="0"/>
      <p:bldP spid="50227" grpId="0" autoUpdateAnimBg="0"/>
      <p:bldP spid="50228" grpId="0" autoUpdateAnimBg="0"/>
      <p:bldP spid="5023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7.2  </a:t>
            </a:r>
            <a:r>
              <a:rPr lang="zh-CN" altLang="en-US" smtClean="0">
                <a:ea typeface="宋体" panose="02010600030101010101" pitchFamily="2" charset="-122"/>
              </a:rPr>
              <a:t>用窗函数法设计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8329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6F0BFB2-8427-48ED-962B-8DDE38056A3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83300" name="Picture 1031" descr="6-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914" y="1447801"/>
            <a:ext cx="5172075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01" name="Text Box 1028"/>
          <p:cNvSpPr txBox="1">
            <a:spLocks noChangeArrowheads="1"/>
          </p:cNvSpPr>
          <p:nvPr/>
        </p:nvSpPr>
        <p:spPr bwMode="auto">
          <a:xfrm>
            <a:off x="2057400" y="5842000"/>
            <a:ext cx="7467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各种窗函数的傅里叶变换（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=51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(a)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矩形窗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; (b)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巴特利特窗（三角形窗）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; (c)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汉宁窗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; (d)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海明窗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; (e)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布拉克曼窗 </a:t>
            </a:r>
          </a:p>
        </p:txBody>
      </p:sp>
    </p:spTree>
    <p:extLst>
      <p:ext uri="{BB962C8B-B14F-4D97-AF65-F5344CB8AC3E}">
        <p14:creationId xmlns:p14="http://schemas.microsoft.com/office/powerpoint/2010/main" val="371507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0" name="AutoShape 10"/>
          <p:cNvSpPr>
            <a:spLocks noChangeArrowheads="1"/>
          </p:cNvSpPr>
          <p:nvPr/>
        </p:nvSpPr>
        <p:spPr bwMode="auto">
          <a:xfrm>
            <a:off x="7010400" y="2819400"/>
            <a:ext cx="3657600" cy="16002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4267" y="488158"/>
            <a:ext cx="7772400" cy="609600"/>
          </a:xfrm>
        </p:spPr>
        <p:txBody>
          <a:bodyPr/>
          <a:lstStyle/>
          <a:p>
            <a:r>
              <a:rPr lang="zh-CN" altLang="en-US" sz="32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时域截断</a:t>
            </a:r>
            <a:r>
              <a:rPr lang="en-US" altLang="zh-CN" sz="32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lang="zh-CN" altLang="en-US" sz="32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吉</a:t>
            </a:r>
            <a:r>
              <a:rPr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伯斯现象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3352800" y="1828800"/>
          <a:ext cx="548481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4" name="公式" r:id="rId3" imgW="2286000" imgH="393480" progId="Equation.3">
                  <p:embed/>
                </p:oleObj>
              </mc:Choice>
              <mc:Fallback>
                <p:oleObj name="公式" r:id="rId3" imgW="2286000" imgH="393480" progId="Equation.3">
                  <p:embed/>
                  <p:pic>
                    <p:nvPicPr>
                      <p:cNvPr id="512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828800"/>
                        <a:ext cx="548481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1964267" y="1401366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矩形窗设计</a:t>
            </a:r>
            <a:r>
              <a:rPr lang="en-US" altLang="zh-CN" sz="2800" b="1" dirty="0">
                <a:solidFill>
                  <a:schemeClr val="accent2"/>
                </a:solidFill>
              </a:rPr>
              <a:t>FIR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滤波器的频率响应</a:t>
            </a:r>
            <a:r>
              <a:rPr lang="en-US" altLang="zh-CN" sz="2800" b="1" i="1" dirty="0" smtClean="0">
                <a:solidFill>
                  <a:schemeClr val="accent2"/>
                </a:solidFill>
              </a:rPr>
              <a:t>H</a:t>
            </a:r>
            <a:r>
              <a:rPr lang="en-US" altLang="zh-CN" sz="2800" b="1" dirty="0" smtClean="0">
                <a:solidFill>
                  <a:schemeClr val="accent2"/>
                </a:solidFill>
              </a:rPr>
              <a:t>(</a:t>
            </a:r>
            <a:r>
              <a:rPr lang="en-US" altLang="zh-CN" sz="2800" b="1" dirty="0" err="1" smtClean="0">
                <a:solidFill>
                  <a:schemeClr val="accent2"/>
                </a:solidFill>
              </a:rPr>
              <a:t>e</a:t>
            </a:r>
            <a:r>
              <a:rPr lang="en-US" altLang="zh-CN" sz="2800" b="1" baseline="30000" dirty="0" err="1" smtClean="0">
                <a:solidFill>
                  <a:schemeClr val="accent2"/>
                </a:solidFill>
              </a:rPr>
              <a:t>j</a:t>
            </a:r>
            <a:r>
              <a:rPr lang="en-US" altLang="zh-CN" sz="2800" b="1" i="1" baseline="30000" dirty="0" err="1" smtClean="0">
                <a:solidFill>
                  <a:schemeClr val="accent2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="1" dirty="0" smtClean="0">
                <a:solidFill>
                  <a:schemeClr val="accent2"/>
                </a:solidFill>
              </a:rPr>
              <a:t>)</a:t>
            </a:r>
            <a:endParaRPr lang="en-US" altLang="zh-CN" sz="2800" b="1" dirty="0">
              <a:solidFill>
                <a:schemeClr val="accent2"/>
              </a:solidFill>
            </a:endParaRPr>
          </a:p>
        </p:txBody>
      </p:sp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1905000" y="2895600"/>
          <a:ext cx="5113338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5" name="Document" r:id="rId5" imgW="2324880" imgH="957600" progId="Word.Document.8">
                  <p:embed/>
                </p:oleObj>
              </mc:Choice>
              <mc:Fallback>
                <p:oleObj name="Document" r:id="rId5" imgW="2324880" imgH="957600" progId="Word.Document.8">
                  <p:embed/>
                  <p:pic>
                    <p:nvPicPr>
                      <p:cNvPr id="512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95600"/>
                        <a:ext cx="5113338" cy="210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5334000" y="4648200"/>
          <a:ext cx="523875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6" name="Document" r:id="rId7" imgW="2381760" imgH="980280" progId="Word.Document.8">
                  <p:embed/>
                </p:oleObj>
              </mc:Choice>
              <mc:Fallback>
                <p:oleObj name="Document" r:id="rId7" imgW="2381760" imgH="980280" progId="Word.Document.8">
                  <p:embed/>
                  <p:pic>
                    <p:nvPicPr>
                      <p:cNvPr id="512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648200"/>
                        <a:ext cx="5238750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2133601" y="5410200"/>
          <a:ext cx="29511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" name="Equation" r:id="rId9" imgW="1180800" imgH="203040" progId="Equation.3">
                  <p:embed/>
                </p:oleObj>
              </mc:Choice>
              <mc:Fallback>
                <p:oleObj name="Equation" r:id="rId9" imgW="1180800" imgH="203040" progId="Equation.3">
                  <p:embed/>
                  <p:pic>
                    <p:nvPicPr>
                      <p:cNvPr id="512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5410200"/>
                        <a:ext cx="29511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7086600" y="2895600"/>
            <a:ext cx="35814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560056"/>
                </a:solidFill>
                <a:latin typeface="宋体" panose="02010600030101010101" pitchFamily="2" charset="-122"/>
              </a:rPr>
              <a:t>卷积值主要由主瓣的面积确定</a:t>
            </a:r>
          </a:p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560056"/>
                </a:solidFill>
                <a:latin typeface="宋体" panose="02010600030101010101" pitchFamily="2" charset="-122"/>
              </a:rPr>
              <a:t>卷积值的波动由旁瓣引起</a:t>
            </a:r>
            <a:endParaRPr lang="zh-CN" altLang="en-US" b="1">
              <a:solidFill>
                <a:srgbClr val="5600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87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108200" y="546897"/>
            <a:ext cx="7772400" cy="609600"/>
          </a:xfrm>
        </p:spPr>
        <p:txBody>
          <a:bodyPr/>
          <a:lstStyle/>
          <a:p>
            <a:r>
              <a:rPr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时域</a:t>
            </a:r>
            <a:r>
              <a:rPr lang="zh-CN" altLang="en-US" sz="32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截断</a:t>
            </a:r>
            <a:r>
              <a:rPr lang="en-US" altLang="zh-CN" sz="32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lang="zh-CN" altLang="en-US" sz="3200" dirty="0" smtClean="0">
                <a:latin typeface="SimHei" panose="02010609060101010101" pitchFamily="49" charset="-122"/>
                <a:ea typeface="SimHei" panose="02010609060101010101" pitchFamily="49" charset="-122"/>
              </a:rPr>
              <a:t>吉</a:t>
            </a:r>
            <a:r>
              <a:rPr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伯斯现象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3352801" y="1828801"/>
          <a:ext cx="548481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9" name="Equation" r:id="rId3" imgW="2286000" imgH="393480" progId="Equation.3">
                  <p:embed/>
                </p:oleObj>
              </mc:Choice>
              <mc:Fallback>
                <p:oleObj name="Equation" r:id="rId3" imgW="2286000" imgH="393480" progId="Equation.3">
                  <p:embed/>
                  <p:pic>
                    <p:nvPicPr>
                      <p:cNvPr id="52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1828801"/>
                        <a:ext cx="548481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905000" y="1419227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矩形窗设计</a:t>
            </a:r>
            <a:r>
              <a:rPr lang="en-US" altLang="zh-CN" sz="2800" b="1" dirty="0">
                <a:solidFill>
                  <a:schemeClr val="accent2"/>
                </a:solidFill>
              </a:rPr>
              <a:t>FIR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滤波器的频率响应</a:t>
            </a:r>
            <a:r>
              <a:rPr lang="en-US" altLang="zh-CN" sz="2800" b="1" i="1" dirty="0">
                <a:solidFill>
                  <a:schemeClr val="accent2"/>
                </a:solidFill>
              </a:rPr>
              <a:t>H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dirty="0" err="1">
                <a:solidFill>
                  <a:schemeClr val="accent2"/>
                </a:solidFill>
              </a:rPr>
              <a:t>e</a:t>
            </a:r>
            <a:r>
              <a:rPr lang="en-US" altLang="zh-CN" sz="2800" b="1" baseline="30000" dirty="0" err="1">
                <a:solidFill>
                  <a:schemeClr val="accent2"/>
                </a:solidFill>
              </a:rPr>
              <a:t>j</a:t>
            </a:r>
            <a:r>
              <a:rPr lang="en-US" altLang="zh-CN" sz="2800" b="1" i="1" baseline="30000" dirty="0" err="1">
                <a:solidFill>
                  <a:schemeClr val="accent2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</a:p>
        </p:txBody>
      </p:sp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1531938" y="3886201"/>
          <a:ext cx="513715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Document" r:id="rId5" imgW="2343960" imgH="1010160" progId="Word.Document.8">
                  <p:embed/>
                </p:oleObj>
              </mc:Choice>
              <mc:Fallback>
                <p:oleObj name="Document" r:id="rId5" imgW="2343960" imgH="1010160" progId="Word.Document.8">
                  <p:embed/>
                  <p:pic>
                    <p:nvPicPr>
                      <p:cNvPr id="522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3886201"/>
                        <a:ext cx="513715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1635126" y="3073400"/>
          <a:ext cx="44751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Equation" r:id="rId7" imgW="1790640" imgH="203040" progId="Equation.3">
                  <p:embed/>
                </p:oleObj>
              </mc:Choice>
              <mc:Fallback>
                <p:oleObj name="Equation" r:id="rId7" imgW="1790640" imgH="203040" progId="Equation.3">
                  <p:embed/>
                  <p:pic>
                    <p:nvPicPr>
                      <p:cNvPr id="522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6" y="3073400"/>
                        <a:ext cx="44751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AutoShape 8"/>
          <p:cNvSpPr>
            <a:spLocks noChangeArrowheads="1"/>
          </p:cNvSpPr>
          <p:nvPr/>
        </p:nvSpPr>
        <p:spPr bwMode="auto">
          <a:xfrm>
            <a:off x="6705600" y="2895600"/>
            <a:ext cx="3657600" cy="31242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6781800" y="3200401"/>
            <a:ext cx="3505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560056"/>
                </a:solidFill>
                <a:latin typeface="宋体" panose="02010600030101010101" pitchFamily="2" charset="-122"/>
              </a:rPr>
              <a:t>卷积值逐渐减小，形成了滤波器的过渡带</a:t>
            </a:r>
            <a:r>
              <a:rPr lang="zh-CN" altLang="en-US" b="1">
                <a:solidFill>
                  <a:srgbClr val="560056"/>
                </a:solidFill>
              </a:rPr>
              <a:t> 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6858000" y="4343401"/>
            <a:ext cx="327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560056"/>
                </a:solidFill>
              </a:rPr>
              <a:t>FIR</a:t>
            </a:r>
            <a:r>
              <a:rPr lang="zh-CN" altLang="en-US" b="1">
                <a:solidFill>
                  <a:srgbClr val="560056"/>
                </a:solidFill>
                <a:latin typeface="宋体" panose="02010600030101010101" pitchFamily="2" charset="-122"/>
              </a:rPr>
              <a:t>滤波器过渡带的宽度和窗函数主瓣的宽度密切相关</a:t>
            </a:r>
            <a:r>
              <a:rPr lang="zh-CN" altLang="en-US" b="1">
                <a:solidFill>
                  <a:srgbClr val="56005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485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3" grpId="0" autoUpdateAnimBg="0"/>
      <p:bldP spid="5223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吉伯斯现象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3352801" y="1828801"/>
          <a:ext cx="548481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3" name="Equation" r:id="rId3" imgW="2286000" imgH="393480" progId="Equation.3">
                  <p:embed/>
                </p:oleObj>
              </mc:Choice>
              <mc:Fallback>
                <p:oleObj name="Equation" r:id="rId3" imgW="2286000" imgH="393480" progId="Equation.3">
                  <p:embed/>
                  <p:pic>
                    <p:nvPicPr>
                      <p:cNvPr id="532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1828801"/>
                        <a:ext cx="548481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905000" y="1295401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矩形窗设计</a:t>
            </a:r>
            <a:r>
              <a:rPr lang="en-US" altLang="zh-CN" sz="2800" b="1">
                <a:solidFill>
                  <a:schemeClr val="accent2"/>
                </a:solidFill>
              </a:rPr>
              <a:t>FIR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滤波器的频率响应</a:t>
            </a:r>
            <a:r>
              <a:rPr lang="en-US" altLang="zh-CN" sz="2800" b="1" i="1">
                <a:solidFill>
                  <a:schemeClr val="accent2"/>
                </a:solidFill>
              </a:rPr>
              <a:t>H</a:t>
            </a:r>
            <a:r>
              <a:rPr lang="en-US" altLang="zh-CN" sz="2800" b="1">
                <a:solidFill>
                  <a:schemeClr val="accent2"/>
                </a:solidFill>
              </a:rPr>
              <a:t>(e</a:t>
            </a:r>
            <a:r>
              <a:rPr lang="en-US" altLang="zh-CN" sz="2800" b="1" baseline="30000">
                <a:solidFill>
                  <a:schemeClr val="accent2"/>
                </a:solidFill>
              </a:rPr>
              <a:t>j</a:t>
            </a:r>
            <a:r>
              <a:rPr lang="en-US" altLang="zh-CN" sz="2800" b="1" i="1" baseline="30000">
                <a:solidFill>
                  <a:schemeClr val="accent2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</a:p>
        </p:txBody>
      </p:sp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1531938" y="3886201"/>
          <a:ext cx="513715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4" name="Document" r:id="rId5" imgW="2343960" imgH="1010160" progId="Word.Document.8">
                  <p:embed/>
                </p:oleObj>
              </mc:Choice>
              <mc:Fallback>
                <p:oleObj name="Document" r:id="rId5" imgW="2343960" imgH="1010160" progId="Word.Document.8">
                  <p:embed/>
                  <p:pic>
                    <p:nvPicPr>
                      <p:cNvPr id="532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3886201"/>
                        <a:ext cx="513715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2649538" y="3073400"/>
          <a:ext cx="2444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5" name="Equation" r:id="rId7" imgW="977760" imgH="203040" progId="Equation.3">
                  <p:embed/>
                </p:oleObj>
              </mc:Choice>
              <mc:Fallback>
                <p:oleObj name="Equation" r:id="rId7" imgW="977760" imgH="203040" progId="Equation.3">
                  <p:embed/>
                  <p:pic>
                    <p:nvPicPr>
                      <p:cNvPr id="532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3073400"/>
                        <a:ext cx="2444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AutoShape 8"/>
          <p:cNvSpPr>
            <a:spLocks noChangeArrowheads="1"/>
          </p:cNvSpPr>
          <p:nvPr/>
        </p:nvSpPr>
        <p:spPr bwMode="auto">
          <a:xfrm>
            <a:off x="6705600" y="2895600"/>
            <a:ext cx="3657600" cy="31242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6781800" y="3200400"/>
            <a:ext cx="3505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560056"/>
                </a:solidFill>
                <a:latin typeface="宋体" panose="02010600030101010101" pitchFamily="2" charset="-122"/>
              </a:rPr>
              <a:t>卷积值完全由旁瓣的面积确定 </a:t>
            </a:r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6858000" y="4435476"/>
            <a:ext cx="327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560056"/>
                </a:solidFill>
                <a:latin typeface="宋体" panose="02010600030101010101" pitchFamily="2" charset="-122"/>
              </a:rPr>
              <a:t>旁瓣的大小决定了</a:t>
            </a:r>
            <a:r>
              <a:rPr lang="en-US" altLang="zh-CN" b="1">
                <a:solidFill>
                  <a:srgbClr val="560056"/>
                </a:solidFill>
              </a:rPr>
              <a:t>FIR</a:t>
            </a:r>
            <a:r>
              <a:rPr lang="zh-CN" altLang="en-US" b="1">
                <a:solidFill>
                  <a:srgbClr val="560056"/>
                </a:solidFill>
                <a:latin typeface="宋体" panose="02010600030101010101" pitchFamily="2" charset="-122"/>
              </a:rPr>
              <a:t>滤波器在阻带的衰减</a:t>
            </a:r>
            <a:r>
              <a:rPr lang="zh-CN" altLang="en-US" b="1">
                <a:solidFill>
                  <a:srgbClr val="56005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714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7" grpId="0" autoUpdateAnimBg="0"/>
      <p:bldP spid="5325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吉伯斯现象</a:t>
            </a:r>
          </a:p>
        </p:txBody>
      </p:sp>
      <p:graphicFrame>
        <p:nvGraphicFramePr>
          <p:cNvPr id="55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557087"/>
              </p:ext>
            </p:extLst>
          </p:nvPr>
        </p:nvGraphicFramePr>
        <p:xfrm>
          <a:off x="3352801" y="2065866"/>
          <a:ext cx="548481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8" name="Equation" r:id="rId3" imgW="2286000" imgH="393480" progId="Equation.3">
                  <p:embed/>
                </p:oleObj>
              </mc:Choice>
              <mc:Fallback>
                <p:oleObj name="Equation" r:id="rId3" imgW="2286000" imgH="393480" progId="Equation.3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2065866"/>
                        <a:ext cx="548481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1905000" y="1532466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矩形窗设计</a:t>
            </a:r>
            <a:r>
              <a:rPr lang="en-US" altLang="zh-CN" sz="2800" b="1">
                <a:solidFill>
                  <a:schemeClr val="accent2"/>
                </a:solidFill>
              </a:rPr>
              <a:t>FIR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滤波器的频率响应</a:t>
            </a:r>
            <a:r>
              <a:rPr lang="en-US" altLang="zh-CN" sz="2800" b="1" i="1">
                <a:solidFill>
                  <a:schemeClr val="accent2"/>
                </a:solidFill>
              </a:rPr>
              <a:t>H</a:t>
            </a:r>
            <a:r>
              <a:rPr lang="en-US" altLang="zh-CN" sz="2800" b="1">
                <a:solidFill>
                  <a:schemeClr val="accent2"/>
                </a:solidFill>
              </a:rPr>
              <a:t>(e</a:t>
            </a:r>
            <a:r>
              <a:rPr lang="en-US" altLang="zh-CN" sz="2800" b="1" baseline="30000">
                <a:solidFill>
                  <a:schemeClr val="accent2"/>
                </a:solidFill>
              </a:rPr>
              <a:t>j</a:t>
            </a:r>
            <a:r>
              <a:rPr lang="en-US" altLang="zh-CN" sz="2800" b="1" i="1" baseline="30000">
                <a:solidFill>
                  <a:schemeClr val="accent2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438692"/>
              </p:ext>
            </p:extLst>
          </p:nvPr>
        </p:nvGraphicFramePr>
        <p:xfrm>
          <a:off x="3316288" y="3208865"/>
          <a:ext cx="5218112" cy="236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9" name="Document" r:id="rId5" imgW="2382480" imgH="1074960" progId="Word.Document.8">
                  <p:embed/>
                </p:oleObj>
              </mc:Choice>
              <mc:Fallback>
                <p:oleObj name="Document" r:id="rId5" imgW="2382480" imgH="1074960" progId="Word.Document.8">
                  <p:embed/>
                  <p:pic>
                    <p:nvPicPr>
                      <p:cNvPr id="55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3208865"/>
                        <a:ext cx="5218112" cy="236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1981200" y="5418666"/>
            <a:ext cx="8229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</a:rPr>
              <a:t>    </a:t>
            </a:r>
            <a:r>
              <a:rPr lang="zh-CN" altLang="en-US" b="1">
                <a:latin typeface="宋体" panose="02010600030101010101" pitchFamily="2" charset="-122"/>
              </a:rPr>
              <a:t>矩形窗截断产生的波峰大约是</a:t>
            </a:r>
            <a:r>
              <a:rPr lang="en-US" altLang="zh-CN" b="1"/>
              <a:t>9%</a:t>
            </a:r>
            <a:r>
              <a:rPr lang="zh-CN" altLang="en-US" b="1">
                <a:latin typeface="宋体" panose="02010600030101010101" pitchFamily="2" charset="-122"/>
              </a:rPr>
              <a:t>，故用矩形窗设计出的滤波器阻带最大衰减</a:t>
            </a:r>
            <a:r>
              <a:rPr lang="zh-CN" altLang="en-US" b="1"/>
              <a:t> </a:t>
            </a:r>
          </a:p>
        </p:txBody>
      </p:sp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3505200" y="6256866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990033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800" b="1">
                <a:solidFill>
                  <a:srgbClr val="990033"/>
                </a:solidFill>
              </a:rPr>
              <a:t>20log</a:t>
            </a:r>
            <a:r>
              <a:rPr lang="en-US" altLang="zh-CN" sz="2800" b="1" baseline="-30000">
                <a:solidFill>
                  <a:srgbClr val="990033"/>
                </a:solidFill>
              </a:rPr>
              <a:t>10</a:t>
            </a:r>
            <a:r>
              <a:rPr lang="en-US" altLang="zh-CN" sz="2800" b="1">
                <a:solidFill>
                  <a:srgbClr val="990033"/>
                </a:solidFill>
              </a:rPr>
              <a:t>(9%)</a:t>
            </a:r>
            <a:r>
              <a:rPr lang="en-US" altLang="zh-CN" sz="2800" b="1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>
                <a:solidFill>
                  <a:srgbClr val="990033"/>
                </a:solidFill>
              </a:rPr>
              <a:t>21dB </a:t>
            </a:r>
          </a:p>
        </p:txBody>
      </p:sp>
    </p:spTree>
    <p:extLst>
      <p:ext uri="{BB962C8B-B14F-4D97-AF65-F5344CB8AC3E}">
        <p14:creationId xmlns:p14="http://schemas.microsoft.com/office/powerpoint/2010/main" val="348586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 autoUpdateAnimBg="0"/>
      <p:bldP spid="5530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533400"/>
          </a:xfrm>
        </p:spPr>
        <p:txBody>
          <a:bodyPr/>
          <a:lstStyle/>
          <a:p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吉伯斯现象</a:t>
            </a:r>
            <a:endParaRPr lang="zh-CN" altLang="en-US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828800" y="2203449"/>
            <a:ext cx="84582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1. 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窗函数的主瓣宽度决定了</a:t>
            </a:r>
            <a:r>
              <a:rPr lang="en-US" altLang="zh-CN" sz="2800" b="1" i="1">
                <a:solidFill>
                  <a:srgbClr val="000000"/>
                </a:solidFill>
              </a:rPr>
              <a:t>H</a:t>
            </a:r>
            <a:r>
              <a:rPr lang="en-US" altLang="zh-CN" sz="2800" b="1">
                <a:solidFill>
                  <a:srgbClr val="000000"/>
                </a:solidFill>
              </a:rPr>
              <a:t>(e</a:t>
            </a:r>
            <a:r>
              <a:rPr lang="en-US" altLang="zh-CN" sz="2800" b="1" baseline="30000">
                <a:solidFill>
                  <a:srgbClr val="000000"/>
                </a:solidFill>
              </a:rPr>
              <a:t>j</a:t>
            </a:r>
            <a:r>
              <a:rPr lang="en-US" altLang="zh-CN" sz="2800" b="1" i="1" baseline="30000">
                <a:solidFill>
                  <a:srgbClr val="000000"/>
                </a:solidFill>
                <a:latin typeface="Symbol" panose="05050102010706020507" pitchFamily="18" charset="2"/>
              </a:rPr>
              <a:t>W </a:t>
            </a:r>
            <a:r>
              <a:rPr lang="en-US" altLang="zh-CN" sz="2800" b="1">
                <a:solidFill>
                  <a:srgbClr val="000000"/>
                </a:solidFill>
              </a:rPr>
              <a:t>)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过渡带的宽度</a:t>
            </a: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窗函数长度</a:t>
            </a:r>
            <a:r>
              <a:rPr lang="en-US" altLang="zh-CN" sz="2800" b="1" i="1">
                <a:solidFill>
                  <a:srgbClr val="000000"/>
                </a:solidFill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增大， 过渡带减小。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828800" y="3302000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2. </a:t>
            </a:r>
            <a:r>
              <a:rPr lang="zh-CN" altLang="en-US" sz="2800" b="1"/>
              <a:t>旁瓣的大小决定了</a:t>
            </a:r>
            <a:r>
              <a:rPr lang="en-US" altLang="zh-CN" sz="2800" b="1"/>
              <a:t>FIR</a:t>
            </a:r>
            <a:r>
              <a:rPr lang="zh-CN" altLang="en-US" sz="2800" b="1"/>
              <a:t>滤波器在阻带的衰减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981200" y="3987799"/>
            <a:ext cx="8077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/>
              <a:t>用矩形窗设计出的滤波器</a:t>
            </a:r>
            <a:r>
              <a:rPr lang="zh-CN" altLang="en-US" sz="2800" b="1"/>
              <a:t>阻带最大衰减为 </a:t>
            </a:r>
          </a:p>
          <a:p>
            <a:pPr algn="ctr"/>
            <a:r>
              <a:rPr lang="en-US" altLang="zh-CN" sz="2800" b="1"/>
              <a:t>20log</a:t>
            </a:r>
            <a:r>
              <a:rPr lang="en-US" altLang="zh-CN" sz="2800" b="1" baseline="-25000"/>
              <a:t>10</a:t>
            </a:r>
            <a:r>
              <a:rPr lang="en-US" altLang="zh-CN" sz="2800" b="1"/>
              <a:t>(9%)</a:t>
            </a:r>
            <a:r>
              <a:rPr lang="en-US" altLang="zh-CN" sz="2800" b="1">
                <a:sym typeface="Symbol" panose="05050102010706020507" pitchFamily="18" charset="2"/>
              </a:rPr>
              <a:t></a:t>
            </a:r>
            <a:r>
              <a:rPr lang="en-US" altLang="zh-CN" sz="2800" b="1">
                <a:latin typeface="Symbol" panose="05050102010706020507" pitchFamily="18" charset="2"/>
              </a:rPr>
              <a:t>-</a:t>
            </a:r>
            <a:r>
              <a:rPr lang="en-US" altLang="zh-CN" sz="2800" b="1"/>
              <a:t>21dB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828800" y="14732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结论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1905000" y="51308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如何提高阻带衰减</a:t>
            </a:r>
            <a:r>
              <a:rPr lang="en-US" altLang="zh-CN" sz="2800" b="1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438400" y="5816600"/>
            <a:ext cx="769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rgbClr val="990033"/>
                </a:solidFill>
                <a:latin typeface="宋体" panose="02010600030101010101" pitchFamily="2" charset="-122"/>
              </a:rPr>
              <a:t>选用旁瓣幅度较小的窗函数</a:t>
            </a:r>
            <a:endParaRPr lang="zh-CN" altLang="en-US" sz="2800" b="1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7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  <p:bldP spid="14340" grpId="0" autoUpdateAnimBg="0"/>
      <p:bldP spid="14341" grpId="0" autoUpdateAnimBg="0"/>
      <p:bldP spid="14344" grpId="0" autoUpdateAnimBg="0"/>
      <p:bldP spid="1434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常用窗函数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057400" y="1490133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矩形窗</a:t>
            </a:r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941389"/>
              </p:ext>
            </p:extLst>
          </p:nvPr>
        </p:nvGraphicFramePr>
        <p:xfrm>
          <a:off x="4194175" y="1538288"/>
          <a:ext cx="28575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2" name="Equation" r:id="rId3" imgW="1143000" imgH="393480" progId="Equation.DSMT4">
                  <p:embed/>
                </p:oleObj>
              </mc:Choice>
              <mc:Fallback>
                <p:oleObj name="Equation" r:id="rId3" imgW="1143000" imgH="393480" progId="Equation.DSMT4">
                  <p:embed/>
                  <p:pic>
                    <p:nvPicPr>
                      <p:cNvPr id="542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1538288"/>
                        <a:ext cx="28575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657932"/>
              </p:ext>
            </p:extLst>
          </p:nvPr>
        </p:nvGraphicFramePr>
        <p:xfrm>
          <a:off x="2286000" y="2633132"/>
          <a:ext cx="76200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3" name="Visio" r:id="rId5" imgW="3345485" imgH="1573682" progId="Visio.Drawing.11">
                  <p:embed/>
                </p:oleObj>
              </mc:Choice>
              <mc:Fallback>
                <p:oleObj name="Visio" r:id="rId5" imgW="3345485" imgH="1573682" progId="Visio.Drawing.11">
                  <p:embed/>
                  <p:pic>
                    <p:nvPicPr>
                      <p:cNvPr id="542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633132"/>
                        <a:ext cx="76200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3124200" y="6214533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solidFill>
                  <a:srgbClr val="990033"/>
                </a:solidFill>
              </a:rPr>
              <a:t>  A</a:t>
            </a:r>
            <a:r>
              <a:rPr lang="en-US" altLang="zh-CN" sz="2800" baseline="-25000">
                <a:solidFill>
                  <a:srgbClr val="990033"/>
                </a:solidFill>
              </a:rPr>
              <a:t>p</a:t>
            </a:r>
            <a:r>
              <a:rPr lang="en-US" altLang="zh-CN" sz="2800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>
                <a:solidFill>
                  <a:srgbClr val="990033"/>
                </a:solidFill>
              </a:rPr>
              <a:t>  0.82dB,  </a:t>
            </a:r>
            <a:r>
              <a:rPr lang="en-US" altLang="zh-CN" sz="2800" i="1">
                <a:solidFill>
                  <a:srgbClr val="990033"/>
                </a:solidFill>
              </a:rPr>
              <a:t>A</a:t>
            </a:r>
            <a:r>
              <a:rPr lang="en-US" altLang="zh-CN" sz="2800" baseline="-25000">
                <a:solidFill>
                  <a:srgbClr val="990033"/>
                </a:solidFill>
              </a:rPr>
              <a:t>s</a:t>
            </a:r>
            <a:r>
              <a:rPr lang="en-US" altLang="zh-CN" sz="2800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>
                <a:solidFill>
                  <a:srgbClr val="990033"/>
                </a:solidFill>
              </a:rPr>
              <a:t>  21dB</a:t>
            </a:r>
          </a:p>
        </p:txBody>
      </p:sp>
    </p:spTree>
    <p:extLst>
      <p:ext uri="{BB962C8B-B14F-4D97-AF65-F5344CB8AC3E}">
        <p14:creationId xmlns:p14="http://schemas.microsoft.com/office/powerpoint/2010/main" val="236034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常用窗函数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2057400" y="1401233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Hann(</a:t>
            </a:r>
            <a:r>
              <a:rPr lang="zh-CN" altLang="en-US" sz="2800" b="1">
                <a:solidFill>
                  <a:schemeClr val="accent2"/>
                </a:solidFill>
              </a:rPr>
              <a:t>汉纳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窗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b="1">
                <a:solidFill>
                  <a:schemeClr val="accent2"/>
                </a:solidFill>
              </a:rPr>
              <a:t>w=hanning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(M+1))</a:t>
            </a:r>
          </a:p>
        </p:txBody>
      </p:sp>
      <p:graphicFrame>
        <p:nvGraphicFramePr>
          <p:cNvPr id="563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461669"/>
              </p:ext>
            </p:extLst>
          </p:nvPr>
        </p:nvGraphicFramePr>
        <p:xfrm>
          <a:off x="3013075" y="2135188"/>
          <a:ext cx="55260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5" name="Equation" r:id="rId3" imgW="2209680" imgH="393480" progId="Equation.DSMT4">
                  <p:embed/>
                </p:oleObj>
              </mc:Choice>
              <mc:Fallback>
                <p:oleObj name="Equation" r:id="rId3" imgW="2209680" imgH="393480" progId="Equation.DSMT4">
                  <p:embed/>
                  <p:pic>
                    <p:nvPicPr>
                      <p:cNvPr id="56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2135188"/>
                        <a:ext cx="5526088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516589"/>
              </p:ext>
            </p:extLst>
          </p:nvPr>
        </p:nvGraphicFramePr>
        <p:xfrm>
          <a:off x="1524000" y="3611033"/>
          <a:ext cx="3962400" cy="21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6" name="Visio" r:id="rId5" imgW="2532278" imgH="1353922" progId="Visio.Drawing.6">
                  <p:embed/>
                </p:oleObj>
              </mc:Choice>
              <mc:Fallback>
                <p:oleObj name="Visio" r:id="rId5" imgW="2532278" imgH="1353922" progId="Visio.Drawing.6">
                  <p:embed/>
                  <p:pic>
                    <p:nvPicPr>
                      <p:cNvPr id="563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611033"/>
                        <a:ext cx="3962400" cy="211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96292"/>
              </p:ext>
            </p:extLst>
          </p:nvPr>
        </p:nvGraphicFramePr>
        <p:xfrm>
          <a:off x="5257800" y="3077633"/>
          <a:ext cx="5181600" cy="311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7" name="Visio" r:id="rId7" imgW="2746248" imgH="1651102" progId="Visio.Drawing.6">
                  <p:embed/>
                </p:oleObj>
              </mc:Choice>
              <mc:Fallback>
                <p:oleObj name="Visio" r:id="rId7" imgW="2746248" imgH="1651102" progId="Visio.Drawing.6">
                  <p:embed/>
                  <p:pic>
                    <p:nvPicPr>
                      <p:cNvPr id="563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077633"/>
                        <a:ext cx="5181600" cy="311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1905000" y="6278033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990033"/>
                </a:solidFill>
              </a:rPr>
              <a:t>A</a:t>
            </a:r>
            <a:r>
              <a:rPr lang="en-US" altLang="zh-CN" sz="2800" b="1" baseline="-25000">
                <a:solidFill>
                  <a:srgbClr val="990033"/>
                </a:solidFill>
              </a:rPr>
              <a:t>p</a:t>
            </a:r>
            <a:r>
              <a:rPr lang="en-US" altLang="zh-CN" sz="2800" b="1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>
                <a:solidFill>
                  <a:srgbClr val="990033"/>
                </a:solidFill>
              </a:rPr>
              <a:t>  0.056dB,  </a:t>
            </a:r>
            <a:r>
              <a:rPr lang="en-US" altLang="zh-CN" sz="2800" b="1" i="1">
                <a:solidFill>
                  <a:srgbClr val="990033"/>
                </a:solidFill>
              </a:rPr>
              <a:t>A</a:t>
            </a:r>
            <a:r>
              <a:rPr lang="en-US" altLang="zh-CN" sz="2800" b="1" baseline="-25000">
                <a:solidFill>
                  <a:srgbClr val="990033"/>
                </a:solidFill>
              </a:rPr>
              <a:t>s</a:t>
            </a:r>
            <a:r>
              <a:rPr lang="en-US" altLang="zh-CN" sz="2800" b="1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>
                <a:solidFill>
                  <a:srgbClr val="990033"/>
                </a:solidFill>
              </a:rPr>
              <a:t>  44dB</a:t>
            </a:r>
          </a:p>
        </p:txBody>
      </p:sp>
    </p:spTree>
    <p:extLst>
      <p:ext uri="{BB962C8B-B14F-4D97-AF65-F5344CB8AC3E}">
        <p14:creationId xmlns:p14="http://schemas.microsoft.com/office/powerpoint/2010/main" val="246677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常用窗函数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1960034" y="1495953"/>
            <a:ext cx="861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Hamming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（哈明）窗 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( </a:t>
            </a:r>
            <a:r>
              <a:rPr lang="en-US" altLang="zh-CN" sz="2800" b="1" dirty="0">
                <a:solidFill>
                  <a:schemeClr val="accent2"/>
                </a:solidFill>
              </a:rPr>
              <a:t>w=hamming(N)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 )</a:t>
            </a:r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352513"/>
              </p:ext>
            </p:extLst>
          </p:nvPr>
        </p:nvGraphicFramePr>
        <p:xfrm>
          <a:off x="3013075" y="2289175"/>
          <a:ext cx="584517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9" name="Equation" r:id="rId3" imgW="2336760" imgH="393480" progId="Equation.DSMT4">
                  <p:embed/>
                </p:oleObj>
              </mc:Choice>
              <mc:Fallback>
                <p:oleObj name="Equation" r:id="rId3" imgW="2336760" imgH="393480" progId="Equation.DSMT4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2289175"/>
                        <a:ext cx="584517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525826"/>
              </p:ext>
            </p:extLst>
          </p:nvPr>
        </p:nvGraphicFramePr>
        <p:xfrm>
          <a:off x="1752600" y="3843866"/>
          <a:ext cx="35306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0" name="Visio" r:id="rId5" imgW="2352142" imgH="1362456" progId="Visio.Drawing.6">
                  <p:embed/>
                </p:oleObj>
              </mc:Choice>
              <mc:Fallback>
                <p:oleObj name="Visio" r:id="rId5" imgW="2352142" imgH="1362456" progId="Visio.Drawing.6">
                  <p:embed/>
                  <p:pic>
                    <p:nvPicPr>
                      <p:cNvPr id="57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43866"/>
                        <a:ext cx="3530600" cy="204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402184"/>
              </p:ext>
            </p:extLst>
          </p:nvPr>
        </p:nvGraphicFramePr>
        <p:xfrm>
          <a:off x="5132388" y="3386666"/>
          <a:ext cx="5383212" cy="343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name="Visio" r:id="rId7" imgW="2691079" imgH="1715719" progId="Visio.Drawing.6">
                  <p:embed/>
                </p:oleObj>
              </mc:Choice>
              <mc:Fallback>
                <p:oleObj name="Visio" r:id="rId7" imgW="2691079" imgH="1715719" progId="Visio.Drawing.6">
                  <p:embed/>
                  <p:pic>
                    <p:nvPicPr>
                      <p:cNvPr id="573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3386666"/>
                        <a:ext cx="5383212" cy="343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1752600" y="6296554"/>
            <a:ext cx="48595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i="1" dirty="0" err="1">
                <a:solidFill>
                  <a:srgbClr val="990033"/>
                </a:solidFill>
              </a:rPr>
              <a:t>A</a:t>
            </a:r>
            <a:r>
              <a:rPr lang="en-US" altLang="zh-CN" sz="2800" b="1" baseline="-25000" dirty="0" err="1">
                <a:solidFill>
                  <a:srgbClr val="990033"/>
                </a:solidFill>
              </a:rPr>
              <a:t>p</a:t>
            </a:r>
            <a:r>
              <a:rPr lang="en-US" altLang="zh-CN" sz="2800" b="1" dirty="0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 dirty="0">
                <a:solidFill>
                  <a:srgbClr val="990033"/>
                </a:solidFill>
              </a:rPr>
              <a:t>  0.019dB,  </a:t>
            </a:r>
            <a:r>
              <a:rPr lang="en-US" altLang="zh-CN" sz="2800" b="1" i="1" dirty="0">
                <a:solidFill>
                  <a:srgbClr val="990033"/>
                </a:solidFill>
              </a:rPr>
              <a:t>A</a:t>
            </a:r>
            <a:r>
              <a:rPr lang="en-US" altLang="zh-CN" sz="2800" b="1" baseline="-25000" dirty="0">
                <a:solidFill>
                  <a:srgbClr val="990033"/>
                </a:solidFill>
              </a:rPr>
              <a:t>s</a:t>
            </a:r>
            <a:r>
              <a:rPr lang="en-US" altLang="zh-CN" sz="2800" b="1" dirty="0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 dirty="0">
                <a:solidFill>
                  <a:srgbClr val="990033"/>
                </a:solidFill>
              </a:rPr>
              <a:t>  53dB</a:t>
            </a:r>
          </a:p>
        </p:txBody>
      </p:sp>
    </p:spTree>
    <p:extLst>
      <p:ext uri="{BB962C8B-B14F-4D97-AF65-F5344CB8AC3E}">
        <p14:creationId xmlns:p14="http://schemas.microsoft.com/office/powerpoint/2010/main" val="187083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09600"/>
          </a:xfrm>
        </p:spPr>
        <p:txBody>
          <a:bodyPr/>
          <a:lstStyle/>
          <a:p>
            <a:r>
              <a:rPr lang="zh-CN" altLang="en-US" sz="3200">
                <a:latin typeface="SimHei" panose="02010609060101010101" pitchFamily="49" charset="-122"/>
                <a:ea typeface="SimHei" panose="02010609060101010101" pitchFamily="49" charset="-122"/>
              </a:rPr>
              <a:t>常用窗函数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057400" y="1439334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Blackman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窗 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( </a:t>
            </a:r>
            <a:r>
              <a:rPr lang="en-US" altLang="zh-CN" sz="2800" b="1">
                <a:solidFill>
                  <a:schemeClr val="accent2"/>
                </a:solidFill>
              </a:rPr>
              <a:t>w=blackman(N)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 )</a:t>
            </a:r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56870"/>
              </p:ext>
            </p:extLst>
          </p:nvPr>
        </p:nvGraphicFramePr>
        <p:xfrm>
          <a:off x="2316163" y="2166938"/>
          <a:ext cx="737552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3" name="Equation" r:id="rId3" imgW="3352680" imgH="393480" progId="Equation.DSMT4">
                  <p:embed/>
                </p:oleObj>
              </mc:Choice>
              <mc:Fallback>
                <p:oleObj name="Equation" r:id="rId3" imgW="3352680" imgH="393480" progId="Equation.DSMT4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2166938"/>
                        <a:ext cx="737552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419431"/>
              </p:ext>
            </p:extLst>
          </p:nvPr>
        </p:nvGraphicFramePr>
        <p:xfrm>
          <a:off x="1752600" y="3496734"/>
          <a:ext cx="3473450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name="Visio" r:id="rId5" imgW="2315261" imgH="1361542" progId="Visio.Drawing.6">
                  <p:embed/>
                </p:oleObj>
              </mc:Choice>
              <mc:Fallback>
                <p:oleObj name="Visio" r:id="rId5" imgW="2315261" imgH="1361542" progId="Visio.Drawing.6">
                  <p:embed/>
                  <p:pic>
                    <p:nvPicPr>
                      <p:cNvPr id="583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496734"/>
                        <a:ext cx="3473450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717946"/>
              </p:ext>
            </p:extLst>
          </p:nvPr>
        </p:nvGraphicFramePr>
        <p:xfrm>
          <a:off x="5181601" y="3119966"/>
          <a:ext cx="5192713" cy="346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name="Visio" r:id="rId7" imgW="2593543" imgH="1729435" progId="Visio.Drawing.11">
                  <p:embed/>
                </p:oleObj>
              </mc:Choice>
              <mc:Fallback>
                <p:oleObj name="Visio" r:id="rId7" imgW="2593543" imgH="1729435" progId="Visio.Drawing.11">
                  <p:embed/>
                  <p:pic>
                    <p:nvPicPr>
                      <p:cNvPr id="583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3119966"/>
                        <a:ext cx="5192713" cy="346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1981200" y="6239934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i="1">
                <a:solidFill>
                  <a:srgbClr val="990033"/>
                </a:solidFill>
              </a:rPr>
              <a:t>A</a:t>
            </a:r>
            <a:r>
              <a:rPr lang="en-US" altLang="zh-CN" sz="2800" baseline="-25000">
                <a:solidFill>
                  <a:srgbClr val="990033"/>
                </a:solidFill>
              </a:rPr>
              <a:t>p</a:t>
            </a:r>
            <a:r>
              <a:rPr lang="en-US" altLang="zh-CN" sz="2800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>
                <a:solidFill>
                  <a:srgbClr val="990033"/>
                </a:solidFill>
              </a:rPr>
              <a:t>  0.0017dB</a:t>
            </a:r>
            <a:r>
              <a:rPr lang="zh-CN" altLang="en-US" sz="2800">
                <a:solidFill>
                  <a:srgbClr val="990033"/>
                </a:solidFill>
              </a:rPr>
              <a:t>，</a:t>
            </a:r>
            <a:r>
              <a:rPr lang="en-US" altLang="zh-CN" sz="2800" i="1">
                <a:solidFill>
                  <a:srgbClr val="990033"/>
                </a:solidFill>
              </a:rPr>
              <a:t>A</a:t>
            </a:r>
            <a:r>
              <a:rPr lang="en-US" altLang="zh-CN" sz="2800" baseline="-25000">
                <a:solidFill>
                  <a:srgbClr val="990033"/>
                </a:solidFill>
              </a:rPr>
              <a:t>s</a:t>
            </a:r>
            <a:r>
              <a:rPr lang="en-US" altLang="zh-CN" sz="2800">
                <a:solidFill>
                  <a:srgbClr val="990033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>
                <a:solidFill>
                  <a:srgbClr val="990033"/>
                </a:solidFill>
              </a:rPr>
              <a:t>  74dB</a:t>
            </a:r>
          </a:p>
        </p:txBody>
      </p:sp>
    </p:spTree>
    <p:extLst>
      <p:ext uri="{BB962C8B-B14F-4D97-AF65-F5344CB8AC3E}">
        <p14:creationId xmlns:p14="http://schemas.microsoft.com/office/powerpoint/2010/main" val="417091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zh-CN" altLang="en-US" sz="3200">
                <a:solidFill>
                  <a:schemeClr val="tx1"/>
                </a:solidFill>
                <a:ea typeface="SimHei" panose="02010609060101010101" pitchFamily="49" charset="-122"/>
              </a:rPr>
              <a:t>常用窗函数性质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>
            <p:extLst/>
          </p:nvPr>
        </p:nvGraphicFramePr>
        <p:xfrm>
          <a:off x="1522413" y="2436813"/>
          <a:ext cx="9118600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Document" r:id="rId3" imgW="5620956" imgH="1514889" progId="Word.Document.8">
                  <p:embed/>
                </p:oleObj>
              </mc:Choice>
              <mc:Fallback>
                <p:oleObj name="Document" r:id="rId3" imgW="5620956" imgH="1514889" progId="Word.Document.8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2436813"/>
                        <a:ext cx="9118600" cy="245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851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7.2  </a:t>
            </a:r>
            <a:r>
              <a:rPr lang="zh-CN" altLang="en-US" dirty="0" smtClean="0">
                <a:ea typeface="宋体" panose="02010600030101010101" pitchFamily="2" charset="-122"/>
              </a:rPr>
              <a:t>用窗函数法设计</a:t>
            </a:r>
            <a:r>
              <a:rPr lang="en-US" altLang="zh-CN" dirty="0" smtClean="0">
                <a:ea typeface="宋体" panose="02010600030101010101" pitchFamily="2" charset="-122"/>
              </a:rPr>
              <a:t>FIR</a:t>
            </a:r>
            <a:r>
              <a:rPr lang="zh-CN" altLang="en-US" dirty="0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8534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8C65C91-960F-4ADE-97C7-6E2332FFB576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348" name="Text Box 1028"/>
          <p:cNvSpPr txBox="1">
            <a:spLocks noChangeArrowheads="1"/>
          </p:cNvSpPr>
          <p:nvPr/>
        </p:nvSpPr>
        <p:spPr bwMode="auto">
          <a:xfrm>
            <a:off x="1943101" y="1450976"/>
            <a:ext cx="5524269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下面将窗函数法的设计步骤归纳如下：</a:t>
            </a: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 给定希望逼近的频率响应函数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jω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。</a:t>
            </a: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 求单位脉冲响应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 </a:t>
            </a:r>
          </a:p>
        </p:txBody>
      </p:sp>
      <p:graphicFrame>
        <p:nvGraphicFramePr>
          <p:cNvPr id="185349" name="Object 1029"/>
          <p:cNvGraphicFramePr>
            <a:graphicFrameLocks noChangeAspect="1"/>
          </p:cNvGraphicFramePr>
          <p:nvPr/>
        </p:nvGraphicFramePr>
        <p:xfrm>
          <a:off x="3886200" y="2667000"/>
          <a:ext cx="3505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2" name="Equation" r:id="rId3" imgW="1854200" imgH="393700" progId="Equation.DSMT4">
                  <p:embed/>
                </p:oleObj>
              </mc:Choice>
              <mc:Fallback>
                <p:oleObj name="Equation" r:id="rId3" imgW="1854200" imgH="393700" progId="Equation.DSMT4">
                  <p:embed/>
                  <p:pic>
                    <p:nvPicPr>
                      <p:cNvPr id="185349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667000"/>
                        <a:ext cx="3505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0" name="Text Box 1028"/>
          <p:cNvSpPr txBox="1">
            <a:spLocks noChangeArrowheads="1"/>
          </p:cNvSpPr>
          <p:nvPr/>
        </p:nvSpPr>
        <p:spPr bwMode="auto">
          <a:xfrm>
            <a:off x="1676400" y="3429000"/>
            <a:ext cx="81534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 由过渡带宽及阻带最小衰减的要求，可选定窗形状， 并估计窗      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口长度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（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 最后，计算所设计的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滤波器的单位脉冲响应。 </a:t>
            </a:r>
          </a:p>
          <a:p>
            <a:pPr algn="ctr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         0≤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≤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-1 </a:t>
            </a:r>
          </a:p>
        </p:txBody>
      </p:sp>
      <p:sp>
        <p:nvSpPr>
          <p:cNvPr id="185351" name="Text Box 4"/>
          <p:cNvSpPr txBox="1">
            <a:spLocks noChangeArrowheads="1"/>
          </p:cNvSpPr>
          <p:nvPr/>
        </p:nvSpPr>
        <p:spPr bwMode="auto">
          <a:xfrm>
            <a:off x="1981200" y="5391150"/>
            <a:ext cx="48402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）由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滤波器的系统函数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  <p:graphicFrame>
        <p:nvGraphicFramePr>
          <p:cNvPr id="18535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962895"/>
              </p:ext>
            </p:extLst>
          </p:nvPr>
        </p:nvGraphicFramePr>
        <p:xfrm>
          <a:off x="5083175" y="5933017"/>
          <a:ext cx="18732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3" name="Equation" r:id="rId5" imgW="1167893" imgH="431613" progId="Equation.DSMT4">
                  <p:embed/>
                </p:oleObj>
              </mc:Choice>
              <mc:Fallback>
                <p:oleObj name="Equation" r:id="rId5" imgW="1167893" imgH="431613" progId="Equation.DSMT4">
                  <p:embed/>
                  <p:pic>
                    <p:nvPicPr>
                      <p:cNvPr id="185352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3175" y="5933017"/>
                        <a:ext cx="18732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261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5008" y="396240"/>
            <a:ext cx="10769600" cy="9144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7.2  </a:t>
            </a:r>
            <a:r>
              <a:rPr lang="zh-CN" altLang="en-US" dirty="0">
                <a:ea typeface="宋体" panose="02010600030101010101" pitchFamily="2" charset="-122"/>
              </a:rPr>
              <a:t>用窗函数法设计</a:t>
            </a:r>
            <a:r>
              <a:rPr lang="en-US" altLang="zh-CN" dirty="0">
                <a:ea typeface="宋体" panose="02010600030101010101" pitchFamily="2" charset="-122"/>
              </a:rPr>
              <a:t>FIR</a:t>
            </a:r>
            <a:r>
              <a:rPr lang="zh-CN" altLang="en-US" dirty="0">
                <a:ea typeface="宋体" panose="02010600030101010101" pitchFamily="2" charset="-122"/>
              </a:rPr>
              <a:t>滤波器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752600" y="1425575"/>
            <a:ext cx="8763000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 ：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根据下列技术指标，设计一个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低通滤波器。 </a:t>
            </a:r>
          </a:p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通带截止频率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=0.2π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，通带允许波动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=0.25dB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； </a:t>
            </a:r>
          </a:p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阻带截止频率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=0.3π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，阻带衰减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=50dB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 </a:t>
            </a:r>
            <a:r>
              <a:rPr kumimoji="1"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</a:t>
            </a:r>
            <a:endParaRPr kumimoji="1"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69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7.2  </a:t>
            </a:r>
            <a:r>
              <a:rPr lang="zh-CN" altLang="en-US" smtClean="0">
                <a:ea typeface="宋体" panose="02010600030101010101" pitchFamily="2" charset="-122"/>
              </a:rPr>
              <a:t>用窗函数法设计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8637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B52623-D7DC-43DD-A770-EC98F22AB8F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1752600" y="1425575"/>
            <a:ext cx="876300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 ：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根据下列技术指标，设计一个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FIR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低通滤波器。 </a:t>
            </a:r>
          </a:p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通带截止频率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=0.2π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，通带允许波动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=0.25dB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； </a:t>
            </a:r>
          </a:p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阻带截止频率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=0.3π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，阻带衰减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=50dB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 </a:t>
            </a:r>
          </a:p>
          <a:p>
            <a:pPr algn="just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解： 查表可知，海明窗和布拉克曼窗均可提供大于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50dB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的衰减。但海明窗具有较小的过渡带从而具有较小的长度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 </a:t>
            </a:r>
          </a:p>
          <a:p>
            <a:pPr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根据题意，所要设计的滤波器的过渡带为 </a:t>
            </a:r>
          </a:p>
        </p:txBody>
      </p:sp>
      <p:graphicFrame>
        <p:nvGraphicFramePr>
          <p:cNvPr id="186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997283"/>
              </p:ext>
            </p:extLst>
          </p:nvPr>
        </p:nvGraphicFramePr>
        <p:xfrm>
          <a:off x="4130675" y="4485216"/>
          <a:ext cx="37782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8" name="Equation" r:id="rId3" imgW="2184400" imgH="241300" progId="Equation.DSMT4">
                  <p:embed/>
                </p:oleObj>
              </mc:Choice>
              <mc:Fallback>
                <p:oleObj name="Equation" r:id="rId3" imgW="2184400" imgH="241300" progId="Equation.DSMT4">
                  <p:embed/>
                  <p:pic>
                    <p:nvPicPr>
                      <p:cNvPr id="186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4485216"/>
                        <a:ext cx="37782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4" name="Text Box 6"/>
          <p:cNvSpPr txBox="1">
            <a:spLocks noChangeArrowheads="1"/>
          </p:cNvSpPr>
          <p:nvPr/>
        </p:nvSpPr>
        <p:spPr bwMode="auto">
          <a:xfrm>
            <a:off x="1752600" y="4953000"/>
            <a:ext cx="8305800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由表可知，利用海明窗设计的滤波器的过渡带宽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Δ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=8π/N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，所以低通滤波器单位脉冲响应的长度为 </a:t>
            </a:r>
          </a:p>
        </p:txBody>
      </p:sp>
      <p:graphicFrame>
        <p:nvGraphicFramePr>
          <p:cNvPr id="186375" name="对象 7"/>
          <p:cNvGraphicFramePr>
            <a:graphicFrameLocks noChangeAspect="1"/>
          </p:cNvGraphicFramePr>
          <p:nvPr/>
        </p:nvGraphicFramePr>
        <p:xfrm>
          <a:off x="5072064" y="5867401"/>
          <a:ext cx="21050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Equation" r:id="rId5" imgW="1333500" imgH="393700" progId="Equation.3">
                  <p:embed/>
                </p:oleObj>
              </mc:Choice>
              <mc:Fallback>
                <p:oleObj name="Equation" r:id="rId5" imgW="1333500" imgH="393700" progId="Equation.3">
                  <p:embed/>
                  <p:pic>
                    <p:nvPicPr>
                      <p:cNvPr id="186375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4" y="5867401"/>
                        <a:ext cx="210502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723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7.2  </a:t>
            </a:r>
            <a:r>
              <a:rPr lang="zh-CN" altLang="en-US" smtClean="0">
                <a:ea typeface="宋体" panose="02010600030101010101" pitchFamily="2" charset="-122"/>
              </a:rPr>
              <a:t>用窗函数法设计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873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DE83D61-FFCC-4A0A-815A-5F25E9EAF47C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7396" name="Text Box 1029"/>
          <p:cNvSpPr txBox="1">
            <a:spLocks noChangeArrowheads="1"/>
          </p:cNvSpPr>
          <p:nvPr/>
        </p:nvSpPr>
        <p:spPr bwMode="auto">
          <a:xfrm>
            <a:off x="2127251" y="1676400"/>
            <a:ext cx="2562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3 dB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通带截止频率为 </a:t>
            </a:r>
          </a:p>
        </p:txBody>
      </p:sp>
      <p:graphicFrame>
        <p:nvGraphicFramePr>
          <p:cNvPr id="187397" name="Object 1030"/>
          <p:cNvGraphicFramePr>
            <a:graphicFrameLocks noChangeAspect="1"/>
          </p:cNvGraphicFramePr>
          <p:nvPr/>
        </p:nvGraphicFramePr>
        <p:xfrm>
          <a:off x="4856164" y="1447801"/>
          <a:ext cx="263207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6" name="Equation" r:id="rId3" imgW="1371600" imgH="406400" progId="Equation.DSMT4">
                  <p:embed/>
                </p:oleObj>
              </mc:Choice>
              <mc:Fallback>
                <p:oleObj name="Equation" r:id="rId3" imgW="1371600" imgH="406400" progId="Equation.DSMT4">
                  <p:embed/>
                  <p:pic>
                    <p:nvPicPr>
                      <p:cNvPr id="187397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164" y="1447801"/>
                        <a:ext cx="263207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8" name="Text Box 1031"/>
          <p:cNvSpPr txBox="1">
            <a:spLocks noChangeArrowheads="1"/>
          </p:cNvSpPr>
          <p:nvPr/>
        </p:nvSpPr>
        <p:spPr bwMode="auto">
          <a:xfrm>
            <a:off x="2108201" y="2343150"/>
            <a:ext cx="41195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理想低通滤波器的单位脉冲响应为 </a:t>
            </a:r>
          </a:p>
        </p:txBody>
      </p:sp>
      <p:graphicFrame>
        <p:nvGraphicFramePr>
          <p:cNvPr id="187399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793295"/>
              </p:ext>
            </p:extLst>
          </p:nvPr>
        </p:nvGraphicFramePr>
        <p:xfrm>
          <a:off x="3048000" y="2937405"/>
          <a:ext cx="26670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7" name="Equation" r:id="rId5" imgW="1409700" imgH="419100" progId="Equation.DSMT4">
                  <p:embed/>
                </p:oleObj>
              </mc:Choice>
              <mc:Fallback>
                <p:oleObj name="Equation" r:id="rId5" imgW="1409700" imgH="419100" progId="Equation.DSMT4">
                  <p:embed/>
                  <p:pic>
                    <p:nvPicPr>
                      <p:cNvPr id="187399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37405"/>
                        <a:ext cx="26670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1033"/>
          <p:cNvGraphicFramePr>
            <a:graphicFrameLocks noChangeAspect="1"/>
          </p:cNvGraphicFramePr>
          <p:nvPr/>
        </p:nvGraphicFramePr>
        <p:xfrm>
          <a:off x="6858000" y="2895601"/>
          <a:ext cx="12382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8" name="Equation" r:id="rId7" imgW="647419" imgH="393529" progId="Equation.3">
                  <p:embed/>
                </p:oleObj>
              </mc:Choice>
              <mc:Fallback>
                <p:oleObj name="Equation" r:id="rId7" imgW="647419" imgH="393529" progId="Equation.3">
                  <p:embed/>
                  <p:pic>
                    <p:nvPicPr>
                      <p:cNvPr id="18740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895601"/>
                        <a:ext cx="12382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1" name="Text Box 1034"/>
          <p:cNvSpPr txBox="1">
            <a:spLocks noChangeArrowheads="1"/>
          </p:cNvSpPr>
          <p:nvPr/>
        </p:nvSpPr>
        <p:spPr bwMode="auto">
          <a:xfrm>
            <a:off x="2160588" y="3962400"/>
            <a:ext cx="12811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海明窗为 </a:t>
            </a:r>
          </a:p>
        </p:txBody>
      </p:sp>
      <p:graphicFrame>
        <p:nvGraphicFramePr>
          <p:cNvPr id="187402" name="Object 1035"/>
          <p:cNvGraphicFramePr>
            <a:graphicFrameLocks noChangeAspect="1"/>
          </p:cNvGraphicFramePr>
          <p:nvPr/>
        </p:nvGraphicFramePr>
        <p:xfrm>
          <a:off x="3657601" y="3810000"/>
          <a:ext cx="3903663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9" name="Equation" r:id="rId9" imgW="2374900" imgH="457200" progId="Equation.3">
                  <p:embed/>
                </p:oleObj>
              </mc:Choice>
              <mc:Fallback>
                <p:oleObj name="Equation" r:id="rId9" imgW="2374900" imgH="457200" progId="Equation.3">
                  <p:embed/>
                  <p:pic>
                    <p:nvPicPr>
                      <p:cNvPr id="187402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3810000"/>
                        <a:ext cx="3903663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3" name="Text Box 4"/>
          <p:cNvSpPr txBox="1">
            <a:spLocks noChangeArrowheads="1"/>
          </p:cNvSpPr>
          <p:nvPr/>
        </p:nvSpPr>
        <p:spPr bwMode="auto">
          <a:xfrm>
            <a:off x="2286001" y="4552950"/>
            <a:ext cx="43783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则所设计的滤波器的单位脉冲响应为 </a:t>
            </a:r>
          </a:p>
        </p:txBody>
      </p:sp>
      <p:graphicFrame>
        <p:nvGraphicFramePr>
          <p:cNvPr id="187404" name="Object 5"/>
          <p:cNvGraphicFramePr>
            <a:graphicFrameLocks noChangeAspect="1"/>
          </p:cNvGraphicFramePr>
          <p:nvPr/>
        </p:nvGraphicFramePr>
        <p:xfrm>
          <a:off x="2928939" y="4991100"/>
          <a:ext cx="52673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0" name="Equation" r:id="rId11" imgW="3327400" imgH="457200" progId="Equation.3">
                  <p:embed/>
                </p:oleObj>
              </mc:Choice>
              <mc:Fallback>
                <p:oleObj name="Equation" r:id="rId11" imgW="3327400" imgH="457200" progId="Equation.3">
                  <p:embed/>
                  <p:pic>
                    <p:nvPicPr>
                      <p:cNvPr id="18740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9" y="4991100"/>
                        <a:ext cx="52673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5" name="Text Box 6"/>
          <p:cNvSpPr txBox="1">
            <a:spLocks noChangeArrowheads="1"/>
          </p:cNvSpPr>
          <p:nvPr/>
        </p:nvSpPr>
        <p:spPr bwMode="auto">
          <a:xfrm>
            <a:off x="8686801" y="5105400"/>
            <a:ext cx="8366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=80 </a:t>
            </a:r>
          </a:p>
        </p:txBody>
      </p:sp>
      <p:sp>
        <p:nvSpPr>
          <p:cNvPr id="187406" name="Text Box 7"/>
          <p:cNvSpPr txBox="1">
            <a:spLocks noChangeArrowheads="1"/>
          </p:cNvSpPr>
          <p:nvPr/>
        </p:nvSpPr>
        <p:spPr bwMode="auto">
          <a:xfrm>
            <a:off x="2187576" y="5867400"/>
            <a:ext cx="36036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所设计的滤波器的频率响应为 </a:t>
            </a:r>
          </a:p>
        </p:txBody>
      </p:sp>
      <p:graphicFrame>
        <p:nvGraphicFramePr>
          <p:cNvPr id="187407" name="Object 8"/>
          <p:cNvGraphicFramePr>
            <a:graphicFrameLocks noChangeAspect="1"/>
          </p:cNvGraphicFramePr>
          <p:nvPr/>
        </p:nvGraphicFramePr>
        <p:xfrm>
          <a:off x="5791201" y="5878514"/>
          <a:ext cx="2409825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1" name="Equation" r:id="rId13" imgW="1384300" imgH="431800" progId="Equation.3">
                  <p:embed/>
                </p:oleObj>
              </mc:Choice>
              <mc:Fallback>
                <p:oleObj name="Equation" r:id="rId13" imgW="1384300" imgH="431800" progId="Equation.3">
                  <p:embed/>
                  <p:pic>
                    <p:nvPicPr>
                      <p:cNvPr id="1874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5878514"/>
                        <a:ext cx="2409825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748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7.2  </a:t>
            </a:r>
            <a:r>
              <a:rPr lang="zh-CN" altLang="en-US" smtClean="0">
                <a:ea typeface="宋体" panose="02010600030101010101" pitchFamily="2" charset="-122"/>
              </a:rPr>
              <a:t>用窗函数法设计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884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0F2F795-E5D5-436B-B309-BE22E5AF871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4972050" y="6153150"/>
            <a:ext cx="25717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低通滤波器设计结果 </a:t>
            </a:r>
          </a:p>
        </p:txBody>
      </p:sp>
      <p:pic>
        <p:nvPicPr>
          <p:cNvPr id="188421" name="Picture 7" descr="6-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913" y="1600200"/>
            <a:ext cx="5499100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15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7.2  </a:t>
            </a:r>
            <a:r>
              <a:rPr lang="zh-CN" altLang="en-US" smtClean="0">
                <a:ea typeface="宋体" panose="02010600030101010101" pitchFamily="2" charset="-122"/>
              </a:rPr>
              <a:t>用窗函数法设计</a:t>
            </a:r>
            <a:r>
              <a:rPr lang="en-US" altLang="zh-CN" smtClean="0">
                <a:ea typeface="宋体" panose="02010600030101010101" pitchFamily="2" charset="-122"/>
              </a:rPr>
              <a:t>FIR</a:t>
            </a:r>
            <a:r>
              <a:rPr lang="zh-CN" altLang="en-US" smtClean="0">
                <a:ea typeface="宋体" panose="02010600030101010101" pitchFamily="2" charset="-122"/>
              </a:rPr>
              <a:t>滤波器 </a:t>
            </a:r>
          </a:p>
        </p:txBody>
      </p:sp>
      <p:sp>
        <p:nvSpPr>
          <p:cNvPr id="1894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F55526D-AB39-4D1A-82C3-6E4F5F3E767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2057400" y="1835151"/>
            <a:ext cx="7924800" cy="270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窗口法设计的主要优点是简单，使用方便。窗口函数大多有封闭的公式可循，性能、参数都已有表格、资料可供参考， 计算程序简便， 所以很实用。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缺点是通带和阻带的截止频率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不易</a:t>
            </a:r>
            <a:r>
              <a:rPr kumimoji="1"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t>控制，跟窗函数有关系。      </a:t>
            </a:r>
            <a:endParaRPr kumimoji="1"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7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946</Words>
  <Application>Microsoft Office PowerPoint</Application>
  <PresentationFormat>宽屏</PresentationFormat>
  <Paragraphs>122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等线</vt:lpstr>
      <vt:lpstr>SimHei</vt:lpstr>
      <vt:lpstr>宋体</vt:lpstr>
      <vt:lpstr>Arial</vt:lpstr>
      <vt:lpstr>Comic Sans MS</vt:lpstr>
      <vt:lpstr>Symbol</vt:lpstr>
      <vt:lpstr>Times New Roman</vt:lpstr>
      <vt:lpstr>icfp99</vt:lpstr>
      <vt:lpstr>Equation</vt:lpstr>
      <vt:lpstr>公式</vt:lpstr>
      <vt:lpstr>Document</vt:lpstr>
      <vt:lpstr>MathType 6.0 Equation</vt:lpstr>
      <vt:lpstr>Microsoft Visio 2003-2010 绘图</vt:lpstr>
      <vt:lpstr>Visio</vt:lpstr>
      <vt:lpstr>7.2  用窗函数法设计FIR滤波器 </vt:lpstr>
      <vt:lpstr>设计方法——可实现性处理方案</vt:lpstr>
      <vt:lpstr>7.2  用窗函数法设计FIR滤波器 </vt:lpstr>
      <vt:lpstr>PowerPoint 演示文稿</vt:lpstr>
      <vt:lpstr>7.2  用窗函数法设计FIR滤波器 </vt:lpstr>
      <vt:lpstr>时域截断-吉伯斯现象</vt:lpstr>
      <vt:lpstr>时域截断-吉伯斯现象</vt:lpstr>
      <vt:lpstr>吉伯斯现象</vt:lpstr>
      <vt:lpstr>吉伯斯现象</vt:lpstr>
      <vt:lpstr>吉伯斯现象</vt:lpstr>
      <vt:lpstr>常用窗函数</vt:lpstr>
      <vt:lpstr>常用窗函数</vt:lpstr>
      <vt:lpstr>常用窗函数</vt:lpstr>
      <vt:lpstr>常用窗函数</vt:lpstr>
      <vt:lpstr>常用窗函数性质</vt:lpstr>
      <vt:lpstr>7.2  用窗函数法设计FIR滤波器 </vt:lpstr>
      <vt:lpstr>7.2  用窗函数法设计FIR滤波器 </vt:lpstr>
      <vt:lpstr>7.2  用窗函数法设计FIR滤波器 </vt:lpstr>
      <vt:lpstr>7.2  用窗函数法设计FIR滤波器 </vt:lpstr>
      <vt:lpstr>7.2  用窗函数法设计FIR滤波器 </vt:lpstr>
      <vt:lpstr>7.2  用窗函数法设计FIR滤波器 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FIR数字滤波器的设计方法</dc:title>
  <dc:creator>Administrator</dc:creator>
  <cp:lastModifiedBy>Administrator</cp:lastModifiedBy>
  <cp:revision>42</cp:revision>
  <dcterms:created xsi:type="dcterms:W3CDTF">2020-08-06T07:38:52Z</dcterms:created>
  <dcterms:modified xsi:type="dcterms:W3CDTF">2022-11-26T12:27:17Z</dcterms:modified>
</cp:coreProperties>
</file>