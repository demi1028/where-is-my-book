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92" r:id="rId2"/>
    <p:sldId id="339" r:id="rId3"/>
    <p:sldId id="342" r:id="rId4"/>
    <p:sldId id="343" r:id="rId5"/>
    <p:sldId id="293" r:id="rId6"/>
    <p:sldId id="294" r:id="rId7"/>
    <p:sldId id="295" r:id="rId8"/>
    <p:sldId id="296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Relationship Id="rId4" Type="http://schemas.openxmlformats.org/officeDocument/2006/relationships/image" Target="../media/image23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4" Type="http://schemas.openxmlformats.org/officeDocument/2006/relationships/image" Target="../media/image27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5" Type="http://schemas.openxmlformats.org/officeDocument/2006/relationships/image" Target="../media/image35.emf"/><Relationship Id="rId4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2.e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emf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image" Target="../media/image54.emf"/><Relationship Id="rId7" Type="http://schemas.openxmlformats.org/officeDocument/2006/relationships/image" Target="../media/image58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11" Type="http://schemas.openxmlformats.org/officeDocument/2006/relationships/image" Target="../media/image62.emf"/><Relationship Id="rId5" Type="http://schemas.openxmlformats.org/officeDocument/2006/relationships/image" Target="../media/image56.emf"/><Relationship Id="rId10" Type="http://schemas.openxmlformats.org/officeDocument/2006/relationships/image" Target="../media/image61.emf"/><Relationship Id="rId4" Type="http://schemas.openxmlformats.org/officeDocument/2006/relationships/image" Target="../media/image55.emf"/><Relationship Id="rId9" Type="http://schemas.openxmlformats.org/officeDocument/2006/relationships/image" Target="../media/image60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51.emf"/><Relationship Id="rId7" Type="http://schemas.openxmlformats.org/officeDocument/2006/relationships/image" Target="../media/image56.emf"/><Relationship Id="rId2" Type="http://schemas.openxmlformats.org/officeDocument/2006/relationships/image" Target="../media/image50.emf"/><Relationship Id="rId1" Type="http://schemas.openxmlformats.org/officeDocument/2006/relationships/image" Target="../media/image49.emf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10" Type="http://schemas.openxmlformats.org/officeDocument/2006/relationships/image" Target="../media/image57.wmf"/><Relationship Id="rId4" Type="http://schemas.openxmlformats.org/officeDocument/2006/relationships/image" Target="../media/image47.wmf"/><Relationship Id="rId9" Type="http://schemas.openxmlformats.org/officeDocument/2006/relationships/image" Target="../media/image6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366BD-A5B0-496B-94FC-CB3C101F2C21}" type="datetimeFigureOut">
              <a:rPr lang="zh-CN" altLang="en-US" smtClean="0"/>
              <a:t>2024/9/19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ED852-2A16-4DE8-8237-7F151C998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09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2024/9/19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709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2024/9/19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3838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2024/9/19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530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2024/9/19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409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2024/9/19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764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2024/9/19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1271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2024/9/19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2343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2024/9/19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4837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2024/9/19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7846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2024/9/19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077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2024/9/19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772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2024/9/19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4799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2024/9/19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69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23.emf"/><Relationship Id="rId4" Type="http://schemas.openxmlformats.org/officeDocument/2006/relationships/image" Target="../media/image20.emf"/><Relationship Id="rId9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27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35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2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40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2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4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5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37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50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49.emf"/><Relationship Id="rId4" Type="http://schemas.openxmlformats.org/officeDocument/2006/relationships/image" Target="../media/image46.e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51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59.emf"/><Relationship Id="rId3" Type="http://schemas.openxmlformats.org/officeDocument/2006/relationships/oleObject" Target="../embeddings/oleObject38.bin"/><Relationship Id="rId21" Type="http://schemas.openxmlformats.org/officeDocument/2006/relationships/oleObject" Target="../embeddings/oleObject47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56.emf"/><Relationship Id="rId17" Type="http://schemas.openxmlformats.org/officeDocument/2006/relationships/oleObject" Target="../embeddings/oleObject45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58.wmf"/><Relationship Id="rId20" Type="http://schemas.openxmlformats.org/officeDocument/2006/relationships/image" Target="../media/image60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42.bin"/><Relationship Id="rId24" Type="http://schemas.openxmlformats.org/officeDocument/2006/relationships/image" Target="../media/image62.emf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23" Type="http://schemas.openxmlformats.org/officeDocument/2006/relationships/oleObject" Target="../embeddings/oleObject48.bin"/><Relationship Id="rId10" Type="http://schemas.openxmlformats.org/officeDocument/2006/relationships/image" Target="../media/image55.emf"/><Relationship Id="rId19" Type="http://schemas.openxmlformats.org/officeDocument/2006/relationships/oleObject" Target="../embeddings/oleObject46.bin"/><Relationship Id="rId4" Type="http://schemas.openxmlformats.org/officeDocument/2006/relationships/image" Target="../media/image52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57.wmf"/><Relationship Id="rId22" Type="http://schemas.openxmlformats.org/officeDocument/2006/relationships/image" Target="../media/image61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49.bin"/><Relationship Id="rId21" Type="http://schemas.openxmlformats.org/officeDocument/2006/relationships/oleObject" Target="../embeddings/oleObject58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4.emf"/><Relationship Id="rId1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.emf"/><Relationship Id="rId20" Type="http://schemas.openxmlformats.org/officeDocument/2006/relationships/image" Target="../media/image62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0.emf"/><Relationship Id="rId11" Type="http://schemas.openxmlformats.org/officeDocument/2006/relationships/oleObject" Target="../embeddings/oleObject53.bin"/><Relationship Id="rId24" Type="http://schemas.openxmlformats.org/officeDocument/2006/relationships/image" Target="../media/image63.png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23" Type="http://schemas.openxmlformats.org/officeDocument/2006/relationships/hyperlink" Target="&#26102;&#22495;&#25277;&#26679;.swf" TargetMode="External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57.bin"/><Relationship Id="rId4" Type="http://schemas.openxmlformats.org/officeDocument/2006/relationships/image" Target="../media/image49.e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55.emf"/><Relationship Id="rId22" Type="http://schemas.openxmlformats.org/officeDocument/2006/relationships/image" Target="../media/image5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accent2"/>
                </a:solidFill>
              </a:rPr>
              <a:t>离散时间信号与系统</a:t>
            </a:r>
            <a:endParaRPr lang="zh-CN" altLang="en-US" sz="3600">
              <a:solidFill>
                <a:schemeClr val="accent2"/>
              </a:solidFill>
            </a:endParaRPr>
          </a:p>
        </p:txBody>
      </p:sp>
      <p:sp>
        <p:nvSpPr>
          <p:cNvPr id="29699" name="Text Box 2"/>
          <p:cNvSpPr txBox="1">
            <a:spLocks noChangeArrowheads="1"/>
          </p:cNvSpPr>
          <p:nvPr/>
        </p:nvSpPr>
        <p:spPr bwMode="auto">
          <a:xfrm>
            <a:off x="1847850" y="228601"/>
            <a:ext cx="836295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利用</a:t>
            </a:r>
            <a:r>
              <a:rPr lang="en-US" altLang="zh-CN" sz="2800" b="1"/>
              <a:t>MATLAB</a:t>
            </a:r>
            <a:r>
              <a:rPr lang="zh-CN" altLang="en-US" sz="2800" b="1"/>
              <a:t>求解离散</a:t>
            </a:r>
            <a:r>
              <a:rPr lang="en-US" altLang="zh-CN" sz="2800" b="1"/>
              <a:t>LTI</a:t>
            </a:r>
            <a:r>
              <a:rPr lang="zh-CN" altLang="en-US" sz="2800" b="1"/>
              <a:t>系统响应</a:t>
            </a:r>
          </a:p>
        </p:txBody>
      </p:sp>
      <p:graphicFrame>
        <p:nvGraphicFramePr>
          <p:cNvPr id="29700" name="Object 3"/>
          <p:cNvGraphicFramePr>
            <a:graphicFrameLocks noChangeAspect="1"/>
          </p:cNvGraphicFramePr>
          <p:nvPr/>
        </p:nvGraphicFramePr>
        <p:xfrm>
          <a:off x="3575051" y="2420939"/>
          <a:ext cx="486092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6" name="公式" r:id="rId3" imgW="1860365" imgH="425588" progId="Equation.3">
                  <p:embed/>
                </p:oleObj>
              </mc:Choice>
              <mc:Fallback>
                <p:oleObj name="公式" r:id="rId3" imgW="1860365" imgH="425588" progId="Equation.3">
                  <p:embed/>
                  <p:pic>
                    <p:nvPicPr>
                      <p:cNvPr id="297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2420939"/>
                        <a:ext cx="486092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2135189" y="3922714"/>
            <a:ext cx="83534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i="1"/>
              <a:t>         </a:t>
            </a:r>
            <a:r>
              <a:rPr lang="zh-CN" altLang="en-US"/>
              <a:t>当已知系统的输入和</a:t>
            </a:r>
            <a:r>
              <a:rPr lang="en-US" altLang="zh-CN" i="1"/>
              <a:t>N</a:t>
            </a:r>
            <a:r>
              <a:rPr lang="zh-CN" altLang="en-US"/>
              <a:t>个初始状态，可由下式迭代计算系统的输出。</a:t>
            </a:r>
          </a:p>
        </p:txBody>
      </p:sp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2640013" y="4868864"/>
          <a:ext cx="6913562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7" name="公式" r:id="rId5" imgW="3060700" imgH="431800" progId="Equation.3">
                  <p:embed/>
                </p:oleObj>
              </mc:Choice>
              <mc:Fallback>
                <p:oleObj name="公式" r:id="rId5" imgW="3060700" imgH="431800" progId="Equation.3">
                  <p:embed/>
                  <p:pic>
                    <p:nvPicPr>
                      <p:cNvPr id="348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4868864"/>
                        <a:ext cx="6913562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6" name="Text Box 10"/>
          <p:cNvSpPr txBox="1">
            <a:spLocks noChangeArrowheads="1"/>
          </p:cNvSpPr>
          <p:nvPr/>
        </p:nvSpPr>
        <p:spPr bwMode="auto">
          <a:xfrm>
            <a:off x="1919288" y="1557338"/>
            <a:ext cx="8208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i="1"/>
              <a:t> </a:t>
            </a:r>
            <a:r>
              <a:rPr lang="zh-CN" altLang="en-US"/>
              <a:t>离散</a:t>
            </a:r>
            <a:r>
              <a:rPr lang="en-US" altLang="zh-CN"/>
              <a:t>LTI</a:t>
            </a:r>
            <a:r>
              <a:rPr lang="zh-CN" altLang="en-US"/>
              <a:t>系统的输入</a:t>
            </a:r>
            <a:r>
              <a:rPr lang="en-US" altLang="zh-CN"/>
              <a:t>-</a:t>
            </a:r>
            <a:r>
              <a:rPr lang="zh-CN" altLang="en-US"/>
              <a:t>输出关系可由线性常系统差分方程描述</a:t>
            </a:r>
          </a:p>
        </p:txBody>
      </p:sp>
    </p:spTree>
    <p:extLst>
      <p:ext uri="{BB962C8B-B14F-4D97-AF65-F5344CB8AC3E}">
        <p14:creationId xmlns:p14="http://schemas.microsoft.com/office/powerpoint/2010/main" val="196849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autoUpdateAnimBg="0"/>
      <p:bldP spid="34826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37" y="1518482"/>
            <a:ext cx="7598857" cy="46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05" y="1986295"/>
            <a:ext cx="3695147" cy="436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852" y="1910999"/>
            <a:ext cx="3115056" cy="512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37" y="2585690"/>
            <a:ext cx="3349766" cy="436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58" y="3022616"/>
            <a:ext cx="3189808" cy="599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475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240632" y="300790"/>
            <a:ext cx="4824663" cy="733926"/>
          </a:xfrm>
        </p:spPr>
        <p:txBody>
          <a:bodyPr/>
          <a:lstStyle/>
          <a:p>
            <a:pPr algn="l"/>
            <a:r>
              <a:rPr lang="en-US" altLang="zh-CN" dirty="0" smtClean="0"/>
              <a:t>(1) n&lt;0 </a:t>
            </a:r>
            <a:r>
              <a:rPr lang="zh-CN" altLang="en-US" dirty="0" smtClean="0"/>
              <a:t>序列值为零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567405"/>
              </p:ext>
            </p:extLst>
          </p:nvPr>
        </p:nvGraphicFramePr>
        <p:xfrm>
          <a:off x="350838" y="1323975"/>
          <a:ext cx="3951287" cy="312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8" name="Equation" r:id="rId3" imgW="1333440" imgH="1054080" progId="Equation.DSMT4">
                  <p:embed/>
                </p:oleObj>
              </mc:Choice>
              <mc:Fallback>
                <p:oleObj name="Equation" r:id="rId3" imgW="1333440" imgH="1054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838" y="1323975"/>
                        <a:ext cx="3951287" cy="3122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副标题 3"/>
          <p:cNvSpPr txBox="1">
            <a:spLocks/>
          </p:cNvSpPr>
          <p:nvPr/>
        </p:nvSpPr>
        <p:spPr bwMode="auto">
          <a:xfrm>
            <a:off x="5386137" y="300790"/>
            <a:ext cx="4824663" cy="733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altLang="zh-CN" kern="0" dirty="0" smtClean="0"/>
              <a:t>(2) n&gt;0 </a:t>
            </a:r>
            <a:r>
              <a:rPr lang="zh-CN" altLang="en-US" kern="0" dirty="0" smtClean="0"/>
              <a:t>序列值为零</a:t>
            </a:r>
            <a:endParaRPr lang="zh-CN" altLang="en-US" kern="0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235647"/>
              </p:ext>
            </p:extLst>
          </p:nvPr>
        </p:nvGraphicFramePr>
        <p:xfrm>
          <a:off x="5127499" y="1034716"/>
          <a:ext cx="5341937" cy="428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9" name="Equation" r:id="rId5" imgW="1803240" imgH="1447560" progId="Equation.DSMT4">
                  <p:embed/>
                </p:oleObj>
              </mc:Choice>
              <mc:Fallback>
                <p:oleObj name="Equation" r:id="rId5" imgW="1803240" imgH="144756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27499" y="1034716"/>
                        <a:ext cx="5341937" cy="4287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534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48" y="164050"/>
            <a:ext cx="6147385" cy="609958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765" y="887336"/>
            <a:ext cx="4970268" cy="23265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723" y="3438433"/>
            <a:ext cx="4724310" cy="178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55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accent2"/>
                </a:solidFill>
              </a:rPr>
              <a:t>离散时间信号与系统</a:t>
            </a:r>
            <a:endParaRPr lang="zh-CN" altLang="en-US" sz="3600">
              <a:solidFill>
                <a:schemeClr val="accent2"/>
              </a:solidFill>
            </a:endParaRP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1847850" y="228601"/>
            <a:ext cx="836295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利用</a:t>
            </a:r>
            <a:r>
              <a:rPr lang="en-US" altLang="zh-CN" sz="2800" b="1"/>
              <a:t>MATLAB</a:t>
            </a:r>
            <a:r>
              <a:rPr lang="zh-CN" altLang="en-US" sz="2800" b="1"/>
              <a:t>求解离散</a:t>
            </a:r>
            <a:r>
              <a:rPr lang="en-US" altLang="zh-CN" sz="2800" b="1"/>
              <a:t>LTI</a:t>
            </a:r>
            <a:r>
              <a:rPr lang="zh-CN" altLang="en-US" sz="2800" b="1"/>
              <a:t>系统响应</a:t>
            </a:r>
          </a:p>
        </p:txBody>
      </p:sp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2640014" y="3284539"/>
            <a:ext cx="7286625" cy="2899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15000"/>
              </a:spcBef>
            </a:pPr>
            <a:r>
              <a:rPr lang="zh-CN" altLang="en-US" dirty="0"/>
              <a:t>其中：</a:t>
            </a:r>
            <a:r>
              <a:rPr lang="en-US" altLang="zh-CN" dirty="0"/>
              <a:t>b=[</a:t>
            </a:r>
            <a:r>
              <a:rPr lang="en-US" altLang="zh-CN" i="1" dirty="0"/>
              <a:t>b</a:t>
            </a:r>
            <a:r>
              <a:rPr lang="en-US" altLang="zh-CN" baseline="-25000" dirty="0"/>
              <a:t>0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sz="2800" baseline="30000" dirty="0">
                <a:sym typeface="Symbol" panose="05050102010706020507" pitchFamily="18" charset="2"/>
              </a:rPr>
              <a:t>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M</a:t>
            </a:r>
            <a:r>
              <a:rPr lang="en-US" altLang="zh-CN" dirty="0"/>
              <a:t>] ,   a=[</a:t>
            </a:r>
            <a:r>
              <a:rPr lang="en-US" altLang="zh-CN" i="1" dirty="0"/>
              <a:t>a</a:t>
            </a:r>
            <a:r>
              <a:rPr lang="en-US" altLang="zh-CN" baseline="-25000" dirty="0"/>
              <a:t>0</a:t>
            </a:r>
            <a:r>
              <a:rPr lang="en-US" altLang="zh-CN" dirty="0"/>
              <a:t>,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sz="2800" baseline="30000" dirty="0">
                <a:sym typeface="Symbol" panose="05050102010706020507" pitchFamily="18" charset="2"/>
              </a:rPr>
              <a:t></a:t>
            </a:r>
            <a:r>
              <a:rPr lang="en-US" altLang="zh-CN" dirty="0"/>
              <a:t>,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] </a:t>
            </a:r>
          </a:p>
          <a:p>
            <a:pPr algn="just" eaLnBrk="1" hangingPunct="1">
              <a:lnSpc>
                <a:spcPct val="140000"/>
              </a:lnSpc>
              <a:spcBef>
                <a:spcPct val="15000"/>
              </a:spcBef>
            </a:pPr>
            <a:r>
              <a:rPr lang="en-US" altLang="zh-CN" dirty="0"/>
              <a:t>           x</a:t>
            </a:r>
            <a:r>
              <a:rPr lang="zh-CN" altLang="en-US" dirty="0"/>
              <a:t>表示输入</a:t>
            </a:r>
            <a:r>
              <a:rPr lang="zh-CN" altLang="en-US" dirty="0" smtClean="0"/>
              <a:t>序列系数，</a:t>
            </a:r>
            <a:r>
              <a:rPr lang="en-US" altLang="zh-CN" dirty="0"/>
              <a:t>y </a:t>
            </a:r>
            <a:r>
              <a:rPr lang="zh-CN" altLang="en-US" dirty="0"/>
              <a:t>表示输出序列系数。</a:t>
            </a:r>
          </a:p>
          <a:p>
            <a:pPr algn="just" eaLnBrk="1" hangingPunct="1">
              <a:lnSpc>
                <a:spcPct val="140000"/>
              </a:lnSpc>
              <a:spcBef>
                <a:spcPct val="15000"/>
              </a:spcBef>
            </a:pPr>
            <a:r>
              <a:rPr lang="zh-CN" altLang="en-US" dirty="0"/>
              <a:t>         系统的初始条件为零。</a:t>
            </a:r>
          </a:p>
          <a:p>
            <a:pPr algn="just" eaLnBrk="1" hangingPunct="1">
              <a:lnSpc>
                <a:spcPct val="140000"/>
              </a:lnSpc>
              <a:spcBef>
                <a:spcPct val="15000"/>
              </a:spcBef>
            </a:pPr>
            <a:r>
              <a:rPr lang="zh-CN" altLang="en-US" dirty="0"/>
              <a:t>         输出序列</a:t>
            </a:r>
            <a:r>
              <a:rPr lang="en-US" altLang="zh-CN" i="1" dirty="0"/>
              <a:t>y</a:t>
            </a:r>
            <a:r>
              <a:rPr lang="en-US" altLang="zh-CN" dirty="0"/>
              <a:t>[</a:t>
            </a:r>
            <a:r>
              <a:rPr lang="en-US" altLang="zh-CN" i="1" dirty="0"/>
              <a:t>k</a:t>
            </a:r>
            <a:r>
              <a:rPr lang="en-US" altLang="zh-CN" dirty="0"/>
              <a:t>]</a:t>
            </a:r>
            <a:r>
              <a:rPr lang="zh-CN" altLang="en-US" dirty="0"/>
              <a:t>的长度和输入序列</a:t>
            </a:r>
            <a:r>
              <a:rPr lang="en-US" altLang="zh-CN" i="1" dirty="0"/>
              <a:t>x</a:t>
            </a:r>
            <a:r>
              <a:rPr lang="en-US" altLang="zh-CN" dirty="0"/>
              <a:t>[</a:t>
            </a:r>
            <a:r>
              <a:rPr lang="en-US" altLang="zh-CN" i="1" dirty="0"/>
              <a:t>k</a:t>
            </a:r>
            <a:r>
              <a:rPr lang="en-US" altLang="zh-CN" dirty="0"/>
              <a:t>]</a:t>
            </a:r>
            <a:r>
              <a:rPr lang="zh-CN" altLang="en-US" dirty="0"/>
              <a:t>相同。</a:t>
            </a:r>
          </a:p>
          <a:p>
            <a:pPr algn="just" eaLnBrk="1" hangingPunct="1">
              <a:lnSpc>
                <a:spcPct val="140000"/>
              </a:lnSpc>
              <a:spcBef>
                <a:spcPct val="15000"/>
              </a:spcBef>
            </a:pPr>
            <a:r>
              <a:rPr lang="zh-CN" altLang="en-US" dirty="0"/>
              <a:t>         </a:t>
            </a:r>
          </a:p>
        </p:txBody>
      </p:sp>
      <p:sp>
        <p:nvSpPr>
          <p:cNvPr id="54280" name="Text Box 8"/>
          <p:cNvSpPr txBox="1">
            <a:spLocks noChangeArrowheads="1"/>
          </p:cNvSpPr>
          <p:nvPr/>
        </p:nvSpPr>
        <p:spPr bwMode="auto">
          <a:xfrm>
            <a:off x="3863975" y="2060576"/>
            <a:ext cx="3962400" cy="58896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/>
              <a:t>y=filter(b,a, x</a:t>
            </a:r>
            <a:r>
              <a:rPr lang="en-US" altLang="zh-CN" sz="3200" i="1"/>
              <a:t> </a:t>
            </a:r>
            <a:r>
              <a:rPr lang="en-US" altLang="zh-CN" sz="3200"/>
              <a:t>)</a:t>
            </a:r>
          </a:p>
        </p:txBody>
      </p:sp>
      <p:sp>
        <p:nvSpPr>
          <p:cNvPr id="30727" name="Text Box 9"/>
          <p:cNvSpPr txBox="1">
            <a:spLocks noChangeArrowheads="1"/>
          </p:cNvSpPr>
          <p:nvPr/>
        </p:nvSpPr>
        <p:spPr bwMode="auto">
          <a:xfrm>
            <a:off x="3000376" y="1438541"/>
            <a:ext cx="6551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8F8F8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MATLAB</a:t>
            </a:r>
            <a:r>
              <a:rPr lang="zh-CN" altLang="en-US" dirty="0"/>
              <a:t>提供了求解零状态差分方程的函数</a:t>
            </a:r>
          </a:p>
        </p:txBody>
      </p:sp>
    </p:spTree>
    <p:extLst>
      <p:ext uri="{BB962C8B-B14F-4D97-AF65-F5344CB8AC3E}">
        <p14:creationId xmlns:p14="http://schemas.microsoft.com/office/powerpoint/2010/main" val="378653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9" grpId="0" autoUpdateAnimBg="0"/>
      <p:bldP spid="54280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accent2"/>
                </a:solidFill>
              </a:rPr>
              <a:t>离散时间信号与系统</a:t>
            </a:r>
            <a:endParaRPr lang="zh-CN" altLang="en-US" sz="3600">
              <a:solidFill>
                <a:schemeClr val="accent2"/>
              </a:solidFill>
            </a:endParaRPr>
          </a:p>
        </p:txBody>
      </p:sp>
      <p:sp>
        <p:nvSpPr>
          <p:cNvPr id="31747" name="Text Box 4"/>
          <p:cNvSpPr txBox="1">
            <a:spLocks noChangeArrowheads="1"/>
          </p:cNvSpPr>
          <p:nvPr/>
        </p:nvSpPr>
        <p:spPr bwMode="auto">
          <a:xfrm>
            <a:off x="1905000" y="990601"/>
            <a:ext cx="914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/>
              <a:t>M</a:t>
            </a:r>
            <a:r>
              <a:rPr lang="zh-CN" altLang="en-US" sz="2800"/>
              <a:t>点的滑动平均系统的输入</a:t>
            </a:r>
            <a:r>
              <a:rPr lang="en-US" altLang="zh-CN" sz="2800"/>
              <a:t>-</a:t>
            </a:r>
            <a:r>
              <a:rPr lang="zh-CN" altLang="en-US" sz="2800"/>
              <a:t>输出关系为</a:t>
            </a:r>
          </a:p>
        </p:txBody>
      </p:sp>
      <p:graphicFrame>
        <p:nvGraphicFramePr>
          <p:cNvPr id="31748" name="Object 5"/>
          <p:cNvGraphicFramePr>
            <a:graphicFrameLocks noChangeAspect="1"/>
          </p:cNvGraphicFramePr>
          <p:nvPr/>
        </p:nvGraphicFramePr>
        <p:xfrm>
          <a:off x="4572000" y="1676400"/>
          <a:ext cx="37084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6" name="公式" r:id="rId3" imgW="1371600" imgH="431800" progId="Equation.3">
                  <p:embed/>
                </p:oleObj>
              </mc:Choice>
              <mc:Fallback>
                <p:oleObj name="公式" r:id="rId3" imgW="1371600" imgH="431800" progId="Equation.3">
                  <p:embed/>
                  <p:pic>
                    <p:nvPicPr>
                      <p:cNvPr id="3174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676400"/>
                        <a:ext cx="370840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ext Box 6"/>
          <p:cNvSpPr txBox="1">
            <a:spLocks noChangeArrowheads="1"/>
          </p:cNvSpPr>
          <p:nvPr/>
        </p:nvSpPr>
        <p:spPr bwMode="auto">
          <a:xfrm>
            <a:off x="1981200" y="3046414"/>
            <a:ext cx="74676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</a:pPr>
            <a:r>
              <a:rPr lang="zh-CN" altLang="en-US" sz="2800"/>
              <a:t>原始信号：                        </a:t>
            </a:r>
            <a:r>
              <a:rPr lang="en-US" altLang="zh-CN" sz="2800" i="1"/>
              <a:t>s</a:t>
            </a:r>
            <a:r>
              <a:rPr lang="en-US" altLang="zh-CN" sz="2800"/>
              <a:t>[</a:t>
            </a:r>
            <a:r>
              <a:rPr lang="en-US" altLang="zh-CN" sz="2800" i="1"/>
              <a:t>k</a:t>
            </a:r>
            <a:r>
              <a:rPr lang="en-US" altLang="zh-CN" sz="2800"/>
              <a:t>]=(2</a:t>
            </a:r>
            <a:r>
              <a:rPr lang="en-US" altLang="zh-CN" sz="2800" i="1"/>
              <a:t>k</a:t>
            </a:r>
            <a:r>
              <a:rPr lang="en-US" altLang="zh-CN" sz="2800"/>
              <a:t>)0.9</a:t>
            </a:r>
            <a:r>
              <a:rPr lang="en-US" altLang="zh-CN" sz="2800" i="1" baseline="30000"/>
              <a:t>k</a:t>
            </a:r>
            <a:endParaRPr lang="en-US" altLang="zh-CN" sz="2800"/>
          </a:p>
          <a:p>
            <a:pPr algn="just" eaLnBrk="1" hangingPunct="1">
              <a:spcBef>
                <a:spcPct val="0"/>
              </a:spcBef>
            </a:pPr>
            <a:r>
              <a:rPr lang="zh-CN" altLang="en-US" sz="2800"/>
              <a:t>噪声干扰的信号：            </a:t>
            </a:r>
            <a:r>
              <a:rPr lang="en-US" altLang="zh-CN" sz="2800" i="1"/>
              <a:t>x</a:t>
            </a:r>
            <a:r>
              <a:rPr lang="en-US" altLang="zh-CN" sz="2800"/>
              <a:t>[</a:t>
            </a:r>
            <a:r>
              <a:rPr lang="en-US" altLang="zh-CN" sz="2800" i="1"/>
              <a:t>k</a:t>
            </a:r>
            <a:r>
              <a:rPr lang="en-US" altLang="zh-CN" sz="2800"/>
              <a:t>]=</a:t>
            </a:r>
            <a:r>
              <a:rPr lang="en-US" altLang="zh-CN" sz="2800" i="1"/>
              <a:t>s</a:t>
            </a:r>
            <a:r>
              <a:rPr lang="en-US" altLang="zh-CN" sz="2800"/>
              <a:t>[</a:t>
            </a:r>
            <a:r>
              <a:rPr lang="en-US" altLang="zh-CN" sz="2800" i="1"/>
              <a:t>k</a:t>
            </a:r>
            <a:r>
              <a:rPr lang="en-US" altLang="zh-CN" sz="2800"/>
              <a:t>]+</a:t>
            </a:r>
            <a:r>
              <a:rPr lang="en-US" altLang="zh-CN" sz="2800" i="1"/>
              <a:t>n</a:t>
            </a:r>
            <a:r>
              <a:rPr lang="en-US" altLang="zh-CN" sz="2800"/>
              <a:t>[</a:t>
            </a:r>
            <a:r>
              <a:rPr lang="en-US" altLang="zh-CN" sz="2800" i="1"/>
              <a:t>k</a:t>
            </a:r>
            <a:r>
              <a:rPr lang="en-US" altLang="zh-CN" sz="2800"/>
              <a:t>]</a:t>
            </a:r>
          </a:p>
          <a:p>
            <a:pPr algn="just" eaLnBrk="1" hangingPunct="1">
              <a:spcBef>
                <a:spcPct val="0"/>
              </a:spcBef>
            </a:pPr>
            <a:r>
              <a:rPr lang="zh-CN" altLang="en-US" sz="2800"/>
              <a:t>噪声信号：                       </a:t>
            </a:r>
            <a:r>
              <a:rPr lang="en-US" altLang="zh-CN" sz="2800" i="1"/>
              <a:t>n</a:t>
            </a:r>
            <a:r>
              <a:rPr lang="en-US" altLang="zh-CN" sz="2800"/>
              <a:t>[</a:t>
            </a:r>
            <a:r>
              <a:rPr lang="en-US" altLang="zh-CN" sz="2800" i="1"/>
              <a:t>k</a:t>
            </a:r>
            <a:r>
              <a:rPr lang="en-US" altLang="zh-CN" sz="2800"/>
              <a:t>]</a:t>
            </a:r>
          </a:p>
        </p:txBody>
      </p:sp>
      <p:sp>
        <p:nvSpPr>
          <p:cNvPr id="31750" name="Rectangle 9"/>
          <p:cNvSpPr>
            <a:spLocks noChangeArrowheads="1"/>
          </p:cNvSpPr>
          <p:nvPr/>
        </p:nvSpPr>
        <p:spPr bwMode="auto">
          <a:xfrm>
            <a:off x="1524000" y="6858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1" name="Text Box 10"/>
          <p:cNvSpPr txBox="1">
            <a:spLocks noChangeArrowheads="1"/>
          </p:cNvSpPr>
          <p:nvPr/>
        </p:nvSpPr>
        <p:spPr bwMode="auto">
          <a:xfrm>
            <a:off x="1919288" y="0"/>
            <a:ext cx="8208962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 b="1"/>
              <a:t>例</a:t>
            </a:r>
            <a:r>
              <a:rPr lang="en-US" altLang="zh-CN" sz="2800" b="1"/>
              <a:t>:  </a:t>
            </a:r>
            <a:r>
              <a:rPr lang="zh-CN" altLang="en-US" sz="2800" b="1"/>
              <a:t>利用 </a:t>
            </a:r>
            <a:r>
              <a:rPr lang="en-US" altLang="zh-CN" sz="2800" b="1" i="1"/>
              <a:t>M</a:t>
            </a:r>
            <a:r>
              <a:rPr lang="zh-CN" altLang="en-US" sz="2800" b="1"/>
              <a:t>点的滑动平均系统去噪	</a:t>
            </a:r>
          </a:p>
        </p:txBody>
      </p:sp>
      <p:sp>
        <p:nvSpPr>
          <p:cNvPr id="31752" name="Text Box 11"/>
          <p:cNvSpPr txBox="1">
            <a:spLocks noChangeArrowheads="1"/>
          </p:cNvSpPr>
          <p:nvPr/>
        </p:nvSpPr>
        <p:spPr bwMode="auto">
          <a:xfrm>
            <a:off x="1992314" y="5084763"/>
            <a:ext cx="7775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8F8F8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accent2"/>
                </a:solidFill>
              </a:rPr>
              <a:t>利用</a:t>
            </a:r>
            <a:r>
              <a:rPr lang="en-US" altLang="zh-CN" b="1" i="1">
                <a:solidFill>
                  <a:schemeClr val="accent2"/>
                </a:solidFill>
              </a:rPr>
              <a:t>M</a:t>
            </a:r>
            <a:r>
              <a:rPr lang="zh-CN" altLang="en-US" b="1">
                <a:solidFill>
                  <a:schemeClr val="accent2"/>
                </a:solidFill>
              </a:rPr>
              <a:t>点的滑动平均系统从信号</a:t>
            </a:r>
            <a:r>
              <a:rPr lang="en-US" altLang="zh-CN" b="1" i="1">
                <a:solidFill>
                  <a:schemeClr val="accent2"/>
                </a:solidFill>
              </a:rPr>
              <a:t>x</a:t>
            </a:r>
            <a:r>
              <a:rPr lang="en-US" altLang="zh-CN" b="1">
                <a:solidFill>
                  <a:schemeClr val="accent2"/>
                </a:solidFill>
              </a:rPr>
              <a:t>[</a:t>
            </a:r>
            <a:r>
              <a:rPr lang="en-US" altLang="zh-CN" b="1" i="1">
                <a:solidFill>
                  <a:schemeClr val="accent2"/>
                </a:solidFill>
              </a:rPr>
              <a:t>k</a:t>
            </a:r>
            <a:r>
              <a:rPr lang="en-US" altLang="zh-CN" b="1">
                <a:solidFill>
                  <a:schemeClr val="accent2"/>
                </a:solidFill>
              </a:rPr>
              <a:t>]</a:t>
            </a:r>
            <a:r>
              <a:rPr lang="zh-CN" altLang="en-US" b="1">
                <a:solidFill>
                  <a:schemeClr val="accent2"/>
                </a:solidFill>
              </a:rPr>
              <a:t>中滤去噪声信号</a:t>
            </a:r>
            <a:r>
              <a:rPr lang="en-US" altLang="zh-CN" b="1" i="1">
                <a:solidFill>
                  <a:schemeClr val="accent2"/>
                </a:solidFill>
              </a:rPr>
              <a:t>n</a:t>
            </a:r>
            <a:r>
              <a:rPr lang="en-US" altLang="zh-CN" b="1">
                <a:solidFill>
                  <a:schemeClr val="accent2"/>
                </a:solidFill>
              </a:rPr>
              <a:t>[</a:t>
            </a:r>
            <a:r>
              <a:rPr lang="en-US" altLang="zh-CN" b="1" i="1">
                <a:solidFill>
                  <a:schemeClr val="accent2"/>
                </a:solidFill>
              </a:rPr>
              <a:t>k</a:t>
            </a:r>
            <a:r>
              <a:rPr lang="en-US" altLang="zh-CN" b="1">
                <a:solidFill>
                  <a:schemeClr val="accent2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09414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accent2"/>
                </a:solidFill>
              </a:rPr>
              <a:t>离散时间信号与系统</a:t>
            </a:r>
            <a:endParaRPr lang="zh-CN" altLang="en-US" sz="3600">
              <a:solidFill>
                <a:schemeClr val="accent2"/>
              </a:solidFill>
            </a:endParaRPr>
          </a:p>
        </p:txBody>
      </p:sp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2495550" y="476251"/>
            <a:ext cx="78486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008000"/>
                </a:solidFill>
              </a:rPr>
              <a:t>% Signal Smoothing by Moving Average Filter</a:t>
            </a:r>
            <a:endParaRPr lang="en-US" altLang="zh-CN" dirty="0"/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/>
              <a:t>N = 101;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008000"/>
                </a:solidFill>
              </a:rPr>
              <a:t>%generate (-0.5, 05)Uniformly distributed  random numbers</a:t>
            </a:r>
            <a:endParaRPr lang="en-US" altLang="zh-CN" dirty="0"/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/>
              <a:t>n = rand(1,N)-0.5;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/>
              <a:t>k=0:N-1;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/>
              <a:t>s=2*k.*(0.9.^k);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/>
              <a:t>x=</a:t>
            </a:r>
            <a:r>
              <a:rPr lang="en-US" altLang="zh-CN" dirty="0" err="1"/>
              <a:t>s+n</a:t>
            </a:r>
            <a:r>
              <a:rPr lang="en-US" altLang="zh-CN" dirty="0"/>
              <a:t>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subplot(2,1,1);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plot(</a:t>
            </a:r>
            <a:r>
              <a:rPr lang="en-US" altLang="zh-CN" dirty="0" err="1"/>
              <a:t>k,n,</a:t>
            </a:r>
            <a:r>
              <a:rPr lang="en-US" altLang="zh-CN" dirty="0" err="1">
                <a:solidFill>
                  <a:srgbClr val="800000"/>
                </a:solidFill>
              </a:rPr>
              <a:t>'r</a:t>
            </a:r>
            <a:r>
              <a:rPr lang="en-US" altLang="zh-CN" dirty="0">
                <a:solidFill>
                  <a:srgbClr val="800000"/>
                </a:solidFill>
              </a:rPr>
              <a:t>-.'</a:t>
            </a:r>
            <a:r>
              <a:rPr lang="en-US" altLang="zh-CN" dirty="0"/>
              <a:t>, </a:t>
            </a:r>
            <a:r>
              <a:rPr lang="en-US" altLang="zh-CN" dirty="0" err="1"/>
              <a:t>k,s,</a:t>
            </a:r>
            <a:r>
              <a:rPr lang="en-US" altLang="zh-CN" dirty="0" err="1">
                <a:solidFill>
                  <a:srgbClr val="800000"/>
                </a:solidFill>
              </a:rPr>
              <a:t>'b</a:t>
            </a:r>
            <a:r>
              <a:rPr lang="en-US" altLang="zh-CN" dirty="0">
                <a:solidFill>
                  <a:srgbClr val="800000"/>
                </a:solidFill>
              </a:rPr>
              <a:t>--'</a:t>
            </a:r>
            <a:r>
              <a:rPr lang="en-US" altLang="zh-CN" dirty="0"/>
              <a:t>, </a:t>
            </a:r>
            <a:r>
              <a:rPr lang="en-US" altLang="zh-CN" dirty="0" err="1"/>
              <a:t>k,x,</a:t>
            </a:r>
            <a:r>
              <a:rPr lang="en-US" altLang="zh-CN" dirty="0" err="1">
                <a:solidFill>
                  <a:srgbClr val="800000"/>
                </a:solidFill>
              </a:rPr>
              <a:t>'g</a:t>
            </a:r>
            <a:r>
              <a:rPr lang="en-US" altLang="zh-CN" dirty="0">
                <a:solidFill>
                  <a:srgbClr val="800000"/>
                </a:solidFill>
              </a:rPr>
              <a:t>-'</a:t>
            </a:r>
            <a:r>
              <a:rPr lang="en-US" altLang="zh-CN" dirty="0"/>
              <a:t>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 err="1"/>
              <a:t>xlabel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800000"/>
                </a:solidFill>
              </a:rPr>
              <a:t>'Time index k'</a:t>
            </a:r>
            <a:r>
              <a:rPr lang="en-US" altLang="zh-CN" dirty="0"/>
              <a:t>);  legend(</a:t>
            </a:r>
            <a:r>
              <a:rPr lang="en-US" altLang="zh-CN" dirty="0">
                <a:solidFill>
                  <a:srgbClr val="800000"/>
                </a:solidFill>
              </a:rPr>
              <a:t>'n[k]'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800000"/>
                </a:solidFill>
              </a:rPr>
              <a:t>'s[k]'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800000"/>
                </a:solidFill>
              </a:rPr>
              <a:t> ' x[k]'</a:t>
            </a:r>
            <a:r>
              <a:rPr lang="en-US" altLang="zh-CN" dirty="0"/>
              <a:t>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M =5; b = ones(M,1)/M;  a =[1];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y = filter(</a:t>
            </a:r>
            <a:r>
              <a:rPr lang="en-US" altLang="zh-CN" dirty="0" err="1"/>
              <a:t>b,a,x</a:t>
            </a:r>
            <a:r>
              <a:rPr lang="en-US" altLang="zh-CN" dirty="0"/>
              <a:t>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Subplot(2,1,2);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plot(</a:t>
            </a:r>
            <a:r>
              <a:rPr lang="en-US" altLang="zh-CN" dirty="0" err="1"/>
              <a:t>k,s,</a:t>
            </a:r>
            <a:r>
              <a:rPr lang="en-US" altLang="zh-CN" dirty="0" err="1">
                <a:solidFill>
                  <a:srgbClr val="800000"/>
                </a:solidFill>
              </a:rPr>
              <a:t>'b</a:t>
            </a:r>
            <a:r>
              <a:rPr lang="en-US" altLang="zh-CN" dirty="0">
                <a:solidFill>
                  <a:srgbClr val="800000"/>
                </a:solidFill>
              </a:rPr>
              <a:t>--'</a:t>
            </a:r>
            <a:r>
              <a:rPr lang="en-US" altLang="zh-CN" dirty="0"/>
              <a:t>, </a:t>
            </a:r>
            <a:r>
              <a:rPr lang="en-US" altLang="zh-CN" dirty="0" err="1"/>
              <a:t>k,y,</a:t>
            </a:r>
            <a:r>
              <a:rPr lang="en-US" altLang="zh-CN" dirty="0" err="1">
                <a:solidFill>
                  <a:srgbClr val="800000"/>
                </a:solidFill>
              </a:rPr>
              <a:t>'r</a:t>
            </a:r>
            <a:r>
              <a:rPr lang="en-US" altLang="zh-CN" dirty="0">
                <a:solidFill>
                  <a:srgbClr val="800000"/>
                </a:solidFill>
              </a:rPr>
              <a:t>-'</a:t>
            </a:r>
            <a:r>
              <a:rPr lang="en-US" altLang="zh-CN" dirty="0"/>
              <a:t>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 err="1"/>
              <a:t>xlabel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800000"/>
                </a:solidFill>
              </a:rPr>
              <a:t>'Time index k'</a:t>
            </a:r>
            <a:r>
              <a:rPr lang="en-US" altLang="zh-CN" dirty="0"/>
              <a:t>);  legend(</a:t>
            </a:r>
            <a:r>
              <a:rPr lang="en-US" altLang="zh-CN" dirty="0">
                <a:solidFill>
                  <a:srgbClr val="800000"/>
                </a:solidFill>
              </a:rPr>
              <a:t>'s[k]'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800000"/>
                </a:solidFill>
              </a:rPr>
              <a:t>'y[k]'</a:t>
            </a:r>
            <a:r>
              <a:rPr lang="en-US" altLang="zh-CN" dirty="0"/>
              <a:t>);</a:t>
            </a:r>
          </a:p>
          <a:p>
            <a:pPr algn="just" eaLnBrk="1" hangingPunct="1">
              <a:spcBef>
                <a:spcPct val="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28371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300"/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300"/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300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300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300"/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300"/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300"/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300"/>
                                        <p:tgtEl>
                                          <p:spTgt spid="36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300"/>
                                        <p:tgtEl>
                                          <p:spTgt spid="368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300"/>
                                        <p:tgtEl>
                                          <p:spTgt spid="368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300"/>
                                        <p:tgtEl>
                                          <p:spTgt spid="368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300"/>
                                        <p:tgtEl>
                                          <p:spTgt spid="368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300"/>
                                        <p:tgtEl>
                                          <p:spTgt spid="3686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300"/>
                                        <p:tgtEl>
                                          <p:spTgt spid="3686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accent2"/>
                </a:solidFill>
              </a:rPr>
              <a:t>离散时间信号与系统</a:t>
            </a:r>
            <a:endParaRPr lang="zh-CN" altLang="en-US" sz="3600">
              <a:solidFill>
                <a:schemeClr val="accent2"/>
              </a:solidFill>
            </a:endParaRPr>
          </a:p>
        </p:txBody>
      </p:sp>
      <p:pic>
        <p:nvPicPr>
          <p:cNvPr id="33795" name="Picture 3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3" t="3584" r="5870"/>
          <a:stretch>
            <a:fillRect/>
          </a:stretch>
        </p:blipFill>
        <p:spPr bwMode="auto">
          <a:xfrm>
            <a:off x="2208214" y="476251"/>
            <a:ext cx="7920037" cy="580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8F8F8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1767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66900" y="1774032"/>
            <a:ext cx="8534400" cy="17526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b="1" dirty="0" smtClean="0"/>
              <a:t>信号抽样的理论分析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b="1" dirty="0" smtClean="0"/>
              <a:t>时域抽样定理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b="1" dirty="0" smtClean="0"/>
              <a:t>抽样定理的工程应用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b="1" dirty="0" smtClean="0"/>
              <a:t>信号重建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b="1" dirty="0" smtClean="0"/>
              <a:t>实际应用举例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2052" name="Rectangle 11"/>
          <p:cNvSpPr>
            <a:spLocks noChangeArrowheads="1"/>
          </p:cNvSpPr>
          <p:nvPr/>
        </p:nvSpPr>
        <p:spPr bwMode="auto">
          <a:xfrm>
            <a:off x="1676400" y="1014413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053" name="Rectangle 12"/>
          <p:cNvSpPr>
            <a:spLocks noChangeArrowheads="1"/>
          </p:cNvSpPr>
          <p:nvPr/>
        </p:nvSpPr>
        <p:spPr bwMode="auto">
          <a:xfrm>
            <a:off x="3300414" y="207964"/>
            <a:ext cx="4376737" cy="739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>
                <a:ea typeface="隶书" panose="02010509060101010101" pitchFamily="49" charset="-122"/>
              </a:rPr>
              <a:t>            </a:t>
            </a:r>
            <a:r>
              <a:rPr lang="zh-CN" altLang="en-US" sz="3600"/>
              <a:t>信号的抽样</a:t>
            </a:r>
          </a:p>
        </p:txBody>
      </p:sp>
    </p:spTree>
    <p:extLst>
      <p:ext uri="{BB962C8B-B14F-4D97-AF65-F5344CB8AC3E}">
        <p14:creationId xmlns:p14="http://schemas.microsoft.com/office/powerpoint/2010/main" val="219396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pic>
        <p:nvPicPr>
          <p:cNvPr id="73730" name="Picture 2" descr="Lena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5" y="757239"/>
            <a:ext cx="2814638" cy="281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1" name="Picture 3" descr="Lena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551" y="771526"/>
            <a:ext cx="2811463" cy="281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2" name="Picture 4" descr="Lena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714" y="3703639"/>
            <a:ext cx="2814637" cy="281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3" name="Picture 5" descr="Len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6" y="3751263"/>
            <a:ext cx="2811463" cy="28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Text Box 6"/>
          <p:cNvSpPr txBox="1">
            <a:spLocks noChangeArrowheads="1"/>
          </p:cNvSpPr>
          <p:nvPr/>
        </p:nvSpPr>
        <p:spPr bwMode="auto">
          <a:xfrm>
            <a:off x="2201863" y="217488"/>
            <a:ext cx="7866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不同抽样频率对图像的影响</a:t>
            </a:r>
          </a:p>
        </p:txBody>
      </p:sp>
    </p:spTree>
    <p:extLst>
      <p:ext uri="{BB962C8B-B14F-4D97-AF65-F5344CB8AC3E}">
        <p14:creationId xmlns:p14="http://schemas.microsoft.com/office/powerpoint/2010/main" val="56103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2817813" y="157163"/>
            <a:ext cx="617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抽样的数学模型及实现</a:t>
            </a:r>
          </a:p>
        </p:txBody>
      </p:sp>
      <p:graphicFrame>
        <p:nvGraphicFramePr>
          <p:cNvPr id="4100" name="Object 3"/>
          <p:cNvGraphicFramePr>
            <a:graphicFrameLocks noChangeAspect="1"/>
          </p:cNvGraphicFramePr>
          <p:nvPr/>
        </p:nvGraphicFramePr>
        <p:xfrm>
          <a:off x="3059114" y="914400"/>
          <a:ext cx="5811837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0" name="Visio" r:id="rId3" imgW="3227832" imgH="960425" progId="Visio.Drawing.6">
                  <p:embed/>
                </p:oleObj>
              </mc:Choice>
              <mc:Fallback>
                <p:oleObj name="Visio" r:id="rId3" imgW="3227832" imgH="960425" progId="Visio.Drawing.6">
                  <p:embed/>
                  <p:pic>
                    <p:nvPicPr>
                      <p:cNvPr id="41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4" y="914400"/>
                        <a:ext cx="5811837" cy="172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6" name="Object 4"/>
          <p:cNvGraphicFramePr>
            <a:graphicFrameLocks noChangeAspect="1"/>
          </p:cNvGraphicFramePr>
          <p:nvPr/>
        </p:nvGraphicFramePr>
        <p:xfrm>
          <a:off x="3070225" y="2036764"/>
          <a:ext cx="5811838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1" name="Visio" r:id="rId5" imgW="3228746" imgH="960425" progId="Visio.Drawing.6">
                  <p:embed/>
                </p:oleObj>
              </mc:Choice>
              <mc:Fallback>
                <p:oleObj name="Visio" r:id="rId5" imgW="3228746" imgH="960425" progId="Visio.Drawing.6">
                  <p:embed/>
                  <p:pic>
                    <p:nvPicPr>
                      <p:cNvPr id="747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25" y="2036764"/>
                        <a:ext cx="5811838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6884989" y="4098926"/>
          <a:ext cx="277177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2" name="公式" r:id="rId7" imgW="851073" imgH="228469" progId="Equation.3">
                  <p:embed/>
                </p:oleObj>
              </mc:Choice>
              <mc:Fallback>
                <p:oleObj name="公式" r:id="rId7" imgW="851073" imgH="228469" progId="Equation.3">
                  <p:embed/>
                  <p:pic>
                    <p:nvPicPr>
                      <p:cNvPr id="747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4989" y="4098926"/>
                        <a:ext cx="2771775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Text Box 6"/>
          <p:cNvSpPr txBox="1">
            <a:spLocks noChangeArrowheads="1"/>
          </p:cNvSpPr>
          <p:nvPr/>
        </p:nvSpPr>
        <p:spPr bwMode="auto">
          <a:xfrm>
            <a:off x="1812925" y="1182688"/>
            <a:ext cx="1398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点抽样</a:t>
            </a:r>
          </a:p>
        </p:txBody>
      </p:sp>
      <p:graphicFrame>
        <p:nvGraphicFramePr>
          <p:cNvPr id="74759" name="Object 7"/>
          <p:cNvGraphicFramePr>
            <a:graphicFrameLocks noChangeAspect="1"/>
          </p:cNvGraphicFramePr>
          <p:nvPr/>
        </p:nvGraphicFramePr>
        <p:xfrm>
          <a:off x="2933700" y="3657601"/>
          <a:ext cx="3570288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3" name="Visio" r:id="rId9" imgW="2109597" imgH="894588" progId="Visio.Drawing.11">
                  <p:embed/>
                </p:oleObj>
              </mc:Choice>
              <mc:Fallback>
                <p:oleObj name="Visio" r:id="rId9" imgW="2109597" imgH="894588" progId="Visio.Drawing.11">
                  <p:embed/>
                  <p:pic>
                    <p:nvPicPr>
                      <p:cNvPr id="747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700" y="3657601"/>
                        <a:ext cx="3570288" cy="15144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0" name="Rectangle 8"/>
          <p:cNvSpPr>
            <a:spLocks noChangeArrowheads="1"/>
          </p:cNvSpPr>
          <p:nvPr/>
        </p:nvSpPr>
        <p:spPr bwMode="auto">
          <a:xfrm>
            <a:off x="3000375" y="5321300"/>
            <a:ext cx="470058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抽样间隔</a:t>
            </a:r>
            <a:r>
              <a:rPr lang="en-US" altLang="zh-CN" sz="2400">
                <a:solidFill>
                  <a:srgbClr val="000000"/>
                </a:solidFill>
              </a:rPr>
              <a:t>(</a:t>
            </a:r>
            <a:r>
              <a:rPr lang="zh-CN" altLang="en-US" sz="2400">
                <a:solidFill>
                  <a:srgbClr val="000000"/>
                </a:solidFill>
              </a:rPr>
              <a:t>周期</a:t>
            </a:r>
            <a:r>
              <a:rPr lang="en-US" altLang="zh-CN" sz="2400">
                <a:solidFill>
                  <a:srgbClr val="000000"/>
                </a:solidFill>
              </a:rPr>
              <a:t>)       </a:t>
            </a:r>
            <a:r>
              <a:rPr lang="en-US" altLang="zh-CN" sz="2400" i="1">
                <a:solidFill>
                  <a:srgbClr val="000000"/>
                </a:solidFill>
              </a:rPr>
              <a:t>T            </a:t>
            </a:r>
            <a:r>
              <a:rPr lang="en-US" altLang="zh-CN" sz="2400">
                <a:solidFill>
                  <a:srgbClr val="000000"/>
                </a:solidFill>
              </a:rPr>
              <a:t>(s)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抽样角频率       </a:t>
            </a:r>
            <a:r>
              <a:rPr lang="en-US" altLang="zh-CN" sz="2400" i="1">
                <a:solidFill>
                  <a:srgbClr val="000000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2400" baseline="-25000">
                <a:solidFill>
                  <a:srgbClr val="000000"/>
                </a:solidFill>
              </a:rPr>
              <a:t>sam</a:t>
            </a:r>
            <a:r>
              <a:rPr lang="en-US" altLang="zh-CN" sz="2400">
                <a:solidFill>
                  <a:srgbClr val="000000"/>
                </a:solidFill>
              </a:rPr>
              <a:t>=2</a:t>
            </a:r>
            <a:r>
              <a:rPr lang="en-US" altLang="zh-CN" sz="2400">
                <a:solidFill>
                  <a:srgbClr val="000000"/>
                </a:solidFill>
                <a:latin typeface="Symbol" panose="05050102010706020507" pitchFamily="18" charset="2"/>
              </a:rPr>
              <a:t>p</a:t>
            </a:r>
            <a:r>
              <a:rPr lang="en-US" altLang="zh-CN" sz="2400">
                <a:solidFill>
                  <a:srgbClr val="000000"/>
                </a:solidFill>
              </a:rPr>
              <a:t>/</a:t>
            </a:r>
            <a:r>
              <a:rPr lang="en-US" altLang="zh-CN" sz="2400" i="1">
                <a:solidFill>
                  <a:srgbClr val="000000"/>
                </a:solidFill>
              </a:rPr>
              <a:t>T  </a:t>
            </a:r>
            <a:r>
              <a:rPr lang="en-US" altLang="zh-CN" sz="2400">
                <a:solidFill>
                  <a:srgbClr val="000000"/>
                </a:solidFill>
              </a:rPr>
              <a:t> (rad/s)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抽样频率             </a:t>
            </a:r>
            <a:r>
              <a:rPr lang="en-US" altLang="zh-CN" sz="2400" i="1">
                <a:solidFill>
                  <a:srgbClr val="000000"/>
                </a:solidFill>
              </a:rPr>
              <a:t>f</a:t>
            </a:r>
            <a:r>
              <a:rPr lang="en-US" altLang="zh-CN" sz="2400" baseline="-25000">
                <a:solidFill>
                  <a:srgbClr val="000000"/>
                </a:solidFill>
              </a:rPr>
              <a:t>sam</a:t>
            </a:r>
            <a:r>
              <a:rPr lang="en-US" altLang="zh-CN" sz="2400">
                <a:solidFill>
                  <a:srgbClr val="000000"/>
                </a:solidFill>
              </a:rPr>
              <a:t>=1/</a:t>
            </a:r>
            <a:r>
              <a:rPr lang="en-US" altLang="zh-CN" sz="2400" i="1">
                <a:solidFill>
                  <a:srgbClr val="000000"/>
                </a:solidFill>
              </a:rPr>
              <a:t>T      </a:t>
            </a:r>
            <a:r>
              <a:rPr lang="en-US" altLang="zh-CN" sz="2400">
                <a:solidFill>
                  <a:srgbClr val="000000"/>
                </a:solidFill>
              </a:rPr>
              <a:t>(Hz)</a:t>
            </a:r>
            <a:endParaRPr lang="en-US" altLang="zh-CN" sz="2400" i="1">
              <a:solidFill>
                <a:srgbClr val="000000"/>
              </a:solidFill>
            </a:endParaRP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86250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4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8" grpId="0" autoUpdateAnimBg="0"/>
      <p:bldP spid="7476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2817813" y="157163"/>
            <a:ext cx="617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抽样的数学模型及实现</a:t>
            </a:r>
          </a:p>
        </p:txBody>
      </p:sp>
      <p:graphicFrame>
        <p:nvGraphicFramePr>
          <p:cNvPr id="79877" name="Object 5"/>
          <p:cNvGraphicFramePr>
            <a:graphicFrameLocks noChangeAspect="1"/>
          </p:cNvGraphicFramePr>
          <p:nvPr/>
        </p:nvGraphicFramePr>
        <p:xfrm>
          <a:off x="4337051" y="1287464"/>
          <a:ext cx="277177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4" name="公式" r:id="rId3" imgW="851073" imgH="228469" progId="Equation.3">
                  <p:embed/>
                </p:oleObj>
              </mc:Choice>
              <mc:Fallback>
                <p:oleObj name="公式" r:id="rId3" imgW="851073" imgH="228469" progId="Equation.3">
                  <p:embed/>
                  <p:pic>
                    <p:nvPicPr>
                      <p:cNvPr id="798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7051" y="1287464"/>
                        <a:ext cx="2771775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9" name="Object 7"/>
          <p:cNvGraphicFramePr>
            <a:graphicFrameLocks noChangeAspect="1"/>
          </p:cNvGraphicFramePr>
          <p:nvPr/>
        </p:nvGraphicFramePr>
        <p:xfrm>
          <a:off x="3314700" y="2185989"/>
          <a:ext cx="4946650" cy="204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5" name="Visio" r:id="rId5" imgW="1786433" imgH="757733" progId="Visio.Drawing.6">
                  <p:embed/>
                </p:oleObj>
              </mc:Choice>
              <mc:Fallback>
                <p:oleObj name="Visio" r:id="rId5" imgW="1786433" imgH="757733" progId="Visio.Drawing.6">
                  <p:embed/>
                  <p:pic>
                    <p:nvPicPr>
                      <p:cNvPr id="798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2185989"/>
                        <a:ext cx="4946650" cy="204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Rectangle 9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79884" name="Object 12"/>
          <p:cNvGraphicFramePr>
            <a:graphicFrameLocks noChangeAspect="1"/>
          </p:cNvGraphicFramePr>
          <p:nvPr/>
        </p:nvGraphicFramePr>
        <p:xfrm>
          <a:off x="3100388" y="4395789"/>
          <a:ext cx="12636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6" name="公式" r:id="rId7" imgW="381148" imgH="164984" progId="Equation.3">
                  <p:embed/>
                </p:oleObj>
              </mc:Choice>
              <mc:Fallback>
                <p:oleObj name="公式" r:id="rId7" imgW="381148" imgH="164984" progId="Equation.3">
                  <p:embed/>
                  <p:pic>
                    <p:nvPicPr>
                      <p:cNvPr id="7988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4395789"/>
                        <a:ext cx="126365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5" name="Object 13"/>
          <p:cNvGraphicFramePr>
            <a:graphicFrameLocks noChangeAspect="1"/>
          </p:cNvGraphicFramePr>
          <p:nvPr/>
        </p:nvGraphicFramePr>
        <p:xfrm>
          <a:off x="6732589" y="4311651"/>
          <a:ext cx="1385887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7" name="公式" r:id="rId9" imgW="419026" imgH="203389" progId="Equation.3">
                  <p:embed/>
                </p:oleObj>
              </mc:Choice>
              <mc:Fallback>
                <p:oleObj name="公式" r:id="rId9" imgW="419026" imgH="203389" progId="Equation.3">
                  <p:embed/>
                  <p:pic>
                    <p:nvPicPr>
                      <p:cNvPr id="7988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9" y="4311651"/>
                        <a:ext cx="1385887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AutoShape 15"/>
          <p:cNvSpPr>
            <a:spLocks noChangeArrowheads="1"/>
          </p:cNvSpPr>
          <p:nvPr/>
        </p:nvSpPr>
        <p:spPr bwMode="auto">
          <a:xfrm>
            <a:off x="7091363" y="3179763"/>
            <a:ext cx="590550" cy="984250"/>
          </a:xfrm>
          <a:prstGeom prst="upDownArrow">
            <a:avLst>
              <a:gd name="adj1" fmla="val 50000"/>
              <a:gd name="adj2" fmla="val 33333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5130" name="AutoShape 16"/>
          <p:cNvSpPr>
            <a:spLocks noChangeArrowheads="1"/>
          </p:cNvSpPr>
          <p:nvPr/>
        </p:nvSpPr>
        <p:spPr bwMode="auto">
          <a:xfrm>
            <a:off x="3444875" y="3157538"/>
            <a:ext cx="590550" cy="984250"/>
          </a:xfrm>
          <a:prstGeom prst="upDownArrow">
            <a:avLst>
              <a:gd name="adj1" fmla="val 50000"/>
              <a:gd name="adj2" fmla="val 33333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5131" name="AutoShape 18"/>
          <p:cNvSpPr>
            <a:spLocks noChangeArrowheads="1"/>
          </p:cNvSpPr>
          <p:nvPr/>
        </p:nvSpPr>
        <p:spPr bwMode="auto">
          <a:xfrm>
            <a:off x="4427538" y="4511676"/>
            <a:ext cx="2305050" cy="346075"/>
          </a:xfrm>
          <a:prstGeom prst="leftRightArrow">
            <a:avLst>
              <a:gd name="adj1" fmla="val 50000"/>
              <a:gd name="adj2" fmla="val 133211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5132" name="Text Box 19"/>
          <p:cNvSpPr txBox="1">
            <a:spLocks noChangeArrowheads="1"/>
          </p:cNvSpPr>
          <p:nvPr/>
        </p:nvSpPr>
        <p:spPr bwMode="auto">
          <a:xfrm>
            <a:off x="5227638" y="3933826"/>
            <a:ext cx="1389062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8800">
                <a:solidFill>
                  <a:srgbClr val="FF3300"/>
                </a:solidFill>
              </a:rPr>
              <a:t>?</a:t>
            </a:r>
          </a:p>
        </p:txBody>
      </p:sp>
      <p:sp>
        <p:nvSpPr>
          <p:cNvPr id="5133" name="Text Box 20"/>
          <p:cNvSpPr txBox="1">
            <a:spLocks noChangeArrowheads="1"/>
          </p:cNvSpPr>
          <p:nvPr/>
        </p:nvSpPr>
        <p:spPr bwMode="auto">
          <a:xfrm>
            <a:off x="3016251" y="5370514"/>
            <a:ext cx="62515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accent2"/>
                </a:solidFill>
              </a:rPr>
              <a:t>在信号的时域抽样过程中，从时域难以看出如何选择合适的抽样间隔</a:t>
            </a:r>
            <a:r>
              <a:rPr lang="en-US" altLang="zh-CN" sz="2400">
                <a:solidFill>
                  <a:schemeClr val="accent2"/>
                </a:solidFill>
              </a:rPr>
              <a:t>T</a:t>
            </a:r>
            <a:r>
              <a:rPr lang="zh-CN" altLang="en-US" sz="2400">
                <a:solidFill>
                  <a:schemeClr val="accent2"/>
                </a:solidFill>
              </a:rPr>
              <a:t>。利用信号时域与频域一一对应的关系，可以从频域分析。</a:t>
            </a:r>
          </a:p>
        </p:txBody>
      </p:sp>
    </p:spTree>
    <p:extLst>
      <p:ext uri="{BB962C8B-B14F-4D97-AF65-F5344CB8AC3E}">
        <p14:creationId xmlns:p14="http://schemas.microsoft.com/office/powerpoint/2010/main" val="20194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2127250" y="4364038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i="1">
                <a:latin typeface="Symbol" panose="05050102010706020507" pitchFamily="18" charset="2"/>
              </a:rPr>
              <a:t>d</a:t>
            </a:r>
            <a:r>
              <a:rPr lang="en-US" altLang="zh-CN" sz="2400" i="1" baseline="-25000"/>
              <a:t>T </a:t>
            </a:r>
            <a:r>
              <a:rPr lang="en-US" altLang="zh-CN" sz="2400"/>
              <a:t>(</a:t>
            </a:r>
            <a:r>
              <a:rPr lang="en-US" altLang="zh-CN" sz="2400" i="1"/>
              <a:t>t</a:t>
            </a:r>
            <a:r>
              <a:rPr lang="en-US" altLang="zh-CN" sz="2400"/>
              <a:t>)</a:t>
            </a:r>
            <a:r>
              <a:rPr lang="zh-CN" altLang="en-US" sz="2400"/>
              <a:t>的</a:t>
            </a:r>
            <a:r>
              <a:rPr lang="en-US" altLang="zh-CN" sz="2400"/>
              <a:t>Fourier</a:t>
            </a:r>
            <a:r>
              <a:rPr lang="zh-CN" altLang="en-US" sz="2400"/>
              <a:t>变换</a:t>
            </a:r>
            <a:r>
              <a:rPr lang="en-US" altLang="zh-CN" sz="2400"/>
              <a:t>:</a:t>
            </a:r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4025900" y="5000625"/>
          <a:ext cx="47307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2" name="公式" r:id="rId3" imgW="1892300" imgH="304800" progId="Equation.3">
                  <p:embed/>
                </p:oleObj>
              </mc:Choice>
              <mc:Fallback>
                <p:oleObj name="公式" r:id="rId3" imgW="1892300" imgH="304800" progId="Equation.3">
                  <p:embed/>
                  <p:pic>
                    <p:nvPicPr>
                      <p:cNvPr id="757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900" y="5000625"/>
                        <a:ext cx="47307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577530"/>
              </p:ext>
            </p:extLst>
          </p:nvPr>
        </p:nvGraphicFramePr>
        <p:xfrm>
          <a:off x="4359275" y="1871663"/>
          <a:ext cx="34639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3" name="Equation" r:id="rId5" imgW="965160" imgH="190440" progId="Equation.DSMT4">
                  <p:embed/>
                </p:oleObj>
              </mc:Choice>
              <mc:Fallback>
                <p:oleObj name="Equation" r:id="rId5" imgW="965160" imgH="190440" progId="Equation.DSMT4">
                  <p:embed/>
                  <p:pic>
                    <p:nvPicPr>
                      <p:cNvPr id="757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275" y="1871663"/>
                        <a:ext cx="346392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9"/>
          <p:cNvGraphicFramePr>
            <a:graphicFrameLocks noChangeAspect="1"/>
          </p:cNvGraphicFramePr>
          <p:nvPr/>
        </p:nvGraphicFramePr>
        <p:xfrm>
          <a:off x="4122739" y="3308350"/>
          <a:ext cx="3146425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4" name="公式" r:id="rId7" imgW="1257300" imgH="368300" progId="Equation.3">
                  <p:embed/>
                </p:oleObj>
              </mc:Choice>
              <mc:Fallback>
                <p:oleObj name="公式" r:id="rId7" imgW="1257300" imgH="368300" progId="Equation.3">
                  <p:embed/>
                  <p:pic>
                    <p:nvPicPr>
                      <p:cNvPr id="615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9" y="3308350"/>
                        <a:ext cx="3146425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10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152" name="Text Box 12"/>
          <p:cNvSpPr txBox="1">
            <a:spLocks noChangeArrowheads="1"/>
          </p:cNvSpPr>
          <p:nvPr/>
        </p:nvSpPr>
        <p:spPr bwMode="auto">
          <a:xfrm>
            <a:off x="2071688" y="152401"/>
            <a:ext cx="8172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 dirty="0"/>
              <a:t>x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频谱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(</a:t>
            </a:r>
            <a:r>
              <a:rPr lang="en-US" altLang="zh-CN" sz="2800" b="1" dirty="0" err="1"/>
              <a:t>j</a:t>
            </a:r>
            <a:r>
              <a:rPr lang="en-US" altLang="zh-CN" sz="2800" b="1" i="1" dirty="0" err="1">
                <a:latin typeface="Symbol" panose="05050102010706020507" pitchFamily="18" charset="2"/>
              </a:rPr>
              <a:t>w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与序列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[</a:t>
            </a:r>
            <a:r>
              <a:rPr lang="en-US" altLang="zh-CN" sz="2800" b="1" i="1" dirty="0"/>
              <a:t>k</a:t>
            </a:r>
            <a:r>
              <a:rPr lang="en-US" altLang="zh-CN" sz="2800" b="1" dirty="0"/>
              <a:t>]</a:t>
            </a:r>
            <a:r>
              <a:rPr lang="zh-CN" altLang="en-US" sz="2800" b="1" dirty="0" smtClean="0"/>
              <a:t>频谱的</a:t>
            </a:r>
            <a:r>
              <a:rPr lang="zh-CN" altLang="en-US" sz="2800" b="1" dirty="0"/>
              <a:t>关系</a:t>
            </a:r>
          </a:p>
        </p:txBody>
      </p:sp>
      <p:sp>
        <p:nvSpPr>
          <p:cNvPr id="75789" name="Text Box 13"/>
          <p:cNvSpPr txBox="1">
            <a:spLocks noChangeArrowheads="1"/>
          </p:cNvSpPr>
          <p:nvPr/>
        </p:nvSpPr>
        <p:spPr bwMode="auto">
          <a:xfrm>
            <a:off x="1895475" y="1238251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引入信号</a:t>
            </a:r>
            <a:r>
              <a:rPr lang="en-US" altLang="zh-CN" sz="2800" i="1" dirty="0" err="1"/>
              <a:t>x</a:t>
            </a:r>
            <a:r>
              <a:rPr lang="en-US" altLang="zh-CN" sz="2800" baseline="-25000" dirty="0" err="1"/>
              <a:t>s</a:t>
            </a:r>
            <a:r>
              <a:rPr lang="en-US" altLang="zh-CN" sz="2800" i="1" baseline="-25000" dirty="0"/>
              <a:t> </a:t>
            </a:r>
            <a:r>
              <a:rPr lang="en-US" altLang="zh-CN" sz="2800" dirty="0"/>
              <a:t>(</a:t>
            </a:r>
            <a:r>
              <a:rPr lang="en-US" altLang="zh-CN" sz="2800" i="1" dirty="0"/>
              <a:t>t</a:t>
            </a:r>
            <a:r>
              <a:rPr lang="en-US" altLang="zh-CN" sz="2800" dirty="0"/>
              <a:t>) :</a:t>
            </a:r>
          </a:p>
        </p:txBody>
      </p:sp>
      <p:sp>
        <p:nvSpPr>
          <p:cNvPr id="75790" name="Text Box 14"/>
          <p:cNvSpPr txBox="1">
            <a:spLocks noChangeArrowheads="1"/>
          </p:cNvSpPr>
          <p:nvPr/>
        </p:nvSpPr>
        <p:spPr bwMode="auto">
          <a:xfrm>
            <a:off x="2151063" y="3055938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其中 </a:t>
            </a:r>
            <a:r>
              <a:rPr lang="en-US" altLang="zh-CN" sz="280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6440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autoUpdateAnimBg="0"/>
      <p:bldP spid="75789" grpId="0" autoUpdateAnimBg="0"/>
      <p:bldP spid="7579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2308755" y="285749"/>
            <a:ext cx="8172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 smtClean="0"/>
              <a:t>引入函数与模拟函数的关系</a:t>
            </a:r>
            <a:endParaRPr lang="zh-CN" altLang="en-US" sz="2800" b="1" dirty="0"/>
          </a:p>
        </p:txBody>
      </p:sp>
      <p:graphicFrame>
        <p:nvGraphicFramePr>
          <p:cNvPr id="76803" name="Object 3"/>
          <p:cNvGraphicFramePr>
            <a:graphicFrameLocks noChangeAspect="1"/>
          </p:cNvGraphicFramePr>
          <p:nvPr/>
        </p:nvGraphicFramePr>
        <p:xfrm>
          <a:off x="2592389" y="1425576"/>
          <a:ext cx="50577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8" name="公式" r:id="rId3" imgW="1841500" imgH="190500" progId="Equation.3">
                  <p:embed/>
                </p:oleObj>
              </mc:Choice>
              <mc:Fallback>
                <p:oleObj name="公式" r:id="rId3" imgW="1841500" imgH="190500" progId="Equation.3">
                  <p:embed/>
                  <p:pic>
                    <p:nvPicPr>
                      <p:cNvPr id="768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9" y="1425576"/>
                        <a:ext cx="50577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4" name="Object 4"/>
          <p:cNvGraphicFramePr>
            <a:graphicFrameLocks noChangeAspect="1"/>
          </p:cNvGraphicFramePr>
          <p:nvPr/>
        </p:nvGraphicFramePr>
        <p:xfrm>
          <a:off x="3922714" y="2219325"/>
          <a:ext cx="3108325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9" name="公式" r:id="rId5" imgW="1244600" imgH="330200" progId="Equation.3">
                  <p:embed/>
                </p:oleObj>
              </mc:Choice>
              <mc:Fallback>
                <p:oleObj name="公式" r:id="rId5" imgW="1244600" imgH="330200" progId="Equation.3">
                  <p:embed/>
                  <p:pic>
                    <p:nvPicPr>
                      <p:cNvPr id="768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4" y="2219325"/>
                        <a:ext cx="3108325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5" name="Object 5"/>
          <p:cNvGraphicFramePr>
            <a:graphicFrameLocks noChangeAspect="1"/>
          </p:cNvGraphicFramePr>
          <p:nvPr/>
        </p:nvGraphicFramePr>
        <p:xfrm>
          <a:off x="3946526" y="3111500"/>
          <a:ext cx="4697413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0" name="公式" r:id="rId7" imgW="1879600" imgH="368300" progId="Equation.3">
                  <p:embed/>
                </p:oleObj>
              </mc:Choice>
              <mc:Fallback>
                <p:oleObj name="公式" r:id="rId7" imgW="1879600" imgH="368300" progId="Equation.3">
                  <p:embed/>
                  <p:pic>
                    <p:nvPicPr>
                      <p:cNvPr id="768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526" y="3111500"/>
                        <a:ext cx="4697413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6" name="Object 6"/>
          <p:cNvGraphicFramePr>
            <a:graphicFrameLocks noChangeAspect="1"/>
          </p:cNvGraphicFramePr>
          <p:nvPr/>
        </p:nvGraphicFramePr>
        <p:xfrm>
          <a:off x="3986214" y="4103688"/>
          <a:ext cx="35194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1" name="公式" r:id="rId9" imgW="1409088" imgH="393529" progId="Equation.3">
                  <p:embed/>
                </p:oleObj>
              </mc:Choice>
              <mc:Fallback>
                <p:oleObj name="公式" r:id="rId9" imgW="1409088" imgH="393529" progId="Equation.3">
                  <p:embed/>
                  <p:pic>
                    <p:nvPicPr>
                      <p:cNvPr id="768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4" y="4103688"/>
                        <a:ext cx="351948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7" name="Object 7"/>
          <p:cNvGraphicFramePr>
            <a:graphicFrameLocks noChangeAspect="1"/>
          </p:cNvGraphicFramePr>
          <p:nvPr/>
        </p:nvGraphicFramePr>
        <p:xfrm>
          <a:off x="2898776" y="5349876"/>
          <a:ext cx="5630863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2" name="公式" r:id="rId11" imgW="1867073" imgH="380913" progId="Equation.3">
                  <p:embed/>
                </p:oleObj>
              </mc:Choice>
              <mc:Fallback>
                <p:oleObj name="公式" r:id="rId11" imgW="1867073" imgH="380913" progId="Equation.3">
                  <p:embed/>
                  <p:pic>
                    <p:nvPicPr>
                      <p:cNvPr id="768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6" y="5349876"/>
                        <a:ext cx="5630863" cy="1173163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Rectangle 8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96347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5616576" y="5149850"/>
          <a:ext cx="15970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4" name="公式" r:id="rId3" imgW="532937" imgH="215713" progId="Equation.3">
                  <p:embed/>
                </p:oleObj>
              </mc:Choice>
              <mc:Fallback>
                <p:oleObj name="公式" r:id="rId3" imgW="532937" imgH="215713" progId="Equation.3">
                  <p:embed/>
                  <p:pic>
                    <p:nvPicPr>
                      <p:cNvPr id="778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576" y="5149850"/>
                        <a:ext cx="15970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8" name="Object 4"/>
          <p:cNvGraphicFramePr>
            <a:graphicFrameLocks noChangeAspect="1"/>
          </p:cNvGraphicFramePr>
          <p:nvPr/>
        </p:nvGraphicFramePr>
        <p:xfrm>
          <a:off x="2346326" y="981075"/>
          <a:ext cx="4652963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5" name="公式" r:id="rId5" imgW="1548728" imgH="266584" progId="Equation.3">
                  <p:embed/>
                </p:oleObj>
              </mc:Choice>
              <mc:Fallback>
                <p:oleObj name="公式" r:id="rId5" imgW="1548728" imgH="266584" progId="Equation.3">
                  <p:embed/>
                  <p:pic>
                    <p:nvPicPr>
                      <p:cNvPr id="778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326" y="981075"/>
                        <a:ext cx="4652963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5"/>
          <p:cNvGraphicFramePr>
            <a:graphicFrameLocks noChangeAspect="1"/>
          </p:cNvGraphicFramePr>
          <p:nvPr/>
        </p:nvGraphicFramePr>
        <p:xfrm>
          <a:off x="3760788" y="1865313"/>
          <a:ext cx="533876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6" name="公式" r:id="rId7" imgW="1778000" imgH="330200" progId="Equation.3">
                  <p:embed/>
                </p:oleObj>
              </mc:Choice>
              <mc:Fallback>
                <p:oleObj name="公式" r:id="rId7" imgW="1778000" imgH="330200" progId="Equation.3">
                  <p:embed/>
                  <p:pic>
                    <p:nvPicPr>
                      <p:cNvPr id="778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0788" y="1865313"/>
                        <a:ext cx="533876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0" name="Object 6"/>
          <p:cNvGraphicFramePr>
            <a:graphicFrameLocks noChangeAspect="1"/>
          </p:cNvGraphicFramePr>
          <p:nvPr/>
        </p:nvGraphicFramePr>
        <p:xfrm>
          <a:off x="3727451" y="3008313"/>
          <a:ext cx="526256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7" name="公式" r:id="rId9" imgW="1752600" imgH="330200" progId="Equation.3">
                  <p:embed/>
                </p:oleObj>
              </mc:Choice>
              <mc:Fallback>
                <p:oleObj name="公式" r:id="rId9" imgW="1752600" imgH="330200" progId="Equation.3">
                  <p:embed/>
                  <p:pic>
                    <p:nvPicPr>
                      <p:cNvPr id="778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1" y="3008313"/>
                        <a:ext cx="526256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1" name="Object 7"/>
          <p:cNvGraphicFramePr>
            <a:graphicFrameLocks noChangeAspect="1"/>
          </p:cNvGraphicFramePr>
          <p:nvPr/>
        </p:nvGraphicFramePr>
        <p:xfrm>
          <a:off x="3698876" y="4229100"/>
          <a:ext cx="2708275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8" name="公式" r:id="rId11" imgW="901309" imgH="304668" progId="Equation.3">
                  <p:embed/>
                </p:oleObj>
              </mc:Choice>
              <mc:Fallback>
                <p:oleObj name="公式" r:id="rId11" imgW="901309" imgH="304668" progId="Equation.3">
                  <p:embed/>
                  <p:pic>
                    <p:nvPicPr>
                      <p:cNvPr id="778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76" y="4229100"/>
                        <a:ext cx="2708275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2" name="Object 8"/>
          <p:cNvGraphicFramePr>
            <a:graphicFrameLocks noChangeAspect="1"/>
          </p:cNvGraphicFramePr>
          <p:nvPr/>
        </p:nvGraphicFramePr>
        <p:xfrm>
          <a:off x="3695700" y="5180014"/>
          <a:ext cx="18288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9" name="公式" r:id="rId13" imgW="609336" imgH="215806" progId="Equation.3">
                  <p:embed/>
                </p:oleObj>
              </mc:Choice>
              <mc:Fallback>
                <p:oleObj name="公式" r:id="rId13" imgW="609336" imgH="215806" progId="Equation.3">
                  <p:embed/>
                  <p:pic>
                    <p:nvPicPr>
                      <p:cNvPr id="778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5180014"/>
                        <a:ext cx="182880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Rectangle 10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202" name="Text Box 11"/>
          <p:cNvSpPr txBox="1">
            <a:spLocks noChangeArrowheads="1"/>
          </p:cNvSpPr>
          <p:nvPr/>
        </p:nvSpPr>
        <p:spPr bwMode="auto">
          <a:xfrm>
            <a:off x="1981200" y="288131"/>
            <a:ext cx="8172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 smtClean="0"/>
              <a:t>引入函数与序列频谱关系</a:t>
            </a:r>
            <a:endParaRPr lang="zh-CN" altLang="en-US" sz="2800" b="1" dirty="0"/>
          </a:p>
        </p:txBody>
      </p:sp>
      <p:graphicFrame>
        <p:nvGraphicFramePr>
          <p:cNvPr id="77836" name="Object 12"/>
          <p:cNvGraphicFramePr>
            <a:graphicFrameLocks noChangeAspect="1"/>
          </p:cNvGraphicFramePr>
          <p:nvPr/>
        </p:nvGraphicFramePr>
        <p:xfrm>
          <a:off x="4608513" y="6054726"/>
          <a:ext cx="140811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30" name="公式" r:id="rId15" imgW="457299" imgH="139511" progId="Equation.3">
                  <p:embed/>
                </p:oleObj>
              </mc:Choice>
              <mc:Fallback>
                <p:oleObj name="公式" r:id="rId15" imgW="457299" imgH="139511" progId="Equation.3">
                  <p:embed/>
                  <p:pic>
                    <p:nvPicPr>
                      <p:cNvPr id="778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13" y="6054726"/>
                        <a:ext cx="1408112" cy="45402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549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graphicFrame>
        <p:nvGraphicFramePr>
          <p:cNvPr id="9219" name="Object 4"/>
          <p:cNvGraphicFramePr>
            <a:graphicFrameLocks noChangeAspect="1"/>
          </p:cNvGraphicFramePr>
          <p:nvPr/>
        </p:nvGraphicFramePr>
        <p:xfrm>
          <a:off x="7172326" y="1571625"/>
          <a:ext cx="15970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8" name="公式" r:id="rId3" imgW="532937" imgH="215713" progId="Equation.3">
                  <p:embed/>
                </p:oleObj>
              </mc:Choice>
              <mc:Fallback>
                <p:oleObj name="公式" r:id="rId3" imgW="532937" imgH="215713" progId="Equation.3">
                  <p:embed/>
                  <p:pic>
                    <p:nvPicPr>
                      <p:cNvPr id="921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2326" y="1571625"/>
                        <a:ext cx="15970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6"/>
          <p:cNvGraphicFramePr>
            <a:graphicFrameLocks noChangeAspect="1"/>
          </p:cNvGraphicFramePr>
          <p:nvPr/>
        </p:nvGraphicFramePr>
        <p:xfrm>
          <a:off x="2468564" y="1458913"/>
          <a:ext cx="469423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9" name="公式" r:id="rId5" imgW="1867073" imgH="380913" progId="Equation.3">
                  <p:embed/>
                </p:oleObj>
              </mc:Choice>
              <mc:Fallback>
                <p:oleObj name="公式" r:id="rId5" imgW="1867073" imgH="380913" progId="Equation.3">
                  <p:embed/>
                  <p:pic>
                    <p:nvPicPr>
                      <p:cNvPr id="922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4" y="1458913"/>
                        <a:ext cx="469423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Rectangle 10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222" name="Text Box 11"/>
          <p:cNvSpPr txBox="1">
            <a:spLocks noChangeArrowheads="1"/>
          </p:cNvSpPr>
          <p:nvPr/>
        </p:nvSpPr>
        <p:spPr bwMode="auto">
          <a:xfrm>
            <a:off x="2071688" y="152401"/>
            <a:ext cx="8172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/>
              <a:t>x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</a:t>
            </a:r>
            <a:r>
              <a:rPr lang="zh-CN" altLang="en-US" sz="2800" b="1"/>
              <a:t>频谱</a:t>
            </a:r>
            <a:r>
              <a:rPr lang="en-US" altLang="zh-CN" sz="2800" b="1" i="1"/>
              <a:t>X</a:t>
            </a:r>
            <a:r>
              <a:rPr lang="en-US" altLang="zh-CN" sz="2800" b="1"/>
              <a:t>(j</a:t>
            </a:r>
            <a:r>
              <a:rPr lang="en-US" altLang="zh-CN" sz="2800" b="1" i="1">
                <a:latin typeface="Symbol" panose="05050102010706020507" pitchFamily="18" charset="2"/>
              </a:rPr>
              <a:t>w</a:t>
            </a:r>
            <a:r>
              <a:rPr lang="en-US" altLang="zh-CN" sz="2800" b="1"/>
              <a:t>)</a:t>
            </a:r>
            <a:r>
              <a:rPr lang="zh-CN" altLang="en-US" sz="2800" b="1"/>
              <a:t>与序列</a:t>
            </a:r>
            <a:r>
              <a:rPr lang="en-US" altLang="zh-CN" sz="2800" b="1" i="1"/>
              <a:t>x</a:t>
            </a:r>
            <a:r>
              <a:rPr lang="en-US" altLang="zh-CN" sz="2800" b="1"/>
              <a:t>[</a:t>
            </a:r>
            <a:r>
              <a:rPr lang="en-US" altLang="zh-CN" sz="2800" b="1" i="1"/>
              <a:t>k</a:t>
            </a:r>
            <a:r>
              <a:rPr lang="en-US" altLang="zh-CN" sz="2800" b="1"/>
              <a:t>]</a:t>
            </a:r>
            <a:r>
              <a:rPr lang="zh-CN" altLang="en-US" sz="2800" b="1"/>
              <a:t>频谱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s</a:t>
            </a:r>
            <a:r>
              <a:rPr lang="en-US" altLang="zh-CN" sz="2800" b="1"/>
              <a:t>(j</a:t>
            </a:r>
            <a:r>
              <a:rPr lang="en-US" altLang="zh-CN" sz="2800" b="1">
                <a:latin typeface="Symbol" panose="05050102010706020507" pitchFamily="18" charset="2"/>
              </a:rPr>
              <a:t>w</a:t>
            </a:r>
            <a:r>
              <a:rPr lang="en-US" altLang="zh-CN" sz="2800" b="1"/>
              <a:t>)</a:t>
            </a:r>
            <a:r>
              <a:rPr lang="zh-CN" altLang="en-US" sz="2800" b="1"/>
              <a:t>的关系</a:t>
            </a:r>
          </a:p>
        </p:txBody>
      </p:sp>
      <p:sp>
        <p:nvSpPr>
          <p:cNvPr id="9223" name="Text Box 12"/>
          <p:cNvSpPr txBox="1">
            <a:spLocks noChangeArrowheads="1"/>
          </p:cNvSpPr>
          <p:nvPr/>
        </p:nvSpPr>
        <p:spPr bwMode="auto">
          <a:xfrm>
            <a:off x="2447926" y="3681413"/>
            <a:ext cx="7432675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3300"/>
                </a:solidFill>
              </a:rPr>
              <a:t>信号的时域离散化导致信号频域的周期化。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3300"/>
                </a:solidFill>
              </a:rPr>
              <a:t>周期为</a:t>
            </a:r>
            <a:r>
              <a:rPr lang="en-US" altLang="zh-CN" sz="2800" i="1">
                <a:solidFill>
                  <a:srgbClr val="FF3300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2800" baseline="-25000">
                <a:solidFill>
                  <a:srgbClr val="FF3300"/>
                </a:solidFill>
              </a:rPr>
              <a:t>sam</a:t>
            </a:r>
            <a:r>
              <a:rPr lang="en-US" altLang="zh-CN" sz="2800" i="1">
                <a:solidFill>
                  <a:srgbClr val="FF3300"/>
                </a:solidFill>
                <a:latin typeface="Symbol" panose="05050102010706020507" pitchFamily="18" charset="2"/>
              </a:rPr>
              <a:t>=</a:t>
            </a:r>
            <a:r>
              <a:rPr lang="en-US" altLang="zh-CN" sz="2800">
                <a:solidFill>
                  <a:srgbClr val="FF3300"/>
                </a:solidFill>
                <a:latin typeface="Symbol" panose="05050102010706020507" pitchFamily="18" charset="2"/>
              </a:rPr>
              <a:t>2p</a:t>
            </a:r>
            <a:r>
              <a:rPr lang="en-US" altLang="zh-CN" sz="2800" i="1">
                <a:solidFill>
                  <a:srgbClr val="FF3300"/>
                </a:solidFill>
                <a:latin typeface="Symbol" panose="05050102010706020507" pitchFamily="18" charset="2"/>
              </a:rPr>
              <a:t>/T</a:t>
            </a:r>
            <a:r>
              <a:rPr lang="zh-CN" altLang="en-US" sz="2800">
                <a:solidFill>
                  <a:srgbClr val="FF3300"/>
                </a:solidFill>
              </a:rPr>
              <a:t>，其与抽样间隔</a:t>
            </a:r>
            <a:r>
              <a:rPr lang="en-US" altLang="zh-CN" sz="2800" i="1">
                <a:solidFill>
                  <a:srgbClr val="FF3300"/>
                </a:solidFill>
              </a:rPr>
              <a:t>T</a:t>
            </a:r>
            <a:r>
              <a:rPr lang="zh-CN" altLang="en-US" sz="2800">
                <a:solidFill>
                  <a:srgbClr val="FF3300"/>
                </a:solidFill>
              </a:rPr>
              <a:t>成反比。</a:t>
            </a:r>
          </a:p>
        </p:txBody>
      </p:sp>
    </p:spTree>
    <p:extLst>
      <p:ext uri="{BB962C8B-B14F-4D97-AF65-F5344CB8AC3E}">
        <p14:creationId xmlns:p14="http://schemas.microsoft.com/office/powerpoint/2010/main" val="387274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057400" y="1524000"/>
            <a:ext cx="7848600" cy="140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i="1"/>
              <a:t>X</a:t>
            </a:r>
            <a:r>
              <a:rPr lang="en-US" altLang="zh-CN"/>
              <a:t>(j</a:t>
            </a:r>
            <a:r>
              <a:rPr lang="en-US" altLang="zh-CN" i="1">
                <a:latin typeface="Symbol" panose="05050102010706020507" pitchFamily="18" charset="2"/>
              </a:rPr>
              <a:t>w</a:t>
            </a:r>
            <a:r>
              <a:rPr lang="en-US" altLang="zh-CN"/>
              <a:t>)=0   |</a:t>
            </a:r>
            <a:r>
              <a:rPr lang="en-US" altLang="zh-CN" i="1">
                <a:latin typeface="Symbol" panose="05050102010706020507" pitchFamily="18" charset="2"/>
              </a:rPr>
              <a:t>w</a:t>
            </a:r>
            <a:r>
              <a:rPr lang="en-US" altLang="zh-CN"/>
              <a:t>|&gt;</a:t>
            </a:r>
            <a:r>
              <a:rPr lang="en-US" altLang="zh-CN" i="1">
                <a:latin typeface="Symbol" panose="05050102010706020507" pitchFamily="18" charset="2"/>
              </a:rPr>
              <a:t>w</a:t>
            </a:r>
            <a:r>
              <a:rPr lang="en-US" altLang="zh-CN" baseline="-25000"/>
              <a:t>m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600">
                <a:latin typeface="宋体" panose="02010600030101010101" pitchFamily="2" charset="-122"/>
              </a:rPr>
              <a:t>称为</a:t>
            </a:r>
            <a:r>
              <a:rPr lang="en-US" altLang="zh-CN" i="1">
                <a:latin typeface="Symbol" panose="05050102010706020507" pitchFamily="18" charset="2"/>
              </a:rPr>
              <a:t>w</a:t>
            </a:r>
            <a:r>
              <a:rPr lang="en-US" altLang="zh-CN" baseline="-25000"/>
              <a:t>m</a:t>
            </a:r>
            <a:r>
              <a:rPr lang="en-US" altLang="zh-CN" sz="3600">
                <a:latin typeface="宋体" panose="02010600030101010101" pitchFamily="2" charset="-122"/>
              </a:rPr>
              <a:t> </a:t>
            </a:r>
            <a:r>
              <a:rPr lang="zh-CN" altLang="en-US" sz="3600">
                <a:latin typeface="宋体" panose="02010600030101010101" pitchFamily="2" charset="-122"/>
              </a:rPr>
              <a:t>为信号的最高</a:t>
            </a:r>
            <a:r>
              <a:rPr lang="en-US" altLang="zh-CN" sz="3600">
                <a:latin typeface="宋体" panose="02010600030101010101" pitchFamily="2" charset="-122"/>
              </a:rPr>
              <a:t>(</a:t>
            </a:r>
            <a:r>
              <a:rPr lang="zh-CN" altLang="en-US" sz="3600">
                <a:latin typeface="宋体" panose="02010600030101010101" pitchFamily="2" charset="-122"/>
              </a:rPr>
              <a:t>角</a:t>
            </a:r>
            <a:r>
              <a:rPr lang="en-US" altLang="zh-CN" sz="3600">
                <a:latin typeface="宋体" panose="02010600030101010101" pitchFamily="2" charset="-122"/>
              </a:rPr>
              <a:t>)</a:t>
            </a:r>
            <a:r>
              <a:rPr lang="zh-CN" altLang="en-US" sz="3600">
                <a:latin typeface="宋体" panose="02010600030101010101" pitchFamily="2" charset="-122"/>
              </a:rPr>
              <a:t>频率。</a:t>
            </a:r>
            <a:r>
              <a:rPr lang="en-US" altLang="zh-CN" sz="3600" b="1" i="1">
                <a:solidFill>
                  <a:schemeClr val="bg1"/>
                </a:solidFill>
                <a:cs typeface="Times New Roman" panose="02020603050405020304" pitchFamily="18" charset="0"/>
              </a:rPr>
              <a:t>ω</a:t>
            </a:r>
            <a:r>
              <a:rPr lang="en-US" altLang="zh-CN" sz="3600" b="1" baseline="-25000">
                <a:solidFill>
                  <a:schemeClr val="bg1"/>
                </a:solidFill>
                <a:ea typeface="黑体" panose="02010609060101010101" pitchFamily="49" charset="-122"/>
              </a:rPr>
              <a:t>m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4343400" y="3067050"/>
          <a:ext cx="295275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6" name="Visio" r:id="rId3" imgW="1208837" imgH="1020470" progId="Visio.Drawing.6">
                  <p:embed/>
                </p:oleObj>
              </mc:Choice>
              <mc:Fallback>
                <p:oleObj name="Visio" r:id="rId3" imgW="1208837" imgH="1020470" progId="Visio.Drawing.6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067050"/>
                        <a:ext cx="295275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1926" name="Text Box 6"/>
          <p:cNvSpPr txBox="1">
            <a:spLocks noChangeArrowheads="1"/>
          </p:cNvSpPr>
          <p:nvPr/>
        </p:nvSpPr>
        <p:spPr bwMode="auto">
          <a:xfrm>
            <a:off x="3617913" y="160338"/>
            <a:ext cx="5294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/>
              <a:t>抽样间隔</a:t>
            </a:r>
            <a:r>
              <a:rPr lang="en-US" altLang="zh-CN" sz="2800" b="1"/>
              <a:t>T</a:t>
            </a:r>
            <a:r>
              <a:rPr lang="zh-CN" altLang="en-US" sz="2800" b="1"/>
              <a:t>对抽样过程的影响</a:t>
            </a:r>
          </a:p>
        </p:txBody>
      </p:sp>
    </p:spTree>
    <p:extLst>
      <p:ext uri="{BB962C8B-B14F-4D97-AF65-F5344CB8AC3E}">
        <p14:creationId xmlns:p14="http://schemas.microsoft.com/office/powerpoint/2010/main" val="83260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11267" name="Text Box 2"/>
          <p:cNvSpPr txBox="1">
            <a:spLocks noChangeArrowheads="1"/>
          </p:cNvSpPr>
          <p:nvPr/>
        </p:nvSpPr>
        <p:spPr bwMode="auto">
          <a:xfrm>
            <a:off x="2457450" y="123825"/>
            <a:ext cx="767715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例</a:t>
            </a:r>
            <a:r>
              <a:rPr lang="en-US" altLang="zh-CN" sz="2800"/>
              <a:t>:  </a:t>
            </a:r>
            <a:r>
              <a:rPr lang="zh-CN" altLang="en-US" sz="2800"/>
              <a:t>已知某带限信号抽样信号</a:t>
            </a:r>
            <a:r>
              <a:rPr lang="en-US" altLang="zh-CN" sz="2800" i="1"/>
              <a:t>x</a:t>
            </a:r>
            <a:r>
              <a:rPr lang="en-US" altLang="zh-CN" sz="2800"/>
              <a:t>(</a:t>
            </a:r>
            <a:r>
              <a:rPr lang="en-US" altLang="zh-CN" sz="2800" i="1"/>
              <a:t>t</a:t>
            </a:r>
            <a:r>
              <a:rPr lang="en-US" altLang="zh-CN" sz="2800"/>
              <a:t>)</a:t>
            </a:r>
            <a:r>
              <a:rPr lang="zh-CN" altLang="en-US" sz="2800"/>
              <a:t>的频谱如图所示， 试分别抽样角频率</a:t>
            </a:r>
            <a:r>
              <a:rPr lang="en-US" altLang="zh-CN" sz="2800" i="1">
                <a:latin typeface="Symbol" panose="05050102010706020507" pitchFamily="18" charset="2"/>
              </a:rPr>
              <a:t>w</a:t>
            </a:r>
            <a:r>
              <a:rPr lang="en-US" altLang="zh-CN" sz="2800" baseline="-25000"/>
              <a:t>sam</a:t>
            </a:r>
            <a:r>
              <a:rPr lang="en-US" altLang="zh-CN" sz="2800"/>
              <a:t>=2.5</a:t>
            </a:r>
            <a:r>
              <a:rPr lang="en-US" altLang="zh-CN" sz="2800" i="1">
                <a:latin typeface="Symbol" panose="05050102010706020507" pitchFamily="18" charset="2"/>
              </a:rPr>
              <a:t>w</a:t>
            </a:r>
            <a:r>
              <a:rPr lang="en-US" altLang="zh-CN" sz="2800" baseline="-25000"/>
              <a:t>m</a:t>
            </a:r>
            <a:r>
              <a:rPr lang="en-US" altLang="zh-CN" sz="2800"/>
              <a:t>, 2</a:t>
            </a:r>
            <a:r>
              <a:rPr lang="en-US" altLang="zh-CN" sz="2800" i="1">
                <a:latin typeface="Symbol" panose="05050102010706020507" pitchFamily="18" charset="2"/>
              </a:rPr>
              <a:t>w</a:t>
            </a:r>
            <a:r>
              <a:rPr lang="en-US" altLang="zh-CN" sz="2800" baseline="-25000"/>
              <a:t>m </a:t>
            </a:r>
            <a:r>
              <a:rPr lang="en-US" altLang="zh-CN" sz="2800"/>
              <a:t>, 1.6</a:t>
            </a:r>
            <a:r>
              <a:rPr lang="en-US" altLang="zh-CN" sz="2800" i="1">
                <a:latin typeface="Symbol" panose="05050102010706020507" pitchFamily="18" charset="2"/>
              </a:rPr>
              <a:t>w</a:t>
            </a:r>
            <a:r>
              <a:rPr lang="en-US" altLang="zh-CN" sz="2800" baseline="-25000"/>
              <a:t>m</a:t>
            </a:r>
            <a:r>
              <a:rPr lang="zh-CN" altLang="zh-CN" sz="2800"/>
              <a:t>抽样时，抽样后离散序列</a:t>
            </a:r>
            <a:r>
              <a:rPr lang="en-US" altLang="zh-CN" sz="2800" i="1"/>
              <a:t>x</a:t>
            </a:r>
            <a:r>
              <a:rPr lang="en-US" altLang="zh-CN" sz="2800"/>
              <a:t>[</a:t>
            </a:r>
            <a:r>
              <a:rPr lang="en-US" altLang="zh-CN" sz="2800" i="1"/>
              <a:t>k</a:t>
            </a:r>
            <a:r>
              <a:rPr lang="en-US" altLang="zh-CN" sz="2800"/>
              <a:t>]</a:t>
            </a:r>
            <a:r>
              <a:rPr lang="zh-CN" altLang="zh-CN" sz="2800"/>
              <a:t>的频谱。</a:t>
            </a:r>
            <a:endParaRPr lang="zh-CN" altLang="en-US" sz="2800"/>
          </a:p>
        </p:txBody>
      </p:sp>
      <p:graphicFrame>
        <p:nvGraphicFramePr>
          <p:cNvPr id="11268" name="Object 3"/>
          <p:cNvGraphicFramePr>
            <a:graphicFrameLocks noChangeAspect="1"/>
          </p:cNvGraphicFramePr>
          <p:nvPr/>
        </p:nvGraphicFramePr>
        <p:xfrm>
          <a:off x="4914900" y="1739900"/>
          <a:ext cx="23622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0" name="Visio" r:id="rId3" imgW="1208837" imgH="1020470" progId="Visio.Drawing.6">
                  <p:embed/>
                </p:oleObj>
              </mc:Choice>
              <mc:Fallback>
                <p:oleObj name="Visio" r:id="rId3" imgW="1208837" imgH="1020470" progId="Visio.Drawing.6">
                  <p:embed/>
                  <p:pic>
                    <p:nvPicPr>
                      <p:cNvPr id="1126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0" y="1739900"/>
                        <a:ext cx="23622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948" name="Group 4"/>
          <p:cNvGrpSpPr>
            <a:grpSpLocks/>
          </p:cNvGrpSpPr>
          <p:nvPr/>
        </p:nvGrpSpPr>
        <p:grpSpPr bwMode="auto">
          <a:xfrm>
            <a:off x="1828801" y="3181351"/>
            <a:ext cx="2257425" cy="849313"/>
            <a:chOff x="192" y="2004"/>
            <a:chExt cx="1422" cy="535"/>
          </a:xfrm>
        </p:grpSpPr>
        <p:graphicFrame>
          <p:nvGraphicFramePr>
            <p:cNvPr id="11275" name="Object 5"/>
            <p:cNvGraphicFramePr>
              <a:graphicFrameLocks noChangeAspect="1"/>
            </p:cNvGraphicFramePr>
            <p:nvPr/>
          </p:nvGraphicFramePr>
          <p:xfrm>
            <a:off x="652" y="2285"/>
            <a:ext cx="962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51" name="公式" r:id="rId5" imgW="761669" imgH="203112" progId="Equation.3">
                    <p:embed/>
                  </p:oleObj>
                </mc:Choice>
                <mc:Fallback>
                  <p:oleObj name="公式" r:id="rId5" imgW="761669" imgH="203112" progId="Equation.3">
                    <p:embed/>
                    <p:pic>
                      <p:nvPicPr>
                        <p:cNvPr id="1127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" y="2285"/>
                          <a:ext cx="962" cy="254"/>
                        </a:xfrm>
                        <a:prstGeom prst="rect">
                          <a:avLst/>
                        </a:prstGeom>
                        <a:solidFill>
                          <a:srgbClr val="99CC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6" name="Text Box 6"/>
            <p:cNvSpPr txBox="1">
              <a:spLocks noChangeArrowheads="1"/>
            </p:cNvSpPr>
            <p:nvPr/>
          </p:nvSpPr>
          <p:spPr bwMode="auto">
            <a:xfrm>
              <a:off x="192" y="2004"/>
              <a:ext cx="6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/>
                <a:t>解：</a:t>
              </a:r>
            </a:p>
          </p:txBody>
        </p:sp>
      </p:grpSp>
      <p:graphicFrame>
        <p:nvGraphicFramePr>
          <p:cNvPr id="82951" name="Object 7"/>
          <p:cNvGraphicFramePr>
            <a:graphicFrameLocks noChangeAspect="1"/>
          </p:cNvGraphicFramePr>
          <p:nvPr/>
        </p:nvGraphicFramePr>
        <p:xfrm>
          <a:off x="4748213" y="3532188"/>
          <a:ext cx="32829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2" name="公式" r:id="rId7" imgW="1637589" imgH="431613" progId="Equation.3">
                  <p:embed/>
                </p:oleObj>
              </mc:Choice>
              <mc:Fallback>
                <p:oleObj name="公式" r:id="rId7" imgW="1637589" imgH="431613" progId="Equation.3">
                  <p:embed/>
                  <p:pic>
                    <p:nvPicPr>
                      <p:cNvPr id="829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8213" y="3532188"/>
                        <a:ext cx="328295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2" name="Object 8"/>
          <p:cNvGraphicFramePr>
            <a:graphicFrameLocks noChangeAspect="1"/>
          </p:cNvGraphicFramePr>
          <p:nvPr/>
        </p:nvGraphicFramePr>
        <p:xfrm>
          <a:off x="2965451" y="4608513"/>
          <a:ext cx="5815013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3" name="Visio" r:id="rId9" imgW="2908402" imgH="1108862" progId="Visio.Drawing.6">
                  <p:embed/>
                </p:oleObj>
              </mc:Choice>
              <mc:Fallback>
                <p:oleObj name="Visio" r:id="rId9" imgW="2908402" imgH="1108862" progId="Visio.Drawing.6">
                  <p:embed/>
                  <p:pic>
                    <p:nvPicPr>
                      <p:cNvPr id="829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1" y="4608513"/>
                        <a:ext cx="5815013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3" name="Object 9"/>
          <p:cNvGraphicFramePr>
            <a:graphicFrameLocks noChangeAspect="1"/>
          </p:cNvGraphicFramePr>
          <p:nvPr/>
        </p:nvGraphicFramePr>
        <p:xfrm>
          <a:off x="6670676" y="5413376"/>
          <a:ext cx="131762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4" name="Visio" r:id="rId11" imgW="659892" imgH="355092" progId="Visio.Drawing.6">
                  <p:embed/>
                </p:oleObj>
              </mc:Choice>
              <mc:Fallback>
                <p:oleObj name="Visio" r:id="rId11" imgW="659892" imgH="355092" progId="Visio.Drawing.6">
                  <p:embed/>
                  <p:pic>
                    <p:nvPicPr>
                      <p:cNvPr id="829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0676" y="5413376"/>
                        <a:ext cx="1317625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4" name="Object 10"/>
          <p:cNvGraphicFramePr>
            <a:graphicFrameLocks noChangeAspect="1"/>
          </p:cNvGraphicFramePr>
          <p:nvPr/>
        </p:nvGraphicFramePr>
        <p:xfrm>
          <a:off x="3603626" y="5413376"/>
          <a:ext cx="131762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5" name="Visio" r:id="rId13" imgW="659892" imgH="355092" progId="Visio.Drawing.6">
                  <p:embed/>
                </p:oleObj>
              </mc:Choice>
              <mc:Fallback>
                <p:oleObj name="Visio" r:id="rId13" imgW="659892" imgH="355092" progId="Visio.Drawing.6">
                  <p:embed/>
                  <p:pic>
                    <p:nvPicPr>
                      <p:cNvPr id="829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26" y="5413376"/>
                        <a:ext cx="1317625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Rectangle 11"/>
          <p:cNvSpPr>
            <a:spLocks noChangeArrowheads="1"/>
          </p:cNvSpPr>
          <p:nvPr/>
        </p:nvSpPr>
        <p:spPr bwMode="auto">
          <a:xfrm>
            <a:off x="1676400" y="1525588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88999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2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2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2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2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graphicFrame>
        <p:nvGraphicFramePr>
          <p:cNvPr id="12291" name="Object 2"/>
          <p:cNvGraphicFramePr>
            <a:graphicFrameLocks noChangeAspect="1"/>
          </p:cNvGraphicFramePr>
          <p:nvPr/>
        </p:nvGraphicFramePr>
        <p:xfrm>
          <a:off x="2474914" y="122239"/>
          <a:ext cx="13239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4" name="公式" r:id="rId3" imgW="660113" imgH="203112" progId="Equation.3">
                  <p:embed/>
                </p:oleObj>
              </mc:Choice>
              <mc:Fallback>
                <p:oleObj name="公式" r:id="rId3" imgW="660113" imgH="203112" progId="Equation.3">
                  <p:embed/>
                  <p:pic>
                    <p:nvPicPr>
                      <p:cNvPr id="1229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4" y="122239"/>
                        <a:ext cx="1323975" cy="40322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1" name="Object 3"/>
          <p:cNvGraphicFramePr>
            <a:graphicFrameLocks noChangeAspect="1"/>
          </p:cNvGraphicFramePr>
          <p:nvPr/>
        </p:nvGraphicFramePr>
        <p:xfrm>
          <a:off x="4418013" y="26988"/>
          <a:ext cx="2722562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5" name="公式" r:id="rId5" imgW="1358310" imgH="431613" progId="Equation.3">
                  <p:embed/>
                </p:oleObj>
              </mc:Choice>
              <mc:Fallback>
                <p:oleObj name="公式" r:id="rId5" imgW="1358310" imgH="431613" progId="Equation.3">
                  <p:embed/>
                  <p:pic>
                    <p:nvPicPr>
                      <p:cNvPr id="839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13" y="26988"/>
                        <a:ext cx="2722562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2" name="Object 4"/>
          <p:cNvGraphicFramePr>
            <a:graphicFrameLocks noChangeAspect="1"/>
          </p:cNvGraphicFramePr>
          <p:nvPr/>
        </p:nvGraphicFramePr>
        <p:xfrm>
          <a:off x="3136901" y="635001"/>
          <a:ext cx="5815013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6" name="Visio" r:id="rId7" imgW="2908402" imgH="823874" progId="Visio.Drawing.6">
                  <p:embed/>
                </p:oleObj>
              </mc:Choice>
              <mc:Fallback>
                <p:oleObj name="Visio" r:id="rId7" imgW="2908402" imgH="823874" progId="Visio.Drawing.6">
                  <p:embed/>
                  <p:pic>
                    <p:nvPicPr>
                      <p:cNvPr id="839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1" y="635001"/>
                        <a:ext cx="5815013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5"/>
          <p:cNvGraphicFramePr>
            <a:graphicFrameLocks noChangeAspect="1"/>
          </p:cNvGraphicFramePr>
          <p:nvPr/>
        </p:nvGraphicFramePr>
        <p:xfrm>
          <a:off x="3695700" y="1184276"/>
          <a:ext cx="15621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7" name="Visio" r:id="rId9" imgW="781812" imgH="355092" progId="Visio.Drawing.6">
                  <p:embed/>
                </p:oleObj>
              </mc:Choice>
              <mc:Fallback>
                <p:oleObj name="Visio" r:id="rId9" imgW="781812" imgH="355092" progId="Visio.Drawing.6">
                  <p:embed/>
                  <p:pic>
                    <p:nvPicPr>
                      <p:cNvPr id="839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1184276"/>
                        <a:ext cx="156210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4" name="Object 6"/>
          <p:cNvGraphicFramePr>
            <a:graphicFrameLocks noChangeAspect="1"/>
          </p:cNvGraphicFramePr>
          <p:nvPr/>
        </p:nvGraphicFramePr>
        <p:xfrm>
          <a:off x="6686550" y="1184276"/>
          <a:ext cx="15621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8" name="Visio" r:id="rId11" imgW="781812" imgH="355092" progId="Visio.Drawing.6">
                  <p:embed/>
                </p:oleObj>
              </mc:Choice>
              <mc:Fallback>
                <p:oleObj name="Visio" r:id="rId11" imgW="781812" imgH="355092" progId="Visio.Drawing.6">
                  <p:embed/>
                  <p:pic>
                    <p:nvPicPr>
                      <p:cNvPr id="839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6550" y="1184276"/>
                        <a:ext cx="156210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5" name="Object 7"/>
          <p:cNvGraphicFramePr>
            <a:graphicFrameLocks noChangeAspect="1"/>
          </p:cNvGraphicFramePr>
          <p:nvPr/>
        </p:nvGraphicFramePr>
        <p:xfrm>
          <a:off x="2524126" y="2484439"/>
          <a:ext cx="150336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9" name="公式" r:id="rId13" imgW="748975" imgH="203112" progId="Equation.3">
                  <p:embed/>
                </p:oleObj>
              </mc:Choice>
              <mc:Fallback>
                <p:oleObj name="公式" r:id="rId13" imgW="748975" imgH="203112" progId="Equation.3">
                  <p:embed/>
                  <p:pic>
                    <p:nvPicPr>
                      <p:cNvPr id="839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6" y="2484439"/>
                        <a:ext cx="1503363" cy="40322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6" name="Object 8"/>
          <p:cNvGraphicFramePr>
            <a:graphicFrameLocks noChangeAspect="1"/>
          </p:cNvGraphicFramePr>
          <p:nvPr/>
        </p:nvGraphicFramePr>
        <p:xfrm>
          <a:off x="4281488" y="2332038"/>
          <a:ext cx="33591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10" name="公式" r:id="rId15" imgW="1676400" imgH="431800" progId="Equation.3">
                  <p:embed/>
                </p:oleObj>
              </mc:Choice>
              <mc:Fallback>
                <p:oleObj name="公式" r:id="rId15" imgW="1676400" imgH="431800" progId="Equation.3">
                  <p:embed/>
                  <p:pic>
                    <p:nvPicPr>
                      <p:cNvPr id="839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1488" y="2332038"/>
                        <a:ext cx="335915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7" name="Object 9"/>
          <p:cNvGraphicFramePr>
            <a:graphicFrameLocks noChangeAspect="1"/>
          </p:cNvGraphicFramePr>
          <p:nvPr/>
        </p:nvGraphicFramePr>
        <p:xfrm>
          <a:off x="3060701" y="3051175"/>
          <a:ext cx="5815013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11" name="Visio" r:id="rId17" imgW="2908402" imgH="985114" progId="Visio.Drawing.6">
                  <p:embed/>
                </p:oleObj>
              </mc:Choice>
              <mc:Fallback>
                <p:oleObj name="Visio" r:id="rId17" imgW="2908402" imgH="985114" progId="Visio.Drawing.6">
                  <p:embed/>
                  <p:pic>
                    <p:nvPicPr>
                      <p:cNvPr id="8397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1" y="3051175"/>
                        <a:ext cx="5815013" cy="196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8" name="Object 10"/>
          <p:cNvGraphicFramePr>
            <a:graphicFrameLocks noChangeAspect="1"/>
          </p:cNvGraphicFramePr>
          <p:nvPr/>
        </p:nvGraphicFramePr>
        <p:xfrm>
          <a:off x="3451226" y="3603626"/>
          <a:ext cx="192881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12" name="Visio" r:id="rId19" imgW="964692" imgH="355092" progId="Visio.Drawing.6">
                  <p:embed/>
                </p:oleObj>
              </mc:Choice>
              <mc:Fallback>
                <p:oleObj name="Visio" r:id="rId19" imgW="964692" imgH="355092" progId="Visio.Drawing.6">
                  <p:embed/>
                  <p:pic>
                    <p:nvPicPr>
                      <p:cNvPr id="8397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226" y="3603626"/>
                        <a:ext cx="1928813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9" name="Object 11"/>
          <p:cNvGraphicFramePr>
            <a:graphicFrameLocks noChangeAspect="1"/>
          </p:cNvGraphicFramePr>
          <p:nvPr/>
        </p:nvGraphicFramePr>
        <p:xfrm>
          <a:off x="6365876" y="3603626"/>
          <a:ext cx="192881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13" name="Visio" r:id="rId21" imgW="964692" imgH="355092" progId="Visio.Drawing.6">
                  <p:embed/>
                </p:oleObj>
              </mc:Choice>
              <mc:Fallback>
                <p:oleObj name="Visio" r:id="rId21" imgW="964692" imgH="355092" progId="Visio.Drawing.6">
                  <p:embed/>
                  <p:pic>
                    <p:nvPicPr>
                      <p:cNvPr id="8397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76" y="3603626"/>
                        <a:ext cx="1928813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0" name="Object 12"/>
          <p:cNvGraphicFramePr>
            <a:graphicFrameLocks noChangeAspect="1"/>
          </p:cNvGraphicFramePr>
          <p:nvPr/>
        </p:nvGraphicFramePr>
        <p:xfrm>
          <a:off x="3117851" y="5035551"/>
          <a:ext cx="5815013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14" name="Visio" r:id="rId23" imgW="2908402" imgH="823874" progId="Visio.Drawing.6">
                  <p:embed/>
                </p:oleObj>
              </mc:Choice>
              <mc:Fallback>
                <p:oleObj name="Visio" r:id="rId23" imgW="2908402" imgH="823874" progId="Visio.Drawing.6">
                  <p:embed/>
                  <p:pic>
                    <p:nvPicPr>
                      <p:cNvPr id="8398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1" y="5035551"/>
                        <a:ext cx="5815013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879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grpSp>
        <p:nvGrpSpPr>
          <p:cNvPr id="13315" name="Group 2"/>
          <p:cNvGrpSpPr>
            <a:grpSpLocks/>
          </p:cNvGrpSpPr>
          <p:nvPr/>
        </p:nvGrpSpPr>
        <p:grpSpPr bwMode="auto">
          <a:xfrm>
            <a:off x="3213101" y="-39688"/>
            <a:ext cx="5815013" cy="2216151"/>
            <a:chOff x="908" y="287"/>
            <a:chExt cx="3663" cy="1396"/>
          </a:xfrm>
        </p:grpSpPr>
        <p:graphicFrame>
          <p:nvGraphicFramePr>
            <p:cNvPr id="13325" name="Object 3"/>
            <p:cNvGraphicFramePr>
              <a:graphicFrameLocks noChangeAspect="1"/>
            </p:cNvGraphicFramePr>
            <p:nvPr/>
          </p:nvGraphicFramePr>
          <p:xfrm>
            <a:off x="908" y="287"/>
            <a:ext cx="3663" cy="1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2" name="Visio" r:id="rId3" imgW="2908402" imgH="1108862" progId="Visio.Drawing.6">
                    <p:embed/>
                  </p:oleObj>
                </mc:Choice>
                <mc:Fallback>
                  <p:oleObj name="Visio" r:id="rId3" imgW="2908402" imgH="1108862" progId="Visio.Drawing.6">
                    <p:embed/>
                    <p:pic>
                      <p:nvPicPr>
                        <p:cNvPr id="1332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8" y="287"/>
                          <a:ext cx="3663" cy="1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6" name="Object 4"/>
            <p:cNvGraphicFramePr>
              <a:graphicFrameLocks noChangeAspect="1"/>
            </p:cNvGraphicFramePr>
            <p:nvPr/>
          </p:nvGraphicFramePr>
          <p:xfrm>
            <a:off x="3242" y="794"/>
            <a:ext cx="830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3" name="Visio" r:id="rId5" imgW="659892" imgH="355092" progId="Visio.Drawing.6">
                    <p:embed/>
                  </p:oleObj>
                </mc:Choice>
                <mc:Fallback>
                  <p:oleObj name="Visio" r:id="rId5" imgW="659892" imgH="355092" progId="Visio.Drawing.6">
                    <p:embed/>
                    <p:pic>
                      <p:nvPicPr>
                        <p:cNvPr id="1332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2" y="794"/>
                          <a:ext cx="830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Object 5"/>
            <p:cNvGraphicFramePr>
              <a:graphicFrameLocks noChangeAspect="1"/>
            </p:cNvGraphicFramePr>
            <p:nvPr/>
          </p:nvGraphicFramePr>
          <p:xfrm>
            <a:off x="1310" y="794"/>
            <a:ext cx="830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4" name="Visio" r:id="rId7" imgW="659892" imgH="355092" progId="Visio.Drawing.6">
                    <p:embed/>
                  </p:oleObj>
                </mc:Choice>
                <mc:Fallback>
                  <p:oleObj name="Visio" r:id="rId7" imgW="659892" imgH="355092" progId="Visio.Drawing.6">
                    <p:embed/>
                    <p:pic>
                      <p:nvPicPr>
                        <p:cNvPr id="1332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0" y="794"/>
                          <a:ext cx="830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16" name="Object 6"/>
          <p:cNvGraphicFramePr>
            <a:graphicFrameLocks noChangeAspect="1"/>
          </p:cNvGraphicFramePr>
          <p:nvPr/>
        </p:nvGraphicFramePr>
        <p:xfrm>
          <a:off x="2444751" y="217489"/>
          <a:ext cx="15271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5" name="公式" r:id="rId9" imgW="761669" imgH="203112" progId="Equation.3">
                  <p:embed/>
                </p:oleObj>
              </mc:Choice>
              <mc:Fallback>
                <p:oleObj name="公式" r:id="rId9" imgW="761669" imgH="203112" progId="Equation.3">
                  <p:embed/>
                  <p:pic>
                    <p:nvPicPr>
                      <p:cNvPr id="1331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1" y="217489"/>
                        <a:ext cx="1527175" cy="40322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17" name="Group 7"/>
          <p:cNvGrpSpPr>
            <a:grpSpLocks/>
          </p:cNvGrpSpPr>
          <p:nvPr/>
        </p:nvGrpSpPr>
        <p:grpSpPr bwMode="auto">
          <a:xfrm>
            <a:off x="3289301" y="2120901"/>
            <a:ext cx="5815013" cy="1647825"/>
            <a:chOff x="1016" y="1516"/>
            <a:chExt cx="3663" cy="1038"/>
          </a:xfrm>
        </p:grpSpPr>
        <p:graphicFrame>
          <p:nvGraphicFramePr>
            <p:cNvPr id="13322" name="Object 8"/>
            <p:cNvGraphicFramePr>
              <a:graphicFrameLocks noChangeAspect="1"/>
            </p:cNvGraphicFramePr>
            <p:nvPr/>
          </p:nvGraphicFramePr>
          <p:xfrm>
            <a:off x="1016" y="1516"/>
            <a:ext cx="3663" cy="1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6" name="Visio" r:id="rId11" imgW="2908402" imgH="823874" progId="Visio.Drawing.6">
                    <p:embed/>
                  </p:oleObj>
                </mc:Choice>
                <mc:Fallback>
                  <p:oleObj name="Visio" r:id="rId11" imgW="2908402" imgH="823874" progId="Visio.Drawing.6">
                    <p:embed/>
                    <p:pic>
                      <p:nvPicPr>
                        <p:cNvPr id="1332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6" y="1516"/>
                          <a:ext cx="3663" cy="1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3" name="Object 9"/>
            <p:cNvGraphicFramePr>
              <a:graphicFrameLocks noChangeAspect="1"/>
            </p:cNvGraphicFramePr>
            <p:nvPr/>
          </p:nvGraphicFramePr>
          <p:xfrm>
            <a:off x="1368" y="1862"/>
            <a:ext cx="984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7" name="Visio" r:id="rId13" imgW="781812" imgH="355092" progId="Visio.Drawing.6">
                    <p:embed/>
                  </p:oleObj>
                </mc:Choice>
                <mc:Fallback>
                  <p:oleObj name="Visio" r:id="rId13" imgW="781812" imgH="355092" progId="Visio.Drawing.6">
                    <p:embed/>
                    <p:pic>
                      <p:nvPicPr>
                        <p:cNvPr id="1332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8" y="1862"/>
                          <a:ext cx="984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4" name="Object 10"/>
            <p:cNvGraphicFramePr>
              <a:graphicFrameLocks noChangeAspect="1"/>
            </p:cNvGraphicFramePr>
            <p:nvPr/>
          </p:nvGraphicFramePr>
          <p:xfrm>
            <a:off x="3252" y="1862"/>
            <a:ext cx="984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8" name="Visio" r:id="rId15" imgW="781812" imgH="355092" progId="Visio.Drawing.6">
                    <p:embed/>
                  </p:oleObj>
                </mc:Choice>
                <mc:Fallback>
                  <p:oleObj name="Visio" r:id="rId15" imgW="781812" imgH="355092" progId="Visio.Drawing.6">
                    <p:embed/>
                    <p:pic>
                      <p:nvPicPr>
                        <p:cNvPr id="1332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2" y="1862"/>
                          <a:ext cx="984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18" name="Object 11"/>
          <p:cNvGraphicFramePr>
            <a:graphicFrameLocks noChangeAspect="1"/>
          </p:cNvGraphicFramePr>
          <p:nvPr/>
        </p:nvGraphicFramePr>
        <p:xfrm>
          <a:off x="2393951" y="2255839"/>
          <a:ext cx="13239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9" name="公式" r:id="rId17" imgW="660113" imgH="203112" progId="Equation.3">
                  <p:embed/>
                </p:oleObj>
              </mc:Choice>
              <mc:Fallback>
                <p:oleObj name="公式" r:id="rId17" imgW="660113" imgH="203112" progId="Equation.3">
                  <p:embed/>
                  <p:pic>
                    <p:nvPicPr>
                      <p:cNvPr id="1331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1" y="2255839"/>
                        <a:ext cx="1323975" cy="40322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2"/>
          <p:cNvGraphicFramePr>
            <a:graphicFrameLocks noChangeAspect="1"/>
          </p:cNvGraphicFramePr>
          <p:nvPr/>
        </p:nvGraphicFramePr>
        <p:xfrm>
          <a:off x="3327401" y="4102101"/>
          <a:ext cx="5815013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0" name="Visio" r:id="rId19" imgW="2908402" imgH="823874" progId="Visio.Drawing.6">
                  <p:embed/>
                </p:oleObj>
              </mc:Choice>
              <mc:Fallback>
                <p:oleObj name="Visio" r:id="rId19" imgW="2908402" imgH="823874" progId="Visio.Drawing.6">
                  <p:embed/>
                  <p:pic>
                    <p:nvPicPr>
                      <p:cNvPr id="1331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1" y="4102101"/>
                        <a:ext cx="5815013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13"/>
          <p:cNvGraphicFramePr>
            <a:graphicFrameLocks noChangeAspect="1"/>
          </p:cNvGraphicFramePr>
          <p:nvPr/>
        </p:nvGraphicFramePr>
        <p:xfrm>
          <a:off x="2381251" y="4141789"/>
          <a:ext cx="150336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1" name="公式" r:id="rId21" imgW="748975" imgH="203112" progId="Equation.3">
                  <p:embed/>
                </p:oleObj>
              </mc:Choice>
              <mc:Fallback>
                <p:oleObj name="公式" r:id="rId21" imgW="748975" imgH="203112" progId="Equation.3">
                  <p:embed/>
                  <p:pic>
                    <p:nvPicPr>
                      <p:cNvPr id="1332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1" y="4141789"/>
                        <a:ext cx="1503363" cy="40322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5006" name="Picture 14" descr="flash_icon1">
            <a:hlinkClick r:id="rId23" action="ppaction://hlinkfile"/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410200"/>
            <a:ext cx="762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953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577</Words>
  <Application>Microsoft Office PowerPoint</Application>
  <PresentationFormat>宽屏</PresentationFormat>
  <Paragraphs>83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等线</vt:lpstr>
      <vt:lpstr>黑体</vt:lpstr>
      <vt:lpstr>隶书</vt:lpstr>
      <vt:lpstr>宋体</vt:lpstr>
      <vt:lpstr>Comic Sans MS</vt:lpstr>
      <vt:lpstr>Symbol</vt:lpstr>
      <vt:lpstr>Times New Roman</vt:lpstr>
      <vt:lpstr>Wingdings</vt:lpstr>
      <vt:lpstr>icfp99</vt:lpstr>
      <vt:lpstr>公式</vt:lpstr>
      <vt:lpstr>Equation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离散时间信号与系统</dc:title>
  <dc:creator>Administrator</dc:creator>
  <cp:lastModifiedBy>CHAO WU</cp:lastModifiedBy>
  <cp:revision>53</cp:revision>
  <dcterms:created xsi:type="dcterms:W3CDTF">2020-08-06T07:23:58Z</dcterms:created>
  <dcterms:modified xsi:type="dcterms:W3CDTF">2024-09-19T03:21:24Z</dcterms:modified>
</cp:coreProperties>
</file>