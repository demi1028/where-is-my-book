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6" r:id="rId2"/>
    <p:sldId id="267" r:id="rId3"/>
    <p:sldId id="268" r:id="rId4"/>
    <p:sldId id="269" r:id="rId5"/>
    <p:sldId id="270" r:id="rId6"/>
    <p:sldId id="273" r:id="rId7"/>
    <p:sldId id="274" r:id="rId8"/>
    <p:sldId id="275" r:id="rId9"/>
    <p:sldId id="27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 WU" initials="CW" lastIdx="0" clrIdx="0">
    <p:extLst>
      <p:ext uri="{19B8F6BF-5375-455C-9EA6-DF929625EA0E}">
        <p15:presenceInfo xmlns:p15="http://schemas.microsoft.com/office/powerpoint/2012/main" userId="a87f89e3270c35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C8BCA-6EA9-4044-9291-D1264780707D}" type="datetimeFigureOut">
              <a:rPr lang="zh-CN" altLang="en-US" smtClean="0"/>
              <a:t>2023/11/30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62465-FF09-4ED7-A326-068094750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98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2465-FF09-4ED7-A326-0680947508F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21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7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4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1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302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74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13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10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95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03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69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4436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15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87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按时间抽取的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算法的特点</a:t>
            </a:r>
          </a:p>
        </p:txBody>
      </p:sp>
      <p:sp>
        <p:nvSpPr>
          <p:cNvPr id="942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F3C9378-9EB0-4B8C-9EDD-C11DC33FD6E8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2" name="TextBox 4"/>
          <p:cNvSpPr txBox="1">
            <a:spLocks noChangeArrowheads="1"/>
          </p:cNvSpPr>
          <p:nvPr/>
        </p:nvSpPr>
        <p:spPr bwMode="auto">
          <a:xfrm>
            <a:off x="2133599" y="1600200"/>
            <a:ext cx="494876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1. </a:t>
            </a:r>
            <a:r>
              <a:rPr lang="zh-CN" altLang="en-US" dirty="0">
                <a:solidFill>
                  <a:srgbClr val="000000"/>
                </a:solidFill>
              </a:rPr>
              <a:t>原位运算（同址运算</a:t>
            </a:r>
            <a:r>
              <a:rPr lang="zh-CN" altLang="en-US" dirty="0" smtClean="0">
                <a:solidFill>
                  <a:srgbClr val="000000"/>
                </a:solidFill>
              </a:rPr>
              <a:t>）、计算量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4213" name="Object 6"/>
          <p:cNvGraphicFramePr>
            <a:graphicFrameLocks noChangeAspect="1"/>
          </p:cNvGraphicFramePr>
          <p:nvPr/>
        </p:nvGraphicFramePr>
        <p:xfrm>
          <a:off x="2819400" y="2120900"/>
          <a:ext cx="35052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4" imgW="1879600" imgH="558800" progId="Equation.3">
                  <p:embed/>
                </p:oleObj>
              </mc:Choice>
              <mc:Fallback>
                <p:oleObj name="Equation" r:id="rId4" imgW="1879600" imgH="558800" progId="Equation.3">
                  <p:embed/>
                  <p:pic>
                    <p:nvPicPr>
                      <p:cNvPr id="942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120900"/>
                        <a:ext cx="3505200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214" name="Picture 7" descr="3-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429001"/>
            <a:ext cx="57150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473200" y="5338233"/>
            <a:ext cx="8411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FFT</a:t>
            </a:r>
            <a:r>
              <a:rPr lang="zh-CN" altLang="en-US" dirty="0" smtClean="0"/>
              <a:t>一共有</a:t>
            </a:r>
            <a:r>
              <a:rPr lang="en-US" altLang="zh-CN" dirty="0" smtClean="0"/>
              <a:t>M</a:t>
            </a:r>
            <a:r>
              <a:rPr lang="zh-CN" altLang="en-US" dirty="0" smtClean="0"/>
              <a:t>层（级），</a:t>
            </a:r>
            <a:r>
              <a:rPr lang="en-US" altLang="zh-CN" dirty="0" smtClean="0"/>
              <a:t>M=</a:t>
            </a:r>
            <a:r>
              <a:rPr lang="en-US" altLang="zh-CN" dirty="0" err="1" smtClean="0"/>
              <a:t>logN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每</a:t>
            </a:r>
            <a:r>
              <a:rPr lang="zh-CN" altLang="en-US" dirty="0" smtClean="0"/>
              <a:t>级有</a:t>
            </a:r>
            <a:r>
              <a:rPr lang="en-US" altLang="zh-CN" dirty="0" smtClean="0"/>
              <a:t>N/2</a:t>
            </a:r>
            <a:r>
              <a:rPr lang="zh-CN" altLang="en-US" dirty="0" smtClean="0"/>
              <a:t>蝶形运算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计算后的结果可以存储到原来单元（同址运算）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8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>
          <a:xfrm>
            <a:off x="2819400" y="3810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按时间抽取的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算法的特点</a:t>
            </a:r>
          </a:p>
        </p:txBody>
      </p:sp>
      <p:sp>
        <p:nvSpPr>
          <p:cNvPr id="9523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A966EDE-9055-4156-AD1F-0767DA91F9EB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6" name="TextBox 4"/>
          <p:cNvSpPr txBox="1">
            <a:spLocks noChangeArrowheads="1"/>
          </p:cNvSpPr>
          <p:nvPr/>
        </p:nvSpPr>
        <p:spPr bwMode="auto">
          <a:xfrm>
            <a:off x="2133601" y="1524000"/>
            <a:ext cx="1336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2. </a:t>
            </a:r>
            <a:r>
              <a:rPr lang="zh-CN" altLang="en-US">
                <a:solidFill>
                  <a:srgbClr val="000000"/>
                </a:solidFill>
              </a:rPr>
              <a:t>倒位序</a:t>
            </a:r>
          </a:p>
        </p:txBody>
      </p:sp>
      <p:pic>
        <p:nvPicPr>
          <p:cNvPr id="95237" name="Picture 7" descr="3-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057401"/>
            <a:ext cx="571500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20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按时间抽取的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算法的特点</a:t>
            </a:r>
          </a:p>
        </p:txBody>
      </p:sp>
      <p:sp>
        <p:nvSpPr>
          <p:cNvPr id="962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519861B-6A43-484D-8EB2-813B044A7A2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1752600" y="1382713"/>
            <a:ext cx="8686800" cy="246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eaLnBrk="0" fontAlgn="base" hangingPunct="0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rgbClr val="000000"/>
                </a:solidFill>
              </a:rPr>
              <a:t>   3. </a:t>
            </a:r>
            <a:r>
              <a:rPr lang="zh-CN" altLang="en-US" sz="1800" dirty="0">
                <a:solidFill>
                  <a:srgbClr val="000000"/>
                </a:solidFill>
              </a:rPr>
              <a:t>蝶形运算两节点的</a:t>
            </a:r>
            <a:r>
              <a:rPr lang="zh-CN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“</a:t>
            </a:r>
            <a:r>
              <a:rPr lang="zh-CN" altLang="en-US" sz="1800" dirty="0">
                <a:solidFill>
                  <a:srgbClr val="000000"/>
                </a:solidFill>
              </a:rPr>
              <a:t>距离</a:t>
            </a:r>
            <a:r>
              <a:rPr lang="zh-CN" alt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”</a:t>
            </a:r>
            <a:endParaRPr lang="zh-CN" altLang="en-US" sz="1800" dirty="0">
              <a:solidFill>
                <a:srgbClr val="000000"/>
              </a:solidFill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rgbClr val="000000"/>
                </a:solidFill>
              </a:rPr>
              <a:t>        以</a:t>
            </a:r>
            <a:r>
              <a:rPr lang="en-US" altLang="zh-CN" sz="1800" dirty="0">
                <a:solidFill>
                  <a:srgbClr val="000000"/>
                </a:solidFill>
              </a:rPr>
              <a:t>8</a:t>
            </a:r>
            <a:r>
              <a:rPr lang="zh-CN" altLang="en-US" sz="1800" dirty="0">
                <a:solidFill>
                  <a:srgbClr val="000000"/>
                </a:solidFill>
              </a:rPr>
              <a:t>点</a:t>
            </a:r>
            <a:r>
              <a:rPr lang="en-US" altLang="zh-CN" sz="1800" dirty="0">
                <a:solidFill>
                  <a:srgbClr val="000000"/>
                </a:solidFill>
              </a:rPr>
              <a:t>FFT</a:t>
            </a:r>
            <a:r>
              <a:rPr lang="zh-CN" altLang="en-US" sz="1800" dirty="0">
                <a:solidFill>
                  <a:srgbClr val="000000"/>
                </a:solidFill>
              </a:rPr>
              <a:t>为例，其输入是倒位序的，输出是自然顺序的</a:t>
            </a:r>
            <a:r>
              <a:rPr lang="zh-CN" altLang="en-US" sz="1800" dirty="0" smtClean="0">
                <a:solidFill>
                  <a:srgbClr val="000000"/>
                </a:solidFill>
              </a:rPr>
              <a:t>。假设共有</a:t>
            </a:r>
            <a:r>
              <a:rPr lang="en-US" altLang="zh-CN" sz="1800" dirty="0" smtClean="0">
                <a:solidFill>
                  <a:srgbClr val="000000"/>
                </a:solidFill>
              </a:rPr>
              <a:t>L</a:t>
            </a:r>
            <a:r>
              <a:rPr lang="zh-CN" altLang="en-US" sz="1800" dirty="0" smtClean="0">
                <a:solidFill>
                  <a:srgbClr val="000000"/>
                </a:solidFill>
              </a:rPr>
              <a:t>层，第</a:t>
            </a:r>
            <a:r>
              <a:rPr lang="en-US" altLang="zh-CN" sz="1800" dirty="0" smtClean="0">
                <a:solidFill>
                  <a:srgbClr val="000000"/>
                </a:solidFill>
              </a:rPr>
              <a:t>l</a:t>
            </a:r>
            <a:r>
              <a:rPr lang="zh-CN" altLang="en-US" sz="1800" dirty="0" smtClean="0">
                <a:solidFill>
                  <a:srgbClr val="000000"/>
                </a:solidFill>
              </a:rPr>
              <a:t>层，共有</a:t>
            </a:r>
            <a:r>
              <a:rPr lang="en-US" altLang="zh-CN" sz="1800" dirty="0" smtClean="0">
                <a:solidFill>
                  <a:srgbClr val="000000"/>
                </a:solidFill>
              </a:rPr>
              <a:t>B=2^(l-1)</a:t>
            </a:r>
            <a:r>
              <a:rPr lang="zh-CN" altLang="en-US" sz="1800" dirty="0" smtClean="0">
                <a:solidFill>
                  <a:srgbClr val="000000"/>
                </a:solidFill>
              </a:rPr>
              <a:t>不同的蝶形因子，第</a:t>
            </a:r>
            <a:r>
              <a:rPr lang="en-US" altLang="zh-CN" sz="1800" dirty="0" smtClean="0">
                <a:solidFill>
                  <a:srgbClr val="000000"/>
                </a:solidFill>
              </a:rPr>
              <a:t>l</a:t>
            </a:r>
            <a:r>
              <a:rPr lang="zh-CN" altLang="en-US" sz="1800" dirty="0" smtClean="0">
                <a:solidFill>
                  <a:srgbClr val="000000"/>
                </a:solidFill>
              </a:rPr>
              <a:t>层</a:t>
            </a:r>
            <a:r>
              <a:rPr lang="en-US" altLang="zh-CN" sz="1800" dirty="0" smtClean="0">
                <a:solidFill>
                  <a:srgbClr val="000000"/>
                </a:solidFill>
              </a:rPr>
              <a:t>R</a:t>
            </a:r>
            <a:r>
              <a:rPr lang="zh-CN" altLang="en-US" sz="1800" dirty="0" smtClean="0">
                <a:solidFill>
                  <a:srgbClr val="000000"/>
                </a:solidFill>
              </a:rPr>
              <a:t>个蝶形因子的指数为</a:t>
            </a:r>
            <a:r>
              <a:rPr lang="en-US" altLang="zh-CN" sz="1800" dirty="0" smtClean="0">
                <a:solidFill>
                  <a:srgbClr val="000000"/>
                </a:solidFill>
              </a:rPr>
              <a:t>P=2^(L-l)(R-1)</a:t>
            </a:r>
            <a:r>
              <a:rPr lang="zh-CN" altLang="en-US" sz="1800" dirty="0" smtClean="0">
                <a:solidFill>
                  <a:srgbClr val="000000"/>
                </a:solidFill>
              </a:rPr>
              <a:t>；同一层相同蝶形共</a:t>
            </a:r>
            <a:r>
              <a:rPr lang="en-US" altLang="zh-CN" sz="1800" dirty="0" smtClean="0">
                <a:solidFill>
                  <a:srgbClr val="000000"/>
                </a:solidFill>
              </a:rPr>
              <a:t>2^(L-l)</a:t>
            </a:r>
            <a:r>
              <a:rPr lang="zh-CN" altLang="en-US" sz="1800" dirty="0" smtClean="0">
                <a:solidFill>
                  <a:srgbClr val="000000"/>
                </a:solidFill>
              </a:rPr>
              <a:t>，相距</a:t>
            </a:r>
            <a:r>
              <a:rPr lang="en-US" altLang="zh-CN" sz="1800" dirty="0" smtClean="0">
                <a:solidFill>
                  <a:srgbClr val="000000"/>
                </a:solidFill>
              </a:rPr>
              <a:t>2</a:t>
            </a:r>
            <a:r>
              <a:rPr lang="en-US" altLang="zh-CN" sz="1800" dirty="0">
                <a:solidFill>
                  <a:srgbClr val="000000"/>
                </a:solidFill>
              </a:rPr>
              <a:t>^(</a:t>
            </a:r>
            <a:r>
              <a:rPr lang="en-US" altLang="zh-CN" sz="1800" dirty="0" smtClean="0">
                <a:solidFill>
                  <a:srgbClr val="000000"/>
                </a:solidFill>
              </a:rPr>
              <a:t>l)</a:t>
            </a:r>
            <a:r>
              <a:rPr lang="zh-CN" altLang="en-US" sz="1800" dirty="0" smtClean="0">
                <a:solidFill>
                  <a:srgbClr val="000000"/>
                </a:solidFill>
              </a:rPr>
              <a:t>，（内）相距</a:t>
            </a:r>
            <a:r>
              <a:rPr lang="en-US" altLang="zh-CN" sz="1800" dirty="0">
                <a:solidFill>
                  <a:srgbClr val="000000"/>
                </a:solidFill>
              </a:rPr>
              <a:t>2^(</a:t>
            </a:r>
            <a:r>
              <a:rPr lang="en-US" altLang="zh-CN" sz="1800" dirty="0" smtClean="0">
                <a:solidFill>
                  <a:srgbClr val="000000"/>
                </a:solidFill>
              </a:rPr>
              <a:t>l-1)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</a:pPr>
            <a:endParaRPr lang="zh-CN" altLang="en-US" sz="1800" dirty="0">
              <a:solidFill>
                <a:srgbClr val="000000"/>
              </a:solidFill>
            </a:endParaRPr>
          </a:p>
        </p:txBody>
      </p:sp>
      <p:pic>
        <p:nvPicPr>
          <p:cNvPr id="96261" name="Picture 8" descr="3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65" y="3428430"/>
            <a:ext cx="5976937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090833" y="3505200"/>
            <a:ext cx="441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准备：倒拉序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分层按层进行循环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每一</a:t>
            </a:r>
            <a:r>
              <a:rPr lang="zh-CN" altLang="en-US" dirty="0" smtClean="0"/>
              <a:t>层有几种蝶形因子，按蝶形因子种类循环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 smtClean="0"/>
              <a:t>对于特定种类，有多少个因子，按个数循环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195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按时间抽取的</a:t>
            </a:r>
            <a:r>
              <a:rPr lang="en-US" altLang="zh-CN" dirty="0" smtClean="0">
                <a:ea typeface="宋体" panose="02010600030101010101" pitchFamily="2" charset="-122"/>
              </a:rPr>
              <a:t>FFT</a:t>
            </a:r>
            <a:r>
              <a:rPr lang="zh-CN" altLang="en-US" dirty="0" smtClean="0">
                <a:ea typeface="宋体" panose="02010600030101010101" pitchFamily="2" charset="-122"/>
              </a:rPr>
              <a:t>算法的特点</a:t>
            </a:r>
          </a:p>
        </p:txBody>
      </p:sp>
      <p:sp>
        <p:nvSpPr>
          <p:cNvPr id="9728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788A6C2-BDAD-492F-A144-AE5A4B6A1BD8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7284" name="Picture 8" descr="3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2395538"/>
            <a:ext cx="5976937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5" name="TextBox 6"/>
          <p:cNvSpPr txBox="1">
            <a:spLocks noChangeArrowheads="1"/>
          </p:cNvSpPr>
          <p:nvPr/>
        </p:nvSpPr>
        <p:spPr bwMode="auto">
          <a:xfrm>
            <a:off x="2362200" y="1657350"/>
            <a:ext cx="1824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4. </a:t>
            </a:r>
            <a:r>
              <a:rPr lang="en-US" altLang="zh-CN" dirty="0" err="1">
                <a:solidFill>
                  <a:srgbClr val="000000"/>
                </a:solidFill>
              </a:rPr>
              <a:t>W</a:t>
            </a:r>
            <a:r>
              <a:rPr lang="en-US" altLang="zh-CN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CN" baseline="30000" dirty="0" err="1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的确定</a:t>
            </a:r>
          </a:p>
        </p:txBody>
      </p:sp>
    </p:spTree>
    <p:extLst>
      <p:ext uri="{BB962C8B-B14F-4D97-AF65-F5344CB8AC3E}">
        <p14:creationId xmlns:p14="http://schemas.microsoft.com/office/powerpoint/2010/main" val="294716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按时间抽取（</a:t>
            </a:r>
            <a:r>
              <a:rPr lang="en-US" altLang="zh-CN" dirty="0" smtClean="0">
                <a:ea typeface="宋体" panose="02010600030101010101" pitchFamily="2" charset="-122"/>
              </a:rPr>
              <a:t>DIT</a:t>
            </a:r>
            <a:r>
              <a:rPr lang="zh-CN" altLang="en-US" dirty="0" smtClean="0">
                <a:ea typeface="宋体" panose="02010600030101010101" pitchFamily="2" charset="-122"/>
              </a:rPr>
              <a:t>）基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ea typeface="宋体" panose="02010600030101010101" pitchFamily="2" charset="-122"/>
              </a:rPr>
              <a:t>FFT</a:t>
            </a:r>
            <a:r>
              <a:rPr lang="zh-CN" altLang="en-US" dirty="0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931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45437F-CF98-46EC-87A5-6DC2D3A4CB4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TextBox 4"/>
          <p:cNvSpPr txBox="1">
            <a:spLocks noChangeArrowheads="1"/>
          </p:cNvSpPr>
          <p:nvPr/>
        </p:nvSpPr>
        <p:spPr bwMode="auto">
          <a:xfrm>
            <a:off x="2057401" y="1657350"/>
            <a:ext cx="3541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与直接计算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DFT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运算量的比较</a:t>
            </a:r>
          </a:p>
        </p:txBody>
      </p:sp>
      <p:grpSp>
        <p:nvGrpSpPr>
          <p:cNvPr id="93189" name="Group 8"/>
          <p:cNvGrpSpPr>
            <a:grpSpLocks/>
          </p:cNvGrpSpPr>
          <p:nvPr/>
        </p:nvGrpSpPr>
        <p:grpSpPr bwMode="auto">
          <a:xfrm>
            <a:off x="3048000" y="2362202"/>
            <a:ext cx="4495800" cy="1431211"/>
            <a:chOff x="614" y="2160"/>
            <a:chExt cx="3226" cy="949"/>
          </a:xfrm>
        </p:grpSpPr>
        <p:sp>
          <p:nvSpPr>
            <p:cNvPr id="93190" name="Text Box 5"/>
            <p:cNvSpPr txBox="1">
              <a:spLocks noChangeArrowheads="1"/>
            </p:cNvSpPr>
            <p:nvPr/>
          </p:nvSpPr>
          <p:spPr bwMode="auto">
            <a:xfrm>
              <a:off x="614" y="2282"/>
              <a:ext cx="76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rPr>
                <a:t>复乘数 </a:t>
              </a:r>
            </a:p>
          </p:txBody>
        </p:sp>
        <p:graphicFrame>
          <p:nvGraphicFramePr>
            <p:cNvPr id="93191" name="Object 6"/>
            <p:cNvGraphicFramePr>
              <a:graphicFrameLocks noChangeAspect="1"/>
            </p:cNvGraphicFramePr>
            <p:nvPr/>
          </p:nvGraphicFramePr>
          <p:xfrm>
            <a:off x="2112" y="2160"/>
            <a:ext cx="1728" cy="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Equation" r:id="rId3" imgW="1295400" imgH="711200" progId="Equation.3">
                    <p:embed/>
                  </p:oleObj>
                </mc:Choice>
                <mc:Fallback>
                  <p:oleObj name="Equation" r:id="rId3" imgW="1295400" imgH="711200" progId="Equation.3">
                    <p:embed/>
                    <p:pic>
                      <p:nvPicPr>
                        <p:cNvPr id="9319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160"/>
                          <a:ext cx="1728" cy="9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2" name="Text Box 7"/>
            <p:cNvSpPr txBox="1">
              <a:spLocks noChangeArrowheads="1"/>
            </p:cNvSpPr>
            <p:nvPr/>
          </p:nvSpPr>
          <p:spPr bwMode="auto">
            <a:xfrm>
              <a:off x="624" y="2832"/>
              <a:ext cx="76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rPr>
                <a:t>复加数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67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85" y="1403928"/>
            <a:ext cx="6683313" cy="537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1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不计 </a:t>
            </a:r>
            <a:r>
              <a:rPr lang="zh-CN" altLang="en-US" dirty="0" smtClean="0"/>
              <a:t>＋－</a:t>
            </a:r>
            <a:r>
              <a:rPr lang="en-US" altLang="zh-CN" dirty="0" smtClean="0"/>
              <a:t>j </a:t>
            </a:r>
            <a:r>
              <a:rPr lang="zh-CN" altLang="en-US" dirty="0"/>
              <a:t>的乘法次数，完成 </a:t>
            </a:r>
            <a:r>
              <a:rPr lang="en-US" altLang="zh-CN" dirty="0"/>
              <a:t>16 </a:t>
            </a:r>
            <a:r>
              <a:rPr lang="zh-CN" altLang="en-US" dirty="0"/>
              <a:t>点的基 </a:t>
            </a:r>
            <a:r>
              <a:rPr lang="en-US" altLang="zh-CN" dirty="0"/>
              <a:t>2 </a:t>
            </a:r>
            <a:r>
              <a:rPr lang="zh-CN" altLang="en-US" dirty="0"/>
              <a:t>按时间抽取的 </a:t>
            </a:r>
            <a:r>
              <a:rPr lang="en-US" altLang="zh-CN" dirty="0"/>
              <a:t>FFT </a:t>
            </a:r>
            <a:r>
              <a:rPr lang="zh-CN" altLang="en-US" dirty="0"/>
              <a:t>所需的复数加法和复数乘法</a:t>
            </a:r>
            <a:r>
              <a:rPr lang="zh-CN" altLang="en-US" dirty="0" smtClean="0"/>
              <a:t>次数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50" y="2578232"/>
            <a:ext cx="5692566" cy="35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7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9" y="1693342"/>
            <a:ext cx="5933119" cy="107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4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怎样利用</a:t>
            </a:r>
            <a:r>
              <a:rPr lang="en-US" altLang="zh-CN" dirty="0" err="1" smtClean="0"/>
              <a:t>fft</a:t>
            </a:r>
            <a:r>
              <a:rPr lang="zh-CN" altLang="en-US" dirty="0" smtClean="0"/>
              <a:t>实现</a:t>
            </a:r>
            <a:r>
              <a:rPr lang="en-US" altLang="zh-CN" dirty="0" err="1" smtClean="0"/>
              <a:t>ifft</a:t>
            </a:r>
            <a:r>
              <a:rPr lang="zh-CN" altLang="en-US" dirty="0" smtClean="0"/>
              <a:t>，怎样画蝶形图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0389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287</Words>
  <Application>Microsoft Office PowerPoint</Application>
  <PresentationFormat>宽屏</PresentationFormat>
  <Paragraphs>32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宋体</vt:lpstr>
      <vt:lpstr>Comic Sans MS</vt:lpstr>
      <vt:lpstr>Courier New</vt:lpstr>
      <vt:lpstr>Times New Roman</vt:lpstr>
      <vt:lpstr>Wingdings</vt:lpstr>
      <vt:lpstr>icfp99</vt:lpstr>
      <vt:lpstr>Equation</vt:lpstr>
      <vt:lpstr>按时间抽取的FFT算法的特点</vt:lpstr>
      <vt:lpstr>按时间抽取的FFT算法的特点</vt:lpstr>
      <vt:lpstr>按时间抽取的FFT算法的特点</vt:lpstr>
      <vt:lpstr>按时间抽取的FFT算法的特点</vt:lpstr>
      <vt:lpstr>按时间抽取（DIT）基2的FFT算法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快速傅立叶变换（FFT）</dc:title>
  <dc:creator>Administrator</dc:creator>
  <cp:lastModifiedBy>CHAO WU</cp:lastModifiedBy>
  <cp:revision>28</cp:revision>
  <dcterms:created xsi:type="dcterms:W3CDTF">2020-08-06T07:33:49Z</dcterms:created>
  <dcterms:modified xsi:type="dcterms:W3CDTF">2023-11-30T04:45:15Z</dcterms:modified>
</cp:coreProperties>
</file>