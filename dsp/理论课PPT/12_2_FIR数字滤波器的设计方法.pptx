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309" r:id="rId2"/>
    <p:sldId id="302" r:id="rId3"/>
    <p:sldId id="303" r:id="rId4"/>
    <p:sldId id="304" r:id="rId5"/>
    <p:sldId id="305" r:id="rId6"/>
    <p:sldId id="306" r:id="rId7"/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307" r:id="rId20"/>
    <p:sldId id="308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4" Type="http://schemas.openxmlformats.org/officeDocument/2006/relationships/image" Target="../media/image36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1.wmf"/><Relationship Id="rId5" Type="http://schemas.openxmlformats.org/officeDocument/2006/relationships/image" Target="../media/image28.wmf"/><Relationship Id="rId4" Type="http://schemas.openxmlformats.org/officeDocument/2006/relationships/image" Target="../media/image40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34.wmf"/><Relationship Id="rId1" Type="http://schemas.openxmlformats.org/officeDocument/2006/relationships/image" Target="../media/image42.wmf"/><Relationship Id="rId4" Type="http://schemas.openxmlformats.org/officeDocument/2006/relationships/image" Target="../media/image44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6B00B-54CB-4FD4-AD3F-796709BABE15}" type="datetimeFigureOut">
              <a:rPr lang="zh-CN" altLang="en-US" smtClean="0"/>
              <a:t>2022/11/18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92C5B2-54EB-4804-8D08-12B7DE2D61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073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EB89419-C344-40C6-B4AF-B64360F5EC6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2022/11/18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940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D0EC15D-9C77-4188-80FD-534CB4D6259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6342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7" y="165100"/>
            <a:ext cx="1405467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009DD4-B744-4A5A-9BCF-2BE1219C878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2022/11/18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8011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B5375B-8E09-4DD8-A950-D279B55D1AF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2022/11/18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684607E7-4DB9-45E5-BF73-16A5A03CEE1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9176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A3D01B-CED5-4F8A-B6C8-7E3E79320ED9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2022/11/18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D40AEE6-7319-4B5B-93D0-3548900E185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3187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D440ECF-C06C-4365-A82F-7FCF58AB175D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2022/11/18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1916CC5-3ED3-4E00-85B5-005DC67C0A92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987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1AF378D-529B-499C-888D-96616A7FD7B3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2022/11/18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47B3999-57F6-416E-A1A2-5253D300C464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3723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9C2F7E0-74B7-4DF6-835D-211E54381D8A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2022/11/18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688483-54E8-444F-A583-0A553B1CE94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93660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221B5CF-6445-489A-A45C-4EC7F4623F90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2022/11/18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1114EFF-8E6F-4E42-8213-F37E8D3AB8C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8407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4BE24FC-2A45-4A55-B139-5F9494B1CB5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2022/11/18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8908285-CA4E-423B-8642-8726C1B3382C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2690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BEAA45-778A-4741-845A-F018261E7A9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2022/11/18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13AA134-3FB7-4864-BDD9-113D7FC3B5C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9184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15400" y="457200"/>
            <a:ext cx="2768600" cy="5562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102600" cy="5562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BDC5DBC-5A12-4956-B0A7-3CBFEBC2F06C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2022/11/18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F6064C9-616C-418B-B0ED-83E8E1DAAE91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9749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769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603FB61-C213-45FB-A763-B77CDEFEA231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2022/11/18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CD01B68-6309-4BDA-8324-A2F95C8B9363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2864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76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107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17600" y="6172200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5F930D0-305E-4488-9A18-18976C29D3CE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2022/11/18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1722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172200"/>
            <a:ext cx="172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4FF258E-67CD-4D95-B960-4634DDA9265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371600"/>
            <a:ext cx="1076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6191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9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2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5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0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1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4.jpeg"/><Relationship Id="rId4" Type="http://schemas.openxmlformats.org/officeDocument/2006/relationships/image" Target="../media/image23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5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3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31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23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36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28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oleObject" Target="../embeddings/oleObject34.bin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2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40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41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44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38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45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4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D0EC15D-9C77-4188-80FD-534CB4D6259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1" y="2034169"/>
            <a:ext cx="3920003" cy="99906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651000" y="685799"/>
            <a:ext cx="7361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第</a:t>
            </a:r>
            <a:r>
              <a:rPr lang="en-US" altLang="zh-CN" sz="3200" dirty="0"/>
              <a:t>7</a:t>
            </a:r>
            <a:r>
              <a:rPr lang="zh-CN" altLang="en-US" sz="3200" dirty="0"/>
              <a:t>章 </a:t>
            </a:r>
            <a:r>
              <a:rPr lang="en-US" altLang="zh-CN" sz="3200" dirty="0"/>
              <a:t>FIR</a:t>
            </a:r>
            <a:r>
              <a:rPr lang="zh-CN" altLang="en-US" sz="3200" dirty="0"/>
              <a:t>数字滤波器的设计</a:t>
            </a:r>
            <a:r>
              <a:rPr lang="zh-CN" altLang="en-US" sz="3200" dirty="0" smtClean="0"/>
              <a:t>方法</a:t>
            </a:r>
            <a:r>
              <a:rPr lang="en-US" altLang="zh-CN" sz="3200" dirty="0" smtClean="0"/>
              <a:t>-</a:t>
            </a:r>
            <a:r>
              <a:rPr lang="zh-CN" altLang="en-US" sz="3200" dirty="0" smtClean="0"/>
              <a:t>引言</a:t>
            </a:r>
            <a:endParaRPr lang="zh-CN" altLang="en-US" sz="32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66" y="4095265"/>
            <a:ext cx="3511600" cy="1402202"/>
          </a:xfrm>
          <a:prstGeom prst="rect">
            <a:avLst/>
          </a:prstGeom>
        </p:spPr>
      </p:pic>
      <p:pic>
        <p:nvPicPr>
          <p:cNvPr id="11" name="Picture 7" descr="6-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1744" y="2224681"/>
            <a:ext cx="2855384" cy="243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本框 11"/>
          <p:cNvSpPr txBox="1"/>
          <p:nvPr/>
        </p:nvSpPr>
        <p:spPr>
          <a:xfrm>
            <a:off x="5037667" y="1467705"/>
            <a:ext cx="2709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方法一窗函数法（时域）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1394" y="1197018"/>
            <a:ext cx="1064146" cy="5383329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5135540" y="4985509"/>
            <a:ext cx="2992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方法二频域采样法（频域）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5179" y="5497467"/>
            <a:ext cx="3000265" cy="121598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7676" y="1297148"/>
            <a:ext cx="758187" cy="528319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9457267" y="3695700"/>
            <a:ext cx="211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H</a:t>
            </a:r>
            <a:r>
              <a:rPr lang="zh-CN" altLang="en-US" dirty="0" smtClean="0"/>
              <a:t>（</a:t>
            </a:r>
            <a:r>
              <a:rPr lang="en-US" altLang="zh-CN" dirty="0" smtClean="0"/>
              <a:t>z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971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4863" y="-263159"/>
            <a:ext cx="10363200" cy="1143000"/>
          </a:xfrm>
        </p:spPr>
        <p:txBody>
          <a:bodyPr/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引  言</a:t>
            </a:r>
          </a:p>
        </p:txBody>
      </p:sp>
      <p:grpSp>
        <p:nvGrpSpPr>
          <p:cNvPr id="32771" name="Group 3"/>
          <p:cNvGrpSpPr>
            <a:grpSpLocks/>
          </p:cNvGrpSpPr>
          <p:nvPr/>
        </p:nvGrpSpPr>
        <p:grpSpPr bwMode="auto">
          <a:xfrm>
            <a:off x="2382013" y="1384531"/>
            <a:ext cx="4762500" cy="1739900"/>
            <a:chOff x="840" y="147"/>
            <a:chExt cx="3000" cy="1356"/>
          </a:xfrm>
        </p:grpSpPr>
        <p:sp>
          <p:nvSpPr>
            <p:cNvPr id="32772" name="Text Box 4"/>
            <p:cNvSpPr txBox="1">
              <a:spLocks noChangeArrowheads="1"/>
            </p:cNvSpPr>
            <p:nvPr/>
          </p:nvSpPr>
          <p:spPr bwMode="auto">
            <a:xfrm>
              <a:off x="840" y="960"/>
              <a:ext cx="91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LTI</a:t>
              </a:r>
              <a:r>
                <a:rPr lang="zh-CN" altLang="en-US"/>
                <a:t>系统</a:t>
              </a:r>
            </a:p>
          </p:txBody>
        </p:sp>
        <p:graphicFrame>
          <p:nvGraphicFramePr>
            <p:cNvPr id="32773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6481407"/>
                </p:ext>
              </p:extLst>
            </p:nvPr>
          </p:nvGraphicFramePr>
          <p:xfrm>
            <a:off x="1782" y="147"/>
            <a:ext cx="2058" cy="1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94" name="公式" r:id="rId3" imgW="1307880" imgH="863280" progId="Equation.3">
                    <p:embed/>
                  </p:oleObj>
                </mc:Choice>
                <mc:Fallback>
                  <p:oleObj name="公式" r:id="rId3" imgW="1307880" imgH="863280" progId="Equation.3">
                    <p:embed/>
                    <p:pic>
                      <p:nvPicPr>
                        <p:cNvPr id="3277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2" y="147"/>
                          <a:ext cx="2058" cy="1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1943100" y="4838700"/>
            <a:ext cx="8286750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990033"/>
                </a:solidFill>
              </a:rPr>
              <a:t>数字滤波器设计：</a:t>
            </a: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990033"/>
                </a:solidFill>
              </a:rPr>
              <a:t>   </a:t>
            </a:r>
            <a:r>
              <a:rPr lang="zh-CN" altLang="en-US" sz="2800" b="1" dirty="0" smtClean="0">
                <a:solidFill>
                  <a:srgbClr val="990033"/>
                </a:solidFill>
              </a:rPr>
              <a:t>由</a:t>
            </a:r>
            <a:r>
              <a:rPr lang="zh-CN" altLang="en-US" sz="2800" b="1" dirty="0">
                <a:solidFill>
                  <a:srgbClr val="990033"/>
                </a:solidFill>
              </a:rPr>
              <a:t>给定的系统频率特性</a:t>
            </a:r>
            <a:r>
              <a:rPr lang="en-US" altLang="zh-CN" sz="2800" b="1" dirty="0">
                <a:solidFill>
                  <a:srgbClr val="990033"/>
                </a:solidFill>
              </a:rPr>
              <a:t>, </a:t>
            </a:r>
            <a:r>
              <a:rPr lang="zh-CN" altLang="en-US" sz="2800" b="1" dirty="0">
                <a:solidFill>
                  <a:srgbClr val="990033"/>
                </a:solidFill>
              </a:rPr>
              <a:t>确定</a:t>
            </a:r>
            <a:r>
              <a:rPr lang="en-US" altLang="zh-CN" sz="2800" b="1" i="1" dirty="0">
                <a:solidFill>
                  <a:srgbClr val="990033"/>
                </a:solidFill>
              </a:rPr>
              <a:t>M</a:t>
            </a:r>
            <a:r>
              <a:rPr lang="zh-CN" altLang="en-US" sz="2800" b="1" dirty="0">
                <a:solidFill>
                  <a:srgbClr val="990033"/>
                </a:solidFill>
              </a:rPr>
              <a:t>和</a:t>
            </a:r>
            <a:r>
              <a:rPr lang="en-US" altLang="zh-CN" sz="2800" b="1" i="1" dirty="0">
                <a:solidFill>
                  <a:srgbClr val="990033"/>
                </a:solidFill>
              </a:rPr>
              <a:t>N</a:t>
            </a:r>
            <a:r>
              <a:rPr lang="zh-CN" altLang="en-US" sz="2800" b="1" dirty="0">
                <a:solidFill>
                  <a:srgbClr val="990033"/>
                </a:solidFill>
              </a:rPr>
              <a:t>及系数</a:t>
            </a:r>
            <a:r>
              <a:rPr lang="en-US" altLang="zh-CN" sz="2800" b="1" i="1" dirty="0" err="1">
                <a:solidFill>
                  <a:srgbClr val="990033"/>
                </a:solidFill>
              </a:rPr>
              <a:t>a</a:t>
            </a:r>
            <a:r>
              <a:rPr lang="en-US" altLang="zh-CN" sz="2800" b="1" i="1" baseline="-25000" dirty="0" err="1">
                <a:solidFill>
                  <a:srgbClr val="990033"/>
                </a:solidFill>
              </a:rPr>
              <a:t>i</a:t>
            </a:r>
            <a:r>
              <a:rPr lang="en-US" altLang="zh-CN" sz="2800" b="1" dirty="0">
                <a:solidFill>
                  <a:srgbClr val="990033"/>
                </a:solidFill>
              </a:rPr>
              <a:t>, </a:t>
            </a:r>
            <a:r>
              <a:rPr lang="en-US" altLang="zh-CN" sz="2800" b="1" i="1" dirty="0" err="1">
                <a:solidFill>
                  <a:srgbClr val="990033"/>
                </a:solidFill>
              </a:rPr>
              <a:t>b</a:t>
            </a:r>
            <a:r>
              <a:rPr lang="en-US" altLang="zh-CN" sz="2800" b="1" i="1" baseline="-25000" dirty="0" err="1">
                <a:solidFill>
                  <a:srgbClr val="990033"/>
                </a:solidFill>
              </a:rPr>
              <a:t>j</a:t>
            </a:r>
            <a:endParaRPr lang="en-US" altLang="zh-CN" sz="2800" b="1" i="1" baseline="-25000" dirty="0">
              <a:solidFill>
                <a:srgbClr val="990033"/>
              </a:solidFill>
            </a:endParaRPr>
          </a:p>
        </p:txBody>
      </p:sp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2003426" y="3476626"/>
            <a:ext cx="79676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/>
              <a:t>若</a:t>
            </a:r>
            <a:r>
              <a:rPr lang="en-US" altLang="zh-CN" sz="2800" b="1" i="1">
                <a:solidFill>
                  <a:srgbClr val="FF0000"/>
                </a:solidFill>
              </a:rPr>
              <a:t>a</a:t>
            </a:r>
            <a:r>
              <a:rPr lang="en-US" altLang="zh-CN" sz="2800" b="1" i="1" baseline="-25000">
                <a:solidFill>
                  <a:srgbClr val="FF0000"/>
                </a:solidFill>
              </a:rPr>
              <a:t>i</a:t>
            </a:r>
            <a:r>
              <a:rPr lang="zh-CN" altLang="en-US" sz="2800" b="1">
                <a:solidFill>
                  <a:srgbClr val="FF0000"/>
                </a:solidFill>
              </a:rPr>
              <a:t>等于零</a:t>
            </a:r>
            <a:r>
              <a:rPr lang="zh-CN" altLang="en-US" sz="2800"/>
              <a:t>，则系统为</a:t>
            </a:r>
            <a:r>
              <a:rPr lang="en-US" altLang="zh-CN" sz="2800">
                <a:solidFill>
                  <a:srgbClr val="FF0000"/>
                </a:solidFill>
              </a:rPr>
              <a:t>FIR</a:t>
            </a:r>
            <a:r>
              <a:rPr lang="zh-CN" altLang="en-US" sz="2800"/>
              <a:t>数字滤波器</a:t>
            </a:r>
          </a:p>
        </p:txBody>
      </p:sp>
      <p:sp>
        <p:nvSpPr>
          <p:cNvPr id="32776" name="Text Box 8"/>
          <p:cNvSpPr txBox="1">
            <a:spLocks noChangeArrowheads="1"/>
          </p:cNvSpPr>
          <p:nvPr/>
        </p:nvSpPr>
        <p:spPr bwMode="auto">
          <a:xfrm>
            <a:off x="1984375" y="4181475"/>
            <a:ext cx="79848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若</a:t>
            </a:r>
            <a:r>
              <a:rPr lang="en-US" altLang="zh-CN" sz="2800" i="1">
                <a:solidFill>
                  <a:srgbClr val="FF0000"/>
                </a:solidFill>
              </a:rPr>
              <a:t>a</a:t>
            </a:r>
            <a:r>
              <a:rPr lang="en-US" altLang="zh-CN" sz="2800" i="1" baseline="-25000">
                <a:solidFill>
                  <a:srgbClr val="FF0000"/>
                </a:solidFill>
              </a:rPr>
              <a:t>i</a:t>
            </a:r>
            <a:r>
              <a:rPr lang="zh-CN" altLang="en-US" sz="2800">
                <a:solidFill>
                  <a:srgbClr val="FF0000"/>
                </a:solidFill>
              </a:rPr>
              <a:t>至少有一个非零</a:t>
            </a:r>
            <a:r>
              <a:rPr lang="zh-CN" altLang="en-US" sz="2800"/>
              <a:t>，则系统为</a:t>
            </a:r>
            <a:r>
              <a:rPr lang="en-US" altLang="zh-CN" sz="2800">
                <a:solidFill>
                  <a:srgbClr val="FF0000"/>
                </a:solidFill>
              </a:rPr>
              <a:t>IIR</a:t>
            </a:r>
            <a:r>
              <a:rPr lang="en-US" altLang="zh-CN" sz="2800"/>
              <a:t> </a:t>
            </a:r>
            <a:r>
              <a:rPr lang="zh-CN" altLang="en-US" sz="2800"/>
              <a:t>数字滤波器。</a:t>
            </a:r>
          </a:p>
        </p:txBody>
      </p:sp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1676400" y="10287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625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4" grpId="0" autoUpdateAnimBg="0"/>
      <p:bldP spid="32775" grpId="0" autoUpdateAnimBg="0"/>
      <p:bldP spid="3277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733800" y="228600"/>
            <a:ext cx="4419600" cy="641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引  言</a:t>
            </a:r>
          </a:p>
        </p:txBody>
      </p:sp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1731434" y="1423192"/>
            <a:ext cx="480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00066"/>
                </a:solidFill>
                <a:ea typeface="隶书" panose="02010509060101010101" pitchFamily="49" charset="-122"/>
              </a:rPr>
              <a:t>FIR</a:t>
            </a:r>
            <a:r>
              <a:rPr lang="zh-CN" altLang="en-US" sz="2800" b="1" dirty="0">
                <a:solidFill>
                  <a:srgbClr val="000066"/>
                </a:solidFill>
                <a:latin typeface="宋体" panose="02010600030101010101" pitchFamily="2" charset="-122"/>
              </a:rPr>
              <a:t>滤波器的设计</a:t>
            </a:r>
          </a:p>
        </p:txBody>
      </p:sp>
      <p:graphicFrame>
        <p:nvGraphicFramePr>
          <p:cNvPr id="33798" name="Object 6"/>
          <p:cNvGraphicFramePr>
            <a:graphicFrameLocks noChangeAspect="1"/>
          </p:cNvGraphicFramePr>
          <p:nvPr/>
        </p:nvGraphicFramePr>
        <p:xfrm>
          <a:off x="3821114" y="2743200"/>
          <a:ext cx="4408487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42" name="Equation" r:id="rId3" imgW="1765080" imgH="368280" progId="Equation.3">
                  <p:embed/>
                </p:oleObj>
              </mc:Choice>
              <mc:Fallback>
                <p:oleObj name="Equation" r:id="rId3" imgW="1765080" imgH="368280" progId="Equation.3">
                  <p:embed/>
                  <p:pic>
                    <p:nvPicPr>
                      <p:cNvPr id="337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1114" y="2743200"/>
                        <a:ext cx="4408487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9" name="Text Box 7"/>
          <p:cNvSpPr txBox="1">
            <a:spLocks noChangeArrowheads="1"/>
          </p:cNvSpPr>
          <p:nvPr/>
        </p:nvSpPr>
        <p:spPr bwMode="auto">
          <a:xfrm>
            <a:off x="2057400" y="1981201"/>
            <a:ext cx="792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1"/>
              <a:t>M</a:t>
            </a:r>
            <a:r>
              <a:rPr lang="zh-CN" altLang="en-US" sz="2800"/>
              <a:t>阶</a:t>
            </a:r>
            <a:r>
              <a:rPr lang="en-US" altLang="zh-CN" sz="2800"/>
              <a:t>(</a:t>
            </a:r>
            <a:r>
              <a:rPr lang="zh-CN" altLang="en-US" sz="2800"/>
              <a:t>长度</a:t>
            </a:r>
            <a:r>
              <a:rPr lang="en-US" altLang="zh-CN" sz="2800" i="1"/>
              <a:t>N</a:t>
            </a:r>
            <a:r>
              <a:rPr lang="en-US" altLang="zh-CN" sz="2800"/>
              <a:t>=</a:t>
            </a:r>
            <a:r>
              <a:rPr lang="en-US" altLang="zh-CN" sz="2800" i="1"/>
              <a:t>M+</a:t>
            </a:r>
            <a:r>
              <a:rPr lang="en-US" altLang="zh-CN" sz="2800"/>
              <a:t>1)</a:t>
            </a:r>
            <a:r>
              <a:rPr lang="en-US" altLang="zh-CN" sz="2800" i="1"/>
              <a:t> </a:t>
            </a:r>
            <a:r>
              <a:rPr lang="en-US" altLang="zh-CN" sz="2800"/>
              <a:t>FIR</a:t>
            </a:r>
            <a:r>
              <a:rPr lang="zh-CN" altLang="en-US" sz="2800"/>
              <a:t>数字滤波器的系统函数为</a:t>
            </a:r>
          </a:p>
        </p:txBody>
      </p:sp>
      <p:graphicFrame>
        <p:nvGraphicFramePr>
          <p:cNvPr id="33800" name="Object 8"/>
          <p:cNvGraphicFramePr>
            <a:graphicFrameLocks noChangeAspect="1"/>
          </p:cNvGraphicFramePr>
          <p:nvPr/>
        </p:nvGraphicFramePr>
        <p:xfrm>
          <a:off x="4022726" y="3886201"/>
          <a:ext cx="3749675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43" name="Equation" r:id="rId5" imgW="1498320" imgH="431640" progId="Equation.3">
                  <p:embed/>
                </p:oleObj>
              </mc:Choice>
              <mc:Fallback>
                <p:oleObj name="Equation" r:id="rId5" imgW="1498320" imgH="431640" progId="Equation.3">
                  <p:embed/>
                  <p:pic>
                    <p:nvPicPr>
                      <p:cNvPr id="338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2726" y="3886201"/>
                        <a:ext cx="3749675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2" name="Text Box 10"/>
          <p:cNvSpPr txBox="1">
            <a:spLocks noChangeArrowheads="1"/>
          </p:cNvSpPr>
          <p:nvPr/>
        </p:nvSpPr>
        <p:spPr bwMode="auto">
          <a:xfrm>
            <a:off x="1943100" y="5164138"/>
            <a:ext cx="8286750" cy="116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990033"/>
                </a:solidFill>
              </a:rPr>
              <a:t>FIR</a:t>
            </a:r>
            <a:r>
              <a:rPr lang="zh-CN" altLang="en-US" sz="2800" b="1">
                <a:solidFill>
                  <a:srgbClr val="990033"/>
                </a:solidFill>
              </a:rPr>
              <a:t>数字滤波器设计：</a:t>
            </a:r>
          </a:p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990033"/>
                </a:solidFill>
              </a:rPr>
              <a:t>    由给定的系统频率特性</a:t>
            </a:r>
            <a:r>
              <a:rPr lang="en-US" altLang="zh-CN" sz="2800" b="1">
                <a:solidFill>
                  <a:srgbClr val="990033"/>
                </a:solidFill>
              </a:rPr>
              <a:t>, </a:t>
            </a:r>
            <a:r>
              <a:rPr lang="zh-CN" altLang="en-US" sz="2800" b="1">
                <a:solidFill>
                  <a:srgbClr val="990033"/>
                </a:solidFill>
              </a:rPr>
              <a:t>确定</a:t>
            </a:r>
            <a:r>
              <a:rPr lang="en-US" altLang="zh-CN" sz="2800" b="1" i="1">
                <a:solidFill>
                  <a:srgbClr val="990033"/>
                </a:solidFill>
              </a:rPr>
              <a:t>M</a:t>
            </a:r>
            <a:r>
              <a:rPr lang="zh-CN" altLang="en-US" sz="2800" b="1">
                <a:solidFill>
                  <a:srgbClr val="990033"/>
                </a:solidFill>
              </a:rPr>
              <a:t>及系数</a:t>
            </a:r>
            <a:r>
              <a:rPr lang="en-US" altLang="zh-CN" sz="2800" b="1" i="1">
                <a:solidFill>
                  <a:srgbClr val="990033"/>
                </a:solidFill>
              </a:rPr>
              <a:t>b</a:t>
            </a:r>
            <a:r>
              <a:rPr lang="en-US" altLang="zh-CN" sz="2800" b="1" i="1" baseline="-25000">
                <a:solidFill>
                  <a:srgbClr val="990033"/>
                </a:solidFill>
              </a:rPr>
              <a:t>k</a:t>
            </a:r>
            <a:r>
              <a:rPr lang="zh-CN" altLang="en-US" sz="2800" b="1">
                <a:solidFill>
                  <a:srgbClr val="990033"/>
                </a:solidFill>
              </a:rPr>
              <a:t>或</a:t>
            </a:r>
            <a:r>
              <a:rPr lang="en-US" altLang="zh-CN" sz="2800" b="1" i="1">
                <a:solidFill>
                  <a:srgbClr val="990033"/>
                </a:solidFill>
              </a:rPr>
              <a:t>h</a:t>
            </a:r>
            <a:r>
              <a:rPr lang="en-US" altLang="zh-CN" sz="2800" b="1">
                <a:solidFill>
                  <a:srgbClr val="990033"/>
                </a:solidFill>
              </a:rPr>
              <a:t>[</a:t>
            </a:r>
            <a:r>
              <a:rPr lang="en-US" altLang="zh-CN" sz="2800" b="1" i="1">
                <a:solidFill>
                  <a:srgbClr val="990033"/>
                </a:solidFill>
              </a:rPr>
              <a:t>k</a:t>
            </a:r>
            <a:r>
              <a:rPr lang="en-US" altLang="zh-CN" sz="2800" b="1">
                <a:solidFill>
                  <a:srgbClr val="990033"/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20178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2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Object 2"/>
          <p:cNvGraphicFramePr>
            <a:graphicFrameLocks noChangeAspect="1"/>
          </p:cNvGraphicFramePr>
          <p:nvPr/>
        </p:nvGraphicFramePr>
        <p:xfrm>
          <a:off x="2819400" y="1571626"/>
          <a:ext cx="7086600" cy="490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1" name="Visio" r:id="rId3" imgW="2508809" imgH="1737360" progId="Visio.Drawing.11">
                  <p:embed/>
                </p:oleObj>
              </mc:Choice>
              <mc:Fallback>
                <p:oleObj name="Visio" r:id="rId3" imgW="2508809" imgH="1737360" progId="Visio.Drawing.11">
                  <p:embed/>
                  <p:pic>
                    <p:nvPicPr>
                      <p:cNvPr id="317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571626"/>
                        <a:ext cx="7086600" cy="490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3733800" y="228600"/>
            <a:ext cx="4419600" cy="641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引  言</a:t>
            </a: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1676400" y="9144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1981200" y="1219201"/>
            <a:ext cx="480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000066"/>
                </a:solidFill>
                <a:ea typeface="隶书" panose="02010509060101010101" pitchFamily="49" charset="-122"/>
              </a:rPr>
              <a:t>FIR</a:t>
            </a:r>
            <a:r>
              <a:rPr lang="zh-CN" altLang="en-US" sz="2800" b="1">
                <a:solidFill>
                  <a:srgbClr val="000066"/>
                </a:solidFill>
                <a:latin typeface="宋体" panose="02010600030101010101" pitchFamily="2" charset="-122"/>
              </a:rPr>
              <a:t>滤波器设计指标</a:t>
            </a:r>
          </a:p>
        </p:txBody>
      </p:sp>
    </p:spTree>
    <p:extLst>
      <p:ext uri="{BB962C8B-B14F-4D97-AF65-F5344CB8AC3E}">
        <p14:creationId xmlns:p14="http://schemas.microsoft.com/office/powerpoint/2010/main" val="3577517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9366" y="457200"/>
            <a:ext cx="9249833" cy="914400"/>
          </a:xfrm>
        </p:spPr>
        <p:txBody>
          <a:bodyPr/>
          <a:lstStyle/>
          <a:p>
            <a:r>
              <a:rPr lang="zh-CN" altLang="en-US" dirty="0"/>
              <a:t>引  言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IIR</a:t>
            </a:r>
          </a:p>
          <a:p>
            <a:r>
              <a:rPr lang="en-US" altLang="zh-CN" dirty="0"/>
              <a:t>h</a:t>
            </a:r>
            <a:r>
              <a:rPr lang="zh-CN" altLang="en-US" dirty="0" smtClean="0"/>
              <a:t>（</a:t>
            </a:r>
            <a:r>
              <a:rPr lang="en-US" altLang="zh-CN" dirty="0" smtClean="0"/>
              <a:t>n</a:t>
            </a:r>
            <a:r>
              <a:rPr lang="zh-CN" altLang="en-US" dirty="0" smtClean="0"/>
              <a:t>）无限长，</a:t>
            </a:r>
            <a:r>
              <a:rPr lang="en-US" altLang="zh-CN" dirty="0" smtClean="0"/>
              <a:t>H</a:t>
            </a:r>
            <a:r>
              <a:rPr lang="zh-CN" altLang="en-US" dirty="0" smtClean="0"/>
              <a:t>（</a:t>
            </a:r>
            <a:r>
              <a:rPr lang="en-US" altLang="zh-CN" dirty="0" smtClean="0"/>
              <a:t>z</a:t>
            </a:r>
            <a:r>
              <a:rPr lang="zh-CN" altLang="en-US" dirty="0" smtClean="0"/>
              <a:t>）在有限</a:t>
            </a:r>
            <a:r>
              <a:rPr lang="en-US" altLang="zh-CN" dirty="0" smtClean="0"/>
              <a:t>z</a:t>
            </a:r>
            <a:r>
              <a:rPr lang="zh-CN" altLang="en-US" dirty="0" smtClean="0"/>
              <a:t>平面有极点</a:t>
            </a:r>
            <a:endParaRPr lang="en-US" altLang="zh-CN" dirty="0" smtClean="0"/>
          </a:p>
          <a:p>
            <a:r>
              <a:rPr lang="zh-CN" altLang="en-US" dirty="0"/>
              <a:t>结构</a:t>
            </a:r>
            <a:r>
              <a:rPr lang="zh-CN" altLang="en-US" dirty="0" smtClean="0"/>
              <a:t>上存在输出到输入的反馈，即结构上是递归的</a:t>
            </a:r>
            <a:endParaRPr lang="en-US" altLang="zh-CN" dirty="0" smtClean="0"/>
          </a:p>
          <a:p>
            <a:r>
              <a:rPr lang="zh-CN" altLang="en-US" dirty="0" smtClean="0"/>
              <a:t>因果稳定的</a:t>
            </a:r>
            <a:r>
              <a:rPr lang="en-US" altLang="zh-CN" dirty="0" smtClean="0"/>
              <a:t>IIR</a:t>
            </a:r>
            <a:r>
              <a:rPr lang="zh-CN" altLang="en-US" dirty="0" smtClean="0"/>
              <a:t>全部极点需要在单位圆内</a:t>
            </a:r>
            <a:endParaRPr lang="en-US" altLang="zh-CN" dirty="0" smtClean="0"/>
          </a:p>
          <a:p>
            <a:r>
              <a:rPr lang="en-US" altLang="zh-CN" dirty="0" smtClean="0"/>
              <a:t>FIR</a:t>
            </a:r>
          </a:p>
          <a:p>
            <a:r>
              <a:rPr lang="en-US" altLang="zh-CN" dirty="0"/>
              <a:t>h</a:t>
            </a:r>
            <a:r>
              <a:rPr lang="zh-CN" altLang="en-US" dirty="0" smtClean="0"/>
              <a:t>（</a:t>
            </a:r>
            <a:r>
              <a:rPr lang="en-US" altLang="zh-CN" dirty="0" smtClean="0"/>
              <a:t>n</a:t>
            </a:r>
            <a:r>
              <a:rPr lang="zh-CN" altLang="en-US" dirty="0" smtClean="0"/>
              <a:t>）有限长，</a:t>
            </a:r>
            <a:r>
              <a:rPr lang="en-US" altLang="zh-CN" dirty="0" smtClean="0"/>
              <a:t>H</a:t>
            </a:r>
            <a:r>
              <a:rPr lang="zh-CN" altLang="en-US" dirty="0" smtClean="0"/>
              <a:t>（</a:t>
            </a:r>
            <a:r>
              <a:rPr lang="en-US" altLang="zh-CN" dirty="0" smtClean="0"/>
              <a:t>z</a:t>
            </a:r>
            <a:r>
              <a:rPr lang="zh-CN" altLang="en-US" dirty="0" smtClean="0"/>
              <a:t>）始终稳定</a:t>
            </a:r>
            <a:endParaRPr lang="en-US" altLang="zh-CN" dirty="0" smtClean="0"/>
          </a:p>
          <a:p>
            <a:r>
              <a:rPr lang="zh-CN" altLang="en-US" smtClean="0"/>
              <a:t>结构上是非递归，但频率抽样滤波器也包括反馈部分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eaLnBrk="0" hangingPunct="0"/>
            <a:fld id="{8E25163F-56F0-4728-A241-57C30AA276FE}" type="slidenum">
              <a:rPr kumimoji="0" lang="zh-CN" altLang="en-US">
                <a:solidFill>
                  <a:srgbClr val="000000"/>
                </a:solidFill>
              </a:rPr>
              <a:pPr defTabSz="685800" eaLnBrk="0" hangingPunct="0"/>
              <a:t>5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4073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67840" y="457200"/>
            <a:ext cx="9611360" cy="91440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第七</a:t>
            </a:r>
            <a:r>
              <a:rPr lang="zh-CN" altLang="en-US" dirty="0" smtClean="0">
                <a:ea typeface="宋体" panose="02010600030101010101" pitchFamily="2" charset="-122"/>
              </a:rPr>
              <a:t>章 </a:t>
            </a:r>
            <a:r>
              <a:rPr lang="en-US" altLang="zh-CN" dirty="0" smtClean="0">
                <a:ea typeface="宋体" panose="02010600030101010101" pitchFamily="2" charset="-122"/>
              </a:rPr>
              <a:t>FIR</a:t>
            </a:r>
            <a:r>
              <a:rPr lang="zh-CN" altLang="en-US" dirty="0" smtClean="0">
                <a:ea typeface="宋体" panose="02010600030101010101" pitchFamily="2" charset="-122"/>
              </a:rPr>
              <a:t>滤波器设计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3600" dirty="0"/>
              <a:t>7.1 </a:t>
            </a:r>
            <a:r>
              <a:rPr lang="zh-CN" altLang="en-US" sz="3600" dirty="0"/>
              <a:t>线性相位</a:t>
            </a:r>
            <a:r>
              <a:rPr lang="en-US" altLang="zh-CN" sz="3600" dirty="0"/>
              <a:t>FIR</a:t>
            </a:r>
            <a:r>
              <a:rPr lang="zh-CN" altLang="en-US" sz="3600" dirty="0"/>
              <a:t>滤波器的特点 </a:t>
            </a:r>
          </a:p>
          <a:p>
            <a:r>
              <a:rPr lang="en-US" altLang="zh-CN" sz="3600" dirty="0"/>
              <a:t>7.2 </a:t>
            </a:r>
            <a:r>
              <a:rPr lang="zh-CN" altLang="en-US" sz="3600" dirty="0" smtClean="0"/>
              <a:t>用窗函数法</a:t>
            </a:r>
            <a:r>
              <a:rPr lang="zh-CN" altLang="en-US" sz="3600" dirty="0"/>
              <a:t>设计</a:t>
            </a:r>
            <a:r>
              <a:rPr lang="en-US" altLang="zh-CN" sz="3600" dirty="0"/>
              <a:t>FIR</a:t>
            </a:r>
            <a:r>
              <a:rPr lang="zh-CN" altLang="en-US" sz="3600" dirty="0"/>
              <a:t>滤波器 </a:t>
            </a:r>
            <a:endParaRPr lang="en-US" altLang="zh-CN" sz="3600" dirty="0" smtClean="0"/>
          </a:p>
          <a:p>
            <a:r>
              <a:rPr lang="en-US" altLang="zh-CN" sz="3600" dirty="0">
                <a:ea typeface="宋体" panose="02010600030101010101" pitchFamily="2" charset="-122"/>
              </a:rPr>
              <a:t>7.3 </a:t>
            </a:r>
            <a:r>
              <a:rPr lang="zh-CN" altLang="en-US" sz="3600" dirty="0">
                <a:ea typeface="宋体" panose="02010600030101010101" pitchFamily="2" charset="-122"/>
              </a:rPr>
              <a:t>用频率采样法设计</a:t>
            </a:r>
            <a:r>
              <a:rPr lang="en-US" altLang="zh-CN" sz="3600" dirty="0">
                <a:ea typeface="宋体" panose="02010600030101010101" pitchFamily="2" charset="-122"/>
              </a:rPr>
              <a:t>FIR</a:t>
            </a:r>
            <a:r>
              <a:rPr lang="zh-CN" altLang="en-US" sz="3600" dirty="0">
                <a:ea typeface="宋体" panose="02010600030101010101" pitchFamily="2" charset="-122"/>
              </a:rPr>
              <a:t>滤波器 </a:t>
            </a:r>
            <a:endParaRPr lang="en-US" altLang="zh-CN" sz="3600" dirty="0" smtClean="0">
              <a:ea typeface="宋体" panose="02010600030101010101" pitchFamily="2" charset="-122"/>
            </a:endParaRPr>
          </a:p>
          <a:p>
            <a:r>
              <a:rPr lang="en-US" altLang="zh-CN" sz="3600" dirty="0">
                <a:ea typeface="宋体" panose="02010600030101010101" pitchFamily="2" charset="-122"/>
              </a:rPr>
              <a:t>7.4 </a:t>
            </a:r>
            <a:r>
              <a:rPr lang="en-US" altLang="zh-CN" sz="3600" dirty="0" smtClean="0">
                <a:ea typeface="宋体" panose="02010600030101010101" pitchFamily="2" charset="-122"/>
              </a:rPr>
              <a:t>FIR</a:t>
            </a:r>
            <a:r>
              <a:rPr lang="zh-CN" altLang="en-US" sz="3600" dirty="0">
                <a:ea typeface="宋体" panose="02010600030101010101" pitchFamily="2" charset="-122"/>
              </a:rPr>
              <a:t>滤波器和</a:t>
            </a:r>
            <a:r>
              <a:rPr lang="en-US" altLang="zh-CN" sz="3600" dirty="0">
                <a:ea typeface="宋体" panose="02010600030101010101" pitchFamily="2" charset="-122"/>
              </a:rPr>
              <a:t>IIR</a:t>
            </a:r>
            <a:r>
              <a:rPr lang="zh-CN" altLang="en-US" sz="3600" dirty="0">
                <a:ea typeface="宋体" panose="02010600030101010101" pitchFamily="2" charset="-122"/>
              </a:rPr>
              <a:t>滤波器的比较</a:t>
            </a:r>
            <a:endParaRPr lang="en-US" altLang="zh-CN" sz="3600" dirty="0" smtClean="0">
              <a:ea typeface="宋体" panose="02010600030101010101" pitchFamily="2" charset="-122"/>
            </a:endParaRPr>
          </a:p>
          <a:p>
            <a:endParaRPr lang="en-US" altLang="zh-CN" dirty="0" smtClean="0">
              <a:ea typeface="宋体" panose="02010600030101010101" pitchFamily="2" charset="-122"/>
            </a:endParaRPr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3943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第</a:t>
            </a:r>
            <a:r>
              <a:rPr lang="en-US" altLang="zh-CN" dirty="0" smtClean="0">
                <a:ea typeface="宋体" panose="02010600030101010101" pitchFamily="2" charset="-122"/>
              </a:rPr>
              <a:t>7</a:t>
            </a:r>
            <a:r>
              <a:rPr lang="zh-CN" altLang="en-US" dirty="0" smtClean="0">
                <a:ea typeface="宋体" panose="02010600030101010101" pitchFamily="2" charset="-122"/>
              </a:rPr>
              <a:t>章 </a:t>
            </a:r>
            <a:r>
              <a:rPr lang="en-US" altLang="zh-CN" dirty="0" smtClean="0">
                <a:ea typeface="宋体" panose="02010600030101010101" pitchFamily="2" charset="-122"/>
              </a:rPr>
              <a:t>FIR</a:t>
            </a:r>
            <a:r>
              <a:rPr lang="zh-CN" altLang="en-US" dirty="0" smtClean="0">
                <a:ea typeface="宋体" panose="02010600030101010101" pitchFamily="2" charset="-122"/>
              </a:rPr>
              <a:t>数字滤波器的设计方法</a:t>
            </a:r>
          </a:p>
        </p:txBody>
      </p:sp>
      <p:sp>
        <p:nvSpPr>
          <p:cNvPr id="15667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69A5BE1A-6F84-44DE-8FBD-CB67E9D32ADA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6676" name="Text Box 4"/>
          <p:cNvSpPr txBox="1">
            <a:spLocks noChangeArrowheads="1"/>
          </p:cNvSpPr>
          <p:nvPr/>
        </p:nvSpPr>
        <p:spPr bwMode="auto">
          <a:xfrm>
            <a:off x="2057401" y="1554163"/>
            <a:ext cx="434816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7.1 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线性相位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FIR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滤波器的特点 </a:t>
            </a:r>
          </a:p>
        </p:txBody>
      </p:sp>
      <p:sp>
        <p:nvSpPr>
          <p:cNvPr id="156677" name="Text Box 5"/>
          <p:cNvSpPr txBox="1">
            <a:spLocks noChangeArrowheads="1"/>
          </p:cNvSpPr>
          <p:nvPr/>
        </p:nvSpPr>
        <p:spPr bwMode="auto">
          <a:xfrm>
            <a:off x="1981200" y="2209801"/>
            <a:ext cx="8077200" cy="224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如果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FIR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数字滤波器的单位脉冲响应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h(n)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是实数序列， 而且满足偶对称或奇对称的条件，即</a:t>
            </a:r>
            <a:endParaRPr kumimoji="1"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h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)=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-1-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)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或         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)=-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-1-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)</a:t>
            </a:r>
          </a:p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则滤波器就具有严格的线性相位特点。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010833" y="4792133"/>
            <a:ext cx="6587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共轭</a:t>
            </a:r>
            <a:r>
              <a:rPr lang="zh-CN" altLang="en-US" dirty="0" smtClean="0"/>
              <a:t>对称   </a:t>
            </a:r>
            <a:r>
              <a:rPr lang="en-US" altLang="zh-CN" dirty="0" smtClean="0"/>
              <a:t>h(n)=h*(-n)</a:t>
            </a:r>
          </a:p>
          <a:p>
            <a:r>
              <a:rPr lang="en-US" altLang="zh-CN" dirty="0" smtClean="0"/>
              <a:t>F[h(n)]=H(</a:t>
            </a:r>
            <a:r>
              <a:rPr lang="en-US" altLang="zh-CN" dirty="0" err="1" smtClean="0"/>
              <a:t>exp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jw</a:t>
            </a:r>
            <a:r>
              <a:rPr lang="en-US" altLang="zh-CN" dirty="0" smtClean="0"/>
              <a:t>));</a:t>
            </a:r>
            <a:r>
              <a:rPr lang="en-US" altLang="zh-CN" dirty="0"/>
              <a:t> </a:t>
            </a:r>
            <a:r>
              <a:rPr lang="en-US" altLang="zh-CN" dirty="0" smtClean="0"/>
              <a:t>F[h*(</a:t>
            </a:r>
            <a:r>
              <a:rPr lang="en-US" altLang="zh-CN" dirty="0"/>
              <a:t>n)]=</a:t>
            </a:r>
            <a:r>
              <a:rPr lang="en-US" altLang="zh-CN" dirty="0" smtClean="0"/>
              <a:t>H*(</a:t>
            </a:r>
            <a:r>
              <a:rPr lang="en-US" altLang="zh-CN" dirty="0" err="1"/>
              <a:t>exp</a:t>
            </a:r>
            <a:r>
              <a:rPr lang="en-US" altLang="zh-CN" dirty="0" smtClean="0"/>
              <a:t>(-</a:t>
            </a:r>
            <a:r>
              <a:rPr lang="en-US" altLang="zh-CN" dirty="0" err="1" smtClean="0"/>
              <a:t>jw</a:t>
            </a:r>
            <a:r>
              <a:rPr lang="en-US" altLang="zh-CN" dirty="0"/>
              <a:t>))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3865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标题 1"/>
          <p:cNvSpPr>
            <a:spLocks noGrp="1"/>
          </p:cNvSpPr>
          <p:nvPr>
            <p:ph type="title"/>
          </p:nvPr>
        </p:nvSpPr>
        <p:spPr>
          <a:xfrm>
            <a:off x="2743200" y="457200"/>
            <a:ext cx="73152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7.1 </a:t>
            </a:r>
            <a:r>
              <a:rPr lang="zh-CN" altLang="en-US" smtClean="0">
                <a:ea typeface="宋体" panose="02010600030101010101" pitchFamily="2" charset="-122"/>
              </a:rPr>
              <a:t>线性相位</a:t>
            </a:r>
            <a:r>
              <a:rPr lang="en-US" altLang="zh-CN" smtClean="0">
                <a:ea typeface="宋体" panose="02010600030101010101" pitchFamily="2" charset="-122"/>
              </a:rPr>
              <a:t>FIR</a:t>
            </a:r>
            <a:r>
              <a:rPr lang="zh-CN" altLang="en-US" smtClean="0">
                <a:ea typeface="宋体" panose="02010600030101010101" pitchFamily="2" charset="-122"/>
              </a:rPr>
              <a:t>滤波器的特点 </a:t>
            </a:r>
            <a:endParaRPr lang="zh-CN" altLang="en-US" b="0" smtClean="0">
              <a:ea typeface="宋体" panose="02010600030101010101" pitchFamily="2" charset="-122"/>
            </a:endParaRPr>
          </a:p>
        </p:txBody>
      </p:sp>
      <p:sp>
        <p:nvSpPr>
          <p:cNvPr id="15769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F87FCD4-F904-45FB-8F6D-E15AEFF38701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7700" name="Text Box 4"/>
          <p:cNvSpPr txBox="1">
            <a:spLocks noChangeArrowheads="1"/>
          </p:cNvSpPr>
          <p:nvPr/>
        </p:nvSpPr>
        <p:spPr bwMode="auto">
          <a:xfrm>
            <a:off x="1905000" y="1524000"/>
            <a:ext cx="8686800" cy="2154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7.1.1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线性相位特性</a:t>
            </a:r>
          </a:p>
          <a:p>
            <a:pPr algn="just"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       先看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偶对称的情况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</a:p>
          <a:p>
            <a:pPr algn="just"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h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)=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-1-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		  0≤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≤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-1               </a:t>
            </a:r>
            <a:endParaRPr kumimoji="1"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其系统函数为 </a:t>
            </a:r>
          </a:p>
        </p:txBody>
      </p:sp>
      <p:graphicFrame>
        <p:nvGraphicFramePr>
          <p:cNvPr id="157701" name="Object 5"/>
          <p:cNvGraphicFramePr>
            <a:graphicFrameLocks noChangeAspect="1"/>
          </p:cNvGraphicFramePr>
          <p:nvPr/>
        </p:nvGraphicFramePr>
        <p:xfrm>
          <a:off x="3581400" y="3581400"/>
          <a:ext cx="435133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" name="Equation" r:id="rId3" imgW="2387600" imgH="431800" progId="Equation.3">
                  <p:embed/>
                </p:oleObj>
              </mc:Choice>
              <mc:Fallback>
                <p:oleObj name="Equation" r:id="rId3" imgW="2387600" imgH="431800" progId="Equation.3">
                  <p:embed/>
                  <p:pic>
                    <p:nvPicPr>
                      <p:cNvPr id="1577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3581400"/>
                        <a:ext cx="4351338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702" name="Text Box 6"/>
          <p:cNvSpPr txBox="1">
            <a:spLocks noChangeArrowheads="1"/>
          </p:cNvSpPr>
          <p:nvPr/>
        </p:nvSpPr>
        <p:spPr bwMode="auto">
          <a:xfrm>
            <a:off x="2044700" y="4495800"/>
            <a:ext cx="19939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将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-1-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代入 </a:t>
            </a:r>
          </a:p>
        </p:txBody>
      </p:sp>
      <p:graphicFrame>
        <p:nvGraphicFramePr>
          <p:cNvPr id="157703" name="Object 7"/>
          <p:cNvGraphicFramePr>
            <a:graphicFrameLocks noChangeAspect="1"/>
          </p:cNvGraphicFramePr>
          <p:nvPr/>
        </p:nvGraphicFramePr>
        <p:xfrm>
          <a:off x="3551238" y="4876800"/>
          <a:ext cx="490696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" name="Equation" r:id="rId5" imgW="2692400" imgH="431800" progId="Equation.3">
                  <p:embed/>
                </p:oleObj>
              </mc:Choice>
              <mc:Fallback>
                <p:oleObj name="Equation" r:id="rId5" imgW="2692400" imgH="431800" progId="Equation.3">
                  <p:embed/>
                  <p:pic>
                    <p:nvPicPr>
                      <p:cNvPr id="15770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1238" y="4876800"/>
                        <a:ext cx="4906962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4" name="对象 8"/>
          <p:cNvGraphicFramePr>
            <a:graphicFrameLocks noChangeAspect="1"/>
          </p:cNvGraphicFramePr>
          <p:nvPr/>
        </p:nvGraphicFramePr>
        <p:xfrm>
          <a:off x="3657601" y="5919788"/>
          <a:ext cx="238601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" name="Equation" r:id="rId7" imgW="1320800" imgH="228600" progId="Equation.3">
                  <p:embed/>
                </p:oleObj>
              </mc:Choice>
              <mc:Fallback>
                <p:oleObj name="Equation" r:id="rId7" imgW="1320800" imgH="228600" progId="Equation.3">
                  <p:embed/>
                  <p:pic>
                    <p:nvPicPr>
                      <p:cNvPr id="157704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1" y="5919788"/>
                        <a:ext cx="2386013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705" name="TextBox 9"/>
          <p:cNvSpPr txBox="1">
            <a:spLocks noChangeArrowheads="1"/>
          </p:cNvSpPr>
          <p:nvPr/>
        </p:nvSpPr>
        <p:spPr bwMode="auto">
          <a:xfrm>
            <a:off x="2986088" y="5943600"/>
            <a:ext cx="442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</a:rPr>
              <a:t>即</a:t>
            </a:r>
          </a:p>
        </p:txBody>
      </p:sp>
    </p:spTree>
    <p:extLst>
      <p:ext uri="{BB962C8B-B14F-4D97-AF65-F5344CB8AC3E}">
        <p14:creationId xmlns:p14="http://schemas.microsoft.com/office/powerpoint/2010/main" val="1556440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7.1 </a:t>
            </a:r>
            <a:r>
              <a:rPr lang="zh-CN" altLang="en-US" smtClean="0">
                <a:ea typeface="宋体" panose="02010600030101010101" pitchFamily="2" charset="-122"/>
              </a:rPr>
              <a:t>线性相位</a:t>
            </a:r>
            <a:r>
              <a:rPr lang="en-US" altLang="zh-CN" smtClean="0">
                <a:ea typeface="宋体" panose="02010600030101010101" pitchFamily="2" charset="-122"/>
              </a:rPr>
              <a:t>FIR</a:t>
            </a:r>
            <a:r>
              <a:rPr lang="zh-CN" altLang="en-US" smtClean="0">
                <a:ea typeface="宋体" panose="02010600030101010101" pitchFamily="2" charset="-122"/>
              </a:rPr>
              <a:t>滤波器的特点 </a:t>
            </a:r>
          </a:p>
        </p:txBody>
      </p:sp>
      <p:sp>
        <p:nvSpPr>
          <p:cNvPr id="15872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7B8C00B-DE00-4B08-9220-6F7B07966C20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8724" name="Text Box 6"/>
          <p:cNvSpPr txBox="1">
            <a:spLocks noChangeArrowheads="1"/>
          </p:cNvSpPr>
          <p:nvPr/>
        </p:nvSpPr>
        <p:spPr bwMode="auto">
          <a:xfrm>
            <a:off x="1905001" y="1524000"/>
            <a:ext cx="15398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上式改写成 </a:t>
            </a:r>
          </a:p>
        </p:txBody>
      </p:sp>
      <p:graphicFrame>
        <p:nvGraphicFramePr>
          <p:cNvPr id="158725" name="Object 7"/>
          <p:cNvGraphicFramePr>
            <a:graphicFrameLocks noChangeAspect="1"/>
          </p:cNvGraphicFramePr>
          <p:nvPr/>
        </p:nvGraphicFramePr>
        <p:xfrm>
          <a:off x="3725864" y="1447800"/>
          <a:ext cx="4579937" cy="296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2" name="Equation" r:id="rId3" imgW="2667000" imgH="1727200" progId="Equation.3">
                  <p:embed/>
                </p:oleObj>
              </mc:Choice>
              <mc:Fallback>
                <p:oleObj name="Equation" r:id="rId3" imgW="2667000" imgH="1727200" progId="Equation.3">
                  <p:embed/>
                  <p:pic>
                    <p:nvPicPr>
                      <p:cNvPr id="15872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5864" y="1447800"/>
                        <a:ext cx="4579937" cy="296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26" name="Text Box 4"/>
          <p:cNvSpPr txBox="1">
            <a:spLocks noChangeArrowheads="1"/>
          </p:cNvSpPr>
          <p:nvPr/>
        </p:nvSpPr>
        <p:spPr bwMode="auto">
          <a:xfrm>
            <a:off x="1981200" y="4324350"/>
            <a:ext cx="25717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滤波器的频率响应为 </a:t>
            </a:r>
          </a:p>
        </p:txBody>
      </p:sp>
      <p:graphicFrame>
        <p:nvGraphicFramePr>
          <p:cNvPr id="158727" name="对象 11"/>
          <p:cNvGraphicFramePr>
            <a:graphicFrameLocks noChangeAspect="1"/>
          </p:cNvGraphicFramePr>
          <p:nvPr/>
        </p:nvGraphicFramePr>
        <p:xfrm>
          <a:off x="4519614" y="4495800"/>
          <a:ext cx="4319587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" name="Equation" r:id="rId5" imgW="2794000" imgH="838200" progId="Equation.3">
                  <p:embed/>
                </p:oleObj>
              </mc:Choice>
              <mc:Fallback>
                <p:oleObj name="Equation" r:id="rId5" imgW="2794000" imgH="838200" progId="Equation.3">
                  <p:embed/>
                  <p:pic>
                    <p:nvPicPr>
                      <p:cNvPr id="158727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9614" y="4495800"/>
                        <a:ext cx="4319587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8" name="对象 12"/>
          <p:cNvGraphicFramePr>
            <a:graphicFrameLocks noChangeAspect="1"/>
          </p:cNvGraphicFramePr>
          <p:nvPr/>
        </p:nvGraphicFramePr>
        <p:xfrm>
          <a:off x="4267200" y="6019801"/>
          <a:ext cx="33528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" name="Equation" r:id="rId7" imgW="1320800" imgH="228600" progId="Equation.3">
                  <p:embed/>
                </p:oleObj>
              </mc:Choice>
              <mc:Fallback>
                <p:oleObj name="Equation" r:id="rId7" imgW="1320800" imgH="228600" progId="Equation.3">
                  <p:embed/>
                  <p:pic>
                    <p:nvPicPr>
                      <p:cNvPr id="158728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6019801"/>
                        <a:ext cx="33528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1224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7.1 </a:t>
            </a:r>
            <a:r>
              <a:rPr lang="zh-CN" altLang="en-US" smtClean="0">
                <a:ea typeface="宋体" panose="02010600030101010101" pitchFamily="2" charset="-122"/>
              </a:rPr>
              <a:t>线性相位</a:t>
            </a:r>
            <a:r>
              <a:rPr lang="en-US" altLang="zh-CN" smtClean="0">
                <a:ea typeface="宋体" panose="02010600030101010101" pitchFamily="2" charset="-122"/>
              </a:rPr>
              <a:t>FIR</a:t>
            </a:r>
            <a:r>
              <a:rPr lang="zh-CN" altLang="en-US" smtClean="0">
                <a:ea typeface="宋体" panose="02010600030101010101" pitchFamily="2" charset="-122"/>
              </a:rPr>
              <a:t>滤波器的特点 </a:t>
            </a:r>
          </a:p>
        </p:txBody>
      </p:sp>
      <p:sp>
        <p:nvSpPr>
          <p:cNvPr id="15974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CDD8E382-1A94-4EAC-9302-991845F968FB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9748" name="Text Box 4"/>
          <p:cNvSpPr txBox="1">
            <a:spLocks noChangeArrowheads="1"/>
          </p:cNvSpPr>
          <p:nvPr/>
        </p:nvSpPr>
        <p:spPr bwMode="auto">
          <a:xfrm>
            <a:off x="2514601" y="5943601"/>
            <a:ext cx="397986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偶对称时线性相位特性 </a:t>
            </a:r>
          </a:p>
        </p:txBody>
      </p:sp>
      <p:pic>
        <p:nvPicPr>
          <p:cNvPr id="159749" name="Picture 8" descr="6-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400300"/>
            <a:ext cx="5715000" cy="339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59750" name="对象 6"/>
          <p:cNvGraphicFramePr>
            <a:graphicFrameLocks noChangeAspect="1"/>
          </p:cNvGraphicFramePr>
          <p:nvPr/>
        </p:nvGraphicFramePr>
        <p:xfrm>
          <a:off x="2209800" y="1524001"/>
          <a:ext cx="33528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Equation" r:id="rId4" imgW="1320800" imgH="228600" progId="Equation.3">
                  <p:embed/>
                </p:oleObj>
              </mc:Choice>
              <mc:Fallback>
                <p:oleObj name="Equation" r:id="rId4" imgW="1320800" imgH="228600" progId="Equation.3">
                  <p:embed/>
                  <p:pic>
                    <p:nvPicPr>
                      <p:cNvPr id="15975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524001"/>
                        <a:ext cx="33528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1" name="对象 7"/>
          <p:cNvGraphicFramePr>
            <a:graphicFrameLocks noChangeAspect="1"/>
          </p:cNvGraphicFramePr>
          <p:nvPr/>
        </p:nvGraphicFramePr>
        <p:xfrm>
          <a:off x="6413500" y="2362201"/>
          <a:ext cx="3721100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Equation" r:id="rId6" imgW="2159000" imgH="393700" progId="Equation.3">
                  <p:embed/>
                </p:oleObj>
              </mc:Choice>
              <mc:Fallback>
                <p:oleObj name="Equation" r:id="rId6" imgW="2159000" imgH="393700" progId="Equation.3">
                  <p:embed/>
                  <p:pic>
                    <p:nvPicPr>
                      <p:cNvPr id="159751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500" y="2362201"/>
                        <a:ext cx="3721100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52" name="Text Box 4"/>
          <p:cNvSpPr txBox="1">
            <a:spLocks noChangeArrowheads="1"/>
          </p:cNvSpPr>
          <p:nvPr/>
        </p:nvSpPr>
        <p:spPr bwMode="auto">
          <a:xfrm>
            <a:off x="5334001" y="2492375"/>
            <a:ext cx="12176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群延迟：</a:t>
            </a:r>
          </a:p>
        </p:txBody>
      </p:sp>
    </p:spTree>
    <p:extLst>
      <p:ext uri="{BB962C8B-B14F-4D97-AF65-F5344CB8AC3E}">
        <p14:creationId xmlns:p14="http://schemas.microsoft.com/office/powerpoint/2010/main" val="1855180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1628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7.1 </a:t>
            </a:r>
            <a:r>
              <a:rPr lang="zh-CN" altLang="en-US" smtClean="0">
                <a:ea typeface="宋体" panose="02010600030101010101" pitchFamily="2" charset="-122"/>
              </a:rPr>
              <a:t>线性相位</a:t>
            </a:r>
            <a:r>
              <a:rPr lang="en-US" altLang="zh-CN" smtClean="0">
                <a:ea typeface="宋体" panose="02010600030101010101" pitchFamily="2" charset="-122"/>
              </a:rPr>
              <a:t>FIR</a:t>
            </a:r>
            <a:r>
              <a:rPr lang="zh-CN" altLang="en-US" smtClean="0">
                <a:ea typeface="宋体" panose="02010600030101010101" pitchFamily="2" charset="-122"/>
              </a:rPr>
              <a:t>滤波器的特点 </a:t>
            </a:r>
          </a:p>
        </p:txBody>
      </p:sp>
      <p:sp>
        <p:nvSpPr>
          <p:cNvPr id="16077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6426B6B1-FFBA-465E-8669-97231CDB0B46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0772" name="TextBox 4"/>
          <p:cNvSpPr txBox="1">
            <a:spLocks noChangeArrowheads="1"/>
          </p:cNvSpPr>
          <p:nvPr/>
        </p:nvSpPr>
        <p:spPr bwMode="auto">
          <a:xfrm>
            <a:off x="2209801" y="1600200"/>
            <a:ext cx="2536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i="1">
                <a:solidFill>
                  <a:srgbClr val="000000"/>
                </a:solidFill>
              </a:rPr>
              <a:t>h</a:t>
            </a:r>
            <a:r>
              <a:rPr lang="en-US" altLang="zh-CN">
                <a:solidFill>
                  <a:srgbClr val="000000"/>
                </a:solidFill>
              </a:rPr>
              <a:t>(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>
                <a:solidFill>
                  <a:srgbClr val="000000"/>
                </a:solidFill>
              </a:rPr>
              <a:t>)</a:t>
            </a:r>
            <a:r>
              <a:rPr lang="zh-CN" altLang="en-US">
                <a:solidFill>
                  <a:srgbClr val="000000"/>
                </a:solidFill>
              </a:rPr>
              <a:t>奇对称的情况</a:t>
            </a:r>
            <a:r>
              <a:rPr lang="en-US" altLang="zh-CN">
                <a:solidFill>
                  <a:srgbClr val="000000"/>
                </a:solidFill>
              </a:rPr>
              <a:t>:  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60773" name="Text Box 8"/>
          <p:cNvSpPr txBox="1">
            <a:spLocks noChangeArrowheads="1"/>
          </p:cNvSpPr>
          <p:nvPr/>
        </p:nvSpPr>
        <p:spPr bwMode="auto">
          <a:xfrm>
            <a:off x="4521200" y="1566863"/>
            <a:ext cx="416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)=-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-1-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)         0≤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≤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-1 </a:t>
            </a:r>
          </a:p>
        </p:txBody>
      </p:sp>
      <p:sp>
        <p:nvSpPr>
          <p:cNvPr id="160774" name="Text Box 4"/>
          <p:cNvSpPr txBox="1">
            <a:spLocks noChangeArrowheads="1"/>
          </p:cNvSpPr>
          <p:nvPr/>
        </p:nvSpPr>
        <p:spPr bwMode="auto">
          <a:xfrm>
            <a:off x="2362201" y="2286001"/>
            <a:ext cx="22209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其系统函数为 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60775" name="Object 5"/>
          <p:cNvGraphicFramePr>
            <a:graphicFrameLocks noChangeAspect="1"/>
          </p:cNvGraphicFramePr>
          <p:nvPr/>
        </p:nvGraphicFramePr>
        <p:xfrm>
          <a:off x="4535488" y="2165350"/>
          <a:ext cx="3084512" cy="377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" name="Equation" r:id="rId3" imgW="1638300" imgH="2006600" progId="Equation.3">
                  <p:embed/>
                </p:oleObj>
              </mc:Choice>
              <mc:Fallback>
                <p:oleObj name="Equation" r:id="rId3" imgW="1638300" imgH="2006600" progId="Equation.3">
                  <p:embed/>
                  <p:pic>
                    <p:nvPicPr>
                      <p:cNvPr id="16077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5488" y="2165350"/>
                        <a:ext cx="3084512" cy="377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776" name="Text Box 6"/>
          <p:cNvSpPr txBox="1">
            <a:spLocks noChangeArrowheads="1"/>
          </p:cNvSpPr>
          <p:nvPr/>
        </p:nvSpPr>
        <p:spPr bwMode="auto">
          <a:xfrm>
            <a:off x="4083051" y="5943601"/>
            <a:ext cx="8803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因此 </a:t>
            </a:r>
          </a:p>
        </p:txBody>
      </p:sp>
      <p:sp>
        <p:nvSpPr>
          <p:cNvPr id="160777" name="Text Box 7"/>
          <p:cNvSpPr txBox="1">
            <a:spLocks noChangeArrowheads="1"/>
          </p:cNvSpPr>
          <p:nvPr/>
        </p:nvSpPr>
        <p:spPr bwMode="auto">
          <a:xfrm>
            <a:off x="5029200" y="5943600"/>
            <a:ext cx="2097088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)=-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kumimoji="1" lang="en-US" altLang="zh-CN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-(</a:t>
            </a:r>
            <a:r>
              <a:rPr kumimoji="1" lang="en-US" altLang="zh-CN" i="1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-1)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kumimoji="1" lang="en-US" altLang="zh-CN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-1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312050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7.1 </a:t>
            </a:r>
            <a:r>
              <a:rPr lang="zh-CN" altLang="en-US" smtClean="0">
                <a:ea typeface="宋体" panose="02010600030101010101" pitchFamily="2" charset="-122"/>
              </a:rPr>
              <a:t>线性相位</a:t>
            </a:r>
            <a:r>
              <a:rPr lang="en-US" altLang="zh-CN" smtClean="0">
                <a:ea typeface="宋体" panose="02010600030101010101" pitchFamily="2" charset="-122"/>
              </a:rPr>
              <a:t>FIR</a:t>
            </a:r>
            <a:r>
              <a:rPr lang="zh-CN" altLang="en-US" smtClean="0">
                <a:ea typeface="宋体" panose="02010600030101010101" pitchFamily="2" charset="-122"/>
              </a:rPr>
              <a:t>滤波器的特点 </a:t>
            </a:r>
          </a:p>
        </p:txBody>
      </p:sp>
      <p:sp>
        <p:nvSpPr>
          <p:cNvPr id="16179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B2AFEB4-F4FF-4ABD-B9E2-D4EA54E21876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1796" name="Text Box 4"/>
          <p:cNvSpPr txBox="1">
            <a:spLocks noChangeArrowheads="1"/>
          </p:cNvSpPr>
          <p:nvPr/>
        </p:nvSpPr>
        <p:spPr bwMode="auto">
          <a:xfrm>
            <a:off x="1982788" y="1581150"/>
            <a:ext cx="205581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同样可以改写成 </a:t>
            </a:r>
          </a:p>
        </p:txBody>
      </p:sp>
      <p:graphicFrame>
        <p:nvGraphicFramePr>
          <p:cNvPr id="161797" name="Object 5"/>
          <p:cNvGraphicFramePr>
            <a:graphicFrameLocks noChangeAspect="1"/>
          </p:cNvGraphicFramePr>
          <p:nvPr/>
        </p:nvGraphicFramePr>
        <p:xfrm>
          <a:off x="4030663" y="1481139"/>
          <a:ext cx="4267200" cy="2763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0" name="Equation" r:id="rId3" imgW="2667000" imgH="1727200" progId="Equation.3">
                  <p:embed/>
                </p:oleObj>
              </mc:Choice>
              <mc:Fallback>
                <p:oleObj name="Equation" r:id="rId3" imgW="2667000" imgH="1727200" progId="Equation.3">
                  <p:embed/>
                  <p:pic>
                    <p:nvPicPr>
                      <p:cNvPr id="1617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0663" y="1481139"/>
                        <a:ext cx="4267200" cy="2763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798" name="对象 15"/>
          <p:cNvGraphicFramePr>
            <a:graphicFrameLocks noChangeAspect="1"/>
          </p:cNvGraphicFramePr>
          <p:nvPr/>
        </p:nvGraphicFramePr>
        <p:xfrm>
          <a:off x="3810000" y="4398964"/>
          <a:ext cx="4673600" cy="192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1" name="Equation" r:id="rId5" imgW="3022600" imgH="1244600" progId="Equation.DSMT4">
                  <p:embed/>
                </p:oleObj>
              </mc:Choice>
              <mc:Fallback>
                <p:oleObj name="Equation" r:id="rId5" imgW="3022600" imgH="1244600" progId="Equation.DSMT4">
                  <p:embed/>
                  <p:pic>
                    <p:nvPicPr>
                      <p:cNvPr id="161798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4398964"/>
                        <a:ext cx="4673600" cy="1925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799" name="Text Box 4"/>
          <p:cNvSpPr txBox="1">
            <a:spLocks noChangeArrowheads="1"/>
          </p:cNvSpPr>
          <p:nvPr/>
        </p:nvSpPr>
        <p:spPr bwMode="auto">
          <a:xfrm>
            <a:off x="1828801" y="4343400"/>
            <a:ext cx="18827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其频率响应为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55874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标题 1"/>
          <p:cNvSpPr>
            <a:spLocks noGrp="1"/>
          </p:cNvSpPr>
          <p:nvPr>
            <p:ph type="title"/>
          </p:nvPr>
        </p:nvSpPr>
        <p:spPr>
          <a:xfrm>
            <a:off x="2743200" y="457200"/>
            <a:ext cx="73152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7.1 </a:t>
            </a:r>
            <a:r>
              <a:rPr lang="zh-CN" altLang="en-US" smtClean="0">
                <a:ea typeface="宋体" panose="02010600030101010101" pitchFamily="2" charset="-122"/>
              </a:rPr>
              <a:t>线性相位</a:t>
            </a:r>
            <a:r>
              <a:rPr lang="en-US" altLang="zh-CN" smtClean="0">
                <a:ea typeface="宋体" panose="02010600030101010101" pitchFamily="2" charset="-122"/>
              </a:rPr>
              <a:t>FIR</a:t>
            </a:r>
            <a:r>
              <a:rPr lang="zh-CN" altLang="en-US" smtClean="0">
                <a:ea typeface="宋体" panose="02010600030101010101" pitchFamily="2" charset="-122"/>
              </a:rPr>
              <a:t>滤波器的特点 </a:t>
            </a:r>
          </a:p>
        </p:txBody>
      </p:sp>
      <p:sp>
        <p:nvSpPr>
          <p:cNvPr id="16281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DFF7496-83C0-4E04-B43A-B30B94BD676E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62820" name="对象 4"/>
          <p:cNvGraphicFramePr>
            <a:graphicFrameLocks noChangeAspect="1"/>
          </p:cNvGraphicFramePr>
          <p:nvPr/>
        </p:nvGraphicFramePr>
        <p:xfrm>
          <a:off x="5441950" y="4725988"/>
          <a:ext cx="3321050" cy="152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" name="Equation" r:id="rId3" imgW="2159000" imgH="990600" progId="Equation.3">
                  <p:embed/>
                </p:oleObj>
              </mc:Choice>
              <mc:Fallback>
                <p:oleObj name="Equation" r:id="rId3" imgW="2159000" imgH="990600" progId="Equation.3">
                  <p:embed/>
                  <p:pic>
                    <p:nvPicPr>
                      <p:cNvPr id="16282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1950" y="4725988"/>
                        <a:ext cx="3321050" cy="152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2821" name="Picture 7" descr="6-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638300"/>
            <a:ext cx="5715000" cy="316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1643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标题 1"/>
          <p:cNvSpPr>
            <a:spLocks noGrp="1"/>
          </p:cNvSpPr>
          <p:nvPr>
            <p:ph type="title"/>
          </p:nvPr>
        </p:nvSpPr>
        <p:spPr>
          <a:xfrm>
            <a:off x="1862666" y="490538"/>
            <a:ext cx="8758768" cy="914400"/>
          </a:xfrm>
        </p:spPr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7.1 </a:t>
            </a:r>
            <a:r>
              <a:rPr lang="zh-CN" altLang="en-US" dirty="0" smtClean="0">
                <a:ea typeface="宋体" panose="02010600030101010101" pitchFamily="2" charset="-122"/>
              </a:rPr>
              <a:t>线性相位</a:t>
            </a:r>
            <a:r>
              <a:rPr lang="en-US" altLang="zh-CN" dirty="0" smtClean="0">
                <a:ea typeface="宋体" panose="02010600030101010101" pitchFamily="2" charset="-122"/>
              </a:rPr>
              <a:t>FIR</a:t>
            </a:r>
            <a:r>
              <a:rPr lang="zh-CN" altLang="en-US" dirty="0" smtClean="0">
                <a:ea typeface="宋体" panose="02010600030101010101" pitchFamily="2" charset="-122"/>
              </a:rPr>
              <a:t>滤波器的</a:t>
            </a:r>
            <a:r>
              <a:rPr lang="zh-CN" altLang="en-US" dirty="0" smtClean="0">
                <a:ea typeface="宋体" panose="02010600030101010101" pitchFamily="2" charset="-122"/>
              </a:rPr>
              <a:t>特点</a:t>
            </a:r>
            <a:r>
              <a:rPr lang="en-US" altLang="zh-CN" dirty="0" smtClean="0">
                <a:ea typeface="宋体" panose="02010600030101010101" pitchFamily="2" charset="-122"/>
              </a:rPr>
              <a:t>(0,pi</a:t>
            </a:r>
            <a:r>
              <a:rPr lang="zh-CN" altLang="en-US" dirty="0" smtClean="0">
                <a:ea typeface="宋体" panose="02010600030101010101" pitchFamily="2" charset="-122"/>
              </a:rPr>
              <a:t>，</a:t>
            </a:r>
            <a:r>
              <a:rPr lang="en-US" altLang="zh-CN" dirty="0" smtClean="0">
                <a:ea typeface="宋体" panose="02010600030101010101" pitchFamily="2" charset="-122"/>
              </a:rPr>
              <a:t>2pi</a:t>
            </a:r>
            <a:r>
              <a:rPr lang="zh-CN" altLang="en-US" dirty="0" smtClean="0">
                <a:ea typeface="宋体" panose="02010600030101010101" pitchFamily="2" charset="-122"/>
              </a:rPr>
              <a:t>处对称特性</a:t>
            </a:r>
            <a:r>
              <a:rPr lang="en-US" altLang="zh-CN" dirty="0" smtClean="0">
                <a:ea typeface="宋体" panose="02010600030101010101" pitchFamily="2" charset="-122"/>
              </a:rPr>
              <a:t>)</a:t>
            </a:r>
            <a:r>
              <a:rPr lang="zh-CN" altLang="en-US" dirty="0" smtClean="0">
                <a:ea typeface="宋体" panose="02010600030101010101" pitchFamily="2" charset="-122"/>
              </a:rPr>
              <a:t> 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16384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19D28A10-616D-4D75-811A-7995F9AA9A23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44" name="Text Box 4"/>
          <p:cNvSpPr txBox="1">
            <a:spLocks noChangeArrowheads="1"/>
          </p:cNvSpPr>
          <p:nvPr/>
        </p:nvSpPr>
        <p:spPr bwMode="auto">
          <a:xfrm>
            <a:off x="1892301" y="1524001"/>
            <a:ext cx="28098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7.1.2 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幅度响应特性 </a:t>
            </a:r>
          </a:p>
        </p:txBody>
      </p:sp>
      <p:sp>
        <p:nvSpPr>
          <p:cNvPr id="163845" name="Text Box 5"/>
          <p:cNvSpPr txBox="1">
            <a:spLocks noChangeArrowheads="1"/>
          </p:cNvSpPr>
          <p:nvPr/>
        </p:nvSpPr>
        <p:spPr bwMode="auto">
          <a:xfrm>
            <a:off x="2268729" y="2005012"/>
            <a:ext cx="5671745" cy="602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3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第一种类型：</a:t>
            </a:r>
            <a:r>
              <a:rPr kumimoji="1" lang="zh-CN" altLang="en-US" sz="2400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为偶对称，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为奇数</a:t>
            </a:r>
          </a:p>
        </p:txBody>
      </p:sp>
      <p:graphicFrame>
        <p:nvGraphicFramePr>
          <p:cNvPr id="1638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9103846"/>
              </p:ext>
            </p:extLst>
          </p:nvPr>
        </p:nvGraphicFramePr>
        <p:xfrm>
          <a:off x="3933825" y="2635250"/>
          <a:ext cx="3406775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8" name="公式" r:id="rId3" imgW="2145960" imgH="457200" progId="Equation.3">
                  <p:embed/>
                </p:oleObj>
              </mc:Choice>
              <mc:Fallback>
                <p:oleObj name="公式" r:id="rId3" imgW="2145960" imgH="457200" progId="Equation.3">
                  <p:embed/>
                  <p:pic>
                    <p:nvPicPr>
                      <p:cNvPr id="1638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3825" y="2635250"/>
                        <a:ext cx="3406775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847" name="Group 9"/>
          <p:cNvGrpSpPr>
            <a:grpSpLocks/>
          </p:cNvGrpSpPr>
          <p:nvPr/>
        </p:nvGrpSpPr>
        <p:grpSpPr bwMode="auto">
          <a:xfrm>
            <a:off x="1752600" y="3352801"/>
            <a:ext cx="8839200" cy="1571625"/>
            <a:chOff x="96" y="1808"/>
            <a:chExt cx="5568" cy="990"/>
          </a:xfrm>
        </p:grpSpPr>
        <p:sp>
          <p:nvSpPr>
            <p:cNvPr id="163849" name="Text Box 7"/>
            <p:cNvSpPr txBox="1">
              <a:spLocks noChangeArrowheads="1"/>
            </p:cNvSpPr>
            <p:nvPr/>
          </p:nvSpPr>
          <p:spPr bwMode="auto">
            <a:xfrm>
              <a:off x="96" y="1888"/>
              <a:ext cx="5568" cy="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algn="just" fontAlgn="base">
                <a:lnSpc>
                  <a:spcPct val="158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不但</a:t>
              </a: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h</a:t>
              </a: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  <a:r>
                <a: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对于</a:t>
              </a: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-1)/2 </a:t>
              </a:r>
              <a:r>
                <a: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呈偶对称，而且			  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algn="just" fontAlgn="base">
                <a:lnSpc>
                  <a:spcPct val="158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   </a:t>
              </a:r>
              <a:r>
                <a: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也对</a:t>
              </a: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-1)/2 </a:t>
              </a:r>
              <a:r>
                <a: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呈偶对称，即</a:t>
              </a: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: </a:t>
              </a:r>
            </a:p>
          </p:txBody>
        </p:sp>
        <p:graphicFrame>
          <p:nvGraphicFramePr>
            <p:cNvPr id="163850" name="Object 8"/>
            <p:cNvGraphicFramePr>
              <a:graphicFrameLocks noChangeAspect="1"/>
            </p:cNvGraphicFramePr>
            <p:nvPr/>
          </p:nvGraphicFramePr>
          <p:xfrm>
            <a:off x="3456" y="1808"/>
            <a:ext cx="1488" cy="5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49" name="Equation" r:id="rId5" imgW="1193800" imgH="457200" progId="Equation.DSMT4">
                    <p:embed/>
                  </p:oleObj>
                </mc:Choice>
                <mc:Fallback>
                  <p:oleObj name="Equation" r:id="rId5" imgW="1193800" imgH="457200" progId="Equation.DSMT4">
                    <p:embed/>
                    <p:pic>
                      <p:nvPicPr>
                        <p:cNvPr id="16385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1808"/>
                          <a:ext cx="1488" cy="5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3848" name="对象 11"/>
          <p:cNvGraphicFramePr>
            <a:graphicFrameLocks noChangeAspect="1"/>
          </p:cNvGraphicFramePr>
          <p:nvPr/>
        </p:nvGraphicFramePr>
        <p:xfrm>
          <a:off x="3481389" y="4891088"/>
          <a:ext cx="5153025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0" name="Equation" r:id="rId7" imgW="3149600" imgH="457200" progId="Equation.3">
                  <p:embed/>
                </p:oleObj>
              </mc:Choice>
              <mc:Fallback>
                <p:oleObj name="Equation" r:id="rId7" imgW="3149600" imgH="457200" progId="Equation.3">
                  <p:embed/>
                  <p:pic>
                    <p:nvPicPr>
                      <p:cNvPr id="163848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1389" y="4891088"/>
                        <a:ext cx="5153025" cy="74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62109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标题 1"/>
          <p:cNvSpPr>
            <a:spLocks noGrp="1"/>
          </p:cNvSpPr>
          <p:nvPr>
            <p:ph type="title"/>
          </p:nvPr>
        </p:nvSpPr>
        <p:spPr>
          <a:xfrm>
            <a:off x="2667000" y="457200"/>
            <a:ext cx="73914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7.1 </a:t>
            </a:r>
            <a:r>
              <a:rPr lang="zh-CN" altLang="en-US" smtClean="0">
                <a:ea typeface="宋体" panose="02010600030101010101" pitchFamily="2" charset="-122"/>
              </a:rPr>
              <a:t>线性相位</a:t>
            </a:r>
            <a:r>
              <a:rPr lang="en-US" altLang="zh-CN" smtClean="0">
                <a:ea typeface="宋体" panose="02010600030101010101" pitchFamily="2" charset="-122"/>
              </a:rPr>
              <a:t>FIR</a:t>
            </a:r>
            <a:r>
              <a:rPr lang="zh-CN" altLang="en-US" smtClean="0">
                <a:ea typeface="宋体" panose="02010600030101010101" pitchFamily="2" charset="-122"/>
              </a:rPr>
              <a:t>滤波器的特点 </a:t>
            </a:r>
          </a:p>
        </p:txBody>
      </p:sp>
      <p:sp>
        <p:nvSpPr>
          <p:cNvPr id="16486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8755B66-A9F2-4530-AF97-53DA5D82ACC6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868" name="Text Box 1030"/>
          <p:cNvSpPr txBox="1">
            <a:spLocks noChangeArrowheads="1"/>
          </p:cNvSpPr>
          <p:nvPr/>
        </p:nvSpPr>
        <p:spPr bwMode="auto">
          <a:xfrm>
            <a:off x="1946276" y="1676400"/>
            <a:ext cx="62595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再进行一次换元，即令		            ，则可改写为 </a:t>
            </a:r>
          </a:p>
        </p:txBody>
      </p:sp>
      <p:graphicFrame>
        <p:nvGraphicFramePr>
          <p:cNvPr id="164869" name="Object 1031"/>
          <p:cNvGraphicFramePr>
            <a:graphicFrameLocks noChangeAspect="1"/>
          </p:cNvGraphicFramePr>
          <p:nvPr/>
        </p:nvGraphicFramePr>
        <p:xfrm>
          <a:off x="4668838" y="1508126"/>
          <a:ext cx="1731962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9" name="Equation" r:id="rId3" imgW="875920" imgH="393529" progId="Equation.3">
                  <p:embed/>
                </p:oleObj>
              </mc:Choice>
              <mc:Fallback>
                <p:oleObj name="Equation" r:id="rId3" imgW="875920" imgH="393529" progId="Equation.3">
                  <p:embed/>
                  <p:pic>
                    <p:nvPicPr>
                      <p:cNvPr id="164869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8838" y="1508126"/>
                        <a:ext cx="1731962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0" name="Object 1032"/>
          <p:cNvGraphicFramePr>
            <a:graphicFrameLocks noChangeAspect="1"/>
          </p:cNvGraphicFramePr>
          <p:nvPr/>
        </p:nvGraphicFramePr>
        <p:xfrm>
          <a:off x="3276601" y="2362201"/>
          <a:ext cx="550862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0" name="Equation" r:id="rId5" imgW="3060700" imgH="431800" progId="Equation.3">
                  <p:embed/>
                </p:oleObj>
              </mc:Choice>
              <mc:Fallback>
                <p:oleObj name="Equation" r:id="rId5" imgW="3060700" imgH="431800" progId="Equation.3">
                  <p:embed/>
                  <p:pic>
                    <p:nvPicPr>
                      <p:cNvPr id="16487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2362201"/>
                        <a:ext cx="5508625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1" name="Object 5"/>
          <p:cNvGraphicFramePr>
            <a:graphicFrameLocks noChangeAspect="1"/>
          </p:cNvGraphicFramePr>
          <p:nvPr/>
        </p:nvGraphicFramePr>
        <p:xfrm>
          <a:off x="3581400" y="3429000"/>
          <a:ext cx="2706688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1" name="Equation" r:id="rId7" imgW="1600200" imgH="431800" progId="Equation.3">
                  <p:embed/>
                </p:oleObj>
              </mc:Choice>
              <mc:Fallback>
                <p:oleObj name="Equation" r:id="rId7" imgW="1600200" imgH="431800" progId="Equation.3">
                  <p:embed/>
                  <p:pic>
                    <p:nvPicPr>
                      <p:cNvPr id="16487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3429000"/>
                        <a:ext cx="2706688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72" name="Text Box 7"/>
          <p:cNvSpPr txBox="1">
            <a:spLocks noChangeArrowheads="1"/>
          </p:cNvSpPr>
          <p:nvPr/>
        </p:nvSpPr>
        <p:spPr bwMode="auto">
          <a:xfrm>
            <a:off x="2057401" y="4419600"/>
            <a:ext cx="8493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式中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: </a:t>
            </a:r>
          </a:p>
        </p:txBody>
      </p:sp>
      <p:graphicFrame>
        <p:nvGraphicFramePr>
          <p:cNvPr id="164873" name="Object 8"/>
          <p:cNvGraphicFramePr>
            <a:graphicFrameLocks noChangeAspect="1"/>
          </p:cNvGraphicFramePr>
          <p:nvPr/>
        </p:nvGraphicFramePr>
        <p:xfrm>
          <a:off x="2743200" y="4191000"/>
          <a:ext cx="2057400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2" name="Equation" r:id="rId9" imgW="1040948" imgH="431613" progId="Equation.3">
                  <p:embed/>
                </p:oleObj>
              </mc:Choice>
              <mc:Fallback>
                <p:oleObj name="Equation" r:id="rId9" imgW="1040948" imgH="431613" progId="Equation.3">
                  <p:embed/>
                  <p:pic>
                    <p:nvPicPr>
                      <p:cNvPr id="16487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191000"/>
                        <a:ext cx="2057400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4" name="Object 10"/>
          <p:cNvGraphicFramePr>
            <a:graphicFrameLocks noChangeAspect="1"/>
          </p:cNvGraphicFramePr>
          <p:nvPr/>
        </p:nvGraphicFramePr>
        <p:xfrm>
          <a:off x="5105401" y="4191000"/>
          <a:ext cx="2659063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3" name="Equation" r:id="rId11" imgW="1346200" imgH="431800" progId="Equation.3">
                  <p:embed/>
                </p:oleObj>
              </mc:Choice>
              <mc:Fallback>
                <p:oleObj name="Equation" r:id="rId11" imgW="1346200" imgH="431800" progId="Equation.3">
                  <p:embed/>
                  <p:pic>
                    <p:nvPicPr>
                      <p:cNvPr id="16487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1" y="4191000"/>
                        <a:ext cx="2659063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75" name="Text Box 11"/>
          <p:cNvSpPr txBox="1">
            <a:spLocks noChangeArrowheads="1"/>
          </p:cNvSpPr>
          <p:nvPr/>
        </p:nvSpPr>
        <p:spPr bwMode="auto">
          <a:xfrm>
            <a:off x="7891463" y="4343401"/>
            <a:ext cx="26084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=1,2,3,…,(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-1)/2 </a:t>
            </a:r>
          </a:p>
        </p:txBody>
      </p:sp>
      <p:sp>
        <p:nvSpPr>
          <p:cNvPr id="164876" name="Text Box 13"/>
          <p:cNvSpPr txBox="1">
            <a:spLocks noChangeArrowheads="1"/>
          </p:cNvSpPr>
          <p:nvPr/>
        </p:nvSpPr>
        <p:spPr bwMode="auto">
          <a:xfrm>
            <a:off x="1752600" y="5137151"/>
            <a:ext cx="8763000" cy="1049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式中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cos(</a:t>
            </a:r>
            <a:r>
              <a:rPr kumimoji="1"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ωn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项对</a:t>
            </a:r>
            <a:r>
              <a:rPr kumimoji="1" lang="en-US" altLang="zh-CN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=0,π,2π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皆为偶对称，因此幅度函数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对于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ω=0, π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2π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也呈偶对称。 </a:t>
            </a:r>
          </a:p>
        </p:txBody>
      </p:sp>
    </p:spTree>
    <p:extLst>
      <p:ext uri="{BB962C8B-B14F-4D97-AF65-F5344CB8AC3E}">
        <p14:creationId xmlns:p14="http://schemas.microsoft.com/office/powerpoint/2010/main" val="1699366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7.1 </a:t>
            </a:r>
            <a:r>
              <a:rPr lang="zh-CN" altLang="en-US" smtClean="0">
                <a:ea typeface="宋体" panose="02010600030101010101" pitchFamily="2" charset="-122"/>
              </a:rPr>
              <a:t>线性相位</a:t>
            </a:r>
            <a:r>
              <a:rPr lang="en-US" altLang="zh-CN" smtClean="0">
                <a:ea typeface="宋体" panose="02010600030101010101" pitchFamily="2" charset="-122"/>
              </a:rPr>
              <a:t>FIR</a:t>
            </a:r>
            <a:r>
              <a:rPr lang="zh-CN" altLang="en-US" smtClean="0">
                <a:ea typeface="宋体" panose="02010600030101010101" pitchFamily="2" charset="-122"/>
              </a:rPr>
              <a:t>滤波器的特点 </a:t>
            </a:r>
          </a:p>
        </p:txBody>
      </p:sp>
      <p:sp>
        <p:nvSpPr>
          <p:cNvPr id="16589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7C51D031-B1D6-4EA1-98C3-CBEC949D4C33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5892" name="Text Box 4"/>
          <p:cNvSpPr txBox="1">
            <a:spLocks noChangeArrowheads="1"/>
          </p:cNvSpPr>
          <p:nvPr/>
        </p:nvSpPr>
        <p:spPr bwMode="auto">
          <a:xfrm>
            <a:off x="1898651" y="1371601"/>
            <a:ext cx="8328025" cy="517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2.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第二种类型：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为偶对称，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为偶数</a:t>
            </a:r>
          </a:p>
        </p:txBody>
      </p:sp>
      <p:graphicFrame>
        <p:nvGraphicFramePr>
          <p:cNvPr id="165893" name="Object 5"/>
          <p:cNvGraphicFramePr>
            <a:graphicFrameLocks noChangeAspect="1"/>
          </p:cNvGraphicFramePr>
          <p:nvPr/>
        </p:nvGraphicFramePr>
        <p:xfrm>
          <a:off x="3810000" y="1981201"/>
          <a:ext cx="394970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4" name="Equation" r:id="rId3" imgW="2298700" imgH="457200" progId="Equation.3">
                  <p:embed/>
                </p:oleObj>
              </mc:Choice>
              <mc:Fallback>
                <p:oleObj name="Equation" r:id="rId3" imgW="2298700" imgH="457200" progId="Equation.3">
                  <p:embed/>
                  <p:pic>
                    <p:nvPicPr>
                      <p:cNvPr id="1658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981201"/>
                        <a:ext cx="3949700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894" name="Text Box 6"/>
          <p:cNvSpPr txBox="1">
            <a:spLocks noChangeArrowheads="1"/>
          </p:cNvSpPr>
          <p:nvPr/>
        </p:nvSpPr>
        <p:spPr bwMode="auto">
          <a:xfrm>
            <a:off x="2254251" y="3124200"/>
            <a:ext cx="39020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令		，代入上式可得 </a:t>
            </a:r>
          </a:p>
        </p:txBody>
      </p:sp>
      <p:graphicFrame>
        <p:nvGraphicFramePr>
          <p:cNvPr id="165895" name="Object 7"/>
          <p:cNvGraphicFramePr>
            <a:graphicFrameLocks noChangeAspect="1"/>
          </p:cNvGraphicFramePr>
          <p:nvPr/>
        </p:nvGraphicFramePr>
        <p:xfrm>
          <a:off x="2797176" y="2971800"/>
          <a:ext cx="1165225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5" name="Equation" r:id="rId5" imgW="685800" imgH="393700" progId="Equation.3">
                  <p:embed/>
                </p:oleObj>
              </mc:Choice>
              <mc:Fallback>
                <p:oleObj name="Equation" r:id="rId5" imgW="685800" imgH="393700" progId="Equation.3">
                  <p:embed/>
                  <p:pic>
                    <p:nvPicPr>
                      <p:cNvPr id="16589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7176" y="2971800"/>
                        <a:ext cx="1165225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6" name="Object 8"/>
          <p:cNvGraphicFramePr>
            <a:graphicFrameLocks noChangeAspect="1"/>
          </p:cNvGraphicFramePr>
          <p:nvPr/>
        </p:nvGraphicFramePr>
        <p:xfrm>
          <a:off x="3810000" y="3657601"/>
          <a:ext cx="414655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6" name="Equation" r:id="rId7" imgW="2413000" imgH="457200" progId="Equation.3">
                  <p:embed/>
                </p:oleObj>
              </mc:Choice>
              <mc:Fallback>
                <p:oleObj name="Equation" r:id="rId7" imgW="2413000" imgH="457200" progId="Equation.3">
                  <p:embed/>
                  <p:pic>
                    <p:nvPicPr>
                      <p:cNvPr id="16589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3657601"/>
                        <a:ext cx="4146550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7" name="Object 10"/>
          <p:cNvGraphicFramePr>
            <a:graphicFrameLocks noChangeAspect="1"/>
          </p:cNvGraphicFramePr>
          <p:nvPr/>
        </p:nvGraphicFramePr>
        <p:xfrm>
          <a:off x="3844926" y="4572001"/>
          <a:ext cx="331787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7" name="Equation" r:id="rId9" imgW="1930400" imgH="457200" progId="Equation.3">
                  <p:embed/>
                </p:oleObj>
              </mc:Choice>
              <mc:Fallback>
                <p:oleObj name="Equation" r:id="rId9" imgW="1930400" imgH="457200" progId="Equation.3">
                  <p:embed/>
                  <p:pic>
                    <p:nvPicPr>
                      <p:cNvPr id="16589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4926" y="4572001"/>
                        <a:ext cx="3317875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898" name="矩形 12"/>
          <p:cNvSpPr>
            <a:spLocks noChangeArrowheads="1"/>
          </p:cNvSpPr>
          <p:nvPr/>
        </p:nvSpPr>
        <p:spPr bwMode="auto">
          <a:xfrm>
            <a:off x="2438400" y="5562601"/>
            <a:ext cx="6858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</a:rPr>
              <a:t>在</a:t>
            </a:r>
            <a:r>
              <a:rPr lang="en-US" altLang="zh-CN" i="1">
                <a:solidFill>
                  <a:srgbClr val="000000"/>
                </a:solidFill>
              </a:rPr>
              <a:t>ω</a:t>
            </a:r>
            <a:r>
              <a:rPr lang="en-US" altLang="zh-CN">
                <a:solidFill>
                  <a:srgbClr val="000000"/>
                </a:solidFill>
              </a:rPr>
              <a:t>=π</a:t>
            </a:r>
            <a:r>
              <a:rPr lang="zh-CN" altLang="en-US">
                <a:solidFill>
                  <a:srgbClr val="000000"/>
                </a:solidFill>
              </a:rPr>
              <a:t>处为零，例如高通滤波器、带阻滤波器，则不能用这类数字滤波器来设计</a:t>
            </a:r>
          </a:p>
        </p:txBody>
      </p:sp>
    </p:spTree>
    <p:extLst>
      <p:ext uri="{BB962C8B-B14F-4D97-AF65-F5344CB8AC3E}">
        <p14:creationId xmlns:p14="http://schemas.microsoft.com/office/powerpoint/2010/main" val="2590466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标题 1"/>
          <p:cNvSpPr>
            <a:spLocks noGrp="1"/>
          </p:cNvSpPr>
          <p:nvPr>
            <p:ph type="title"/>
          </p:nvPr>
        </p:nvSpPr>
        <p:spPr>
          <a:xfrm>
            <a:off x="2743200" y="457200"/>
            <a:ext cx="73152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7.1 </a:t>
            </a:r>
            <a:r>
              <a:rPr lang="zh-CN" altLang="en-US" smtClean="0">
                <a:ea typeface="宋体" panose="02010600030101010101" pitchFamily="2" charset="-122"/>
              </a:rPr>
              <a:t>线性相位</a:t>
            </a:r>
            <a:r>
              <a:rPr lang="en-US" altLang="zh-CN" smtClean="0">
                <a:ea typeface="宋体" panose="02010600030101010101" pitchFamily="2" charset="-122"/>
              </a:rPr>
              <a:t>FIR</a:t>
            </a:r>
            <a:r>
              <a:rPr lang="zh-CN" altLang="en-US" smtClean="0">
                <a:ea typeface="宋体" panose="02010600030101010101" pitchFamily="2" charset="-122"/>
              </a:rPr>
              <a:t>滤波器的特点 </a:t>
            </a:r>
          </a:p>
        </p:txBody>
      </p:sp>
      <p:sp>
        <p:nvSpPr>
          <p:cNvPr id="16691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1DF3CB9-411F-4B8E-A32B-970FEC1D0C14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6916" name="Text Box 4"/>
          <p:cNvSpPr txBox="1">
            <a:spLocks noChangeArrowheads="1"/>
          </p:cNvSpPr>
          <p:nvPr/>
        </p:nvSpPr>
        <p:spPr bwMode="auto">
          <a:xfrm>
            <a:off x="2057400" y="1500188"/>
            <a:ext cx="6858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3.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第三种类型： 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为奇对称，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为奇数</a:t>
            </a:r>
          </a:p>
        </p:txBody>
      </p:sp>
      <p:graphicFrame>
        <p:nvGraphicFramePr>
          <p:cNvPr id="166917" name="Object 5"/>
          <p:cNvGraphicFramePr>
            <a:graphicFrameLocks noChangeAspect="1"/>
          </p:cNvGraphicFramePr>
          <p:nvPr/>
        </p:nvGraphicFramePr>
        <p:xfrm>
          <a:off x="3581400" y="1981201"/>
          <a:ext cx="3175000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6" name="Equation" r:id="rId3" imgW="2159000" imgH="457200" progId="Equation.3">
                  <p:embed/>
                </p:oleObj>
              </mc:Choice>
              <mc:Fallback>
                <p:oleObj name="Equation" r:id="rId3" imgW="2159000" imgH="457200" progId="Equation.3">
                  <p:embed/>
                  <p:pic>
                    <p:nvPicPr>
                      <p:cNvPr id="1669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981201"/>
                        <a:ext cx="3175000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18" name="Text Box 6"/>
          <p:cNvSpPr txBox="1">
            <a:spLocks noChangeArrowheads="1"/>
          </p:cNvSpPr>
          <p:nvPr/>
        </p:nvSpPr>
        <p:spPr bwMode="auto">
          <a:xfrm>
            <a:off x="1828800" y="2759076"/>
            <a:ext cx="86106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由于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对于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-1)/2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呈奇对称，即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)=-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-1-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，当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=(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-1)/2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时， </a:t>
            </a:r>
          </a:p>
        </p:txBody>
      </p:sp>
      <p:graphicFrame>
        <p:nvGraphicFramePr>
          <p:cNvPr id="166919" name="Object 7"/>
          <p:cNvGraphicFramePr>
            <a:graphicFrameLocks noChangeAspect="1"/>
          </p:cNvGraphicFramePr>
          <p:nvPr/>
        </p:nvGraphicFramePr>
        <p:xfrm>
          <a:off x="4481514" y="3392488"/>
          <a:ext cx="3590925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7" name="Equation" r:id="rId5" imgW="2717800" imgH="431800" progId="Equation.3">
                  <p:embed/>
                </p:oleObj>
              </mc:Choice>
              <mc:Fallback>
                <p:oleObj name="Equation" r:id="rId5" imgW="2717800" imgH="431800" progId="Equation.3">
                  <p:embed/>
                  <p:pic>
                    <p:nvPicPr>
                      <p:cNvPr id="1669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1514" y="3392488"/>
                        <a:ext cx="3590925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20" name="对象 12"/>
          <p:cNvGraphicFramePr>
            <a:graphicFrameLocks noChangeAspect="1"/>
          </p:cNvGraphicFramePr>
          <p:nvPr/>
        </p:nvGraphicFramePr>
        <p:xfrm>
          <a:off x="3062288" y="4267200"/>
          <a:ext cx="3871912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8" name="Equation" r:id="rId7" imgW="2400300" imgH="457200" progId="Equation.3">
                  <p:embed/>
                </p:oleObj>
              </mc:Choice>
              <mc:Fallback>
                <p:oleObj name="Equation" r:id="rId7" imgW="2400300" imgH="457200" progId="Equation.3">
                  <p:embed/>
                  <p:pic>
                    <p:nvPicPr>
                      <p:cNvPr id="16692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2288" y="4267200"/>
                        <a:ext cx="3871912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21" name="TextBox 13"/>
          <p:cNvSpPr txBox="1">
            <a:spLocks noChangeArrowheads="1"/>
          </p:cNvSpPr>
          <p:nvPr/>
        </p:nvSpPr>
        <p:spPr bwMode="auto">
          <a:xfrm>
            <a:off x="2514601" y="4405313"/>
            <a:ext cx="7008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</a:rPr>
              <a:t>有：</a:t>
            </a:r>
          </a:p>
        </p:txBody>
      </p:sp>
      <p:graphicFrame>
        <p:nvGraphicFramePr>
          <p:cNvPr id="166922" name="对象 14"/>
          <p:cNvGraphicFramePr>
            <a:graphicFrameLocks noChangeAspect="1"/>
          </p:cNvGraphicFramePr>
          <p:nvPr/>
        </p:nvGraphicFramePr>
        <p:xfrm>
          <a:off x="3389314" y="5207001"/>
          <a:ext cx="4154487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9" name="Equation" r:id="rId9" imgW="2489200" imgH="431800" progId="Equation.3">
                  <p:embed/>
                </p:oleObj>
              </mc:Choice>
              <mc:Fallback>
                <p:oleObj name="Equation" r:id="rId9" imgW="2489200" imgH="431800" progId="Equation.3">
                  <p:embed/>
                  <p:pic>
                    <p:nvPicPr>
                      <p:cNvPr id="166922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9314" y="5207001"/>
                        <a:ext cx="4154487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23" name="对象 15"/>
          <p:cNvGraphicFramePr>
            <a:graphicFrameLocks noChangeAspect="1"/>
          </p:cNvGraphicFramePr>
          <p:nvPr/>
        </p:nvGraphicFramePr>
        <p:xfrm>
          <a:off x="8459788" y="4489450"/>
          <a:ext cx="1370012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0" name="Equation" r:id="rId11" imgW="875920" imgH="393529" progId="Equation.3">
                  <p:embed/>
                </p:oleObj>
              </mc:Choice>
              <mc:Fallback>
                <p:oleObj name="Equation" r:id="rId11" imgW="875920" imgH="393529" progId="Equation.3">
                  <p:embed/>
                  <p:pic>
                    <p:nvPicPr>
                      <p:cNvPr id="166923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9788" y="4489450"/>
                        <a:ext cx="1370012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24" name="TextBox 16"/>
          <p:cNvSpPr txBox="1">
            <a:spLocks noChangeArrowheads="1"/>
          </p:cNvSpPr>
          <p:nvPr/>
        </p:nvSpPr>
        <p:spPr bwMode="auto">
          <a:xfrm>
            <a:off x="7620000" y="4625975"/>
            <a:ext cx="7000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</a:rPr>
              <a:t>换元</a:t>
            </a:r>
          </a:p>
        </p:txBody>
      </p:sp>
      <p:graphicFrame>
        <p:nvGraphicFramePr>
          <p:cNvPr id="166925" name="对象 17"/>
          <p:cNvGraphicFramePr>
            <a:graphicFrameLocks noChangeAspect="1"/>
          </p:cNvGraphicFramePr>
          <p:nvPr/>
        </p:nvGraphicFramePr>
        <p:xfrm>
          <a:off x="3416300" y="5984876"/>
          <a:ext cx="27559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1" name="Equation" r:id="rId13" imgW="1651000" imgH="431800" progId="Equation.3">
                  <p:embed/>
                </p:oleObj>
              </mc:Choice>
              <mc:Fallback>
                <p:oleObj name="Equation" r:id="rId13" imgW="1651000" imgH="431800" progId="Equation.3">
                  <p:embed/>
                  <p:pic>
                    <p:nvPicPr>
                      <p:cNvPr id="166925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300" y="5984876"/>
                        <a:ext cx="275590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26" name="矩形 18"/>
          <p:cNvSpPr>
            <a:spLocks noChangeArrowheads="1"/>
          </p:cNvSpPr>
          <p:nvPr/>
        </p:nvSpPr>
        <p:spPr bwMode="auto">
          <a:xfrm>
            <a:off x="6465888" y="6381750"/>
            <a:ext cx="32877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</a:rPr>
              <a:t>H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</a:rPr>
              <a:t>ω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</a:rPr>
              <a:t>ω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=0,π,2π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处为零</a:t>
            </a:r>
          </a:p>
        </p:txBody>
      </p:sp>
    </p:spTree>
    <p:extLst>
      <p:ext uri="{BB962C8B-B14F-4D97-AF65-F5344CB8AC3E}">
        <p14:creationId xmlns:p14="http://schemas.microsoft.com/office/powerpoint/2010/main" val="4018540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7.1 </a:t>
            </a:r>
            <a:r>
              <a:rPr lang="zh-CN" altLang="en-US" smtClean="0">
                <a:ea typeface="宋体" panose="02010600030101010101" pitchFamily="2" charset="-122"/>
              </a:rPr>
              <a:t>线性相位</a:t>
            </a:r>
            <a:r>
              <a:rPr lang="en-US" altLang="zh-CN" smtClean="0">
                <a:ea typeface="宋体" panose="02010600030101010101" pitchFamily="2" charset="-122"/>
              </a:rPr>
              <a:t>FIR</a:t>
            </a:r>
            <a:r>
              <a:rPr lang="zh-CN" altLang="en-US" smtClean="0">
                <a:ea typeface="宋体" panose="02010600030101010101" pitchFamily="2" charset="-122"/>
              </a:rPr>
              <a:t>滤波器的特点 </a:t>
            </a:r>
          </a:p>
        </p:txBody>
      </p:sp>
      <p:sp>
        <p:nvSpPr>
          <p:cNvPr id="16793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0542A00-E545-49F2-9D82-9EE5DF24DADE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7940" name="Text Box 1028"/>
          <p:cNvSpPr txBox="1">
            <a:spLocks noChangeArrowheads="1"/>
          </p:cNvSpPr>
          <p:nvPr/>
        </p:nvSpPr>
        <p:spPr bwMode="auto">
          <a:xfrm>
            <a:off x="1905000" y="1450975"/>
            <a:ext cx="8294688" cy="602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4. 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第四种类型：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为奇对称，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为偶数</a:t>
            </a:r>
          </a:p>
        </p:txBody>
      </p:sp>
      <p:graphicFrame>
        <p:nvGraphicFramePr>
          <p:cNvPr id="167941" name="Object 10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486713"/>
              </p:ext>
            </p:extLst>
          </p:nvPr>
        </p:nvGraphicFramePr>
        <p:xfrm>
          <a:off x="4137025" y="2209801"/>
          <a:ext cx="3841750" cy="167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2" name="Equation" r:id="rId3" imgW="2324100" imgH="1016000" progId="Equation.DSMT4">
                  <p:embed/>
                </p:oleObj>
              </mc:Choice>
              <mc:Fallback>
                <p:oleObj name="Equation" r:id="rId3" imgW="2324100" imgH="1016000" progId="Equation.DSMT4">
                  <p:embed/>
                  <p:pic>
                    <p:nvPicPr>
                      <p:cNvPr id="167941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7025" y="2209801"/>
                        <a:ext cx="3841750" cy="167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7942" name="Group 1032"/>
          <p:cNvGrpSpPr>
            <a:grpSpLocks/>
          </p:cNvGrpSpPr>
          <p:nvPr/>
        </p:nvGrpSpPr>
        <p:grpSpPr bwMode="auto">
          <a:xfrm>
            <a:off x="2178050" y="3962400"/>
            <a:ext cx="3079750" cy="852488"/>
            <a:chOff x="412" y="1890"/>
            <a:chExt cx="1940" cy="537"/>
          </a:xfrm>
        </p:grpSpPr>
        <p:sp>
          <p:nvSpPr>
            <p:cNvPr id="167947" name="Text Box 1030"/>
            <p:cNvSpPr txBox="1">
              <a:spLocks noChangeArrowheads="1"/>
            </p:cNvSpPr>
            <p:nvPr/>
          </p:nvSpPr>
          <p:spPr bwMode="auto">
            <a:xfrm>
              <a:off x="412" y="2015"/>
              <a:ext cx="19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令		，</a:t>
              </a:r>
              <a:r>
                <a:rPr kumimoji="1" lang="zh-CN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 则有 </a:t>
              </a:r>
            </a:p>
          </p:txBody>
        </p:sp>
        <p:graphicFrame>
          <p:nvGraphicFramePr>
            <p:cNvPr id="167948" name="Object 1031"/>
            <p:cNvGraphicFramePr>
              <a:graphicFrameLocks noChangeAspect="1"/>
            </p:cNvGraphicFramePr>
            <p:nvPr/>
          </p:nvGraphicFramePr>
          <p:xfrm>
            <a:off x="720" y="1890"/>
            <a:ext cx="936" cy="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63" name="Equation" r:id="rId5" imgW="685800" imgH="393700" progId="Equation.3">
                    <p:embed/>
                  </p:oleObj>
                </mc:Choice>
                <mc:Fallback>
                  <p:oleObj name="Equation" r:id="rId5" imgW="685800" imgH="393700" progId="Equation.3">
                    <p:embed/>
                    <p:pic>
                      <p:nvPicPr>
                        <p:cNvPr id="167948" name="Object 10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1890"/>
                          <a:ext cx="936" cy="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7943" name="Object 10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9132952"/>
              </p:ext>
            </p:extLst>
          </p:nvPr>
        </p:nvGraphicFramePr>
        <p:xfrm>
          <a:off x="5202238" y="4064000"/>
          <a:ext cx="3810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4" name="公式" r:id="rId7" imgW="2361960" imgH="457200" progId="Equation.3">
                  <p:embed/>
                </p:oleObj>
              </mc:Choice>
              <mc:Fallback>
                <p:oleObj name="公式" r:id="rId7" imgW="2361960" imgH="457200" progId="Equation.3">
                  <p:embed/>
                  <p:pic>
                    <p:nvPicPr>
                      <p:cNvPr id="167943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2238" y="4064000"/>
                        <a:ext cx="38100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4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9279227"/>
              </p:ext>
            </p:extLst>
          </p:nvPr>
        </p:nvGraphicFramePr>
        <p:xfrm>
          <a:off x="4211638" y="4826000"/>
          <a:ext cx="3073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5" name="公式" r:id="rId9" imgW="1904760" imgH="457200" progId="Equation.3">
                  <p:embed/>
                </p:oleObj>
              </mc:Choice>
              <mc:Fallback>
                <p:oleObj name="公式" r:id="rId9" imgW="1904760" imgH="457200" progId="Equation.3">
                  <p:embed/>
                  <p:pic>
                    <p:nvPicPr>
                      <p:cNvPr id="167944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4826000"/>
                        <a:ext cx="30734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5" name="TextBox 12"/>
          <p:cNvSpPr txBox="1">
            <a:spLocks noChangeArrowheads="1"/>
          </p:cNvSpPr>
          <p:nvPr/>
        </p:nvSpPr>
        <p:spPr bwMode="auto">
          <a:xfrm>
            <a:off x="2362200" y="5638800"/>
            <a:ext cx="30305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</a:rPr>
              <a:t>H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</a:rPr>
              <a:t>ω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</a:rPr>
              <a:t>ω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=0, 2π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处为零</a:t>
            </a:r>
          </a:p>
        </p:txBody>
      </p:sp>
      <p:sp>
        <p:nvSpPr>
          <p:cNvPr id="167946" name="TextBox 13"/>
          <p:cNvSpPr txBox="1">
            <a:spLocks noChangeArrowheads="1"/>
          </p:cNvSpPr>
          <p:nvPr/>
        </p:nvSpPr>
        <p:spPr bwMode="auto">
          <a:xfrm>
            <a:off x="2262188" y="6229350"/>
            <a:ext cx="72628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</a:rPr>
              <a:t>低通滤波器、 带阻滤波器，则不能用这类数字滤波器来设计。</a:t>
            </a:r>
          </a:p>
        </p:txBody>
      </p:sp>
    </p:spTree>
    <p:extLst>
      <p:ext uri="{BB962C8B-B14F-4D97-AF65-F5344CB8AC3E}">
        <p14:creationId xmlns:p14="http://schemas.microsoft.com/office/powerpoint/2010/main" val="3825417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标题 1"/>
          <p:cNvSpPr>
            <a:spLocks noGrp="1"/>
          </p:cNvSpPr>
          <p:nvPr>
            <p:ph type="title"/>
          </p:nvPr>
        </p:nvSpPr>
        <p:spPr>
          <a:xfrm>
            <a:off x="2743200" y="457200"/>
            <a:ext cx="73152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7.1 </a:t>
            </a:r>
            <a:r>
              <a:rPr lang="zh-CN" altLang="en-US" smtClean="0">
                <a:ea typeface="宋体" panose="02010600030101010101" pitchFamily="2" charset="-122"/>
              </a:rPr>
              <a:t>线性相位</a:t>
            </a:r>
            <a:r>
              <a:rPr lang="en-US" altLang="zh-CN" smtClean="0">
                <a:ea typeface="宋体" panose="02010600030101010101" pitchFamily="2" charset="-122"/>
              </a:rPr>
              <a:t>FIR</a:t>
            </a:r>
            <a:r>
              <a:rPr lang="zh-CN" altLang="en-US" smtClean="0">
                <a:ea typeface="宋体" panose="02010600030101010101" pitchFamily="2" charset="-122"/>
              </a:rPr>
              <a:t>滤波器的特点 </a:t>
            </a:r>
          </a:p>
        </p:txBody>
      </p:sp>
      <p:sp>
        <p:nvSpPr>
          <p:cNvPr id="16896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195B27C6-0509-4754-ADE7-43547857348D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68964" name="对象 4"/>
          <p:cNvGraphicFramePr>
            <a:graphicFrameLocks noChangeAspect="1"/>
          </p:cNvGraphicFramePr>
          <p:nvPr/>
        </p:nvGraphicFramePr>
        <p:xfrm>
          <a:off x="1939925" y="1204914"/>
          <a:ext cx="8312150" cy="550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7" name="VISIO" r:id="rId3" imgW="5212080" imgH="3451860" progId="Visio.Drawing.11">
                  <p:embed/>
                </p:oleObj>
              </mc:Choice>
              <mc:Fallback>
                <p:oleObj name="VISIO" r:id="rId3" imgW="5212080" imgH="3451860" progId="Visio.Drawing.11">
                  <p:embed/>
                  <p:pic>
                    <p:nvPicPr>
                      <p:cNvPr id="168964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9925" y="1204914"/>
                        <a:ext cx="8312150" cy="550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5640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7.1 </a:t>
            </a:r>
            <a:r>
              <a:rPr lang="zh-CN" altLang="en-US" smtClean="0">
                <a:ea typeface="宋体" panose="02010600030101010101" pitchFamily="2" charset="-122"/>
              </a:rPr>
              <a:t>线性相位</a:t>
            </a:r>
            <a:r>
              <a:rPr lang="en-US" altLang="zh-CN" smtClean="0">
                <a:ea typeface="宋体" panose="02010600030101010101" pitchFamily="2" charset="-122"/>
              </a:rPr>
              <a:t>FIR</a:t>
            </a:r>
            <a:r>
              <a:rPr lang="zh-CN" altLang="en-US" smtClean="0">
                <a:ea typeface="宋体" panose="02010600030101010101" pitchFamily="2" charset="-122"/>
              </a:rPr>
              <a:t>滤波器的特点 </a:t>
            </a:r>
          </a:p>
        </p:txBody>
      </p:sp>
      <p:sp>
        <p:nvSpPr>
          <p:cNvPr id="16998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3934429-451B-4399-8DCC-CA4A9FB26C0E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69988" name="对象 4"/>
          <p:cNvGraphicFramePr>
            <a:graphicFrameLocks noChangeAspect="1"/>
          </p:cNvGraphicFramePr>
          <p:nvPr/>
        </p:nvGraphicFramePr>
        <p:xfrm>
          <a:off x="1905000" y="1447801"/>
          <a:ext cx="8312150" cy="526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1" name="VISIO" r:id="rId3" imgW="5212080" imgH="3307080" progId="Visio.Drawing.11">
                  <p:embed/>
                </p:oleObj>
              </mc:Choice>
              <mc:Fallback>
                <p:oleObj name="VISIO" r:id="rId3" imgW="5212080" imgH="3307080" progId="Visio.Drawing.11">
                  <p:embed/>
                  <p:pic>
                    <p:nvPicPr>
                      <p:cNvPr id="169988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447801"/>
                        <a:ext cx="8312150" cy="526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07861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</TotalTime>
  <Words>709</Words>
  <Application>Microsoft Office PowerPoint</Application>
  <PresentationFormat>宽屏</PresentationFormat>
  <Paragraphs>105</Paragraphs>
  <Slides>20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等线</vt:lpstr>
      <vt:lpstr>隶书</vt:lpstr>
      <vt:lpstr>黑体</vt:lpstr>
      <vt:lpstr>宋体</vt:lpstr>
      <vt:lpstr>Comic Sans MS</vt:lpstr>
      <vt:lpstr>Times New Roman</vt:lpstr>
      <vt:lpstr>icfp99</vt:lpstr>
      <vt:lpstr>公式</vt:lpstr>
      <vt:lpstr>Equation</vt:lpstr>
      <vt:lpstr>Microsoft Visio 2003-2010 绘图</vt:lpstr>
      <vt:lpstr>VISIO</vt:lpstr>
      <vt:lpstr>PowerPoint 演示文稿</vt:lpstr>
      <vt:lpstr>引  言</vt:lpstr>
      <vt:lpstr>PowerPoint 演示文稿</vt:lpstr>
      <vt:lpstr>PowerPoint 演示文稿</vt:lpstr>
      <vt:lpstr>引  言 </vt:lpstr>
      <vt:lpstr>第七章 FIR滤波器设计</vt:lpstr>
      <vt:lpstr>第7章 FIR数字滤波器的设计方法</vt:lpstr>
      <vt:lpstr>7.1 线性相位FIR滤波器的特点 </vt:lpstr>
      <vt:lpstr>7.1 线性相位FIR滤波器的特点 </vt:lpstr>
      <vt:lpstr>7.1 线性相位FIR滤波器的特点 </vt:lpstr>
      <vt:lpstr>7.1 线性相位FIR滤波器的特点 </vt:lpstr>
      <vt:lpstr>7.1 线性相位FIR滤波器的特点 </vt:lpstr>
      <vt:lpstr>7.1 线性相位FIR滤波器的特点 </vt:lpstr>
      <vt:lpstr>7.1 线性相位FIR滤波器的特点(0,pi，2pi处对称特性) </vt:lpstr>
      <vt:lpstr>7.1 线性相位FIR滤波器的特点 </vt:lpstr>
      <vt:lpstr>7.1 线性相位FIR滤波器的特点 </vt:lpstr>
      <vt:lpstr>7.1 线性相位FIR滤波器的特点 </vt:lpstr>
      <vt:lpstr>7.1 线性相位FIR滤波器的特点 </vt:lpstr>
      <vt:lpstr>7.1 线性相位FIR滤波器的特点 </vt:lpstr>
      <vt:lpstr>7.1 线性相位FIR滤波器的特点 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第7章 FIR数字滤波器的设计方法</dc:title>
  <dc:creator>Administrator</dc:creator>
  <cp:lastModifiedBy>CHAO WU</cp:lastModifiedBy>
  <cp:revision>30</cp:revision>
  <dcterms:created xsi:type="dcterms:W3CDTF">2020-08-06T07:38:52Z</dcterms:created>
  <dcterms:modified xsi:type="dcterms:W3CDTF">2022-11-18T02:35:38Z</dcterms:modified>
</cp:coreProperties>
</file>