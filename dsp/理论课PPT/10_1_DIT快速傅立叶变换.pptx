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sldIdLst>
    <p:sldId id="256" r:id="rId3"/>
    <p:sldId id="277" r:id="rId4"/>
    <p:sldId id="282" r:id="rId5"/>
    <p:sldId id="257" r:id="rId6"/>
    <p:sldId id="281" r:id="rId7"/>
    <p:sldId id="283" r:id="rId8"/>
    <p:sldId id="287" r:id="rId9"/>
    <p:sldId id="284" r:id="rId10"/>
    <p:sldId id="288" r:id="rId11"/>
    <p:sldId id="278" r:id="rId12"/>
    <p:sldId id="289" r:id="rId13"/>
    <p:sldId id="279" r:id="rId14"/>
    <p:sldId id="280" r:id="rId15"/>
    <p:sldId id="290" r:id="rId16"/>
    <p:sldId id="29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973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54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171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302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674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313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106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95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603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969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4436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6158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0F7221-778F-4F51-B63F-4316D59674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954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1C2C2-583A-4F9A-AEDA-164BE3CA97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903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E29DD-9DE7-4D3C-8718-DCA41574F3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57545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A8E294-19B6-42B3-8876-7787FE83DC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085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58D9A-FC59-482C-B6CD-56F888AAE7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81245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19543-8D69-4398-A2B0-15915C5D06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8651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5B735-57F0-4BCE-8437-619F9B9B6D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73162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58AB07-C7A8-428C-ADD3-F89C09881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1929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751CF-7F85-4190-BB44-B7AE4C8D67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91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A8189-163A-465C-B3E0-39C64080F97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08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49A8F-BF93-4118-83E0-FE6C3419E8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8336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609600"/>
            <a:ext cx="10363200" cy="5486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0ABDDD-4646-4BEE-92BC-0B8112B838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2469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2023/11/30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5872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9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B70EED5-5C51-44C5-B9A5-8F8621D132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456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171450" indent="-171450" algn="l" defTabSz="685800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9.jpeg"/><Relationship Id="rId4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2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>
          <a:xfrm>
            <a:off x="2895600" y="457200"/>
            <a:ext cx="7162800" cy="914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第</a:t>
            </a:r>
            <a:r>
              <a:rPr lang="en-US" altLang="zh-CN" dirty="0" smtClean="0">
                <a:ea typeface="宋体" panose="02010600030101010101" pitchFamily="2" charset="-122"/>
              </a:rPr>
              <a:t>5</a:t>
            </a:r>
            <a:r>
              <a:rPr lang="zh-CN" altLang="en-US" dirty="0" smtClean="0">
                <a:ea typeface="宋体" panose="02010600030101010101" pitchFamily="2" charset="-122"/>
              </a:rPr>
              <a:t>章 快速傅立叶变换（</a:t>
            </a:r>
            <a:r>
              <a:rPr lang="en-US" altLang="zh-CN" dirty="0" smtClean="0">
                <a:ea typeface="宋体" panose="02010600030101010101" pitchFamily="2" charset="-122"/>
              </a:rPr>
              <a:t>FFT</a:t>
            </a:r>
            <a:r>
              <a:rPr lang="zh-CN" altLang="en-US" dirty="0" smtClean="0">
                <a:ea typeface="宋体" panose="02010600030101010101" pitchFamily="2" charset="-122"/>
              </a:rPr>
              <a:t>）</a:t>
            </a:r>
          </a:p>
        </p:txBody>
      </p:sp>
      <p:sp>
        <p:nvSpPr>
          <p:cNvPr id="8397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780847A-E4A2-46FC-B407-4105BA13628C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2" name="Text Box 5"/>
          <p:cNvSpPr txBox="1">
            <a:spLocks noChangeArrowheads="1"/>
          </p:cNvSpPr>
          <p:nvPr/>
        </p:nvSpPr>
        <p:spPr bwMode="auto">
          <a:xfrm>
            <a:off x="2057400" y="1954214"/>
            <a:ext cx="7315200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         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快速傅里叶变换（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FFT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）并不是一种新的变换， 而是离散傅里叶变换（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DFT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）的一种快速算法。  </a:t>
            </a:r>
          </a:p>
          <a:p>
            <a:pPr algn="just" fontAlgn="base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284036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0588" y="-35116"/>
            <a:ext cx="10363200" cy="1143000"/>
          </a:xfrm>
        </p:spPr>
        <p:txBody>
          <a:bodyPr/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问题的提出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2613025" y="1438275"/>
            <a:ext cx="67569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/>
              <a:t>4</a:t>
            </a:r>
            <a:r>
              <a:rPr lang="zh-CN" altLang="en-US" sz="2800" b="1"/>
              <a:t>点序列</a:t>
            </a:r>
            <a:r>
              <a:rPr lang="en-US" altLang="zh-CN" sz="2800" b="1"/>
              <a:t>{2</a:t>
            </a:r>
            <a:r>
              <a:rPr lang="zh-CN" altLang="en-US" sz="2800" b="1"/>
              <a:t>，</a:t>
            </a:r>
            <a:r>
              <a:rPr lang="en-US" altLang="zh-CN" sz="2800" b="1"/>
              <a:t>3</a:t>
            </a:r>
            <a:r>
              <a:rPr lang="zh-CN" altLang="en-US" sz="2800" b="1"/>
              <a:t>，</a:t>
            </a:r>
            <a:r>
              <a:rPr lang="en-US" altLang="zh-CN" sz="2800" b="1"/>
              <a:t>3</a:t>
            </a:r>
            <a:r>
              <a:rPr lang="zh-CN" altLang="en-US" sz="2800" b="1"/>
              <a:t>，</a:t>
            </a:r>
            <a:r>
              <a:rPr lang="en-US" altLang="zh-CN" sz="2800" b="1"/>
              <a:t>2} DFT</a:t>
            </a:r>
            <a:r>
              <a:rPr lang="zh-CN" altLang="en-US" sz="2800" b="1"/>
              <a:t>的计算复杂度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326752"/>
              </p:ext>
            </p:extLst>
          </p:nvPr>
        </p:nvGraphicFramePr>
        <p:xfrm>
          <a:off x="2438400" y="2005944"/>
          <a:ext cx="615473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8" name="公式" r:id="rId3" imgW="2463800" imgH="457200" progId="Equation.3">
                  <p:embed/>
                </p:oleObj>
              </mc:Choice>
              <mc:Fallback>
                <p:oleObj name="公式" r:id="rId3" imgW="2463800" imgH="45720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005944"/>
                        <a:ext cx="6154737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149833"/>
              </p:ext>
            </p:extLst>
          </p:nvPr>
        </p:nvGraphicFramePr>
        <p:xfrm>
          <a:off x="2124869" y="3248026"/>
          <a:ext cx="6027738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9" name="公式" r:id="rId5" imgW="2413000" imgH="254000" progId="Equation.3">
                  <p:embed/>
                </p:oleObj>
              </mc:Choice>
              <mc:Fallback>
                <p:oleObj name="公式" r:id="rId5" imgW="2413000" imgH="254000" progId="Equation.3">
                  <p:embed/>
                  <p:pic>
                    <p:nvPicPr>
                      <p:cNvPr id="15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869" y="3248026"/>
                        <a:ext cx="6027738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2203451" y="3941764"/>
          <a:ext cx="65373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0" name="公式" r:id="rId7" imgW="2616200" imgH="254000" progId="Equation.3">
                  <p:embed/>
                </p:oleObj>
              </mc:Choice>
              <mc:Fallback>
                <p:oleObj name="公式" r:id="rId7" imgW="2616200" imgH="254000" progId="Equation.3">
                  <p:embed/>
                  <p:pic>
                    <p:nvPicPr>
                      <p:cNvPr id="153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1" y="3941764"/>
                        <a:ext cx="6537325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2203451" y="4603750"/>
          <a:ext cx="5870575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1" name="公式" r:id="rId9" imgW="2349500" imgH="254000" progId="Equation.3">
                  <p:embed/>
                </p:oleObj>
              </mc:Choice>
              <mc:Fallback>
                <p:oleObj name="公式" r:id="rId9" imgW="2349500" imgH="254000" progId="Equation.3">
                  <p:embed/>
                  <p:pic>
                    <p:nvPicPr>
                      <p:cNvPr id="153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1" y="4603750"/>
                        <a:ext cx="5870575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2203450" y="5265739"/>
          <a:ext cx="6599238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2" name="公式" r:id="rId11" imgW="2641600" imgH="254000" progId="Equation.3">
                  <p:embed/>
                </p:oleObj>
              </mc:Choice>
              <mc:Fallback>
                <p:oleObj name="公式" r:id="rId11" imgW="2641600" imgH="254000" progId="Equation.3">
                  <p:embed/>
                  <p:pic>
                    <p:nvPicPr>
                      <p:cNvPr id="153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450" y="5265739"/>
                        <a:ext cx="6599238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2438400" y="5867401"/>
            <a:ext cx="1657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复数加法</a:t>
            </a:r>
          </a:p>
        </p:txBody>
      </p:sp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4133850" y="5881688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</a:rPr>
              <a:t>N</a:t>
            </a:r>
            <a:r>
              <a:rPr lang="en-US" altLang="zh-CN" sz="2800" b="1">
                <a:solidFill>
                  <a:srgbClr val="FF3300"/>
                </a:solidFill>
              </a:rPr>
              <a:t>(</a:t>
            </a:r>
            <a:r>
              <a:rPr lang="en-US" altLang="zh-CN" sz="2800" b="1" i="1">
                <a:solidFill>
                  <a:srgbClr val="FF3300"/>
                </a:solidFill>
              </a:rPr>
              <a:t>N</a:t>
            </a:r>
            <a:r>
              <a:rPr lang="en-US" altLang="zh-CN" sz="2800" b="1">
                <a:solidFill>
                  <a:srgbClr val="FF3300"/>
                </a:solidFill>
              </a:rPr>
              <a:t>-1)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6324600" y="5791201"/>
            <a:ext cx="1771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复数乘法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7924800" y="5805489"/>
            <a:ext cx="876300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</a:rPr>
              <a:t>N</a:t>
            </a:r>
            <a:r>
              <a:rPr lang="en-US" altLang="zh-CN" sz="2800" b="1">
                <a:solidFill>
                  <a:srgbClr val="FF3300"/>
                </a:solidFill>
              </a:rPr>
              <a:t> </a:t>
            </a:r>
            <a:r>
              <a:rPr lang="en-US" altLang="zh-CN" sz="2900" b="1" baseline="30000">
                <a:solidFill>
                  <a:srgbClr val="FF3300"/>
                </a:solidFill>
              </a:rPr>
              <a:t>2</a:t>
            </a:r>
            <a:endParaRPr lang="en-US" altLang="zh-CN" sz="2800" b="1">
              <a:solidFill>
                <a:srgbClr val="FF3300"/>
              </a:solidFill>
            </a:endParaRP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9571792" y="1676400"/>
            <a:ext cx="677108" cy="478155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/>
              <a:t>如何提高</a:t>
            </a:r>
            <a:r>
              <a:rPr lang="en-US" altLang="zh-CN" sz="3200"/>
              <a:t>DFT</a:t>
            </a:r>
            <a:r>
              <a:rPr lang="zh-CN" altLang="en-US" sz="3200"/>
              <a:t>的运算效率</a:t>
            </a:r>
            <a:r>
              <a:rPr lang="en-US" altLang="zh-CN" sz="3200"/>
              <a:t>?</a:t>
            </a:r>
          </a:p>
        </p:txBody>
      </p:sp>
      <p:sp>
        <p:nvSpPr>
          <p:cNvPr id="15374" name="Rectangle 14"/>
          <p:cNvSpPr>
            <a:spLocks noChangeArrowheads="1"/>
          </p:cNvSpPr>
          <p:nvPr/>
        </p:nvSpPr>
        <p:spPr bwMode="auto">
          <a:xfrm>
            <a:off x="1676400" y="981075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068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69" grpId="0" autoUpdateAnimBg="0"/>
      <p:bldP spid="15370" grpId="0" autoUpdateAnimBg="0"/>
      <p:bldP spid="15371" grpId="0" autoUpdateAnimBg="0"/>
      <p:bldP spid="15372" grpId="0" autoUpdateAnimBg="0"/>
      <p:bldP spid="15373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371600"/>
            <a:ext cx="8229600" cy="1143000"/>
          </a:xfrm>
        </p:spPr>
        <p:txBody>
          <a:bodyPr rtlCol="0">
            <a:normAutofit fontScale="90000"/>
          </a:bodyPr>
          <a:lstStyle/>
          <a:p>
            <a:pPr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zh-CN" altLang="en-US" sz="2800">
                <a:ea typeface="华文中宋" panose="02010600040101010101" pitchFamily="2" charset="-122"/>
              </a:rPr>
              <a:t>若</a:t>
            </a:r>
            <a:r>
              <a:rPr lang="en-US" altLang="zh-CN" sz="2800" i="1">
                <a:ea typeface="华文中宋" panose="02010600040101010101" pitchFamily="2" charset="-122"/>
              </a:rPr>
              <a:t>x</a:t>
            </a:r>
            <a:r>
              <a:rPr lang="en-US" altLang="zh-CN" sz="2800">
                <a:ea typeface="华文中宋" panose="02010600040101010101" pitchFamily="2" charset="-122"/>
              </a:rPr>
              <a:t>[</a:t>
            </a:r>
            <a:r>
              <a:rPr lang="en-US" altLang="zh-CN" sz="2800" i="1">
                <a:ea typeface="华文中宋" panose="02010600040101010101" pitchFamily="2" charset="-122"/>
              </a:rPr>
              <a:t>k</a:t>
            </a:r>
            <a:r>
              <a:rPr lang="en-US" altLang="zh-CN" sz="2800">
                <a:ea typeface="华文中宋" panose="02010600040101010101" pitchFamily="2" charset="-122"/>
              </a:rPr>
              <a:t>]</a:t>
            </a:r>
            <a:r>
              <a:rPr lang="zh-CN" altLang="en-US" sz="2800">
                <a:ea typeface="华文中宋" panose="02010600040101010101" pitchFamily="2" charset="-122"/>
              </a:rPr>
              <a:t>的长度为</a:t>
            </a:r>
            <a:r>
              <a:rPr lang="en-US" altLang="zh-CN" sz="2800" i="1">
                <a:ea typeface="华文中宋" panose="02010600040101010101" pitchFamily="2" charset="-122"/>
              </a:rPr>
              <a:t>N</a:t>
            </a:r>
            <a:r>
              <a:rPr lang="zh-CN" altLang="en-US" sz="2800">
                <a:ea typeface="华文中宋" panose="02010600040101010101" pitchFamily="2" charset="-122"/>
              </a:rPr>
              <a:t>，</a:t>
            </a:r>
            <a:r>
              <a:rPr lang="en-US" altLang="zh-CN" sz="2800" i="1">
                <a:ea typeface="华文中宋" panose="02010600040101010101" pitchFamily="2" charset="-122"/>
              </a:rPr>
              <a:t>h</a:t>
            </a:r>
            <a:r>
              <a:rPr lang="en-US" altLang="zh-CN" sz="2800">
                <a:ea typeface="华文中宋" panose="02010600040101010101" pitchFamily="2" charset="-122"/>
              </a:rPr>
              <a:t>[</a:t>
            </a:r>
            <a:r>
              <a:rPr lang="en-US" altLang="zh-CN" sz="2800" i="1">
                <a:ea typeface="华文中宋" panose="02010600040101010101" pitchFamily="2" charset="-122"/>
              </a:rPr>
              <a:t>k</a:t>
            </a:r>
            <a:r>
              <a:rPr lang="en-US" altLang="zh-CN" sz="2800">
                <a:ea typeface="华文中宋" panose="02010600040101010101" pitchFamily="2" charset="-122"/>
              </a:rPr>
              <a:t>]</a:t>
            </a:r>
            <a:r>
              <a:rPr lang="zh-CN" altLang="en-US" sz="2800">
                <a:ea typeface="华文中宋" panose="02010600040101010101" pitchFamily="2" charset="-122"/>
              </a:rPr>
              <a:t>的长度为</a:t>
            </a:r>
            <a:r>
              <a:rPr lang="en-US" altLang="zh-CN" sz="2800" i="1">
                <a:ea typeface="华文中宋" panose="02010600040101010101" pitchFamily="2" charset="-122"/>
              </a:rPr>
              <a:t>M</a:t>
            </a:r>
            <a:r>
              <a:rPr lang="zh-CN" altLang="en-US" sz="2800">
                <a:ea typeface="华文中宋" panose="02010600040101010101" pitchFamily="2" charset="-122"/>
              </a:rPr>
              <a:t>，则</a:t>
            </a:r>
            <a:r>
              <a:rPr lang="en-US" altLang="zh-CN" sz="2800" i="1">
                <a:ea typeface="华文中宋" panose="02010600040101010101" pitchFamily="2" charset="-122"/>
              </a:rPr>
              <a:t>L</a:t>
            </a:r>
            <a:r>
              <a:rPr lang="en-US" altLang="zh-CN" sz="2800">
                <a:ea typeface="华文中宋" panose="02010600040101010101" pitchFamily="2" charset="-122"/>
              </a:rPr>
              <a:t>=</a:t>
            </a:r>
            <a:r>
              <a:rPr lang="en-US" altLang="zh-CN" sz="2800" i="1">
                <a:ea typeface="华文中宋" panose="02010600040101010101" pitchFamily="2" charset="-122"/>
              </a:rPr>
              <a:t>N</a:t>
            </a:r>
            <a:r>
              <a:rPr lang="en-US" altLang="zh-CN" sz="2800">
                <a:ea typeface="华文中宋" panose="02010600040101010101" pitchFamily="2" charset="-122"/>
              </a:rPr>
              <a:t>+</a:t>
            </a:r>
            <a:r>
              <a:rPr lang="en-US" altLang="zh-CN" sz="2800" i="1">
                <a:ea typeface="华文中宋" panose="02010600040101010101" pitchFamily="2" charset="-122"/>
              </a:rPr>
              <a:t>M</a:t>
            </a:r>
            <a:r>
              <a:rPr lang="en-US" altLang="zh-CN" sz="2800">
                <a:latin typeface="Symbol" panose="05050102010706020507" pitchFamily="18" charset="2"/>
                <a:ea typeface="华文中宋" panose="02010600040101010101" pitchFamily="2" charset="-122"/>
              </a:rPr>
              <a:t>-</a:t>
            </a:r>
            <a:r>
              <a:rPr lang="en-US" altLang="zh-CN" sz="2800">
                <a:ea typeface="华文中宋" panose="02010600040101010101" pitchFamily="2" charset="-122"/>
              </a:rPr>
              <a:t>1</a:t>
            </a:r>
            <a:r>
              <a:rPr lang="zh-CN" altLang="en-US" sz="2800">
                <a:ea typeface="华文中宋" panose="02010600040101010101" pitchFamily="2" charset="-122"/>
              </a:rPr>
              <a:t>点循环卷积等于</a:t>
            </a:r>
            <a:r>
              <a:rPr lang="en-US" altLang="zh-CN" sz="2800" i="1">
                <a:ea typeface="华文中宋" panose="02010600040101010101" pitchFamily="2" charset="-122"/>
              </a:rPr>
              <a:t>x</a:t>
            </a:r>
            <a:r>
              <a:rPr lang="en-US" altLang="zh-CN" sz="2800">
                <a:ea typeface="华文中宋" panose="02010600040101010101" pitchFamily="2" charset="-122"/>
              </a:rPr>
              <a:t>[</a:t>
            </a:r>
            <a:r>
              <a:rPr lang="en-US" altLang="zh-CN" sz="2800" i="1">
                <a:ea typeface="华文中宋" panose="02010600040101010101" pitchFamily="2" charset="-122"/>
              </a:rPr>
              <a:t>k</a:t>
            </a:r>
            <a:r>
              <a:rPr lang="en-US" altLang="zh-CN" sz="2800">
                <a:ea typeface="华文中宋" panose="02010600040101010101" pitchFamily="2" charset="-122"/>
              </a:rPr>
              <a:t>] </a:t>
            </a:r>
            <a:r>
              <a:rPr lang="zh-CN" altLang="en-US" sz="2800">
                <a:ea typeface="华文中宋" panose="02010600040101010101" pitchFamily="2" charset="-122"/>
              </a:rPr>
              <a:t>与</a:t>
            </a:r>
            <a:r>
              <a:rPr lang="en-US" altLang="zh-CN" sz="2800" i="1">
                <a:ea typeface="华文中宋" panose="02010600040101010101" pitchFamily="2" charset="-122"/>
              </a:rPr>
              <a:t>h</a:t>
            </a:r>
            <a:r>
              <a:rPr lang="en-US" altLang="zh-CN" sz="2800">
                <a:ea typeface="华文中宋" panose="02010600040101010101" pitchFamily="2" charset="-122"/>
              </a:rPr>
              <a:t>[</a:t>
            </a:r>
            <a:r>
              <a:rPr lang="en-US" altLang="zh-CN" sz="2800" i="1">
                <a:ea typeface="华文中宋" panose="02010600040101010101" pitchFamily="2" charset="-122"/>
              </a:rPr>
              <a:t>k</a:t>
            </a:r>
            <a:r>
              <a:rPr lang="en-US" altLang="zh-CN" sz="2800">
                <a:ea typeface="华文中宋" panose="02010600040101010101" pitchFamily="2" charset="-122"/>
              </a:rPr>
              <a:t>]</a:t>
            </a:r>
            <a:r>
              <a:rPr lang="zh-CN" altLang="en-US" sz="2800">
                <a:ea typeface="华文中宋" panose="02010600040101010101" pitchFamily="2" charset="-122"/>
              </a:rPr>
              <a:t>的线性卷积。</a:t>
            </a:r>
          </a:p>
        </p:txBody>
      </p:sp>
      <p:graphicFrame>
        <p:nvGraphicFramePr>
          <p:cNvPr id="62472" name="Object 8"/>
          <p:cNvGraphicFramePr>
            <a:graphicFrameLocks noChangeAspect="1"/>
          </p:cNvGraphicFramePr>
          <p:nvPr/>
        </p:nvGraphicFramePr>
        <p:xfrm>
          <a:off x="1981200" y="2971801"/>
          <a:ext cx="8458200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Visio" r:id="rId3" imgW="4770191" imgH="1143190" progId="Visio.Drawing.6">
                  <p:embed/>
                </p:oleObj>
              </mc:Choice>
              <mc:Fallback>
                <p:oleObj name="Visio" r:id="rId3" imgW="4770191" imgH="1143190" progId="Visio.Drawing.6">
                  <p:embed/>
                  <p:pic>
                    <p:nvPicPr>
                      <p:cNvPr id="624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971801"/>
                        <a:ext cx="8458200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9"/>
          <p:cNvGraphicFramePr>
            <a:graphicFrameLocks noChangeAspect="1"/>
          </p:cNvGraphicFramePr>
          <p:nvPr/>
        </p:nvGraphicFramePr>
        <p:xfrm>
          <a:off x="3352800" y="5486401"/>
          <a:ext cx="45402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5" imgW="1455385" imgH="198278" progId="Equation.3">
                  <p:embed/>
                </p:oleObj>
              </mc:Choice>
              <mc:Fallback>
                <p:oleObj name="Equation" r:id="rId5" imgW="1455385" imgH="198278" progId="Equation.3">
                  <p:embed/>
                  <p:pic>
                    <p:nvPicPr>
                      <p:cNvPr id="1229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86401"/>
                        <a:ext cx="45402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Rectangle 10"/>
          <p:cNvSpPr>
            <a:spLocks noChangeArrowheads="1"/>
          </p:cNvSpPr>
          <p:nvPr/>
        </p:nvSpPr>
        <p:spPr bwMode="auto">
          <a:xfrm>
            <a:off x="1676400" y="1066800"/>
            <a:ext cx="8915400" cy="76200"/>
          </a:xfrm>
          <a:prstGeom prst="rect">
            <a:avLst/>
          </a:prstGeom>
          <a:gradFill rotWithShape="0">
            <a:gsLst>
              <a:gs pos="0">
                <a:srgbClr val="005E76"/>
              </a:gs>
              <a:gs pos="50000">
                <a:srgbClr val="00CCFF"/>
              </a:gs>
              <a:gs pos="100000">
                <a:srgbClr val="005E76"/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4" name="Rectangle 13"/>
          <p:cNvSpPr>
            <a:spLocks noChangeArrowheads="1"/>
          </p:cNvSpPr>
          <p:nvPr/>
        </p:nvSpPr>
        <p:spPr bwMode="auto">
          <a:xfrm>
            <a:off x="2209800" y="381000"/>
            <a:ext cx="777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利用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DFT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计算序列线性卷积的步骤</a:t>
            </a:r>
          </a:p>
        </p:txBody>
      </p:sp>
    </p:spTree>
    <p:extLst>
      <p:ext uri="{BB962C8B-B14F-4D97-AF65-F5344CB8AC3E}">
        <p14:creationId xmlns:p14="http://schemas.microsoft.com/office/powerpoint/2010/main" val="370109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>
          <a:xfrm>
            <a:off x="2819400" y="457200"/>
            <a:ext cx="7239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5.1</a:t>
            </a:r>
            <a:r>
              <a:rPr lang="zh-CN" altLang="en-US" smtClean="0">
                <a:ea typeface="宋体" panose="02010600030101010101" pitchFamily="2" charset="-122"/>
              </a:rPr>
              <a:t>直接计算</a:t>
            </a:r>
            <a:r>
              <a:rPr lang="en-US" altLang="zh-CN" smtClean="0">
                <a:ea typeface="宋体" panose="02010600030101010101" pitchFamily="2" charset="-122"/>
              </a:rPr>
              <a:t>DFT</a:t>
            </a:r>
            <a:r>
              <a:rPr lang="zh-CN" altLang="en-US" smtClean="0">
                <a:ea typeface="宋体" panose="02010600030101010101" pitchFamily="2" charset="-122"/>
              </a:rPr>
              <a:t>的问题及改进的途径 </a:t>
            </a:r>
          </a:p>
        </p:txBody>
      </p:sp>
      <p:sp>
        <p:nvSpPr>
          <p:cNvPr id="8499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BB0765C-62DE-4CE7-ACB2-8175ADF26C50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6" name="矩形 4"/>
          <p:cNvSpPr>
            <a:spLocks noChangeArrowheads="1"/>
          </p:cNvSpPr>
          <p:nvPr/>
        </p:nvSpPr>
        <p:spPr bwMode="auto">
          <a:xfrm>
            <a:off x="2057400" y="1600200"/>
            <a:ext cx="355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1 </a:t>
            </a:r>
            <a:r>
              <a:rPr lang="zh-CN" altLang="en-US">
                <a:solidFill>
                  <a:srgbClr val="000000"/>
                </a:solidFill>
              </a:rPr>
              <a:t>直接计算</a:t>
            </a:r>
            <a:r>
              <a:rPr lang="en-US" altLang="zh-CN">
                <a:solidFill>
                  <a:srgbClr val="000000"/>
                </a:solidFill>
              </a:rPr>
              <a:t>DFT</a:t>
            </a:r>
            <a:r>
              <a:rPr lang="zh-CN" altLang="en-US">
                <a:solidFill>
                  <a:srgbClr val="000000"/>
                </a:solidFill>
              </a:rPr>
              <a:t>的运算量问题</a:t>
            </a:r>
          </a:p>
        </p:txBody>
      </p:sp>
      <p:graphicFrame>
        <p:nvGraphicFramePr>
          <p:cNvPr id="84997" name="对象 5"/>
          <p:cNvGraphicFramePr>
            <a:graphicFrameLocks noChangeAspect="1"/>
          </p:cNvGraphicFramePr>
          <p:nvPr/>
        </p:nvGraphicFramePr>
        <p:xfrm>
          <a:off x="2547938" y="2120900"/>
          <a:ext cx="2405062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Equation" r:id="rId3" imgW="1218671" imgH="431613" progId="Equation.3">
                  <p:embed/>
                </p:oleObj>
              </mc:Choice>
              <mc:Fallback>
                <p:oleObj name="Equation" r:id="rId3" imgW="1218671" imgH="431613" progId="Equation.3">
                  <p:embed/>
                  <p:pic>
                    <p:nvPicPr>
                      <p:cNvPr id="84997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2120900"/>
                        <a:ext cx="2405062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8" name="Text Box 7"/>
          <p:cNvSpPr txBox="1">
            <a:spLocks noChangeArrowheads="1"/>
          </p:cNvSpPr>
          <p:nvPr/>
        </p:nvSpPr>
        <p:spPr bwMode="auto">
          <a:xfrm>
            <a:off x="5529264" y="2297113"/>
            <a:ext cx="2090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0" i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400" b="0">
                <a:solidFill>
                  <a:srgbClr val="000000"/>
                </a:solidFill>
                <a:latin typeface="Times New Roman" panose="02020603050405020304" pitchFamily="18" charset="0"/>
              </a:rPr>
              <a:t>=0, 1, …, </a:t>
            </a:r>
            <a:r>
              <a:rPr kumimoji="1" lang="en-US" altLang="zh-CN" sz="2400" b="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400" b="0">
                <a:solidFill>
                  <a:srgbClr val="000000"/>
                </a:solidFill>
                <a:latin typeface="Times New Roman" panose="02020603050405020304" pitchFamily="18" charset="0"/>
              </a:rPr>
              <a:t>-1 </a:t>
            </a:r>
          </a:p>
        </p:txBody>
      </p:sp>
      <p:sp>
        <p:nvSpPr>
          <p:cNvPr id="84999" name="TextBox 7"/>
          <p:cNvSpPr txBox="1">
            <a:spLocks noChangeArrowheads="1"/>
          </p:cNvSpPr>
          <p:nvPr/>
        </p:nvSpPr>
        <p:spPr bwMode="auto">
          <a:xfrm>
            <a:off x="2514600" y="3105150"/>
            <a:ext cx="65928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注：计算一个频点需要</a:t>
            </a:r>
            <a:r>
              <a:rPr lang="en-US" altLang="zh-CN">
                <a:solidFill>
                  <a:srgbClr val="000000"/>
                </a:solidFill>
              </a:rPr>
              <a:t>N</a:t>
            </a:r>
            <a:r>
              <a:rPr lang="zh-CN" altLang="en-US">
                <a:solidFill>
                  <a:srgbClr val="000000"/>
                </a:solidFill>
              </a:rPr>
              <a:t>次复数乘法，</a:t>
            </a:r>
            <a:r>
              <a:rPr lang="en-US" altLang="zh-CN">
                <a:solidFill>
                  <a:srgbClr val="000000"/>
                </a:solidFill>
              </a:rPr>
              <a:t>N-1</a:t>
            </a:r>
            <a:r>
              <a:rPr lang="zh-CN" altLang="en-US">
                <a:solidFill>
                  <a:srgbClr val="000000"/>
                </a:solidFill>
              </a:rPr>
              <a:t>次复数加法。</a:t>
            </a:r>
          </a:p>
        </p:txBody>
      </p:sp>
      <p:sp>
        <p:nvSpPr>
          <p:cNvPr id="85000" name="TextBox 9"/>
          <p:cNvSpPr txBox="1">
            <a:spLocks noChangeArrowheads="1"/>
          </p:cNvSpPr>
          <p:nvPr/>
        </p:nvSpPr>
        <p:spPr bwMode="auto">
          <a:xfrm>
            <a:off x="1981201" y="3733800"/>
            <a:ext cx="791527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例</a:t>
            </a:r>
            <a:r>
              <a:rPr lang="en-US" altLang="zh-CN">
                <a:solidFill>
                  <a:srgbClr val="000000"/>
                </a:solidFill>
              </a:rPr>
              <a:t>3</a:t>
            </a:r>
            <a:r>
              <a:rPr lang="zh-CN" altLang="en-US">
                <a:solidFill>
                  <a:srgbClr val="000000"/>
                </a:solidFill>
              </a:rPr>
              <a:t>、对一幅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×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zh-CN" altLang="en-US">
                <a:solidFill>
                  <a:srgbClr val="000000"/>
                </a:solidFill>
              </a:rPr>
              <a:t>点的二维图像进行</a:t>
            </a:r>
            <a:r>
              <a:rPr lang="en-US" altLang="zh-CN">
                <a:solidFill>
                  <a:srgbClr val="000000"/>
                </a:solidFill>
              </a:rPr>
              <a:t>DFT</a:t>
            </a:r>
            <a:r>
              <a:rPr lang="zh-CN" altLang="en-US">
                <a:solidFill>
                  <a:srgbClr val="000000"/>
                </a:solidFill>
              </a:rPr>
              <a:t>变换，如用每秒可做</a:t>
            </a:r>
            <a:r>
              <a:rPr lang="en-US" altLang="zh-CN">
                <a:solidFill>
                  <a:srgbClr val="000000"/>
                </a:solidFill>
              </a:rPr>
              <a:t>10</a:t>
            </a:r>
            <a:r>
              <a:rPr lang="zh-CN" altLang="en-US">
                <a:solidFill>
                  <a:srgbClr val="000000"/>
                </a:solidFill>
              </a:rPr>
              <a:t>万次复数乘法的计算机，当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=1024</a:t>
            </a:r>
            <a:r>
              <a:rPr lang="zh-CN" altLang="en-US">
                <a:solidFill>
                  <a:srgbClr val="000000"/>
                </a:solidFill>
              </a:rPr>
              <a:t>时，问需要多少时间（不考虑加法运算时间）？</a:t>
            </a:r>
            <a:endParaRPr lang="en-US" altLang="zh-CN">
              <a:solidFill>
                <a:srgbClr val="000000"/>
              </a:solidFill>
            </a:endParaRPr>
          </a:p>
          <a:p>
            <a:pPr algn="just" fontAlgn="base">
              <a:lnSpc>
                <a:spcPct val="158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解：直接计算</a:t>
            </a:r>
            <a:r>
              <a:rPr lang="en-US" altLang="zh-CN">
                <a:solidFill>
                  <a:srgbClr val="000000"/>
                </a:solidFill>
              </a:rPr>
              <a:t>DFT</a:t>
            </a:r>
            <a:r>
              <a:rPr lang="zh-CN" altLang="en-US">
                <a:solidFill>
                  <a:srgbClr val="000000"/>
                </a:solidFill>
              </a:rPr>
              <a:t>所需复乘次数为（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≈10</a:t>
            </a:r>
            <a:r>
              <a:rPr lang="en-US" altLang="zh-CN" baseline="30000">
                <a:solidFill>
                  <a:srgbClr val="000000"/>
                </a:solidFill>
              </a:rPr>
              <a:t>12</a:t>
            </a:r>
            <a:r>
              <a:rPr lang="zh-CN" altLang="en-US">
                <a:solidFill>
                  <a:srgbClr val="000000"/>
                </a:solidFill>
              </a:rPr>
              <a:t>次，因此用每秒可做</a:t>
            </a:r>
            <a:r>
              <a:rPr lang="en-US" altLang="zh-CN">
                <a:solidFill>
                  <a:srgbClr val="000000"/>
                </a:solidFill>
              </a:rPr>
              <a:t>10</a:t>
            </a:r>
            <a:r>
              <a:rPr lang="zh-CN" altLang="en-US">
                <a:solidFill>
                  <a:srgbClr val="000000"/>
                </a:solidFill>
              </a:rPr>
              <a:t>万次复数乘法的计算机，则需要近</a:t>
            </a:r>
            <a:r>
              <a:rPr lang="en-US" altLang="zh-CN">
                <a:solidFill>
                  <a:srgbClr val="000000"/>
                </a:solidFill>
              </a:rPr>
              <a:t>3000</a:t>
            </a:r>
            <a:r>
              <a:rPr lang="zh-CN" altLang="en-US">
                <a:solidFill>
                  <a:srgbClr val="000000"/>
                </a:solidFill>
              </a:rPr>
              <a:t>小时。  </a:t>
            </a:r>
          </a:p>
        </p:txBody>
      </p:sp>
    </p:spTree>
    <p:extLst>
      <p:ext uri="{BB962C8B-B14F-4D97-AF65-F5344CB8AC3E}">
        <p14:creationId xmlns:p14="http://schemas.microsoft.com/office/powerpoint/2010/main" val="2542750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>
          <a:xfrm>
            <a:off x="2876550" y="457200"/>
            <a:ext cx="718185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5.1</a:t>
            </a:r>
            <a:r>
              <a:rPr lang="zh-CN" altLang="en-US" smtClean="0">
                <a:ea typeface="宋体" panose="02010600030101010101" pitchFamily="2" charset="-122"/>
              </a:rPr>
              <a:t>直接计算</a:t>
            </a:r>
            <a:r>
              <a:rPr lang="en-US" altLang="zh-CN" smtClean="0">
                <a:ea typeface="宋体" panose="02010600030101010101" pitchFamily="2" charset="-122"/>
              </a:rPr>
              <a:t>DFT</a:t>
            </a:r>
            <a:r>
              <a:rPr lang="zh-CN" altLang="en-US" smtClean="0">
                <a:ea typeface="宋体" panose="02010600030101010101" pitchFamily="2" charset="-122"/>
              </a:rPr>
              <a:t>的问题及改进的途径 </a:t>
            </a:r>
          </a:p>
        </p:txBody>
      </p:sp>
      <p:sp>
        <p:nvSpPr>
          <p:cNvPr id="8601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2C04E28-9A8F-4DCB-A86F-A0FCFAB8DD79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20" name="TextBox 4"/>
          <p:cNvSpPr txBox="1">
            <a:spLocks noChangeArrowheads="1"/>
          </p:cNvSpPr>
          <p:nvPr/>
        </p:nvSpPr>
        <p:spPr bwMode="auto">
          <a:xfrm>
            <a:off x="2133601" y="1600200"/>
            <a:ext cx="1484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000000"/>
                </a:solidFill>
              </a:rPr>
              <a:t>2 </a:t>
            </a:r>
            <a:r>
              <a:rPr lang="zh-CN" altLang="en-US">
                <a:solidFill>
                  <a:srgbClr val="000000"/>
                </a:solidFill>
              </a:rPr>
              <a:t>改善途径</a:t>
            </a:r>
          </a:p>
        </p:txBody>
      </p:sp>
      <p:graphicFrame>
        <p:nvGraphicFramePr>
          <p:cNvPr id="86021" name="对象 1"/>
          <p:cNvGraphicFramePr>
            <a:graphicFrameLocks noChangeAspect="1"/>
          </p:cNvGraphicFramePr>
          <p:nvPr/>
        </p:nvGraphicFramePr>
        <p:xfrm>
          <a:off x="5172076" y="2352676"/>
          <a:ext cx="14573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8" name="Equation" r:id="rId3" imgW="901309" imgH="241195" progId="Equation.3">
                  <p:embed/>
                </p:oleObj>
              </mc:Choice>
              <mc:Fallback>
                <p:oleObj name="Equation" r:id="rId3" imgW="901309" imgH="241195" progId="Equation.3">
                  <p:embed/>
                  <p:pic>
                    <p:nvPicPr>
                      <p:cNvPr id="86021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2076" y="2352676"/>
                        <a:ext cx="145732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对象 2"/>
          <p:cNvGraphicFramePr>
            <a:graphicFrameLocks noChangeAspect="1"/>
          </p:cNvGraphicFramePr>
          <p:nvPr/>
        </p:nvGraphicFramePr>
        <p:xfrm>
          <a:off x="4648200" y="3048001"/>
          <a:ext cx="281305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9" name="Equation" r:id="rId5" imgW="1511300" imgH="241300" progId="Equation.3">
                  <p:embed/>
                </p:oleObj>
              </mc:Choice>
              <mc:Fallback>
                <p:oleObj name="Equation" r:id="rId5" imgW="1511300" imgH="241300" progId="Equation.3">
                  <p:embed/>
                  <p:pic>
                    <p:nvPicPr>
                      <p:cNvPr id="86022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48001"/>
                        <a:ext cx="281305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对象 3"/>
          <p:cNvGraphicFramePr>
            <a:graphicFrameLocks noChangeAspect="1"/>
          </p:cNvGraphicFramePr>
          <p:nvPr/>
        </p:nvGraphicFramePr>
        <p:xfrm>
          <a:off x="4681538" y="3733800"/>
          <a:ext cx="3090862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0" name="Equation" r:id="rId7" imgW="1562100" imgH="241300" progId="Equation.3">
                  <p:embed/>
                </p:oleObj>
              </mc:Choice>
              <mc:Fallback>
                <p:oleObj name="Equation" r:id="rId7" imgW="1562100" imgH="241300" progId="Equation.3">
                  <p:embed/>
                  <p:pic>
                    <p:nvPicPr>
                      <p:cNvPr id="86023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1538" y="3733800"/>
                        <a:ext cx="3090862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TextBox 4"/>
          <p:cNvSpPr txBox="1">
            <a:spLocks noChangeArrowheads="1"/>
          </p:cNvSpPr>
          <p:nvPr/>
        </p:nvSpPr>
        <p:spPr bwMode="auto">
          <a:xfrm>
            <a:off x="2058988" y="2362200"/>
            <a:ext cx="2971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i="1" baseline="30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nk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的共轭对称性</a:t>
            </a:r>
          </a:p>
        </p:txBody>
      </p:sp>
      <p:sp>
        <p:nvSpPr>
          <p:cNvPr id="86025" name="Text Box 6"/>
          <p:cNvSpPr txBox="1">
            <a:spLocks noChangeArrowheads="1"/>
          </p:cNvSpPr>
          <p:nvPr/>
        </p:nvSpPr>
        <p:spPr bwMode="auto">
          <a:xfrm>
            <a:off x="2051050" y="3048000"/>
            <a:ext cx="252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nk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的周期性 </a:t>
            </a:r>
          </a:p>
        </p:txBody>
      </p:sp>
      <p:sp>
        <p:nvSpPr>
          <p:cNvPr id="86026" name="Text Box 4"/>
          <p:cNvSpPr txBox="1">
            <a:spLocks noChangeArrowheads="1"/>
          </p:cNvSpPr>
          <p:nvPr/>
        </p:nvSpPr>
        <p:spPr bwMode="auto">
          <a:xfrm>
            <a:off x="2051050" y="3733800"/>
            <a:ext cx="252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） </a:t>
            </a: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W</a:t>
            </a:r>
            <a:r>
              <a:rPr kumimoji="1"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i="1" baseline="30000">
                <a:solidFill>
                  <a:srgbClr val="000000"/>
                </a:solidFill>
                <a:latin typeface="Times New Roman" panose="02020603050405020304" pitchFamily="18" charset="0"/>
              </a:rPr>
              <a:t>nk</a:t>
            </a:r>
            <a:r>
              <a:rPr kumimoji="1" lang="zh-CN" altLang="en-US">
                <a:solidFill>
                  <a:srgbClr val="000000"/>
                </a:solidFill>
                <a:latin typeface="Times New Roman" panose="02020603050405020304" pitchFamily="18" charset="0"/>
              </a:rPr>
              <a:t>的可约性 </a:t>
            </a:r>
          </a:p>
        </p:txBody>
      </p:sp>
      <p:graphicFrame>
        <p:nvGraphicFramePr>
          <p:cNvPr id="86027" name="对象 5"/>
          <p:cNvGraphicFramePr>
            <a:graphicFrameLocks noChangeAspect="1"/>
          </p:cNvGraphicFramePr>
          <p:nvPr/>
        </p:nvGraphicFramePr>
        <p:xfrm>
          <a:off x="3505201" y="4495801"/>
          <a:ext cx="3463925" cy="162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1" name="Equation" r:id="rId9" imgW="1435100" imgH="673100" progId="Equation.DSMT4">
                  <p:embed/>
                </p:oleObj>
              </mc:Choice>
              <mc:Fallback>
                <p:oleObj name="Equation" r:id="rId9" imgW="1435100" imgH="673100" progId="Equation.DSMT4">
                  <p:embed/>
                  <p:pic>
                    <p:nvPicPr>
                      <p:cNvPr id="86027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4495801"/>
                        <a:ext cx="3463925" cy="162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8" name="TextBox 6"/>
          <p:cNvSpPr txBox="1">
            <a:spLocks noChangeArrowheads="1"/>
          </p:cNvSpPr>
          <p:nvPr/>
        </p:nvSpPr>
        <p:spPr bwMode="auto">
          <a:xfrm>
            <a:off x="2743200" y="5105400"/>
            <a:ext cx="700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000000"/>
                </a:solidFill>
              </a:rPr>
              <a:t>其他</a:t>
            </a:r>
          </a:p>
        </p:txBody>
      </p:sp>
    </p:spTree>
    <p:extLst>
      <p:ext uri="{BB962C8B-B14F-4D97-AF65-F5344CB8AC3E}">
        <p14:creationId xmlns:p14="http://schemas.microsoft.com/office/powerpoint/2010/main" val="88358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>
          <a:xfrm>
            <a:off x="2946400" y="457200"/>
            <a:ext cx="71120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5.2 </a:t>
            </a:r>
            <a:r>
              <a:rPr lang="zh-CN" altLang="en-US" smtClean="0">
                <a:ea typeface="宋体" panose="02010600030101010101" pitchFamily="2" charset="-122"/>
              </a:rPr>
              <a:t>按时间抽取（</a:t>
            </a:r>
            <a:r>
              <a:rPr lang="en-US" altLang="zh-CN" smtClean="0">
                <a:ea typeface="宋体" panose="02010600030101010101" pitchFamily="2" charset="-122"/>
              </a:rPr>
              <a:t>DIT</a:t>
            </a:r>
            <a:r>
              <a:rPr lang="zh-CN" altLang="en-US" smtClean="0">
                <a:ea typeface="宋体" panose="02010600030101010101" pitchFamily="2" charset="-122"/>
              </a:rPr>
              <a:t>）基</a:t>
            </a:r>
            <a:r>
              <a:rPr lang="en-US" altLang="zh-CN" smtClean="0">
                <a:ea typeface="宋体" panose="02010600030101010101" pitchFamily="2" charset="-122"/>
              </a:rPr>
              <a:t>2</a:t>
            </a:r>
            <a:r>
              <a:rPr lang="zh-CN" altLang="en-US" smtClean="0">
                <a:ea typeface="宋体" panose="02010600030101010101" pitchFamily="2" charset="-122"/>
              </a:rPr>
              <a:t>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C1EB32C-411F-4E41-8927-0F2A62E3E10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4" name="TextBox 4"/>
          <p:cNvSpPr txBox="1">
            <a:spLocks noChangeArrowheads="1"/>
          </p:cNvSpPr>
          <p:nvPr/>
        </p:nvSpPr>
        <p:spPr bwMode="auto">
          <a:xfrm>
            <a:off x="1828801" y="1524000"/>
            <a:ext cx="1484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算法原理</a:t>
            </a:r>
          </a:p>
        </p:txBody>
      </p:sp>
      <p:graphicFrame>
        <p:nvGraphicFramePr>
          <p:cNvPr id="87045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252879"/>
              </p:ext>
            </p:extLst>
          </p:nvPr>
        </p:nvGraphicFramePr>
        <p:xfrm>
          <a:off x="2095500" y="1981200"/>
          <a:ext cx="5876925" cy="254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Equation" r:id="rId3" imgW="3835080" imgH="1663560" progId="Equation.DSMT4">
                  <p:embed/>
                </p:oleObj>
              </mc:Choice>
              <mc:Fallback>
                <p:oleObj name="Equation" r:id="rId3" imgW="3835080" imgH="1663560" progId="Equation.DSMT4">
                  <p:embed/>
                  <p:pic>
                    <p:nvPicPr>
                      <p:cNvPr id="87045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1981200"/>
                        <a:ext cx="5876925" cy="2549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6" name="TextBox 7"/>
          <p:cNvSpPr txBox="1">
            <a:spLocks noChangeArrowheads="1"/>
          </p:cNvSpPr>
          <p:nvPr/>
        </p:nvSpPr>
        <p:spPr bwMode="auto">
          <a:xfrm>
            <a:off x="2071688" y="5257800"/>
            <a:ext cx="44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有</a:t>
            </a:r>
          </a:p>
        </p:txBody>
      </p:sp>
      <p:graphicFrame>
        <p:nvGraphicFramePr>
          <p:cNvPr id="87047" name="对象 8"/>
          <p:cNvGraphicFramePr>
            <a:graphicFrameLocks noChangeAspect="1"/>
          </p:cNvGraphicFramePr>
          <p:nvPr/>
        </p:nvGraphicFramePr>
        <p:xfrm>
          <a:off x="2501900" y="4948238"/>
          <a:ext cx="473710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7" name="Equation" r:id="rId5" imgW="2806700" imgH="723900" progId="Equation.DSMT4">
                  <p:embed/>
                </p:oleObj>
              </mc:Choice>
              <mc:Fallback>
                <p:oleObj name="Equation" r:id="rId5" imgW="2806700" imgH="723900" progId="Equation.DSMT4">
                  <p:embed/>
                  <p:pic>
                    <p:nvPicPr>
                      <p:cNvPr id="87047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4948238"/>
                        <a:ext cx="4737100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048" name="Picture 7" descr="3-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1" y="3335338"/>
            <a:ext cx="3548063" cy="138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1350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>
          <a:xfrm>
            <a:off x="2819400" y="3048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5.2 </a:t>
            </a:r>
            <a:r>
              <a:rPr lang="zh-CN" altLang="en-US" smtClean="0">
                <a:ea typeface="宋体" panose="02010600030101010101" pitchFamily="2" charset="-122"/>
              </a:rPr>
              <a:t>按时间抽取（</a:t>
            </a:r>
            <a:r>
              <a:rPr lang="en-US" altLang="zh-CN" smtClean="0">
                <a:ea typeface="宋体" panose="02010600030101010101" pitchFamily="2" charset="-122"/>
              </a:rPr>
              <a:t>DIT</a:t>
            </a:r>
            <a:r>
              <a:rPr lang="zh-CN" altLang="en-US" smtClean="0">
                <a:ea typeface="宋体" panose="02010600030101010101" pitchFamily="2" charset="-122"/>
              </a:rPr>
              <a:t>）基</a:t>
            </a:r>
            <a:r>
              <a:rPr lang="en-US" altLang="zh-CN" smtClean="0">
                <a:ea typeface="宋体" panose="02010600030101010101" pitchFamily="2" charset="-122"/>
              </a:rPr>
              <a:t>2</a:t>
            </a:r>
            <a:r>
              <a:rPr lang="zh-CN" altLang="en-US" smtClean="0">
                <a:ea typeface="宋体" panose="02010600030101010101" pitchFamily="2" charset="-122"/>
              </a:rPr>
              <a:t>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880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42DDFB1-0727-4D65-9FA4-D8BF85ACEF8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8068" name="Picture 7" descr="3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924050"/>
            <a:ext cx="57150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5.2 </a:t>
            </a:r>
            <a:r>
              <a:rPr lang="zh-CN" altLang="en-US" smtClean="0">
                <a:ea typeface="宋体" panose="02010600030101010101" pitchFamily="2" charset="-122"/>
              </a:rPr>
              <a:t>按时间抽取（</a:t>
            </a:r>
            <a:r>
              <a:rPr lang="en-US" altLang="zh-CN" smtClean="0">
                <a:ea typeface="宋体" panose="02010600030101010101" pitchFamily="2" charset="-122"/>
              </a:rPr>
              <a:t>DIT</a:t>
            </a:r>
            <a:r>
              <a:rPr lang="zh-CN" altLang="en-US" smtClean="0">
                <a:ea typeface="宋体" panose="02010600030101010101" pitchFamily="2" charset="-122"/>
              </a:rPr>
              <a:t>）基</a:t>
            </a:r>
            <a:r>
              <a:rPr lang="en-US" altLang="zh-CN" smtClean="0">
                <a:ea typeface="宋体" panose="02010600030101010101" pitchFamily="2" charset="-122"/>
              </a:rPr>
              <a:t>2</a:t>
            </a:r>
            <a:r>
              <a:rPr lang="zh-CN" altLang="en-US" smtClean="0">
                <a:ea typeface="宋体" panose="02010600030101010101" pitchFamily="2" charset="-122"/>
              </a:rPr>
              <a:t>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89091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1BD62F-BB35-44F7-B6D7-CAFD20B4EE9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9092" name="对象 5"/>
          <p:cNvGraphicFramePr>
            <a:graphicFrameLocks noChangeAspect="1"/>
          </p:cNvGraphicFramePr>
          <p:nvPr/>
        </p:nvGraphicFramePr>
        <p:xfrm>
          <a:off x="3084514" y="1524000"/>
          <a:ext cx="4916487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3" imgW="2806700" imgH="1308100" progId="Equation.DSMT4">
                  <p:embed/>
                </p:oleObj>
              </mc:Choice>
              <mc:Fallback>
                <p:oleObj name="Equation" r:id="rId3" imgW="2806700" imgH="1308100" progId="Equation.DSMT4">
                  <p:embed/>
                  <p:pic>
                    <p:nvPicPr>
                      <p:cNvPr id="89092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514" y="1524000"/>
                        <a:ext cx="4916487" cy="229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9093" name="Picture 8" descr="3-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388" y="3952876"/>
            <a:ext cx="4722812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4455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/>
          </p:nvPr>
        </p:nvSpPr>
        <p:spPr>
          <a:xfrm>
            <a:off x="2743200" y="4572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5.2 </a:t>
            </a:r>
            <a:r>
              <a:rPr lang="zh-CN" altLang="en-US" smtClean="0">
                <a:ea typeface="宋体" panose="02010600030101010101" pitchFamily="2" charset="-122"/>
              </a:rPr>
              <a:t>按时间抽取（</a:t>
            </a:r>
            <a:r>
              <a:rPr lang="en-US" altLang="zh-CN" smtClean="0">
                <a:ea typeface="宋体" panose="02010600030101010101" pitchFamily="2" charset="-122"/>
              </a:rPr>
              <a:t>DIT</a:t>
            </a:r>
            <a:r>
              <a:rPr lang="zh-CN" altLang="en-US" smtClean="0">
                <a:ea typeface="宋体" panose="02010600030101010101" pitchFamily="2" charset="-122"/>
              </a:rPr>
              <a:t>）基</a:t>
            </a:r>
            <a:r>
              <a:rPr lang="en-US" altLang="zh-CN" smtClean="0">
                <a:ea typeface="宋体" panose="02010600030101010101" pitchFamily="2" charset="-122"/>
              </a:rPr>
              <a:t>2</a:t>
            </a:r>
            <a:r>
              <a:rPr lang="zh-CN" altLang="en-US" smtClean="0">
                <a:ea typeface="宋体" panose="02010600030101010101" pitchFamily="2" charset="-122"/>
              </a:rPr>
              <a:t>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91139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5CCF5-CDBF-41EF-AF8C-17DDDA9BD19F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1140" name="Picture 7" descr="3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952626"/>
            <a:ext cx="5715000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638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72400" cy="1143000"/>
          </a:xfrm>
        </p:spPr>
        <p:txBody>
          <a:bodyPr/>
          <a:lstStyle/>
          <a:p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基</a:t>
            </a:r>
            <a:r>
              <a:rPr lang="en-US" altLang="zh-CN" sz="320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时间抽取</a:t>
            </a:r>
            <a:r>
              <a:rPr lang="en-US" altLang="zh-CN" sz="3200">
                <a:latin typeface="华文中宋" panose="02010600040101010101" pitchFamily="2" charset="-122"/>
                <a:ea typeface="华文中宋" panose="02010600040101010101" pitchFamily="2" charset="-122"/>
              </a:rPr>
              <a:t>FFT</a:t>
            </a:r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算法流图</a:t>
            </a: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628900" y="1809751"/>
            <a:ext cx="1028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N</a:t>
            </a:r>
            <a:r>
              <a:rPr lang="en-US" altLang="zh-CN" sz="2800"/>
              <a:t>=2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552950" y="1828801"/>
            <a:ext cx="34861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 smtClean="0"/>
              <a:t>X</a:t>
            </a:r>
            <a:r>
              <a:rPr lang="en-US" altLang="zh-CN" sz="1400" i="1" dirty="0" smtClean="0"/>
              <a:t>3</a:t>
            </a:r>
            <a:r>
              <a:rPr lang="en-US" altLang="zh-CN" sz="2800" dirty="0" smtClean="0"/>
              <a:t>[</a:t>
            </a:r>
            <a:r>
              <a:rPr lang="en-US" altLang="zh-CN" sz="2800" i="1" dirty="0" smtClean="0"/>
              <a:t>k</a:t>
            </a:r>
            <a:r>
              <a:rPr lang="en-US" altLang="zh-CN" sz="2800" dirty="0" smtClean="0"/>
              <a:t>]={</a:t>
            </a:r>
            <a:r>
              <a:rPr lang="en-US" altLang="zh-CN" sz="2800" i="1" dirty="0"/>
              <a:t>X</a:t>
            </a:r>
            <a:r>
              <a:rPr lang="en-US" altLang="zh-CN" sz="1400" i="1" dirty="0"/>
              <a:t>3</a:t>
            </a:r>
            <a:r>
              <a:rPr lang="en-US" altLang="zh-CN" sz="2800" dirty="0" smtClean="0"/>
              <a:t>[0</a:t>
            </a:r>
            <a:r>
              <a:rPr lang="en-US" altLang="zh-CN" sz="2800" dirty="0"/>
              <a:t>], </a:t>
            </a:r>
            <a:r>
              <a:rPr lang="en-US" altLang="zh-CN" sz="2800" i="1" dirty="0"/>
              <a:t>X</a:t>
            </a:r>
            <a:r>
              <a:rPr lang="en-US" altLang="zh-CN" sz="1400" i="1" dirty="0"/>
              <a:t>3</a:t>
            </a:r>
            <a:r>
              <a:rPr lang="en-US" altLang="zh-CN" sz="2800" dirty="0" smtClean="0"/>
              <a:t>[1</a:t>
            </a:r>
            <a:r>
              <a:rPr lang="en-US" altLang="zh-CN" sz="2800" dirty="0"/>
              <a:t>]}</a:t>
            </a: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938320"/>
              </p:ext>
            </p:extLst>
          </p:nvPr>
        </p:nvGraphicFramePr>
        <p:xfrm>
          <a:off x="2185988" y="2582863"/>
          <a:ext cx="3729037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0" name="Equation" r:id="rId3" imgW="1422360" imgH="241200" progId="Equation.DSMT4">
                  <p:embed/>
                </p:oleObj>
              </mc:Choice>
              <mc:Fallback>
                <p:oleObj name="Equation" r:id="rId3" imgW="1422360" imgH="241200" progId="Equation.DSMT4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2582863"/>
                        <a:ext cx="3729037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1681008"/>
              </p:ext>
            </p:extLst>
          </p:nvPr>
        </p:nvGraphicFramePr>
        <p:xfrm>
          <a:off x="2189163" y="3344863"/>
          <a:ext cx="360045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1" name="Equation" r:id="rId5" imgW="1384200" imgH="241200" progId="Equation.DSMT4">
                  <p:embed/>
                </p:oleObj>
              </mc:Choice>
              <mc:Fallback>
                <p:oleObj name="Equation" r:id="rId5" imgW="1384200" imgH="241200" progId="Equation.DSMT4">
                  <p:embed/>
                  <p:pic>
                    <p:nvPicPr>
                      <p:cNvPr id="4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163" y="3344863"/>
                        <a:ext cx="360045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138961"/>
              </p:ext>
            </p:extLst>
          </p:nvPr>
        </p:nvGraphicFramePr>
        <p:xfrm>
          <a:off x="3262313" y="4371976"/>
          <a:ext cx="4837112" cy="166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2" name="Document" r:id="rId7" imgW="1939502" imgH="667676" progId="Word.Document.8">
                  <p:embed/>
                </p:oleObj>
              </mc:Choice>
              <mc:Fallback>
                <p:oleObj name="Document" r:id="rId7" imgW="1939502" imgH="667676" progId="Word.Document.8">
                  <p:embed/>
                  <p:pic>
                    <p:nvPicPr>
                      <p:cNvPr id="41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2313" y="4371976"/>
                        <a:ext cx="4837112" cy="166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200627"/>
              </p:ext>
            </p:extLst>
          </p:nvPr>
        </p:nvGraphicFramePr>
        <p:xfrm>
          <a:off x="5789613" y="3346450"/>
          <a:ext cx="27400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Equation" r:id="rId9" imgW="1054080" imgH="241200" progId="Equation.DSMT4">
                  <p:embed/>
                </p:oleObj>
              </mc:Choice>
              <mc:Fallback>
                <p:oleObj name="Equation" r:id="rId9" imgW="1054080" imgH="241200" progId="Equation.DSMT4">
                  <p:embed/>
                  <p:pic>
                    <p:nvPicPr>
                      <p:cNvPr id="410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9613" y="3346450"/>
                        <a:ext cx="274002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1676400" y="12192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41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2743200" y="381000"/>
            <a:ext cx="73152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5.2 </a:t>
            </a:r>
            <a:r>
              <a:rPr lang="zh-CN" altLang="en-US" smtClean="0">
                <a:ea typeface="宋体" panose="02010600030101010101" pitchFamily="2" charset="-122"/>
              </a:rPr>
              <a:t>按时间抽取（</a:t>
            </a:r>
            <a:r>
              <a:rPr lang="en-US" altLang="zh-CN" smtClean="0">
                <a:ea typeface="宋体" panose="02010600030101010101" pitchFamily="2" charset="-122"/>
              </a:rPr>
              <a:t>DIT</a:t>
            </a:r>
            <a:r>
              <a:rPr lang="zh-CN" altLang="en-US" smtClean="0">
                <a:ea typeface="宋体" panose="02010600030101010101" pitchFamily="2" charset="-122"/>
              </a:rPr>
              <a:t>）基</a:t>
            </a:r>
            <a:r>
              <a:rPr lang="en-US" altLang="zh-CN" smtClean="0">
                <a:ea typeface="宋体" panose="02010600030101010101" pitchFamily="2" charset="-122"/>
              </a:rPr>
              <a:t>2</a:t>
            </a:r>
            <a:r>
              <a:rPr lang="zh-CN" altLang="en-US" smtClean="0">
                <a:ea typeface="宋体" panose="02010600030101010101" pitchFamily="2" charset="-122"/>
              </a:rPr>
              <a:t>的</a:t>
            </a:r>
            <a:r>
              <a:rPr lang="en-US" altLang="zh-CN" smtClean="0">
                <a:ea typeface="宋体" panose="02010600030101010101" pitchFamily="2" charset="-122"/>
              </a:rPr>
              <a:t>FFT</a:t>
            </a:r>
            <a:r>
              <a:rPr lang="zh-CN" altLang="en-US" smtClean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9216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D477073-221D-432C-8F59-D103B90E312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164" name="Picture 8" descr="3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4" y="2133601"/>
            <a:ext cx="5976937" cy="316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847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419100"/>
            <a:ext cx="7772400" cy="1143000"/>
          </a:xfrm>
        </p:spPr>
        <p:txBody>
          <a:bodyPr/>
          <a:lstStyle/>
          <a:p>
            <a:r>
              <a:rPr lang="en-US" altLang="zh-CN" sz="3200"/>
              <a:t>4</a:t>
            </a:r>
            <a:r>
              <a:rPr lang="zh-CN" altLang="en-US" sz="3200"/>
              <a:t>点基</a:t>
            </a:r>
            <a:r>
              <a:rPr lang="en-US" altLang="zh-CN" sz="3200"/>
              <a:t>2</a:t>
            </a:r>
            <a:r>
              <a:rPr lang="zh-CN" altLang="en-US" sz="3200"/>
              <a:t>时间抽取</a:t>
            </a:r>
            <a:r>
              <a:rPr lang="en-US" altLang="zh-CN" sz="3200"/>
              <a:t>FFT</a:t>
            </a:r>
            <a:r>
              <a:rPr lang="zh-CN" altLang="en-US" sz="3200"/>
              <a:t>算法流图</a:t>
            </a:r>
          </a:p>
        </p:txBody>
      </p:sp>
      <p:sp>
        <p:nvSpPr>
          <p:cNvPr id="5123" name="Line 3"/>
          <p:cNvSpPr>
            <a:spLocks noChangeShapeType="1"/>
          </p:cNvSpPr>
          <p:nvPr/>
        </p:nvSpPr>
        <p:spPr bwMode="auto">
          <a:xfrm flipV="1">
            <a:off x="4164013" y="2525713"/>
            <a:ext cx="1524000" cy="1143000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4164013" y="2525713"/>
            <a:ext cx="1543050" cy="1143000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 flipV="1">
            <a:off x="7993063" y="2525713"/>
            <a:ext cx="1522412" cy="2286000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>
            <a:off x="7993063" y="2525713"/>
            <a:ext cx="1522412" cy="2286000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 flipV="1">
            <a:off x="7993063" y="3668713"/>
            <a:ext cx="1522412" cy="2286000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7993063" y="3668713"/>
            <a:ext cx="1522412" cy="2286000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129" name="Group 9"/>
          <p:cNvGrpSpPr>
            <a:grpSpLocks/>
          </p:cNvGrpSpPr>
          <p:nvPr/>
        </p:nvGrpSpPr>
        <p:grpSpPr bwMode="auto">
          <a:xfrm>
            <a:off x="2659063" y="2525714"/>
            <a:ext cx="1524000" cy="1144587"/>
            <a:chOff x="715" y="1591"/>
            <a:chExt cx="960" cy="721"/>
          </a:xfrm>
        </p:grpSpPr>
        <p:sp>
          <p:nvSpPr>
            <p:cNvPr id="5130" name="Line 10"/>
            <p:cNvSpPr>
              <a:spLocks noChangeShapeType="1"/>
            </p:cNvSpPr>
            <p:nvPr/>
          </p:nvSpPr>
          <p:spPr bwMode="auto">
            <a:xfrm>
              <a:off x="715" y="1591"/>
              <a:ext cx="960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oval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Line 11"/>
            <p:cNvSpPr>
              <a:spLocks noChangeShapeType="1"/>
            </p:cNvSpPr>
            <p:nvPr/>
          </p:nvSpPr>
          <p:spPr bwMode="auto">
            <a:xfrm>
              <a:off x="715" y="2311"/>
              <a:ext cx="960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oval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32" name="Group 12"/>
          <p:cNvGrpSpPr>
            <a:grpSpLocks/>
          </p:cNvGrpSpPr>
          <p:nvPr/>
        </p:nvGrpSpPr>
        <p:grpSpPr bwMode="auto">
          <a:xfrm>
            <a:off x="2659063" y="4811714"/>
            <a:ext cx="1524000" cy="1144587"/>
            <a:chOff x="715" y="3031"/>
            <a:chExt cx="960" cy="721"/>
          </a:xfrm>
        </p:grpSpPr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>
              <a:off x="715" y="3031"/>
              <a:ext cx="960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oval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Line 14"/>
            <p:cNvSpPr>
              <a:spLocks noChangeShapeType="1"/>
            </p:cNvSpPr>
            <p:nvPr/>
          </p:nvSpPr>
          <p:spPr bwMode="auto">
            <a:xfrm>
              <a:off x="715" y="3751"/>
              <a:ext cx="960" cy="1"/>
            </a:xfrm>
            <a:prstGeom prst="line">
              <a:avLst/>
            </a:prstGeom>
            <a:noFill/>
            <a:ln w="25400" cap="rnd">
              <a:solidFill>
                <a:srgbClr val="000000"/>
              </a:solidFill>
              <a:round/>
              <a:headEnd type="oval" w="lg" len="lg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35" name="Line 15"/>
          <p:cNvSpPr>
            <a:spLocks noChangeShapeType="1"/>
          </p:cNvSpPr>
          <p:nvPr/>
        </p:nvSpPr>
        <p:spPr bwMode="auto">
          <a:xfrm>
            <a:off x="5707064" y="2525713"/>
            <a:ext cx="2293937" cy="12700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>
            <a:off x="5707064" y="3668713"/>
            <a:ext cx="2287587" cy="4762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7" name="Line 17"/>
          <p:cNvSpPr>
            <a:spLocks noChangeShapeType="1"/>
          </p:cNvSpPr>
          <p:nvPr/>
        </p:nvSpPr>
        <p:spPr bwMode="auto">
          <a:xfrm>
            <a:off x="5707063" y="4811714"/>
            <a:ext cx="2286000" cy="1587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8" name="Line 18"/>
          <p:cNvSpPr>
            <a:spLocks noChangeShapeType="1"/>
          </p:cNvSpPr>
          <p:nvPr/>
        </p:nvSpPr>
        <p:spPr bwMode="auto">
          <a:xfrm>
            <a:off x="7997826" y="2533651"/>
            <a:ext cx="1509713" cy="4763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39" name="Line 19"/>
          <p:cNvSpPr>
            <a:spLocks noChangeShapeType="1"/>
          </p:cNvSpPr>
          <p:nvPr/>
        </p:nvSpPr>
        <p:spPr bwMode="auto">
          <a:xfrm flipV="1">
            <a:off x="8001001" y="3668713"/>
            <a:ext cx="1514475" cy="12700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0" name="Line 20"/>
          <p:cNvSpPr>
            <a:spLocks noChangeShapeType="1"/>
          </p:cNvSpPr>
          <p:nvPr/>
        </p:nvSpPr>
        <p:spPr bwMode="auto">
          <a:xfrm>
            <a:off x="7993063" y="4811714"/>
            <a:ext cx="1522412" cy="1587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1" name="Line 21"/>
          <p:cNvSpPr>
            <a:spLocks noChangeShapeType="1"/>
          </p:cNvSpPr>
          <p:nvPr/>
        </p:nvSpPr>
        <p:spPr bwMode="auto">
          <a:xfrm>
            <a:off x="4164013" y="2525713"/>
            <a:ext cx="1517650" cy="4762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2" name="Line 22"/>
          <p:cNvSpPr>
            <a:spLocks noChangeShapeType="1"/>
          </p:cNvSpPr>
          <p:nvPr/>
        </p:nvSpPr>
        <p:spPr bwMode="auto">
          <a:xfrm>
            <a:off x="4164013" y="4811714"/>
            <a:ext cx="1543050" cy="1587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3" name="Line 23"/>
          <p:cNvSpPr>
            <a:spLocks noChangeShapeType="1"/>
          </p:cNvSpPr>
          <p:nvPr/>
        </p:nvSpPr>
        <p:spPr bwMode="auto">
          <a:xfrm>
            <a:off x="4183063" y="5954714"/>
            <a:ext cx="1524000" cy="1587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4" name="Line 24"/>
          <p:cNvSpPr>
            <a:spLocks noChangeShapeType="1"/>
          </p:cNvSpPr>
          <p:nvPr/>
        </p:nvSpPr>
        <p:spPr bwMode="auto">
          <a:xfrm flipV="1">
            <a:off x="4183063" y="4830763"/>
            <a:ext cx="1524000" cy="1123950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5" name="Line 25"/>
          <p:cNvSpPr>
            <a:spLocks noChangeShapeType="1"/>
          </p:cNvSpPr>
          <p:nvPr/>
        </p:nvSpPr>
        <p:spPr bwMode="auto">
          <a:xfrm>
            <a:off x="4183063" y="4811713"/>
            <a:ext cx="1524000" cy="1143000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6" name="Line 26"/>
          <p:cNvSpPr>
            <a:spLocks noChangeShapeType="1"/>
          </p:cNvSpPr>
          <p:nvPr/>
        </p:nvSpPr>
        <p:spPr bwMode="auto">
          <a:xfrm>
            <a:off x="5707063" y="5954714"/>
            <a:ext cx="2286000" cy="1587"/>
          </a:xfrm>
          <a:prstGeom prst="line">
            <a:avLst/>
          </a:prstGeom>
          <a:noFill/>
          <a:ln w="25400" cap="rnd">
            <a:solidFill>
              <a:srgbClr val="0000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47" name="Line 27"/>
          <p:cNvSpPr>
            <a:spLocks noChangeShapeType="1"/>
          </p:cNvSpPr>
          <p:nvPr/>
        </p:nvSpPr>
        <p:spPr bwMode="auto">
          <a:xfrm>
            <a:off x="7993063" y="5954714"/>
            <a:ext cx="1522412" cy="1587"/>
          </a:xfrm>
          <a:prstGeom prst="line">
            <a:avLst/>
          </a:prstGeom>
          <a:noFill/>
          <a:ln w="25400" cap="rnd">
            <a:solidFill>
              <a:srgbClr val="3333CC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148" name="Group 28"/>
          <p:cNvGrpSpPr>
            <a:grpSpLocks/>
          </p:cNvGrpSpPr>
          <p:nvPr/>
        </p:nvGrpSpPr>
        <p:grpSpPr bwMode="auto">
          <a:xfrm>
            <a:off x="1752600" y="2228851"/>
            <a:ext cx="819150" cy="1662113"/>
            <a:chOff x="144" y="1404"/>
            <a:chExt cx="516" cy="1047"/>
          </a:xfrm>
        </p:grpSpPr>
        <p:sp>
          <p:nvSpPr>
            <p:cNvPr id="5149" name="Text Box 29"/>
            <p:cNvSpPr txBox="1">
              <a:spLocks noChangeArrowheads="1"/>
            </p:cNvSpPr>
            <p:nvPr/>
          </p:nvSpPr>
          <p:spPr bwMode="auto">
            <a:xfrm>
              <a:off x="144" y="1404"/>
              <a:ext cx="5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/>
                <a:t>x</a:t>
              </a:r>
              <a:r>
                <a:rPr lang="en-US" altLang="zh-CN" sz="2800" dirty="0"/>
                <a:t>[0]</a:t>
              </a:r>
            </a:p>
          </p:txBody>
        </p:sp>
        <p:sp>
          <p:nvSpPr>
            <p:cNvPr id="5150" name="Text Box 30"/>
            <p:cNvSpPr txBox="1">
              <a:spLocks noChangeArrowheads="1"/>
            </p:cNvSpPr>
            <p:nvPr/>
          </p:nvSpPr>
          <p:spPr bwMode="auto">
            <a:xfrm>
              <a:off x="144" y="2124"/>
              <a:ext cx="5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/>
                <a:t>[2]</a:t>
              </a:r>
            </a:p>
          </p:txBody>
        </p:sp>
      </p:grpSp>
      <p:grpSp>
        <p:nvGrpSpPr>
          <p:cNvPr id="5151" name="Group 31"/>
          <p:cNvGrpSpPr>
            <a:grpSpLocks/>
          </p:cNvGrpSpPr>
          <p:nvPr/>
        </p:nvGrpSpPr>
        <p:grpSpPr bwMode="auto">
          <a:xfrm>
            <a:off x="1752600" y="4514851"/>
            <a:ext cx="819150" cy="1662113"/>
            <a:chOff x="144" y="2844"/>
            <a:chExt cx="516" cy="1047"/>
          </a:xfrm>
        </p:grpSpPr>
        <p:sp>
          <p:nvSpPr>
            <p:cNvPr id="5152" name="Text Box 32"/>
            <p:cNvSpPr txBox="1">
              <a:spLocks noChangeArrowheads="1"/>
            </p:cNvSpPr>
            <p:nvPr/>
          </p:nvSpPr>
          <p:spPr bwMode="auto">
            <a:xfrm>
              <a:off x="144" y="2844"/>
              <a:ext cx="5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/>
                <a:t>[1]</a:t>
              </a:r>
            </a:p>
          </p:txBody>
        </p:sp>
        <p:sp>
          <p:nvSpPr>
            <p:cNvPr id="5153" name="Text Box 33"/>
            <p:cNvSpPr txBox="1">
              <a:spLocks noChangeArrowheads="1"/>
            </p:cNvSpPr>
            <p:nvPr/>
          </p:nvSpPr>
          <p:spPr bwMode="auto">
            <a:xfrm>
              <a:off x="144" y="3564"/>
              <a:ext cx="5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/>
                <a:t>x</a:t>
              </a:r>
              <a:r>
                <a:rPr lang="en-US" altLang="zh-CN" sz="2800"/>
                <a:t>[3]</a:t>
              </a:r>
            </a:p>
          </p:txBody>
        </p:sp>
      </p:grpSp>
      <p:sp>
        <p:nvSpPr>
          <p:cNvPr id="5154" name="Line 34"/>
          <p:cNvSpPr>
            <a:spLocks noChangeShapeType="1"/>
          </p:cNvSpPr>
          <p:nvPr/>
        </p:nvSpPr>
        <p:spPr bwMode="auto">
          <a:xfrm>
            <a:off x="4202113" y="3668713"/>
            <a:ext cx="1517650" cy="4762"/>
          </a:xfrm>
          <a:prstGeom prst="line">
            <a:avLst/>
          </a:prstGeom>
          <a:noFill/>
          <a:ln w="25400" cap="rnd">
            <a:solidFill>
              <a:srgbClr val="FF3300"/>
            </a:solidFill>
            <a:round/>
            <a:headEnd type="oval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55" name="Text Box 35"/>
          <p:cNvSpPr txBox="1">
            <a:spLocks noChangeArrowheads="1"/>
          </p:cNvSpPr>
          <p:nvPr/>
        </p:nvSpPr>
        <p:spPr bwMode="auto">
          <a:xfrm>
            <a:off x="5867400" y="1866901"/>
            <a:ext cx="1028700" cy="51911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900" baseline="-25000"/>
              <a:t>1</a:t>
            </a:r>
            <a:r>
              <a:rPr lang="en-US" altLang="zh-CN" sz="2800"/>
              <a:t>[0]</a:t>
            </a:r>
          </a:p>
        </p:txBody>
      </p:sp>
      <p:sp>
        <p:nvSpPr>
          <p:cNvPr id="5156" name="Text Box 36"/>
          <p:cNvSpPr txBox="1">
            <a:spLocks noChangeArrowheads="1"/>
          </p:cNvSpPr>
          <p:nvPr/>
        </p:nvSpPr>
        <p:spPr bwMode="auto">
          <a:xfrm>
            <a:off x="5867400" y="3048001"/>
            <a:ext cx="1028700" cy="519113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900" baseline="-25000"/>
              <a:t>1</a:t>
            </a:r>
            <a:r>
              <a:rPr lang="en-US" altLang="zh-CN" sz="2800"/>
              <a:t>[1]</a:t>
            </a:r>
          </a:p>
        </p:txBody>
      </p:sp>
      <p:sp>
        <p:nvSpPr>
          <p:cNvPr id="5157" name="Text Box 37"/>
          <p:cNvSpPr txBox="1">
            <a:spLocks noChangeArrowheads="1"/>
          </p:cNvSpPr>
          <p:nvPr/>
        </p:nvSpPr>
        <p:spPr bwMode="auto">
          <a:xfrm>
            <a:off x="5848350" y="4229101"/>
            <a:ext cx="1028700" cy="519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/>
              <a:t>X</a:t>
            </a:r>
            <a:r>
              <a:rPr lang="en-US" altLang="zh-CN" sz="2900" baseline="-25000" dirty="0"/>
              <a:t>2</a:t>
            </a:r>
            <a:r>
              <a:rPr lang="en-US" altLang="zh-CN" sz="2800" dirty="0"/>
              <a:t>[0]</a:t>
            </a:r>
          </a:p>
        </p:txBody>
      </p:sp>
      <p:sp>
        <p:nvSpPr>
          <p:cNvPr id="5158" name="Text Box 38"/>
          <p:cNvSpPr txBox="1">
            <a:spLocks noChangeArrowheads="1"/>
          </p:cNvSpPr>
          <p:nvPr/>
        </p:nvSpPr>
        <p:spPr bwMode="auto">
          <a:xfrm>
            <a:off x="5848350" y="5410201"/>
            <a:ext cx="1028700" cy="519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/>
              <a:t>X</a:t>
            </a:r>
            <a:r>
              <a:rPr lang="en-US" altLang="zh-CN" sz="2900" baseline="-25000" dirty="0"/>
              <a:t>2</a:t>
            </a:r>
            <a:r>
              <a:rPr lang="en-US" altLang="zh-CN" sz="2800" dirty="0"/>
              <a:t>[1]</a:t>
            </a:r>
          </a:p>
        </p:txBody>
      </p:sp>
      <p:grpSp>
        <p:nvGrpSpPr>
          <p:cNvPr id="5159" name="Group 39"/>
          <p:cNvGrpSpPr>
            <a:grpSpLocks/>
          </p:cNvGrpSpPr>
          <p:nvPr/>
        </p:nvGrpSpPr>
        <p:grpSpPr bwMode="auto">
          <a:xfrm>
            <a:off x="4171950" y="2125663"/>
            <a:ext cx="1524000" cy="1905000"/>
            <a:chOff x="4800" y="1111"/>
            <a:chExt cx="960" cy="1200"/>
          </a:xfrm>
        </p:grpSpPr>
        <p:sp>
          <p:nvSpPr>
            <p:cNvPr id="5160" name="Rectangle 40"/>
            <p:cNvSpPr>
              <a:spLocks noChangeArrowheads="1"/>
            </p:cNvSpPr>
            <p:nvPr/>
          </p:nvSpPr>
          <p:spPr bwMode="auto">
            <a:xfrm>
              <a:off x="4800" y="1111"/>
              <a:ext cx="960" cy="1200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1" name="Text Box 41"/>
            <p:cNvSpPr txBox="1">
              <a:spLocks noChangeArrowheads="1"/>
            </p:cNvSpPr>
            <p:nvPr/>
          </p:nvSpPr>
          <p:spPr bwMode="auto">
            <a:xfrm>
              <a:off x="4860" y="1620"/>
              <a:ext cx="888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dirty="0"/>
                <a:t>2</a:t>
              </a:r>
              <a:r>
                <a:rPr lang="zh-CN" altLang="en-US" sz="2800" dirty="0"/>
                <a:t>点</a:t>
              </a:r>
              <a:r>
                <a:rPr lang="en-US" altLang="zh-CN" sz="2800" dirty="0"/>
                <a:t>DFT</a:t>
              </a:r>
            </a:p>
          </p:txBody>
        </p:sp>
      </p:grpSp>
      <p:grpSp>
        <p:nvGrpSpPr>
          <p:cNvPr id="5162" name="Group 42"/>
          <p:cNvGrpSpPr>
            <a:grpSpLocks/>
          </p:cNvGrpSpPr>
          <p:nvPr/>
        </p:nvGrpSpPr>
        <p:grpSpPr bwMode="auto">
          <a:xfrm>
            <a:off x="4152900" y="4221163"/>
            <a:ext cx="1524000" cy="1905000"/>
            <a:chOff x="4800" y="1111"/>
            <a:chExt cx="960" cy="1200"/>
          </a:xfrm>
        </p:grpSpPr>
        <p:sp>
          <p:nvSpPr>
            <p:cNvPr id="5163" name="Rectangle 43"/>
            <p:cNvSpPr>
              <a:spLocks noChangeArrowheads="1"/>
            </p:cNvSpPr>
            <p:nvPr/>
          </p:nvSpPr>
          <p:spPr bwMode="auto">
            <a:xfrm>
              <a:off x="4800" y="1111"/>
              <a:ext cx="960" cy="1200"/>
            </a:xfrm>
            <a:prstGeom prst="rect">
              <a:avLst/>
            </a:prstGeom>
            <a:noFill/>
            <a:ln w="190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4" name="Text Box 44"/>
            <p:cNvSpPr txBox="1">
              <a:spLocks noChangeArrowheads="1"/>
            </p:cNvSpPr>
            <p:nvPr/>
          </p:nvSpPr>
          <p:spPr bwMode="auto">
            <a:xfrm>
              <a:off x="4860" y="1620"/>
              <a:ext cx="888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2</a:t>
              </a:r>
              <a:r>
                <a:rPr lang="zh-CN" altLang="en-US" sz="2800"/>
                <a:t>点</a:t>
              </a:r>
              <a:r>
                <a:rPr lang="en-US" altLang="zh-CN" sz="2800"/>
                <a:t>DFT</a:t>
              </a:r>
            </a:p>
          </p:txBody>
        </p:sp>
      </p:grpSp>
      <p:sp>
        <p:nvSpPr>
          <p:cNvPr id="5165" name="Text Box 45"/>
          <p:cNvSpPr txBox="1">
            <a:spLocks noChangeArrowheads="1"/>
          </p:cNvSpPr>
          <p:nvPr/>
        </p:nvSpPr>
        <p:spPr bwMode="auto">
          <a:xfrm>
            <a:off x="7962900" y="4819651"/>
            <a:ext cx="66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Symbol" panose="05050102010706020507" pitchFamily="18" charset="2"/>
              </a:rPr>
              <a:t>-</a:t>
            </a:r>
            <a:r>
              <a:rPr lang="en-US" altLang="zh-CN" sz="2800"/>
              <a:t>1</a:t>
            </a:r>
          </a:p>
        </p:txBody>
      </p:sp>
      <p:sp>
        <p:nvSpPr>
          <p:cNvPr id="5166" name="Text Box 46"/>
          <p:cNvSpPr txBox="1">
            <a:spLocks noChangeArrowheads="1"/>
          </p:cNvSpPr>
          <p:nvPr/>
        </p:nvSpPr>
        <p:spPr bwMode="auto">
          <a:xfrm>
            <a:off x="7905750" y="6000751"/>
            <a:ext cx="66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Symbol" panose="05050102010706020507" pitchFamily="18" charset="2"/>
              </a:rPr>
              <a:t>-</a:t>
            </a:r>
            <a:r>
              <a:rPr lang="en-US" altLang="zh-CN" sz="2800"/>
              <a:t>1</a:t>
            </a:r>
          </a:p>
        </p:txBody>
      </p:sp>
      <p:sp>
        <p:nvSpPr>
          <p:cNvPr id="5167" name="Text Box 47"/>
          <p:cNvSpPr txBox="1">
            <a:spLocks noChangeArrowheads="1"/>
          </p:cNvSpPr>
          <p:nvPr/>
        </p:nvSpPr>
        <p:spPr bwMode="auto">
          <a:xfrm>
            <a:off x="4629150" y="3619501"/>
            <a:ext cx="66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Symbol" panose="05050102010706020507" pitchFamily="18" charset="2"/>
              </a:rPr>
              <a:t>-</a:t>
            </a:r>
            <a:r>
              <a:rPr lang="en-US" altLang="zh-CN" sz="2800"/>
              <a:t>1</a:t>
            </a:r>
          </a:p>
        </p:txBody>
      </p:sp>
      <p:sp>
        <p:nvSpPr>
          <p:cNvPr id="5168" name="Text Box 48"/>
          <p:cNvSpPr txBox="1">
            <a:spLocks noChangeArrowheads="1"/>
          </p:cNvSpPr>
          <p:nvPr/>
        </p:nvSpPr>
        <p:spPr bwMode="auto">
          <a:xfrm>
            <a:off x="4629150" y="5886451"/>
            <a:ext cx="666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Symbol" panose="05050102010706020507" pitchFamily="18" charset="2"/>
              </a:rPr>
              <a:t>-</a:t>
            </a:r>
            <a:r>
              <a:rPr lang="en-US" altLang="zh-CN" sz="2800"/>
              <a:t>1</a:t>
            </a:r>
          </a:p>
        </p:txBody>
      </p:sp>
      <p:graphicFrame>
        <p:nvGraphicFramePr>
          <p:cNvPr id="5169" name="Object 49"/>
          <p:cNvGraphicFramePr>
            <a:graphicFrameLocks noChangeAspect="1"/>
          </p:cNvGraphicFramePr>
          <p:nvPr/>
        </p:nvGraphicFramePr>
        <p:xfrm>
          <a:off x="7251701" y="4203701"/>
          <a:ext cx="6080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8" name="公式" r:id="rId3" imgW="241195" imgH="241195" progId="Equation.3">
                  <p:embed/>
                </p:oleObj>
              </mc:Choice>
              <mc:Fallback>
                <p:oleObj name="公式" r:id="rId3" imgW="241195" imgH="241195" progId="Equation.3">
                  <p:embed/>
                  <p:pic>
                    <p:nvPicPr>
                      <p:cNvPr id="516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701" y="4203701"/>
                        <a:ext cx="60801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0" name="Object 50"/>
          <p:cNvGraphicFramePr>
            <a:graphicFrameLocks noChangeAspect="1"/>
          </p:cNvGraphicFramePr>
          <p:nvPr/>
        </p:nvGraphicFramePr>
        <p:xfrm>
          <a:off x="7245351" y="5308601"/>
          <a:ext cx="581025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9" name="公式" r:id="rId5" imgW="228600" imgH="241300" progId="Equation.3">
                  <p:embed/>
                </p:oleObj>
              </mc:Choice>
              <mc:Fallback>
                <p:oleObj name="公式" r:id="rId5" imgW="228600" imgH="241300" progId="Equation.3">
                  <p:embed/>
                  <p:pic>
                    <p:nvPicPr>
                      <p:cNvPr id="517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5351" y="5308601"/>
                        <a:ext cx="581025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1" name="Object 51"/>
          <p:cNvGraphicFramePr>
            <a:graphicFrameLocks noChangeAspect="1"/>
          </p:cNvGraphicFramePr>
          <p:nvPr/>
        </p:nvGraphicFramePr>
        <p:xfrm>
          <a:off x="3041651" y="3041651"/>
          <a:ext cx="6080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" name="公式" r:id="rId7" imgW="241195" imgH="241195" progId="Equation.3">
                  <p:embed/>
                </p:oleObj>
              </mc:Choice>
              <mc:Fallback>
                <p:oleObj name="公式" r:id="rId7" imgW="241195" imgH="241195" progId="Equation.3">
                  <p:embed/>
                  <p:pic>
                    <p:nvPicPr>
                      <p:cNvPr id="5171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1" y="3041651"/>
                        <a:ext cx="60801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2" name="Object 52"/>
          <p:cNvGraphicFramePr>
            <a:graphicFrameLocks noChangeAspect="1"/>
          </p:cNvGraphicFramePr>
          <p:nvPr/>
        </p:nvGraphicFramePr>
        <p:xfrm>
          <a:off x="3003551" y="5346701"/>
          <a:ext cx="6080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" name="公式" r:id="rId9" imgW="241195" imgH="241195" progId="Equation.3">
                  <p:embed/>
                </p:oleObj>
              </mc:Choice>
              <mc:Fallback>
                <p:oleObj name="公式" r:id="rId9" imgW="241195" imgH="241195" progId="Equation.3">
                  <p:embed/>
                  <p:pic>
                    <p:nvPicPr>
                      <p:cNvPr id="5172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1" y="5346701"/>
                        <a:ext cx="60801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73" name="Text Box 53"/>
          <p:cNvSpPr txBox="1">
            <a:spLocks noChangeArrowheads="1"/>
          </p:cNvSpPr>
          <p:nvPr/>
        </p:nvSpPr>
        <p:spPr bwMode="auto">
          <a:xfrm>
            <a:off x="9620250" y="224790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900" baseline="-25000"/>
              <a:t> </a:t>
            </a:r>
            <a:r>
              <a:rPr lang="en-US" altLang="zh-CN" sz="2800"/>
              <a:t>[0]</a:t>
            </a:r>
          </a:p>
        </p:txBody>
      </p:sp>
      <p:sp>
        <p:nvSpPr>
          <p:cNvPr id="5174" name="Text Box 54"/>
          <p:cNvSpPr txBox="1">
            <a:spLocks noChangeArrowheads="1"/>
          </p:cNvSpPr>
          <p:nvPr/>
        </p:nvSpPr>
        <p:spPr bwMode="auto">
          <a:xfrm>
            <a:off x="9620250" y="33972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900" baseline="-25000"/>
              <a:t> </a:t>
            </a:r>
            <a:r>
              <a:rPr lang="en-US" altLang="zh-CN" sz="2800"/>
              <a:t>[1]</a:t>
            </a:r>
          </a:p>
        </p:txBody>
      </p:sp>
      <p:sp>
        <p:nvSpPr>
          <p:cNvPr id="5175" name="Text Box 55"/>
          <p:cNvSpPr txBox="1">
            <a:spLocks noChangeArrowheads="1"/>
          </p:cNvSpPr>
          <p:nvPr/>
        </p:nvSpPr>
        <p:spPr bwMode="auto">
          <a:xfrm>
            <a:off x="9620250" y="454660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900" baseline="-25000"/>
              <a:t> </a:t>
            </a:r>
            <a:r>
              <a:rPr lang="en-US" altLang="zh-CN" sz="2800"/>
              <a:t>[2]</a:t>
            </a:r>
          </a:p>
        </p:txBody>
      </p:sp>
      <p:sp>
        <p:nvSpPr>
          <p:cNvPr id="5176" name="Text Box 56"/>
          <p:cNvSpPr txBox="1">
            <a:spLocks noChangeArrowheads="1"/>
          </p:cNvSpPr>
          <p:nvPr/>
        </p:nvSpPr>
        <p:spPr bwMode="auto">
          <a:xfrm>
            <a:off x="9620250" y="5695951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/>
              <a:t>X</a:t>
            </a:r>
            <a:r>
              <a:rPr lang="en-US" altLang="zh-CN" sz="2900" baseline="-25000"/>
              <a:t> </a:t>
            </a:r>
            <a:r>
              <a:rPr lang="en-US" altLang="zh-CN" sz="2800"/>
              <a:t>[3]</a:t>
            </a:r>
          </a:p>
        </p:txBody>
      </p:sp>
      <p:graphicFrame>
        <p:nvGraphicFramePr>
          <p:cNvPr id="5177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269494"/>
              </p:ext>
            </p:extLst>
          </p:nvPr>
        </p:nvGraphicFramePr>
        <p:xfrm>
          <a:off x="3670300" y="0"/>
          <a:ext cx="534987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2" name="Equation" r:id="rId11" imgW="2120760" imgH="241200" progId="Equation.DSMT4">
                  <p:embed/>
                </p:oleObj>
              </mc:Choice>
              <mc:Fallback>
                <p:oleObj name="Equation" r:id="rId11" imgW="2120760" imgH="241200" progId="Equation.DSMT4">
                  <p:embed/>
                  <p:pic>
                    <p:nvPicPr>
                      <p:cNvPr id="5177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0"/>
                        <a:ext cx="534987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78" name="Rectangle 58"/>
          <p:cNvSpPr>
            <a:spLocks noChangeArrowheads="1"/>
          </p:cNvSpPr>
          <p:nvPr/>
        </p:nvSpPr>
        <p:spPr bwMode="auto">
          <a:xfrm>
            <a:off x="3067050" y="685800"/>
            <a:ext cx="5715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179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245993"/>
              </p:ext>
            </p:extLst>
          </p:nvPr>
        </p:nvGraphicFramePr>
        <p:xfrm>
          <a:off x="3371850" y="762000"/>
          <a:ext cx="586263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3" name="Equation" r:id="rId13" imgW="2323800" imgH="241200" progId="Equation.DSMT4">
                  <p:embed/>
                </p:oleObj>
              </mc:Choice>
              <mc:Fallback>
                <p:oleObj name="Equation" r:id="rId13" imgW="2323800" imgH="241200" progId="Equation.DSMT4">
                  <p:embed/>
                  <p:pic>
                    <p:nvPicPr>
                      <p:cNvPr id="5179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762000"/>
                        <a:ext cx="586263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80" name="Rectangle 60"/>
          <p:cNvSpPr>
            <a:spLocks noChangeArrowheads="1"/>
          </p:cNvSpPr>
          <p:nvPr/>
        </p:nvSpPr>
        <p:spPr bwMode="auto">
          <a:xfrm>
            <a:off x="1676400" y="169545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67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5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5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8" dur="500"/>
                                        <p:tgtEl>
                                          <p:spTgt spid="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3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8" dur="500"/>
                                        <p:tgtEl>
                                          <p:spTgt spid="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3" dur="5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8" dur="500"/>
                                        <p:tgtEl>
                                          <p:spTgt spid="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8" dur="500"/>
                                        <p:tgtEl>
                                          <p:spTgt spid="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3" dur="500"/>
                                        <p:tgtEl>
                                          <p:spTgt spid="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8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3" dur="500"/>
                                        <p:tgtEl>
                                          <p:spTgt spid="5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8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3" dur="500"/>
                                        <p:tgtEl>
                                          <p:spTgt spid="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3" dur="500"/>
                                        <p:tgtEl>
                                          <p:spTgt spid="5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8" dur="500"/>
                                        <p:tgtEl>
                                          <p:spTgt spid="5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3" dur="500"/>
                                        <p:tgtEl>
                                          <p:spTgt spid="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8" dur="5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3" dur="500"/>
                                        <p:tgtEl>
                                          <p:spTgt spid="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3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8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3"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8" dur="5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3" dur="500"/>
                                        <p:tgtEl>
                                          <p:spTgt spid="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8" dur="500"/>
                                        <p:tgtEl>
                                          <p:spTgt spid="5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3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8" dur="500"/>
                                        <p:tgtEl>
                                          <p:spTgt spid="5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3" dur="5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5" grpId="0" animBg="1" autoUpdateAnimBg="0"/>
      <p:bldP spid="5156" grpId="0" animBg="1" autoUpdateAnimBg="0"/>
      <p:bldP spid="5157" grpId="0" animBg="1" autoUpdateAnimBg="0"/>
      <p:bldP spid="5158" grpId="0" animBg="1" autoUpdateAnimBg="0"/>
      <p:bldP spid="5165" grpId="0" autoUpdateAnimBg="0"/>
      <p:bldP spid="5166" grpId="0" autoUpdateAnimBg="0"/>
      <p:bldP spid="5167" grpId="0" autoUpdateAnimBg="0"/>
      <p:bldP spid="5168" grpId="0" autoUpdateAnimBg="0"/>
      <p:bldP spid="5173" grpId="0" autoUpdateAnimBg="0"/>
      <p:bldP spid="5174" grpId="0" autoUpdateAnimBg="0"/>
      <p:bldP spid="5175" grpId="0" autoUpdateAnimBg="0"/>
      <p:bldP spid="517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55838" y="190500"/>
            <a:ext cx="7772400" cy="1143000"/>
          </a:xfrm>
        </p:spPr>
        <p:txBody>
          <a:bodyPr/>
          <a:lstStyle/>
          <a:p>
            <a:r>
              <a:rPr lang="en-US" altLang="zh-CN" sz="320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点基</a:t>
            </a:r>
            <a:r>
              <a:rPr lang="en-US" altLang="zh-CN" sz="320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时间抽取</a:t>
            </a:r>
            <a:r>
              <a:rPr lang="en-US" altLang="zh-CN" sz="3200">
                <a:latin typeface="华文中宋" panose="02010600040101010101" pitchFamily="2" charset="-122"/>
                <a:ea typeface="华文中宋" panose="02010600040101010101" pitchFamily="2" charset="-122"/>
              </a:rPr>
              <a:t>FFT</a:t>
            </a:r>
            <a:r>
              <a:rPr lang="zh-CN" altLang="en-US" sz="3200">
                <a:latin typeface="华文中宋" panose="02010600040101010101" pitchFamily="2" charset="-122"/>
                <a:ea typeface="华文中宋" panose="02010600040101010101" pitchFamily="2" charset="-122"/>
              </a:rPr>
              <a:t>算法流图</a:t>
            </a:r>
          </a:p>
        </p:txBody>
      </p:sp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1690689" y="2003426"/>
          <a:ext cx="8796337" cy="436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Visio" r:id="rId3" imgW="2811719" imgH="1395496" progId="Visio.Drawing.6">
                  <p:embed/>
                </p:oleObj>
              </mc:Choice>
              <mc:Fallback>
                <p:oleObj name="Visio" r:id="rId3" imgW="2811719" imgH="1395496" progId="Visio.Drawing.6">
                  <p:embed/>
                  <p:pic>
                    <p:nvPicPr>
                      <p:cNvPr id="61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9" y="2003426"/>
                        <a:ext cx="8796337" cy="436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676400" y="1330325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1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0700" y="1412502"/>
            <a:ext cx="104521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以下为 </a:t>
            </a:r>
            <a:r>
              <a:rPr lang="en-US" altLang="zh-CN" sz="3200" dirty="0">
                <a:solidFill>
                  <a:srgbClr val="000000"/>
                </a:solidFill>
                <a:latin typeface="TimesNewRomanPSMT"/>
              </a:rPr>
              <a:t>N=8 </a:t>
            </a:r>
            <a:r>
              <a:rPr lang="zh-CN" altLang="en-US" sz="32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基 </a:t>
            </a:r>
            <a:r>
              <a:rPr lang="en-US" altLang="zh-CN" sz="3200" dirty="0">
                <a:solidFill>
                  <a:srgbClr val="000000"/>
                </a:solidFill>
                <a:latin typeface="TimesNewRomanPSMT"/>
              </a:rPr>
              <a:t>2 </a:t>
            </a:r>
            <a:r>
              <a:rPr lang="zh-CN" altLang="en-US" sz="32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按时间抽取的 </a:t>
            </a:r>
            <a:r>
              <a:rPr lang="en-US" altLang="zh-CN" sz="3200" dirty="0">
                <a:solidFill>
                  <a:srgbClr val="000000"/>
                </a:solidFill>
                <a:latin typeface="TimesNewRomanPSMT"/>
              </a:rPr>
              <a:t>FFT </a:t>
            </a:r>
            <a:r>
              <a:rPr lang="zh-CN" altLang="en-US" sz="32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流图</a:t>
            </a:r>
            <a:r>
              <a:rPr lang="en-US" altLang="zh-CN" sz="3200" dirty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zh-CN" altLang="en-US" sz="32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不完整</a:t>
            </a:r>
            <a:r>
              <a:rPr lang="en-US" altLang="zh-CN" sz="3200" dirty="0">
                <a:solidFill>
                  <a:srgbClr val="000000"/>
                </a:solidFill>
                <a:latin typeface="TimesNewRomanPSMT"/>
              </a:rPr>
              <a:t>)</a:t>
            </a:r>
            <a:r>
              <a:rPr lang="zh-CN" altLang="en-US" sz="3200" dirty="0" smtClea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，</a:t>
            </a:r>
            <a:endParaRPr lang="en-US" altLang="zh-CN" sz="3200" dirty="0" smtClean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en-US" altLang="zh-CN" sz="3200" dirty="0" smtClean="0"/>
              <a:t>1</a:t>
            </a:r>
            <a:r>
              <a:rPr lang="en-US" altLang="zh-CN" sz="3200" dirty="0"/>
              <a:t>.</a:t>
            </a:r>
            <a:r>
              <a:rPr lang="zh-CN" altLang="en-US" sz="3200" dirty="0"/>
              <a:t>请将该流图补充完整，并标明输入和输出序列；</a:t>
            </a:r>
            <a:r>
              <a:rPr lang="zh-CN" altLang="en-US" sz="3200" dirty="0"/>
              <a:t> </a:t>
            </a:r>
            <a:br>
              <a:rPr lang="zh-CN" altLang="en-US" sz="3200" dirty="0"/>
            </a:br>
            <a:r>
              <a:rPr lang="en-US" altLang="zh-CN" sz="3200" dirty="0" smtClean="0"/>
              <a:t>2</a:t>
            </a:r>
            <a:r>
              <a:rPr lang="en-US" altLang="zh-CN" sz="3200" dirty="0"/>
              <a:t>.</a:t>
            </a:r>
            <a:r>
              <a:rPr lang="zh-CN" altLang="en-US" sz="3200" dirty="0"/>
              <a:t>利用该流图计算序列 </a:t>
            </a:r>
            <a:r>
              <a:rPr lang="en-US" altLang="zh-CN" sz="3200" dirty="0"/>
              <a:t>x </a:t>
            </a:r>
            <a:r>
              <a:rPr lang="en-US" altLang="zh-CN" sz="3200" dirty="0" smtClean="0"/>
              <a:t>(n) </a:t>
            </a:r>
            <a:r>
              <a:rPr lang="en-US" altLang="zh-CN" sz="3200" dirty="0"/>
              <a:t>{1,1,1,1,1,1,1,1} = </a:t>
            </a:r>
            <a:r>
              <a:rPr lang="zh-CN" altLang="en-US" sz="3200" dirty="0"/>
              <a:t>的 </a:t>
            </a:r>
            <a:r>
              <a:rPr lang="en-US" altLang="zh-CN" sz="3200" dirty="0"/>
              <a:t>DFT</a:t>
            </a:r>
            <a:r>
              <a:rPr lang="zh-CN" altLang="en-US" sz="3200" dirty="0"/>
              <a:t>，给出中间各级蝶形运算的结果；</a:t>
            </a:r>
            <a:br>
              <a:rPr lang="zh-CN" altLang="en-US" sz="3200" dirty="0"/>
            </a:br>
            <a:endParaRPr lang="zh-CN" altLang="en-US" sz="32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289" y="3456783"/>
            <a:ext cx="5044890" cy="3225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99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84" y="1708216"/>
            <a:ext cx="5692566" cy="359396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24600" y="2018948"/>
            <a:ext cx="54483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输入序列</a:t>
            </a:r>
            <a:r>
              <a:rPr lang="zh-CN" altLang="en-US" sz="2800" dirty="0" smtClea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zh-CN" altLang="en-US" sz="2800" dirty="0" smtClean="0">
                <a:solidFill>
                  <a:srgbClr val="000000"/>
                </a:solidFill>
                <a:latin typeface="SymbolMT"/>
              </a:rPr>
              <a:t>ｘ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0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NewRomanPSMT"/>
              </a:rPr>
              <a:t>ｘ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4) </a:t>
            </a:r>
            <a:r>
              <a:rPr lang="zh-CN" altLang="en-US" sz="2800" dirty="0" smtClean="0">
                <a:solidFill>
                  <a:srgbClr val="000000"/>
                </a:solidFill>
                <a:latin typeface="TimesNewRomanPSMT"/>
              </a:rPr>
              <a:t>ｘ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2) </a:t>
            </a:r>
            <a:r>
              <a:rPr lang="zh-CN" altLang="en-US" sz="2800" dirty="0" smtClean="0">
                <a:solidFill>
                  <a:srgbClr val="000000"/>
                </a:solidFill>
                <a:latin typeface="TimesNewRomanPSMT"/>
              </a:rPr>
              <a:t>ｘ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6) </a:t>
            </a:r>
            <a:r>
              <a:rPr lang="zh-CN" altLang="en-US" sz="2800" dirty="0" smtClean="0">
                <a:solidFill>
                  <a:srgbClr val="000000"/>
                </a:solidFill>
                <a:latin typeface="TimesNewRomanPSMT"/>
              </a:rPr>
              <a:t>ｘ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1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)</a:t>
            </a:r>
            <a:r>
              <a:rPr lang="zh-CN" altLang="en-US" sz="2800" dirty="0" smtClean="0">
                <a:solidFill>
                  <a:srgbClr val="000000"/>
                </a:solidFill>
                <a:latin typeface="TimesNewRomanPSMT"/>
              </a:rPr>
              <a:t>ｘ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5) </a:t>
            </a:r>
            <a:r>
              <a:rPr lang="zh-CN" altLang="en-US" sz="2800" dirty="0" smtClean="0">
                <a:solidFill>
                  <a:srgbClr val="000000"/>
                </a:solidFill>
                <a:latin typeface="TimesNewRomanPSMT"/>
              </a:rPr>
              <a:t>ｘ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3) </a:t>
            </a:r>
            <a:r>
              <a:rPr lang="zh-CN" altLang="en-US" sz="2800" dirty="0" smtClean="0">
                <a:solidFill>
                  <a:srgbClr val="000000"/>
                </a:solidFill>
                <a:latin typeface="TimesNewRomanPSMT"/>
              </a:rPr>
              <a:t>ｘ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(7) 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=</a:t>
            </a:r>
            <a:r>
              <a:rPr lang="zh-CN" altLang="en-US" sz="2800" dirty="0" smtClean="0">
                <a:solidFill>
                  <a:srgbClr val="000000"/>
                </a:solidFill>
                <a:latin typeface="SymbolMT"/>
              </a:rPr>
              <a:t>｛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1 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1 1 1 1 1 1 1 </a:t>
            </a:r>
            <a:r>
              <a:rPr lang="zh-CN" altLang="en-US" sz="2800" dirty="0" smtClean="0">
                <a:solidFill>
                  <a:srgbClr val="000000"/>
                </a:solidFill>
                <a:latin typeface="SymbolMT"/>
              </a:rPr>
              <a:t>｝，</a:t>
            </a:r>
            <a:r>
              <a:rPr lang="zh-CN" altLang="en-US" sz="2800" dirty="0" smtClea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输出</a:t>
            </a:r>
            <a:r>
              <a:rPr lang="zh-CN" altLang="en-US" sz="2800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序列</a:t>
            </a:r>
            <a:r>
              <a:rPr lang="zh-CN" altLang="en-US" sz="2800" dirty="0" smtClea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NewRomanPS-ItalicMT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(0) (1) (2) (3) (4) (5) (6</a:t>
            </a:r>
            <a:r>
              <a:rPr lang="en-US" altLang="zh-CN" sz="2800" dirty="0" smtClean="0">
                <a:solidFill>
                  <a:srgbClr val="000000"/>
                </a:solidFill>
                <a:latin typeface="TimesNewRomanPSMT"/>
              </a:rPr>
              <a:t>) (</a:t>
            </a:r>
            <a:r>
              <a:rPr lang="en-US" altLang="zh-CN" sz="2800" dirty="0">
                <a:solidFill>
                  <a:srgbClr val="000000"/>
                </a:solidFill>
                <a:latin typeface="TimesNewRomanPSMT"/>
              </a:rPr>
              <a:t>7) </a:t>
            </a:r>
            <a:r>
              <a:rPr lang="zh-CN" altLang="en-US" sz="2800" dirty="0" smtClean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r>
              <a:rPr lang="zh-CN" altLang="en-US" sz="2800" dirty="0" smtClean="0"/>
              <a:t> </a:t>
            </a:r>
            <a:endParaRPr lang="en-US" altLang="zh-CN" sz="2800" dirty="0" smtClean="0"/>
          </a:p>
          <a:p>
            <a:r>
              <a:rPr lang="en-US" altLang="zh-CN" sz="2800" dirty="0"/>
              <a:t>2 0 2 0 2 0 2 0</a:t>
            </a:r>
            <a:r>
              <a:rPr lang="zh-CN" altLang="en-US" sz="2800" dirty="0"/>
              <a:t>； </a:t>
            </a:r>
            <a:r>
              <a:rPr lang="en-US" altLang="zh-CN" sz="2800" dirty="0"/>
              <a:t>4 0 0 0 4 0 0 0</a:t>
            </a:r>
            <a:r>
              <a:rPr lang="zh-CN" altLang="en-US" sz="2800" dirty="0" smtClean="0"/>
              <a:t>；</a:t>
            </a:r>
            <a:r>
              <a:rPr lang="en-US" altLang="zh-CN" sz="2800" dirty="0"/>
              <a:t>8 0 0 0 0 0 0 0</a:t>
            </a:r>
            <a:r>
              <a:rPr lang="zh-CN" altLang="en-US" sz="2800" dirty="0"/>
              <a:t>。</a:t>
            </a:r>
            <a:br>
              <a:rPr lang="zh-CN" altLang="en-US" sz="2800" dirty="0"/>
            </a:b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56617497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554</Words>
  <Application>Microsoft Office PowerPoint</Application>
  <PresentationFormat>宽屏</PresentationFormat>
  <Paragraphs>68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等线</vt:lpstr>
      <vt:lpstr>等线 Light</vt:lpstr>
      <vt:lpstr>黑体</vt:lpstr>
      <vt:lpstr>宋体</vt:lpstr>
      <vt:lpstr>宋体</vt:lpstr>
      <vt:lpstr>STZhongsong</vt:lpstr>
      <vt:lpstr>SymbolMT</vt:lpstr>
      <vt:lpstr>TimesNewRomanPS-ItalicMT</vt:lpstr>
      <vt:lpstr>TimesNewRomanPSMT</vt:lpstr>
      <vt:lpstr>Arial</vt:lpstr>
      <vt:lpstr>Comic Sans MS</vt:lpstr>
      <vt:lpstr>Symbol</vt:lpstr>
      <vt:lpstr>Times New Roman</vt:lpstr>
      <vt:lpstr>icfp99</vt:lpstr>
      <vt:lpstr>Office 主题​​</vt:lpstr>
      <vt:lpstr>公式</vt:lpstr>
      <vt:lpstr>Visio</vt:lpstr>
      <vt:lpstr>Equation</vt:lpstr>
      <vt:lpstr>Document</vt:lpstr>
      <vt:lpstr>第5章 快速傅立叶变换（FFT）</vt:lpstr>
      <vt:lpstr>问题的提出</vt:lpstr>
      <vt:lpstr>若x[k]的长度为N，h[k]的长度为M，则L=N+M-1点循环卷积等于x[k] 与h[k]的线性卷积。</vt:lpstr>
      <vt:lpstr>5.1直接计算DFT的问题及改进的途径 </vt:lpstr>
      <vt:lpstr>5.1直接计算DFT的问题及改进的途径 </vt:lpstr>
      <vt:lpstr>5.2 按时间抽取（DIT）基2的FFT算法</vt:lpstr>
      <vt:lpstr>5.2 按时间抽取（DIT）基2的FFT算法</vt:lpstr>
      <vt:lpstr>5.2 按时间抽取（DIT）基2的FFT算法</vt:lpstr>
      <vt:lpstr>5.2 按时间抽取（DIT）基2的FFT算法</vt:lpstr>
      <vt:lpstr>基2时间抽取FFT算法流图</vt:lpstr>
      <vt:lpstr>5.2 按时间抽取（DIT）基2的FFT算法</vt:lpstr>
      <vt:lpstr>4点基2时间抽取FFT算法流图</vt:lpstr>
      <vt:lpstr>4点基2时间抽取FFT算法流图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快速傅立叶变换（FFT）</dc:title>
  <dc:creator>Administrator</dc:creator>
  <cp:lastModifiedBy>CHAO WU</cp:lastModifiedBy>
  <cp:revision>19</cp:revision>
  <dcterms:created xsi:type="dcterms:W3CDTF">2020-08-06T07:33:49Z</dcterms:created>
  <dcterms:modified xsi:type="dcterms:W3CDTF">2023-11-30T04:26:07Z</dcterms:modified>
</cp:coreProperties>
</file>