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17"/>
  </p:notesMasterIdLst>
  <p:sldIdLst>
    <p:sldId id="332" r:id="rId3"/>
    <p:sldId id="333" r:id="rId4"/>
    <p:sldId id="334" r:id="rId5"/>
    <p:sldId id="335" r:id="rId6"/>
    <p:sldId id="336" r:id="rId7"/>
    <p:sldId id="337" r:id="rId8"/>
    <p:sldId id="311" r:id="rId9"/>
    <p:sldId id="316" r:id="rId10"/>
    <p:sldId id="317" r:id="rId11"/>
    <p:sldId id="338" r:id="rId12"/>
    <p:sldId id="339" r:id="rId13"/>
    <p:sldId id="341" r:id="rId14"/>
    <p:sldId id="342" r:id="rId15"/>
    <p:sldId id="343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80630" autoAdjust="0"/>
  </p:normalViewPr>
  <p:slideViewPr>
    <p:cSldViewPr snapToGrid="0">
      <p:cViewPr varScale="1">
        <p:scale>
          <a:sx n="64" d="100"/>
          <a:sy n="64" d="100"/>
        </p:scale>
        <p:origin x="744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4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B99D7-9870-43E7-878E-5BB0F9D871EE}" type="datetimeFigureOut">
              <a:rPr lang="zh-CN" altLang="en-US" smtClean="0"/>
              <a:t>2023/11/1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04442-28C1-41EF-8780-A19FF9896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85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>
                <a:solidFill>
                  <a:prstClr val="black"/>
                </a:solidFill>
                <a:latin typeface="等线"/>
                <a:ea typeface="等线" panose="02010600030101010101" pitchFamily="2" charset="-122"/>
              </a:rPr>
              <a:pPr/>
              <a:t>1</a:t>
            </a:fld>
            <a:endParaRPr lang="zh-CN" altLang="en-US" dirty="0">
              <a:solidFill>
                <a:prstClr val="black"/>
              </a:solidFill>
              <a:latin typeface="等线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1218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C29F5-5CAD-45E2-8601-ADB508C2F6A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4415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6A73FA-5BA9-48A8-B054-48D3363CD66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0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0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634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0FC09C-5404-464D-92D4-F85EE48AE92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2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725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B05A29-842D-4215-96E7-964E690FFF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3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205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5E4010-1139-4C2A-9326-C396586AA31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8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8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32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3B5114-5ACE-4C89-BAC3-5D57885C982B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458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EB89419-C344-40C6-B4AF-B64360F5EC6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D0EC15D-9C77-4188-80FD-534CB4D6259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491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009DD4-B744-4A5A-9BCF-2BE1219C878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6720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B5375B-8E09-4DD8-A950-D279B55D1AF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84607E7-4DB9-45E5-BF73-16A5A03CEE1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4410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A3D01B-CED5-4F8A-B6C8-7E3E79320ED9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D40AEE6-7319-4B5B-93D0-3548900E185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3821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D440ECF-C06C-4365-A82F-7FCF58AB175D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916CC5-3ED3-4E00-85B5-005DC67C0A92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754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AF378D-529B-499C-888D-96616A7FD7B3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7B3999-57F6-416E-A1A2-5253D300C464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6825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9C2F7E0-74B7-4DF6-835D-211E54381D8A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688483-54E8-444F-A583-0A553B1CE94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230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221B5CF-6445-489A-A45C-4EC7F4623F90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1114EFF-8E6F-4E42-8213-F37E8D3AB8C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9852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4BE24FC-2A45-4A55-B139-5F9494B1CB5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8908285-CA4E-423B-8642-8726C1B3382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4564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BEAA45-778A-4741-845A-F018261E7A9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13AA134-3FB7-4864-BDD9-113D7FC3B5C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9225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BDC5DBC-5A12-4956-B0A7-3CBFEBC2F06C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F6064C9-616C-418B-B0ED-83E8E1DAAE91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5624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603FB61-C213-45FB-A763-B77CDEFEA231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CD01B68-6309-4BDA-8324-A2F95C8B9363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5287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894"/>
            <a:ext cx="12192000" cy="6879894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840432" y="4221088"/>
            <a:ext cx="9144000" cy="1147027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/>
          </p:nvPr>
        </p:nvSpPr>
        <p:spPr>
          <a:xfrm>
            <a:off x="840432" y="5460191"/>
            <a:ext cx="9144000" cy="777121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</a:t>
            </a:fld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1837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1"/>
          </p:cNvSpPr>
          <p:nvPr>
            <p:ph type="ctrTitle" hasCustomPrompt="1"/>
          </p:nvPr>
        </p:nvSpPr>
        <p:spPr>
          <a:xfrm>
            <a:off x="840432" y="4221088"/>
            <a:ext cx="9144000" cy="1147027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</a:t>
            </a:fld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290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316488" y="1903442"/>
            <a:ext cx="5336158" cy="1254095"/>
          </a:xfrm>
        </p:spPr>
        <p:txBody>
          <a:bodyPr anchor="b">
            <a:normAutofit/>
          </a:bodyPr>
          <a:lstStyle>
            <a:lvl1pPr algn="l">
              <a:defRPr sz="4800" b="1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16488" y="3202109"/>
            <a:ext cx="5336158" cy="74771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0FBDFE-C587-4B4C-A407-44438C67B59E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113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 userDrawn="1"/>
        </p:nvSpPr>
        <p:spPr>
          <a:xfrm>
            <a:off x="1468146" y="1773907"/>
            <a:ext cx="3038428" cy="3038428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2413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1"/>
          </p:nvPr>
        </p:nvSpPr>
        <p:spPr>
          <a:xfrm>
            <a:off x="1357700" y="1808196"/>
            <a:ext cx="3036276" cy="3036274"/>
          </a:xfrm>
          <a:custGeom>
            <a:avLst/>
            <a:gdLst>
              <a:gd name="connsiteX0" fmla="*/ 1518138 w 3036276"/>
              <a:gd name="connsiteY0" fmla="*/ 0 h 3036274"/>
              <a:gd name="connsiteX1" fmla="*/ 3036276 w 3036276"/>
              <a:gd name="connsiteY1" fmla="*/ 1518137 h 3036274"/>
              <a:gd name="connsiteX2" fmla="*/ 1518138 w 3036276"/>
              <a:gd name="connsiteY2" fmla="*/ 3036274 h 3036274"/>
              <a:gd name="connsiteX3" fmla="*/ 0 w 3036276"/>
              <a:gd name="connsiteY3" fmla="*/ 1518137 h 3036274"/>
              <a:gd name="connsiteX4" fmla="*/ 1518138 w 3036276"/>
              <a:gd name="connsiteY4" fmla="*/ 0 h 3036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36276" h="3036274">
                <a:moveTo>
                  <a:pt x="1518138" y="0"/>
                </a:moveTo>
                <a:cubicBezTo>
                  <a:pt x="2356582" y="0"/>
                  <a:pt x="3036276" y="679693"/>
                  <a:pt x="3036276" y="1518137"/>
                </a:cubicBezTo>
                <a:cubicBezTo>
                  <a:pt x="3036276" y="2356581"/>
                  <a:pt x="2356582" y="3036274"/>
                  <a:pt x="1518138" y="3036274"/>
                </a:cubicBezTo>
                <a:cubicBezTo>
                  <a:pt x="679694" y="3036274"/>
                  <a:pt x="0" y="2356581"/>
                  <a:pt x="0" y="1518137"/>
                </a:cubicBezTo>
                <a:cubicBezTo>
                  <a:pt x="0" y="679693"/>
                  <a:pt x="679694" y="0"/>
                  <a:pt x="151813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7086600" y="0"/>
            <a:ext cx="5105400" cy="6858000"/>
          </a:xfrm>
          <a:custGeom>
            <a:avLst/>
            <a:gdLst>
              <a:gd name="connsiteX0" fmla="*/ 5105400 w 5105400"/>
              <a:gd name="connsiteY0" fmla="*/ 0 h 6858000"/>
              <a:gd name="connsiteX1" fmla="*/ 5105400 w 5105400"/>
              <a:gd name="connsiteY1" fmla="*/ 6858000 h 6858000"/>
              <a:gd name="connsiteX2" fmla="*/ 0 w 5105400"/>
              <a:gd name="connsiteY2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05400" h="6858000">
                <a:moveTo>
                  <a:pt x="5105400" y="0"/>
                </a:moveTo>
                <a:lnTo>
                  <a:pt x="5105400" y="6858000"/>
                </a:lnTo>
                <a:lnTo>
                  <a:pt x="0" y="3429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菱形 17"/>
          <p:cNvSpPr/>
          <p:nvPr userDrawn="1"/>
        </p:nvSpPr>
        <p:spPr>
          <a:xfrm>
            <a:off x="2009052" y="-23079"/>
            <a:ext cx="486175" cy="486175"/>
          </a:xfrm>
          <a:prstGeom prst="diamond">
            <a:avLst/>
          </a:prstGeom>
          <a:solidFill>
            <a:srgbClr val="CBCB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菱形 18"/>
          <p:cNvSpPr/>
          <p:nvPr userDrawn="1"/>
        </p:nvSpPr>
        <p:spPr>
          <a:xfrm>
            <a:off x="180715" y="48787"/>
            <a:ext cx="828618" cy="828618"/>
          </a:xfrm>
          <a:prstGeom prst="diamond">
            <a:avLst/>
          </a:prstGeom>
          <a:solidFill>
            <a:srgbClr val="2347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" name="菱形 19"/>
          <p:cNvSpPr/>
          <p:nvPr userDrawn="1"/>
        </p:nvSpPr>
        <p:spPr>
          <a:xfrm>
            <a:off x="1256834" y="337237"/>
            <a:ext cx="257216" cy="257216"/>
          </a:xfrm>
          <a:prstGeom prst="diamond">
            <a:avLst/>
          </a:prstGeom>
          <a:solidFill>
            <a:srgbClr val="091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竖排文字占位符 22"/>
          <p:cNvSpPr>
            <a:spLocks noGrp="1"/>
          </p:cNvSpPr>
          <p:nvPr>
            <p:ph type="body" orient="vert" sz="quarter" idx="12"/>
          </p:nvPr>
        </p:nvSpPr>
        <p:spPr>
          <a:xfrm>
            <a:off x="907733" y="590363"/>
            <a:ext cx="4514850" cy="516749"/>
          </a:xfrm>
          <a:prstGeom prst="rect">
            <a:avLst/>
          </a:prstGeom>
        </p:spPr>
        <p:txBody>
          <a:bodyPr vert="horz"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lvl5pPr>
          </a:lstStyle>
          <a:p>
            <a:pPr marL="1828800" marR="0" lvl="4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8072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/>
      <p:bldP spid="11" grpId="0"/>
      <p:bldP spid="18" grpId="0" animBg="1"/>
      <p:bldP spid="19" grpId="0" animBg="1"/>
      <p:bldP spid="20" grpId="0" animBg="1"/>
      <p:bldP spid="23" grpId="0">
        <p:tmplLst>
          <p:tmpl>
            <p:tnLst>
              <p:par>
                <p:cTn presetID="53" presetClass="entr" presetSubtype="16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图片占位符 13"/>
          <p:cNvSpPr>
            <a:spLocks noGrp="1"/>
          </p:cNvSpPr>
          <p:nvPr>
            <p:ph type="pic" sz="quarter" idx="13"/>
          </p:nvPr>
        </p:nvSpPr>
        <p:spPr>
          <a:xfrm>
            <a:off x="9372018" y="0"/>
            <a:ext cx="2819983" cy="6858000"/>
          </a:xfrm>
          <a:custGeom>
            <a:avLst/>
            <a:gdLst>
              <a:gd name="connsiteX0" fmla="*/ 0 w 2819983"/>
              <a:gd name="connsiteY0" fmla="*/ 0 h 6858000"/>
              <a:gd name="connsiteX1" fmla="*/ 2819983 w 2819983"/>
              <a:gd name="connsiteY1" fmla="*/ 0 h 6858000"/>
              <a:gd name="connsiteX2" fmla="*/ 2819983 w 2819983"/>
              <a:gd name="connsiteY2" fmla="*/ 6858000 h 6858000"/>
              <a:gd name="connsiteX3" fmla="*/ 0 w 281998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19983" h="6858000">
                <a:moveTo>
                  <a:pt x="0" y="0"/>
                </a:moveTo>
                <a:lnTo>
                  <a:pt x="2819983" y="0"/>
                </a:lnTo>
                <a:lnTo>
                  <a:pt x="2819983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菱形 6"/>
          <p:cNvSpPr/>
          <p:nvPr userDrawn="1"/>
        </p:nvSpPr>
        <p:spPr>
          <a:xfrm>
            <a:off x="2009052" y="-23079"/>
            <a:ext cx="486175" cy="486175"/>
          </a:xfrm>
          <a:prstGeom prst="diamond">
            <a:avLst/>
          </a:prstGeom>
          <a:solidFill>
            <a:srgbClr val="CBCB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菱形 7"/>
          <p:cNvSpPr/>
          <p:nvPr userDrawn="1"/>
        </p:nvSpPr>
        <p:spPr>
          <a:xfrm>
            <a:off x="180715" y="48787"/>
            <a:ext cx="828618" cy="828618"/>
          </a:xfrm>
          <a:prstGeom prst="diamond">
            <a:avLst/>
          </a:prstGeom>
          <a:solidFill>
            <a:srgbClr val="2347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菱形 8"/>
          <p:cNvSpPr/>
          <p:nvPr userDrawn="1"/>
        </p:nvSpPr>
        <p:spPr>
          <a:xfrm>
            <a:off x="1256834" y="337237"/>
            <a:ext cx="257216" cy="257216"/>
          </a:xfrm>
          <a:prstGeom prst="diamond">
            <a:avLst/>
          </a:prstGeom>
          <a:solidFill>
            <a:srgbClr val="091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竖排文字占位符 22"/>
          <p:cNvSpPr>
            <a:spLocks noGrp="1"/>
          </p:cNvSpPr>
          <p:nvPr>
            <p:ph type="body" orient="vert" sz="quarter" idx="12"/>
          </p:nvPr>
        </p:nvSpPr>
        <p:spPr>
          <a:xfrm>
            <a:off x="907733" y="590363"/>
            <a:ext cx="4514850" cy="516749"/>
          </a:xfrm>
          <a:prstGeom prst="rect">
            <a:avLst/>
          </a:prstGeom>
        </p:spPr>
        <p:txBody>
          <a:bodyPr vert="horz"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lvl5pPr>
          </a:lstStyle>
          <a:p>
            <a:pPr marL="1828800" marR="0" lvl="4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8357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6" presetClass="entr" presetSubtype="42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7" grpId="0" animBg="1"/>
      <p:bldP spid="8" grpId="0" animBg="1"/>
      <p:bldP spid="9" grpId="0" animBg="1"/>
      <p:bldP spid="10" grpId="0">
        <p:tmplLst>
          <p:tmpl>
            <p:tnLst>
              <p:par>
                <p:cTn presetID="53" presetClass="entr" presetSubtype="16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菱形 6"/>
          <p:cNvSpPr/>
          <p:nvPr userDrawn="1"/>
        </p:nvSpPr>
        <p:spPr>
          <a:xfrm>
            <a:off x="2009052" y="-23079"/>
            <a:ext cx="486175" cy="486175"/>
          </a:xfrm>
          <a:prstGeom prst="diamond">
            <a:avLst/>
          </a:prstGeom>
          <a:solidFill>
            <a:srgbClr val="CBCB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菱形 7"/>
          <p:cNvSpPr/>
          <p:nvPr userDrawn="1"/>
        </p:nvSpPr>
        <p:spPr>
          <a:xfrm>
            <a:off x="180715" y="48787"/>
            <a:ext cx="828618" cy="828618"/>
          </a:xfrm>
          <a:prstGeom prst="diamond">
            <a:avLst/>
          </a:prstGeom>
          <a:solidFill>
            <a:srgbClr val="2347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菱形 8"/>
          <p:cNvSpPr/>
          <p:nvPr userDrawn="1"/>
        </p:nvSpPr>
        <p:spPr>
          <a:xfrm>
            <a:off x="1256834" y="337237"/>
            <a:ext cx="257216" cy="257216"/>
          </a:xfrm>
          <a:prstGeom prst="diamond">
            <a:avLst/>
          </a:prstGeom>
          <a:solidFill>
            <a:srgbClr val="091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竖排文字占位符 22"/>
          <p:cNvSpPr>
            <a:spLocks noGrp="1"/>
          </p:cNvSpPr>
          <p:nvPr>
            <p:ph type="body" orient="vert" sz="quarter" idx="12"/>
          </p:nvPr>
        </p:nvSpPr>
        <p:spPr>
          <a:xfrm>
            <a:off x="907733" y="590363"/>
            <a:ext cx="4514850" cy="516749"/>
          </a:xfrm>
          <a:prstGeom prst="rect">
            <a:avLst/>
          </a:prstGeom>
        </p:spPr>
        <p:txBody>
          <a:bodyPr vert="horz"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lvl5pPr>
          </a:lstStyle>
          <a:p>
            <a:pPr marL="1828800" marR="0" lvl="4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6065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>
        <p:tmplLst>
          <p:tmpl>
            <p:tnLst>
              <p:par>
                <p:cTn presetID="53" presetClass="entr" presetSubtype="16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3477063" y="2071468"/>
            <a:ext cx="5254281" cy="3502854"/>
          </a:xfrm>
          <a:custGeom>
            <a:avLst/>
            <a:gdLst>
              <a:gd name="connsiteX0" fmla="*/ 0 w 5254281"/>
              <a:gd name="connsiteY0" fmla="*/ 0 h 3502854"/>
              <a:gd name="connsiteX1" fmla="*/ 5254281 w 5254281"/>
              <a:gd name="connsiteY1" fmla="*/ 0 h 3502854"/>
              <a:gd name="connsiteX2" fmla="*/ 5254281 w 5254281"/>
              <a:gd name="connsiteY2" fmla="*/ 3502854 h 3502854"/>
              <a:gd name="connsiteX3" fmla="*/ 0 w 5254281"/>
              <a:gd name="connsiteY3" fmla="*/ 3502854 h 3502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4281" h="3502854">
                <a:moveTo>
                  <a:pt x="0" y="0"/>
                </a:moveTo>
                <a:lnTo>
                  <a:pt x="5254281" y="0"/>
                </a:lnTo>
                <a:lnTo>
                  <a:pt x="5254281" y="3502854"/>
                </a:lnTo>
                <a:lnTo>
                  <a:pt x="0" y="350285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菱形 6"/>
          <p:cNvSpPr/>
          <p:nvPr userDrawn="1"/>
        </p:nvSpPr>
        <p:spPr>
          <a:xfrm>
            <a:off x="2009052" y="-23079"/>
            <a:ext cx="486175" cy="486175"/>
          </a:xfrm>
          <a:prstGeom prst="diamond">
            <a:avLst/>
          </a:prstGeom>
          <a:solidFill>
            <a:srgbClr val="CBCB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菱形 7"/>
          <p:cNvSpPr/>
          <p:nvPr userDrawn="1"/>
        </p:nvSpPr>
        <p:spPr>
          <a:xfrm>
            <a:off x="180715" y="48787"/>
            <a:ext cx="828618" cy="828618"/>
          </a:xfrm>
          <a:prstGeom prst="diamond">
            <a:avLst/>
          </a:prstGeom>
          <a:solidFill>
            <a:srgbClr val="2347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菱形 8"/>
          <p:cNvSpPr/>
          <p:nvPr userDrawn="1"/>
        </p:nvSpPr>
        <p:spPr>
          <a:xfrm>
            <a:off x="1256834" y="337237"/>
            <a:ext cx="257216" cy="257216"/>
          </a:xfrm>
          <a:prstGeom prst="diamond">
            <a:avLst/>
          </a:prstGeom>
          <a:solidFill>
            <a:srgbClr val="091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竖排文字占位符 22"/>
          <p:cNvSpPr>
            <a:spLocks noGrp="1"/>
          </p:cNvSpPr>
          <p:nvPr>
            <p:ph type="body" orient="vert" sz="quarter" idx="12"/>
          </p:nvPr>
        </p:nvSpPr>
        <p:spPr>
          <a:xfrm>
            <a:off x="907733" y="590363"/>
            <a:ext cx="4514850" cy="516749"/>
          </a:xfrm>
          <a:prstGeom prst="rect">
            <a:avLst/>
          </a:prstGeom>
        </p:spPr>
        <p:txBody>
          <a:bodyPr vert="horz"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lvl5pPr>
          </a:lstStyle>
          <a:p>
            <a:pPr marL="1828800" marR="0" lvl="4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8676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6" presetClass="entr" presetSubtype="2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7" grpId="0" animBg="1"/>
      <p:bldP spid="8" grpId="0" animBg="1"/>
      <p:bldP spid="9" grpId="0" animBg="1"/>
      <p:bldP spid="10" grpId="0">
        <p:tmplLst>
          <p:tmpl>
            <p:tnLst>
              <p:par>
                <p:cTn presetID="53" presetClass="entr" presetSubtype="16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菱形 7"/>
          <p:cNvSpPr/>
          <p:nvPr userDrawn="1"/>
        </p:nvSpPr>
        <p:spPr>
          <a:xfrm>
            <a:off x="2009052" y="-23079"/>
            <a:ext cx="486175" cy="486175"/>
          </a:xfrm>
          <a:prstGeom prst="diamond">
            <a:avLst/>
          </a:prstGeom>
          <a:solidFill>
            <a:srgbClr val="CBCB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菱形 8"/>
          <p:cNvSpPr/>
          <p:nvPr userDrawn="1"/>
        </p:nvSpPr>
        <p:spPr>
          <a:xfrm>
            <a:off x="180715" y="48787"/>
            <a:ext cx="828618" cy="828618"/>
          </a:xfrm>
          <a:prstGeom prst="diamond">
            <a:avLst/>
          </a:prstGeom>
          <a:solidFill>
            <a:srgbClr val="2347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菱形 9"/>
          <p:cNvSpPr/>
          <p:nvPr userDrawn="1"/>
        </p:nvSpPr>
        <p:spPr>
          <a:xfrm>
            <a:off x="1256834" y="337237"/>
            <a:ext cx="257216" cy="257216"/>
          </a:xfrm>
          <a:prstGeom prst="diamond">
            <a:avLst/>
          </a:prstGeom>
          <a:solidFill>
            <a:srgbClr val="091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竖排文字占位符 22"/>
          <p:cNvSpPr>
            <a:spLocks noGrp="1"/>
          </p:cNvSpPr>
          <p:nvPr>
            <p:ph type="body" orient="vert" sz="quarter" idx="12"/>
          </p:nvPr>
        </p:nvSpPr>
        <p:spPr>
          <a:xfrm>
            <a:off x="907733" y="590363"/>
            <a:ext cx="4514850" cy="516749"/>
          </a:xfrm>
          <a:prstGeom prst="rect">
            <a:avLst/>
          </a:prstGeom>
        </p:spPr>
        <p:txBody>
          <a:bodyPr vert="horz"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lvl5pPr>
          </a:lstStyle>
          <a:p>
            <a:pPr marL="1828800" marR="0" lvl="4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450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>
        <p:tmplLst>
          <p:tmpl>
            <p:tnLst>
              <p:par>
                <p:cTn presetID="53" presetClass="entr" presetSubtype="16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F05E5E-85EA-435A-95DE-F1E84AB93A66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6D0A05-7C6A-43E4-9193-449C034EC60F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9079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F05E5E-85EA-435A-95DE-F1E84AB93A66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6D0A05-7C6A-43E4-9193-449C034EC60F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7916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1B7B3F-A56B-4310-A966-BD55D80449F1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127340-2293-49D2-96F1-6E7BF0C8FD9C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635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5EA7536-D96F-400A-84FA-EE04318685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80802C-D1E2-4C80-BE8C-D027A1D80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5BE6F8-219E-413C-B399-2A6399D61F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A2CC75-8280-4D50-8556-C2874ADEF926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79AEE5-26EE-4C85-8E5E-E86011772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C8C42C-BCED-4376-A8E1-FBA47CCFA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190E77-D57C-49F8-ADC2-FB99C50EBC2E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8CD92C1-49CC-4A26-AA0A-6CACEDCFC082}"/>
              </a:ext>
            </a:extLst>
          </p:cNvPr>
          <p:cNvSpPr/>
          <p:nvPr userDrawn="1"/>
        </p:nvSpPr>
        <p:spPr>
          <a:xfrm>
            <a:off x="1383102" y="3271044"/>
            <a:ext cx="6096000" cy="26609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感谢您下载平台上提供的</a:t>
            </a:r>
            <a:r>
              <a:rPr kumimoji="0" lang="en-US" altLang="zh-CN" sz="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PPT</a:t>
            </a:r>
            <a:r>
              <a:rPr kumimoji="0" lang="zh-CN" altLang="en-US" sz="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作品，为了您和熊猫办公以及原创作者的利益，请勿复制、传播、销售，否则将承担法律责任！熊猫办公将对作品进行维权，按照传播下载次数进行十倍的索取赔偿！</a:t>
            </a:r>
            <a:endParaRPr kumimoji="0" lang="en-US" altLang="zh-CN" sz="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www.tukuppt.com</a:t>
            </a:r>
          </a:p>
        </p:txBody>
      </p:sp>
    </p:spTree>
    <p:extLst>
      <p:ext uri="{BB962C8B-B14F-4D97-AF65-F5344CB8AC3E}">
        <p14:creationId xmlns:p14="http://schemas.microsoft.com/office/powerpoint/2010/main" val="4184584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623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E5758D-A3C3-4E88-8AC0-22500507BD7E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4E786F-588D-4932-A7B2-AE3451FA4ACA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55370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688" y="345530"/>
            <a:ext cx="4419600" cy="58705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90688" y="133251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n"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 单击此处编辑母版文本样式</a:t>
            </a:r>
          </a:p>
        </p:txBody>
      </p:sp>
      <p:pic>
        <p:nvPicPr>
          <p:cNvPr id="12" name="Picture 2" descr="C:\Users\LuZhang\Pictures\图片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6177" y="923963"/>
            <a:ext cx="3384000" cy="43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1B0D89E9-F11F-4A86-B229-F9B851AA4416}"/>
              </a:ext>
            </a:extLst>
          </p:cNvPr>
          <p:cNvGrpSpPr/>
          <p:nvPr userDrawn="1"/>
        </p:nvGrpSpPr>
        <p:grpSpPr>
          <a:xfrm>
            <a:off x="0" y="427635"/>
            <a:ext cx="431811" cy="383458"/>
            <a:chOff x="0" y="255639"/>
            <a:chExt cx="431811" cy="383458"/>
          </a:xfrm>
          <a:solidFill>
            <a:srgbClr val="093488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373B3D6-B168-4751-A0AF-DD2F4B7D3629}"/>
                </a:ext>
              </a:extLst>
            </p:cNvPr>
            <p:cNvSpPr/>
            <p:nvPr/>
          </p:nvSpPr>
          <p:spPr>
            <a:xfrm>
              <a:off x="0" y="255639"/>
              <a:ext cx="206477" cy="38345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2923E4C-D95A-41CE-84D9-E281CA9C0C07}"/>
                </a:ext>
              </a:extLst>
            </p:cNvPr>
            <p:cNvSpPr/>
            <p:nvPr/>
          </p:nvSpPr>
          <p:spPr>
            <a:xfrm>
              <a:off x="242629" y="255639"/>
              <a:ext cx="76515" cy="38345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0D80089-57D8-45D1-A4DC-1E177B0B3C55}"/>
                </a:ext>
              </a:extLst>
            </p:cNvPr>
            <p:cNvSpPr/>
            <p:nvPr/>
          </p:nvSpPr>
          <p:spPr>
            <a:xfrm>
              <a:off x="355296" y="255639"/>
              <a:ext cx="76515" cy="38345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9289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5F930D0-305E-4488-9A18-18976C29D3CE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4FF258E-67CD-4D95-B960-4634DDA9265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108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3864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</p:sldLayoutIdLst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6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4.wmf"/><Relationship Id="rId10" Type="http://schemas.openxmlformats.org/officeDocument/2006/relationships/image" Target="../media/image17.png"/><Relationship Id="rId4" Type="http://schemas.openxmlformats.org/officeDocument/2006/relationships/oleObject" Target="../embeddings/oleObject8.bin"/><Relationship Id="rId9" Type="http://schemas.openxmlformats.org/officeDocument/2006/relationships/image" Target="../media/image16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23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9.wmf"/><Relationship Id="rId12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2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9.jpeg"/><Relationship Id="rId4" Type="http://schemas.openxmlformats.org/officeDocument/2006/relationships/image" Target="../media/image27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3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0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7" Type="http://schemas.openxmlformats.org/officeDocument/2006/relationships/image" Target="../media/image3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32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59185" y="2074630"/>
            <a:ext cx="6339151" cy="1854200"/>
          </a:xfrm>
        </p:spPr>
        <p:txBody>
          <a:bodyPr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4000" dirty="0">
                <a:solidFill>
                  <a:srgbClr val="234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4000" dirty="0">
                <a:solidFill>
                  <a:srgbClr val="234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变换和</a:t>
            </a:r>
            <a:r>
              <a:rPr lang="en-US" altLang="zh-CN" sz="4000" dirty="0">
                <a:solidFill>
                  <a:srgbClr val="234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DTFT</a:t>
            </a:r>
            <a:endParaRPr lang="zh-CN" altLang="en-US" sz="4000" dirty="0">
              <a:solidFill>
                <a:srgbClr val="2347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013" y="399944"/>
            <a:ext cx="1912647" cy="463382"/>
          </a:xfrm>
          <a:prstGeom prst="rect">
            <a:avLst/>
          </a:prstGeom>
        </p:spPr>
      </p:pic>
      <p:grpSp>
        <p:nvGrpSpPr>
          <p:cNvPr id="10" name="组合 9"/>
          <p:cNvGrpSpPr>
            <a:grpSpLocks noChangeAspect="1"/>
          </p:cNvGrpSpPr>
          <p:nvPr/>
        </p:nvGrpSpPr>
        <p:grpSpPr>
          <a:xfrm>
            <a:off x="787180" y="2192687"/>
            <a:ext cx="2863589" cy="1617313"/>
            <a:chOff x="3367821" y="2336603"/>
            <a:chExt cx="3846124" cy="2172237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000"/>
            <a:stretch/>
          </p:blipFill>
          <p:spPr>
            <a:xfrm>
              <a:off x="3367821" y="2337641"/>
              <a:ext cx="3846124" cy="217119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588" t="-273" r="15178" b="91664"/>
            <a:stretch/>
          </p:blipFill>
          <p:spPr>
            <a:xfrm>
              <a:off x="4279348" y="2336603"/>
              <a:ext cx="712760" cy="176959"/>
            </a:xfrm>
            <a:prstGeom prst="rect">
              <a:avLst/>
            </a:prstGeom>
          </p:spPr>
        </p:pic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D28F5323-CD48-4559-805E-B472C5FB008E}"/>
              </a:ext>
            </a:extLst>
          </p:cNvPr>
          <p:cNvGrpSpPr/>
          <p:nvPr/>
        </p:nvGrpSpPr>
        <p:grpSpPr>
          <a:xfrm>
            <a:off x="3003583" y="3103060"/>
            <a:ext cx="928337" cy="905057"/>
            <a:chOff x="4480943" y="4021832"/>
            <a:chExt cx="980406" cy="103868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202CC45-2CC5-4C2F-A9D1-3ED274598467}"/>
                </a:ext>
              </a:extLst>
            </p:cNvPr>
            <p:cNvSpPr/>
            <p:nvPr/>
          </p:nvSpPr>
          <p:spPr>
            <a:xfrm>
              <a:off x="4480943" y="4021832"/>
              <a:ext cx="980406" cy="1038683"/>
            </a:xfrm>
            <a:prstGeom prst="rect">
              <a:avLst/>
            </a:prstGeom>
            <a:solidFill>
              <a:srgbClr val="2347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4511092" y="4218008"/>
              <a:ext cx="950257" cy="600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en-US" altLang="zh-CN" sz="2800" b="1" baseline="-250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</a:t>
              </a:r>
              <a:endParaRPr lang="en-US" altLang="zh-CN" sz="3600" b="1" baseline="-25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副标题 2"/>
          <p:cNvSpPr txBox="1">
            <a:spLocks/>
          </p:cNvSpPr>
          <p:nvPr/>
        </p:nvSpPr>
        <p:spPr>
          <a:xfrm>
            <a:off x="6397067" y="4149608"/>
            <a:ext cx="2941320" cy="9905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吴超</a:t>
            </a:r>
            <a:endParaRPr lang="en-US" altLang="zh-CN" sz="280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 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 工 程 学 院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1426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/>
          <p:cNvSpPr/>
          <p:nvPr/>
        </p:nvSpPr>
        <p:spPr>
          <a:xfrm>
            <a:off x="596344" y="1545642"/>
            <a:ext cx="10741306" cy="5058357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977" y="353440"/>
            <a:ext cx="1748577" cy="587059"/>
          </a:xfrm>
        </p:spPr>
        <p:txBody>
          <a:bodyPr anchor="ctr">
            <a:noAutofit/>
          </a:bodyPr>
          <a:lstStyle/>
          <a:p>
            <a:r>
              <a:rPr lang="zh-CN" altLang="en-US" sz="2800" dirty="0"/>
              <a:t>复习</a:t>
            </a:r>
          </a:p>
        </p:txBody>
      </p:sp>
      <p:sp>
        <p:nvSpPr>
          <p:cNvPr id="9" name="Oval 1"/>
          <p:cNvSpPr txBox="1"/>
          <p:nvPr/>
        </p:nvSpPr>
        <p:spPr>
          <a:xfrm>
            <a:off x="1180055" y="1917684"/>
            <a:ext cx="10042200" cy="475142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变换性质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如线性叠加性、平移性质、帕斯瓦尔、初终值定理、共轭性质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x(n-n0)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变换为？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X*(n)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变换为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?X(z)=1/(1-z^(-3)),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x(n),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n=0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时的值为？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系统函数与系统特性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差分方程与系统函数转换、因果稳定性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(z)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h(n)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在因果稳定需要满足什么性质；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的关系？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系统的频率响应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求时域响应、零极点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例：输入为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cos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(w*n),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H(exp(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jw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)),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则系统时域输出信号为？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2727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F45D6E-BEBB-460F-AD4F-3B07B28887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381000"/>
            <a:ext cx="60198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Z</a:t>
            </a:r>
            <a:r>
              <a:rPr lang="zh-CN" altLang="en-US">
                <a:ea typeface="宋体" panose="02010600030101010101" pitchFamily="2" charset="-122"/>
              </a:rPr>
              <a:t>变换的性质</a:t>
            </a:r>
            <a:r>
              <a:rPr lang="en-US" altLang="zh-CN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8916" name="Text Box 1028"/>
          <p:cNvSpPr txBox="1">
            <a:spLocks noChangeArrowheads="1"/>
          </p:cNvSpPr>
          <p:nvPr/>
        </p:nvSpPr>
        <p:spPr bwMode="auto">
          <a:xfrm>
            <a:off x="1905000" y="3964501"/>
            <a:ext cx="8458200" cy="180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8.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终值定理</a:t>
            </a:r>
          </a:p>
          <a:p>
            <a:pPr marL="0" marR="0" lvl="0" indent="0" algn="just" defTabSz="914400" rtl="0" eaLnBrk="1" fontAlgn="base" latinLnBrk="0" hangingPunct="1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设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为因果序列，且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)=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［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］的全部极点，除有一个一阶极点可以在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z=1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处外，其余都在单位圆内，则 </a:t>
            </a:r>
          </a:p>
        </p:txBody>
      </p:sp>
      <p:graphicFrame>
        <p:nvGraphicFramePr>
          <p:cNvPr id="38917" name="对象 3"/>
          <p:cNvGraphicFramePr>
            <a:graphicFrameLocks noChangeAspect="1"/>
          </p:cNvGraphicFramePr>
          <p:nvPr/>
        </p:nvGraphicFramePr>
        <p:xfrm>
          <a:off x="4159250" y="5748850"/>
          <a:ext cx="4025900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4" imgW="1651000" imgH="279400" progId="Equation.3">
                  <p:embed/>
                </p:oleObj>
              </mc:Choice>
              <mc:Fallback>
                <p:oleObj name="Equation" r:id="rId4" imgW="1651000" imgH="279400" progId="Equation.3">
                  <p:embed/>
                  <p:pic>
                    <p:nvPicPr>
                      <p:cNvPr id="38917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9250" y="5748850"/>
                        <a:ext cx="4025900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939926" y="1651015"/>
            <a:ext cx="5551488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7.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初值定理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对于因果序列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，即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)=0, 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&lt;0,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 </a:t>
            </a:r>
          </a:p>
        </p:txBody>
      </p:sp>
      <p:graphicFrame>
        <p:nvGraphicFramePr>
          <p:cNvPr id="11" name="对象 4"/>
          <p:cNvGraphicFramePr>
            <a:graphicFrameLocks noChangeAspect="1"/>
          </p:cNvGraphicFramePr>
          <p:nvPr/>
        </p:nvGraphicFramePr>
        <p:xfrm>
          <a:off x="3784601" y="2803540"/>
          <a:ext cx="24003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6" imgW="990170" imgH="279279" progId="Equation.3">
                  <p:embed/>
                </p:oleObj>
              </mc:Choice>
              <mc:Fallback>
                <p:oleObj name="Equation" r:id="rId6" imgW="990170" imgH="279279" progId="Equation.3">
                  <p:embed/>
                  <p:pic>
                    <p:nvPicPr>
                      <p:cNvPr id="11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601" y="2803540"/>
                        <a:ext cx="2400300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4934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82973" y="756609"/>
            <a:ext cx="10769600" cy="91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25163F-56F0-4728-A241-57C30AA276F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990850" y="1620854"/>
          <a:ext cx="548005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3" imgW="2298700" imgH="431800" progId="Equation.3">
                  <p:embed/>
                </p:oleObj>
              </mc:Choice>
              <mc:Fallback>
                <p:oleObj name="Equation" r:id="rId3" imgW="2298700" imgH="431800" progId="Equation.3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0850" y="1620854"/>
                        <a:ext cx="548005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489200" y="2768617"/>
            <a:ext cx="5709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则 </a:t>
            </a:r>
          </a:p>
        </p:txBody>
      </p:sp>
      <p:graphicFrame>
        <p:nvGraphicFramePr>
          <p:cNvPr id="8" name="对象 5"/>
          <p:cNvGraphicFramePr>
            <a:graphicFrameLocks noChangeAspect="1"/>
          </p:cNvGraphicFramePr>
          <p:nvPr/>
        </p:nvGraphicFramePr>
        <p:xfrm>
          <a:off x="3497263" y="2882916"/>
          <a:ext cx="476250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5" imgW="1981200" imgH="368300" progId="Equation.DSMT4">
                  <p:embed/>
                </p:oleObj>
              </mc:Choice>
              <mc:Fallback>
                <p:oleObj name="Equation" r:id="rId5" imgW="1981200" imgH="368300" progId="Equation.DSMT4">
                  <p:embed/>
                  <p:pic>
                    <p:nvPicPr>
                      <p:cNvPr id="8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7263" y="2882916"/>
                        <a:ext cx="4762500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011768" y="1276350"/>
            <a:ext cx="2012949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9.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卷积定理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若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030399" y="3716756"/>
            <a:ext cx="4168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10.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序列乘积（复卷积定理） 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528874" y="4250156"/>
            <a:ext cx="568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 </a:t>
            </a:r>
          </a:p>
        </p:txBody>
      </p:sp>
      <p:graphicFrame>
        <p:nvGraphicFramePr>
          <p:cNvPr id="12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0764456"/>
              </p:ext>
            </p:extLst>
          </p:nvPr>
        </p:nvGraphicFramePr>
        <p:xfrm>
          <a:off x="1941624" y="4237457"/>
          <a:ext cx="242411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7" imgW="1028254" imgH="203112" progId="Equation.3">
                  <p:embed/>
                </p:oleObj>
              </mc:Choice>
              <mc:Fallback>
                <p:oleObj name="Equation" r:id="rId7" imgW="1028254" imgH="203112" progId="Equation.3">
                  <p:embed/>
                  <p:pic>
                    <p:nvPicPr>
                      <p:cNvPr id="39942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624" y="4237457"/>
                        <a:ext cx="242411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1538398" y="4935957"/>
            <a:ext cx="5709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则 </a:t>
            </a:r>
          </a:p>
        </p:txBody>
      </p:sp>
      <p:graphicFrame>
        <p:nvGraphicFramePr>
          <p:cNvPr id="1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4376629"/>
              </p:ext>
            </p:extLst>
          </p:nvPr>
        </p:nvGraphicFramePr>
        <p:xfrm>
          <a:off x="2052748" y="4754982"/>
          <a:ext cx="6108700" cy="182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9" imgW="2984500" imgH="889000" progId="Equation.3">
                  <p:embed/>
                </p:oleObj>
              </mc:Choice>
              <mc:Fallback>
                <p:oleObj name="Equation" r:id="rId9" imgW="2984500" imgH="889000" progId="Equation.3">
                  <p:embed/>
                  <p:pic>
                    <p:nvPicPr>
                      <p:cNvPr id="3994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748" y="4754982"/>
                        <a:ext cx="6108700" cy="182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3343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D791C60-6026-4B57-BD56-E95DDC33E8D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0" y="381000"/>
            <a:ext cx="54864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Z</a:t>
            </a:r>
            <a:r>
              <a:rPr lang="zh-CN" altLang="en-US">
                <a:ea typeface="宋体" panose="02010600030101010101" pitchFamily="2" charset="-122"/>
              </a:rPr>
              <a:t>变换的性质</a:t>
            </a:r>
            <a:r>
              <a:rPr lang="en-US" altLang="zh-CN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1828800" y="1597026"/>
            <a:ext cx="8534400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3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11.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帕塞伐（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Parseval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）定理</a:t>
            </a:r>
          </a:p>
        </p:txBody>
      </p:sp>
      <p:graphicFrame>
        <p:nvGraphicFramePr>
          <p:cNvPr id="40965" name="对象 2"/>
          <p:cNvGraphicFramePr>
            <a:graphicFrameLocks noChangeAspect="1"/>
          </p:cNvGraphicFramePr>
          <p:nvPr/>
        </p:nvGraphicFramePr>
        <p:xfrm>
          <a:off x="3235326" y="2362201"/>
          <a:ext cx="4697413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4" imgW="2032000" imgH="431800" progId="Equation.DSMT4">
                  <p:embed/>
                </p:oleObj>
              </mc:Choice>
              <mc:Fallback>
                <p:oleObj name="Equation" r:id="rId4" imgW="2032000" imgH="431800" progId="Equation.DSMT4">
                  <p:embed/>
                  <p:pic>
                    <p:nvPicPr>
                      <p:cNvPr id="40965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326" y="2362201"/>
                        <a:ext cx="4697413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99855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1B8902-E9A9-4787-AFEA-1B3D388DD450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2743200" y="381000"/>
            <a:ext cx="7391400" cy="914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系统函数与系统特性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1988" name="TextBox 2"/>
          <p:cNvSpPr txBox="1">
            <a:spLocks noChangeArrowheads="1"/>
          </p:cNvSpPr>
          <p:nvPr/>
        </p:nvSpPr>
        <p:spPr bwMode="auto">
          <a:xfrm>
            <a:off x="1335202" y="1519451"/>
            <a:ext cx="22076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、系统函数</a:t>
            </a:r>
          </a:p>
        </p:txBody>
      </p:sp>
      <p:graphicFrame>
        <p:nvGraphicFramePr>
          <p:cNvPr id="41989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0345996"/>
              </p:ext>
            </p:extLst>
          </p:nvPr>
        </p:nvGraphicFramePr>
        <p:xfrm>
          <a:off x="1960678" y="1997288"/>
          <a:ext cx="2151843" cy="105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4" imgW="850531" imgH="418918" progId="Equation.3">
                  <p:embed/>
                </p:oleObj>
              </mc:Choice>
              <mc:Fallback>
                <p:oleObj name="Equation" r:id="rId4" imgW="850531" imgH="418918" progId="Equation.3">
                  <p:embed/>
                  <p:pic>
                    <p:nvPicPr>
                      <p:cNvPr id="41989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0678" y="1997288"/>
                        <a:ext cx="2151843" cy="105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589944"/>
              </p:ext>
            </p:extLst>
          </p:nvPr>
        </p:nvGraphicFramePr>
        <p:xfrm>
          <a:off x="1944801" y="2898988"/>
          <a:ext cx="4301319" cy="102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6" imgW="1803400" imgH="431800" progId="Equation.3">
                  <p:embed/>
                </p:oleObj>
              </mc:Choice>
              <mc:Fallback>
                <p:oleObj name="Equation" r:id="rId6" imgW="1803400" imgH="431800" progId="Equation.3">
                  <p:embed/>
                  <p:pic>
                    <p:nvPicPr>
                      <p:cNvPr id="4199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801" y="2898988"/>
                        <a:ext cx="4301319" cy="1029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1" name="TextBox 8"/>
          <p:cNvSpPr txBox="1">
            <a:spLocks noChangeArrowheads="1"/>
          </p:cNvSpPr>
          <p:nvPr/>
        </p:nvSpPr>
        <p:spPr bwMode="auto">
          <a:xfrm>
            <a:off x="6610094" y="1535356"/>
            <a:ext cx="22076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、稳定系统</a:t>
            </a:r>
          </a:p>
        </p:txBody>
      </p:sp>
      <p:graphicFrame>
        <p:nvGraphicFramePr>
          <p:cNvPr id="41992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5958740"/>
              </p:ext>
            </p:extLst>
          </p:nvPr>
        </p:nvGraphicFramePr>
        <p:xfrm>
          <a:off x="7492743" y="1916357"/>
          <a:ext cx="2379165" cy="1155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8" imgW="888614" imgH="431613" progId="Equation.3">
                  <p:embed/>
                </p:oleObj>
              </mc:Choice>
              <mc:Fallback>
                <p:oleObj name="Equation" r:id="rId8" imgW="888614" imgH="431613" progId="Equation.3">
                  <p:embed/>
                  <p:pic>
                    <p:nvPicPr>
                      <p:cNvPr id="41992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2743" y="1916357"/>
                        <a:ext cx="2379165" cy="11554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4" name="矩形 11"/>
          <p:cNvSpPr>
            <a:spLocks noChangeArrowheads="1"/>
          </p:cNvSpPr>
          <p:nvPr/>
        </p:nvSpPr>
        <p:spPr bwMode="auto">
          <a:xfrm>
            <a:off x="7295894" y="3024098"/>
            <a:ext cx="4572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收敛域包括单位圆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|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z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|=1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5022" y="4501773"/>
            <a:ext cx="4210139" cy="123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84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491DF15-F1CD-43CF-9564-BBF1598CA0C7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2819400" y="381000"/>
            <a:ext cx="7239000" cy="91440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系统的频率响应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48132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2542874"/>
              </p:ext>
            </p:extLst>
          </p:nvPr>
        </p:nvGraphicFramePr>
        <p:xfrm>
          <a:off x="2075381" y="1518218"/>
          <a:ext cx="3760787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4" imgW="1930400" imgH="368300" progId="Equation.DSMT4">
                  <p:embed/>
                </p:oleObj>
              </mc:Choice>
              <mc:Fallback>
                <p:oleObj name="Equation" r:id="rId4" imgW="1930400" imgH="368300" progId="Equation.DSMT4">
                  <p:embed/>
                  <p:pic>
                    <p:nvPicPr>
                      <p:cNvPr id="48132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5381" y="1518218"/>
                        <a:ext cx="3760787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3" name="TextBox 3"/>
          <p:cNvSpPr txBox="1">
            <a:spLocks noChangeArrowheads="1"/>
          </p:cNvSpPr>
          <p:nvPr/>
        </p:nvSpPr>
        <p:spPr bwMode="auto">
          <a:xfrm>
            <a:off x="3817938" y="2514600"/>
            <a:ext cx="25066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幅频响应、相频响应</a:t>
            </a:r>
          </a:p>
        </p:txBody>
      </p:sp>
      <p:sp>
        <p:nvSpPr>
          <p:cNvPr id="48134" name="TextBox 4"/>
          <p:cNvSpPr txBox="1">
            <a:spLocks noChangeArrowheads="1"/>
          </p:cNvSpPr>
          <p:nvPr/>
        </p:nvSpPr>
        <p:spPr bwMode="auto">
          <a:xfrm>
            <a:off x="1241942" y="1638868"/>
            <a:ext cx="958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定义：</a:t>
            </a:r>
          </a:p>
        </p:txBody>
      </p:sp>
      <p:sp>
        <p:nvSpPr>
          <p:cNvPr id="48135" name="TextBox 5"/>
          <p:cNvSpPr txBox="1">
            <a:spLocks noChangeArrowheads="1"/>
          </p:cNvSpPr>
          <p:nvPr/>
        </p:nvSpPr>
        <p:spPr bwMode="auto">
          <a:xfrm>
            <a:off x="1281747" y="3181350"/>
            <a:ext cx="3797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频率响应的意义（滤波特性）：</a:t>
            </a:r>
          </a:p>
        </p:txBody>
      </p:sp>
      <p:graphicFrame>
        <p:nvGraphicFramePr>
          <p:cNvPr id="48136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395764"/>
              </p:ext>
            </p:extLst>
          </p:nvPr>
        </p:nvGraphicFramePr>
        <p:xfrm>
          <a:off x="2599419" y="3892550"/>
          <a:ext cx="21399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6" imgW="965160" imgH="203040" progId="Equation.DSMT4">
                  <p:embed/>
                </p:oleObj>
              </mc:Choice>
              <mc:Fallback>
                <p:oleObj name="Equation" r:id="rId6" imgW="965160" imgH="203040" progId="Equation.DSMT4">
                  <p:embed/>
                  <p:pic>
                    <p:nvPicPr>
                      <p:cNvPr id="48136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9419" y="3892550"/>
                        <a:ext cx="213995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7" name="TextBox 8"/>
          <p:cNvSpPr txBox="1">
            <a:spLocks noChangeArrowheads="1"/>
          </p:cNvSpPr>
          <p:nvPr/>
        </p:nvSpPr>
        <p:spPr bwMode="auto">
          <a:xfrm>
            <a:off x="6487226" y="3259824"/>
            <a:ext cx="14747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输入信号：</a:t>
            </a:r>
          </a:p>
        </p:txBody>
      </p:sp>
      <p:graphicFrame>
        <p:nvGraphicFramePr>
          <p:cNvPr id="48138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808979"/>
              </p:ext>
            </p:extLst>
          </p:nvPr>
        </p:nvGraphicFramePr>
        <p:xfrm>
          <a:off x="6953952" y="3666224"/>
          <a:ext cx="15144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Equation" r:id="rId8" imgW="583947" imgH="203112" progId="Equation.DSMT4">
                  <p:embed/>
                </p:oleObj>
              </mc:Choice>
              <mc:Fallback>
                <p:oleObj name="Equation" r:id="rId8" imgW="583947" imgH="203112" progId="Equation.DSMT4">
                  <p:embed/>
                  <p:pic>
                    <p:nvPicPr>
                      <p:cNvPr id="48138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952" y="3666224"/>
                        <a:ext cx="151447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566652"/>
              </p:ext>
            </p:extLst>
          </p:nvPr>
        </p:nvGraphicFramePr>
        <p:xfrm>
          <a:off x="3449804" y="4654550"/>
          <a:ext cx="4943475" cy="152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Equation" r:id="rId10" imgW="2184120" imgH="672840" progId="Equation.DSMT4">
                  <p:embed/>
                </p:oleObj>
              </mc:Choice>
              <mc:Fallback>
                <p:oleObj name="Equation" r:id="rId10" imgW="2184120" imgH="67284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449804" y="4654550"/>
                        <a:ext cx="4943475" cy="1522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1236" y="4638675"/>
            <a:ext cx="3152775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4691324"/>
            <a:ext cx="4469304" cy="158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499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>
          <a:xfrm>
            <a:off x="2895600" y="457200"/>
            <a:ext cx="71628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Z</a:t>
            </a:r>
            <a:r>
              <a:rPr lang="zh-CN" altLang="en-US">
                <a:ea typeface="宋体" panose="02010600030101010101" pitchFamily="2" charset="-122"/>
              </a:rPr>
              <a:t>变换与拉氏变换的关系</a:t>
            </a:r>
          </a:p>
        </p:txBody>
      </p:sp>
      <p:sp>
        <p:nvSpPr>
          <p:cNvPr id="5222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57D6E3-6AC2-4675-91AB-8BBC5D74008D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2228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217589"/>
              </p:ext>
            </p:extLst>
          </p:nvPr>
        </p:nvGraphicFramePr>
        <p:xfrm>
          <a:off x="3352800" y="1600201"/>
          <a:ext cx="3086100" cy="141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Equation" r:id="rId3" imgW="1435100" imgH="660400" progId="Equation.DSMT4">
                  <p:embed/>
                </p:oleObj>
              </mc:Choice>
              <mc:Fallback>
                <p:oleObj name="Equation" r:id="rId3" imgW="1435100" imgH="660400" progId="Equation.DSMT4">
                  <p:embed/>
                  <p:pic>
                    <p:nvPicPr>
                      <p:cNvPr id="52228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600201"/>
                        <a:ext cx="3086100" cy="1419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对象 5"/>
          <p:cNvGraphicFramePr>
            <a:graphicFrameLocks noChangeAspect="1"/>
          </p:cNvGraphicFramePr>
          <p:nvPr/>
        </p:nvGraphicFramePr>
        <p:xfrm>
          <a:off x="4224338" y="3124200"/>
          <a:ext cx="3700462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Equation" r:id="rId5" imgW="1676400" imgH="1104900" progId="Equation.DSMT4">
                  <p:embed/>
                </p:oleObj>
              </mc:Choice>
              <mc:Fallback>
                <p:oleObj name="Equation" r:id="rId5" imgW="1676400" imgH="1104900" progId="Equation.DSMT4">
                  <p:embed/>
                  <p:pic>
                    <p:nvPicPr>
                      <p:cNvPr id="52229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8" y="3124200"/>
                        <a:ext cx="3700462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0" name="TextBox 6"/>
          <p:cNvSpPr txBox="1">
            <a:spLocks noChangeArrowheads="1"/>
          </p:cNvSpPr>
          <p:nvPr/>
        </p:nvSpPr>
        <p:spPr bwMode="auto">
          <a:xfrm>
            <a:off x="1981200" y="1787525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拉氏变换</a:t>
            </a:r>
          </a:p>
        </p:txBody>
      </p:sp>
      <p:sp>
        <p:nvSpPr>
          <p:cNvPr id="52231" name="TextBox 8"/>
          <p:cNvSpPr txBox="1">
            <a:spLocks noChangeArrowheads="1"/>
          </p:cNvSpPr>
          <p:nvPr/>
        </p:nvSpPr>
        <p:spPr bwMode="auto">
          <a:xfrm>
            <a:off x="2133601" y="5638800"/>
            <a:ext cx="879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Z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变换</a:t>
            </a:r>
          </a:p>
        </p:txBody>
      </p:sp>
      <p:graphicFrame>
        <p:nvGraphicFramePr>
          <p:cNvPr id="52232" name="对象 9"/>
          <p:cNvGraphicFramePr>
            <a:graphicFrameLocks noChangeAspect="1"/>
          </p:cNvGraphicFramePr>
          <p:nvPr/>
        </p:nvGraphicFramePr>
        <p:xfrm>
          <a:off x="3124200" y="5581650"/>
          <a:ext cx="45339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7" imgW="2184400" imgH="431800" progId="Equation.3">
                  <p:embed/>
                </p:oleObj>
              </mc:Choice>
              <mc:Fallback>
                <p:oleObj name="Equation" r:id="rId7" imgW="2184400" imgH="431800" progId="Equation.3">
                  <p:embed/>
                  <p:pic>
                    <p:nvPicPr>
                      <p:cNvPr id="52232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581650"/>
                        <a:ext cx="453390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8308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>
          <a:xfrm>
            <a:off x="2895600" y="457200"/>
            <a:ext cx="71628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Z</a:t>
            </a:r>
            <a:r>
              <a:rPr lang="zh-CN" altLang="en-US">
                <a:ea typeface="宋体" panose="02010600030101010101" pitchFamily="2" charset="-122"/>
              </a:rPr>
              <a:t>变换与拉氏变换的关系</a:t>
            </a:r>
          </a:p>
        </p:txBody>
      </p:sp>
      <p:sp>
        <p:nvSpPr>
          <p:cNvPr id="5325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41EEDEF-A4D3-4039-A121-89D64C78385D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3252" name="对象 4"/>
          <p:cNvGraphicFramePr>
            <a:graphicFrameLocks noChangeAspect="1"/>
          </p:cNvGraphicFramePr>
          <p:nvPr/>
        </p:nvGraphicFramePr>
        <p:xfrm>
          <a:off x="549943" y="3068633"/>
          <a:ext cx="3810000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quation" r:id="rId3" imgW="1726451" imgH="266584" progId="Equation.3">
                  <p:embed/>
                </p:oleObj>
              </mc:Choice>
              <mc:Fallback>
                <p:oleObj name="Equation" r:id="rId3" imgW="1726451" imgH="266584" progId="Equation.3">
                  <p:embed/>
                  <p:pic>
                    <p:nvPicPr>
                      <p:cNvPr id="53252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943" y="3068633"/>
                        <a:ext cx="3810000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3253" name="Picture 10" descr="1-3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2148" y="1420476"/>
            <a:ext cx="5715000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128337" y="1578768"/>
            <a:ext cx="6260432" cy="685800"/>
          </a:xfrm>
        </p:spPr>
        <p:txBody>
          <a:bodyPr/>
          <a:lstStyle/>
          <a:p>
            <a:r>
              <a:rPr lang="zh-CN" altLang="en-US" dirty="0"/>
              <a:t>针对时域采样（把拉斯变换离散化）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48439" y="2182974"/>
          <a:ext cx="3502199" cy="787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6" imgW="1638000" imgH="368280" progId="Equation.DSMT4">
                  <p:embed/>
                </p:oleObj>
              </mc:Choice>
              <mc:Fallback>
                <p:oleObj name="Equation" r:id="rId6" imgW="1638000" imgH="36828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8439" y="2182974"/>
                        <a:ext cx="3502199" cy="7873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内容占位符 2"/>
          <p:cNvSpPr txBox="1">
            <a:spLocks/>
          </p:cNvSpPr>
          <p:nvPr/>
        </p:nvSpPr>
        <p:spPr bwMode="auto">
          <a:xfrm>
            <a:off x="216568" y="4227968"/>
            <a:ext cx="11201400" cy="240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左对应于单位圆内，右对应单位圆外，单位圆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DFT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对应纵轴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FT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带状周期延拓</a:t>
            </a:r>
          </a:p>
        </p:txBody>
      </p:sp>
    </p:spTree>
    <p:extLst>
      <p:ext uri="{BB962C8B-B14F-4D97-AF65-F5344CB8AC3E}">
        <p14:creationId xmlns:p14="http://schemas.microsoft.com/office/powerpoint/2010/main" val="2750123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1676400" y="10668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43" name="Text Box 3"/>
          <p:cNvSpPr txBox="1">
            <a:spLocks noChangeArrowheads="1"/>
          </p:cNvSpPr>
          <p:nvPr/>
        </p:nvSpPr>
        <p:spPr bwMode="auto">
          <a:xfrm>
            <a:off x="3124200" y="1447800"/>
            <a:ext cx="7075488" cy="344094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Font typeface="Wingdings" panose="05000000000000000000" pitchFamily="2" charset="2"/>
              <a:buChar char="v"/>
            </a:pPr>
            <a:r>
              <a:rPr kumimoji="1"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序列的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</a:p>
          <a:p>
            <a:pPr fontAlgn="base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Font typeface="Wingdings" panose="05000000000000000000" pitchFamily="2" charset="2"/>
              <a:buChar char="v"/>
            </a:pPr>
            <a:r>
              <a:rPr kumimoji="1"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序列的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性质</a:t>
            </a:r>
          </a:p>
          <a:p>
            <a:pPr fontAlgn="base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Font typeface="Wingdings" panose="05000000000000000000" pitchFamily="2" charset="2"/>
              <a:buChar char="v"/>
            </a:pPr>
            <a:r>
              <a:rPr kumimoji="1"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利用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MATLAB</a:t>
            </a:r>
            <a:r>
              <a:rPr kumimoji="1"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计算序列的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</a:p>
          <a:p>
            <a:pPr fontAlgn="base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Font typeface="Wingdings" panose="05000000000000000000" pitchFamily="2" charset="2"/>
              <a:buChar char="v"/>
            </a:pPr>
            <a:r>
              <a:rPr kumimoji="1"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序列的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的频域抽样</a:t>
            </a:r>
          </a:p>
        </p:txBody>
      </p:sp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1981200" y="212726"/>
            <a:ext cx="8305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序列的离散时间</a:t>
            </a:r>
            <a:r>
              <a:rPr kumimoji="1" lang="en-US" altLang="zh-CN" sz="360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Fourier</a:t>
            </a:r>
            <a:r>
              <a:rPr kumimoji="1" lang="zh-CN" altLang="en-US" sz="40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变换</a:t>
            </a:r>
            <a:r>
              <a:rPr kumimoji="1" lang="en-US" altLang="zh-CN" sz="360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(DTFT)</a:t>
            </a:r>
          </a:p>
        </p:txBody>
      </p:sp>
    </p:spTree>
    <p:extLst>
      <p:ext uri="{BB962C8B-B14F-4D97-AF65-F5344CB8AC3E}">
        <p14:creationId xmlns:p14="http://schemas.microsoft.com/office/powerpoint/2010/main" val="2027559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3962400" y="304800"/>
            <a:ext cx="3962400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序列的</a:t>
            </a: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3000375" y="3141663"/>
            <a:ext cx="60785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l"/>
            </a:pP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1" lang="en-US" altLang="zh-CN" sz="2800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(e </a:t>
            </a:r>
            <a:r>
              <a:rPr kumimoji="1" lang="en-US" altLang="zh-CN" sz="2800" baseline="30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kumimoji="1" lang="en-US" altLang="zh-CN" sz="2800" baseline="30000" dirty="0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lang="el-GR" altLang="zh-CN" sz="2800" baseline="30000" dirty="0">
                <a:solidFill>
                  <a:srgbClr val="FF0000"/>
                </a:solidFill>
              </a:rPr>
              <a:t>ω</a:t>
            </a:r>
            <a:r>
              <a:rPr kumimoji="1"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kumimoji="1" lang="en-US" altLang="zh-CN" sz="2400" i="1" dirty="0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lang="el-GR" altLang="zh-CN" dirty="0">
                <a:solidFill>
                  <a:srgbClr val="FF0000"/>
                </a:solidFill>
              </a:rPr>
              <a:t>ω</a:t>
            </a:r>
            <a:r>
              <a:rPr kumimoji="1"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的连续函数</a:t>
            </a:r>
            <a:endParaRPr kumimoji="1" lang="zh-CN" altLang="en-US" sz="2800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l"/>
            </a:pPr>
            <a:r>
              <a:rPr kumimoji="1" lang="zh-CN" altLang="en-US" sz="2800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1" lang="en-US" altLang="zh-CN" sz="2800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(e </a:t>
            </a:r>
            <a:r>
              <a:rPr kumimoji="1" lang="en-US" altLang="zh-CN" sz="2800" baseline="30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l-GR" altLang="zh-CN" sz="2800" dirty="0">
                <a:solidFill>
                  <a:srgbClr val="FF0000"/>
                </a:solidFill>
              </a:rPr>
              <a:t> </a:t>
            </a:r>
            <a:r>
              <a:rPr lang="el-GR" altLang="zh-CN" sz="2800" baseline="30000" dirty="0">
                <a:solidFill>
                  <a:srgbClr val="FF0000"/>
                </a:solidFill>
              </a:rPr>
              <a:t>ω</a:t>
            </a:r>
            <a:r>
              <a:rPr kumimoji="1" lang="en-US" altLang="zh-CN" sz="2800" i="1" baseline="30000" dirty="0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kumimoji="1"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是周期为</a:t>
            </a:r>
            <a:r>
              <a:rPr kumimoji="1"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400" dirty="0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kumimoji="1"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的周期函数</a:t>
            </a:r>
          </a:p>
        </p:txBody>
      </p:sp>
      <p:sp>
        <p:nvSpPr>
          <p:cNvPr id="37895" name="Text Box 7"/>
          <p:cNvSpPr txBox="1">
            <a:spLocks noChangeArrowheads="1"/>
          </p:cNvSpPr>
          <p:nvPr/>
        </p:nvSpPr>
        <p:spPr bwMode="auto">
          <a:xfrm>
            <a:off x="2135188" y="4292601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IDTFT:</a:t>
            </a:r>
          </a:p>
        </p:txBody>
      </p:sp>
      <p:graphicFrame>
        <p:nvGraphicFramePr>
          <p:cNvPr id="378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193350"/>
              </p:ext>
            </p:extLst>
          </p:nvPr>
        </p:nvGraphicFramePr>
        <p:xfrm>
          <a:off x="3825875" y="4864100"/>
          <a:ext cx="4706938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4" imgW="1879560" imgH="393480" progId="Equation.DSMT4">
                  <p:embed/>
                </p:oleObj>
              </mc:Choice>
              <mc:Fallback>
                <p:oleObj name="Equation" r:id="rId4" imgW="1879560" imgH="393480" progId="Equation.DSMT4">
                  <p:embed/>
                  <p:pic>
                    <p:nvPicPr>
                      <p:cNvPr id="3789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75" y="4864100"/>
                        <a:ext cx="4706938" cy="98107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0473257"/>
              </p:ext>
            </p:extLst>
          </p:nvPr>
        </p:nvGraphicFramePr>
        <p:xfrm>
          <a:off x="4024313" y="1836738"/>
          <a:ext cx="362108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6" imgW="1447560" imgH="431640" progId="Equation.DSMT4">
                  <p:embed/>
                </p:oleObj>
              </mc:Choice>
              <mc:Fallback>
                <p:oleObj name="Equation" r:id="rId6" imgW="1447560" imgH="431640" progId="Equation.DSMT4">
                  <p:embed/>
                  <p:pic>
                    <p:nvPicPr>
                      <p:cNvPr id="378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4313" y="1836738"/>
                        <a:ext cx="3621087" cy="1079500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0" name="Text Box 12"/>
          <p:cNvSpPr txBox="1">
            <a:spLocks noChangeArrowheads="1"/>
          </p:cNvSpPr>
          <p:nvPr/>
        </p:nvSpPr>
        <p:spPr bwMode="auto">
          <a:xfrm>
            <a:off x="1992313" y="1412876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DTFT:</a:t>
            </a:r>
          </a:p>
        </p:txBody>
      </p:sp>
    </p:spTree>
    <p:extLst>
      <p:ext uri="{BB962C8B-B14F-4D97-AF65-F5344CB8AC3E}">
        <p14:creationId xmlns:p14="http://schemas.microsoft.com/office/powerpoint/2010/main" val="2045922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3" grpId="0" autoUpdateAnimBg="0"/>
      <p:bldP spid="37895" grpId="0" autoUpdateAnimBg="0"/>
      <p:bldP spid="37900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826155" y="2465388"/>
            <a:ext cx="698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例： 试求序列  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]=</a:t>
            </a:r>
            <a:r>
              <a:rPr kumimoji="1" lang="en-US" altLang="zh-CN" sz="2800" i="1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kumimoji="1" lang="en-US" altLang="zh-CN" sz="2800" i="1" baseline="30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962399" y="304800"/>
            <a:ext cx="4652433" cy="5847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序列的</a:t>
            </a: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kumimoji="1"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习题</a:t>
            </a:r>
          </a:p>
        </p:txBody>
      </p:sp>
    </p:spTree>
    <p:extLst>
      <p:ext uri="{BB962C8B-B14F-4D97-AF65-F5344CB8AC3E}">
        <p14:creationId xmlns:p14="http://schemas.microsoft.com/office/powerpoint/2010/main" val="430815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1919288" y="242888"/>
            <a:ext cx="698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例： 试求序列  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]=</a:t>
            </a:r>
            <a:r>
              <a:rPr kumimoji="1" lang="en-US" altLang="zh-CN" sz="2800" i="1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kumimoji="1" lang="en-US" altLang="zh-CN" sz="2800" i="1" baseline="30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graphicFrame>
        <p:nvGraphicFramePr>
          <p:cNvPr id="409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8072399"/>
              </p:ext>
            </p:extLst>
          </p:nvPr>
        </p:nvGraphicFramePr>
        <p:xfrm>
          <a:off x="3432175" y="1133475"/>
          <a:ext cx="3273425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3" imgW="1307880" imgH="431640" progId="Equation.DSMT4">
                  <p:embed/>
                </p:oleObj>
              </mc:Choice>
              <mc:Fallback>
                <p:oleObj name="Equation" r:id="rId3" imgW="1307880" imgH="431640" progId="Equation.DSMT4">
                  <p:embed/>
                  <p:pic>
                    <p:nvPicPr>
                      <p:cNvPr id="409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1133475"/>
                        <a:ext cx="3273425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1992313" y="2205038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kumimoji="1" lang="en-US" altLang="zh-CN" sz="2400" i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时，</a:t>
            </a:r>
          </a:p>
        </p:txBody>
      </p:sp>
      <p:sp>
        <p:nvSpPr>
          <p:cNvPr id="40965" name="Text Box 5"/>
          <p:cNvSpPr txBox="1">
            <a:spLocks noChangeArrowheads="1"/>
          </p:cNvSpPr>
          <p:nvPr/>
        </p:nvSpPr>
        <p:spPr bwMode="auto">
          <a:xfrm>
            <a:off x="3863976" y="2205038"/>
            <a:ext cx="5153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求和不收敛，序列的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不存在。</a:t>
            </a:r>
          </a:p>
        </p:txBody>
      </p:sp>
      <p:sp>
        <p:nvSpPr>
          <p:cNvPr id="40967" name="Text Box 7"/>
          <p:cNvSpPr txBox="1">
            <a:spLocks noChangeArrowheads="1"/>
          </p:cNvSpPr>
          <p:nvPr/>
        </p:nvSpPr>
        <p:spPr bwMode="auto">
          <a:xfrm>
            <a:off x="2063751" y="2924175"/>
            <a:ext cx="1878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kumimoji="1" lang="en-US" altLang="zh-CN" sz="2400" i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|&lt;1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时，</a:t>
            </a:r>
          </a:p>
        </p:txBody>
      </p:sp>
      <p:graphicFrame>
        <p:nvGraphicFramePr>
          <p:cNvPr id="409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3625213"/>
              </p:ext>
            </p:extLst>
          </p:nvPr>
        </p:nvGraphicFramePr>
        <p:xfrm>
          <a:off x="3960813" y="2708275"/>
          <a:ext cx="299085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5" imgW="1193760" imgH="431640" progId="Equation.DSMT4">
                  <p:embed/>
                </p:oleObj>
              </mc:Choice>
              <mc:Fallback>
                <p:oleObj name="Equation" r:id="rId5" imgW="1193760" imgH="431640" progId="Equation.DSMT4">
                  <p:embed/>
                  <p:pic>
                    <p:nvPicPr>
                      <p:cNvPr id="4096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0813" y="2708275"/>
                        <a:ext cx="299085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0" name="Text Box 10"/>
          <p:cNvSpPr txBox="1">
            <a:spLocks noChangeArrowheads="1"/>
          </p:cNvSpPr>
          <p:nvPr/>
        </p:nvSpPr>
        <p:spPr bwMode="auto">
          <a:xfrm>
            <a:off x="1919288" y="1268413"/>
            <a:ext cx="121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71" name="Rectangle 11"/>
          <p:cNvSpPr>
            <a:spLocks noChangeArrowheads="1"/>
          </p:cNvSpPr>
          <p:nvPr/>
        </p:nvSpPr>
        <p:spPr bwMode="auto">
          <a:xfrm>
            <a:off x="1676400" y="10668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2175" y="3885934"/>
            <a:ext cx="4793255" cy="285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14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 autoUpdateAnimBg="0"/>
      <p:bldP spid="40965" grpId="0" autoUpdateAnimBg="0"/>
      <p:bldP spid="40967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3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0"/>
            <a:ext cx="11079640" cy="7040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75736" y="1234468"/>
            <a:ext cx="738664" cy="4323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600" dirty="0">
                <a:solidFill>
                  <a:srgbClr val="000000"/>
                </a:solidFill>
              </a:rPr>
              <a:t>常见的傅立叶变换对</a:t>
            </a:r>
          </a:p>
        </p:txBody>
      </p:sp>
    </p:spTree>
    <p:extLst>
      <p:ext uri="{BB962C8B-B14F-4D97-AF65-F5344CB8AC3E}">
        <p14:creationId xmlns:p14="http://schemas.microsoft.com/office/powerpoint/2010/main" val="2878871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766"/>
  <p:tag name="KSO_WM_TAG_VERSION" val="1.0"/>
  <p:tag name="KSO_WM_SLIDE_ID" val="custom20182766_12"/>
  <p:tag name="KSO_WM_SLIDE_INDEX" val="12"/>
  <p:tag name="KSO_WM_SLIDE_ITEM_CNT" val="2"/>
  <p:tag name="KSO_WM_SLIDE_LAYOUT" val="a_b"/>
  <p:tag name="KSO_WM_SLIDE_LAYOUT_CNT" val="1_1"/>
  <p:tag name="KSO_WM_SLIDE_TYPE" val="sectionTitle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766"/>
  <p:tag name="KSO_WM_UNIT_TYPE" val="a"/>
  <p:tag name="KSO_WM_UNIT_INDEX" val="1"/>
  <p:tag name="KSO_WM_UNIT_ID" val="custom20182766_12*a*1"/>
  <p:tag name="KSO_WM_UNIT_LAYERLEVEL" val="1"/>
  <p:tag name="KSO_WM_UNIT_VALUE" val="9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SECTION TITLE"/>
</p:tagLst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主题">
  <a:themeElements>
    <a:clrScheme name="9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BCBCD"/>
      </a:accent1>
      <a:accent2>
        <a:srgbClr val="234777"/>
      </a:accent2>
      <a:accent3>
        <a:srgbClr val="091A36"/>
      </a:accent3>
      <a:accent4>
        <a:srgbClr val="CBCBCD"/>
      </a:accent4>
      <a:accent5>
        <a:srgbClr val="44546A"/>
      </a:accent5>
      <a:accent6>
        <a:srgbClr val="23477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8057</TotalTime>
  <Words>464</Words>
  <Application>Microsoft Office PowerPoint</Application>
  <PresentationFormat>宽屏</PresentationFormat>
  <Paragraphs>77</Paragraphs>
  <Slides>14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等线</vt:lpstr>
      <vt:lpstr>等线 Light</vt:lpstr>
      <vt:lpstr>微软雅黑</vt:lpstr>
      <vt:lpstr>宋体</vt:lpstr>
      <vt:lpstr>华文中宋</vt:lpstr>
      <vt:lpstr>Arial</vt:lpstr>
      <vt:lpstr>Calibri</vt:lpstr>
      <vt:lpstr>Comic Sans MS</vt:lpstr>
      <vt:lpstr>Symbol</vt:lpstr>
      <vt:lpstr>Times New Roman</vt:lpstr>
      <vt:lpstr>Wingdings</vt:lpstr>
      <vt:lpstr>icfp99</vt:lpstr>
      <vt:lpstr>1_office 主题</vt:lpstr>
      <vt:lpstr>Equation</vt:lpstr>
      <vt:lpstr>MathType 7.0 Equation</vt:lpstr>
      <vt:lpstr>z变换和DTFT</vt:lpstr>
      <vt:lpstr>复习</vt:lpstr>
      <vt:lpstr>Z变换的性质 </vt:lpstr>
      <vt:lpstr>PowerPoint 演示文稿</vt:lpstr>
      <vt:lpstr>Z变换的性质 </vt:lpstr>
      <vt:lpstr>系统函数与系统特性</vt:lpstr>
      <vt:lpstr>系统的频率响应</vt:lpstr>
      <vt:lpstr>Z变换与拉氏变换的关系</vt:lpstr>
      <vt:lpstr>Z变换与拉氏变换的关系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离散时间系统的变换域分析——Z变换</dc:title>
  <dc:creator>Administrator</dc:creator>
  <cp:lastModifiedBy>CHAO WU</cp:lastModifiedBy>
  <cp:revision>103</cp:revision>
  <dcterms:created xsi:type="dcterms:W3CDTF">2020-08-06T07:26:29Z</dcterms:created>
  <dcterms:modified xsi:type="dcterms:W3CDTF">2023-11-06T05:32:13Z</dcterms:modified>
</cp:coreProperties>
</file>