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</p:sldMasterIdLst>
  <p:notesMasterIdLst>
    <p:notesMasterId r:id="rId17"/>
  </p:notesMasterIdLst>
  <p:sldIdLst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66BD-A5B0-496B-94FC-CB3C101F2C21}" type="datetimeFigureOut">
              <a:rPr lang="zh-CN" altLang="en-US" smtClean="0"/>
              <a:t>2023/9/14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ED852-2A16-4DE8-8237-7F151C9986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09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0C5177-C11B-4616-8731-E4657EA8BA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/>
              <a:t>从抽象到细节（现实） </a:t>
            </a:r>
            <a:endParaRPr lang="en-US" altLang="zh-CN" smtClean="0"/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zh-CN" altLang="en-US" smtClean="0"/>
              <a:t>从应用程序级别到系统级别 </a:t>
            </a:r>
          </a:p>
        </p:txBody>
      </p:sp>
    </p:spTree>
    <p:extLst>
      <p:ext uri="{BB962C8B-B14F-4D97-AF65-F5344CB8AC3E}">
        <p14:creationId xmlns:p14="http://schemas.microsoft.com/office/powerpoint/2010/main" val="258205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6350"/>
            <a:ext cx="12187767" cy="6851650"/>
            <a:chOff x="0" y="4"/>
            <a:chExt cx="5758" cy="4316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6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328 w 5184"/>
                  <a:gd name="T3" fmla="*/ 3159 h 3159"/>
                  <a:gd name="T4" fmla="*/ 5328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74 w 556"/>
                  <a:gd name="T5" fmla="*/ 3159 h 3159"/>
                  <a:gd name="T6" fmla="*/ 574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60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60 w 251"/>
                <a:gd name="T7" fmla="*/ 12 h 12"/>
                <a:gd name="T8" fmla="*/ 260 w 251"/>
                <a:gd name="T9" fmla="*/ 0 h 12"/>
                <a:gd name="T10" fmla="*/ 26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5139 w 251"/>
                <a:gd name="T5" fmla="*/ 12 h 12"/>
                <a:gd name="T6" fmla="*/ 5139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0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859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859 w 4724"/>
                  <a:gd name="T7" fmla="*/ 12 h 12"/>
                  <a:gd name="T8" fmla="*/ 4859 w 4724"/>
                  <a:gd name="T9" fmla="*/ 0 h 12"/>
                  <a:gd name="T10" fmla="*/ 4859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3264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422400" y="1997076"/>
            <a:ext cx="94488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53265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22400" y="3886200"/>
            <a:ext cx="85344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9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0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E5F6C3-8C8E-469A-AB25-346AC4B82DF6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74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5A0114-C07A-439A-A8D9-83A654977FAC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64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E00811-CC65-4ACF-84CA-2ED63CD4C5EA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2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22400" y="1981200"/>
            <a:ext cx="49276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53200" y="1981200"/>
            <a:ext cx="4927600" cy="41148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8D4F5D-9754-4DE4-A846-B7280C96DE0E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21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F2B184-D4B9-4946-BB8B-F156D8CF8B6C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969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4D4843-0AD6-403E-8F8D-1A13C41DC314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909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0AB69A-FF79-4CC7-8BBA-B7197C8D2101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51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1FB49B-D676-44D4-A9E1-18DF6FDC5259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06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7645CC-ED21-4DCA-85D6-622F147D6301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24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6E975C-F6CD-4A91-932C-8CE5FA67D108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81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66200" y="304800"/>
            <a:ext cx="25146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3406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AB99A7-4FDC-44DD-9F6A-49E3CBCD52AA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698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DC2B71D-03B5-40B1-AAF9-79D4FAB572B5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D02489B-835D-4644-BAB2-263BB83F9864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1837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0ED0A39-F9FC-49B0-B9FC-06FFA5DDE896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F46AF62-89DC-4753-85B7-0146943E9501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1190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05077BF-3193-43FA-8BA1-CD42AECE7B5B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7565BAD-13F0-4F64-86E7-B651968D83AF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8974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2308383-D3B4-4482-BF4D-4CF4280FAB1A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F6C43EE-94BA-4894-A9A7-BBD392CAC769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710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E5BEB86-1815-4A26-9992-AE186ACACE38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9FBA8D4-35DA-4AE6-979B-BBD6EA0FAE76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4063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AD952F5-46E7-404E-B4C9-0CC000F37447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B4364EE-A3BE-42E2-98EE-17C71C8F17CB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4049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FD7ECEE-09C6-4F2E-93B6-49C764E00193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5AE8C4C-5535-474B-8816-37239CE43CD0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6434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D6FEFC-F327-4DA6-A4CE-A48F6E696438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AB93474-8B04-4459-9E9B-E45BC40A795D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9182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ACE7A85-F684-44ED-BF13-3B8626A27D93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214868C-DB22-4FED-B8CF-C522018673B4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8194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3A9DC2D-2F5F-4E36-8BED-5DEDC6CDECE8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35D5BEE-6A74-4553-990A-BE6B94AD59FB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7267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C8275E7-420A-4497-8F46-261872C07AB8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A92695B-A301-4360-AEBF-E98572A9026F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57320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FF79174-E995-46D8-A6AC-5D32EF88FB24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0AE8D86-DB97-491B-A596-75B4E6A6E874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20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" y="6350"/>
            <a:ext cx="12187767" cy="6851650"/>
            <a:chOff x="0" y="4"/>
            <a:chExt cx="5758" cy="4316"/>
          </a:xfrm>
        </p:grpSpPr>
        <p:sp>
          <p:nvSpPr>
            <p:cNvPr id="1032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328 w 5184"/>
                <a:gd name="T3" fmla="*/ 3159 h 3159"/>
                <a:gd name="T4" fmla="*/ 5328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74 w 556"/>
                <a:gd name="T5" fmla="*/ 3159 h 3159"/>
                <a:gd name="T6" fmla="*/ 574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4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859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859 w 4724"/>
                  <a:gd name="T7" fmla="*/ 12 h 12"/>
                  <a:gd name="T8" fmla="*/ 4859 w 4724"/>
                  <a:gd name="T9" fmla="*/ 0 h 12"/>
                  <a:gd name="T10" fmla="*/ 4859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9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235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1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5139 w 251"/>
                  <a:gd name="T5" fmla="*/ 12 h 12"/>
                  <a:gd name="T6" fmla="*/ 5139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2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60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60 w 251"/>
                  <a:gd name="T7" fmla="*/ 12 h 12"/>
                  <a:gd name="T8" fmla="*/ 260 w 251"/>
                  <a:gd name="T9" fmla="*/ 0 h 12"/>
                  <a:gd name="T10" fmla="*/ 26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238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2239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1"/>
            <a:ext cx="100584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2240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981200"/>
            <a:ext cx="10058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2241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2242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522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DFB533-8210-484D-BCD8-3A02DA5EE2E8}" type="slidenum">
              <a:rPr lang="zh-CN" altLang="en-US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517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 b="0">
                <a:solidFill>
                  <a:srgbClr val="000000"/>
                </a:solidFill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551B32C-E465-4879-A46E-BBB7D4589F75}" type="datetime1">
              <a:rPr lang="zh-CN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2023/9/14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 b="0">
                <a:solidFill>
                  <a:srgbClr val="000000"/>
                </a:solidFill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20594DD-B3FC-426D-8D56-84FB7E3F32B1}" type="slidenum">
              <a:rPr lang="zh-CN" altLang="en-US" smtClean="0"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64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47107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88914"/>
            <a:ext cx="8640762" cy="640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01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549275"/>
            <a:ext cx="8785225" cy="597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562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557213" indent="-214313"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857250" indent="-171450"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200150" indent="-171450"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1543050" indent="-171450"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7BDD754-4E10-4E6E-BA33-CB075AB6B3DF}" type="slidenum">
              <a:rPr lang="zh-CN" altLang="en-US" sz="1050" b="0">
                <a:solidFill>
                  <a:srgbClr val="000000"/>
                </a:solidFill>
                <a:latin typeface="Times New Roman" panose="02020603050405020304" pitchFamily="18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altLang="zh-CN" sz="105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216275" y="414338"/>
            <a:ext cx="5372100" cy="685800"/>
          </a:xfrm>
        </p:spPr>
        <p:txBody>
          <a:bodyPr/>
          <a:lstStyle/>
          <a:p>
            <a:r>
              <a:rPr lang="zh-CN" altLang="en-US" sz="3200">
                <a:ea typeface="宋体" panose="02010600030101010101" pitchFamily="2" charset="-122"/>
              </a:rPr>
              <a:t>第</a:t>
            </a:r>
            <a:r>
              <a:rPr lang="en-US" altLang="zh-CN" sz="3200">
                <a:ea typeface="宋体" panose="02010600030101010101" pitchFamily="2" charset="-122"/>
              </a:rPr>
              <a:t>1</a:t>
            </a:r>
            <a:r>
              <a:rPr lang="zh-CN" altLang="en-US" sz="3200">
                <a:ea typeface="宋体" panose="02010600030101010101" pitchFamily="2" charset="-122"/>
              </a:rPr>
              <a:t>章  离散时间信号与系统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4" y="1557338"/>
            <a:ext cx="7246937" cy="1071562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b="1" kern="1200" dirty="0">
                <a:solidFill>
                  <a:srgbClr val="0070C0"/>
                </a:solidFill>
                <a:ea typeface="宋体" charset="-122"/>
              </a:rPr>
              <a:t>离散时间信号及表示方法</a:t>
            </a:r>
            <a:endParaRPr lang="en-US" altLang="zh-CN" b="1" kern="1200" dirty="0">
              <a:solidFill>
                <a:srgbClr val="0070C0"/>
              </a:solidFill>
              <a:ea typeface="宋体" charset="-122"/>
            </a:endParaRPr>
          </a:p>
        </p:txBody>
      </p:sp>
      <p:pic>
        <p:nvPicPr>
          <p:cNvPr id="4915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2276476"/>
            <a:ext cx="4175125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3" y="2570163"/>
            <a:ext cx="401955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17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3" name="Text Box 4"/>
          <p:cNvSpPr txBox="1">
            <a:spLocks noChangeArrowheads="1"/>
          </p:cNvSpPr>
          <p:nvPr/>
        </p:nvSpPr>
        <p:spPr bwMode="auto">
          <a:xfrm>
            <a:off x="4244975" y="755651"/>
            <a:ext cx="37719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7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离散信号的表示</a:t>
            </a: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3773488" y="4456114"/>
            <a:ext cx="45720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en-US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]={1,  1,  2,  </a:t>
            </a:r>
            <a:r>
              <a:rPr kumimoji="1" lang="en-US" altLang="zh-CN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  1;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1,0,1,2,3}</a:t>
            </a:r>
          </a:p>
        </p:txBody>
      </p:sp>
      <p:graphicFrame>
        <p:nvGraphicFramePr>
          <p:cNvPr id="9238" name="Object 22"/>
          <p:cNvGraphicFramePr>
            <a:graphicFrameLocks noChangeAspect="1"/>
          </p:cNvGraphicFramePr>
          <p:nvPr/>
        </p:nvGraphicFramePr>
        <p:xfrm>
          <a:off x="3989388" y="2076451"/>
          <a:ext cx="3657600" cy="161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Visio" r:id="rId3" imgW="2530450" imgH="1118006" progId="Visio.Drawing.6">
                  <p:embed/>
                </p:oleObj>
              </mc:Choice>
              <mc:Fallback>
                <p:oleObj name="Visio" r:id="rId3" imgW="2530450" imgH="1118006" progId="Visio.Drawing.6">
                  <p:embed/>
                  <p:pic>
                    <p:nvPicPr>
                      <p:cNvPr id="923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88" y="2076451"/>
                        <a:ext cx="3657600" cy="161607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23"/>
          <p:cNvGraphicFramePr>
            <a:graphicFrameLocks noChangeAspect="1"/>
          </p:cNvGraphicFramePr>
          <p:nvPr/>
        </p:nvGraphicFramePr>
        <p:xfrm>
          <a:off x="3894139" y="3711575"/>
          <a:ext cx="223678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公式" r:id="rId5" imgW="1193800" imgH="330200" progId="Equation.3">
                  <p:embed/>
                </p:oleObj>
              </mc:Choice>
              <mc:Fallback>
                <p:oleObj name="公式" r:id="rId5" imgW="1193800" imgH="330200" progId="Equation.3">
                  <p:embed/>
                  <p:pic>
                    <p:nvPicPr>
                      <p:cNvPr id="923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4139" y="3711575"/>
                        <a:ext cx="2236787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6"/>
          <p:cNvGraphicFramePr>
            <a:graphicFrameLocks noChangeAspect="1"/>
          </p:cNvGraphicFramePr>
          <p:nvPr/>
        </p:nvGraphicFramePr>
        <p:xfrm>
          <a:off x="3989389" y="4994276"/>
          <a:ext cx="1379537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公式" r:id="rId7" imgW="736600" imgH="203200" progId="Equation.3">
                  <p:embed/>
                </p:oleObj>
              </mc:Choice>
              <mc:Fallback>
                <p:oleObj name="公式" r:id="rId7" imgW="736600" imgH="203200" progId="Equation.3">
                  <p:embed/>
                  <p:pic>
                    <p:nvPicPr>
                      <p:cNvPr id="924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89" y="4994276"/>
                        <a:ext cx="1379537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Text Box 27"/>
          <p:cNvSpPr txBox="1">
            <a:spLocks noChangeArrowheads="1"/>
          </p:cNvSpPr>
          <p:nvPr/>
        </p:nvSpPr>
        <p:spPr bwMode="auto">
          <a:xfrm>
            <a:off x="2909889" y="2457450"/>
            <a:ext cx="865187" cy="369888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图形</a:t>
            </a:r>
          </a:p>
        </p:txBody>
      </p:sp>
      <p:sp>
        <p:nvSpPr>
          <p:cNvPr id="51209" name="Text Box 28"/>
          <p:cNvSpPr txBox="1">
            <a:spLocks noChangeArrowheads="1"/>
          </p:cNvSpPr>
          <p:nvPr/>
        </p:nvSpPr>
        <p:spPr bwMode="auto">
          <a:xfrm>
            <a:off x="2855913" y="3970338"/>
            <a:ext cx="863600" cy="3683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向量</a:t>
            </a:r>
          </a:p>
        </p:txBody>
      </p:sp>
      <p:sp>
        <p:nvSpPr>
          <p:cNvPr id="51210" name="Text Box 29"/>
          <p:cNvSpPr txBox="1">
            <a:spLocks noChangeArrowheads="1"/>
          </p:cNvSpPr>
          <p:nvPr/>
        </p:nvSpPr>
        <p:spPr bwMode="auto">
          <a:xfrm>
            <a:off x="2855913" y="4994276"/>
            <a:ext cx="863600" cy="646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322101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Text Box 2"/>
          <p:cNvSpPr txBox="1">
            <a:spLocks noChangeArrowheads="1"/>
          </p:cNvSpPr>
          <p:nvPr/>
        </p:nvSpPr>
        <p:spPr bwMode="auto">
          <a:xfrm>
            <a:off x="4367213" y="727075"/>
            <a:ext cx="32575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7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离散序列的产生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181350" y="1885951"/>
            <a:ext cx="61722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对连续信号抽样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kT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 , 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-sampling period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124200" y="2468564"/>
            <a:ext cx="405765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(2)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信号本身是离散的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181350" y="3097214"/>
            <a:ext cx="611505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计算机产生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3295650" y="3930650"/>
            <a:ext cx="565785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离散信号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时间上量化的信号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数字信号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时间和幅度上都量化的信号</a:t>
            </a:r>
          </a:p>
        </p:txBody>
      </p:sp>
    </p:spTree>
    <p:extLst>
      <p:ext uri="{BB962C8B-B14F-4D97-AF65-F5344CB8AC3E}">
        <p14:creationId xmlns:p14="http://schemas.microsoft.com/office/powerpoint/2010/main" val="291107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8" grpId="0" autoUpdateAnimBg="0"/>
      <p:bldP spid="16389" grpId="0" autoUpdateAnimBg="0"/>
      <p:bldP spid="1639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4854575" y="753005"/>
            <a:ext cx="24574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7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基本序列</a:t>
            </a:r>
          </a:p>
        </p:txBody>
      </p:sp>
      <p:sp>
        <p:nvSpPr>
          <p:cNvPr id="53252" name="Text Box 3"/>
          <p:cNvSpPr txBox="1">
            <a:spLocks noChangeArrowheads="1"/>
          </p:cNvSpPr>
          <p:nvPr/>
        </p:nvSpPr>
        <p:spPr bwMode="auto">
          <a:xfrm>
            <a:off x="2781300" y="1828801"/>
            <a:ext cx="24003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单位脉冲序列</a:t>
            </a:r>
          </a:p>
        </p:txBody>
      </p:sp>
      <p:graphicFrame>
        <p:nvGraphicFramePr>
          <p:cNvPr id="53253" name="Object 4"/>
          <p:cNvGraphicFramePr>
            <a:graphicFrameLocks noChangeAspect="1"/>
          </p:cNvGraphicFramePr>
          <p:nvPr/>
        </p:nvGraphicFramePr>
        <p:xfrm>
          <a:off x="4422776" y="2132014"/>
          <a:ext cx="27416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公式" r:id="rId3" imgW="1459866" imgH="431613" progId="Equation.3">
                  <p:embed/>
                </p:oleObj>
              </mc:Choice>
              <mc:Fallback>
                <p:oleObj name="公式" r:id="rId3" imgW="1459866" imgH="431613" progId="Equation.3">
                  <p:embed/>
                  <p:pic>
                    <p:nvPicPr>
                      <p:cNvPr id="5325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6" y="2132014"/>
                        <a:ext cx="274161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61"/>
          <p:cNvSpPr txBox="1">
            <a:spLocks noChangeArrowheads="1"/>
          </p:cNvSpPr>
          <p:nvPr/>
        </p:nvSpPr>
        <p:spPr bwMode="auto">
          <a:xfrm>
            <a:off x="2781300" y="3086101"/>
            <a:ext cx="222885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单位阶跃序列</a:t>
            </a:r>
          </a:p>
        </p:txBody>
      </p:sp>
      <p:graphicFrame>
        <p:nvGraphicFramePr>
          <p:cNvPr id="53255" name="Object 62"/>
          <p:cNvGraphicFramePr>
            <a:graphicFrameLocks noChangeAspect="1"/>
          </p:cNvGraphicFramePr>
          <p:nvPr/>
        </p:nvGraphicFramePr>
        <p:xfrm>
          <a:off x="4421189" y="3429000"/>
          <a:ext cx="2714625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公式" r:id="rId5" imgW="1447800" imgH="431800" progId="Equation.3">
                  <p:embed/>
                </p:oleObj>
              </mc:Choice>
              <mc:Fallback>
                <p:oleObj name="公式" r:id="rId5" imgW="1447800" imgH="431800" progId="Equation.3">
                  <p:embed/>
                  <p:pic>
                    <p:nvPicPr>
                      <p:cNvPr id="53255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9" y="3429000"/>
                        <a:ext cx="2714625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63"/>
          <p:cNvSpPr txBox="1">
            <a:spLocks noChangeArrowheads="1"/>
          </p:cNvSpPr>
          <p:nvPr/>
        </p:nvSpPr>
        <p:spPr bwMode="auto">
          <a:xfrm>
            <a:off x="2827338" y="4343401"/>
            <a:ext cx="1897062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矩形序列</a:t>
            </a:r>
          </a:p>
        </p:txBody>
      </p:sp>
      <p:graphicFrame>
        <p:nvGraphicFramePr>
          <p:cNvPr id="53257" name="Object 64"/>
          <p:cNvGraphicFramePr>
            <a:graphicFrameLocks noChangeAspect="1"/>
          </p:cNvGraphicFramePr>
          <p:nvPr/>
        </p:nvGraphicFramePr>
        <p:xfrm>
          <a:off x="4421188" y="4618038"/>
          <a:ext cx="28829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公式" r:id="rId7" imgW="1536700" imgH="431800" progId="Equation.3">
                  <p:embed/>
                </p:oleObj>
              </mc:Choice>
              <mc:Fallback>
                <p:oleObj name="公式" r:id="rId7" imgW="1536700" imgH="431800" progId="Equation.3">
                  <p:embed/>
                  <p:pic>
                    <p:nvPicPr>
                      <p:cNvPr id="53257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188" y="4618038"/>
                        <a:ext cx="28829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740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Text Box 2"/>
          <p:cNvSpPr txBox="1">
            <a:spLocks noChangeArrowheads="1"/>
          </p:cNvSpPr>
          <p:nvPr/>
        </p:nvSpPr>
        <p:spPr bwMode="auto">
          <a:xfrm>
            <a:off x="2952750" y="2079625"/>
            <a:ext cx="2000250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(4) 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指数序列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5238751" y="2479676"/>
          <a:ext cx="19843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公式" r:id="rId3" imgW="1053643" imgH="215806" progId="Equation.3">
                  <p:embed/>
                </p:oleObj>
              </mc:Choice>
              <mc:Fallback>
                <p:oleObj name="公式" r:id="rId3" imgW="1053643" imgH="215806" progId="Equation.3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1" y="2479676"/>
                        <a:ext cx="19843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909888" y="3105150"/>
            <a:ext cx="6343650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有界序列：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若</a:t>
            </a: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Z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，存在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]| 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i="1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1800" i="1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i="1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是与 </a:t>
            </a:r>
            <a:r>
              <a:rPr kumimoji="1" lang="en-US" altLang="zh-CN" sz="18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无关的常数</a:t>
            </a:r>
            <a:r>
              <a:rPr kumimoji="1"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524250" y="4416425"/>
            <a:ext cx="2686050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右指数序列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6267450" y="4443414"/>
            <a:ext cx="17145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1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序列有界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3467100" y="4930775"/>
            <a:ext cx="2686050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</a:t>
            </a:r>
            <a:r>
              <a:rPr kumimoji="1"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-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指数序列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6257925" y="4930775"/>
            <a:ext cx="1714500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1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序列有界</a:t>
            </a:r>
          </a:p>
        </p:txBody>
      </p:sp>
      <p:sp>
        <p:nvSpPr>
          <p:cNvPr id="54282" name="Text Box 14"/>
          <p:cNvSpPr txBox="1">
            <a:spLocks noChangeArrowheads="1"/>
          </p:cNvSpPr>
          <p:nvPr/>
        </p:nvSpPr>
        <p:spPr bwMode="auto">
          <a:xfrm>
            <a:off x="4867275" y="692150"/>
            <a:ext cx="24574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7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基本序列</a:t>
            </a:r>
          </a:p>
        </p:txBody>
      </p:sp>
    </p:spTree>
    <p:extLst>
      <p:ext uri="{BB962C8B-B14F-4D97-AF65-F5344CB8AC3E}">
        <p14:creationId xmlns:p14="http://schemas.microsoft.com/office/powerpoint/2010/main" val="155104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utoUpdateAnimBg="0"/>
      <p:bldP spid="12293" grpId="0" autoUpdateAnimBg="0"/>
      <p:bldP spid="12294" grpId="0" autoUpdateAnimBg="0"/>
      <p:bldP spid="12295" grpId="0" autoUpdateAnimBg="0"/>
      <p:bldP spid="1229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2895600" y="2241550"/>
            <a:ext cx="5257800" cy="41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(5) 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虚指数序列</a:t>
            </a: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单频序列</a:t>
            </a: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50187" name="Text Box 11"/>
          <p:cNvSpPr txBox="1">
            <a:spLocks noChangeArrowheads="1"/>
          </p:cNvSpPr>
          <p:nvPr/>
        </p:nvSpPr>
        <p:spPr bwMode="auto">
          <a:xfrm>
            <a:off x="5695950" y="2868614"/>
            <a:ext cx="29718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角频率为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i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zh-CN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的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模拟信号</a:t>
            </a:r>
          </a:p>
        </p:txBody>
      </p:sp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3773488" y="4400551"/>
            <a:ext cx="46990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数字角频率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与模拟角频率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zh-CN" altLang="en-US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之间的关系为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                      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18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55302" name="Text Box 14"/>
          <p:cNvSpPr txBox="1">
            <a:spLocks noChangeArrowheads="1"/>
          </p:cNvSpPr>
          <p:nvPr/>
        </p:nvSpPr>
        <p:spPr bwMode="auto">
          <a:xfrm>
            <a:off x="4872038" y="825500"/>
            <a:ext cx="24574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7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基本序列</a:t>
            </a:r>
          </a:p>
        </p:txBody>
      </p:sp>
      <p:graphicFrame>
        <p:nvGraphicFramePr>
          <p:cNvPr id="55303" name="对象 1"/>
          <p:cNvGraphicFramePr>
            <a:graphicFrameLocks noChangeAspect="1"/>
          </p:cNvGraphicFramePr>
          <p:nvPr/>
        </p:nvGraphicFramePr>
        <p:xfrm>
          <a:off x="3989388" y="2781300"/>
          <a:ext cx="15748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3" imgW="558558" imgH="203112" progId="Equation.DSMT4">
                  <p:embed/>
                </p:oleObj>
              </mc:Choice>
              <mc:Fallback>
                <p:oleObj name="Equation" r:id="rId3" imgW="558558" imgH="203112" progId="Equation.DSMT4">
                  <p:embed/>
                  <p:pic>
                    <p:nvPicPr>
                      <p:cNvPr id="55303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88" y="2781300"/>
                        <a:ext cx="15748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对象 2"/>
          <p:cNvGraphicFramePr>
            <a:graphicFrameLocks noChangeAspect="1"/>
          </p:cNvGraphicFramePr>
          <p:nvPr/>
        </p:nvGraphicFramePr>
        <p:xfrm>
          <a:off x="3832225" y="3429001"/>
          <a:ext cx="425608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5" imgW="1511300" imgH="215900" progId="Equation.DSMT4">
                  <p:embed/>
                </p:oleObj>
              </mc:Choice>
              <mc:Fallback>
                <p:oleObj name="Equation" r:id="rId5" imgW="1511300" imgH="215900" progId="Equation.DSMT4">
                  <p:embed/>
                  <p:pic>
                    <p:nvPicPr>
                      <p:cNvPr id="55304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2225" y="3429001"/>
                        <a:ext cx="4256088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595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5" grpId="0" autoUpdateAnimBg="0"/>
      <p:bldP spid="50187" grpId="0" autoUpdateAnimBg="0"/>
      <p:bldP spid="5018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5"/>
          <p:cNvSpPr txBox="1">
            <a:spLocks noChangeArrowheads="1"/>
          </p:cNvSpPr>
          <p:nvPr/>
        </p:nvSpPr>
        <p:spPr bwMode="auto">
          <a:xfrm>
            <a:off x="2963863" y="3860801"/>
            <a:ext cx="6373812" cy="78581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33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50000"/>
              <a:buNone/>
            </a:pP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虚指数序列 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]=exp( 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4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2400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不一定为周期序列。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SzPct val="150000"/>
              <a:buNone/>
            </a:pP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而连续虚指数信号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)=exp(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i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必是周期信号。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3181350" y="1970089"/>
            <a:ext cx="57229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 当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/ 2p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为有理数时，虚指数序列才是周期序列。</a:t>
            </a:r>
          </a:p>
        </p:txBody>
      </p:sp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3067050" y="2541589"/>
            <a:ext cx="600075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</a:t>
            </a:r>
            <a:r>
              <a:rPr kumimoji="1" lang="en-US" altLang="zh-CN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/ 2p=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而且</a:t>
            </a:r>
            <a:r>
              <a:rPr kumimoji="1" lang="zh-CN" altLang="en-US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是不可约的整数，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则序列</a:t>
            </a:r>
            <a:r>
              <a:rPr kumimoji="1"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]=exp( </a:t>
            </a:r>
            <a:r>
              <a:rPr kumimoji="1"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的周期为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6326" name="Text Box 10"/>
          <p:cNvSpPr txBox="1">
            <a:spLocks noChangeArrowheads="1"/>
          </p:cNvSpPr>
          <p:nvPr/>
        </p:nvSpPr>
        <p:spPr bwMode="auto">
          <a:xfrm>
            <a:off x="3209925" y="577851"/>
            <a:ext cx="5715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50000"/>
              <a:buNone/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虚指数序列 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]=exp(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4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的周期性</a:t>
            </a:r>
          </a:p>
        </p:txBody>
      </p:sp>
    </p:spTree>
    <p:extLst>
      <p:ext uri="{BB962C8B-B14F-4D97-AF65-F5344CB8AC3E}">
        <p14:creationId xmlns:p14="http://schemas.microsoft.com/office/powerpoint/2010/main" val="266754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utoUpdateAnimBg="0"/>
      <p:bldP spid="133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3125788" y="1970089"/>
            <a:ext cx="251460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(6) </a:t>
            </a:r>
            <a:r>
              <a:rPr kumimoji="1" lang="zh-CN" altLang="en-US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正弦型序列</a:t>
            </a:r>
          </a:p>
        </p:txBody>
      </p:sp>
      <p:sp>
        <p:nvSpPr>
          <p:cNvPr id="57348" name="Text Box 19"/>
          <p:cNvSpPr txBox="1">
            <a:spLocks noChangeArrowheads="1"/>
          </p:cNvSpPr>
          <p:nvPr/>
        </p:nvSpPr>
        <p:spPr bwMode="auto">
          <a:xfrm>
            <a:off x="4854575" y="998538"/>
            <a:ext cx="24574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7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基本序列</a:t>
            </a:r>
          </a:p>
        </p:txBody>
      </p:sp>
      <p:sp>
        <p:nvSpPr>
          <p:cNvPr id="57349" name="Text Box 21"/>
          <p:cNvSpPr txBox="1">
            <a:spLocks noChangeArrowheads="1"/>
          </p:cNvSpPr>
          <p:nvPr/>
        </p:nvSpPr>
        <p:spPr bwMode="auto">
          <a:xfrm>
            <a:off x="2855914" y="4508500"/>
            <a:ext cx="6372225" cy="1062038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33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50000"/>
              <a:buNone/>
            </a:pPr>
            <a:r>
              <a:rPr kumimoji="1" lang="en-US" altLang="zh-CN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1"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正弦型序列与虚指数序列是同类信号，可以相互线性表达，正弦型序列也不一定是周期序列，其周期性的判断与虚指数序列相同。</a:t>
            </a:r>
          </a:p>
        </p:txBody>
      </p:sp>
      <p:graphicFrame>
        <p:nvGraphicFramePr>
          <p:cNvPr id="57350" name="对象 1"/>
          <p:cNvGraphicFramePr>
            <a:graphicFrameLocks noChangeAspect="1"/>
          </p:cNvGraphicFramePr>
          <p:nvPr/>
        </p:nvGraphicFramePr>
        <p:xfrm>
          <a:off x="4144964" y="2346325"/>
          <a:ext cx="379253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3" imgW="1346200" imgH="342900" progId="Equation.DSMT4">
                  <p:embed/>
                </p:oleObj>
              </mc:Choice>
              <mc:Fallback>
                <p:oleObj name="Equation" r:id="rId3" imgW="1346200" imgH="342900" progId="Equation.DSMT4">
                  <p:embed/>
                  <p:pic>
                    <p:nvPicPr>
                      <p:cNvPr id="5735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4" y="2346325"/>
                        <a:ext cx="379253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对象 2"/>
          <p:cNvGraphicFramePr>
            <a:graphicFrameLocks noChangeAspect="1"/>
          </p:cNvGraphicFramePr>
          <p:nvPr/>
        </p:nvGraphicFramePr>
        <p:xfrm>
          <a:off x="4092575" y="3267076"/>
          <a:ext cx="38989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5" imgW="1384300" imgH="381000" progId="Equation.DSMT4">
                  <p:embed/>
                </p:oleObj>
              </mc:Choice>
              <mc:Fallback>
                <p:oleObj name="Equation" r:id="rId5" imgW="1384300" imgH="381000" progId="Equation.DSMT4">
                  <p:embed/>
                  <p:pic>
                    <p:nvPicPr>
                      <p:cNvPr id="57351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3267076"/>
                        <a:ext cx="389890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34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2963863" y="1106489"/>
            <a:ext cx="64008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914400" indent="-45720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371600" indent="-4572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828800" indent="-4572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286000" indent="-4572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743200" indent="-4572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3200400" indent="-4572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657600" indent="-4572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4114800" indent="-4572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例：试确定余弦序列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 = cos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(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)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        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=0.1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；  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；</a:t>
            </a:r>
            <a:r>
              <a:rPr kumimoji="1" lang="zh-CN" altLang="en-US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=0.8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；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=0.9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；</a:t>
            </a:r>
            <a:r>
              <a:rPr kumimoji="1" lang="zh-CN" altLang="en-US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(f)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 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时的基本周期</a:t>
            </a:r>
            <a:r>
              <a:rPr kumimoji="1" lang="en-US" altLang="zh-CN" sz="1800" i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N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782889" y="2563814"/>
            <a:ext cx="646747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p= 0/1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，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p=0.1/2=1/20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，         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=20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p=0.2/2=1/10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，         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=10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p=0.8/2=2/5</a:t>
            </a:r>
            <a:r>
              <a:rPr kumimoji="1" lang="zh-CN" altLang="en-US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，           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(e)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p=0.9/2=9/20,           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=20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 fontAlgn="base">
              <a:spcBef>
                <a:spcPct val="25000"/>
              </a:spcBef>
              <a:spcAft>
                <a:spcPct val="0"/>
              </a:spcAft>
              <a:buNone/>
            </a:pP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(f)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/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p=1/2,                         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678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3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57213" indent="-214313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57250" indent="-17145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200150" indent="-17145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543050" indent="-17145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0002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4574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9146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371850" indent="-17145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900">
                <a:solidFill>
                  <a:srgbClr val="3333CC"/>
                </a:solidFill>
                <a:latin typeface="Times New Roman" panose="02020603050405020304" pitchFamily="18" charset="0"/>
              </a:rPr>
              <a:t>离散时间信号与系统</a:t>
            </a:r>
            <a:endParaRPr kumimoji="1" lang="zh-CN" altLang="en-US" sz="27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3341688" y="2835275"/>
            <a:ext cx="2246312" cy="2936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 bIns="81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defRPr/>
            </a:pPr>
            <a:r>
              <a:rPr lang="en-US" altLang="zh-CN" sz="1350" i="1">
                <a:solidFill>
                  <a:srgbClr val="3333CC"/>
                </a:solidFill>
              </a:rPr>
              <a:t>x</a:t>
            </a:r>
            <a:r>
              <a:rPr lang="en-US" altLang="zh-CN" sz="1350">
                <a:solidFill>
                  <a:srgbClr val="3333CC"/>
                </a:solidFill>
              </a:rPr>
              <a:t>[</a:t>
            </a:r>
            <a:r>
              <a:rPr lang="en-US" altLang="zh-CN" sz="1350" i="1">
                <a:solidFill>
                  <a:srgbClr val="3333CC"/>
                </a:solidFill>
              </a:rPr>
              <a:t>k</a:t>
            </a:r>
            <a:r>
              <a:rPr lang="en-US" altLang="zh-CN" sz="1350">
                <a:solidFill>
                  <a:srgbClr val="3333CC"/>
                </a:solidFill>
              </a:rPr>
              <a:t>] = cos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 </a:t>
            </a:r>
            <a:r>
              <a:rPr lang="en-US" altLang="zh-CN" sz="1350" i="1">
                <a:solidFill>
                  <a:srgbClr val="3333CC"/>
                </a:solidFill>
              </a:rPr>
              <a:t>k  </a:t>
            </a:r>
            <a:r>
              <a:rPr lang="en-US" altLang="zh-CN" sz="1350">
                <a:solidFill>
                  <a:srgbClr val="3333CC"/>
                </a:solidFill>
              </a:rPr>
              <a:t>,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</a:t>
            </a:r>
            <a:r>
              <a:rPr lang="en-US" altLang="zh-CN" sz="1350">
                <a:solidFill>
                  <a:srgbClr val="3333CC"/>
                </a:solidFill>
              </a:rPr>
              <a:t>=0</a:t>
            </a:r>
            <a:r>
              <a:rPr lang="en-US" altLang="zh-CN" sz="18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59396" name="Object 13"/>
          <p:cNvGraphicFramePr>
            <a:graphicFrameLocks noChangeAspect="1"/>
          </p:cNvGraphicFramePr>
          <p:nvPr/>
        </p:nvGraphicFramePr>
        <p:xfrm>
          <a:off x="6365876" y="1322388"/>
          <a:ext cx="2270125" cy="157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Visio" r:id="rId3" imgW="2143800" imgH="1390680" progId="Visio.Drawing.6">
                  <p:embed/>
                </p:oleObj>
              </mc:Choice>
              <mc:Fallback>
                <p:oleObj name="Visio" r:id="rId3" imgW="2143800" imgH="1390680" progId="Visio.Drawing.6">
                  <p:embed/>
                  <p:pic>
                    <p:nvPicPr>
                      <p:cNvPr id="5939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6" y="1322388"/>
                        <a:ext cx="2270125" cy="157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14"/>
          <p:cNvSpPr txBox="1">
            <a:spLocks noChangeArrowheads="1"/>
          </p:cNvSpPr>
          <p:nvPr/>
        </p:nvSpPr>
        <p:spPr bwMode="auto">
          <a:xfrm>
            <a:off x="6637339" y="2781300"/>
            <a:ext cx="24733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defRPr/>
            </a:pPr>
            <a:r>
              <a:rPr lang="en-US" altLang="zh-CN" sz="1350" i="1">
                <a:solidFill>
                  <a:srgbClr val="3333CC"/>
                </a:solidFill>
              </a:rPr>
              <a:t>x</a:t>
            </a:r>
            <a:r>
              <a:rPr lang="en-US" altLang="zh-CN" sz="1350">
                <a:solidFill>
                  <a:srgbClr val="3333CC"/>
                </a:solidFill>
              </a:rPr>
              <a:t>[</a:t>
            </a:r>
            <a:r>
              <a:rPr lang="en-US" altLang="zh-CN" sz="1350" i="1">
                <a:solidFill>
                  <a:srgbClr val="3333CC"/>
                </a:solidFill>
              </a:rPr>
              <a:t>k</a:t>
            </a:r>
            <a:r>
              <a:rPr lang="en-US" altLang="zh-CN" sz="1350">
                <a:solidFill>
                  <a:srgbClr val="3333CC"/>
                </a:solidFill>
              </a:rPr>
              <a:t>] = cos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 </a:t>
            </a:r>
            <a:r>
              <a:rPr lang="en-US" altLang="zh-CN" sz="1350" i="1">
                <a:solidFill>
                  <a:srgbClr val="3333CC"/>
                </a:solidFill>
              </a:rPr>
              <a:t>k  </a:t>
            </a:r>
            <a:r>
              <a:rPr lang="en-US" altLang="zh-CN" sz="1350">
                <a:solidFill>
                  <a:srgbClr val="3333CC"/>
                </a:solidFill>
              </a:rPr>
              <a:t>,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</a:t>
            </a:r>
            <a:r>
              <a:rPr lang="en-US" altLang="zh-CN" sz="1350">
                <a:solidFill>
                  <a:srgbClr val="3333CC"/>
                </a:solidFill>
              </a:rPr>
              <a:t>=0.2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p</a:t>
            </a:r>
            <a:r>
              <a:rPr lang="en-US" altLang="zh-CN" sz="18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59398" name="Object 15"/>
          <p:cNvGraphicFramePr>
            <a:graphicFrameLocks noChangeAspect="1"/>
          </p:cNvGraphicFramePr>
          <p:nvPr/>
        </p:nvGraphicFramePr>
        <p:xfrm>
          <a:off x="3154363" y="3321050"/>
          <a:ext cx="2347912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Visio" r:id="rId5" imgW="2207160" imgH="1381320" progId="Visio.Drawing.6">
                  <p:embed/>
                </p:oleObj>
              </mc:Choice>
              <mc:Fallback>
                <p:oleObj name="Visio" r:id="rId5" imgW="2207160" imgH="1381320" progId="Visio.Drawing.6">
                  <p:embed/>
                  <p:pic>
                    <p:nvPicPr>
                      <p:cNvPr id="5939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3321050"/>
                        <a:ext cx="2347912" cy="144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 Box 16"/>
          <p:cNvSpPr txBox="1">
            <a:spLocks noChangeArrowheads="1"/>
          </p:cNvSpPr>
          <p:nvPr/>
        </p:nvSpPr>
        <p:spPr bwMode="auto">
          <a:xfrm>
            <a:off x="3233738" y="4718050"/>
            <a:ext cx="249396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defRPr/>
            </a:pPr>
            <a:r>
              <a:rPr lang="en-US" altLang="zh-CN" sz="1350" i="1">
                <a:solidFill>
                  <a:srgbClr val="3333CC"/>
                </a:solidFill>
              </a:rPr>
              <a:t>x</a:t>
            </a:r>
            <a:r>
              <a:rPr lang="en-US" altLang="zh-CN" sz="1350">
                <a:solidFill>
                  <a:srgbClr val="3333CC"/>
                </a:solidFill>
              </a:rPr>
              <a:t>[</a:t>
            </a:r>
            <a:r>
              <a:rPr lang="en-US" altLang="zh-CN" sz="1350" i="1">
                <a:solidFill>
                  <a:srgbClr val="3333CC"/>
                </a:solidFill>
              </a:rPr>
              <a:t>k</a:t>
            </a:r>
            <a:r>
              <a:rPr lang="en-US" altLang="zh-CN" sz="1350">
                <a:solidFill>
                  <a:srgbClr val="3333CC"/>
                </a:solidFill>
              </a:rPr>
              <a:t>] = cos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 </a:t>
            </a:r>
            <a:r>
              <a:rPr lang="en-US" altLang="zh-CN" sz="1350" i="1">
                <a:solidFill>
                  <a:srgbClr val="3333CC"/>
                </a:solidFill>
              </a:rPr>
              <a:t>k  </a:t>
            </a:r>
            <a:r>
              <a:rPr lang="en-US" altLang="zh-CN" sz="1350">
                <a:solidFill>
                  <a:srgbClr val="3333CC"/>
                </a:solidFill>
              </a:rPr>
              <a:t>,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</a:t>
            </a:r>
            <a:r>
              <a:rPr lang="en-US" altLang="zh-CN" sz="1350">
                <a:solidFill>
                  <a:srgbClr val="3333CC"/>
                </a:solidFill>
              </a:rPr>
              <a:t>=0.8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p</a:t>
            </a:r>
            <a:r>
              <a:rPr lang="en-US" altLang="zh-CN" sz="1800">
                <a:solidFill>
                  <a:srgbClr val="3333CC"/>
                </a:solidFill>
              </a:rPr>
              <a:t> </a:t>
            </a:r>
          </a:p>
        </p:txBody>
      </p:sp>
      <p:graphicFrame>
        <p:nvGraphicFramePr>
          <p:cNvPr id="59400" name="Object 23"/>
          <p:cNvGraphicFramePr>
            <a:graphicFrameLocks noChangeAspect="1"/>
          </p:cNvGraphicFramePr>
          <p:nvPr/>
        </p:nvGraphicFramePr>
        <p:xfrm>
          <a:off x="6419851" y="3267076"/>
          <a:ext cx="2214563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Visio" r:id="rId7" imgW="2105640" imgH="1390320" progId="Visio.Drawing.6">
                  <p:embed/>
                </p:oleObj>
              </mc:Choice>
              <mc:Fallback>
                <p:oleObj name="Visio" r:id="rId7" imgW="2105640" imgH="1390320" progId="Visio.Drawing.6">
                  <p:embed/>
                  <p:pic>
                    <p:nvPicPr>
                      <p:cNvPr id="5940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1" y="3267076"/>
                        <a:ext cx="2214563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24"/>
          <p:cNvSpPr txBox="1">
            <a:spLocks noChangeArrowheads="1"/>
          </p:cNvSpPr>
          <p:nvPr/>
        </p:nvSpPr>
        <p:spPr bwMode="auto">
          <a:xfrm>
            <a:off x="6637339" y="4672014"/>
            <a:ext cx="17811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685800" eaLnBrk="1" hangingPunct="1">
              <a:defRPr/>
            </a:pPr>
            <a:r>
              <a:rPr lang="en-US" altLang="zh-CN" sz="1350" i="1">
                <a:solidFill>
                  <a:srgbClr val="3333CC"/>
                </a:solidFill>
              </a:rPr>
              <a:t>x</a:t>
            </a:r>
            <a:r>
              <a:rPr lang="en-US" altLang="zh-CN" sz="1350">
                <a:solidFill>
                  <a:srgbClr val="3333CC"/>
                </a:solidFill>
              </a:rPr>
              <a:t>[</a:t>
            </a:r>
            <a:r>
              <a:rPr lang="en-US" altLang="zh-CN" sz="1350" i="1">
                <a:solidFill>
                  <a:srgbClr val="3333CC"/>
                </a:solidFill>
              </a:rPr>
              <a:t>k</a:t>
            </a:r>
            <a:r>
              <a:rPr lang="en-US" altLang="zh-CN" sz="1350">
                <a:solidFill>
                  <a:srgbClr val="3333CC"/>
                </a:solidFill>
              </a:rPr>
              <a:t>] = cos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 </a:t>
            </a:r>
            <a:r>
              <a:rPr lang="en-US" altLang="zh-CN" sz="1350" i="1">
                <a:solidFill>
                  <a:srgbClr val="3333CC"/>
                </a:solidFill>
              </a:rPr>
              <a:t>k  </a:t>
            </a:r>
            <a:r>
              <a:rPr lang="en-US" altLang="zh-CN" sz="1350">
                <a:solidFill>
                  <a:srgbClr val="3333CC"/>
                </a:solidFill>
              </a:rPr>
              <a:t>,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1350" i="1">
                <a:solidFill>
                  <a:srgbClr val="FF3300"/>
                </a:solidFill>
                <a:latin typeface="Symbol" panose="05050102010706020507" pitchFamily="18" charset="2"/>
              </a:rPr>
              <a:t>w</a:t>
            </a:r>
            <a:r>
              <a:rPr lang="en-US" altLang="zh-CN" sz="1350" baseline="-25000">
                <a:solidFill>
                  <a:srgbClr val="3333CC"/>
                </a:solidFill>
              </a:rPr>
              <a:t>0</a:t>
            </a:r>
            <a:r>
              <a:rPr lang="en-US" altLang="zh-CN" sz="1350">
                <a:solidFill>
                  <a:srgbClr val="3333CC"/>
                </a:solidFill>
              </a:rPr>
              <a:t>=</a:t>
            </a:r>
            <a:r>
              <a:rPr lang="en-US" altLang="zh-CN" sz="1350">
                <a:solidFill>
                  <a:srgbClr val="3333CC"/>
                </a:solidFill>
                <a:latin typeface="Symbol" panose="05050102010706020507" pitchFamily="18" charset="2"/>
              </a:rPr>
              <a:t>p</a:t>
            </a:r>
            <a:r>
              <a:rPr lang="en-US" altLang="zh-CN" sz="1800">
                <a:solidFill>
                  <a:srgbClr val="000000"/>
                </a:solidFill>
              </a:rPr>
              <a:t> </a:t>
            </a:r>
          </a:p>
        </p:txBody>
      </p:sp>
      <p:graphicFrame>
        <p:nvGraphicFramePr>
          <p:cNvPr id="59402" name="Object 2"/>
          <p:cNvGraphicFramePr>
            <a:graphicFrameLocks noChangeAspect="1"/>
          </p:cNvGraphicFramePr>
          <p:nvPr/>
        </p:nvGraphicFramePr>
        <p:xfrm>
          <a:off x="3233739" y="1322389"/>
          <a:ext cx="2268537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Visio" r:id="rId9" imgW="2187360" imgH="1381320" progId="Visio.Drawing.6">
                  <p:embed/>
                </p:oleObj>
              </mc:Choice>
              <mc:Fallback>
                <p:oleObj name="Visio" r:id="rId9" imgW="2187360" imgH="1381320" progId="Visio.Drawing.6">
                  <p:embed/>
                  <p:pic>
                    <p:nvPicPr>
                      <p:cNvPr id="594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9" y="1322389"/>
                        <a:ext cx="2268537" cy="1595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2963863" y="5265738"/>
            <a:ext cx="6229350" cy="3683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="1" baseline="-25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kumimoji="1" lang="en-US" altLang="zh-CN" sz="1800" b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0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增加到</a:t>
            </a:r>
            <a:r>
              <a:rPr kumimoji="1" lang="en-US" altLang="zh-CN" sz="1800" b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时，余弦序列幅度的变化将会逐渐加快</a:t>
            </a:r>
          </a:p>
        </p:txBody>
      </p:sp>
    </p:spTree>
    <p:extLst>
      <p:ext uri="{BB962C8B-B14F-4D97-AF65-F5344CB8AC3E}">
        <p14:creationId xmlns:p14="http://schemas.microsoft.com/office/powerpoint/2010/main" val="25146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3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909888" y="2446339"/>
            <a:ext cx="60579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增加到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时，余弦序列幅度的变化将会逐渐变慢。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963863" y="4203700"/>
            <a:ext cx="6400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两个余弦序列的角频率相差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的整数倍时，是同一个序列。</a:t>
            </a:r>
          </a:p>
        </p:txBody>
      </p:sp>
      <p:sp>
        <p:nvSpPr>
          <p:cNvPr id="60420" name="Text Box 5"/>
          <p:cNvSpPr txBox="1">
            <a:spLocks noChangeArrowheads="1"/>
          </p:cNvSpPr>
          <p:nvPr/>
        </p:nvSpPr>
        <p:spPr bwMode="auto">
          <a:xfrm>
            <a:off x="3773489" y="1905001"/>
            <a:ext cx="443547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由于  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cos[(2</a:t>
            </a:r>
            <a:r>
              <a:rPr kumimoji="1" lang="en-US" altLang="zh-CN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p-</a:t>
            </a:r>
            <a:r>
              <a:rPr kumimoji="1" lang="en-US" altLang="zh-CN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 cos(</a:t>
            </a:r>
            <a:r>
              <a:rPr kumimoji="1" lang="en-US" altLang="zh-CN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3581400" y="2976563"/>
            <a:ext cx="44577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 </a:t>
            </a:r>
            <a:r>
              <a:rPr kumimoji="1" lang="zh-CN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在</a:t>
            </a:r>
            <a:r>
              <a:rPr kumimoji="1" lang="en-US" altLang="zh-CN" sz="1800" b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en-US" altLang="zh-CN" sz="1800" b="1" i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     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附近的余弦序列是  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高频信号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 0</a:t>
            </a:r>
            <a:r>
              <a:rPr kumimoji="1" lang="zh-CN" altLang="en-US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或</a:t>
            </a:r>
            <a:r>
              <a:rPr kumimoji="1"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1800" b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en-US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 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附近的余弦序列是  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低频信号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3295650" y="5083176"/>
            <a:ext cx="49149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 </a:t>
            </a:r>
            <a:r>
              <a:rPr kumimoji="1" lang="zh-CN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在</a:t>
            </a:r>
            <a:r>
              <a:rPr kumimoji="1" lang="en-US" altLang="zh-CN" sz="1800" b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奇数倍附近的余弦序列是  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高频信号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 </a:t>
            </a:r>
            <a:r>
              <a:rPr kumimoji="1" lang="zh-CN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在</a:t>
            </a:r>
            <a:r>
              <a:rPr kumimoji="1" lang="en-US" altLang="zh-CN" sz="1800" b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kumimoji="1" lang="en-US" altLang="zh-CN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 </a:t>
            </a:r>
            <a:r>
              <a:rPr kumimoji="1" lang="zh-CN" altLang="en-US" sz="1800" b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偶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数倍附近的余弦序列是  </a:t>
            </a:r>
            <a:r>
              <a:rPr kumimoji="1"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低频信号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0423" name="Text Box 9"/>
          <p:cNvSpPr txBox="1">
            <a:spLocks noChangeArrowheads="1"/>
          </p:cNvSpPr>
          <p:nvPr/>
        </p:nvSpPr>
        <p:spPr bwMode="auto">
          <a:xfrm>
            <a:off x="4475163" y="998539"/>
            <a:ext cx="3511550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Char char="•"/>
              <a:defRPr sz="21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6858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68580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68580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68580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正弦型序列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cos(</a:t>
            </a:r>
            <a:r>
              <a:rPr kumimoji="1" lang="en-US" altLang="zh-CN" sz="1800" i="1">
                <a:solidFill>
                  <a:srgbClr val="FF33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kumimoji="1" lang="en-US" altLang="zh-CN" sz="1800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18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的特性</a:t>
            </a:r>
          </a:p>
        </p:txBody>
      </p:sp>
      <p:graphicFrame>
        <p:nvGraphicFramePr>
          <p:cNvPr id="60424" name="对象 1"/>
          <p:cNvGraphicFramePr>
            <a:graphicFrameLocks noChangeAspect="1"/>
          </p:cNvGraphicFramePr>
          <p:nvPr/>
        </p:nvGraphicFramePr>
        <p:xfrm>
          <a:off x="3340101" y="3756026"/>
          <a:ext cx="529431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3" imgW="1879600" imgH="215900" progId="Equation.DSMT4">
                  <p:embed/>
                </p:oleObj>
              </mc:Choice>
              <mc:Fallback>
                <p:oleObj name="Equation" r:id="rId3" imgW="1879600" imgH="215900" progId="Equation.DSMT4">
                  <p:embed/>
                  <p:pic>
                    <p:nvPicPr>
                      <p:cNvPr id="60424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1" y="3756026"/>
                        <a:ext cx="529431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662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4" grpId="0" autoUpdateAnimBg="0"/>
      <p:bldP spid="25606" grpId="0" autoUpdateAnimBg="0"/>
      <p:bldP spid="2560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46A3281-65F5-4B80-A51A-3060CEB06B12}" type="slidenum">
              <a:rPr lang="zh-CN" altLang="en-US">
                <a:ea typeface="宋体" panose="02010600030101010101" pitchFamily="2" charset="-122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6144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484314"/>
            <a:ext cx="817086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264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655</Words>
  <Application>Microsoft Office PowerPoint</Application>
  <PresentationFormat>宽屏</PresentationFormat>
  <Paragraphs>77</Paragraphs>
  <Slides>14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等线</vt:lpstr>
      <vt:lpstr>宋体</vt:lpstr>
      <vt:lpstr>Arial</vt:lpstr>
      <vt:lpstr>Comic Sans MS</vt:lpstr>
      <vt:lpstr>Symbol</vt:lpstr>
      <vt:lpstr>Tahoma</vt:lpstr>
      <vt:lpstr>Times New Roman</vt:lpstr>
      <vt:lpstr>Wingdings</vt:lpstr>
      <vt:lpstr>Shimmer</vt:lpstr>
      <vt:lpstr>1_icfp99</vt:lpstr>
      <vt:lpstr>Visio</vt:lpstr>
      <vt:lpstr>公式</vt:lpstr>
      <vt:lpstr>Equation</vt:lpstr>
      <vt:lpstr>PowerPoint 演示文稿</vt:lpstr>
      <vt:lpstr>PowerPoint 演示文稿</vt:lpstr>
      <vt:lpstr>第1章  离散时间信号与系统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离散时间信号与系统</dc:title>
  <dc:creator>Administrator</dc:creator>
  <cp:lastModifiedBy>CHAO WU</cp:lastModifiedBy>
  <cp:revision>43</cp:revision>
  <dcterms:created xsi:type="dcterms:W3CDTF">2020-08-06T07:23:58Z</dcterms:created>
  <dcterms:modified xsi:type="dcterms:W3CDTF">2023-09-14T08:09:29Z</dcterms:modified>
</cp:coreProperties>
</file>