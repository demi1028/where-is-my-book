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305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306" r:id="rId11"/>
    <p:sldId id="30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emf"/><Relationship Id="rId1" Type="http://schemas.openxmlformats.org/officeDocument/2006/relationships/image" Target="../media/image25.wmf"/><Relationship Id="rId6" Type="http://schemas.openxmlformats.org/officeDocument/2006/relationships/image" Target="../media/image30.e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emf"/><Relationship Id="rId9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D4694-0E45-4BC0-B015-0BBD0D220DE6}" type="datetimeFigureOut">
              <a:rPr lang="zh-CN" altLang="en-US" smtClean="0"/>
              <a:t>2022/10/6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083B1-1128-4C87-AA51-BAED7875A2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2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DE82A54-22DA-410F-ABEF-A148282DD685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2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4B616D-F430-45A3-B2FD-A074B147F3DA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36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F25EBD-7889-4D06-A5FA-7ABE535C7BE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4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9B0306-37BD-4B50-B81E-190F57FEE726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96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55E9E8-05E8-42F4-8AED-2183AE192781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5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A4AB3D-7713-4529-927E-9521FA68C7A3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19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AB772E0-243E-4D7B-BB9A-06DCA235BC98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42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BAD808-F593-4881-A275-3766FD759F40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55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59A1DF-E25B-4194-BB58-DDFBB64338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4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D9BBDC-2BCC-48D5-9527-AE1DC8D572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43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0B9C86-C698-4C2D-A9F9-CB9444561DC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06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03A3D8-4374-46BE-BE2B-F1E8B64D146B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76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0.emf"/><Relationship Id="rId22" Type="http://schemas.openxmlformats.org/officeDocument/2006/relationships/image" Target="../media/image3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03388" y="2596606"/>
            <a:ext cx="820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求如图所示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周期为</a:t>
            </a:r>
            <a:r>
              <a:rPr kumimoji="1" lang="en-US" altLang="zh-CN" sz="2400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的方波序列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系数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&gt;2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305540"/>
              </p:ext>
            </p:extLst>
          </p:nvPr>
        </p:nvGraphicFramePr>
        <p:xfrm>
          <a:off x="2298645" y="3279761"/>
          <a:ext cx="8078843" cy="1749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name="Visio" r:id="rId3" imgW="4372108" imgH="946262" progId="Visio.Drawing.11">
                  <p:embed/>
                </p:oleObj>
              </mc:Choice>
              <mc:Fallback>
                <p:oleObj name="Visio" r:id="rId3" imgW="4372108" imgH="946262" progId="Visio.Drawing.11">
                  <p:embed/>
                  <p:pic>
                    <p:nvPicPr>
                      <p:cNvPr id="33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645" y="3279761"/>
                        <a:ext cx="8078843" cy="1749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56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703388" y="115888"/>
            <a:ext cx="820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求如图所示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周期为</a:t>
            </a:r>
            <a:r>
              <a:rPr kumimoji="1" lang="en-US" altLang="zh-CN" sz="2400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的方波序列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系数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&gt;2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223685"/>
              </p:ext>
            </p:extLst>
          </p:nvPr>
        </p:nvGraphicFramePr>
        <p:xfrm>
          <a:off x="2782888" y="549276"/>
          <a:ext cx="61214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" name="Visio" r:id="rId3" imgW="4372108" imgH="946262" progId="Visio.Drawing.11">
                  <p:embed/>
                </p:oleObj>
              </mc:Choice>
              <mc:Fallback>
                <p:oleObj name="Visio" r:id="rId3" imgW="4372108" imgH="946262" progId="Visio.Drawing.11">
                  <p:embed/>
                  <p:pic>
                    <p:nvPicPr>
                      <p:cNvPr id="33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549276"/>
                        <a:ext cx="6121400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433259"/>
              </p:ext>
            </p:extLst>
          </p:nvPr>
        </p:nvGraphicFramePr>
        <p:xfrm>
          <a:off x="1933575" y="2347913"/>
          <a:ext cx="28781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" name="Equation" r:id="rId5" imgW="1307880" imgH="203040" progId="Equation.DSMT4">
                  <p:embed/>
                </p:oleObj>
              </mc:Choice>
              <mc:Fallback>
                <p:oleObj name="Equation" r:id="rId5" imgW="1307880" imgH="203040" progId="Equation.DSMT4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2347913"/>
                        <a:ext cx="28781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723529"/>
              </p:ext>
            </p:extLst>
          </p:nvPr>
        </p:nvGraphicFramePr>
        <p:xfrm>
          <a:off x="4852988" y="2097881"/>
          <a:ext cx="19034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8" name="Equation" r:id="rId7" imgW="863280" imgH="444240" progId="Equation.DSMT4">
                  <p:embed/>
                </p:oleObj>
              </mc:Choice>
              <mc:Fallback>
                <p:oleObj name="Equation" r:id="rId7" imgW="863280" imgH="444240" progId="Equation.DSMT4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2097881"/>
                        <a:ext cx="190341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351088" y="3141663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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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400" baseline="2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时，有</a:t>
            </a: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929345"/>
              </p:ext>
            </p:extLst>
          </p:nvPr>
        </p:nvGraphicFramePr>
        <p:xfrm>
          <a:off x="6329363" y="3213100"/>
          <a:ext cx="17256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9" name="Equation" r:id="rId9" imgW="863280" imgH="203040" progId="Equation.DSMT4">
                  <p:embed/>
                </p:oleObj>
              </mc:Choice>
              <mc:Fallback>
                <p:oleObj name="Equation" r:id="rId9" imgW="863280" imgH="203040" progId="Equation.DSMT4">
                  <p:embed/>
                  <p:pic>
                    <p:nvPicPr>
                      <p:cNvPr id="337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3" y="3213100"/>
                        <a:ext cx="17256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2279650" y="4005263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其他值时，利用等比级数的求和公式有</a:t>
            </a:r>
          </a:p>
        </p:txBody>
      </p:sp>
      <p:graphicFrame>
        <p:nvGraphicFramePr>
          <p:cNvPr id="33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784500"/>
              </p:ext>
            </p:extLst>
          </p:nvPr>
        </p:nvGraphicFramePr>
        <p:xfrm>
          <a:off x="3021013" y="4645025"/>
          <a:ext cx="3551237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0" name="Equation" r:id="rId11" imgW="1612800" imgH="622080" progId="Equation.DSMT4">
                  <p:embed/>
                </p:oleObj>
              </mc:Choice>
              <mc:Fallback>
                <p:oleObj name="Equation" r:id="rId11" imgW="1612800" imgH="622080" progId="Equation.DSMT4">
                  <p:embed/>
                  <p:pic>
                    <p:nvPicPr>
                      <p:cNvPr id="338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4645025"/>
                        <a:ext cx="3551237" cy="137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234803"/>
              </p:ext>
            </p:extLst>
          </p:nvPr>
        </p:nvGraphicFramePr>
        <p:xfrm>
          <a:off x="6496050" y="4543425"/>
          <a:ext cx="2565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1" name="Equation" r:id="rId13" imgW="1282680" imgH="838080" progId="Equation.DSMT4">
                  <p:embed/>
                </p:oleObj>
              </mc:Choice>
              <mc:Fallback>
                <p:oleObj name="Equation" r:id="rId13" imgW="1282680" imgH="838080" progId="Equation.DSMT4">
                  <p:embed/>
                  <p:pic>
                    <p:nvPicPr>
                      <p:cNvPr id="338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4543425"/>
                        <a:ext cx="2565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1524000" y="1989138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utoUpdateAnimBg="0"/>
      <p:bldP spid="3380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7319964" y="1484314"/>
            <a:ext cx="2592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=30</a:t>
            </a:r>
            <a:r>
              <a:rPr kumimoji="1" lang="zh-CN" altLang="en-US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kumimoji="1" lang="zh-CN" altLang="en-US" sz="240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周期方波的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40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系数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7319963" y="3860801"/>
            <a:ext cx="27368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=30</a:t>
            </a:r>
            <a:r>
              <a:rPr kumimoji="1" lang="zh-CN" altLang="en-US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=12</a:t>
            </a:r>
            <a:r>
              <a:rPr kumimoji="1" lang="zh-CN" altLang="en-US" sz="240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周期方波的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40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系数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1573213" y="765175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2063751" y="188913"/>
            <a:ext cx="8202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</a:t>
            </a:r>
            <a:r>
              <a:rPr kumimoji="1" lang="en-US" altLang="zh-CN" sz="2400" i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kumimoji="1"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=30</a:t>
            </a:r>
            <a:r>
              <a:rPr kumimoji="1"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的方波序列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系数图形显示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629" y="1099415"/>
            <a:ext cx="4115638" cy="18825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50" y="3319607"/>
            <a:ext cx="4270765" cy="203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5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752601" y="1828800"/>
            <a:ext cx="2398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线性特性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810818"/>
              </p:ext>
            </p:extLst>
          </p:nvPr>
        </p:nvGraphicFramePr>
        <p:xfrm>
          <a:off x="2365375" y="2647950"/>
          <a:ext cx="78422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3" imgW="3136680" imgH="228600" progId="Equation.DSMT4">
                  <p:embed/>
                </p:oleObj>
              </mc:Choice>
              <mc:Fallback>
                <p:oleObj name="Equation" r:id="rId3" imgW="3136680" imgH="228600" progId="Equation.DSMT4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2647950"/>
                        <a:ext cx="78422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8" name="Rectangle 52"/>
          <p:cNvSpPr>
            <a:spLocks noChangeArrowheads="1"/>
          </p:cNvSpPr>
          <p:nvPr/>
        </p:nvSpPr>
        <p:spPr bwMode="auto">
          <a:xfrm>
            <a:off x="1752600" y="1052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486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1795463" y="990600"/>
            <a:ext cx="213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位移特性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4038600" y="13716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周期序列的位移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2640014" y="5589589"/>
            <a:ext cx="6480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周期序列位移后，仍为相同周期的周期序列，因此，只需要观察位移后序列一个周期的情况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603" y="2287587"/>
            <a:ext cx="4494996" cy="151100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716" y="3890769"/>
            <a:ext cx="2868769" cy="160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847851" y="806451"/>
            <a:ext cx="287972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200000"/>
              </a:lnSpc>
              <a:spcBef>
                <a:spcPct val="200000"/>
              </a:spcBef>
              <a:spcAft>
                <a:spcPct val="5000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时域位移特性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180244"/>
              </p:ext>
            </p:extLst>
          </p:nvPr>
        </p:nvGraphicFramePr>
        <p:xfrm>
          <a:off x="3659188" y="1425575"/>
          <a:ext cx="5451475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4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1425575"/>
                        <a:ext cx="5451475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919289" y="3933825"/>
            <a:ext cx="2592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频域位移特性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671329"/>
              </p:ext>
            </p:extLst>
          </p:nvPr>
        </p:nvGraphicFramePr>
        <p:xfrm>
          <a:off x="3316288" y="4237038"/>
          <a:ext cx="54451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5" name="Equation" r:id="rId5" imgW="1815840" imgH="342720" progId="Equation.DSMT4">
                  <p:embed/>
                </p:oleObj>
              </mc:Choice>
              <mc:Fallback>
                <p:oleObj name="Equation" r:id="rId5" imgW="1815840" imgH="342720" progId="Equation.DSMT4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4237038"/>
                        <a:ext cx="544512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3071814" y="2708275"/>
            <a:ext cx="5761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序列在时域的位移，对应其频域的相移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3071814" y="5589588"/>
            <a:ext cx="5761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序列在时域的相移，对应其频域的位移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149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703389" y="1196975"/>
            <a:ext cx="2447925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对称特性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910774"/>
              </p:ext>
            </p:extLst>
          </p:nvPr>
        </p:nvGraphicFramePr>
        <p:xfrm>
          <a:off x="3949700" y="2016125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9" name="Equation" r:id="rId3" imgW="1358640" imgH="228600" progId="Equation.DSMT4">
                  <p:embed/>
                </p:oleObj>
              </mc:Choice>
              <mc:Fallback>
                <p:oleObj name="Equation" r:id="rId3" imgW="1358640" imgH="2286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2016125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46396"/>
              </p:ext>
            </p:extLst>
          </p:nvPr>
        </p:nvGraphicFramePr>
        <p:xfrm>
          <a:off x="3949700" y="2701925"/>
          <a:ext cx="33956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0" name="Equation" r:id="rId5" imgW="1358640" imgH="228600" progId="Equation.DSMT4">
                  <p:embed/>
                </p:oleObj>
              </mc:Choice>
              <mc:Fallback>
                <p:oleObj name="Equation" r:id="rId5" imgW="1358640" imgH="2286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2701925"/>
                        <a:ext cx="33956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992314" y="3716338"/>
            <a:ext cx="52678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若为实序列，则有（共轭对称序列）</a:t>
            </a:r>
          </a:p>
        </p:txBody>
      </p:sp>
      <p:graphicFrame>
        <p:nvGraphicFramePr>
          <p:cNvPr id="112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604834"/>
              </p:ext>
            </p:extLst>
          </p:nvPr>
        </p:nvGraphicFramePr>
        <p:xfrm>
          <a:off x="4321175" y="4292600"/>
          <a:ext cx="190341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1" name="Equation" r:id="rId7" imgW="952200" imgH="228600" progId="Equation.DSMT4">
                  <p:embed/>
                </p:oleObj>
              </mc:Choice>
              <mc:Fallback>
                <p:oleObj name="Equation" r:id="rId7" imgW="952200" imgH="228600" progId="Equation.DSMT4">
                  <p:embed/>
                  <p:pic>
                    <p:nvPicPr>
                      <p:cNvPr id="112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4292600"/>
                        <a:ext cx="1903413" cy="45561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5" name="Rectangle 21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205293"/>
              </p:ext>
            </p:extLst>
          </p:nvPr>
        </p:nvGraphicFramePr>
        <p:xfrm>
          <a:off x="2406650" y="5173663"/>
          <a:ext cx="20558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2" name="Equation" r:id="rId9" imgW="1028520" imgH="457200" progId="Equation.DSMT4">
                  <p:embed/>
                </p:oleObj>
              </mc:Choice>
              <mc:Fallback>
                <p:oleObj name="Equation" r:id="rId9" imgW="1028520" imgH="457200" progId="Equation.DSMT4">
                  <p:embed/>
                  <p:pic>
                    <p:nvPicPr>
                      <p:cNvPr id="112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5173663"/>
                        <a:ext cx="2055813" cy="9112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811805"/>
              </p:ext>
            </p:extLst>
          </p:nvPr>
        </p:nvGraphicFramePr>
        <p:xfrm>
          <a:off x="6126163" y="5211763"/>
          <a:ext cx="210661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3" name="Equation" r:id="rId11" imgW="1054080" imgH="482400" progId="Equation.DSMT4">
                  <p:embed/>
                </p:oleObj>
              </mc:Choice>
              <mc:Fallback>
                <p:oleObj name="Equation" r:id="rId11" imgW="1054080" imgH="482400" progId="Equation.DSMT4">
                  <p:embed/>
                  <p:pic>
                    <p:nvPicPr>
                      <p:cNvPr id="112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163" y="5211763"/>
                        <a:ext cx="2106612" cy="9620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8" name="Line 24"/>
          <p:cNvSpPr>
            <a:spLocks noChangeShapeType="1"/>
          </p:cNvSpPr>
          <p:nvPr/>
        </p:nvSpPr>
        <p:spPr bwMode="auto">
          <a:xfrm flipH="1">
            <a:off x="3432176" y="4724400"/>
            <a:ext cx="1871663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9" name="Line 25"/>
          <p:cNvSpPr>
            <a:spLocks noChangeShapeType="1"/>
          </p:cNvSpPr>
          <p:nvPr/>
        </p:nvSpPr>
        <p:spPr bwMode="auto">
          <a:xfrm>
            <a:off x="5303839" y="4724401"/>
            <a:ext cx="18002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08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992313" y="3500438"/>
            <a:ext cx="5472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          为奇对称的实序列，则有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1919288" y="1844675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         为偶对称的实序列，则有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3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556962"/>
              </p:ext>
            </p:extLst>
          </p:nvPr>
        </p:nvGraphicFramePr>
        <p:xfrm>
          <a:off x="2463800" y="1812925"/>
          <a:ext cx="7286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3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23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1812925"/>
                        <a:ext cx="7286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095032"/>
              </p:ext>
            </p:extLst>
          </p:nvPr>
        </p:nvGraphicFramePr>
        <p:xfrm>
          <a:off x="2608263" y="3468688"/>
          <a:ext cx="7286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4" name="Equation" r:id="rId5" imgW="291960" imgH="203040" progId="Equation.DSMT4">
                  <p:embed/>
                </p:oleObj>
              </mc:Choice>
              <mc:Fallback>
                <p:oleObj name="Equation" r:id="rId5" imgW="291960" imgH="203040" progId="Equation.DSMT4">
                  <p:embed/>
                  <p:pic>
                    <p:nvPicPr>
                      <p:cNvPr id="123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3468688"/>
                        <a:ext cx="72866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633" y="2451100"/>
            <a:ext cx="4350808" cy="6646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633" y="4135437"/>
            <a:ext cx="46767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9" grpId="0" autoUpdateAnimBg="0"/>
      <p:bldP spid="1230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992313" y="1412875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周期卷积定理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495550" y="2205038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周期卷积定义：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710071"/>
              </p:ext>
            </p:extLst>
          </p:nvPr>
        </p:nvGraphicFramePr>
        <p:xfrm>
          <a:off x="3503613" y="2751138"/>
          <a:ext cx="495617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9" name="Equation" r:id="rId3" imgW="1981080" imgH="431640" progId="Equation.DSMT4">
                  <p:embed/>
                </p:oleObj>
              </mc:Choice>
              <mc:Fallback>
                <p:oleObj name="Equation" r:id="rId3" imgW="1981080" imgH="431640" progId="Equation.DSMT4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2751138"/>
                        <a:ext cx="495617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的基本性质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2566988" y="4221164"/>
            <a:ext cx="6985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周期卷积是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两个等周期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的周期序列的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卷积运算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周期卷积的结果仍为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相同周期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的周期序列。</a:t>
            </a:r>
          </a:p>
        </p:txBody>
      </p:sp>
    </p:spTree>
    <p:extLst>
      <p:ext uri="{BB962C8B-B14F-4D97-AF65-F5344CB8AC3E}">
        <p14:creationId xmlns:p14="http://schemas.microsoft.com/office/powerpoint/2010/main" val="206345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395562"/>
              </p:ext>
            </p:extLst>
          </p:nvPr>
        </p:nvGraphicFramePr>
        <p:xfrm>
          <a:off x="2798763" y="1757363"/>
          <a:ext cx="727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2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757363"/>
                        <a:ext cx="727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135189" y="2205038"/>
          <a:ext cx="2763837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3" name="Visio" r:id="rId5" imgW="1189939" imgH="644347" progId="Visio.Drawing.6">
                  <p:embed/>
                </p:oleObj>
              </mc:Choice>
              <mc:Fallback>
                <p:oleObj name="Visio" r:id="rId5" imgW="1189939" imgH="644347" progId="Visio.Drawing.6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205038"/>
                        <a:ext cx="2763837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6089650" y="1384300"/>
          <a:ext cx="1136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4" name="公式" r:id="rId7" imgW="457200" imgH="177480" progId="Equation.3">
                  <p:embed/>
                </p:oleObj>
              </mc:Choice>
              <mc:Fallback>
                <p:oleObj name="公式" r:id="rId7" imgW="457200" imgH="177480" progId="Equation.3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9650" y="1384300"/>
                        <a:ext cx="1136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7032625" y="1501776"/>
          <a:ext cx="276383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5" name="Visio" r:id="rId9" imgW="1189939" imgH="655015" progId="Visio.Drawing.6">
                  <p:embed/>
                </p:oleObj>
              </mc:Choice>
              <mc:Fallback>
                <p:oleObj name="Visio" r:id="rId9" imgW="1189939" imgH="655015" progId="Visio.Drawing.6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1501776"/>
                        <a:ext cx="2763838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6096001" y="2997201"/>
          <a:ext cx="1235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6" name="公式" r:id="rId11" imgW="495000" imgH="203040" progId="Equation.3">
                  <p:embed/>
                </p:oleObj>
              </mc:Choice>
              <mc:Fallback>
                <p:oleObj name="公式" r:id="rId11" imgW="495000" imgH="203040" progId="Equation.3">
                  <p:embed/>
                  <p:pic>
                    <p:nvPicPr>
                      <p:cNvPr id="143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997201"/>
                        <a:ext cx="12350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6989764" y="3357564"/>
          <a:ext cx="276383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7" name="Visio" r:id="rId13" imgW="1189939" imgH="655625" progId="Visio.Drawing.6">
                  <p:embed/>
                </p:oleObj>
              </mc:Choice>
              <mc:Fallback>
                <p:oleObj name="Visio" r:id="rId13" imgW="1189939" imgH="655625" progId="Visio.Drawing.6">
                  <p:embed/>
                  <p:pic>
                    <p:nvPicPr>
                      <p:cNvPr id="14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9764" y="3357564"/>
                        <a:ext cx="276383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6324601" y="4918076"/>
          <a:ext cx="1330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8" name="公式" r:id="rId15" imgW="533160" imgH="203040" progId="Equation.3">
                  <p:embed/>
                </p:oleObj>
              </mc:Choice>
              <mc:Fallback>
                <p:oleObj name="公式" r:id="rId15" imgW="533160" imgH="203040" progId="Equation.3">
                  <p:embed/>
                  <p:pic>
                    <p:nvPicPr>
                      <p:cNvPr id="14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4918076"/>
                        <a:ext cx="1330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6907214" y="5313364"/>
          <a:ext cx="277018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Visio" r:id="rId17" imgW="1189939" imgH="651053" progId="Visio.Drawing.6">
                  <p:embed/>
                </p:oleObj>
              </mc:Choice>
              <mc:Fallback>
                <p:oleObj name="Visio" r:id="rId17" imgW="1189939" imgH="651053" progId="Visio.Drawing.6">
                  <p:embed/>
                  <p:pic>
                    <p:nvPicPr>
                      <p:cNvPr id="143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4" y="5313364"/>
                        <a:ext cx="277018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73" name="Group 37"/>
          <p:cNvGrpSpPr>
            <a:grpSpLocks/>
          </p:cNvGrpSpPr>
          <p:nvPr/>
        </p:nvGrpSpPr>
        <p:grpSpPr bwMode="auto">
          <a:xfrm>
            <a:off x="2279650" y="4652962"/>
            <a:ext cx="2255838" cy="1628774"/>
            <a:chOff x="331" y="2906"/>
            <a:chExt cx="1421" cy="1026"/>
          </a:xfrm>
        </p:grpSpPr>
        <p:grpSp>
          <p:nvGrpSpPr>
            <p:cNvPr id="14368" name="Group 32"/>
            <p:cNvGrpSpPr>
              <a:grpSpLocks/>
            </p:cNvGrpSpPr>
            <p:nvPr/>
          </p:nvGrpSpPr>
          <p:grpSpPr bwMode="auto">
            <a:xfrm>
              <a:off x="331" y="3146"/>
              <a:ext cx="1421" cy="786"/>
              <a:chOff x="331" y="2928"/>
              <a:chExt cx="1421" cy="786"/>
            </a:xfrm>
          </p:grpSpPr>
          <p:sp>
            <p:nvSpPr>
              <p:cNvPr id="14352" name="Line 16"/>
              <p:cNvSpPr>
                <a:spLocks noChangeShapeType="1"/>
              </p:cNvSpPr>
              <p:nvPr/>
            </p:nvSpPr>
            <p:spPr bwMode="auto">
              <a:xfrm>
                <a:off x="331" y="3445"/>
                <a:ext cx="1421" cy="1"/>
              </a:xfrm>
              <a:prstGeom prst="line">
                <a:avLst/>
              </a:prstGeom>
              <a:noFill/>
              <a:ln w="17463" cap="rnd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4" name="Line 18"/>
              <p:cNvSpPr>
                <a:spLocks noChangeShapeType="1"/>
              </p:cNvSpPr>
              <p:nvPr/>
            </p:nvSpPr>
            <p:spPr bwMode="auto">
              <a:xfrm flipV="1">
                <a:off x="554" y="3224"/>
                <a:ext cx="1" cy="221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6" name="Rectangle 20"/>
              <p:cNvSpPr>
                <a:spLocks noChangeArrowheads="1"/>
              </p:cNvSpPr>
              <p:nvPr/>
            </p:nvSpPr>
            <p:spPr bwMode="auto">
              <a:xfrm>
                <a:off x="491" y="3481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0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7" name="Rectangle 21"/>
              <p:cNvSpPr>
                <a:spLocks noChangeArrowheads="1"/>
              </p:cNvSpPr>
              <p:nvPr/>
            </p:nvSpPr>
            <p:spPr bwMode="auto">
              <a:xfrm>
                <a:off x="728" y="34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8" name="Rectangle 22"/>
              <p:cNvSpPr>
                <a:spLocks noChangeArrowheads="1"/>
              </p:cNvSpPr>
              <p:nvPr/>
            </p:nvSpPr>
            <p:spPr bwMode="auto">
              <a:xfrm>
                <a:off x="937" y="3481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59" name="Rectangle 23"/>
              <p:cNvSpPr>
                <a:spLocks noChangeArrowheads="1"/>
              </p:cNvSpPr>
              <p:nvPr/>
            </p:nvSpPr>
            <p:spPr bwMode="auto">
              <a:xfrm>
                <a:off x="1620" y="3205"/>
                <a:ext cx="8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4" name="Rectangle 28"/>
              <p:cNvSpPr>
                <a:spLocks noChangeArrowheads="1"/>
              </p:cNvSpPr>
              <p:nvPr/>
            </p:nvSpPr>
            <p:spPr bwMode="auto">
              <a:xfrm>
                <a:off x="480" y="292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369" name="Group 33"/>
            <p:cNvGrpSpPr>
              <a:grpSpLocks/>
            </p:cNvGrpSpPr>
            <p:nvPr/>
          </p:nvGrpSpPr>
          <p:grpSpPr bwMode="auto">
            <a:xfrm>
              <a:off x="728" y="2906"/>
              <a:ext cx="97" cy="751"/>
              <a:chOff x="728" y="2688"/>
              <a:chExt cx="97" cy="751"/>
            </a:xfrm>
          </p:grpSpPr>
          <p:sp>
            <p:nvSpPr>
              <p:cNvPr id="14360" name="Line 24"/>
              <p:cNvSpPr>
                <a:spLocks noChangeShapeType="1"/>
              </p:cNvSpPr>
              <p:nvPr/>
            </p:nvSpPr>
            <p:spPr bwMode="auto">
              <a:xfrm flipV="1">
                <a:off x="775" y="2989"/>
                <a:ext cx="1" cy="450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5" name="Rectangle 29"/>
              <p:cNvSpPr>
                <a:spLocks noChangeArrowheads="1"/>
              </p:cNvSpPr>
              <p:nvPr/>
            </p:nvSpPr>
            <p:spPr bwMode="auto">
              <a:xfrm>
                <a:off x="728" y="268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370" name="Group 34"/>
            <p:cNvGrpSpPr>
              <a:grpSpLocks/>
            </p:cNvGrpSpPr>
            <p:nvPr/>
          </p:nvGrpSpPr>
          <p:grpSpPr bwMode="auto">
            <a:xfrm>
              <a:off x="937" y="3108"/>
              <a:ext cx="97" cy="549"/>
              <a:chOff x="937" y="2890"/>
              <a:chExt cx="97" cy="549"/>
            </a:xfrm>
          </p:grpSpPr>
          <p:sp>
            <p:nvSpPr>
              <p:cNvPr id="14362" name="Line 26"/>
              <p:cNvSpPr>
                <a:spLocks noChangeShapeType="1"/>
              </p:cNvSpPr>
              <p:nvPr/>
            </p:nvSpPr>
            <p:spPr bwMode="auto">
              <a:xfrm flipV="1">
                <a:off x="994" y="3218"/>
                <a:ext cx="1" cy="221"/>
              </a:xfrm>
              <a:prstGeom prst="line">
                <a:avLst/>
              </a:prstGeom>
              <a:noFill/>
              <a:ln w="25400" cap="rnd">
                <a:solidFill>
                  <a:srgbClr val="000000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366" name="Rectangle 30"/>
              <p:cNvSpPr>
                <a:spLocks noChangeArrowheads="1"/>
              </p:cNvSpPr>
              <p:nvPr/>
            </p:nvSpPr>
            <p:spPr bwMode="auto">
              <a:xfrm>
                <a:off x="937" y="2890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143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633133"/>
              </p:ext>
            </p:extLst>
          </p:nvPr>
        </p:nvGraphicFramePr>
        <p:xfrm>
          <a:off x="2398713" y="4149725"/>
          <a:ext cx="16510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0" name="Equation" r:id="rId19" imgW="660240" imgH="203040" progId="Equation.DSMT4">
                  <p:embed/>
                </p:oleObj>
              </mc:Choice>
              <mc:Fallback>
                <p:oleObj name="Equation" r:id="rId19" imgW="660240" imgH="203040" progId="Equation.DSMT4">
                  <p:embed/>
                  <p:pic>
                    <p:nvPicPr>
                      <p:cNvPr id="143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4149725"/>
                        <a:ext cx="16510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1524000" y="-90488"/>
            <a:ext cx="79248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例：周期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的序列         如图所示，试计算</a:t>
            </a:r>
          </a:p>
        </p:txBody>
      </p:sp>
      <p:graphicFrame>
        <p:nvGraphicFramePr>
          <p:cNvPr id="143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786354"/>
              </p:ext>
            </p:extLst>
          </p:nvPr>
        </p:nvGraphicFramePr>
        <p:xfrm>
          <a:off x="4237038" y="246063"/>
          <a:ext cx="6429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Equation" r:id="rId21" imgW="291960" imgH="203040" progId="Equation.DSMT4">
                  <p:embed/>
                </p:oleObj>
              </mc:Choice>
              <mc:Fallback>
                <p:oleObj name="Equation" r:id="rId21" imgW="291960" imgH="203040" progId="Equation.DSMT4">
                  <p:embed/>
                  <p:pic>
                    <p:nvPicPr>
                      <p:cNvPr id="143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246063"/>
                        <a:ext cx="6429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57067"/>
              </p:ext>
            </p:extLst>
          </p:nvPr>
        </p:nvGraphicFramePr>
        <p:xfrm>
          <a:off x="7493000" y="188913"/>
          <a:ext cx="23558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Equation" r:id="rId23" imgW="1066680" imgH="203040" progId="Equation.DSMT4">
                  <p:embed/>
                </p:oleObj>
              </mc:Choice>
              <mc:Fallback>
                <p:oleObj name="Equation" r:id="rId23" imgW="1066680" imgH="203040" progId="Equation.DSMT4">
                  <p:embed/>
                  <p:pic>
                    <p:nvPicPr>
                      <p:cNvPr id="143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188913"/>
                        <a:ext cx="23558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2" name="Rectangle 36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88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4295775" y="188913"/>
            <a:ext cx="424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周期卷积的矩阵表示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795187"/>
              </p:ext>
            </p:extLst>
          </p:nvPr>
        </p:nvGraphicFramePr>
        <p:xfrm>
          <a:off x="3503613" y="1020763"/>
          <a:ext cx="49561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3" imgW="1981080" imgH="431640" progId="Equation.DSMT4">
                  <p:embed/>
                </p:oleObj>
              </mc:Choice>
              <mc:Fallback>
                <p:oleObj name="Equation" r:id="rId3" imgW="1981080" imgH="431640" progId="Equation.DSMT4">
                  <p:embed/>
                  <p:pic>
                    <p:nvPicPr>
                      <p:cNvPr id="583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1020763"/>
                        <a:ext cx="495617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4008439" y="4508501"/>
          <a:ext cx="5138737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name="公式" r:id="rId5" imgW="2336760" imgH="863280" progId="Equation.3">
                  <p:embed/>
                </p:oleObj>
              </mc:Choice>
              <mc:Fallback>
                <p:oleObj name="公式" r:id="rId5" imgW="2336760" imgH="863280" progId="Equation.3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4508501"/>
                        <a:ext cx="5138737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5" name="Group 7"/>
          <p:cNvGrpSpPr>
            <a:grpSpLocks/>
          </p:cNvGrpSpPr>
          <p:nvPr/>
        </p:nvGrpSpPr>
        <p:grpSpPr bwMode="auto">
          <a:xfrm>
            <a:off x="1919289" y="1916113"/>
            <a:ext cx="7642225" cy="2354262"/>
            <a:chOff x="240" y="1008"/>
            <a:chExt cx="4814" cy="1483"/>
          </a:xfrm>
        </p:grpSpPr>
        <p:graphicFrame>
          <p:nvGraphicFramePr>
            <p:cNvPr id="58372" name="Object 4"/>
            <p:cNvGraphicFramePr>
              <a:graphicFrameLocks noChangeAspect="1"/>
            </p:cNvGraphicFramePr>
            <p:nvPr/>
          </p:nvGraphicFramePr>
          <p:xfrm>
            <a:off x="934" y="1296"/>
            <a:ext cx="4120" cy="1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22" name="公式" r:id="rId7" imgW="2971800" imgH="863280" progId="Equation.3">
                    <p:embed/>
                  </p:oleObj>
                </mc:Choice>
                <mc:Fallback>
                  <p:oleObj name="公式" r:id="rId7" imgW="2971800" imgH="863280" progId="Equation.3">
                    <p:embed/>
                    <p:pic>
                      <p:nvPicPr>
                        <p:cNvPr id="5837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1296"/>
                          <a:ext cx="4120" cy="1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4" name="Text Box 6"/>
            <p:cNvSpPr txBox="1">
              <a:spLocks noChangeArrowheads="1"/>
            </p:cNvSpPr>
            <p:nvPr/>
          </p:nvSpPr>
          <p:spPr bwMode="auto">
            <a:xfrm>
              <a:off x="240" y="1008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例：</a:t>
              </a: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=4</a:t>
              </a:r>
            </a:p>
          </p:txBody>
        </p:sp>
      </p:grp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33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298</Words>
  <Application>Microsoft Office PowerPoint</Application>
  <PresentationFormat>宽屏</PresentationFormat>
  <Paragraphs>50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等线</vt:lpstr>
      <vt:lpstr>黑体</vt:lpstr>
      <vt:lpstr>宋体</vt:lpstr>
      <vt:lpstr>华文仿宋</vt:lpstr>
      <vt:lpstr>Arial</vt:lpstr>
      <vt:lpstr>Symbol</vt:lpstr>
      <vt:lpstr>Times New Roman</vt:lpstr>
      <vt:lpstr>Wingdings</vt:lpstr>
      <vt:lpstr>DSP</vt:lpstr>
      <vt:lpstr>Visio</vt:lpstr>
      <vt:lpstr>Equation</vt:lpstr>
      <vt:lpstr>MathType 7.0 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3.2周期序列的离散傅立叶级数及性质</dc:title>
  <dc:creator>CHAO WU</dc:creator>
  <cp:lastModifiedBy>CHAO WU</cp:lastModifiedBy>
  <cp:revision>36</cp:revision>
  <dcterms:created xsi:type="dcterms:W3CDTF">2020-11-10T01:04:39Z</dcterms:created>
  <dcterms:modified xsi:type="dcterms:W3CDTF">2022-10-06T05:31:29Z</dcterms:modified>
</cp:coreProperties>
</file>