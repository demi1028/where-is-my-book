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17" r:id="rId2"/>
    <p:sldId id="318" r:id="rId3"/>
    <p:sldId id="319" r:id="rId4"/>
    <p:sldId id="320" r:id="rId5"/>
    <p:sldId id="268" r:id="rId6"/>
    <p:sldId id="269" r:id="rId7"/>
    <p:sldId id="270" r:id="rId8"/>
    <p:sldId id="310" r:id="rId9"/>
    <p:sldId id="311" r:id="rId10"/>
    <p:sldId id="312" r:id="rId11"/>
    <p:sldId id="313" r:id="rId12"/>
    <p:sldId id="314" r:id="rId13"/>
    <p:sldId id="315" r:id="rId14"/>
    <p:sldId id="271" r:id="rId15"/>
    <p:sldId id="272" r:id="rId16"/>
    <p:sldId id="273" r:id="rId17"/>
    <p:sldId id="274" r:id="rId18"/>
    <p:sldId id="316" r:id="rId19"/>
    <p:sldId id="275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B00B-54CB-4FD4-AD3F-796709BABE15}" type="datetimeFigureOut">
              <a:rPr lang="zh-CN" altLang="en-US" smtClean="0"/>
              <a:t>2023/12/22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2C5B2-54EB-4804-8D08-12B7DE2D61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7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9D9AA-3580-411E-BAF4-C34818F8FEA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125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2E08E4-B8BF-4D3A-9C4F-54A4CEC7D2F3}" type="slidenum">
              <a:rPr kumimoji="0" lang="zh-CN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kumimoji="0" lang="zh-CN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92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41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41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4F6FC4-2B87-460D-816E-7085C47C0B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751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34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01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17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18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8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7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66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40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69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18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749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8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9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7.w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3476" y="2413000"/>
            <a:ext cx="4754563" cy="139065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3000" dirty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IIR</a:t>
            </a:r>
            <a:r>
              <a:rPr lang="zh-CN" altLang="en-US" sz="3000" dirty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</a:p>
        </p:txBody>
      </p:sp>
      <p:pic>
        <p:nvPicPr>
          <p:cNvPr id="3075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488" y="1157288"/>
            <a:ext cx="14351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" name="组合 9"/>
          <p:cNvGrpSpPr>
            <a:grpSpLocks noChangeAspect="1"/>
          </p:cNvGrpSpPr>
          <p:nvPr/>
        </p:nvGrpSpPr>
        <p:grpSpPr bwMode="auto">
          <a:xfrm>
            <a:off x="2114550" y="2501900"/>
            <a:ext cx="2147888" cy="1212850"/>
            <a:chOff x="3367821" y="2336603"/>
            <a:chExt cx="3846124" cy="2172237"/>
          </a:xfrm>
        </p:grpSpPr>
        <p:pic>
          <p:nvPicPr>
            <p:cNvPr id="3081" name="图片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1"/>
            <a:stretch>
              <a:fillRect/>
            </a:stretch>
          </p:blipFill>
          <p:spPr bwMode="auto">
            <a:xfrm>
              <a:off x="3367821" y="2337641"/>
              <a:ext cx="3846124" cy="217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7" t="-273" r="15178" b="91664"/>
            <a:stretch>
              <a:fillRect/>
            </a:stretch>
          </p:blipFill>
          <p:spPr bwMode="auto">
            <a:xfrm>
              <a:off x="4279348" y="2336603"/>
              <a:ext cx="712760" cy="176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7" name="组合 5"/>
          <p:cNvGrpSpPr>
            <a:grpSpLocks/>
          </p:cNvGrpSpPr>
          <p:nvPr/>
        </p:nvGrpSpPr>
        <p:grpSpPr bwMode="auto">
          <a:xfrm>
            <a:off x="3776663" y="3184525"/>
            <a:ext cx="735012" cy="679450"/>
            <a:chOff x="4480943" y="4021832"/>
            <a:chExt cx="1035157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1499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80" name="文本框 1"/>
            <p:cNvSpPr txBox="1">
              <a:spLocks noChangeArrowheads="1"/>
            </p:cNvSpPr>
            <p:nvPr/>
          </p:nvSpPr>
          <p:spPr bwMode="auto">
            <a:xfrm>
              <a:off x="4511091" y="4218009"/>
              <a:ext cx="1005009" cy="63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13</a:t>
              </a:r>
              <a:r>
                <a:rPr kumimoji="1" lang="en-US" altLang="zh-CN" sz="21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th</a:t>
              </a:r>
              <a:endParaRPr kumimoji="1" lang="en-US" altLang="zh-CN" sz="27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21426" y="3968750"/>
            <a:ext cx="2206625" cy="7429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吴超</a:t>
            </a:r>
            <a:endParaRPr kumimoji="0" lang="en-US" altLang="zh-CN" sz="2100" b="0" i="0" u="none" strike="noStrike" kern="1200" cap="none" spc="0" normalizeH="0" baseline="0" noProof="0">
              <a:ln>
                <a:noFill/>
              </a:ln>
              <a:solidFill>
                <a:srgbClr val="80808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 工 程 学 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2802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867834" y="1748368"/>
            <a:ext cx="10426700" cy="4728632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842030" y="656698"/>
            <a:ext cx="1311275" cy="439737"/>
          </a:xfrm>
        </p:spPr>
        <p:txBody>
          <a:bodyPr/>
          <a:lstStyle/>
          <a:p>
            <a:r>
              <a:rPr lang="zh-CN" altLang="en-US" sz="4000" dirty="0"/>
              <a:t>复习</a:t>
            </a:r>
          </a:p>
        </p:txBody>
      </p:sp>
      <p:sp>
        <p:nvSpPr>
          <p:cNvPr id="5124" name="Oval 1"/>
          <p:cNvSpPr txBox="1">
            <a:spLocks noChangeArrowheads="1"/>
          </p:cNvSpPr>
          <p:nvPr/>
        </p:nvSpPr>
        <p:spPr bwMode="auto">
          <a:xfrm>
            <a:off x="1372658" y="1982259"/>
            <a:ext cx="7531100" cy="382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57175" indent="-257175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脉冲响应不变法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优缺点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双线性变换法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频率变换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优缺点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410" y="2688173"/>
            <a:ext cx="4674835" cy="5376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859" y="4613382"/>
            <a:ext cx="3643499" cy="1383728"/>
          </a:xfrm>
          <a:prstGeom prst="rect">
            <a:avLst/>
          </a:prstGeom>
        </p:spPr>
      </p:pic>
      <p:graphicFrame>
        <p:nvGraphicFramePr>
          <p:cNvPr id="7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1525"/>
              </p:ext>
            </p:extLst>
          </p:nvPr>
        </p:nvGraphicFramePr>
        <p:xfrm>
          <a:off x="7253934" y="4914721"/>
          <a:ext cx="19526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032" imgH="431613" progId="Equation.DSMT4">
                  <p:embed/>
                </p:oleObj>
              </mc:Choice>
              <mc:Fallback>
                <p:oleObj name="Equation" r:id="rId5" imgW="1079032" imgH="431613" progId="Equation.DSMT4">
                  <p:embed/>
                  <p:pic>
                    <p:nvPicPr>
                      <p:cNvPr id="147462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934" y="4914721"/>
                        <a:ext cx="19526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114948"/>
              </p:ext>
            </p:extLst>
          </p:nvPr>
        </p:nvGraphicFramePr>
        <p:xfrm>
          <a:off x="9400440" y="4867096"/>
          <a:ext cx="17002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447" imgH="418918" progId="Equation.DSMT4">
                  <p:embed/>
                </p:oleObj>
              </mc:Choice>
              <mc:Fallback>
                <p:oleObj name="Equation" r:id="rId7" imgW="812447" imgH="418918" progId="Equation.DSMT4">
                  <p:embed/>
                  <p:pic>
                    <p:nvPicPr>
                      <p:cNvPr id="147463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0440" y="4867096"/>
                        <a:ext cx="17002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079" y="2197321"/>
            <a:ext cx="3054005" cy="169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49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9166" y="457200"/>
            <a:ext cx="9580033" cy="914400"/>
          </a:xfrm>
        </p:spPr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怎样证明一个系统是线性相位</a:t>
            </a:r>
            <a:endParaRPr lang="en-US" altLang="zh-CN" sz="2900" dirty="0"/>
          </a:p>
          <a:p>
            <a:r>
              <a:rPr lang="en-US" altLang="zh-CN" sz="2900" dirty="0"/>
              <a:t>Z</a:t>
            </a:r>
            <a:r>
              <a:rPr lang="zh-CN" altLang="en-US" sz="2900"/>
              <a:t>变换中复序列的共轭对称性</a:t>
            </a:r>
            <a:endParaRPr lang="en-US" altLang="zh-CN" sz="2900" dirty="0"/>
          </a:p>
          <a:p>
            <a:r>
              <a:rPr lang="en-US" altLang="zh-CN" sz="2900" dirty="0"/>
              <a:t>h(n)-H(</a:t>
            </a:r>
            <a:r>
              <a:rPr lang="en-US" altLang="zh-CN" sz="2900" dirty="0" err="1"/>
              <a:t>exp</a:t>
            </a:r>
            <a:r>
              <a:rPr lang="en-US" altLang="zh-CN" sz="2900" dirty="0"/>
              <a:t>(</a:t>
            </a:r>
            <a:r>
              <a:rPr lang="en-US" altLang="zh-CN" sz="2900" dirty="0" err="1"/>
              <a:t>jw</a:t>
            </a:r>
            <a:r>
              <a:rPr lang="en-US" altLang="zh-CN" sz="2900" dirty="0"/>
              <a:t>)),</a:t>
            </a:r>
            <a:r>
              <a:rPr lang="zh-CN" altLang="en-US" sz="2900" dirty="0"/>
              <a:t>那么</a:t>
            </a:r>
            <a:r>
              <a:rPr lang="en-US" altLang="zh-CN" sz="2900" dirty="0" err="1"/>
              <a:t>exp</a:t>
            </a:r>
            <a:r>
              <a:rPr lang="en-US" altLang="zh-CN" sz="2900" dirty="0"/>
              <a:t>(</a:t>
            </a:r>
            <a:r>
              <a:rPr lang="en-US" altLang="zh-CN" sz="2900" dirty="0" err="1"/>
              <a:t>jw</a:t>
            </a:r>
            <a:r>
              <a:rPr lang="en-US" altLang="zh-CN" sz="2900" dirty="0"/>
              <a:t>(N-1)/2)H(</a:t>
            </a:r>
            <a:r>
              <a:rPr lang="en-US" altLang="zh-CN" sz="2900" dirty="0" err="1"/>
              <a:t>exp</a:t>
            </a:r>
            <a:r>
              <a:rPr lang="en-US" altLang="zh-CN" sz="2900" dirty="0"/>
              <a:t>(</a:t>
            </a:r>
            <a:r>
              <a:rPr lang="en-US" altLang="zh-CN" sz="2900" dirty="0" err="1"/>
              <a:t>jw</a:t>
            </a:r>
            <a:r>
              <a:rPr lang="en-US" altLang="zh-CN" sz="2900" dirty="0"/>
              <a:t>))-</a:t>
            </a:r>
          </a:p>
          <a:p>
            <a:r>
              <a:rPr lang="zh-CN" altLang="en-US" sz="2900" dirty="0"/>
              <a:t>窗函数不同按什么分类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96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118FC-34DE-7845-9CD9-0386440F5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012" y="457200"/>
            <a:ext cx="9604188" cy="914400"/>
          </a:xfrm>
        </p:spPr>
        <p:txBody>
          <a:bodyPr/>
          <a:lstStyle/>
          <a:p>
            <a:r>
              <a:rPr lang="zh-CN" altLang="en-US" dirty="0"/>
              <a:t>窗函数不同按什么分类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73F3C2-A531-BF37-D062-9C533E4F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753630CF-A2E0-EDE0-F722-5A93E358AD2C}"/>
              </a:ext>
            </a:extLst>
          </p:cNvPr>
          <p:cNvGrpSpPr/>
          <p:nvPr/>
        </p:nvGrpSpPr>
        <p:grpSpPr>
          <a:xfrm>
            <a:off x="609600" y="1982787"/>
            <a:ext cx="7924800" cy="3578225"/>
            <a:chOff x="-3" y="-3"/>
            <a:chExt cx="1675" cy="2310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06EFF648-5A28-E24B-2900-317D9E60C577}"/>
                </a:ext>
              </a:extLst>
            </p:cNvPr>
            <p:cNvGrpSpPr/>
            <p:nvPr/>
          </p:nvGrpSpPr>
          <p:grpSpPr>
            <a:xfrm>
              <a:off x="0" y="0"/>
              <a:ext cx="1669" cy="2304"/>
              <a:chOff x="0" y="0"/>
              <a:chExt cx="1669" cy="2304"/>
            </a:xfrm>
          </p:grpSpPr>
          <p:grpSp>
            <p:nvGrpSpPr>
              <p:cNvPr id="8" name="Group 56">
                <a:extLst>
                  <a:ext uri="{FF2B5EF4-FFF2-40B4-BE49-F238E27FC236}">
                    <a16:creationId xmlns:a16="http://schemas.microsoft.com/office/drawing/2014/main" id="{EACE18E3-E5DF-D58D-581A-6ABD6930AB77}"/>
                  </a:ext>
                </a:extLst>
              </p:cNvPr>
              <p:cNvGrpSpPr/>
              <p:nvPr/>
            </p:nvGrpSpPr>
            <p:grpSpPr>
              <a:xfrm>
                <a:off x="0" y="0"/>
                <a:ext cx="589" cy="384"/>
                <a:chOff x="0" y="0"/>
                <a:chExt cx="589" cy="384"/>
              </a:xfrm>
            </p:grpSpPr>
            <p:sp>
              <p:nvSpPr>
                <p:cNvPr id="60" name="Rectangle 58">
                  <a:extLst>
                    <a:ext uri="{FF2B5EF4-FFF2-40B4-BE49-F238E27FC236}">
                      <a16:creationId xmlns:a16="http://schemas.microsoft.com/office/drawing/2014/main" id="{393726D9-352D-A3F1-E05F-C33EF28E93F0}"/>
                    </a:ext>
                  </a:extLst>
                </p:cNvPr>
                <p:cNvSpPr/>
                <p:nvPr/>
              </p:nvSpPr>
              <p:spPr>
                <a:xfrm>
                  <a:off x="43" y="0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窗函数类型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" name="Rectangle 57">
                  <a:extLst>
                    <a:ext uri="{FF2B5EF4-FFF2-40B4-BE49-F238E27FC236}">
                      <a16:creationId xmlns:a16="http://schemas.microsoft.com/office/drawing/2014/main" id="{9CFFBFD0-048D-9047-572E-C0E397DF95A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9" name="Group 53">
                <a:extLst>
                  <a:ext uri="{FF2B5EF4-FFF2-40B4-BE49-F238E27FC236}">
                    <a16:creationId xmlns:a16="http://schemas.microsoft.com/office/drawing/2014/main" id="{B53E57E2-A54D-DAB7-601D-9E8A6268E959}"/>
                  </a:ext>
                </a:extLst>
              </p:cNvPr>
              <p:cNvGrpSpPr/>
              <p:nvPr/>
            </p:nvGrpSpPr>
            <p:grpSpPr>
              <a:xfrm>
                <a:off x="589" y="0"/>
                <a:ext cx="526" cy="384"/>
                <a:chOff x="589" y="0"/>
                <a:chExt cx="526" cy="384"/>
              </a:xfrm>
            </p:grpSpPr>
            <p:sp>
              <p:nvSpPr>
                <p:cNvPr id="58" name="Rectangle 55">
                  <a:extLst>
                    <a:ext uri="{FF2B5EF4-FFF2-40B4-BE49-F238E27FC236}">
                      <a16:creationId xmlns:a16="http://schemas.microsoft.com/office/drawing/2014/main" id="{46B6DA85-DAB1-2B18-3AB6-3C3D5A9C0AFA}"/>
                    </a:ext>
                  </a:extLst>
                </p:cNvPr>
                <p:cNvSpPr/>
                <p:nvPr/>
              </p:nvSpPr>
              <p:spPr>
                <a:xfrm>
                  <a:off x="632" y="0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主瓣宽度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" name="Rectangle 54">
                  <a:extLst>
                    <a:ext uri="{FF2B5EF4-FFF2-40B4-BE49-F238E27FC236}">
                      <a16:creationId xmlns:a16="http://schemas.microsoft.com/office/drawing/2014/main" id="{140D1F2B-B63B-6C16-BFB0-B2F1D2DF7C4C}"/>
                    </a:ext>
                  </a:extLst>
                </p:cNvPr>
                <p:cNvSpPr/>
                <p:nvPr/>
              </p:nvSpPr>
              <p:spPr>
                <a:xfrm>
                  <a:off x="589" y="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" name="Group 50">
                <a:extLst>
                  <a:ext uri="{FF2B5EF4-FFF2-40B4-BE49-F238E27FC236}">
                    <a16:creationId xmlns:a16="http://schemas.microsoft.com/office/drawing/2014/main" id="{FB9209B8-C3A6-753C-6DD4-2974C41EC8F2}"/>
                  </a:ext>
                </a:extLst>
              </p:cNvPr>
              <p:cNvGrpSpPr/>
              <p:nvPr/>
            </p:nvGrpSpPr>
            <p:grpSpPr>
              <a:xfrm>
                <a:off x="1115" y="0"/>
                <a:ext cx="554" cy="384"/>
                <a:chOff x="1115" y="0"/>
                <a:chExt cx="554" cy="384"/>
              </a:xfrm>
            </p:grpSpPr>
            <p:sp>
              <p:nvSpPr>
                <p:cNvPr id="56" name="Rectangle 52">
                  <a:extLst>
                    <a:ext uri="{FF2B5EF4-FFF2-40B4-BE49-F238E27FC236}">
                      <a16:creationId xmlns:a16="http://schemas.microsoft.com/office/drawing/2014/main" id="{E07DE73B-BAC4-7518-47F8-5AA2FEC2909C}"/>
                    </a:ext>
                  </a:extLst>
                </p:cNvPr>
                <p:cNvSpPr/>
                <p:nvPr/>
              </p:nvSpPr>
              <p:spPr>
                <a:xfrm>
                  <a:off x="1158" y="0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旁瓣峰值衰耗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(dB)</a:t>
                  </a:r>
                </a:p>
                <a:p>
                  <a:pPr algn="ctr" defTabSz="914400">
                    <a:tabLst>
                      <a:tab pos="215900" algn="l"/>
                      <a:tab pos="2667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" name="Rectangle 51">
                  <a:extLst>
                    <a:ext uri="{FF2B5EF4-FFF2-40B4-BE49-F238E27FC236}">
                      <a16:creationId xmlns:a16="http://schemas.microsoft.com/office/drawing/2014/main" id="{170D2062-D053-C35C-8408-0B8047ADF5E8}"/>
                    </a:ext>
                  </a:extLst>
                </p:cNvPr>
                <p:cNvSpPr/>
                <p:nvPr/>
              </p:nvSpPr>
              <p:spPr>
                <a:xfrm>
                  <a:off x="1115" y="0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1" name="Group 47">
                <a:extLst>
                  <a:ext uri="{FF2B5EF4-FFF2-40B4-BE49-F238E27FC236}">
                    <a16:creationId xmlns:a16="http://schemas.microsoft.com/office/drawing/2014/main" id="{4979767B-B4D0-4284-26D8-2687C0517C32}"/>
                  </a:ext>
                </a:extLst>
              </p:cNvPr>
              <p:cNvGrpSpPr/>
              <p:nvPr/>
            </p:nvGrpSpPr>
            <p:grpSpPr>
              <a:xfrm>
                <a:off x="0" y="384"/>
                <a:ext cx="589" cy="384"/>
                <a:chOff x="0" y="384"/>
                <a:chExt cx="589" cy="384"/>
              </a:xfrm>
            </p:grpSpPr>
            <p:sp>
              <p:nvSpPr>
                <p:cNvPr id="54" name="Rectangle 49">
                  <a:extLst>
                    <a:ext uri="{FF2B5EF4-FFF2-40B4-BE49-F238E27FC236}">
                      <a16:creationId xmlns:a16="http://schemas.microsoft.com/office/drawing/2014/main" id="{5B56AD98-F260-091A-F648-FDBA38EB2E65}"/>
                    </a:ext>
                  </a:extLst>
                </p:cNvPr>
                <p:cNvSpPr/>
                <p:nvPr/>
              </p:nvSpPr>
              <p:spPr>
                <a:xfrm>
                  <a:off x="43" y="384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zh-CN" altLang="en-US" sz="2000" dirty="0">
                      <a:latin typeface="Times New Roman" panose="02020603050405020304" pitchFamily="18" charset="0"/>
                    </a:rPr>
                    <a:t>矩形</a:t>
                  </a:r>
                  <a:endParaRPr lang="zh-CN" altLang="en-US" sz="2000" dirty="0">
                    <a:latin typeface="Tahoma" panose="020B0604030504040204" pitchFamily="34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5" name="Rectangle 48">
                  <a:extLst>
                    <a:ext uri="{FF2B5EF4-FFF2-40B4-BE49-F238E27FC236}">
                      <a16:creationId xmlns:a16="http://schemas.microsoft.com/office/drawing/2014/main" id="{08CF3BC3-AB83-78CA-CB07-66765C7B4C16}"/>
                    </a:ext>
                  </a:extLst>
                </p:cNvPr>
                <p:cNvSpPr/>
                <p:nvPr/>
              </p:nvSpPr>
              <p:spPr>
                <a:xfrm>
                  <a:off x="0" y="384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2" name="Group 44">
                <a:extLst>
                  <a:ext uri="{FF2B5EF4-FFF2-40B4-BE49-F238E27FC236}">
                    <a16:creationId xmlns:a16="http://schemas.microsoft.com/office/drawing/2014/main" id="{D287CB4E-B147-D497-5D35-F59459B119A4}"/>
                  </a:ext>
                </a:extLst>
              </p:cNvPr>
              <p:cNvGrpSpPr/>
              <p:nvPr/>
            </p:nvGrpSpPr>
            <p:grpSpPr>
              <a:xfrm>
                <a:off x="589" y="384"/>
                <a:ext cx="526" cy="384"/>
                <a:chOff x="589" y="384"/>
                <a:chExt cx="526" cy="384"/>
              </a:xfrm>
            </p:grpSpPr>
            <p:sp>
              <p:nvSpPr>
                <p:cNvPr id="52" name="Rectangle 46">
                  <a:extLst>
                    <a:ext uri="{FF2B5EF4-FFF2-40B4-BE49-F238E27FC236}">
                      <a16:creationId xmlns:a16="http://schemas.microsoft.com/office/drawing/2014/main" id="{06DBDFB2-A571-B212-B0EB-63601912202D}"/>
                    </a:ext>
                  </a:extLst>
                </p:cNvPr>
                <p:cNvSpPr/>
                <p:nvPr/>
              </p:nvSpPr>
              <p:spPr>
                <a:xfrm>
                  <a:off x="632" y="384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zh-CN" sz="2000" dirty="0">
                      <a:latin typeface="Symbol" panose="05050102010706020507" pitchFamily="18" charset="2"/>
                    </a:rPr>
                    <a:t>p</a:t>
                  </a:r>
                  <a:r>
                    <a:rPr lang="en-US" altLang="zh-CN" sz="2000" i="1" dirty="0">
                      <a:latin typeface="Symbol" panose="05050102010706020507" pitchFamily="18" charset="2"/>
                    </a:rPr>
                    <a:t> </a:t>
                  </a:r>
                  <a:r>
                    <a:rPr lang="en-US" altLang="zh-CN" sz="2000" dirty="0">
                      <a:latin typeface="Tahoma" panose="020B0604030504040204" pitchFamily="34" charset="0"/>
                    </a:rPr>
                    <a:t>/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" name="Rectangle 45">
                  <a:extLst>
                    <a:ext uri="{FF2B5EF4-FFF2-40B4-BE49-F238E27FC236}">
                      <a16:creationId xmlns:a16="http://schemas.microsoft.com/office/drawing/2014/main" id="{92C85BA0-C242-4D29-850E-8275D52677B1}"/>
                    </a:ext>
                  </a:extLst>
                </p:cNvPr>
                <p:cNvSpPr/>
                <p:nvPr/>
              </p:nvSpPr>
              <p:spPr>
                <a:xfrm>
                  <a:off x="589" y="384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3" name="Group 41">
                <a:extLst>
                  <a:ext uri="{FF2B5EF4-FFF2-40B4-BE49-F238E27FC236}">
                    <a16:creationId xmlns:a16="http://schemas.microsoft.com/office/drawing/2014/main" id="{A11773BF-E65C-CA55-3CBE-9C12660DA1FF}"/>
                  </a:ext>
                </a:extLst>
              </p:cNvPr>
              <p:cNvGrpSpPr/>
              <p:nvPr/>
            </p:nvGrpSpPr>
            <p:grpSpPr>
              <a:xfrm>
                <a:off x="1115" y="384"/>
                <a:ext cx="554" cy="384"/>
                <a:chOff x="1115" y="384"/>
                <a:chExt cx="554" cy="384"/>
              </a:xfrm>
            </p:grpSpPr>
            <p:sp>
              <p:nvSpPr>
                <p:cNvPr id="50" name="Rectangle 43">
                  <a:extLst>
                    <a:ext uri="{FF2B5EF4-FFF2-40B4-BE49-F238E27FC236}">
                      <a16:creationId xmlns:a16="http://schemas.microsoft.com/office/drawing/2014/main" id="{27FA4D7B-B72E-22D1-6842-000DAA3E6BBF}"/>
                    </a:ext>
                  </a:extLst>
                </p:cNvPr>
                <p:cNvSpPr/>
                <p:nvPr/>
              </p:nvSpPr>
              <p:spPr>
                <a:xfrm>
                  <a:off x="1158" y="384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-13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1" name="Rectangle 42">
                  <a:extLst>
                    <a:ext uri="{FF2B5EF4-FFF2-40B4-BE49-F238E27FC236}">
                      <a16:creationId xmlns:a16="http://schemas.microsoft.com/office/drawing/2014/main" id="{5CABCDF1-83AD-3A1E-750C-638A6AE06AE8}"/>
                    </a:ext>
                  </a:extLst>
                </p:cNvPr>
                <p:cNvSpPr/>
                <p:nvPr/>
              </p:nvSpPr>
              <p:spPr>
                <a:xfrm>
                  <a:off x="1115" y="384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4" name="Group 38">
                <a:extLst>
                  <a:ext uri="{FF2B5EF4-FFF2-40B4-BE49-F238E27FC236}">
                    <a16:creationId xmlns:a16="http://schemas.microsoft.com/office/drawing/2014/main" id="{79B140A1-AC8F-46DA-4FA7-6A7150496224}"/>
                  </a:ext>
                </a:extLst>
              </p:cNvPr>
              <p:cNvGrpSpPr/>
              <p:nvPr/>
            </p:nvGrpSpPr>
            <p:grpSpPr>
              <a:xfrm>
                <a:off x="0" y="768"/>
                <a:ext cx="589" cy="384"/>
                <a:chOff x="0" y="768"/>
                <a:chExt cx="589" cy="384"/>
              </a:xfrm>
            </p:grpSpPr>
            <p:sp>
              <p:nvSpPr>
                <p:cNvPr id="48" name="Rectangle 40">
                  <a:extLst>
                    <a:ext uri="{FF2B5EF4-FFF2-40B4-BE49-F238E27FC236}">
                      <a16:creationId xmlns:a16="http://schemas.microsoft.com/office/drawing/2014/main" id="{F2FD767B-8703-E303-2FEF-877236E3AB91}"/>
                    </a:ext>
                  </a:extLst>
                </p:cNvPr>
                <p:cNvSpPr/>
                <p:nvPr/>
              </p:nvSpPr>
              <p:spPr>
                <a:xfrm>
                  <a:off x="43" y="768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Hann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" name="Rectangle 39">
                  <a:extLst>
                    <a:ext uri="{FF2B5EF4-FFF2-40B4-BE49-F238E27FC236}">
                      <a16:creationId xmlns:a16="http://schemas.microsoft.com/office/drawing/2014/main" id="{5158D0E4-9189-EFDA-55FA-6C63C9D54523}"/>
                    </a:ext>
                  </a:extLst>
                </p:cNvPr>
                <p:cNvSpPr/>
                <p:nvPr/>
              </p:nvSpPr>
              <p:spPr>
                <a:xfrm>
                  <a:off x="0" y="768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5" name="Group 35">
                <a:extLst>
                  <a:ext uri="{FF2B5EF4-FFF2-40B4-BE49-F238E27FC236}">
                    <a16:creationId xmlns:a16="http://schemas.microsoft.com/office/drawing/2014/main" id="{35B612B0-8B2B-7952-9A06-E4B2D98DA802}"/>
                  </a:ext>
                </a:extLst>
              </p:cNvPr>
              <p:cNvGrpSpPr/>
              <p:nvPr/>
            </p:nvGrpSpPr>
            <p:grpSpPr>
              <a:xfrm>
                <a:off x="589" y="768"/>
                <a:ext cx="526" cy="384"/>
                <a:chOff x="589" y="768"/>
                <a:chExt cx="526" cy="384"/>
              </a:xfrm>
            </p:grpSpPr>
            <p:sp>
              <p:nvSpPr>
                <p:cNvPr id="46" name="Rectangle 37">
                  <a:extLst>
                    <a:ext uri="{FF2B5EF4-FFF2-40B4-BE49-F238E27FC236}">
                      <a16:creationId xmlns:a16="http://schemas.microsoft.com/office/drawing/2014/main" id="{E8EB171A-F39E-B71A-B17D-83873D5BE8D2}"/>
                    </a:ext>
                  </a:extLst>
                </p:cNvPr>
                <p:cNvSpPr/>
                <p:nvPr/>
              </p:nvSpPr>
              <p:spPr>
                <a:xfrm>
                  <a:off x="632" y="768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dirty="0">
                      <a:latin typeface="Symbol" panose="05050102010706020507" pitchFamily="18" charset="2"/>
                    </a:rPr>
                    <a:t>p</a:t>
                  </a:r>
                  <a:r>
                    <a:rPr lang="en-US" altLang="zh-CN" sz="2000" i="1" dirty="0">
                      <a:latin typeface="Symbol" panose="05050102010706020507" pitchFamily="18" charset="2"/>
                    </a:rPr>
                    <a:t> </a:t>
                  </a:r>
                  <a:r>
                    <a:rPr lang="en-US" altLang="zh-CN" sz="2000" dirty="0">
                      <a:latin typeface="Tahoma" panose="020B0604030504040204" pitchFamily="34" charset="0"/>
                    </a:rPr>
                    <a:t>/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36">
                  <a:extLst>
                    <a:ext uri="{FF2B5EF4-FFF2-40B4-BE49-F238E27FC236}">
                      <a16:creationId xmlns:a16="http://schemas.microsoft.com/office/drawing/2014/main" id="{EC36C7E7-4AB6-E7D2-3E18-E59148475CD6}"/>
                    </a:ext>
                  </a:extLst>
                </p:cNvPr>
                <p:cNvSpPr/>
                <p:nvPr/>
              </p:nvSpPr>
              <p:spPr>
                <a:xfrm>
                  <a:off x="589" y="768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6" name="Group 32">
                <a:extLst>
                  <a:ext uri="{FF2B5EF4-FFF2-40B4-BE49-F238E27FC236}">
                    <a16:creationId xmlns:a16="http://schemas.microsoft.com/office/drawing/2014/main" id="{4AB9E86D-D55F-FCFE-D864-C4790FFC75FD}"/>
                  </a:ext>
                </a:extLst>
              </p:cNvPr>
              <p:cNvGrpSpPr/>
              <p:nvPr/>
            </p:nvGrpSpPr>
            <p:grpSpPr>
              <a:xfrm>
                <a:off x="1115" y="768"/>
                <a:ext cx="554" cy="384"/>
                <a:chOff x="1115" y="768"/>
                <a:chExt cx="554" cy="384"/>
              </a:xfrm>
            </p:grpSpPr>
            <p:sp>
              <p:nvSpPr>
                <p:cNvPr id="44" name="Rectangle 34">
                  <a:extLst>
                    <a:ext uri="{FF2B5EF4-FFF2-40B4-BE49-F238E27FC236}">
                      <a16:creationId xmlns:a16="http://schemas.microsoft.com/office/drawing/2014/main" id="{DA701BE6-2AB9-58BF-8F34-13BE5770FB9D}"/>
                    </a:ext>
                  </a:extLst>
                </p:cNvPr>
                <p:cNvSpPr/>
                <p:nvPr/>
              </p:nvSpPr>
              <p:spPr>
                <a:xfrm>
                  <a:off x="1158" y="768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-31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33">
                  <a:extLst>
                    <a:ext uri="{FF2B5EF4-FFF2-40B4-BE49-F238E27FC236}">
                      <a16:creationId xmlns:a16="http://schemas.microsoft.com/office/drawing/2014/main" id="{B5E4B7E9-CFDA-4945-04ED-C2CD29239203}"/>
                    </a:ext>
                  </a:extLst>
                </p:cNvPr>
                <p:cNvSpPr/>
                <p:nvPr/>
              </p:nvSpPr>
              <p:spPr>
                <a:xfrm>
                  <a:off x="1115" y="768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7" name="Group 29">
                <a:extLst>
                  <a:ext uri="{FF2B5EF4-FFF2-40B4-BE49-F238E27FC236}">
                    <a16:creationId xmlns:a16="http://schemas.microsoft.com/office/drawing/2014/main" id="{DEAD59B8-F853-014E-F0E6-76C18DEAB0A0}"/>
                  </a:ext>
                </a:extLst>
              </p:cNvPr>
              <p:cNvGrpSpPr/>
              <p:nvPr/>
            </p:nvGrpSpPr>
            <p:grpSpPr>
              <a:xfrm>
                <a:off x="0" y="1152"/>
                <a:ext cx="589" cy="384"/>
                <a:chOff x="0" y="1152"/>
                <a:chExt cx="589" cy="384"/>
              </a:xfrm>
            </p:grpSpPr>
            <p:sp>
              <p:nvSpPr>
                <p:cNvPr id="42" name="Rectangle 31">
                  <a:extLst>
                    <a:ext uri="{FF2B5EF4-FFF2-40B4-BE49-F238E27FC236}">
                      <a16:creationId xmlns:a16="http://schemas.microsoft.com/office/drawing/2014/main" id="{58E99EEA-386A-2A4C-B563-89FF755AEF0C}"/>
                    </a:ext>
                  </a:extLst>
                </p:cNvPr>
                <p:cNvSpPr/>
                <p:nvPr/>
              </p:nvSpPr>
              <p:spPr>
                <a:xfrm>
                  <a:off x="43" y="1152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Hamming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" name="Rectangle 30">
                  <a:extLst>
                    <a:ext uri="{FF2B5EF4-FFF2-40B4-BE49-F238E27FC236}">
                      <a16:creationId xmlns:a16="http://schemas.microsoft.com/office/drawing/2014/main" id="{9FA4AF6A-E269-9C0C-50C8-FE513879FD62}"/>
                    </a:ext>
                  </a:extLst>
                </p:cNvPr>
                <p:cNvSpPr/>
                <p:nvPr/>
              </p:nvSpPr>
              <p:spPr>
                <a:xfrm>
                  <a:off x="0" y="1152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8" name="Group 26">
                <a:extLst>
                  <a:ext uri="{FF2B5EF4-FFF2-40B4-BE49-F238E27FC236}">
                    <a16:creationId xmlns:a16="http://schemas.microsoft.com/office/drawing/2014/main" id="{7C571ADA-3F72-82AA-31B2-65722B162FB0}"/>
                  </a:ext>
                </a:extLst>
              </p:cNvPr>
              <p:cNvGrpSpPr/>
              <p:nvPr/>
            </p:nvGrpSpPr>
            <p:grpSpPr>
              <a:xfrm>
                <a:off x="589" y="1152"/>
                <a:ext cx="526" cy="384"/>
                <a:chOff x="589" y="1152"/>
                <a:chExt cx="526" cy="384"/>
              </a:xfrm>
            </p:grpSpPr>
            <p:sp>
              <p:nvSpPr>
                <p:cNvPr id="40" name="Rectangle 28">
                  <a:extLst>
                    <a:ext uri="{FF2B5EF4-FFF2-40B4-BE49-F238E27FC236}">
                      <a16:creationId xmlns:a16="http://schemas.microsoft.com/office/drawing/2014/main" id="{A4C201AA-B5E6-170B-032A-10D4CDBC4957}"/>
                    </a:ext>
                  </a:extLst>
                </p:cNvPr>
                <p:cNvSpPr/>
                <p:nvPr/>
              </p:nvSpPr>
              <p:spPr>
                <a:xfrm>
                  <a:off x="632" y="1152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dirty="0">
                      <a:latin typeface="Symbol" panose="05050102010706020507" pitchFamily="18" charset="2"/>
                    </a:rPr>
                    <a:t>p</a:t>
                  </a:r>
                  <a:r>
                    <a:rPr lang="en-US" altLang="zh-CN" sz="2000" i="1" dirty="0">
                      <a:latin typeface="Symbol" panose="05050102010706020507" pitchFamily="18" charset="2"/>
                    </a:rPr>
                    <a:t> </a:t>
                  </a:r>
                  <a:r>
                    <a:rPr lang="en-US" altLang="zh-CN" sz="2000" dirty="0">
                      <a:latin typeface="Tahoma" panose="020B0604030504040204" pitchFamily="34" charset="0"/>
                    </a:rPr>
                    <a:t>/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27">
                  <a:extLst>
                    <a:ext uri="{FF2B5EF4-FFF2-40B4-BE49-F238E27FC236}">
                      <a16:creationId xmlns:a16="http://schemas.microsoft.com/office/drawing/2014/main" id="{70026779-0A36-9193-578F-D5F4E947745E}"/>
                    </a:ext>
                  </a:extLst>
                </p:cNvPr>
                <p:cNvSpPr/>
                <p:nvPr/>
              </p:nvSpPr>
              <p:spPr>
                <a:xfrm>
                  <a:off x="589" y="1152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9" name="Group 23">
                <a:extLst>
                  <a:ext uri="{FF2B5EF4-FFF2-40B4-BE49-F238E27FC236}">
                    <a16:creationId xmlns:a16="http://schemas.microsoft.com/office/drawing/2014/main" id="{CC32786B-1C90-95F9-39B7-33B39D376D06}"/>
                  </a:ext>
                </a:extLst>
              </p:cNvPr>
              <p:cNvGrpSpPr/>
              <p:nvPr/>
            </p:nvGrpSpPr>
            <p:grpSpPr>
              <a:xfrm>
                <a:off x="1115" y="1152"/>
                <a:ext cx="554" cy="384"/>
                <a:chOff x="1115" y="1152"/>
                <a:chExt cx="554" cy="384"/>
              </a:xfrm>
            </p:grpSpPr>
            <p:sp>
              <p:nvSpPr>
                <p:cNvPr id="38" name="Rectangle 25">
                  <a:extLst>
                    <a:ext uri="{FF2B5EF4-FFF2-40B4-BE49-F238E27FC236}">
                      <a16:creationId xmlns:a16="http://schemas.microsoft.com/office/drawing/2014/main" id="{A7F258CE-280C-0629-7DC5-22E77DF23660}"/>
                    </a:ext>
                  </a:extLst>
                </p:cNvPr>
                <p:cNvSpPr/>
                <p:nvPr/>
              </p:nvSpPr>
              <p:spPr>
                <a:xfrm>
                  <a:off x="1158" y="1152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-41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" name="Rectangle 24">
                  <a:extLst>
                    <a:ext uri="{FF2B5EF4-FFF2-40B4-BE49-F238E27FC236}">
                      <a16:creationId xmlns:a16="http://schemas.microsoft.com/office/drawing/2014/main" id="{1CC7E783-8A06-72ED-3E28-BBB14FCC0F49}"/>
                    </a:ext>
                  </a:extLst>
                </p:cNvPr>
                <p:cNvSpPr/>
                <p:nvPr/>
              </p:nvSpPr>
              <p:spPr>
                <a:xfrm>
                  <a:off x="1115" y="1152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0" name="Group 20">
                <a:extLst>
                  <a:ext uri="{FF2B5EF4-FFF2-40B4-BE49-F238E27FC236}">
                    <a16:creationId xmlns:a16="http://schemas.microsoft.com/office/drawing/2014/main" id="{79A53498-2B68-70A6-14B3-2505E2FF5B1F}"/>
                  </a:ext>
                </a:extLst>
              </p:cNvPr>
              <p:cNvGrpSpPr/>
              <p:nvPr/>
            </p:nvGrpSpPr>
            <p:grpSpPr>
              <a:xfrm>
                <a:off x="0" y="1536"/>
                <a:ext cx="589" cy="384"/>
                <a:chOff x="0" y="1536"/>
                <a:chExt cx="589" cy="384"/>
              </a:xfrm>
            </p:grpSpPr>
            <p:sp>
              <p:nvSpPr>
                <p:cNvPr id="36" name="Rectangle 22">
                  <a:extLst>
                    <a:ext uri="{FF2B5EF4-FFF2-40B4-BE49-F238E27FC236}">
                      <a16:creationId xmlns:a16="http://schemas.microsoft.com/office/drawing/2014/main" id="{E644930A-146E-F721-A354-0587FABA6597}"/>
                    </a:ext>
                  </a:extLst>
                </p:cNvPr>
                <p:cNvSpPr/>
                <p:nvPr/>
              </p:nvSpPr>
              <p:spPr>
                <a:xfrm>
                  <a:off x="43" y="1536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Blackman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21">
                  <a:extLst>
                    <a:ext uri="{FF2B5EF4-FFF2-40B4-BE49-F238E27FC236}">
                      <a16:creationId xmlns:a16="http://schemas.microsoft.com/office/drawing/2014/main" id="{C55AE219-0580-5C11-10EE-5A669A7FE735}"/>
                    </a:ext>
                  </a:extLst>
                </p:cNvPr>
                <p:cNvSpPr/>
                <p:nvPr/>
              </p:nvSpPr>
              <p:spPr>
                <a:xfrm>
                  <a:off x="0" y="1536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1" name="Group 17">
                <a:extLst>
                  <a:ext uri="{FF2B5EF4-FFF2-40B4-BE49-F238E27FC236}">
                    <a16:creationId xmlns:a16="http://schemas.microsoft.com/office/drawing/2014/main" id="{A06278E3-499B-7653-2DBD-5536F0F945FA}"/>
                  </a:ext>
                </a:extLst>
              </p:cNvPr>
              <p:cNvGrpSpPr/>
              <p:nvPr/>
            </p:nvGrpSpPr>
            <p:grpSpPr>
              <a:xfrm>
                <a:off x="589" y="1536"/>
                <a:ext cx="526" cy="384"/>
                <a:chOff x="589" y="1536"/>
                <a:chExt cx="526" cy="384"/>
              </a:xfrm>
            </p:grpSpPr>
            <p:sp>
              <p:nvSpPr>
                <p:cNvPr id="34" name="Rectangle 19">
                  <a:extLst>
                    <a:ext uri="{FF2B5EF4-FFF2-40B4-BE49-F238E27FC236}">
                      <a16:creationId xmlns:a16="http://schemas.microsoft.com/office/drawing/2014/main" id="{42B1A6AA-C223-71D6-8E0E-B836C5220236}"/>
                    </a:ext>
                  </a:extLst>
                </p:cNvPr>
                <p:cNvSpPr/>
                <p:nvPr/>
              </p:nvSpPr>
              <p:spPr>
                <a:xfrm>
                  <a:off x="632" y="1536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12</a:t>
                  </a:r>
                  <a:r>
                    <a:rPr lang="en-US" altLang="zh-CN" sz="2000" dirty="0">
                      <a:latin typeface="Symbol" panose="05050102010706020507" pitchFamily="18" charset="2"/>
                    </a:rPr>
                    <a:t>p</a:t>
                  </a:r>
                  <a:r>
                    <a:rPr lang="en-US" altLang="zh-CN" sz="2000" i="1" dirty="0">
                      <a:latin typeface="Symbol" panose="05050102010706020507" pitchFamily="18" charset="2"/>
                    </a:rPr>
                    <a:t> </a:t>
                  </a:r>
                  <a:r>
                    <a:rPr lang="en-US" altLang="zh-CN" sz="2000" dirty="0">
                      <a:latin typeface="Tahoma" panose="020B0604030504040204" pitchFamily="34" charset="0"/>
                    </a:rPr>
                    <a:t>/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" name="Rectangle 18">
                  <a:extLst>
                    <a:ext uri="{FF2B5EF4-FFF2-40B4-BE49-F238E27FC236}">
                      <a16:creationId xmlns:a16="http://schemas.microsoft.com/office/drawing/2014/main" id="{1C8BD643-6973-A20B-18F5-1FE321A70865}"/>
                    </a:ext>
                  </a:extLst>
                </p:cNvPr>
                <p:cNvSpPr/>
                <p:nvPr/>
              </p:nvSpPr>
              <p:spPr>
                <a:xfrm>
                  <a:off x="589" y="1536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2" name="Group 14">
                <a:extLst>
                  <a:ext uri="{FF2B5EF4-FFF2-40B4-BE49-F238E27FC236}">
                    <a16:creationId xmlns:a16="http://schemas.microsoft.com/office/drawing/2014/main" id="{957299C6-214A-5058-CA6D-68CA9F15866B}"/>
                  </a:ext>
                </a:extLst>
              </p:cNvPr>
              <p:cNvGrpSpPr/>
              <p:nvPr/>
            </p:nvGrpSpPr>
            <p:grpSpPr>
              <a:xfrm>
                <a:off x="1115" y="1536"/>
                <a:ext cx="554" cy="384"/>
                <a:chOff x="1115" y="1536"/>
                <a:chExt cx="554" cy="384"/>
              </a:xfrm>
            </p:grpSpPr>
            <p:sp>
              <p:nvSpPr>
                <p:cNvPr id="32" name="Rectangle 16">
                  <a:extLst>
                    <a:ext uri="{FF2B5EF4-FFF2-40B4-BE49-F238E27FC236}">
                      <a16:creationId xmlns:a16="http://schemas.microsoft.com/office/drawing/2014/main" id="{88D3DB09-CF5D-0725-5044-10F61685D184}"/>
                    </a:ext>
                  </a:extLst>
                </p:cNvPr>
                <p:cNvSpPr/>
                <p:nvPr/>
              </p:nvSpPr>
              <p:spPr>
                <a:xfrm>
                  <a:off x="1158" y="1536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-57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" name="Rectangle 15">
                  <a:extLst>
                    <a:ext uri="{FF2B5EF4-FFF2-40B4-BE49-F238E27FC236}">
                      <a16:creationId xmlns:a16="http://schemas.microsoft.com/office/drawing/2014/main" id="{8A646F37-1EDD-1DFC-936F-E5B3FA6B05B5}"/>
                    </a:ext>
                  </a:extLst>
                </p:cNvPr>
                <p:cNvSpPr/>
                <p:nvPr/>
              </p:nvSpPr>
              <p:spPr>
                <a:xfrm>
                  <a:off x="1115" y="1536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3" name="Group 11">
                <a:extLst>
                  <a:ext uri="{FF2B5EF4-FFF2-40B4-BE49-F238E27FC236}">
                    <a16:creationId xmlns:a16="http://schemas.microsoft.com/office/drawing/2014/main" id="{39B051F1-BE89-D071-E43D-84DF89F1AA32}"/>
                  </a:ext>
                </a:extLst>
              </p:cNvPr>
              <p:cNvGrpSpPr/>
              <p:nvPr/>
            </p:nvGrpSpPr>
            <p:grpSpPr>
              <a:xfrm>
                <a:off x="0" y="1920"/>
                <a:ext cx="589" cy="384"/>
                <a:chOff x="0" y="1920"/>
                <a:chExt cx="589" cy="384"/>
              </a:xfrm>
            </p:grpSpPr>
            <p:sp>
              <p:nvSpPr>
                <p:cNvPr id="30" name="Rectangle 13">
                  <a:extLst>
                    <a:ext uri="{FF2B5EF4-FFF2-40B4-BE49-F238E27FC236}">
                      <a16:creationId xmlns:a16="http://schemas.microsoft.com/office/drawing/2014/main" id="{3AE1D99A-0894-EB50-DA76-73CA253A4184}"/>
                    </a:ext>
                  </a:extLst>
                </p:cNvPr>
                <p:cNvSpPr/>
                <p:nvPr/>
              </p:nvSpPr>
              <p:spPr>
                <a:xfrm>
                  <a:off x="43" y="1920"/>
                  <a:ext cx="503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Kaiser</a:t>
                  </a:r>
                  <a:r>
                    <a:rPr lang="zh-CN" altLang="en-US" sz="2000" dirty="0">
                      <a:latin typeface="Times New Roman" panose="02020603050405020304" pitchFamily="18" charset="0"/>
                    </a:rPr>
                    <a:t>           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" name="Rectangle 12">
                  <a:extLst>
                    <a:ext uri="{FF2B5EF4-FFF2-40B4-BE49-F238E27FC236}">
                      <a16:creationId xmlns:a16="http://schemas.microsoft.com/office/drawing/2014/main" id="{1E593632-7A17-861A-9317-77BA1C1D2FB3}"/>
                    </a:ext>
                  </a:extLst>
                </p:cNvPr>
                <p:cNvSpPr/>
                <p:nvPr/>
              </p:nvSpPr>
              <p:spPr>
                <a:xfrm>
                  <a:off x="0" y="1920"/>
                  <a:ext cx="589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4" name="Group 8">
                <a:extLst>
                  <a:ext uri="{FF2B5EF4-FFF2-40B4-BE49-F238E27FC236}">
                    <a16:creationId xmlns:a16="http://schemas.microsoft.com/office/drawing/2014/main" id="{0B974CB0-DEF2-2555-D42A-37B82EB81B9C}"/>
                  </a:ext>
                </a:extLst>
              </p:cNvPr>
              <p:cNvGrpSpPr/>
              <p:nvPr/>
            </p:nvGrpSpPr>
            <p:grpSpPr>
              <a:xfrm>
                <a:off x="589" y="1920"/>
                <a:ext cx="526" cy="384"/>
                <a:chOff x="589" y="1920"/>
                <a:chExt cx="526" cy="384"/>
              </a:xfrm>
            </p:grpSpPr>
            <p:sp>
              <p:nvSpPr>
                <p:cNvPr id="28" name="Rectangle 10">
                  <a:extLst>
                    <a:ext uri="{FF2B5EF4-FFF2-40B4-BE49-F238E27FC236}">
                      <a16:creationId xmlns:a16="http://schemas.microsoft.com/office/drawing/2014/main" id="{4CD40F68-861C-A826-E4AE-9A32D9CC3351}"/>
                    </a:ext>
                  </a:extLst>
                </p:cNvPr>
                <p:cNvSpPr/>
                <p:nvPr/>
              </p:nvSpPr>
              <p:spPr>
                <a:xfrm>
                  <a:off x="632" y="1920"/>
                  <a:ext cx="4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sz="2000" dirty="0">
                      <a:latin typeface="Symbol" panose="05050102010706020507" pitchFamily="18" charset="2"/>
                    </a:rPr>
                    <a:t>p</a:t>
                  </a:r>
                  <a:r>
                    <a:rPr lang="en-US" altLang="zh-CN" sz="2000" i="1" dirty="0">
                      <a:latin typeface="Symbol" panose="05050102010706020507" pitchFamily="18" charset="2"/>
                    </a:rPr>
                    <a:t> </a:t>
                  </a:r>
                  <a:r>
                    <a:rPr lang="en-US" altLang="zh-CN" sz="2000" dirty="0">
                      <a:latin typeface="Tahoma" panose="020B0604030504040204" pitchFamily="34" charset="0"/>
                    </a:rPr>
                    <a:t>/ </a:t>
                  </a: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9">
                  <a:extLst>
                    <a:ext uri="{FF2B5EF4-FFF2-40B4-BE49-F238E27FC236}">
                      <a16:creationId xmlns:a16="http://schemas.microsoft.com/office/drawing/2014/main" id="{A0DB5C31-DE0B-CE67-C5D6-AC0F8125F07F}"/>
                    </a:ext>
                  </a:extLst>
                </p:cNvPr>
                <p:cNvSpPr/>
                <p:nvPr/>
              </p:nvSpPr>
              <p:spPr>
                <a:xfrm>
                  <a:off x="589" y="1920"/>
                  <a:ext cx="52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5" name="Group 5">
                <a:extLst>
                  <a:ext uri="{FF2B5EF4-FFF2-40B4-BE49-F238E27FC236}">
                    <a16:creationId xmlns:a16="http://schemas.microsoft.com/office/drawing/2014/main" id="{E0BCA2ED-9A06-C7B1-71C1-A62B8C8CE2BB}"/>
                  </a:ext>
                </a:extLst>
              </p:cNvPr>
              <p:cNvGrpSpPr/>
              <p:nvPr/>
            </p:nvGrpSpPr>
            <p:grpSpPr>
              <a:xfrm>
                <a:off x="1115" y="1920"/>
                <a:ext cx="554" cy="384"/>
                <a:chOff x="1115" y="1920"/>
                <a:chExt cx="554" cy="384"/>
              </a:xfrm>
            </p:grpSpPr>
            <p:sp>
              <p:nvSpPr>
                <p:cNvPr id="26" name="Rectangle 7">
                  <a:extLst>
                    <a:ext uri="{FF2B5EF4-FFF2-40B4-BE49-F238E27FC236}">
                      <a16:creationId xmlns:a16="http://schemas.microsoft.com/office/drawing/2014/main" id="{B18904F3-B775-159E-1F48-428AA21CB9F1}"/>
                    </a:ext>
                  </a:extLst>
                </p:cNvPr>
                <p:cNvSpPr/>
                <p:nvPr/>
              </p:nvSpPr>
              <p:spPr>
                <a:xfrm>
                  <a:off x="1158" y="1920"/>
                  <a:ext cx="46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defTabSz="914400" eaLnBrk="1" hangingPunct="1">
                    <a:tabLst>
                      <a:tab pos="215900" algn="l"/>
                    </a:tabLst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-57</a:t>
                  </a:r>
                </a:p>
                <a:p>
                  <a:pPr algn="ctr" defTabSz="914400">
                    <a:tabLst>
                      <a:tab pos="215900" algn="l"/>
                    </a:tabLst>
                  </a:pP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" name="Rectangle 6">
                  <a:extLst>
                    <a:ext uri="{FF2B5EF4-FFF2-40B4-BE49-F238E27FC236}">
                      <a16:creationId xmlns:a16="http://schemas.microsoft.com/office/drawing/2014/main" id="{849AA288-4539-6277-9618-B4741A855F51}"/>
                    </a:ext>
                  </a:extLst>
                </p:cNvPr>
                <p:cNvSpPr/>
                <p:nvPr/>
              </p:nvSpPr>
              <p:spPr>
                <a:xfrm>
                  <a:off x="1115" y="1920"/>
                  <a:ext cx="55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lstStyle>
                  <a:defPPr>
                    <a:defRPr lang="en-US"/>
                  </a:defPPr>
                  <a:lvl1pPr marL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lvl="1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lvl="2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lvl="3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lvl="4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lvl="5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lvl="6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lvl="7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lvl="8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2400" b="0" i="0" u="non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/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F734375B-E0EE-A734-8B4F-348A3D7375D4}"/>
                </a:ext>
              </a:extLst>
            </p:cNvPr>
            <p:cNvSpPr/>
            <p:nvPr/>
          </p:nvSpPr>
          <p:spPr>
            <a:xfrm>
              <a:off x="-3" y="-3"/>
              <a:ext cx="1675" cy="2310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lstStyle>
              <a:defPPr>
                <a:defRPr lang="en-US"/>
              </a:defPPr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8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8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95B27C6-0509-4754-ADE7-43547857348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8964" name="对象 4"/>
          <p:cNvGraphicFramePr>
            <a:graphicFrameLocks noChangeAspect="1"/>
          </p:cNvGraphicFramePr>
          <p:nvPr/>
        </p:nvGraphicFramePr>
        <p:xfrm>
          <a:off x="1939925" y="1204914"/>
          <a:ext cx="8312150" cy="550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12080" imgH="3451860" progId="Visio.Drawing.11">
                  <p:embed/>
                </p:oleObj>
              </mc:Choice>
              <mc:Fallback>
                <p:oleObj name="VISIO" r:id="rId2" imgW="5212080" imgH="3451860" progId="Visio.Drawing.11">
                  <p:embed/>
                  <p:pic>
                    <p:nvPicPr>
                      <p:cNvPr id="168964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1204914"/>
                        <a:ext cx="8312150" cy="550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13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9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3934429-451B-4399-8DCC-CA4A9FB26C0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9988" name="对象 4"/>
          <p:cNvGraphicFramePr>
            <a:graphicFrameLocks noChangeAspect="1"/>
          </p:cNvGraphicFramePr>
          <p:nvPr/>
        </p:nvGraphicFramePr>
        <p:xfrm>
          <a:off x="1905000" y="1447801"/>
          <a:ext cx="8312150" cy="526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12080" imgH="3307080" progId="Visio.Drawing.11">
                  <p:embed/>
                </p:oleObj>
              </mc:Choice>
              <mc:Fallback>
                <p:oleObj name="VISIO" r:id="rId2" imgW="5212080" imgH="3307080" progId="Visio.Drawing.11">
                  <p:embed/>
                  <p:pic>
                    <p:nvPicPr>
                      <p:cNvPr id="16998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1"/>
                        <a:ext cx="8312150" cy="526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标题 1"/>
          <p:cNvSpPr>
            <a:spLocks noGrp="1"/>
          </p:cNvSpPr>
          <p:nvPr>
            <p:ph type="title"/>
          </p:nvPr>
        </p:nvSpPr>
        <p:spPr>
          <a:xfrm>
            <a:off x="2971800" y="457200"/>
            <a:ext cx="7086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10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60CE0D0-283B-43DD-9AE6-69A18316035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1012" name="Text Box 4"/>
          <p:cNvSpPr txBox="1">
            <a:spLocks noChangeArrowheads="1"/>
          </p:cNvSpPr>
          <p:nvPr/>
        </p:nvSpPr>
        <p:spPr bwMode="auto">
          <a:xfrm>
            <a:off x="1905000" y="1447801"/>
            <a:ext cx="82296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7.1.3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线性相位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滤波器的零点位置</a:t>
            </a:r>
          </a:p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线性相位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滤波器的系统函数有以下特点：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)=±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-(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-1)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                       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171013" name="Picture 7" descr="6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819400"/>
            <a:ext cx="6545263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648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362200" y="319089"/>
            <a:ext cx="76200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线性相位系统</a:t>
            </a:r>
            <a:r>
              <a:rPr lang="en-US" altLang="zh-CN" sz="3200" b="1" i="1">
                <a:ea typeface="黑体" panose="02010609060101010101" pitchFamily="49" charset="-122"/>
              </a:rPr>
              <a:t>H</a:t>
            </a:r>
            <a:r>
              <a:rPr lang="en-US" altLang="zh-CN" sz="3200" b="1">
                <a:ea typeface="黑体" panose="02010609060101010101" pitchFamily="49" charset="-122"/>
              </a:rPr>
              <a:t>(</a:t>
            </a:r>
            <a:r>
              <a:rPr lang="en-US" altLang="zh-CN" sz="3200" b="1" i="1">
                <a:ea typeface="黑体" panose="02010609060101010101" pitchFamily="49" charset="-122"/>
              </a:rPr>
              <a:t>z</a:t>
            </a:r>
            <a:r>
              <a:rPr lang="en-US" altLang="zh-CN" sz="3200" b="1">
                <a:ea typeface="黑体" panose="02010609060101010101" pitchFamily="49" charset="-122"/>
              </a:rPr>
              <a:t>)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的零点分布特性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866838"/>
              </p:ext>
            </p:extLst>
          </p:nvPr>
        </p:nvGraphicFramePr>
        <p:xfrm>
          <a:off x="2605088" y="1565275"/>
          <a:ext cx="26971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03040" progId="Equation.DSMT4">
                  <p:embed/>
                </p:oleObj>
              </mc:Choice>
              <mc:Fallback>
                <p:oleObj name="Equation" r:id="rId2" imgW="1079280" imgH="203040" progId="Equation.DSMT4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1565275"/>
                        <a:ext cx="26971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6662738" y="1503363"/>
          <a:ext cx="30146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28600" progId="Equation.3">
                  <p:embed/>
                </p:oleObj>
              </mc:Choice>
              <mc:Fallback>
                <p:oleObj name="Equation" r:id="rId4" imgW="1206360" imgH="228600" progId="Equation.3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1503363"/>
                        <a:ext cx="301466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2566989" y="2528889"/>
            <a:ext cx="5627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2800" i="1">
                <a:solidFill>
                  <a:srgbClr val="000000"/>
                </a:solidFill>
              </a:rPr>
              <a:t>z</a:t>
            </a:r>
            <a:r>
              <a:rPr lang="en-US" altLang="zh-CN" sz="2800">
                <a:solidFill>
                  <a:srgbClr val="000000"/>
                </a:solidFill>
              </a:rPr>
              <a:t>=0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不可能是系统的零点</a:t>
            </a:r>
            <a:endParaRPr lang="zh-CN" altLang="en-US" sz="2800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495550" y="3357564"/>
            <a:ext cx="73215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2800" i="1" dirty="0" err="1">
                <a:solidFill>
                  <a:srgbClr val="000000"/>
                </a:solidFill>
              </a:rPr>
              <a:t>z</a:t>
            </a:r>
            <a:r>
              <a:rPr lang="en-US" altLang="zh-CN" sz="2800" i="1" baseline="-25000" dirty="0" err="1">
                <a:solidFill>
                  <a:srgbClr val="000000"/>
                </a:solidFill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是系统的零点，则</a:t>
            </a:r>
            <a:r>
              <a:rPr lang="en-US" altLang="zh-CN" sz="2800" i="1" dirty="0">
                <a:solidFill>
                  <a:srgbClr val="000000"/>
                </a:solidFill>
              </a:rPr>
              <a:t>z</a:t>
            </a:r>
            <a:r>
              <a:rPr lang="en-US" altLang="zh-CN" sz="1400" i="1" dirty="0">
                <a:solidFill>
                  <a:srgbClr val="000000"/>
                </a:solidFill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aseline="30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也是系统的零点。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424113" y="4113213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若</a:t>
            </a:r>
            <a:r>
              <a:rPr lang="en-US" altLang="zh-CN" sz="2800" i="1" dirty="0"/>
              <a:t>h</a:t>
            </a:r>
            <a:r>
              <a:rPr lang="en-US" altLang="zh-CN" sz="2800" dirty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/>
              <a:t>]</a:t>
            </a:r>
            <a:r>
              <a:rPr lang="zh-CN" altLang="en-US" sz="2800" dirty="0">
                <a:latin typeface="宋体" panose="02010600030101010101" pitchFamily="2" charset="-122"/>
              </a:rPr>
              <a:t>是实序列，则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z</a:t>
            </a:r>
            <a:r>
              <a:rPr lang="en-US" altLang="zh-CN" sz="2800" dirty="0"/>
              <a:t>)</a:t>
            </a:r>
            <a:r>
              <a:rPr lang="zh-CN" altLang="en-US" sz="2800" dirty="0"/>
              <a:t>的零点有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365992"/>
              </p:ext>
            </p:extLst>
          </p:nvPr>
        </p:nvGraphicFramePr>
        <p:xfrm>
          <a:off x="3505200" y="4705350"/>
          <a:ext cx="20478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41200" progId="Equation.DSMT4">
                  <p:embed/>
                </p:oleObj>
              </mc:Choice>
              <mc:Fallback>
                <p:oleObj name="Equation" r:id="rId6" imgW="685800" imgH="241200" progId="Equation.DSMT4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705350"/>
                        <a:ext cx="20478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107025"/>
              </p:ext>
            </p:extLst>
          </p:nvPr>
        </p:nvGraphicFramePr>
        <p:xfrm>
          <a:off x="6548438" y="4705350"/>
          <a:ext cx="22907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41200" progId="Equation.DSMT4">
                  <p:embed/>
                </p:oleObj>
              </mc:Choice>
              <mc:Fallback>
                <p:oleObj name="Equation" r:id="rId8" imgW="761760" imgH="241200" progId="Equation.DSMT4">
                  <p:embed/>
                  <p:pic>
                    <p:nvPicPr>
                      <p:cNvPr id="20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38" y="4705350"/>
                        <a:ext cx="22907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996082"/>
              </p:ext>
            </p:extLst>
          </p:nvPr>
        </p:nvGraphicFramePr>
        <p:xfrm>
          <a:off x="3505200" y="5629275"/>
          <a:ext cx="25431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241200" progId="Equation.DSMT4">
                  <p:embed/>
                </p:oleObj>
              </mc:Choice>
              <mc:Fallback>
                <p:oleObj name="Equation" r:id="rId10" imgW="850680" imgH="241200" progId="Equation.DSMT4">
                  <p:embed/>
                  <p:pic>
                    <p:nvPicPr>
                      <p:cNvPr id="20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629275"/>
                        <a:ext cx="25431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226043"/>
              </p:ext>
            </p:extLst>
          </p:nvPr>
        </p:nvGraphicFramePr>
        <p:xfrm>
          <a:off x="6403975" y="5619750"/>
          <a:ext cx="27781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000" imgH="241200" progId="Equation.DSMT4">
                  <p:embed/>
                </p:oleObj>
              </mc:Choice>
              <mc:Fallback>
                <p:oleObj name="Equation" r:id="rId12" imgW="927000" imgH="241200" progId="Equation.DSMT4">
                  <p:embed/>
                  <p:pic>
                    <p:nvPicPr>
                      <p:cNvPr id="20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975" y="5619750"/>
                        <a:ext cx="27781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5562600" y="1752600"/>
            <a:ext cx="838200" cy="76200"/>
          </a:xfrm>
          <a:prstGeom prst="rightArrow">
            <a:avLst>
              <a:gd name="adj1" fmla="val 50000"/>
              <a:gd name="adj2" fmla="val 2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5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6" grpId="0" autoUpdateAnimBg="0"/>
      <p:bldP spid="2048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538133" y="1533525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66"/>
                </a:solidFill>
              </a:rPr>
              <a:t>是不在单位圆上的复零点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200401" y="5876926"/>
          <a:ext cx="57197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000" imgH="241200" progId="Equation.3">
                  <p:embed/>
                </p:oleObj>
              </mc:Choice>
              <mc:Fallback>
                <p:oleObj name="公式" r:id="rId2" imgW="2286000" imgH="24120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5876926"/>
                        <a:ext cx="57197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4097338" y="2381250"/>
            <a:ext cx="4056062" cy="3333750"/>
            <a:chOff x="1621" y="562"/>
            <a:chExt cx="2555" cy="2100"/>
          </a:xfrm>
        </p:grpSpPr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 flipV="1">
              <a:off x="2765" y="666"/>
              <a:ext cx="852" cy="8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2784" y="1536"/>
              <a:ext cx="852" cy="8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1621" y="1514"/>
              <a:ext cx="210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 flipV="1">
              <a:off x="2765" y="562"/>
              <a:ext cx="1" cy="21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744" y="1392"/>
              <a:ext cx="43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</a:rPr>
                <a:t>Re(</a:t>
              </a:r>
              <a:r>
                <a:rPr lang="en-US" altLang="zh-CN" b="1" i="1">
                  <a:solidFill>
                    <a:srgbClr val="000000"/>
                  </a:solidFill>
                </a:rPr>
                <a:t>z</a:t>
              </a:r>
              <a:r>
                <a:rPr lang="en-US" altLang="zh-CN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21514" name="Text Box 10"/>
            <p:cNvSpPr txBox="1">
              <a:spLocks noChangeArrowheads="1"/>
            </p:cNvSpPr>
            <p:nvPr/>
          </p:nvSpPr>
          <p:spPr bwMode="auto">
            <a:xfrm>
              <a:off x="2016" y="576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Im(</a:t>
              </a:r>
              <a:r>
                <a:rPr lang="en-US" altLang="zh-CN" b="1" i="1"/>
                <a:t>z</a:t>
              </a:r>
              <a:r>
                <a:rPr lang="en-US" altLang="zh-CN" b="1"/>
                <a:t>)</a:t>
              </a:r>
              <a:endParaRPr lang="en-US" altLang="zh-CN"/>
            </a:p>
          </p:txBody>
        </p:sp>
        <p:sp>
          <p:nvSpPr>
            <p:cNvPr id="21515" name="Oval 11"/>
            <p:cNvSpPr>
              <a:spLocks noChangeAspect="1" noChangeArrowheads="1"/>
            </p:cNvSpPr>
            <p:nvPr/>
          </p:nvSpPr>
          <p:spPr bwMode="auto">
            <a:xfrm>
              <a:off x="2992" y="1227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6" name="Oval 12"/>
            <p:cNvSpPr>
              <a:spLocks noChangeArrowheads="1"/>
            </p:cNvSpPr>
            <p:nvPr/>
          </p:nvSpPr>
          <p:spPr bwMode="auto">
            <a:xfrm>
              <a:off x="2196" y="942"/>
              <a:ext cx="1134" cy="11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7" name="Oval 13"/>
            <p:cNvSpPr>
              <a:spLocks noChangeAspect="1" noChangeArrowheads="1"/>
            </p:cNvSpPr>
            <p:nvPr/>
          </p:nvSpPr>
          <p:spPr bwMode="auto">
            <a:xfrm>
              <a:off x="3372" y="841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Oval 14"/>
            <p:cNvSpPr>
              <a:spLocks noChangeAspect="1" noChangeArrowheads="1"/>
            </p:cNvSpPr>
            <p:nvPr/>
          </p:nvSpPr>
          <p:spPr bwMode="auto">
            <a:xfrm>
              <a:off x="3373" y="2121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9" name="Oval 15"/>
            <p:cNvSpPr>
              <a:spLocks noChangeAspect="1" noChangeArrowheads="1"/>
            </p:cNvSpPr>
            <p:nvPr/>
          </p:nvSpPr>
          <p:spPr bwMode="auto">
            <a:xfrm>
              <a:off x="2991" y="1743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2362200" y="319089"/>
            <a:ext cx="76200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线性相位系统</a:t>
            </a:r>
            <a:r>
              <a:rPr lang="en-US" altLang="zh-CN" sz="3200" b="1" i="1">
                <a:ea typeface="黑体" panose="02010609060101010101" pitchFamily="49" charset="-122"/>
              </a:rPr>
              <a:t>H</a:t>
            </a:r>
            <a:r>
              <a:rPr lang="en-US" altLang="zh-CN" sz="3200" b="1">
                <a:ea typeface="黑体" panose="02010609060101010101" pitchFamily="49" charset="-122"/>
              </a:rPr>
              <a:t>(</a:t>
            </a:r>
            <a:r>
              <a:rPr lang="en-US" altLang="zh-CN" sz="3200" b="1" i="1">
                <a:ea typeface="黑体" panose="02010609060101010101" pitchFamily="49" charset="-122"/>
              </a:rPr>
              <a:t>z</a:t>
            </a:r>
            <a:r>
              <a:rPr lang="en-US" altLang="zh-CN" sz="3200" b="1">
                <a:ea typeface="黑体" panose="02010609060101010101" pitchFamily="49" charset="-122"/>
              </a:rPr>
              <a:t>)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的零点分布特性</a:t>
            </a:r>
          </a:p>
        </p:txBody>
      </p:sp>
      <p:graphicFrame>
        <p:nvGraphicFramePr>
          <p:cNvPr id="21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118056"/>
              </p:ext>
            </p:extLst>
          </p:nvPr>
        </p:nvGraphicFramePr>
        <p:xfrm>
          <a:off x="2784475" y="1427163"/>
          <a:ext cx="16557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41200" progId="Equation.DSMT4">
                  <p:embed/>
                </p:oleObj>
              </mc:Choice>
              <mc:Fallback>
                <p:oleObj name="Equation" r:id="rId4" imgW="634680" imgH="241200" progId="Equation.DSMT4">
                  <p:embed/>
                  <p:pic>
                    <p:nvPicPr>
                      <p:cNvPr id="215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1427163"/>
                        <a:ext cx="16557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258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4097338" y="2076450"/>
            <a:ext cx="4056062" cy="3333750"/>
            <a:chOff x="1621" y="684"/>
            <a:chExt cx="2555" cy="2100"/>
          </a:xfrm>
        </p:grpSpPr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 flipV="1">
              <a:off x="2765" y="788"/>
              <a:ext cx="852" cy="8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>
              <a:off x="2784" y="1658"/>
              <a:ext cx="852" cy="8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1621" y="1636"/>
              <a:ext cx="21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 flipV="1">
              <a:off x="2765" y="684"/>
              <a:ext cx="1" cy="2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3744" y="1514"/>
              <a:ext cx="43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</a:rPr>
                <a:t>Re(</a:t>
              </a:r>
              <a:r>
                <a:rPr lang="en-US" altLang="zh-CN" b="1" i="1">
                  <a:solidFill>
                    <a:srgbClr val="000000"/>
                  </a:solidFill>
                </a:rPr>
                <a:t>z</a:t>
              </a:r>
              <a:r>
                <a:rPr lang="en-US" altLang="zh-CN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22537" name="Text Box 9"/>
            <p:cNvSpPr txBox="1">
              <a:spLocks noChangeArrowheads="1"/>
            </p:cNvSpPr>
            <p:nvPr/>
          </p:nvSpPr>
          <p:spPr bwMode="auto">
            <a:xfrm>
              <a:off x="2016" y="698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Im(</a:t>
              </a:r>
              <a:r>
                <a:rPr lang="en-US" altLang="zh-CN" b="1" i="1"/>
                <a:t>z</a:t>
              </a:r>
              <a:r>
                <a:rPr lang="en-US" altLang="zh-CN" b="1"/>
                <a:t>)</a:t>
              </a:r>
            </a:p>
          </p:txBody>
        </p:sp>
        <p:sp>
          <p:nvSpPr>
            <p:cNvPr id="22538" name="Oval 10"/>
            <p:cNvSpPr>
              <a:spLocks noChangeArrowheads="1"/>
            </p:cNvSpPr>
            <p:nvPr/>
          </p:nvSpPr>
          <p:spPr bwMode="auto">
            <a:xfrm>
              <a:off x="2196" y="1064"/>
              <a:ext cx="1134" cy="11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9" name="Oval 11"/>
            <p:cNvSpPr>
              <a:spLocks noChangeAspect="1" noChangeArrowheads="1"/>
            </p:cNvSpPr>
            <p:nvPr/>
          </p:nvSpPr>
          <p:spPr bwMode="auto">
            <a:xfrm>
              <a:off x="3138" y="1200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Oval 12"/>
            <p:cNvSpPr>
              <a:spLocks noChangeAspect="1" noChangeArrowheads="1"/>
            </p:cNvSpPr>
            <p:nvPr/>
          </p:nvSpPr>
          <p:spPr bwMode="auto">
            <a:xfrm>
              <a:off x="3126" y="1996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4143376" y="5573714"/>
          <a:ext cx="35861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4960" imgH="241200" progId="Equation.3">
                  <p:embed/>
                </p:oleObj>
              </mc:Choice>
              <mc:Fallback>
                <p:oleObj name="公式" r:id="rId2" imgW="1434960" imgH="241200" progId="Equation.3">
                  <p:embed/>
                  <p:pic>
                    <p:nvPicPr>
                      <p:cNvPr id="22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6" y="5573714"/>
                        <a:ext cx="35861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362200" y="319089"/>
            <a:ext cx="76200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线性相位系统</a:t>
            </a:r>
            <a:r>
              <a:rPr lang="en-US" altLang="zh-CN" sz="3200" b="1" i="1">
                <a:ea typeface="黑体" panose="02010609060101010101" pitchFamily="49" charset="-122"/>
              </a:rPr>
              <a:t>H</a:t>
            </a:r>
            <a:r>
              <a:rPr lang="en-US" altLang="zh-CN" sz="3200" b="1">
                <a:ea typeface="黑体" panose="02010609060101010101" pitchFamily="49" charset="-122"/>
              </a:rPr>
              <a:t>(</a:t>
            </a:r>
            <a:r>
              <a:rPr lang="en-US" altLang="zh-CN" sz="3200" b="1" i="1">
                <a:ea typeface="黑体" panose="02010609060101010101" pitchFamily="49" charset="-122"/>
              </a:rPr>
              <a:t>z</a:t>
            </a:r>
            <a:r>
              <a:rPr lang="en-US" altLang="zh-CN" sz="3200" b="1">
                <a:ea typeface="黑体" panose="02010609060101010101" pitchFamily="49" charset="-122"/>
              </a:rPr>
              <a:t>)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的零点分布特性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4143376" y="1529557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是单位圆上的复零点</a:t>
            </a: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094973"/>
              </p:ext>
            </p:extLst>
          </p:nvPr>
        </p:nvGraphicFramePr>
        <p:xfrm>
          <a:off x="2327275" y="1427163"/>
          <a:ext cx="16557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41200" progId="Equation.DSMT4">
                  <p:embed/>
                </p:oleObj>
              </mc:Choice>
              <mc:Fallback>
                <p:oleObj name="Equation" r:id="rId4" imgW="634680" imgH="241200" progId="Equation.DSMT4">
                  <p:embed/>
                  <p:pic>
                    <p:nvPicPr>
                      <p:cNvPr id="215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1427163"/>
                        <a:ext cx="16557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544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4097338" y="2228850"/>
            <a:ext cx="4056062" cy="3333750"/>
            <a:chOff x="1621" y="562"/>
            <a:chExt cx="2555" cy="2100"/>
          </a:xfrm>
        </p:grpSpPr>
        <p:sp>
          <p:nvSpPr>
            <p:cNvPr id="23555" name="Line 3"/>
            <p:cNvSpPr>
              <a:spLocks noChangeShapeType="1"/>
            </p:cNvSpPr>
            <p:nvPr/>
          </p:nvSpPr>
          <p:spPr bwMode="auto">
            <a:xfrm>
              <a:off x="1621" y="1514"/>
              <a:ext cx="21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 flipV="1">
              <a:off x="2765" y="562"/>
              <a:ext cx="1" cy="2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7" name="Rectangle 5"/>
            <p:cNvSpPr>
              <a:spLocks noChangeArrowheads="1"/>
            </p:cNvSpPr>
            <p:nvPr/>
          </p:nvSpPr>
          <p:spPr bwMode="auto">
            <a:xfrm>
              <a:off x="3744" y="1392"/>
              <a:ext cx="43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</a:rPr>
                <a:t>Re(</a:t>
              </a:r>
              <a:r>
                <a:rPr lang="en-US" altLang="zh-CN" b="1" i="1">
                  <a:solidFill>
                    <a:srgbClr val="000000"/>
                  </a:solidFill>
                </a:rPr>
                <a:t>z</a:t>
              </a:r>
              <a:r>
                <a:rPr lang="en-US" altLang="zh-CN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23558" name="Text Box 6"/>
            <p:cNvSpPr txBox="1">
              <a:spLocks noChangeArrowheads="1"/>
            </p:cNvSpPr>
            <p:nvPr/>
          </p:nvSpPr>
          <p:spPr bwMode="auto">
            <a:xfrm>
              <a:off x="2016" y="576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Im(</a:t>
              </a:r>
              <a:r>
                <a:rPr lang="en-US" altLang="zh-CN" b="1" i="1"/>
                <a:t>z</a:t>
              </a:r>
              <a:r>
                <a:rPr lang="en-US" altLang="zh-CN" b="1"/>
                <a:t>)</a:t>
              </a:r>
              <a:endParaRPr lang="en-US" altLang="zh-CN"/>
            </a:p>
          </p:txBody>
        </p:sp>
        <p:sp>
          <p:nvSpPr>
            <p:cNvPr id="23559" name="Oval 7"/>
            <p:cNvSpPr>
              <a:spLocks noChangeAspect="1" noChangeArrowheads="1"/>
            </p:cNvSpPr>
            <p:nvPr/>
          </p:nvSpPr>
          <p:spPr bwMode="auto">
            <a:xfrm>
              <a:off x="3148" y="1482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0" name="Oval 8"/>
            <p:cNvSpPr>
              <a:spLocks noChangeArrowheads="1"/>
            </p:cNvSpPr>
            <p:nvPr/>
          </p:nvSpPr>
          <p:spPr bwMode="auto">
            <a:xfrm>
              <a:off x="2196" y="942"/>
              <a:ext cx="1134" cy="11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1" name="Oval 9"/>
            <p:cNvSpPr>
              <a:spLocks noChangeAspect="1" noChangeArrowheads="1"/>
            </p:cNvSpPr>
            <p:nvPr/>
          </p:nvSpPr>
          <p:spPr bwMode="auto">
            <a:xfrm>
              <a:off x="3456" y="1480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4219576" y="5694364"/>
          <a:ext cx="358616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4960" imgH="253800" progId="Equation.3">
                  <p:embed/>
                </p:oleObj>
              </mc:Choice>
              <mc:Fallback>
                <p:oleObj name="公式" r:id="rId2" imgW="1434960" imgH="253800" progId="Equation.3">
                  <p:embed/>
                  <p:pic>
                    <p:nvPicPr>
                      <p:cNvPr id="23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6" y="5694364"/>
                        <a:ext cx="3586163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362200" y="319089"/>
            <a:ext cx="76200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线性相位系统</a:t>
            </a:r>
            <a:r>
              <a:rPr lang="en-US" altLang="zh-CN" sz="3200" b="1" i="1">
                <a:ea typeface="黑体" panose="02010609060101010101" pitchFamily="49" charset="-122"/>
              </a:rPr>
              <a:t>H</a:t>
            </a:r>
            <a:r>
              <a:rPr lang="en-US" altLang="zh-CN" sz="3200" b="1">
                <a:ea typeface="黑体" panose="02010609060101010101" pitchFamily="49" charset="-122"/>
              </a:rPr>
              <a:t>(</a:t>
            </a:r>
            <a:r>
              <a:rPr lang="en-US" altLang="zh-CN" sz="3200" b="1" i="1">
                <a:ea typeface="黑体" panose="02010609060101010101" pitchFamily="49" charset="-122"/>
              </a:rPr>
              <a:t>z</a:t>
            </a:r>
            <a:r>
              <a:rPr lang="en-US" altLang="zh-CN" sz="3200" b="1">
                <a:ea typeface="黑体" panose="02010609060101010101" pitchFamily="49" charset="-122"/>
              </a:rPr>
              <a:t>)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的零点分布特性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3733800" y="1555221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66"/>
                </a:solidFill>
              </a:rPr>
              <a:t>是不在单位圆上的实零点</a:t>
            </a:r>
          </a:p>
        </p:txBody>
      </p:sp>
      <p:graphicFrame>
        <p:nvGraphicFramePr>
          <p:cNvPr id="1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894008"/>
              </p:ext>
            </p:extLst>
          </p:nvPr>
        </p:nvGraphicFramePr>
        <p:xfrm>
          <a:off x="2056342" y="1427163"/>
          <a:ext cx="16557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41200" progId="Equation.DSMT4">
                  <p:embed/>
                </p:oleObj>
              </mc:Choice>
              <mc:Fallback>
                <p:oleObj name="Equation" r:id="rId4" imgW="634680" imgH="241200" progId="Equation.DSMT4">
                  <p:embed/>
                  <p:pic>
                    <p:nvPicPr>
                      <p:cNvPr id="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342" y="1427163"/>
                        <a:ext cx="16557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1146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3733800" y="1981200"/>
            <a:ext cx="4038600" cy="3346450"/>
            <a:chOff x="1632" y="576"/>
            <a:chExt cx="2544" cy="2108"/>
          </a:xfrm>
        </p:grpSpPr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1632" y="1536"/>
              <a:ext cx="21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 flipV="1">
              <a:off x="2765" y="584"/>
              <a:ext cx="1" cy="2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3744" y="1392"/>
              <a:ext cx="43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</a:rPr>
                <a:t>Re(</a:t>
              </a:r>
              <a:r>
                <a:rPr lang="en-US" altLang="zh-CN" b="1" i="1">
                  <a:solidFill>
                    <a:srgbClr val="000000"/>
                  </a:solidFill>
                </a:rPr>
                <a:t>z</a:t>
              </a:r>
              <a:r>
                <a:rPr lang="en-US" altLang="zh-CN" b="1">
                  <a:solidFill>
                    <a:srgbClr val="000000"/>
                  </a:solidFill>
                </a:rPr>
                <a:t>)</a:t>
              </a:r>
              <a:endParaRPr lang="en-US" altLang="zh-CN" b="1"/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2016" y="576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Im(</a:t>
              </a:r>
              <a:r>
                <a:rPr lang="en-US" altLang="zh-CN" b="1" i="1"/>
                <a:t>z</a:t>
              </a:r>
              <a:r>
                <a:rPr lang="en-US" altLang="zh-CN" b="1"/>
                <a:t>)</a:t>
              </a:r>
            </a:p>
          </p:txBody>
        </p:sp>
        <p:sp>
          <p:nvSpPr>
            <p:cNvPr id="24583" name="Oval 7"/>
            <p:cNvSpPr>
              <a:spLocks noChangeArrowheads="1"/>
            </p:cNvSpPr>
            <p:nvPr/>
          </p:nvSpPr>
          <p:spPr bwMode="auto">
            <a:xfrm>
              <a:off x="2196" y="942"/>
              <a:ext cx="1134" cy="11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4" name="Oval 8"/>
            <p:cNvSpPr>
              <a:spLocks noChangeAspect="1" noChangeArrowheads="1"/>
            </p:cNvSpPr>
            <p:nvPr/>
          </p:nvSpPr>
          <p:spPr bwMode="auto">
            <a:xfrm>
              <a:off x="2160" y="1495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5" name="Oval 9"/>
            <p:cNvSpPr>
              <a:spLocks noChangeAspect="1" noChangeArrowheads="1"/>
            </p:cNvSpPr>
            <p:nvPr/>
          </p:nvSpPr>
          <p:spPr bwMode="auto">
            <a:xfrm>
              <a:off x="3297" y="1500"/>
              <a:ext cx="68" cy="6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7239000" y="4267201"/>
          <a:ext cx="25082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2960" imgH="241200" progId="Equation.3">
                  <p:embed/>
                </p:oleObj>
              </mc:Choice>
              <mc:Fallback>
                <p:oleObj name="公式" r:id="rId2" imgW="1002960" imgH="241200" progId="Equation.3">
                  <p:embed/>
                  <p:pic>
                    <p:nvPicPr>
                      <p:cNvPr id="24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267201"/>
                        <a:ext cx="25082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057401" y="5334001"/>
            <a:ext cx="733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 sz="2800" b="1"/>
              <a:t>任意线性相位系统是上述四种子系统的组合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133601" y="6019801"/>
            <a:ext cx="816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en-US" altLang="zh-CN" sz="2800" b="1" i="1" dirty="0"/>
              <a:t>h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奇对称时，</a:t>
            </a:r>
            <a:r>
              <a:rPr lang="en-US" altLang="zh-CN" sz="2800" b="1" i="1" dirty="0"/>
              <a:t>H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在</a:t>
            </a:r>
            <a:r>
              <a:rPr lang="en-US" altLang="zh-CN" sz="2800" b="1" i="1" dirty="0">
                <a:solidFill>
                  <a:srgbClr val="990033"/>
                </a:solidFill>
              </a:rPr>
              <a:t>z</a:t>
            </a:r>
            <a:r>
              <a:rPr lang="en-US" altLang="zh-CN" sz="2800" b="1" dirty="0">
                <a:solidFill>
                  <a:srgbClr val="990033"/>
                </a:solidFill>
              </a:rPr>
              <a:t>=1</a:t>
            </a:r>
            <a:r>
              <a:rPr lang="zh-CN" altLang="en-US" sz="2800" b="1" dirty="0"/>
              <a:t>处一定有奇数阶零点。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2362200" y="319089"/>
            <a:ext cx="76200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线性相位系统</a:t>
            </a:r>
            <a:r>
              <a:rPr lang="en-US" altLang="zh-CN" sz="3200" b="1" i="1">
                <a:ea typeface="黑体" panose="02010609060101010101" pitchFamily="49" charset="-122"/>
              </a:rPr>
              <a:t>H</a:t>
            </a:r>
            <a:r>
              <a:rPr lang="en-US" altLang="zh-CN" sz="3200" b="1">
                <a:ea typeface="黑体" panose="02010609060101010101" pitchFamily="49" charset="-122"/>
              </a:rPr>
              <a:t>(</a:t>
            </a:r>
            <a:r>
              <a:rPr lang="en-US" altLang="zh-CN" sz="3200" b="1" i="1">
                <a:ea typeface="黑体" panose="02010609060101010101" pitchFamily="49" charset="-122"/>
              </a:rPr>
              <a:t>z</a:t>
            </a:r>
            <a:r>
              <a:rPr lang="en-US" altLang="zh-CN" sz="3200" b="1">
                <a:ea typeface="黑体" panose="02010609060101010101" pitchFamily="49" charset="-122"/>
              </a:rPr>
              <a:t>)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的零点分布特性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4292600" y="151685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是单位圆上的实零点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11088"/>
              </p:ext>
            </p:extLst>
          </p:nvPr>
        </p:nvGraphicFramePr>
        <p:xfrm>
          <a:off x="2367510" y="1497550"/>
          <a:ext cx="16573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6673" imgH="626577" progId="Equation.DSMT4">
                  <p:embed/>
                </p:oleObj>
              </mc:Choice>
              <mc:Fallback>
                <p:oleObj name="Equation" r:id="rId4" imgW="1656673" imgH="62657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7510" y="1497550"/>
                        <a:ext cx="1657350" cy="627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145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8" grpId="0" autoUpdateAnimBg="0"/>
      <p:bldP spid="2458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如果系统的单位脉冲响应为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第几类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，分析频响曲线？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667522"/>
              </p:ext>
            </p:extLst>
          </p:nvPr>
        </p:nvGraphicFramePr>
        <p:xfrm>
          <a:off x="1442720" y="2492630"/>
          <a:ext cx="12192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30" imgH="533169" progId="Equation.3">
                  <p:embed/>
                </p:oleObj>
              </mc:Choice>
              <mc:Fallback>
                <p:oleObj name="Equation" r:id="rId2" imgW="622030" imgH="533169" progId="Equation.3">
                  <p:embed/>
                  <p:pic>
                    <p:nvPicPr>
                      <p:cNvPr id="172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720" y="2492630"/>
                        <a:ext cx="121920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813686" y="2457705"/>
            <a:ext cx="10775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0≤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≤4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733041" y="3067305"/>
            <a:ext cx="10518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其他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</a:p>
        </p:txBody>
      </p:sp>
      <p:sp>
        <p:nvSpPr>
          <p:cNvPr id="8" name="矩形 7"/>
          <p:cNvSpPr/>
          <p:nvPr/>
        </p:nvSpPr>
        <p:spPr>
          <a:xfrm>
            <a:off x="510360" y="2724587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zh-CN" altLang="en-US" sz="2800" dirty="0"/>
          </a:p>
        </p:txBody>
      </p:sp>
      <p:grpSp>
        <p:nvGrpSpPr>
          <p:cNvPr id="9" name="Group 1032"/>
          <p:cNvGrpSpPr>
            <a:grpSpLocks/>
          </p:cNvGrpSpPr>
          <p:nvPr/>
        </p:nvGrpSpPr>
        <p:grpSpPr bwMode="auto">
          <a:xfrm>
            <a:off x="5338065" y="2475992"/>
            <a:ext cx="2395257" cy="1009650"/>
            <a:chOff x="2016" y="768"/>
            <a:chExt cx="1710" cy="699"/>
          </a:xfrm>
        </p:grpSpPr>
        <p:graphicFrame>
          <p:nvGraphicFramePr>
            <p:cNvPr id="10" name="Object 1029"/>
            <p:cNvGraphicFramePr>
              <a:graphicFrameLocks noChangeAspect="1"/>
            </p:cNvGraphicFramePr>
            <p:nvPr/>
          </p:nvGraphicFramePr>
          <p:xfrm>
            <a:off x="2016" y="768"/>
            <a:ext cx="816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22030" imgH="533169" progId="Equation.3">
                    <p:embed/>
                  </p:oleObj>
                </mc:Choice>
                <mc:Fallback>
                  <p:oleObj name="Equation" r:id="rId4" imgW="622030" imgH="533169" progId="Equation.3">
                    <p:embed/>
                    <p:pic>
                      <p:nvPicPr>
                        <p:cNvPr id="173065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768"/>
                          <a:ext cx="816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030"/>
            <p:cNvSpPr txBox="1">
              <a:spLocks noChangeArrowheads="1"/>
            </p:cNvSpPr>
            <p:nvPr/>
          </p:nvSpPr>
          <p:spPr bwMode="auto">
            <a:xfrm>
              <a:off x="3062" y="768"/>
              <a:ext cx="664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0≤</a:t>
              </a: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≤5 </a:t>
              </a:r>
            </a:p>
          </p:txBody>
        </p:sp>
        <p:sp>
          <p:nvSpPr>
            <p:cNvPr id="12" name="Text Box 1031"/>
            <p:cNvSpPr txBox="1">
              <a:spLocks noChangeArrowheads="1"/>
            </p:cNvSpPr>
            <p:nvPr/>
          </p:nvSpPr>
          <p:spPr bwMode="auto">
            <a:xfrm>
              <a:off x="3056" y="1152"/>
              <a:ext cx="648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其他</a:t>
              </a: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4406747" y="2753307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CN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1442720" y="4060302"/>
            <a:ext cx="25928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)-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-2)</a:t>
            </a:r>
            <a:endParaRPr lang="zh-CN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441272" y="4048781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5385394" y="4198723"/>
            <a:ext cx="27304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)-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-1)</a:t>
            </a:r>
            <a:endParaRPr lang="zh-CN" altLang="en-US" sz="2800" dirty="0"/>
          </a:p>
        </p:txBody>
      </p:sp>
      <p:sp>
        <p:nvSpPr>
          <p:cNvPr id="17" name="矩形 16"/>
          <p:cNvSpPr/>
          <p:nvPr/>
        </p:nvSpPr>
        <p:spPr>
          <a:xfrm>
            <a:off x="4406747" y="4124943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4661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203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122C279-2F49-4AA4-8FAE-F7469A91C047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1981200" y="1443038"/>
            <a:ext cx="6705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1 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如果系统的单位脉冲响应为 </a:t>
            </a:r>
          </a:p>
        </p:txBody>
      </p:sp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4267200" y="1939926"/>
          <a:ext cx="12192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30" imgH="533169" progId="Equation.3">
                  <p:embed/>
                </p:oleObj>
              </mc:Choice>
              <mc:Fallback>
                <p:oleObj name="Equation" r:id="rId2" imgW="622030" imgH="533169" progId="Equation.3">
                  <p:embed/>
                  <p:pic>
                    <p:nvPicPr>
                      <p:cNvPr id="172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39926"/>
                        <a:ext cx="121920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8" name="Text Box 6"/>
          <p:cNvSpPr txBox="1">
            <a:spLocks noChangeArrowheads="1"/>
          </p:cNvSpPr>
          <p:nvPr/>
        </p:nvSpPr>
        <p:spPr bwMode="auto">
          <a:xfrm>
            <a:off x="6308726" y="1905001"/>
            <a:ext cx="10775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0≤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≤4 </a:t>
            </a:r>
          </a:p>
        </p:txBody>
      </p:sp>
      <p:sp>
        <p:nvSpPr>
          <p:cNvPr id="172039" name="Text Box 7"/>
          <p:cNvSpPr txBox="1">
            <a:spLocks noChangeArrowheads="1"/>
          </p:cNvSpPr>
          <p:nvPr/>
        </p:nvSpPr>
        <p:spPr bwMode="auto">
          <a:xfrm>
            <a:off x="6248401" y="2514601"/>
            <a:ext cx="10518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其他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</a:p>
        </p:txBody>
      </p:sp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1752600" y="3048000"/>
            <a:ext cx="8686800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这是第一种类型的线性相位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数字滤波器。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该系统的频率响应为 </a:t>
            </a:r>
          </a:p>
        </p:txBody>
      </p:sp>
      <p:graphicFrame>
        <p:nvGraphicFramePr>
          <p:cNvPr id="172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93487"/>
              </p:ext>
            </p:extLst>
          </p:nvPr>
        </p:nvGraphicFramePr>
        <p:xfrm>
          <a:off x="2392363" y="4281488"/>
          <a:ext cx="3201987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749160" progId="Equation.DSMT4">
                  <p:embed/>
                </p:oleObj>
              </mc:Choice>
              <mc:Fallback>
                <p:oleObj name="Equation" r:id="rId4" imgW="1511280" imgH="749160" progId="Equation.DSMT4">
                  <p:embed/>
                  <p:pic>
                    <p:nvPicPr>
                      <p:cNvPr id="1720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4281488"/>
                        <a:ext cx="3201987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2042" name="Picture 1031" descr="6-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1752601"/>
            <a:ext cx="3146425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977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30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4BFF668-5D7F-4417-A370-5A9C3FD9C55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3060" name="Text Box 1028"/>
          <p:cNvSpPr txBox="1">
            <a:spLocks noChangeArrowheads="1"/>
          </p:cNvSpPr>
          <p:nvPr/>
        </p:nvSpPr>
        <p:spPr bwMode="auto">
          <a:xfrm>
            <a:off x="1965326" y="1565275"/>
            <a:ext cx="34718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系统的单位脉冲响应为 </a:t>
            </a:r>
          </a:p>
        </p:txBody>
      </p:sp>
      <p:grpSp>
        <p:nvGrpSpPr>
          <p:cNvPr id="173061" name="Group 1032"/>
          <p:cNvGrpSpPr>
            <a:grpSpLocks/>
          </p:cNvGrpSpPr>
          <p:nvPr/>
        </p:nvGrpSpPr>
        <p:grpSpPr bwMode="auto">
          <a:xfrm>
            <a:off x="3810001" y="2057400"/>
            <a:ext cx="2395257" cy="1009650"/>
            <a:chOff x="2016" y="768"/>
            <a:chExt cx="1710" cy="699"/>
          </a:xfrm>
        </p:grpSpPr>
        <p:graphicFrame>
          <p:nvGraphicFramePr>
            <p:cNvPr id="173065" name="Object 1029"/>
            <p:cNvGraphicFramePr>
              <a:graphicFrameLocks noChangeAspect="1"/>
            </p:cNvGraphicFramePr>
            <p:nvPr/>
          </p:nvGraphicFramePr>
          <p:xfrm>
            <a:off x="2016" y="768"/>
            <a:ext cx="816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2030" imgH="533169" progId="Equation.3">
                    <p:embed/>
                  </p:oleObj>
                </mc:Choice>
                <mc:Fallback>
                  <p:oleObj name="Equation" r:id="rId2" imgW="622030" imgH="533169" progId="Equation.3">
                    <p:embed/>
                    <p:pic>
                      <p:nvPicPr>
                        <p:cNvPr id="173065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768"/>
                          <a:ext cx="816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066" name="Text Box 1030"/>
            <p:cNvSpPr txBox="1">
              <a:spLocks noChangeArrowheads="1"/>
            </p:cNvSpPr>
            <p:nvPr/>
          </p:nvSpPr>
          <p:spPr bwMode="auto">
            <a:xfrm>
              <a:off x="3062" y="768"/>
              <a:ext cx="664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0≤</a:t>
              </a: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≤5 </a:t>
              </a:r>
            </a:p>
          </p:txBody>
        </p:sp>
        <p:sp>
          <p:nvSpPr>
            <p:cNvPr id="173067" name="Text Box 1031"/>
            <p:cNvSpPr txBox="1">
              <a:spLocks noChangeArrowheads="1"/>
            </p:cNvSpPr>
            <p:nvPr/>
          </p:nvSpPr>
          <p:spPr bwMode="auto">
            <a:xfrm>
              <a:off x="3056" y="1152"/>
              <a:ext cx="648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其他</a:t>
              </a: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73062" name="Text Box 1033"/>
          <p:cNvSpPr txBox="1">
            <a:spLocks noChangeArrowheads="1"/>
          </p:cNvSpPr>
          <p:nvPr/>
        </p:nvSpPr>
        <p:spPr bwMode="auto">
          <a:xfrm>
            <a:off x="1905000" y="3200401"/>
            <a:ext cx="47244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第二种类型的线性相位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数字滤波器。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该系统的频率响应为 </a:t>
            </a:r>
          </a:p>
        </p:txBody>
      </p:sp>
      <p:graphicFrame>
        <p:nvGraphicFramePr>
          <p:cNvPr id="173063" name="Object 1034"/>
          <p:cNvGraphicFramePr>
            <a:graphicFrameLocks noChangeAspect="1"/>
          </p:cNvGraphicFramePr>
          <p:nvPr/>
        </p:nvGraphicFramePr>
        <p:xfrm>
          <a:off x="3217864" y="4238625"/>
          <a:ext cx="1963737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087" imgH="1117115" progId="Equation.DSMT4">
                  <p:embed/>
                </p:oleObj>
              </mc:Choice>
              <mc:Fallback>
                <p:oleObj name="Equation" r:id="rId4" imgW="952087" imgH="1117115" progId="Equation.DSMT4">
                  <p:embed/>
                  <p:pic>
                    <p:nvPicPr>
                      <p:cNvPr id="173063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4" y="4238625"/>
                        <a:ext cx="1963737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3064" name="Picture 7" descr="6-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65288"/>
            <a:ext cx="28892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6769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408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ABD98C2-2216-45E2-BF9F-05465FCC751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752600" y="1341438"/>
            <a:ext cx="8686800" cy="167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系统的单位脉冲响应为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)-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-2)</a:t>
            </a: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这是第三种类型的线性相位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数字滤波器。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该系统的频率响应为 </a:t>
            </a:r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1905001" y="3398838"/>
          <a:ext cx="5095875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660400" progId="Equation.3">
                  <p:embed/>
                </p:oleObj>
              </mc:Choice>
              <mc:Fallback>
                <p:oleObj name="Equation" r:id="rId2" imgW="2692400" imgH="660400" progId="Equation.3">
                  <p:embed/>
                  <p:pic>
                    <p:nvPicPr>
                      <p:cNvPr id="174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3398838"/>
                        <a:ext cx="5095875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086" name="Picture 1031" descr="6-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1"/>
            <a:ext cx="264953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698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51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8D336C9-F978-42EE-A270-B8FBFB18361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108" name="Text Box 1028"/>
          <p:cNvSpPr txBox="1">
            <a:spLocks noChangeArrowheads="1"/>
          </p:cNvSpPr>
          <p:nvPr/>
        </p:nvSpPr>
        <p:spPr bwMode="auto">
          <a:xfrm>
            <a:off x="1752600" y="1295400"/>
            <a:ext cx="8686800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4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系统的单位脉冲响应为</a:t>
            </a:r>
          </a:p>
          <a:p>
            <a:pPr algn="ctr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)-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-1)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这是第四种类型的线性相位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数字滤波器。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该系统的频率响应为 </a:t>
            </a:r>
          </a:p>
        </p:txBody>
      </p:sp>
      <p:graphicFrame>
        <p:nvGraphicFramePr>
          <p:cNvPr id="175109" name="Object 1030"/>
          <p:cNvGraphicFramePr>
            <a:graphicFrameLocks noChangeAspect="1"/>
          </p:cNvGraphicFramePr>
          <p:nvPr/>
        </p:nvGraphicFramePr>
        <p:xfrm>
          <a:off x="2590800" y="3706814"/>
          <a:ext cx="2832100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812800" progId="Equation.DSMT4">
                  <p:embed/>
                </p:oleObj>
              </mc:Choice>
              <mc:Fallback>
                <p:oleObj name="Equation" r:id="rId3" imgW="1485900" imgH="812800" progId="Equation.DSMT4">
                  <p:embed/>
                  <p:pic>
                    <p:nvPicPr>
                      <p:cNvPr id="175109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706814"/>
                        <a:ext cx="2832100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5110" name="Picture 7" descr="6-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4" y="1752600"/>
            <a:ext cx="2617787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9565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[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5]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一个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线性相位滤波器的单位脉冲响应是实数的， 且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&lt;0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&gt;6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如果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(0)=1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且系统函数在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=0.5e</a:t>
            </a:r>
            <a:r>
              <a:rPr kumimoji="1"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jπ/3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=3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各有一个零点，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的表达式是什么？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433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613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26AB61B-3333-44F4-BB24-D05BAA7FA1A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1676400" y="1316038"/>
            <a:ext cx="87630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[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5]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一个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线性相位滤波器的单位脉冲响应是实数的， 且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&lt;0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&gt;6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如果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(0)=1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且系统函数在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=0.5e</a:t>
            </a:r>
            <a:r>
              <a:rPr kumimoji="1"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jπ/3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=3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各有一个零点，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的表达式是什么？</a:t>
            </a:r>
          </a:p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解 因为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&lt;0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&gt;6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，且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是实值，所以当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z=0.5e</a:t>
            </a:r>
            <a:r>
              <a:rPr kumimoji="1"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jπ/3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有一个复零点时，则在它的共轭位置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=0.5e</a:t>
            </a:r>
            <a:r>
              <a:rPr kumimoji="1"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-jπ/3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处一定有另一个零点。这个零点共轭对产生如下的二阶因子： </a:t>
            </a: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3429000" y="4267201"/>
            <a:ext cx="6051550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 =(1-0.5e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jπ/3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)(1-0.5e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-jπ/3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)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 =1-0.5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+0.25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-2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 </a:t>
            </a:r>
          </a:p>
        </p:txBody>
      </p:sp>
    </p:spTree>
    <p:extLst>
      <p:ext uri="{BB962C8B-B14F-4D97-AF65-F5344CB8AC3E}">
        <p14:creationId xmlns:p14="http://schemas.microsoft.com/office/powerpoint/2010/main" val="4016336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7.1 </a:t>
            </a:r>
            <a:r>
              <a:rPr lang="zh-CN" altLang="en-US">
                <a:ea typeface="宋体" panose="02010600030101010101" pitchFamily="2" charset="-122"/>
              </a:rPr>
              <a:t>线性相位</a:t>
            </a:r>
            <a:r>
              <a:rPr lang="en-US" altLang="zh-CN">
                <a:ea typeface="宋体" panose="02010600030101010101" pitchFamily="2" charset="-122"/>
              </a:rPr>
              <a:t>FIR</a:t>
            </a:r>
            <a:r>
              <a:rPr lang="zh-CN" altLang="en-US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7715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37F2BB6-9B38-4DEC-BA36-3C2D5C9FC42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156" name="Text Box 1028"/>
          <p:cNvSpPr txBox="1">
            <a:spLocks noChangeArrowheads="1"/>
          </p:cNvSpPr>
          <p:nvPr/>
        </p:nvSpPr>
        <p:spPr bwMode="auto">
          <a:xfrm>
            <a:off x="1752600" y="1371600"/>
            <a:ext cx="86868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线性相位的约束条件需要在这两个零点的倒数位置上有零点，所以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同样必须包括如下的有关因子： </a:t>
            </a:r>
          </a:p>
        </p:txBody>
      </p:sp>
      <p:graphicFrame>
        <p:nvGraphicFramePr>
          <p:cNvPr id="177157" name="Object 1029"/>
          <p:cNvGraphicFramePr>
            <a:graphicFrameLocks noChangeAspect="1"/>
          </p:cNvGraphicFramePr>
          <p:nvPr/>
        </p:nvGraphicFramePr>
        <p:xfrm>
          <a:off x="3810001" y="2362201"/>
          <a:ext cx="51530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700" imgH="533400" progId="Equation.3">
                  <p:embed/>
                </p:oleObj>
              </mc:Choice>
              <mc:Fallback>
                <p:oleObj name="Equation" r:id="rId2" imgW="2933700" imgH="533400" progId="Equation.3">
                  <p:embed/>
                  <p:pic>
                    <p:nvPicPr>
                      <p:cNvPr id="177157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2362201"/>
                        <a:ext cx="51530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8" name="Text Box 1030"/>
          <p:cNvSpPr txBox="1">
            <a:spLocks noChangeArrowheads="1"/>
          </p:cNvSpPr>
          <p:nvPr/>
        </p:nvSpPr>
        <p:spPr bwMode="auto">
          <a:xfrm>
            <a:off x="1752600" y="3352800"/>
            <a:ext cx="86868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系统函数还包含一个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=3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的零点，同样线性相位的约束条件需要在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z=1/3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也有一个零点。 于是，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还具有如下因子： </a:t>
            </a:r>
          </a:p>
        </p:txBody>
      </p:sp>
      <p:graphicFrame>
        <p:nvGraphicFramePr>
          <p:cNvPr id="177159" name="Object 1032"/>
          <p:cNvGraphicFramePr>
            <a:graphicFrameLocks noChangeAspect="1"/>
          </p:cNvGraphicFramePr>
          <p:nvPr/>
        </p:nvGraphicFramePr>
        <p:xfrm>
          <a:off x="4745039" y="4303714"/>
          <a:ext cx="28860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7200" imgH="431800" progId="Equation.3">
                  <p:embed/>
                </p:oleObj>
              </mc:Choice>
              <mc:Fallback>
                <p:oleObj name="Equation" r:id="rId4" imgW="1727200" imgH="431800" progId="Equation.3">
                  <p:embed/>
                  <p:pic>
                    <p:nvPicPr>
                      <p:cNvPr id="177159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9" y="4303714"/>
                        <a:ext cx="28860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0" name="Text Box 1028"/>
          <p:cNvSpPr txBox="1">
            <a:spLocks noChangeArrowheads="1"/>
          </p:cNvSpPr>
          <p:nvPr/>
        </p:nvSpPr>
        <p:spPr bwMode="auto">
          <a:xfrm>
            <a:off x="1936750" y="5029200"/>
            <a:ext cx="17970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由此，我们有 </a:t>
            </a:r>
          </a:p>
        </p:txBody>
      </p:sp>
      <p:graphicFrame>
        <p:nvGraphicFramePr>
          <p:cNvPr id="177161" name="Object 1029"/>
          <p:cNvGraphicFramePr>
            <a:graphicFrameLocks noChangeAspect="1"/>
          </p:cNvGraphicFramePr>
          <p:nvPr/>
        </p:nvGraphicFramePr>
        <p:xfrm>
          <a:off x="2527300" y="5486401"/>
          <a:ext cx="6540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13200" imgH="431800" progId="Equation.3">
                  <p:embed/>
                </p:oleObj>
              </mc:Choice>
              <mc:Fallback>
                <p:oleObj name="Equation" r:id="rId6" imgW="4013200" imgH="431800" progId="Equation.3">
                  <p:embed/>
                  <p:pic>
                    <p:nvPicPr>
                      <p:cNvPr id="17716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5486401"/>
                        <a:ext cx="65405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2" name="Text Box 1030"/>
          <p:cNvSpPr txBox="1">
            <a:spLocks noChangeArrowheads="1"/>
          </p:cNvSpPr>
          <p:nvPr/>
        </p:nvSpPr>
        <p:spPr bwMode="auto">
          <a:xfrm>
            <a:off x="1828801" y="6289675"/>
            <a:ext cx="75168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最后，多项式中零阶项的系数为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，为使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(0)=1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，必定有：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177163" name="AutoShape 103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0058400" y="9753600"/>
            <a:ext cx="609600" cy="3810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374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956</Words>
  <Application>Microsoft Office PowerPoint</Application>
  <PresentationFormat>宽屏</PresentationFormat>
  <Paragraphs>127</Paragraphs>
  <Slides>20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等线</vt:lpstr>
      <vt:lpstr>黑体</vt:lpstr>
      <vt:lpstr>宋体</vt:lpstr>
      <vt:lpstr>微软雅黑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icfp99</vt:lpstr>
      <vt:lpstr>Equation</vt:lpstr>
      <vt:lpstr>VISIO</vt:lpstr>
      <vt:lpstr>公式</vt:lpstr>
      <vt:lpstr>IIR滤波器</vt:lpstr>
      <vt:lpstr>复习</vt:lpstr>
      <vt:lpstr>问题</vt:lpstr>
      <vt:lpstr>窗函数不同按什么分类 </vt:lpstr>
      <vt:lpstr>7.1 线性相位FIR滤波器的特点 </vt:lpstr>
      <vt:lpstr>7.1 线性相位FIR滤波器的特点 </vt:lpstr>
      <vt:lpstr>7.1 线性相位FIR滤波器的特点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PowerPoint 演示文稿</vt:lpstr>
      <vt:lpstr>7.1 线性相位FIR滤波器的特点 </vt:lpstr>
      <vt:lpstr>7.1 线性相位FIR滤波器的特点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FIR数字滤波器的设计方法</dc:title>
  <dc:creator>Administrator</dc:creator>
  <cp:lastModifiedBy>Administrator</cp:lastModifiedBy>
  <cp:revision>35</cp:revision>
  <dcterms:created xsi:type="dcterms:W3CDTF">2020-08-06T07:38:52Z</dcterms:created>
  <dcterms:modified xsi:type="dcterms:W3CDTF">2023-12-22T02:35:39Z</dcterms:modified>
</cp:coreProperties>
</file>