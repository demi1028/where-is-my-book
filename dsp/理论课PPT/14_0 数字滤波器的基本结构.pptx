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97" r:id="rId2"/>
    <p:sldId id="298" r:id="rId3"/>
    <p:sldId id="299" r:id="rId4"/>
    <p:sldId id="300" r:id="rId5"/>
    <p:sldId id="301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5" r:id="rId17"/>
    <p:sldId id="29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5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2064D-F15F-4CF1-904E-4DE66A21A36E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68F6D-5E80-4552-8D71-F9EDCC205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87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9D9AA-3580-411E-BAF4-C34818F8FEA3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8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b="1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2E08E4-B8BF-4D3A-9C4F-54A4CEC7D2F3}" type="slidenum">
              <a:rPr kumimoji="0" lang="zh-CN" altLang="en-US" sz="1200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kumimoji="0" lang="zh-CN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865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973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54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71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302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674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13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10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95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03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969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4436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615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87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wmf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3476" y="2413000"/>
            <a:ext cx="4754563" cy="139065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zh-CN" altLang="en-US" sz="3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5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8" y="666222"/>
            <a:ext cx="2347912" cy="56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6" name="组合 9"/>
          <p:cNvGrpSpPr>
            <a:grpSpLocks noChangeAspect="1"/>
          </p:cNvGrpSpPr>
          <p:nvPr/>
        </p:nvGrpSpPr>
        <p:grpSpPr bwMode="auto">
          <a:xfrm>
            <a:off x="2114550" y="2501900"/>
            <a:ext cx="2147888" cy="1212850"/>
            <a:chOff x="3367821" y="2336603"/>
            <a:chExt cx="3846124" cy="2172237"/>
          </a:xfrm>
        </p:grpSpPr>
        <p:pic>
          <p:nvPicPr>
            <p:cNvPr id="3081" name="图片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1"/>
            <a:stretch>
              <a:fillRect/>
            </a:stretch>
          </p:blipFill>
          <p:spPr bwMode="auto">
            <a:xfrm>
              <a:off x="3367821" y="2337641"/>
              <a:ext cx="3846124" cy="2171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7" t="-273" r="15178" b="91664"/>
            <a:stretch>
              <a:fillRect/>
            </a:stretch>
          </p:blipFill>
          <p:spPr bwMode="auto">
            <a:xfrm>
              <a:off x="4279348" y="2336603"/>
              <a:ext cx="712760" cy="176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7" name="组合 5"/>
          <p:cNvGrpSpPr>
            <a:grpSpLocks/>
          </p:cNvGrpSpPr>
          <p:nvPr/>
        </p:nvGrpSpPr>
        <p:grpSpPr bwMode="auto">
          <a:xfrm>
            <a:off x="3776663" y="3184525"/>
            <a:ext cx="735012" cy="679450"/>
            <a:chOff x="4480943" y="4021832"/>
            <a:chExt cx="1035157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1499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80" name="文本框 1"/>
            <p:cNvSpPr txBox="1">
              <a:spLocks noChangeArrowheads="1"/>
            </p:cNvSpPr>
            <p:nvPr/>
          </p:nvSpPr>
          <p:spPr bwMode="auto">
            <a:xfrm>
              <a:off x="4511091" y="4218009"/>
              <a:ext cx="1005009" cy="63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14</a:t>
              </a:r>
              <a:r>
                <a:rPr kumimoji="1" lang="en-US" altLang="zh-CN" sz="2100" b="1" i="0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th</a:t>
              </a:r>
              <a:endParaRPr kumimoji="1" lang="en-US" altLang="zh-CN" sz="27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21426" y="3968750"/>
            <a:ext cx="2206625" cy="7429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吴超</a:t>
            </a:r>
            <a:endParaRPr kumimoji="0" lang="en-US" altLang="zh-CN" sz="2100" b="0" i="0" u="none" strike="noStrike" kern="1200" cap="none" spc="0" normalizeH="0" baseline="0" noProof="0">
              <a:ln>
                <a:noFill/>
              </a:ln>
              <a:solidFill>
                <a:srgbClr val="808080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 工 程 学 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67097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867834" y="1443567"/>
            <a:ext cx="10426700" cy="54144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1842030" y="656698"/>
            <a:ext cx="1311275" cy="439737"/>
          </a:xfrm>
        </p:spPr>
        <p:txBody>
          <a:bodyPr/>
          <a:lstStyle/>
          <a:p>
            <a:r>
              <a:rPr lang="zh-CN" altLang="en-US" sz="4000" dirty="0"/>
              <a:t>复习</a:t>
            </a:r>
          </a:p>
        </p:txBody>
      </p:sp>
      <p:sp>
        <p:nvSpPr>
          <p:cNvPr id="5124" name="Oval 1"/>
          <p:cNvSpPr txBox="1">
            <a:spLocks noChangeArrowheads="1"/>
          </p:cNvSpPr>
          <p:nvPr/>
        </p:nvSpPr>
        <p:spPr bwMode="auto">
          <a:xfrm>
            <a:off x="1406525" y="1443567"/>
            <a:ext cx="8761942" cy="540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57175" indent="-257175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线性相位</a:t>
            </a:r>
            <a:r>
              <a:rPr lang="en-US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滤波器特点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h(n)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对称情况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h(n)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线性相位滤波器分类</a:t>
            </a:r>
            <a:endParaRPr lang="en-US" altLang="zh-CN" sz="28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一类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,N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】-w(N-1)/2,0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l-GR" altLang="zh-CN" sz="2000" dirty="0" smtClean="0"/>
              <a:t> π</a:t>
            </a:r>
            <a:r>
              <a:rPr lang="en-US" altLang="zh-CN" sz="2000" dirty="0" smtClean="0"/>
              <a:t>-2</a:t>
            </a:r>
            <a:r>
              <a:rPr lang="el-GR" altLang="zh-CN" sz="2000" dirty="0"/>
              <a:t> </a:t>
            </a:r>
            <a:r>
              <a:rPr lang="el-GR" altLang="zh-CN" sz="2000" dirty="0" smtClean="0"/>
              <a:t>π</a:t>
            </a:r>
            <a:r>
              <a:rPr lang="zh-CN" altLang="en-US" sz="2000" dirty="0" smtClean="0"/>
              <a:t>偶对称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l-GR" altLang="zh-CN" sz="2000" dirty="0"/>
              <a:t> </a:t>
            </a:r>
            <a:r>
              <a:rPr lang="el-GR" altLang="zh-CN" sz="2000" dirty="0" smtClean="0"/>
              <a:t>π</a:t>
            </a:r>
            <a:r>
              <a:rPr lang="zh-CN" altLang="en-US" sz="2000" dirty="0" smtClean="0"/>
              <a:t>奇对称，不能高通和带阻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l-GR" altLang="zh-CN" sz="2000" dirty="0" smtClean="0"/>
              <a:t>π</a:t>
            </a:r>
            <a:r>
              <a:rPr lang="en-US" altLang="zh-CN" sz="2000" dirty="0" smtClean="0"/>
              <a:t>/2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-w(N-1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)/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</a:t>
            </a:r>
            <a:r>
              <a:rPr lang="el-GR" altLang="zh-CN" sz="2000" dirty="0" smtClean="0"/>
              <a:t> </a:t>
            </a:r>
            <a:r>
              <a:rPr lang="el-GR" altLang="zh-CN" sz="2000" dirty="0"/>
              <a:t>π</a:t>
            </a:r>
            <a:r>
              <a:rPr lang="en-US" altLang="zh-CN" sz="2000" dirty="0"/>
              <a:t>-2</a:t>
            </a:r>
            <a:r>
              <a:rPr lang="el-GR" altLang="zh-CN" sz="2000" dirty="0"/>
              <a:t> </a:t>
            </a:r>
            <a:r>
              <a:rPr lang="el-GR" altLang="zh-CN" sz="2000" dirty="0" smtClean="0"/>
              <a:t>π</a:t>
            </a:r>
            <a:r>
              <a:rPr lang="zh-CN" altLang="en-US" sz="2000" dirty="0" smtClean="0"/>
              <a:t>奇对称，只能带通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l-GR" altLang="zh-CN" sz="2000" dirty="0"/>
              <a:t> </a:t>
            </a:r>
            <a:r>
              <a:rPr lang="el-GR" altLang="zh-CN" sz="2000" dirty="0" smtClean="0"/>
              <a:t>π</a:t>
            </a:r>
            <a:r>
              <a:rPr lang="zh-CN" altLang="en-US" sz="2000" dirty="0"/>
              <a:t>偶</a:t>
            </a:r>
            <a:r>
              <a:rPr lang="zh-CN" altLang="en-US" sz="2000" dirty="0" smtClean="0"/>
              <a:t>对称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 smtClean="0"/>
              <a:t>-2</a:t>
            </a:r>
            <a:r>
              <a:rPr lang="el-GR" altLang="zh-CN" sz="2000" dirty="0" smtClean="0"/>
              <a:t> π</a:t>
            </a:r>
            <a:r>
              <a:rPr lang="zh-CN" altLang="en-US" sz="2000" dirty="0" smtClean="0"/>
              <a:t>奇对称，不能低通和带阻</a:t>
            </a:r>
            <a:endParaRPr lang="en-US" altLang="zh-CN" sz="2000" dirty="0" smtClean="0"/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线性相位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滤波器零点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3048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45732" y="457200"/>
            <a:ext cx="9533467" cy="914400"/>
          </a:xfrm>
        </p:spPr>
        <p:txBody>
          <a:bodyPr/>
          <a:lstStyle/>
          <a:p>
            <a:r>
              <a:rPr lang="zh-CN" altLang="en-US" dirty="0"/>
              <a:t>复习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H(w)-</a:t>
            </a:r>
            <a:r>
              <a:rPr lang="en-US" altLang="zh-CN" dirty="0" err="1" smtClean="0"/>
              <a:t>H</a:t>
            </a:r>
            <a:r>
              <a:rPr lang="en-US" altLang="zh-CN" sz="1800" dirty="0" err="1" smtClean="0"/>
              <a:t>k</a:t>
            </a:r>
            <a:endParaRPr lang="en-US" altLang="zh-CN" sz="1800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及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jω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的表达式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889013"/>
              </p:ext>
            </p:extLst>
          </p:nvPr>
        </p:nvGraphicFramePr>
        <p:xfrm>
          <a:off x="1996548" y="2417232"/>
          <a:ext cx="3426352" cy="1943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Equation" r:id="rId3" imgW="1701800" imgH="965200" progId="Equation.DSMT4">
                  <p:embed/>
                </p:oleObj>
              </mc:Choice>
              <mc:Fallback>
                <p:oleObj name="Equation" r:id="rId3" imgW="1701800" imgH="965200" progId="Equation.DSMT4">
                  <p:embed/>
                  <p:pic>
                    <p:nvPicPr>
                      <p:cNvPr id="19866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548" y="2417232"/>
                        <a:ext cx="3426352" cy="1943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04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H(w)-</a:t>
            </a:r>
            <a:r>
              <a:rPr lang="en-US" altLang="zh-CN" dirty="0" err="1" smtClean="0"/>
              <a:t>H</a:t>
            </a:r>
            <a:r>
              <a:rPr lang="en-US" altLang="zh-CN" sz="1800" dirty="0" err="1" smtClean="0"/>
              <a:t>k</a:t>
            </a:r>
            <a:endParaRPr lang="en-US" altLang="zh-CN" sz="1800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及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jω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的表达式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Object 1029"/>
          <p:cNvGraphicFramePr>
            <a:graphicFrameLocks noChangeAspect="1"/>
          </p:cNvGraphicFramePr>
          <p:nvPr/>
        </p:nvGraphicFramePr>
        <p:xfrm>
          <a:off x="1996548" y="2417232"/>
          <a:ext cx="3426352" cy="1943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Equation" r:id="rId3" imgW="1701800" imgH="965200" progId="Equation.DSMT4">
                  <p:embed/>
                </p:oleObj>
              </mc:Choice>
              <mc:Fallback>
                <p:oleObj name="Equation" r:id="rId3" imgW="1701800" imgH="965200" progId="Equation.DSMT4">
                  <p:embed/>
                  <p:pic>
                    <p:nvPicPr>
                      <p:cNvPr id="5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548" y="2417232"/>
                        <a:ext cx="3426352" cy="1943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164" y="457200"/>
            <a:ext cx="3027201" cy="160832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7192" y="2152930"/>
            <a:ext cx="2601343" cy="1657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0098" y="746374"/>
            <a:ext cx="2325244" cy="8947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365" y="2264832"/>
            <a:ext cx="2234871" cy="10244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4594" y="4384684"/>
            <a:ext cx="1422348" cy="2698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5703" y="4092594"/>
            <a:ext cx="2108122" cy="112390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5222" y="5424495"/>
            <a:ext cx="1581092" cy="4032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9353" y="5459997"/>
            <a:ext cx="2114472" cy="123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2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第一题：</a:t>
            </a:r>
            <a:r>
              <a:rPr lang="en-US" altLang="zh-CN" dirty="0" smtClean="0"/>
              <a:t>h(n</a:t>
            </a:r>
            <a:r>
              <a:rPr lang="en-US" altLang="zh-CN" dirty="0"/>
              <a:t>)-H(</a:t>
            </a:r>
            <a:r>
              <a:rPr lang="en-US" altLang="zh-CN" dirty="0" err="1"/>
              <a:t>exp</a:t>
            </a:r>
            <a:r>
              <a:rPr lang="en-US" altLang="zh-CN" dirty="0"/>
              <a:t>(</a:t>
            </a:r>
            <a:r>
              <a:rPr lang="en-US" altLang="zh-CN" dirty="0" err="1"/>
              <a:t>jw</a:t>
            </a:r>
            <a:r>
              <a:rPr lang="en-US" altLang="zh-CN" dirty="0"/>
              <a:t>)),</a:t>
            </a:r>
            <a:r>
              <a:rPr lang="zh-CN" altLang="en-US" dirty="0"/>
              <a:t>那么</a:t>
            </a:r>
            <a:r>
              <a:rPr lang="en-US" altLang="zh-CN" dirty="0" err="1"/>
              <a:t>exp</a:t>
            </a:r>
            <a:r>
              <a:rPr lang="en-US" altLang="zh-CN" dirty="0"/>
              <a:t>(</a:t>
            </a:r>
            <a:r>
              <a:rPr lang="en-US" altLang="zh-CN" dirty="0" err="1"/>
              <a:t>jw</a:t>
            </a:r>
            <a:r>
              <a:rPr lang="en-US" altLang="zh-CN" dirty="0"/>
              <a:t>(N-1)/2)H(</a:t>
            </a:r>
            <a:r>
              <a:rPr lang="en-US" altLang="zh-CN" dirty="0" err="1"/>
              <a:t>exp</a:t>
            </a:r>
            <a:r>
              <a:rPr lang="en-US" altLang="zh-CN" dirty="0"/>
              <a:t>(</a:t>
            </a:r>
            <a:r>
              <a:rPr lang="en-US" altLang="zh-CN" dirty="0" err="1"/>
              <a:t>jw</a:t>
            </a:r>
            <a:r>
              <a:rPr lang="en-US" altLang="zh-CN" dirty="0" smtClean="0"/>
              <a:t>))-</a:t>
            </a:r>
          </a:p>
          <a:p>
            <a:r>
              <a:rPr lang="zh-CN" altLang="en-US" dirty="0"/>
              <a:t>第二</a:t>
            </a:r>
            <a:r>
              <a:rPr lang="zh-CN" altLang="en-US" dirty="0" smtClean="0"/>
              <a:t>题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err="1" smtClean="0"/>
              <a:t>Hd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exp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jw</a:t>
            </a:r>
            <a:r>
              <a:rPr lang="en-US" altLang="zh-CN" dirty="0" smtClean="0"/>
              <a:t>))=</a:t>
            </a:r>
            <a:r>
              <a:rPr lang="en-US" altLang="zh-CN" dirty="0" err="1"/>
              <a:t>Hd</a:t>
            </a:r>
            <a:r>
              <a:rPr lang="en-US" altLang="zh-CN" dirty="0"/>
              <a:t>(</a:t>
            </a:r>
            <a:r>
              <a:rPr lang="en-US" altLang="zh-CN" dirty="0" err="1"/>
              <a:t>exp</a:t>
            </a:r>
            <a:r>
              <a:rPr lang="en-US" altLang="zh-CN" dirty="0"/>
              <a:t>(</a:t>
            </a:r>
            <a:r>
              <a:rPr lang="en-US" altLang="zh-CN" dirty="0" err="1"/>
              <a:t>jw</a:t>
            </a:r>
            <a:r>
              <a:rPr lang="en-US" altLang="zh-CN" dirty="0"/>
              <a:t>))</a:t>
            </a:r>
            <a:r>
              <a:rPr lang="en-US" altLang="zh-CN" dirty="0" err="1" smtClean="0"/>
              <a:t>exp</a:t>
            </a:r>
            <a:r>
              <a:rPr lang="en-US" altLang="zh-CN" dirty="0" smtClean="0"/>
              <a:t>(-</a:t>
            </a:r>
            <a:r>
              <a:rPr lang="en-US" altLang="zh-CN" dirty="0" err="1" smtClean="0"/>
              <a:t>jwa</a:t>
            </a:r>
            <a:r>
              <a:rPr lang="en-US" altLang="zh-CN" dirty="0" smtClean="0"/>
              <a:t>),</a:t>
            </a:r>
            <a:r>
              <a:rPr lang="zh-CN" altLang="en-US" dirty="0" smtClean="0"/>
              <a:t>求</a:t>
            </a:r>
            <a:r>
              <a:rPr lang="en-US" altLang="zh-CN" dirty="0" err="1" smtClean="0"/>
              <a:t>hd</a:t>
            </a:r>
            <a:r>
              <a:rPr lang="en-US" altLang="zh-CN" dirty="0" smtClean="0"/>
              <a:t>(n)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1550909" y="2405105"/>
            <a:ext cx="3896170" cy="1174936"/>
            <a:chOff x="1679" y="3032"/>
            <a:chExt cx="2997" cy="712"/>
          </a:xfrm>
        </p:grpSpPr>
        <p:graphicFrame>
          <p:nvGraphicFramePr>
            <p:cNvPr id="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9930142"/>
                </p:ext>
              </p:extLst>
            </p:nvPr>
          </p:nvGraphicFramePr>
          <p:xfrm>
            <a:off x="1679" y="3076"/>
            <a:ext cx="1175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2" name="Equation" r:id="rId3" imgW="838080" imgH="457200" progId="Equation.DSMT4">
                    <p:embed/>
                  </p:oleObj>
                </mc:Choice>
                <mc:Fallback>
                  <p:oleObj name="Equation" r:id="rId3" imgW="838080" imgH="457200" progId="Equation.DSMT4">
                    <p:embed/>
                    <p:pic>
                      <p:nvPicPr>
                        <p:cNvPr id="17920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9" y="3076"/>
                          <a:ext cx="1175" cy="6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603" y="3032"/>
              <a:ext cx="8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|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|≤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3565" y="3464"/>
              <a:ext cx="1111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&lt;|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|≤π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0035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2390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</a:t>
            </a:r>
            <a:r>
              <a:rPr lang="en-US" altLang="zh-CN" dirty="0" smtClean="0">
                <a:ea typeface="宋体" panose="02010600030101010101" pitchFamily="2" charset="-122"/>
              </a:rPr>
              <a:t>4</a:t>
            </a:r>
            <a:r>
              <a:rPr lang="zh-CN" altLang="en-US" dirty="0" smtClean="0">
                <a:ea typeface="宋体" panose="02010600030101010101" pitchFamily="2" charset="-122"/>
              </a:rPr>
              <a:t>章 数字滤波器的基本结构</a:t>
            </a:r>
          </a:p>
        </p:txBody>
      </p:sp>
      <p:sp>
        <p:nvSpPr>
          <p:cNvPr id="10547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BC1DDDF-32CB-4357-8586-554C416CB3B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2178050" y="2341564"/>
            <a:ext cx="5441950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如果系统输入、输出服从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阶差分方程 </a:t>
            </a:r>
          </a:p>
        </p:txBody>
      </p:sp>
      <p:pic>
        <p:nvPicPr>
          <p:cNvPr id="105477" name="图片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3097722"/>
            <a:ext cx="3789362" cy="77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5478" name="Text Box 7"/>
          <p:cNvSpPr txBox="1">
            <a:spLocks noChangeArrowheads="1"/>
          </p:cNvSpPr>
          <p:nvPr/>
        </p:nvSpPr>
        <p:spPr bwMode="auto">
          <a:xfrm>
            <a:off x="2222500" y="4248150"/>
            <a:ext cx="46355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则其系统函数，即滤波器的传递函数为 </a:t>
            </a:r>
          </a:p>
        </p:txBody>
      </p:sp>
      <p:pic>
        <p:nvPicPr>
          <p:cNvPr id="105479" name="图片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9" y="4872038"/>
            <a:ext cx="2028825" cy="1427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5480" name="Text Box 4"/>
          <p:cNvSpPr txBox="1">
            <a:spLocks noChangeArrowheads="1"/>
          </p:cNvSpPr>
          <p:nvPr/>
        </p:nvSpPr>
        <p:spPr bwMode="auto">
          <a:xfrm>
            <a:off x="1981200" y="1595438"/>
            <a:ext cx="5054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4.1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数字滤波器类型及结构表示方法 </a:t>
            </a:r>
          </a:p>
        </p:txBody>
      </p:sp>
    </p:spTree>
    <p:extLst>
      <p:ext uri="{BB962C8B-B14F-4D97-AF65-F5344CB8AC3E}">
        <p14:creationId xmlns:p14="http://schemas.microsoft.com/office/powerpoint/2010/main" val="2030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4.1 </a:t>
            </a:r>
            <a:r>
              <a:rPr lang="zh-CN" altLang="en-US" smtClean="0">
                <a:ea typeface="宋体" panose="02010600030101010101" pitchFamily="2" charset="-122"/>
              </a:rPr>
              <a:t>数字滤波器类型及结构表示方法 </a:t>
            </a:r>
          </a:p>
        </p:txBody>
      </p:sp>
      <p:sp>
        <p:nvSpPr>
          <p:cNvPr id="10649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FDF1915-60F8-40D4-88A8-5DA0B94FDF39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2133600" y="2036764"/>
            <a:ext cx="6934200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例如： </a:t>
            </a:r>
          </a:p>
        </p:txBody>
      </p:sp>
      <p:pic>
        <p:nvPicPr>
          <p:cNvPr id="106501" name="图片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25" y="2732088"/>
            <a:ext cx="4406900" cy="153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6502" name="Text Box 7"/>
          <p:cNvSpPr txBox="1">
            <a:spLocks noChangeArrowheads="1"/>
          </p:cNvSpPr>
          <p:nvPr/>
        </p:nvSpPr>
        <p:spPr bwMode="auto">
          <a:xfrm>
            <a:off x="1905000" y="4837114"/>
            <a:ext cx="7696200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　三种基本的运算单元：乘法器、加法器和单位延时器来实现。</a:t>
            </a:r>
          </a:p>
        </p:txBody>
      </p:sp>
    </p:spTree>
    <p:extLst>
      <p:ext uri="{BB962C8B-B14F-4D97-AF65-F5344CB8AC3E}">
        <p14:creationId xmlns:p14="http://schemas.microsoft.com/office/powerpoint/2010/main" val="72304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4.1 </a:t>
            </a:r>
            <a:r>
              <a:rPr lang="zh-CN" altLang="en-US" smtClean="0">
                <a:ea typeface="宋体" panose="02010600030101010101" pitchFamily="2" charset="-122"/>
              </a:rPr>
              <a:t>数字滤波器类型及结构表示方法 </a:t>
            </a:r>
          </a:p>
        </p:txBody>
      </p:sp>
      <p:sp>
        <p:nvSpPr>
          <p:cNvPr id="10752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73BE164-F248-4383-9632-C9273AB9FB7C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4027488" y="5810250"/>
            <a:ext cx="33639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图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4-1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三种基本运算的流图 </a:t>
            </a:r>
          </a:p>
        </p:txBody>
      </p:sp>
      <p:pic>
        <p:nvPicPr>
          <p:cNvPr id="107525" name="Picture 8" descr="4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2000250"/>
            <a:ext cx="57150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2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4.2  IIR</a:t>
            </a:r>
            <a:r>
              <a:rPr lang="zh-CN" altLang="en-US" smtClean="0">
                <a:ea typeface="宋体" panose="02010600030101010101" pitchFamily="2" charset="-122"/>
              </a:rPr>
              <a:t>滤波器的结构</a:t>
            </a:r>
          </a:p>
        </p:txBody>
      </p:sp>
      <p:sp>
        <p:nvSpPr>
          <p:cNvPr id="10854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FFE5BD3-4E8E-46CF-8B15-9750B085E62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8" name="Text Box 5"/>
          <p:cNvSpPr txBox="1">
            <a:spLocks noChangeArrowheads="1"/>
          </p:cNvSpPr>
          <p:nvPr/>
        </p:nvSpPr>
        <p:spPr bwMode="auto">
          <a:xfrm>
            <a:off x="1905000" y="1524001"/>
            <a:ext cx="86106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直接型（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Ⅰ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型）</a:t>
            </a:r>
          </a:p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一个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阶的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IIR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滤波器的输入输出关系可以用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阶的差分方程来描述。</a:t>
            </a:r>
          </a:p>
        </p:txBody>
      </p:sp>
      <p:sp>
        <p:nvSpPr>
          <p:cNvPr id="108550" name="Text Box 4"/>
          <p:cNvSpPr txBox="1">
            <a:spLocks noChangeArrowheads="1"/>
          </p:cNvSpPr>
          <p:nvPr/>
        </p:nvSpPr>
        <p:spPr bwMode="auto">
          <a:xfrm>
            <a:off x="4572001" y="6305550"/>
            <a:ext cx="25892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图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4-2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直接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Ⅰ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型结构 </a:t>
            </a:r>
          </a:p>
        </p:txBody>
      </p:sp>
      <p:pic>
        <p:nvPicPr>
          <p:cNvPr id="108551" name="Picture 7" descr="4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600450"/>
            <a:ext cx="57150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16441"/>
              </p:ext>
            </p:extLst>
          </p:nvPr>
        </p:nvGraphicFramePr>
        <p:xfrm>
          <a:off x="3754582" y="2619376"/>
          <a:ext cx="4086215" cy="828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4" imgW="1816100" imgH="368300" progId="Equation.DSMT4">
                  <p:embed/>
                </p:oleObj>
              </mc:Choice>
              <mc:Fallback>
                <p:oleObj name="Equation" r:id="rId4" imgW="1816100" imgH="368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582" y="2619376"/>
                        <a:ext cx="4086215" cy="828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729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09600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一、</a:t>
            </a:r>
            <a:r>
              <a:rPr lang="en-US" altLang="zh-CN">
                <a:latin typeface="宋体" panose="02010600030101010101" pitchFamily="2" charset="-122"/>
              </a:rPr>
              <a:t>IIR</a:t>
            </a:r>
            <a:r>
              <a:rPr lang="zh-CN" altLang="en-US">
                <a:latin typeface="宋体" panose="02010600030101010101" pitchFamily="2" charset="-122"/>
              </a:rPr>
              <a:t>数字滤波器的直接型结构</a:t>
            </a:r>
          </a:p>
        </p:txBody>
      </p:sp>
      <p:sp>
        <p:nvSpPr>
          <p:cNvPr id="28675" name="AutoShape 3"/>
          <p:cNvSpPr>
            <a:spLocks noChangeArrowheads="1"/>
          </p:cNvSpPr>
          <p:nvPr/>
        </p:nvSpPr>
        <p:spPr bwMode="auto">
          <a:xfrm>
            <a:off x="5715000" y="2122488"/>
            <a:ext cx="1295400" cy="1143000"/>
          </a:xfrm>
          <a:prstGeom prst="wedgeRoundRectCallout">
            <a:avLst>
              <a:gd name="adj1" fmla="val -14338"/>
              <a:gd name="adj2" fmla="val 8097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28676" name="AutoShape 4"/>
          <p:cNvSpPr>
            <a:spLocks noChangeArrowheads="1"/>
          </p:cNvSpPr>
          <p:nvPr/>
        </p:nvSpPr>
        <p:spPr bwMode="auto">
          <a:xfrm>
            <a:off x="7086600" y="2046288"/>
            <a:ext cx="2057400" cy="1905000"/>
          </a:xfrm>
          <a:prstGeom prst="wedgeRoundRectCallout">
            <a:avLst>
              <a:gd name="adj1" fmla="val 84028"/>
              <a:gd name="adj2" fmla="val -41833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258112"/>
              </p:ext>
            </p:extLst>
          </p:nvPr>
        </p:nvGraphicFramePr>
        <p:xfrm>
          <a:off x="2057401" y="1524001"/>
          <a:ext cx="3236913" cy="231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4" name="Equation" r:id="rId3" imgW="1295280" imgH="927000" progId="Equation.DSMT4">
                  <p:embed/>
                </p:oleObj>
              </mc:Choice>
              <mc:Fallback>
                <p:oleObj name="Equation" r:id="rId3" imgW="1295280" imgH="927000" progId="Equation.DSMT4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1524001"/>
                        <a:ext cx="3236913" cy="231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5449888" y="2206626"/>
          <a:ext cx="3617912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5" name="公式" r:id="rId5" imgW="1447560" imgH="698400" progId="Equation.3">
                  <p:embed/>
                </p:oleObj>
              </mc:Choice>
              <mc:Fallback>
                <p:oleObj name="公式" r:id="rId5" imgW="1447560" imgH="698400" progId="Equation.3">
                  <p:embed/>
                  <p:pic>
                    <p:nvPicPr>
                      <p:cNvPr id="28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2206626"/>
                        <a:ext cx="3617912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506138"/>
              </p:ext>
            </p:extLst>
          </p:nvPr>
        </p:nvGraphicFramePr>
        <p:xfrm>
          <a:off x="2854325" y="4914900"/>
          <a:ext cx="6446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6" name="Equation" r:id="rId7" imgW="2577960" imgH="228600" progId="Equation.DSMT4">
                  <p:embed/>
                </p:oleObj>
              </mc:Choice>
              <mc:Fallback>
                <p:oleObj name="Equation" r:id="rId7" imgW="2577960" imgH="228600" progId="Equation.DSMT4">
                  <p:embed/>
                  <p:pic>
                    <p:nvPicPr>
                      <p:cNvPr id="286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4914900"/>
                        <a:ext cx="6446838" cy="5715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4648200" y="3657600"/>
          <a:ext cx="22860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7" name="公式" r:id="rId9" imgW="914400" imgH="419040" progId="Equation.3">
                  <p:embed/>
                </p:oleObj>
              </mc:Choice>
              <mc:Fallback>
                <p:oleObj name="公式" r:id="rId9" imgW="914400" imgH="419040" progId="Equation.3">
                  <p:embed/>
                  <p:pic>
                    <p:nvPicPr>
                      <p:cNvPr id="286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657600"/>
                        <a:ext cx="22860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063584"/>
              </p:ext>
            </p:extLst>
          </p:nvPr>
        </p:nvGraphicFramePr>
        <p:xfrm>
          <a:off x="9144000" y="1381125"/>
          <a:ext cx="23495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8" name="公式" r:id="rId11" imgW="939600" imgH="419040" progId="Equation.3">
                  <p:embed/>
                </p:oleObj>
              </mc:Choice>
              <mc:Fallback>
                <p:oleObj name="公式" r:id="rId11" imgW="939600" imgH="419040" progId="Equation.3">
                  <p:embed/>
                  <p:pic>
                    <p:nvPicPr>
                      <p:cNvPr id="286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1381125"/>
                        <a:ext cx="23495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190547"/>
              </p:ext>
            </p:extLst>
          </p:nvPr>
        </p:nvGraphicFramePr>
        <p:xfrm>
          <a:off x="2076450" y="5753100"/>
          <a:ext cx="80025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9" name="Equation" r:id="rId13" imgW="3200400" imgH="228600" progId="Equation.DSMT4">
                  <p:embed/>
                </p:oleObj>
              </mc:Choice>
              <mc:Fallback>
                <p:oleObj name="Equation" r:id="rId13" imgW="3200400" imgH="228600" progId="Equation.DSMT4">
                  <p:embed/>
                  <p:pic>
                    <p:nvPicPr>
                      <p:cNvPr id="286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5753100"/>
                        <a:ext cx="8002588" cy="5715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093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nimBg="1" autoUpdateAnimBg="0"/>
      <p:bldP spid="2867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3810000" y="5588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直接 </a:t>
            </a:r>
            <a:r>
              <a:rPr lang="en-US" altLang="zh-CN" sz="2800" b="1" dirty="0"/>
              <a:t>I </a:t>
            </a:r>
            <a:r>
              <a:rPr lang="zh-CN" altLang="en-US" sz="2800" b="1" dirty="0"/>
              <a:t>型结构</a:t>
            </a:r>
          </a:p>
        </p:txBody>
      </p:sp>
      <p:graphicFrame>
        <p:nvGraphicFramePr>
          <p:cNvPr id="2150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622488"/>
              </p:ext>
            </p:extLst>
          </p:nvPr>
        </p:nvGraphicFramePr>
        <p:xfrm>
          <a:off x="4240213" y="1639888"/>
          <a:ext cx="5270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name="Equation" r:id="rId3" imgW="2108160" imgH="190440" progId="Equation.DSMT4">
                  <p:embed/>
                </p:oleObj>
              </mc:Choice>
              <mc:Fallback>
                <p:oleObj name="Equation" r:id="rId3" imgW="2108160" imgH="190440" progId="Equation.DSMT4">
                  <p:embed/>
                  <p:pic>
                    <p:nvPicPr>
                      <p:cNvPr id="215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1639888"/>
                        <a:ext cx="52705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272446"/>
              </p:ext>
            </p:extLst>
          </p:nvPr>
        </p:nvGraphicFramePr>
        <p:xfrm>
          <a:off x="2824163" y="2257425"/>
          <a:ext cx="66055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name="Equation" r:id="rId5" imgW="2641320" imgH="190440" progId="Equation.DSMT4">
                  <p:embed/>
                </p:oleObj>
              </mc:Choice>
              <mc:Fallback>
                <p:oleObj name="Equation" r:id="rId5" imgW="2641320" imgH="190440" progId="Equation.DSMT4">
                  <p:embed/>
                  <p:pic>
                    <p:nvPicPr>
                      <p:cNvPr id="2151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2257425"/>
                        <a:ext cx="66055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" name="Text Box 105"/>
          <p:cNvSpPr txBox="1">
            <a:spLocks noChangeArrowheads="1"/>
          </p:cNvSpPr>
          <p:nvPr/>
        </p:nvSpPr>
        <p:spPr bwMode="auto">
          <a:xfrm>
            <a:off x="1905000" y="1553635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设</a:t>
            </a:r>
            <a:r>
              <a:rPr lang="en-US" altLang="zh-CN" sz="2800" i="1"/>
              <a:t>M</a:t>
            </a:r>
            <a:r>
              <a:rPr lang="en-US" altLang="zh-CN" sz="2800"/>
              <a:t>=</a:t>
            </a:r>
            <a:r>
              <a:rPr lang="en-US" altLang="zh-CN" sz="2800" i="1"/>
              <a:t>N</a:t>
            </a:r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2874962"/>
            <a:ext cx="8681720" cy="544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6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4.2  IIR</a:t>
            </a:r>
            <a:r>
              <a:rPr lang="zh-CN" altLang="en-US" smtClean="0">
                <a:ea typeface="宋体" panose="02010600030101010101" pitchFamily="2" charset="-122"/>
              </a:rPr>
              <a:t>滤波器的结构</a:t>
            </a:r>
          </a:p>
        </p:txBody>
      </p:sp>
      <p:sp>
        <p:nvSpPr>
          <p:cNvPr id="10957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AF2B27F-5451-45CE-B673-12EC8150199F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1981200" y="1419226"/>
            <a:ext cx="74676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直接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Ⅱ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型</a:t>
            </a:r>
          </a:p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直接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Ⅱ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型结构又称为正准型结构。</a:t>
            </a:r>
          </a:p>
        </p:txBody>
      </p:sp>
      <p:pic>
        <p:nvPicPr>
          <p:cNvPr id="109573" name="图片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14" y="1524000"/>
            <a:ext cx="2185987" cy="200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9574" name="Text Box 4"/>
          <p:cNvSpPr txBox="1">
            <a:spLocks noChangeArrowheads="1"/>
          </p:cNvSpPr>
          <p:nvPr/>
        </p:nvSpPr>
        <p:spPr bwMode="auto">
          <a:xfrm>
            <a:off x="3009901" y="6076950"/>
            <a:ext cx="32988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图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4-3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直接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Ⅰ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型的变形结构 </a:t>
            </a:r>
          </a:p>
        </p:txBody>
      </p:sp>
      <p:pic>
        <p:nvPicPr>
          <p:cNvPr id="109575" name="Picture 7" descr="4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305176"/>
            <a:ext cx="571500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367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4.2  IIR</a:t>
            </a:r>
            <a:r>
              <a:rPr lang="zh-CN" altLang="en-US" smtClean="0">
                <a:ea typeface="宋体" panose="02010600030101010101" pitchFamily="2" charset="-122"/>
              </a:rPr>
              <a:t>滤波器的结构</a:t>
            </a:r>
          </a:p>
        </p:txBody>
      </p:sp>
      <p:sp>
        <p:nvSpPr>
          <p:cNvPr id="1105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6AD277E-3594-460C-9D0B-37527330CF8D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3762108" y="5320395"/>
            <a:ext cx="25257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图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4-4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直接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Ⅱ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型结构 </a:t>
            </a:r>
          </a:p>
        </p:txBody>
      </p:sp>
      <p:pic>
        <p:nvPicPr>
          <p:cNvPr id="110597" name="Picture 7" descr="4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215" y="1759132"/>
            <a:ext cx="57150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024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72400" cy="838200"/>
          </a:xfrm>
        </p:spPr>
        <p:txBody>
          <a:bodyPr/>
          <a:lstStyle/>
          <a:p>
            <a:r>
              <a:rPr lang="zh-CN" altLang="en-US" dirty="0"/>
              <a:t>转置直接 </a:t>
            </a:r>
            <a:r>
              <a:rPr lang="en-US" altLang="zh-CN" dirty="0"/>
              <a:t>II </a:t>
            </a:r>
            <a:r>
              <a:rPr lang="zh-CN" altLang="en-US" dirty="0"/>
              <a:t>型结构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0" y="1696612"/>
            <a:ext cx="5122729" cy="3881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969" y="1696612"/>
            <a:ext cx="8681720" cy="544964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616907" y="5648909"/>
            <a:ext cx="2191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转置直接 </a:t>
            </a:r>
            <a:r>
              <a:rPr lang="en-US" altLang="zh-CN" dirty="0"/>
              <a:t>II </a:t>
            </a:r>
            <a:r>
              <a:rPr lang="zh-CN" altLang="en-US" dirty="0"/>
              <a:t>型结构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6611396" y="5833575"/>
            <a:ext cx="2319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直接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Ⅰ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型的变形结构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091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72400" cy="685800"/>
          </a:xfrm>
        </p:spPr>
        <p:txBody>
          <a:bodyPr/>
          <a:lstStyle/>
          <a:p>
            <a:r>
              <a:rPr lang="en-US" altLang="zh-CN">
                <a:latin typeface="宋体" panose="02010600030101010101" pitchFamily="2" charset="-122"/>
              </a:rPr>
              <a:t>IIR</a:t>
            </a:r>
            <a:r>
              <a:rPr lang="zh-CN" altLang="en-US">
                <a:latin typeface="宋体" panose="02010600030101010101" pitchFamily="2" charset="-122"/>
              </a:rPr>
              <a:t>数字滤波器的直接型结构优缺点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077200" cy="30480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/>
              <a:t>优点：简单直观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/>
              <a:t>缺点：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/>
              <a:t>	</a:t>
            </a:r>
            <a:r>
              <a:rPr lang="en-US" altLang="zh-CN"/>
              <a:t>1. </a:t>
            </a:r>
            <a:r>
              <a:rPr lang="zh-CN" altLang="en-US"/>
              <a:t>改变某一个</a:t>
            </a:r>
            <a:r>
              <a:rPr lang="en-US" altLang="zh-CN"/>
              <a:t>{</a:t>
            </a:r>
            <a:r>
              <a:rPr lang="en-US" altLang="zh-CN" i="1"/>
              <a:t>a</a:t>
            </a:r>
            <a:r>
              <a:rPr lang="en-US" altLang="zh-CN" i="1" baseline="-25000"/>
              <a:t>k </a:t>
            </a:r>
            <a:r>
              <a:rPr lang="en-US" altLang="zh-CN"/>
              <a:t>}</a:t>
            </a:r>
            <a:r>
              <a:rPr lang="zh-CN" altLang="en-US"/>
              <a:t>将影响所有的极点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/>
              <a:t>	</a:t>
            </a:r>
            <a:r>
              <a:rPr lang="en-US" altLang="zh-CN"/>
              <a:t>2. </a:t>
            </a:r>
            <a:r>
              <a:rPr lang="zh-CN" altLang="en-US"/>
              <a:t>改变某一个</a:t>
            </a:r>
            <a:r>
              <a:rPr lang="en-US" altLang="zh-CN"/>
              <a:t>{</a:t>
            </a:r>
            <a:r>
              <a:rPr lang="en-US" altLang="zh-CN" i="1"/>
              <a:t>b</a:t>
            </a:r>
            <a:r>
              <a:rPr lang="en-US" altLang="zh-CN" i="1" baseline="-25000"/>
              <a:t>k </a:t>
            </a:r>
            <a:r>
              <a:rPr lang="en-US" altLang="zh-CN"/>
              <a:t>}</a:t>
            </a:r>
            <a:r>
              <a:rPr lang="zh-CN" altLang="en-US"/>
              <a:t>将影响所有的零点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/>
              <a:t>	</a:t>
            </a:r>
            <a:r>
              <a:rPr lang="en-US" altLang="zh-CN"/>
              <a:t>3. </a:t>
            </a:r>
            <a:r>
              <a:rPr lang="zh-CN" altLang="en-US"/>
              <a:t>对有限字长效应太敏感，容易出现不稳定现象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057400" y="4953001"/>
            <a:ext cx="82296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>
                <a:solidFill>
                  <a:schemeClr val="accent2"/>
                </a:solidFill>
              </a:rPr>
              <a:t>  </a:t>
            </a:r>
            <a:r>
              <a:rPr lang="zh-CN" altLang="en-US" sz="2800" b="1">
                <a:solidFill>
                  <a:schemeClr val="accent2"/>
                </a:solidFill>
              </a:rPr>
              <a:t>对于</a:t>
            </a:r>
            <a:r>
              <a:rPr lang="zh-CN" altLang="en-US" sz="2800" b="1">
                <a:solidFill>
                  <a:srgbClr val="FF3300"/>
                </a:solidFill>
              </a:rPr>
              <a:t>三阶以上</a:t>
            </a:r>
            <a:r>
              <a:rPr lang="zh-CN" altLang="en-US" sz="2800" b="1">
                <a:solidFill>
                  <a:schemeClr val="accent2"/>
                </a:solidFill>
              </a:rPr>
              <a:t>的</a:t>
            </a:r>
            <a:r>
              <a:rPr lang="en-US" altLang="zh-CN" sz="2800" b="1">
                <a:solidFill>
                  <a:schemeClr val="accent2"/>
                </a:solidFill>
              </a:rPr>
              <a:t>IIR</a:t>
            </a:r>
            <a:r>
              <a:rPr lang="zh-CN" altLang="en-US" sz="2800" b="1">
                <a:solidFill>
                  <a:schemeClr val="accent2"/>
                </a:solidFill>
              </a:rPr>
              <a:t>滤波器，几乎都不采用直接型结构，而是采用级联型、并联型等其它形式的结构。</a:t>
            </a: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1676400" y="129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52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  <p:bldP spid="3174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116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8523FD-DE9A-48E5-AAAA-9AD4DA9CFD3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286000" y="1524000"/>
            <a:ext cx="6019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［例］用直接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型和直接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Ⅱ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型结构实现系统函数：</a:t>
            </a:r>
          </a:p>
        </p:txBody>
      </p:sp>
      <p:graphicFrame>
        <p:nvGraphicFramePr>
          <p:cNvPr id="111621" name="对象 5"/>
          <p:cNvGraphicFramePr>
            <a:graphicFrameLocks noChangeAspect="1"/>
          </p:cNvGraphicFramePr>
          <p:nvPr/>
        </p:nvGraphicFramePr>
        <p:xfrm>
          <a:off x="3733800" y="1985964"/>
          <a:ext cx="335438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Equation" r:id="rId3" imgW="1689100" imgH="419100" progId="Equation.DSMT4">
                  <p:embed/>
                </p:oleObj>
              </mc:Choice>
              <mc:Fallback>
                <p:oleObj name="Equation" r:id="rId3" imgW="1689100" imgH="419100" progId="Equation.DSMT4">
                  <p:embed/>
                  <p:pic>
                    <p:nvPicPr>
                      <p:cNvPr id="11162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85964"/>
                        <a:ext cx="335438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241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116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8523FD-DE9A-48E5-AAAA-9AD4DA9CFD3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286000" y="1524000"/>
            <a:ext cx="6019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［例］用直接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型和直接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Ⅱ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型结构实现系统函数：</a:t>
            </a:r>
          </a:p>
        </p:txBody>
      </p:sp>
      <p:graphicFrame>
        <p:nvGraphicFramePr>
          <p:cNvPr id="111621" name="对象 5"/>
          <p:cNvGraphicFramePr>
            <a:graphicFrameLocks noChangeAspect="1"/>
          </p:cNvGraphicFramePr>
          <p:nvPr/>
        </p:nvGraphicFramePr>
        <p:xfrm>
          <a:off x="3733800" y="1985964"/>
          <a:ext cx="335438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3" imgW="1689100" imgH="419100" progId="Equation.DSMT4">
                  <p:embed/>
                </p:oleObj>
              </mc:Choice>
              <mc:Fallback>
                <p:oleObj name="Equation" r:id="rId3" imgW="1689100" imgH="419100" progId="Equation.DSMT4">
                  <p:embed/>
                  <p:pic>
                    <p:nvPicPr>
                      <p:cNvPr id="11162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85964"/>
                        <a:ext cx="335438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22" name="Picture 6" descr="4-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4" y="2978150"/>
            <a:ext cx="4294187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23" name="Picture 7" descr="4-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214" y="5014913"/>
            <a:ext cx="4294187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87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430</Words>
  <Application>Microsoft Office PowerPoint</Application>
  <PresentationFormat>宽屏</PresentationFormat>
  <Paragraphs>85</Paragraphs>
  <Slides>17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等线</vt:lpstr>
      <vt:lpstr>宋体</vt:lpstr>
      <vt:lpstr>微软雅黑</vt:lpstr>
      <vt:lpstr>Arial</vt:lpstr>
      <vt:lpstr>Calibri</vt:lpstr>
      <vt:lpstr>Comic Sans MS</vt:lpstr>
      <vt:lpstr>Tahoma</vt:lpstr>
      <vt:lpstr>Times New Roman</vt:lpstr>
      <vt:lpstr>Wingdings</vt:lpstr>
      <vt:lpstr>icfp99</vt:lpstr>
      <vt:lpstr>Equation</vt:lpstr>
      <vt:lpstr>MathType 6.0 Equation</vt:lpstr>
      <vt:lpstr>公式</vt:lpstr>
      <vt:lpstr>FIR与Filter基本结构</vt:lpstr>
      <vt:lpstr>复习</vt:lpstr>
      <vt:lpstr>复习</vt:lpstr>
      <vt:lpstr>PowerPoint 演示文稿</vt:lpstr>
      <vt:lpstr>PowerPoint 演示文稿</vt:lpstr>
      <vt:lpstr>第4章 数字滤波器的基本结构</vt:lpstr>
      <vt:lpstr>4.1 数字滤波器类型及结构表示方法 </vt:lpstr>
      <vt:lpstr>4.1 数字滤波器类型及结构表示方法 </vt:lpstr>
      <vt:lpstr>4.2  IIR滤波器的结构</vt:lpstr>
      <vt:lpstr>一、IIR数字滤波器的直接型结构</vt:lpstr>
      <vt:lpstr>PowerPoint 演示文稿</vt:lpstr>
      <vt:lpstr>4.2  IIR滤波器的结构</vt:lpstr>
      <vt:lpstr>4.2  IIR滤波器的结构</vt:lpstr>
      <vt:lpstr>转置直接 II 型结构</vt:lpstr>
      <vt:lpstr>IIR数字滤波器的直接型结构优缺点</vt:lpstr>
      <vt:lpstr>例题</vt:lpstr>
      <vt:lpstr>例题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快速傅立叶变换（FFT）</dc:title>
  <dc:creator>Administrator</dc:creator>
  <cp:lastModifiedBy>Administrator</cp:lastModifiedBy>
  <cp:revision>42</cp:revision>
  <dcterms:created xsi:type="dcterms:W3CDTF">2020-08-06T07:33:49Z</dcterms:created>
  <dcterms:modified xsi:type="dcterms:W3CDTF">2022-12-03T10:36:37Z</dcterms:modified>
</cp:coreProperties>
</file>