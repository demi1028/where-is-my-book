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300" r:id="rId2"/>
    <p:sldId id="299" r:id="rId3"/>
    <p:sldId id="341" r:id="rId4"/>
    <p:sldId id="342" r:id="rId5"/>
    <p:sldId id="301" r:id="rId6"/>
    <p:sldId id="340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275" r:id="rId36"/>
    <p:sldId id="276" r:id="rId37"/>
    <p:sldId id="277" r:id="rId38"/>
    <p:sldId id="278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81" autoAdjust="0"/>
  </p:normalViewPr>
  <p:slideViewPr>
    <p:cSldViewPr snapToGrid="0">
      <p:cViewPr varScale="1">
        <p:scale>
          <a:sx n="74" d="100"/>
          <a:sy n="74" d="100"/>
        </p:scale>
        <p:origin x="34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e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e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emf"/><Relationship Id="rId5" Type="http://schemas.openxmlformats.org/officeDocument/2006/relationships/image" Target="../media/image25.emf"/><Relationship Id="rId4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emf"/><Relationship Id="rId1" Type="http://schemas.openxmlformats.org/officeDocument/2006/relationships/image" Target="../media/image32.e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13" Type="http://schemas.openxmlformats.org/officeDocument/2006/relationships/image" Target="../media/image56.wmf"/><Relationship Id="rId3" Type="http://schemas.openxmlformats.org/officeDocument/2006/relationships/image" Target="../media/image46.emf"/><Relationship Id="rId7" Type="http://schemas.openxmlformats.org/officeDocument/2006/relationships/image" Target="../media/image50.emf"/><Relationship Id="rId12" Type="http://schemas.openxmlformats.org/officeDocument/2006/relationships/image" Target="../media/image55.wmf"/><Relationship Id="rId2" Type="http://schemas.openxmlformats.org/officeDocument/2006/relationships/image" Target="../media/image45.emf"/><Relationship Id="rId1" Type="http://schemas.openxmlformats.org/officeDocument/2006/relationships/image" Target="../media/image44.emf"/><Relationship Id="rId6" Type="http://schemas.openxmlformats.org/officeDocument/2006/relationships/image" Target="../media/image49.emf"/><Relationship Id="rId11" Type="http://schemas.openxmlformats.org/officeDocument/2006/relationships/image" Target="../media/image54.wmf"/><Relationship Id="rId5" Type="http://schemas.openxmlformats.org/officeDocument/2006/relationships/image" Target="../media/image48.emf"/><Relationship Id="rId10" Type="http://schemas.openxmlformats.org/officeDocument/2006/relationships/image" Target="../media/image53.wmf"/><Relationship Id="rId4" Type="http://schemas.openxmlformats.org/officeDocument/2006/relationships/image" Target="../media/image47.emf"/><Relationship Id="rId9" Type="http://schemas.openxmlformats.org/officeDocument/2006/relationships/image" Target="../media/image52.wmf"/><Relationship Id="rId14" Type="http://schemas.openxmlformats.org/officeDocument/2006/relationships/image" Target="../media/image5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4" Type="http://schemas.openxmlformats.org/officeDocument/2006/relationships/image" Target="../media/image6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emf"/><Relationship Id="rId1" Type="http://schemas.openxmlformats.org/officeDocument/2006/relationships/image" Target="../media/image6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emf"/><Relationship Id="rId1" Type="http://schemas.openxmlformats.org/officeDocument/2006/relationships/image" Target="../media/image68.emf"/><Relationship Id="rId6" Type="http://schemas.openxmlformats.org/officeDocument/2006/relationships/image" Target="../media/image73.wmf"/><Relationship Id="rId5" Type="http://schemas.openxmlformats.org/officeDocument/2006/relationships/image" Target="../media/image72.emf"/><Relationship Id="rId4" Type="http://schemas.openxmlformats.org/officeDocument/2006/relationships/image" Target="../media/image7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emf"/><Relationship Id="rId1" Type="http://schemas.openxmlformats.org/officeDocument/2006/relationships/image" Target="../media/image75.emf"/><Relationship Id="rId5" Type="http://schemas.openxmlformats.org/officeDocument/2006/relationships/image" Target="../media/image79.emf"/><Relationship Id="rId4" Type="http://schemas.openxmlformats.org/officeDocument/2006/relationships/image" Target="../media/image78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emf"/><Relationship Id="rId1" Type="http://schemas.openxmlformats.org/officeDocument/2006/relationships/image" Target="../media/image65.wmf"/><Relationship Id="rId4" Type="http://schemas.openxmlformats.org/officeDocument/2006/relationships/image" Target="../media/image85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88.emf"/><Relationship Id="rId1" Type="http://schemas.openxmlformats.org/officeDocument/2006/relationships/image" Target="../media/image87.emf"/><Relationship Id="rId6" Type="http://schemas.openxmlformats.org/officeDocument/2006/relationships/image" Target="../media/image90.wmf"/><Relationship Id="rId5" Type="http://schemas.openxmlformats.org/officeDocument/2006/relationships/image" Target="../media/image89.emf"/><Relationship Id="rId4" Type="http://schemas.openxmlformats.org/officeDocument/2006/relationships/image" Target="../media/image42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emf"/><Relationship Id="rId1" Type="http://schemas.openxmlformats.org/officeDocument/2006/relationships/image" Target="../media/image92.emf"/><Relationship Id="rId5" Type="http://schemas.openxmlformats.org/officeDocument/2006/relationships/image" Target="../media/image96.emf"/><Relationship Id="rId4" Type="http://schemas.openxmlformats.org/officeDocument/2006/relationships/image" Target="../media/image9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e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4" Type="http://schemas.openxmlformats.org/officeDocument/2006/relationships/image" Target="../media/image103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4" Type="http://schemas.openxmlformats.org/officeDocument/2006/relationships/image" Target="../media/image110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E8779-9A25-448F-8182-1AE0765117B0}" type="datetimeFigureOut">
              <a:rPr lang="zh-CN" altLang="en-US" smtClean="0"/>
              <a:t>2022/11/14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A2067-EBAE-4796-A48D-2E12FA4BE8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30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31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Times New Roman" panose="02020603050405020304" pitchFamily="18" charset="0"/>
            </a:endParaRPr>
          </a:p>
        </p:txBody>
      </p:sp>
      <p:sp>
        <p:nvSpPr>
          <p:cNvPr id="2631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66857D-F13E-4C21-8B32-A39BA2C5AB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743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468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8623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402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5767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399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1257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5370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8155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1696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152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0953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012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270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0.w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8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11.e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5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4.w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0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9.emf"/><Relationship Id="rId4" Type="http://schemas.openxmlformats.org/officeDocument/2006/relationships/image" Target="../media/image26.e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1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3.e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5.wmf"/><Relationship Id="rId4" Type="http://schemas.openxmlformats.org/officeDocument/2006/relationships/image" Target="../media/image32.emf"/><Relationship Id="rId9" Type="http://schemas.openxmlformats.org/officeDocument/2006/relationships/oleObject" Target="../embeddings/oleObject3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oleObject" Target="../embeddings/oleObject39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3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8.e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40.emf"/><Relationship Id="rId4" Type="http://schemas.openxmlformats.org/officeDocument/2006/relationships/image" Target="../media/image37.e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42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13" Type="http://schemas.openxmlformats.org/officeDocument/2006/relationships/oleObject" Target="../embeddings/oleObject46.bin"/><Relationship Id="rId18" Type="http://schemas.openxmlformats.org/officeDocument/2006/relationships/image" Target="../media/image51.emf"/><Relationship Id="rId26" Type="http://schemas.openxmlformats.org/officeDocument/2006/relationships/image" Target="../media/image55.wmf"/><Relationship Id="rId3" Type="http://schemas.openxmlformats.org/officeDocument/2006/relationships/oleObject" Target="../embeddings/oleObject41.bin"/><Relationship Id="rId21" Type="http://schemas.openxmlformats.org/officeDocument/2006/relationships/oleObject" Target="../embeddings/oleObject50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8.emf"/><Relationship Id="rId17" Type="http://schemas.openxmlformats.org/officeDocument/2006/relationships/oleObject" Target="../embeddings/oleObject48.bin"/><Relationship Id="rId25" Type="http://schemas.openxmlformats.org/officeDocument/2006/relationships/oleObject" Target="../embeddings/oleObject52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0.emf"/><Relationship Id="rId20" Type="http://schemas.openxmlformats.org/officeDocument/2006/relationships/image" Target="../media/image52.wmf"/><Relationship Id="rId29" Type="http://schemas.openxmlformats.org/officeDocument/2006/relationships/oleObject" Target="../embeddings/oleObject54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5.emf"/><Relationship Id="rId11" Type="http://schemas.openxmlformats.org/officeDocument/2006/relationships/oleObject" Target="../embeddings/oleObject45.bin"/><Relationship Id="rId24" Type="http://schemas.openxmlformats.org/officeDocument/2006/relationships/image" Target="../media/image54.wmf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23" Type="http://schemas.openxmlformats.org/officeDocument/2006/relationships/oleObject" Target="../embeddings/oleObject51.bin"/><Relationship Id="rId28" Type="http://schemas.openxmlformats.org/officeDocument/2006/relationships/image" Target="../media/image56.wmf"/><Relationship Id="rId10" Type="http://schemas.openxmlformats.org/officeDocument/2006/relationships/image" Target="../media/image47.emf"/><Relationship Id="rId19" Type="http://schemas.openxmlformats.org/officeDocument/2006/relationships/oleObject" Target="../embeddings/oleObject49.bin"/><Relationship Id="rId4" Type="http://schemas.openxmlformats.org/officeDocument/2006/relationships/image" Target="../media/image44.e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9.emf"/><Relationship Id="rId22" Type="http://schemas.openxmlformats.org/officeDocument/2006/relationships/image" Target="../media/image53.wmf"/><Relationship Id="rId27" Type="http://schemas.openxmlformats.org/officeDocument/2006/relationships/oleObject" Target="../embeddings/oleObject53.bin"/><Relationship Id="rId30" Type="http://schemas.openxmlformats.org/officeDocument/2006/relationships/image" Target="../media/image5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8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6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5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70.bin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72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9.e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71.wmf"/><Relationship Id="rId4" Type="http://schemas.openxmlformats.org/officeDocument/2006/relationships/image" Target="../media/image68.e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7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74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9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6.e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78.wmf"/><Relationship Id="rId4" Type="http://schemas.openxmlformats.org/officeDocument/2006/relationships/image" Target="../media/image75.emf"/><Relationship Id="rId9" Type="http://schemas.openxmlformats.org/officeDocument/2006/relationships/oleObject" Target="../embeddings/oleObject7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80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3.emf"/><Relationship Id="rId5" Type="http://schemas.openxmlformats.org/officeDocument/2006/relationships/oleObject" Target="../embeddings/oleObject81.bin"/><Relationship Id="rId10" Type="http://schemas.openxmlformats.org/officeDocument/2006/relationships/image" Target="../media/image85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83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w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89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89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8.e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0" Type="http://schemas.openxmlformats.org/officeDocument/2006/relationships/image" Target="../media/image42.wmf"/><Relationship Id="rId4" Type="http://schemas.openxmlformats.org/officeDocument/2006/relationships/image" Target="../media/image87.e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9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91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96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3.e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95.wmf"/><Relationship Id="rId4" Type="http://schemas.openxmlformats.org/officeDocument/2006/relationships/image" Target="../media/image92.emf"/><Relationship Id="rId9" Type="http://schemas.openxmlformats.org/officeDocument/2006/relationships/oleObject" Target="../embeddings/oleObject94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8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7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e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02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06.jpeg"/><Relationship Id="rId5" Type="http://schemas.openxmlformats.org/officeDocument/2006/relationships/image" Target="../media/image105.wmf"/><Relationship Id="rId4" Type="http://schemas.openxmlformats.org/officeDocument/2006/relationships/oleObject" Target="../embeddings/oleObject103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05.bin"/><Relationship Id="rId10" Type="http://schemas.openxmlformats.org/officeDocument/2006/relationships/image" Target="../media/image110.wmf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07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12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11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FD205D8-EE53-4D90-9304-52DA28F883B4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5171" name="Text Box 4"/>
          <p:cNvSpPr txBox="1">
            <a:spLocks noChangeArrowheads="1"/>
          </p:cNvSpPr>
          <p:nvPr/>
        </p:nvSpPr>
        <p:spPr bwMode="auto">
          <a:xfrm>
            <a:off x="1752600" y="1458914"/>
            <a:ext cx="8763000" cy="1843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5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令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 baseline="-5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代表归一化系统的系统函数，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代表截止频率为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′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的低通系统的传递函数，那么归一化系统函数中的变量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用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s/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′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代替后，就得到所需滤波器的系统函数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， 即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</a:p>
        </p:txBody>
      </p:sp>
      <p:graphicFrame>
        <p:nvGraphicFramePr>
          <p:cNvPr id="135172" name="Object 5"/>
          <p:cNvGraphicFramePr>
            <a:graphicFrameLocks noChangeAspect="1"/>
          </p:cNvGraphicFramePr>
          <p:nvPr/>
        </p:nvGraphicFramePr>
        <p:xfrm>
          <a:off x="4648200" y="3363914"/>
          <a:ext cx="2743200" cy="235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1" name="Equation" r:id="rId3" imgW="1155700" imgH="990600" progId="Equation.3">
                  <p:embed/>
                </p:oleObj>
              </mc:Choice>
              <mc:Fallback>
                <p:oleObj name="Equation" r:id="rId3" imgW="1155700" imgH="990600" progId="Equation.3">
                  <p:embed/>
                  <p:pic>
                    <p:nvPicPr>
                      <p:cNvPr id="13517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363914"/>
                        <a:ext cx="2743200" cy="235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3" name="Text Box 6"/>
          <p:cNvSpPr txBox="1">
            <a:spLocks noChangeArrowheads="1"/>
          </p:cNvSpPr>
          <p:nvPr/>
        </p:nvSpPr>
        <p:spPr bwMode="auto">
          <a:xfrm>
            <a:off x="8213725" y="3633789"/>
            <a:ext cx="14446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5-18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） </a:t>
            </a:r>
          </a:p>
        </p:txBody>
      </p:sp>
      <p:sp>
        <p:nvSpPr>
          <p:cNvPr id="135174" name="Text Box 7"/>
          <p:cNvSpPr txBox="1">
            <a:spLocks noChangeArrowheads="1"/>
          </p:cNvSpPr>
          <p:nvPr/>
        </p:nvSpPr>
        <p:spPr bwMode="auto">
          <a:xfrm>
            <a:off x="8229600" y="4964114"/>
            <a:ext cx="14446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5-19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） </a:t>
            </a:r>
          </a:p>
        </p:txBody>
      </p:sp>
      <p:sp>
        <p:nvSpPr>
          <p:cNvPr id="135175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6.3.2 </a:t>
            </a:r>
            <a:r>
              <a:rPr lang="zh-CN" altLang="en-US" smtClean="0">
                <a:ea typeface="宋体" panose="02010600030101010101" pitchFamily="2" charset="-122"/>
              </a:rPr>
              <a:t>巴特沃思低通逼近</a:t>
            </a:r>
          </a:p>
        </p:txBody>
      </p:sp>
    </p:spTree>
    <p:extLst>
      <p:ext uri="{BB962C8B-B14F-4D97-AF65-F5344CB8AC3E}">
        <p14:creationId xmlns:p14="http://schemas.microsoft.com/office/powerpoint/2010/main" val="110405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0D2C8EF1-9C48-49FB-A185-A5E8FF0E5322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34147" name="Picture 5" descr="C:\WINDOWS\Desktop\wp\Img0000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98564"/>
            <a:ext cx="9144000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236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2"/>
          <p:cNvSpPr txBox="1">
            <a:spLocks noChangeArrowheads="1"/>
          </p:cNvSpPr>
          <p:nvPr/>
        </p:nvSpPr>
        <p:spPr bwMode="auto">
          <a:xfrm>
            <a:off x="1752600" y="266700"/>
            <a:ext cx="7353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：设计一个满足下列指标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BW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型模拟低通滤波器</a:t>
            </a:r>
          </a:p>
        </p:txBody>
      </p:sp>
      <p:grpSp>
        <p:nvGrpSpPr>
          <p:cNvPr id="90115" name="Group 3"/>
          <p:cNvGrpSpPr>
            <a:grpSpLocks/>
          </p:cNvGrpSpPr>
          <p:nvPr/>
        </p:nvGrpSpPr>
        <p:grpSpPr bwMode="auto">
          <a:xfrm>
            <a:off x="2108201" y="712789"/>
            <a:ext cx="7461251" cy="561975"/>
            <a:chOff x="368" y="575"/>
            <a:chExt cx="4700" cy="354"/>
          </a:xfrm>
        </p:grpSpPr>
        <p:grpSp>
          <p:nvGrpSpPr>
            <p:cNvPr id="90116" name="Group 4"/>
            <p:cNvGrpSpPr>
              <a:grpSpLocks/>
            </p:cNvGrpSpPr>
            <p:nvPr/>
          </p:nvGrpSpPr>
          <p:grpSpPr bwMode="auto">
            <a:xfrm>
              <a:off x="368" y="575"/>
              <a:ext cx="989" cy="351"/>
              <a:chOff x="368" y="575"/>
              <a:chExt cx="989" cy="351"/>
            </a:xfrm>
          </p:grpSpPr>
          <p:sp>
            <p:nvSpPr>
              <p:cNvPr id="90117" name="Rectangle 5"/>
              <p:cNvSpPr>
                <a:spLocks noChangeArrowheads="1"/>
              </p:cNvSpPr>
              <p:nvPr/>
            </p:nvSpPr>
            <p:spPr bwMode="auto">
              <a:xfrm>
                <a:off x="1225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+mn-ea"/>
                    <a:cs typeface="+mn-cs"/>
                  </a:rPr>
                  <a:t>p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18" name="Rectangle 6"/>
              <p:cNvSpPr>
                <a:spLocks noChangeArrowheads="1"/>
              </p:cNvSpPr>
              <p:nvPr/>
            </p:nvSpPr>
            <p:spPr bwMode="auto">
              <a:xfrm>
                <a:off x="1139" y="602"/>
                <a:ext cx="10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1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19" name="Rectangle 7"/>
              <p:cNvSpPr>
                <a:spLocks noChangeArrowheads="1"/>
              </p:cNvSpPr>
              <p:nvPr/>
            </p:nvSpPr>
            <p:spPr bwMode="auto">
              <a:xfrm>
                <a:off x="1080" y="602"/>
                <a:ext cx="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.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20" name="Rectangle 8"/>
              <p:cNvSpPr>
                <a:spLocks noChangeArrowheads="1"/>
              </p:cNvSpPr>
              <p:nvPr/>
            </p:nvSpPr>
            <p:spPr bwMode="auto">
              <a:xfrm>
                <a:off x="960" y="602"/>
                <a:ext cx="1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0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21" name="Rectangle 9"/>
              <p:cNvSpPr>
                <a:spLocks noChangeArrowheads="1"/>
              </p:cNvSpPr>
              <p:nvPr/>
            </p:nvSpPr>
            <p:spPr bwMode="auto">
              <a:xfrm>
                <a:off x="769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+mn-ea"/>
                    <a:cs typeface="+mn-cs"/>
                  </a:rPr>
                  <a:t>=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22" name="Rectangle 10"/>
              <p:cNvSpPr>
                <a:spLocks noChangeArrowheads="1"/>
              </p:cNvSpPr>
              <p:nvPr/>
            </p:nvSpPr>
            <p:spPr bwMode="auto">
              <a:xfrm>
                <a:off x="368" y="575"/>
                <a:ext cx="1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+mn-ea"/>
                    <a:cs typeface="+mn-cs"/>
                  </a:rPr>
                  <a:t>w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23" name="Rectangle 11"/>
              <p:cNvSpPr>
                <a:spLocks noChangeArrowheads="1"/>
              </p:cNvSpPr>
              <p:nvPr/>
            </p:nvSpPr>
            <p:spPr bwMode="auto">
              <a:xfrm>
                <a:off x="591" y="732"/>
                <a:ext cx="8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p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</p:grpSp>
        <p:sp>
          <p:nvSpPr>
            <p:cNvPr id="90124" name="Rectangle 12"/>
            <p:cNvSpPr>
              <a:spLocks noChangeArrowheads="1"/>
            </p:cNvSpPr>
            <p:nvPr/>
          </p:nvSpPr>
          <p:spPr bwMode="auto">
            <a:xfrm>
              <a:off x="1432" y="667"/>
              <a:ext cx="18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+mn-ea"/>
                  <a:cs typeface="+mn-cs"/>
                </a:rPr>
                <a:t>，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endParaRPr>
            </a:p>
          </p:txBody>
        </p:sp>
        <p:grpSp>
          <p:nvGrpSpPr>
            <p:cNvPr id="90125" name="Group 13"/>
            <p:cNvGrpSpPr>
              <a:grpSpLocks/>
            </p:cNvGrpSpPr>
            <p:nvPr/>
          </p:nvGrpSpPr>
          <p:grpSpPr bwMode="auto">
            <a:xfrm>
              <a:off x="1645" y="575"/>
              <a:ext cx="976" cy="354"/>
              <a:chOff x="1645" y="575"/>
              <a:chExt cx="976" cy="354"/>
            </a:xfrm>
          </p:grpSpPr>
          <p:sp>
            <p:nvSpPr>
              <p:cNvPr id="90126" name="Rectangle 14"/>
              <p:cNvSpPr>
                <a:spLocks noChangeArrowheads="1"/>
              </p:cNvSpPr>
              <p:nvPr/>
            </p:nvSpPr>
            <p:spPr bwMode="auto">
              <a:xfrm>
                <a:off x="2489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+mn-ea"/>
                    <a:cs typeface="+mn-cs"/>
                  </a:rPr>
                  <a:t>p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27" name="Rectangle 15"/>
              <p:cNvSpPr>
                <a:spLocks noChangeArrowheads="1"/>
              </p:cNvSpPr>
              <p:nvPr/>
            </p:nvSpPr>
            <p:spPr bwMode="auto">
              <a:xfrm>
                <a:off x="2384" y="602"/>
                <a:ext cx="1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4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28" name="Rectangle 16"/>
              <p:cNvSpPr>
                <a:spLocks noChangeArrowheads="1"/>
              </p:cNvSpPr>
              <p:nvPr/>
            </p:nvSpPr>
            <p:spPr bwMode="auto">
              <a:xfrm>
                <a:off x="2324" y="602"/>
                <a:ext cx="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.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29" name="Rectangle 17"/>
              <p:cNvSpPr>
                <a:spLocks noChangeArrowheads="1"/>
              </p:cNvSpPr>
              <p:nvPr/>
            </p:nvSpPr>
            <p:spPr bwMode="auto">
              <a:xfrm>
                <a:off x="2204" y="602"/>
                <a:ext cx="1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0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30" name="Rectangle 18"/>
              <p:cNvSpPr>
                <a:spLocks noChangeArrowheads="1"/>
              </p:cNvSpPr>
              <p:nvPr/>
            </p:nvSpPr>
            <p:spPr bwMode="auto">
              <a:xfrm>
                <a:off x="2013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+mn-ea"/>
                    <a:cs typeface="+mn-cs"/>
                  </a:rPr>
                  <a:t>=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31" name="Rectangle 19"/>
              <p:cNvSpPr>
                <a:spLocks noChangeArrowheads="1"/>
              </p:cNvSpPr>
              <p:nvPr/>
            </p:nvSpPr>
            <p:spPr bwMode="auto">
              <a:xfrm>
                <a:off x="1645" y="575"/>
                <a:ext cx="1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+mn-ea"/>
                    <a:cs typeface="+mn-cs"/>
                  </a:rPr>
                  <a:t>w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32" name="Rectangle 20"/>
              <p:cNvSpPr>
                <a:spLocks noChangeArrowheads="1"/>
              </p:cNvSpPr>
              <p:nvPr/>
            </p:nvSpPr>
            <p:spPr bwMode="auto">
              <a:xfrm>
                <a:off x="1851" y="735"/>
                <a:ext cx="7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s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</p:grpSp>
        <p:sp>
          <p:nvSpPr>
            <p:cNvPr id="90133" name="Rectangle 21"/>
            <p:cNvSpPr>
              <a:spLocks noChangeArrowheads="1"/>
            </p:cNvSpPr>
            <p:nvPr/>
          </p:nvSpPr>
          <p:spPr bwMode="auto">
            <a:xfrm>
              <a:off x="2694" y="667"/>
              <a:ext cx="18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+mn-ea"/>
                  <a:cs typeface="+mn-cs"/>
                </a:rPr>
                <a:t>，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endParaRPr>
            </a:p>
          </p:txBody>
        </p:sp>
        <p:grpSp>
          <p:nvGrpSpPr>
            <p:cNvPr id="90134" name="Group 22"/>
            <p:cNvGrpSpPr>
              <a:grpSpLocks/>
            </p:cNvGrpSpPr>
            <p:nvPr/>
          </p:nvGrpSpPr>
          <p:grpSpPr bwMode="auto">
            <a:xfrm>
              <a:off x="2929" y="575"/>
              <a:ext cx="910" cy="351"/>
              <a:chOff x="2929" y="575"/>
              <a:chExt cx="910" cy="351"/>
            </a:xfrm>
          </p:grpSpPr>
          <p:sp>
            <p:nvSpPr>
              <p:cNvPr id="90135" name="Rectangle 23"/>
              <p:cNvSpPr>
                <a:spLocks noChangeArrowheads="1"/>
              </p:cNvSpPr>
              <p:nvPr/>
            </p:nvSpPr>
            <p:spPr bwMode="auto">
              <a:xfrm>
                <a:off x="3544" y="602"/>
                <a:ext cx="29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dB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36" name="Rectangle 24"/>
              <p:cNvSpPr>
                <a:spLocks noChangeArrowheads="1"/>
              </p:cNvSpPr>
              <p:nvPr/>
            </p:nvSpPr>
            <p:spPr bwMode="auto">
              <a:xfrm>
                <a:off x="2929" y="602"/>
                <a:ext cx="17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A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37" name="Rectangle 25"/>
              <p:cNvSpPr>
                <a:spLocks noChangeArrowheads="1"/>
              </p:cNvSpPr>
              <p:nvPr/>
            </p:nvSpPr>
            <p:spPr bwMode="auto">
              <a:xfrm>
                <a:off x="3088" y="732"/>
                <a:ext cx="8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p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38" name="Rectangle 26"/>
              <p:cNvSpPr>
                <a:spLocks noChangeArrowheads="1"/>
              </p:cNvSpPr>
              <p:nvPr/>
            </p:nvSpPr>
            <p:spPr bwMode="auto">
              <a:xfrm>
                <a:off x="3438" y="602"/>
                <a:ext cx="10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1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39" name="Rectangle 27"/>
              <p:cNvSpPr>
                <a:spLocks noChangeArrowheads="1"/>
              </p:cNvSpPr>
              <p:nvPr/>
            </p:nvSpPr>
            <p:spPr bwMode="auto">
              <a:xfrm>
                <a:off x="3268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+mn-ea"/>
                    <a:cs typeface="+mn-cs"/>
                    <a:sym typeface="Symbol" panose="05050102010706020507" pitchFamily="18" charset="2"/>
                  </a:rPr>
                  <a:t>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</p:grpSp>
        <p:sp>
          <p:nvSpPr>
            <p:cNvPr id="90140" name="Rectangle 28"/>
            <p:cNvSpPr>
              <a:spLocks noChangeArrowheads="1"/>
            </p:cNvSpPr>
            <p:nvPr/>
          </p:nvSpPr>
          <p:spPr bwMode="auto">
            <a:xfrm>
              <a:off x="3820" y="667"/>
              <a:ext cx="18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+mn-ea"/>
                  <a:cs typeface="+mn-cs"/>
                </a:rPr>
                <a:t>，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endParaRPr>
            </a:p>
          </p:txBody>
        </p:sp>
        <p:grpSp>
          <p:nvGrpSpPr>
            <p:cNvPr id="90141" name="Group 29"/>
            <p:cNvGrpSpPr>
              <a:grpSpLocks/>
            </p:cNvGrpSpPr>
            <p:nvPr/>
          </p:nvGrpSpPr>
          <p:grpSpPr bwMode="auto">
            <a:xfrm>
              <a:off x="4055" y="575"/>
              <a:ext cx="1013" cy="354"/>
              <a:chOff x="4055" y="575"/>
              <a:chExt cx="1013" cy="354"/>
            </a:xfrm>
          </p:grpSpPr>
          <p:sp>
            <p:nvSpPr>
              <p:cNvPr id="90142" name="Rectangle 30"/>
              <p:cNvSpPr>
                <a:spLocks noChangeArrowheads="1"/>
              </p:cNvSpPr>
              <p:nvPr/>
            </p:nvSpPr>
            <p:spPr bwMode="auto">
              <a:xfrm>
                <a:off x="4773" y="602"/>
                <a:ext cx="29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dB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43" name="Rectangle 31"/>
              <p:cNvSpPr>
                <a:spLocks noChangeArrowheads="1"/>
              </p:cNvSpPr>
              <p:nvPr/>
            </p:nvSpPr>
            <p:spPr bwMode="auto">
              <a:xfrm>
                <a:off x="4055" y="602"/>
                <a:ext cx="17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A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44" name="Rectangle 32"/>
              <p:cNvSpPr>
                <a:spLocks noChangeArrowheads="1"/>
              </p:cNvSpPr>
              <p:nvPr/>
            </p:nvSpPr>
            <p:spPr bwMode="auto">
              <a:xfrm>
                <a:off x="4196" y="735"/>
                <a:ext cx="7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s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45" name="Rectangle 33"/>
              <p:cNvSpPr>
                <a:spLocks noChangeArrowheads="1"/>
              </p:cNvSpPr>
              <p:nvPr/>
            </p:nvSpPr>
            <p:spPr bwMode="auto">
              <a:xfrm>
                <a:off x="4528" y="602"/>
                <a:ext cx="25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10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  <p:sp>
            <p:nvSpPr>
              <p:cNvPr id="90146" name="Rectangle 34"/>
              <p:cNvSpPr>
                <a:spLocks noChangeArrowheads="1"/>
              </p:cNvSpPr>
              <p:nvPr/>
            </p:nvSpPr>
            <p:spPr bwMode="auto">
              <a:xfrm>
                <a:off x="4359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+mn-ea"/>
                    <a:cs typeface="+mn-cs"/>
                    <a:sym typeface="Symbol" panose="05050102010706020507" pitchFamily="18" charset="2"/>
                  </a:rPr>
                  <a:t>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</p:grpSp>
      </p:grpSp>
      <p:graphicFrame>
        <p:nvGraphicFramePr>
          <p:cNvPr id="90152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764806"/>
              </p:ext>
            </p:extLst>
          </p:nvPr>
        </p:nvGraphicFramePr>
        <p:xfrm>
          <a:off x="1577446" y="2583647"/>
          <a:ext cx="4068763" cy="165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8" name="Equation" r:id="rId3" imgW="1625400" imgH="660240" progId="Equation.DSMT4">
                  <p:embed/>
                </p:oleObj>
              </mc:Choice>
              <mc:Fallback>
                <p:oleObj name="Equation" r:id="rId3" imgW="1625400" imgH="660240" progId="Equation.DSMT4">
                  <p:embed/>
                  <p:pic>
                    <p:nvPicPr>
                      <p:cNvPr id="90152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446" y="2583647"/>
                        <a:ext cx="4068763" cy="165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53" name="Text Box 41"/>
          <p:cNvSpPr txBox="1">
            <a:spLocks noChangeArrowheads="1"/>
          </p:cNvSpPr>
          <p:nvPr/>
        </p:nvSpPr>
        <p:spPr bwMode="auto">
          <a:xfrm>
            <a:off x="420689" y="4236235"/>
            <a:ext cx="57531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取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=2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，将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=2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带入满足通带的方程</a:t>
            </a:r>
          </a:p>
        </p:txBody>
      </p:sp>
      <p:graphicFrame>
        <p:nvGraphicFramePr>
          <p:cNvPr id="90154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153879"/>
              </p:ext>
            </p:extLst>
          </p:nvPr>
        </p:nvGraphicFramePr>
        <p:xfrm>
          <a:off x="1616075" y="4899025"/>
          <a:ext cx="4125913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9" name="Equation" r:id="rId5" imgW="1650960" imgH="444240" progId="Equation.DSMT4">
                  <p:embed/>
                </p:oleObj>
              </mc:Choice>
              <mc:Fallback>
                <p:oleObj name="Equation" r:id="rId5" imgW="1650960" imgH="444240" progId="Equation.DSMT4">
                  <p:embed/>
                  <p:pic>
                    <p:nvPicPr>
                      <p:cNvPr id="9015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6075" y="4899025"/>
                        <a:ext cx="4125913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55" name="Text Box 43"/>
          <p:cNvSpPr txBox="1">
            <a:spLocks noChangeArrowheads="1"/>
          </p:cNvSpPr>
          <p:nvPr/>
        </p:nvSpPr>
        <p:spPr bwMode="auto">
          <a:xfrm>
            <a:off x="369889" y="1476376"/>
            <a:ext cx="531495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解：</a:t>
            </a:r>
          </a:p>
          <a:p>
            <a:pPr lvl="0">
              <a:spcBef>
                <a:spcPct val="50000"/>
              </a:spcBef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(1)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计算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N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和</a:t>
            </a:r>
            <a:r>
              <a:rPr lang="el-GR" altLang="zh-CN" sz="2800" i="1" dirty="0">
                <a:solidFill>
                  <a:srgbClr val="000000"/>
                </a:solidFill>
                <a:sym typeface="Symbol" panose="05050102010706020507" pitchFamily="18" charset="2"/>
              </a:rPr>
              <a:t>Ω</a:t>
            </a:r>
            <a:r>
              <a:rPr kumimoji="0" lang="zh-CN" altLang="zh-CN" sz="2800" b="0" i="1" u="none" strike="noStrike" kern="120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  <a:sym typeface="Symbol" panose="05050102010706020507" pitchFamily="18" charset="2"/>
              </a:rPr>
              <a:t>c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  <p:sp>
        <p:nvSpPr>
          <p:cNvPr id="90156" name="Rectangle 44"/>
          <p:cNvSpPr>
            <a:spLocks noChangeArrowheads="1"/>
          </p:cNvSpPr>
          <p:nvPr/>
        </p:nvSpPr>
        <p:spPr bwMode="auto">
          <a:xfrm>
            <a:off x="1676400" y="14287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2466" y="1500746"/>
            <a:ext cx="6215422" cy="488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6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0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5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Text Box 41"/>
          <p:cNvSpPr txBox="1">
            <a:spLocks noChangeArrowheads="1"/>
          </p:cNvSpPr>
          <p:nvPr/>
        </p:nvSpPr>
        <p:spPr bwMode="auto">
          <a:xfrm>
            <a:off x="974480" y="424089"/>
            <a:ext cx="1023872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000000"/>
                </a:solidFill>
              </a:rPr>
              <a:t>题：</a:t>
            </a:r>
            <a:r>
              <a:rPr lang="en-US" altLang="zh-CN" sz="2800" dirty="0" smtClean="0">
                <a:solidFill>
                  <a:srgbClr val="000000"/>
                </a:solidFill>
              </a:rPr>
              <a:t>BW</a:t>
            </a:r>
            <a:r>
              <a:rPr lang="zh-CN" altLang="en-US" sz="2800" dirty="0">
                <a:solidFill>
                  <a:srgbClr val="000000"/>
                </a:solidFill>
              </a:rPr>
              <a:t>型模拟低通滤波器</a:t>
            </a:r>
            <a:r>
              <a:rPr lang="en-US" altLang="zh-CN" sz="2800" dirty="0" smtClean="0">
                <a:solidFill>
                  <a:srgbClr val="000000"/>
                </a:solidFill>
              </a:rPr>
              <a:t>N=2</a:t>
            </a:r>
            <a:r>
              <a:rPr lang="zh-CN" altLang="en-US" sz="2800" dirty="0" smtClean="0">
                <a:solidFill>
                  <a:srgbClr val="000000"/>
                </a:solidFill>
              </a:rPr>
              <a:t>，</a:t>
            </a:r>
            <a:r>
              <a:rPr lang="en-US" altLang="zh-CN" sz="2800" dirty="0" err="1" smtClean="0">
                <a:solidFill>
                  <a:srgbClr val="000000"/>
                </a:solidFill>
              </a:rPr>
              <a:t>Wc</a:t>
            </a:r>
            <a:r>
              <a:rPr lang="en-US" altLang="zh-CN" sz="2800" dirty="0" smtClean="0">
                <a:solidFill>
                  <a:srgbClr val="000000"/>
                </a:solidFill>
              </a:rPr>
              <a:t>=0.4404</a:t>
            </a:r>
            <a:r>
              <a:rPr lang="zh-CN" altLang="en-US" sz="2800" dirty="0" smtClean="0">
                <a:solidFill>
                  <a:srgbClr val="000000"/>
                </a:solidFill>
              </a:rPr>
              <a:t>，问设计模拟低通滤波器系统函数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  <p:pic>
        <p:nvPicPr>
          <p:cNvPr id="4" name="Picture 5" descr="C:\WINDOWS\Desktop\wp\Img0000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273" y="1700840"/>
            <a:ext cx="9144000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803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/>
          <p:cNvSpPr txBox="1">
            <a:spLocks noChangeArrowheads="1"/>
          </p:cNvSpPr>
          <p:nvPr/>
        </p:nvSpPr>
        <p:spPr bwMode="auto">
          <a:xfrm>
            <a:off x="1643063" y="57150"/>
            <a:ext cx="8229600" cy="7571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b="1" dirty="0"/>
              <a:t>  </a:t>
            </a:r>
            <a:r>
              <a:rPr lang="zh-CN" altLang="en-US" b="1" dirty="0" smtClean="0"/>
              <a:t>例：</a:t>
            </a:r>
            <a:r>
              <a:rPr lang="zh-CN" altLang="en-US" b="1" dirty="0"/>
              <a:t>设计满足下列条件的模拟</a:t>
            </a:r>
            <a:r>
              <a:rPr lang="en-US" altLang="zh-CN" b="1" dirty="0"/>
              <a:t>Butterworth</a:t>
            </a:r>
            <a:r>
              <a:rPr lang="zh-CN" altLang="en-US" b="1" dirty="0"/>
              <a:t>低通滤波器</a:t>
            </a:r>
          </a:p>
          <a:p>
            <a:pPr algn="just">
              <a:lnSpc>
                <a:spcPct val="120000"/>
              </a:lnSpc>
            </a:pPr>
            <a:r>
              <a:rPr lang="zh-CN" altLang="en-US" b="1" dirty="0"/>
              <a:t>                  </a:t>
            </a:r>
            <a:r>
              <a:rPr lang="en-US" altLang="zh-CN" b="1" i="1" dirty="0" err="1"/>
              <a:t>f</a:t>
            </a:r>
            <a:r>
              <a:rPr lang="en-US" altLang="zh-CN" b="1" baseline="-25000" dirty="0" err="1"/>
              <a:t>p</a:t>
            </a:r>
            <a:r>
              <a:rPr lang="en-US" altLang="zh-CN" b="1" dirty="0"/>
              <a:t>=1kHz,  </a:t>
            </a:r>
            <a:r>
              <a:rPr lang="en-US" altLang="zh-CN" b="1" i="1" dirty="0"/>
              <a:t>f</a:t>
            </a:r>
            <a:r>
              <a:rPr lang="en-US" altLang="zh-CN" b="1" baseline="-25000" dirty="0"/>
              <a:t>s</a:t>
            </a:r>
            <a:r>
              <a:rPr lang="en-US" altLang="zh-CN" b="1" dirty="0"/>
              <a:t>=5kHz,  </a:t>
            </a:r>
            <a:r>
              <a:rPr lang="en-US" altLang="zh-CN" b="1" i="1" dirty="0" err="1"/>
              <a:t>A</a:t>
            </a:r>
            <a:r>
              <a:rPr lang="en-US" altLang="zh-CN" b="1" baseline="-25000" dirty="0" err="1"/>
              <a:t>p</a:t>
            </a:r>
            <a:r>
              <a:rPr lang="en-US" altLang="zh-CN" b="1" dirty="0"/>
              <a:t>=1dB,   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s</a:t>
            </a:r>
            <a:r>
              <a:rPr lang="en-US" altLang="zh-CN" b="1" dirty="0"/>
              <a:t>=40dB</a:t>
            </a:r>
          </a:p>
        </p:txBody>
      </p:sp>
      <p:sp>
        <p:nvSpPr>
          <p:cNvPr id="93187" name="Text Box 3"/>
          <p:cNvSpPr txBox="1">
            <a:spLocks noChangeArrowheads="1"/>
          </p:cNvSpPr>
          <p:nvPr/>
        </p:nvSpPr>
        <p:spPr bwMode="auto">
          <a:xfrm>
            <a:off x="1447800" y="1147954"/>
            <a:ext cx="91440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 err="1">
                <a:latin typeface="Courier New" panose="02070309020205020404" pitchFamily="49" charset="0"/>
              </a:rPr>
              <a:t>Wp</a:t>
            </a:r>
            <a:r>
              <a:rPr lang="en-US" altLang="zh-CN" sz="2400" b="1" dirty="0">
                <a:latin typeface="Courier New" panose="02070309020205020404" pitchFamily="49" charset="0"/>
              </a:rPr>
              <a:t>=2*pi*1000;Ws=2*pi*5000;Ap=1;As=40;</a:t>
            </a:r>
          </a:p>
          <a:p>
            <a:r>
              <a:rPr lang="en-US" altLang="zh-CN" sz="2400" b="1" dirty="0">
                <a:latin typeface="Courier New" panose="02070309020205020404" pitchFamily="49" charset="0"/>
              </a:rPr>
              <a:t>[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N,Wc</a:t>
            </a:r>
            <a:r>
              <a:rPr lang="en-US" altLang="zh-CN" sz="2400" b="1" dirty="0">
                <a:latin typeface="Courier New" panose="02070309020205020404" pitchFamily="49" charset="0"/>
              </a:rPr>
              <a:t>]=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buttord</a:t>
            </a:r>
            <a:r>
              <a:rPr lang="en-US" altLang="zh-CN" sz="2400" b="1" dirty="0">
                <a:latin typeface="Courier New" panose="02070309020205020404" pitchFamily="49" charset="0"/>
              </a:rPr>
              <a:t>(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Wp,Ws,Ap,As,</a:t>
            </a:r>
            <a:r>
              <a:rPr lang="en-US" altLang="zh-CN" sz="2400" b="1" dirty="0" err="1">
                <a:solidFill>
                  <a:srgbClr val="B22222"/>
                </a:solidFill>
                <a:latin typeface="Courier New" panose="02070309020205020404" pitchFamily="49" charset="0"/>
              </a:rPr>
              <a:t>'s</a:t>
            </a:r>
            <a:r>
              <a:rPr lang="en-US" altLang="zh-CN" sz="2400" b="1" dirty="0">
                <a:solidFill>
                  <a:srgbClr val="B22222"/>
                </a:solidFill>
                <a:latin typeface="Courier New" panose="02070309020205020404" pitchFamily="49" charset="0"/>
              </a:rPr>
              <a:t>'</a:t>
            </a:r>
            <a:r>
              <a:rPr lang="en-US" altLang="zh-CN" sz="2400" b="1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sz="2400" b="1" dirty="0" err="1">
                <a:latin typeface="Courier New" panose="02070309020205020404" pitchFamily="49" charset="0"/>
              </a:rPr>
              <a:t>fprintf</a:t>
            </a:r>
            <a:r>
              <a:rPr lang="en-US" altLang="zh-CN" sz="2400" b="1" dirty="0">
                <a:latin typeface="Courier New" panose="02070309020205020404" pitchFamily="49" charset="0"/>
              </a:rPr>
              <a:t>(</a:t>
            </a:r>
            <a:r>
              <a:rPr lang="en-US" altLang="zh-CN" sz="2400" b="1" dirty="0">
                <a:solidFill>
                  <a:srgbClr val="B22222"/>
                </a:solidFill>
                <a:latin typeface="Courier New" panose="02070309020205020404" pitchFamily="49" charset="0"/>
              </a:rPr>
              <a:t>'Order of the filter=%.0f\</a:t>
            </a:r>
            <a:r>
              <a:rPr lang="en-US" altLang="zh-CN" sz="2400" b="1" dirty="0" err="1">
                <a:solidFill>
                  <a:srgbClr val="B22222"/>
                </a:solidFill>
                <a:latin typeface="Courier New" panose="02070309020205020404" pitchFamily="49" charset="0"/>
              </a:rPr>
              <a:t>n'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,N</a:t>
            </a:r>
            <a:r>
              <a:rPr lang="en-US" altLang="zh-CN" sz="2400" b="1" dirty="0"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sz="2400" b="1" dirty="0">
                <a:latin typeface="Courier New" panose="02070309020205020404" pitchFamily="49" charset="0"/>
              </a:rPr>
              <a:t>[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num,den</a:t>
            </a:r>
            <a:r>
              <a:rPr lang="en-US" altLang="zh-CN" sz="2400" b="1" dirty="0">
                <a:latin typeface="Courier New" panose="02070309020205020404" pitchFamily="49" charset="0"/>
              </a:rPr>
              <a:t>] = butter(N,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Wc</a:t>
            </a:r>
            <a:r>
              <a:rPr lang="en-US" altLang="zh-CN" sz="2400" b="1" dirty="0">
                <a:latin typeface="Courier New" panose="02070309020205020404" pitchFamily="49" charset="0"/>
              </a:rPr>
              <a:t>,</a:t>
            </a:r>
            <a:r>
              <a:rPr lang="en-US" altLang="zh-CN" sz="2400" b="1" dirty="0">
                <a:solidFill>
                  <a:srgbClr val="B22222"/>
                </a:solidFill>
                <a:latin typeface="Courier New" panose="02070309020205020404" pitchFamily="49" charset="0"/>
              </a:rPr>
              <a:t>'s'</a:t>
            </a:r>
            <a:r>
              <a:rPr lang="en-US" altLang="zh-CN" sz="2400" b="1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sz="2400" b="1" dirty="0" err="1">
                <a:latin typeface="Courier New" panose="02070309020205020404" pitchFamily="49" charset="0"/>
              </a:rPr>
              <a:t>disp</a:t>
            </a:r>
            <a:r>
              <a:rPr lang="en-US" altLang="zh-CN" sz="2400" b="1" dirty="0">
                <a:latin typeface="Courier New" panose="02070309020205020404" pitchFamily="49" charset="0"/>
              </a:rPr>
              <a:t>(</a:t>
            </a:r>
            <a:r>
              <a:rPr lang="en-US" altLang="zh-CN" sz="2400" b="1" dirty="0">
                <a:solidFill>
                  <a:srgbClr val="B22222"/>
                </a:solidFill>
                <a:latin typeface="Courier New" panose="02070309020205020404" pitchFamily="49" charset="0"/>
              </a:rPr>
              <a:t>'Numerator polynomial'</a:t>
            </a:r>
            <a:r>
              <a:rPr lang="en-US" altLang="zh-CN" sz="2400" b="1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sz="2400" b="1" dirty="0" err="1">
                <a:latin typeface="Courier New" panose="02070309020205020404" pitchFamily="49" charset="0"/>
              </a:rPr>
              <a:t>fprintf</a:t>
            </a:r>
            <a:r>
              <a:rPr lang="en-US" altLang="zh-CN" sz="2400" b="1" dirty="0">
                <a:latin typeface="Courier New" panose="02070309020205020404" pitchFamily="49" charset="0"/>
              </a:rPr>
              <a:t>(</a:t>
            </a:r>
            <a:r>
              <a:rPr lang="en-US" altLang="zh-CN" sz="2400" b="1" dirty="0">
                <a:solidFill>
                  <a:srgbClr val="B22222"/>
                </a:solidFill>
                <a:latin typeface="Courier New" panose="02070309020205020404" pitchFamily="49" charset="0"/>
              </a:rPr>
              <a:t>'%.4e\n'</a:t>
            </a:r>
            <a:r>
              <a:rPr lang="en-US" altLang="zh-CN" sz="2400" b="1" dirty="0">
                <a:latin typeface="Courier New" panose="02070309020205020404" pitchFamily="49" charset="0"/>
              </a:rPr>
              <a:t>,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num</a:t>
            </a:r>
            <a:r>
              <a:rPr lang="en-US" altLang="zh-CN" sz="2400" b="1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sz="2400" b="1" dirty="0" err="1">
                <a:latin typeface="Courier New" panose="02070309020205020404" pitchFamily="49" charset="0"/>
              </a:rPr>
              <a:t>disp</a:t>
            </a:r>
            <a:r>
              <a:rPr lang="en-US" altLang="zh-CN" sz="2400" b="1" dirty="0">
                <a:latin typeface="Courier New" panose="02070309020205020404" pitchFamily="49" charset="0"/>
              </a:rPr>
              <a:t>(</a:t>
            </a:r>
            <a:r>
              <a:rPr lang="en-US" altLang="zh-CN" sz="2400" b="1" dirty="0">
                <a:solidFill>
                  <a:srgbClr val="B22222"/>
                </a:solidFill>
                <a:latin typeface="Courier New" panose="02070309020205020404" pitchFamily="49" charset="0"/>
              </a:rPr>
              <a:t>'Denominator polynomial'</a:t>
            </a:r>
            <a:r>
              <a:rPr lang="en-US" altLang="zh-CN" sz="2400" b="1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sz="2400" b="1" dirty="0" err="1">
                <a:latin typeface="Courier New" panose="02070309020205020404" pitchFamily="49" charset="0"/>
              </a:rPr>
              <a:t>fprintf</a:t>
            </a:r>
            <a:r>
              <a:rPr lang="en-US" altLang="zh-CN" sz="2400" b="1" dirty="0">
                <a:latin typeface="Courier New" panose="02070309020205020404" pitchFamily="49" charset="0"/>
              </a:rPr>
              <a:t>(</a:t>
            </a:r>
            <a:r>
              <a:rPr lang="en-US" altLang="zh-CN" sz="2400" b="1" dirty="0">
                <a:solidFill>
                  <a:srgbClr val="B22222"/>
                </a:solidFill>
                <a:latin typeface="Courier New" panose="02070309020205020404" pitchFamily="49" charset="0"/>
              </a:rPr>
              <a:t>'%.4e\</a:t>
            </a:r>
            <a:r>
              <a:rPr lang="en-US" altLang="zh-CN" sz="2400" b="1" dirty="0" err="1">
                <a:solidFill>
                  <a:srgbClr val="B22222"/>
                </a:solidFill>
                <a:latin typeface="Courier New" panose="02070309020205020404" pitchFamily="49" charset="0"/>
              </a:rPr>
              <a:t>n'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,den</a:t>
            </a:r>
            <a:r>
              <a:rPr lang="en-US" altLang="zh-CN" sz="2400" b="1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sz="2400" b="1" dirty="0">
                <a:latin typeface="Courier New" panose="02070309020205020404" pitchFamily="49" charset="0"/>
              </a:rPr>
              <a:t>omega=[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Wp</a:t>
            </a:r>
            <a:r>
              <a:rPr lang="en-US" altLang="zh-CN" sz="2400" b="1" dirty="0"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Ws</a:t>
            </a:r>
            <a:r>
              <a:rPr lang="en-US" altLang="zh-CN" sz="2400" b="1" dirty="0">
                <a:latin typeface="Courier New" panose="02070309020205020404" pitchFamily="49" charset="0"/>
              </a:rPr>
              <a:t>];h = 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freqs</a:t>
            </a:r>
            <a:r>
              <a:rPr lang="en-US" altLang="zh-CN" sz="2400" b="1" dirty="0">
                <a:latin typeface="Courier New" panose="02070309020205020404" pitchFamily="49" charset="0"/>
              </a:rPr>
              <a:t>(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num,den,omega</a:t>
            </a:r>
            <a:r>
              <a:rPr lang="en-US" altLang="zh-CN" sz="2400" b="1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sz="2400" b="1" dirty="0" err="1">
                <a:latin typeface="Courier New" panose="02070309020205020404" pitchFamily="49" charset="0"/>
              </a:rPr>
              <a:t>fprintf</a:t>
            </a:r>
            <a:r>
              <a:rPr lang="en-US" altLang="zh-CN" sz="2400" b="1" dirty="0">
                <a:latin typeface="Courier New" panose="02070309020205020404" pitchFamily="49" charset="0"/>
              </a:rPr>
              <a:t>(</a:t>
            </a:r>
            <a:r>
              <a:rPr lang="en-US" altLang="zh-CN" sz="2400" b="1" dirty="0">
                <a:solidFill>
                  <a:srgbClr val="B22222"/>
                </a:solidFill>
                <a:latin typeface="Courier New" panose="02070309020205020404" pitchFamily="49" charset="0"/>
              </a:rPr>
              <a:t>'</a:t>
            </a:r>
            <a:r>
              <a:rPr lang="en-US" altLang="zh-CN" sz="2400" b="1" dirty="0" err="1">
                <a:solidFill>
                  <a:srgbClr val="B22222"/>
                </a:solidFill>
                <a:latin typeface="Courier New" panose="02070309020205020404" pitchFamily="49" charset="0"/>
              </a:rPr>
              <a:t>Ap</a:t>
            </a:r>
            <a:r>
              <a:rPr lang="en-US" altLang="zh-CN" sz="2400" b="1" dirty="0">
                <a:solidFill>
                  <a:srgbClr val="B22222"/>
                </a:solidFill>
                <a:latin typeface="Courier New" panose="02070309020205020404" pitchFamily="49" charset="0"/>
              </a:rPr>
              <a:t>= %.4f\n'</a:t>
            </a:r>
            <a:r>
              <a:rPr lang="en-US" altLang="zh-CN" sz="2400" b="1" dirty="0">
                <a:latin typeface="Courier New" panose="02070309020205020404" pitchFamily="49" charset="0"/>
              </a:rPr>
              <a:t>,-20*log10(abs(h(1))));</a:t>
            </a:r>
          </a:p>
          <a:p>
            <a:r>
              <a:rPr lang="en-US" altLang="zh-CN" sz="2400" b="1" dirty="0" err="1">
                <a:latin typeface="Courier New" panose="02070309020205020404" pitchFamily="49" charset="0"/>
              </a:rPr>
              <a:t>fprintf</a:t>
            </a:r>
            <a:r>
              <a:rPr lang="en-US" altLang="zh-CN" sz="2400" b="1" dirty="0">
                <a:latin typeface="Courier New" panose="02070309020205020404" pitchFamily="49" charset="0"/>
              </a:rPr>
              <a:t>(</a:t>
            </a:r>
            <a:r>
              <a:rPr lang="en-US" altLang="zh-CN" sz="2400" b="1" dirty="0">
                <a:solidFill>
                  <a:srgbClr val="B22222"/>
                </a:solidFill>
                <a:latin typeface="Courier New" panose="02070309020205020404" pitchFamily="49" charset="0"/>
              </a:rPr>
              <a:t>'As= %.4f\n'</a:t>
            </a:r>
            <a:r>
              <a:rPr lang="en-US" altLang="zh-CN" sz="2400" b="1" dirty="0">
                <a:latin typeface="Courier New" panose="02070309020205020404" pitchFamily="49" charset="0"/>
              </a:rPr>
              <a:t>,-20*log10(abs(h(2))));</a:t>
            </a:r>
          </a:p>
          <a:p>
            <a:r>
              <a:rPr lang="en-US" altLang="zh-CN" sz="2400" b="1" dirty="0">
                <a:latin typeface="Courier New" panose="02070309020205020404" pitchFamily="49" charset="0"/>
              </a:rPr>
              <a:t>omega = [0: 200: 12000*pi];</a:t>
            </a:r>
          </a:p>
          <a:p>
            <a:r>
              <a:rPr lang="en-US" altLang="zh-CN" sz="2400" b="1" dirty="0">
                <a:latin typeface="Courier New" panose="02070309020205020404" pitchFamily="49" charset="0"/>
              </a:rPr>
              <a:t>h = 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freqs</a:t>
            </a:r>
            <a:r>
              <a:rPr lang="en-US" altLang="zh-CN" sz="2400" b="1" dirty="0">
                <a:latin typeface="Courier New" panose="02070309020205020404" pitchFamily="49" charset="0"/>
              </a:rPr>
              <a:t>(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num,den,omega</a:t>
            </a:r>
            <a:r>
              <a:rPr lang="en-US" altLang="zh-CN" sz="2400" b="1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sz="2400" b="1" dirty="0">
                <a:latin typeface="Courier New" panose="02070309020205020404" pitchFamily="49" charset="0"/>
              </a:rPr>
              <a:t>gain = 20*log10(abs(h));plot (omega/(2*pi),gain);</a:t>
            </a:r>
          </a:p>
          <a:p>
            <a:r>
              <a:rPr lang="en-US" altLang="zh-CN" sz="2400" b="1" dirty="0" err="1">
                <a:latin typeface="Courier New" panose="02070309020205020404" pitchFamily="49" charset="0"/>
              </a:rPr>
              <a:t>xlabel</a:t>
            </a:r>
            <a:r>
              <a:rPr lang="en-US" altLang="zh-CN" sz="2400" b="1" dirty="0">
                <a:latin typeface="Courier New" panose="02070309020205020404" pitchFamily="49" charset="0"/>
              </a:rPr>
              <a:t>(</a:t>
            </a:r>
            <a:r>
              <a:rPr lang="en-US" altLang="zh-CN" sz="2400" b="1" dirty="0">
                <a:solidFill>
                  <a:srgbClr val="B22222"/>
                </a:solidFill>
                <a:latin typeface="Courier New" panose="02070309020205020404" pitchFamily="49" charset="0"/>
              </a:rPr>
              <a:t>'Frequency in Hz'</a:t>
            </a:r>
            <a:r>
              <a:rPr lang="en-US" altLang="zh-CN" sz="2400" b="1" dirty="0">
                <a:latin typeface="Courier New" panose="02070309020205020404" pitchFamily="49" charset="0"/>
              </a:rPr>
              <a:t>); 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ylabel</a:t>
            </a:r>
            <a:r>
              <a:rPr lang="en-US" altLang="zh-CN" sz="2400" b="1" dirty="0">
                <a:latin typeface="Courier New" panose="02070309020205020404" pitchFamily="49" charset="0"/>
              </a:rPr>
              <a:t>(</a:t>
            </a:r>
            <a:r>
              <a:rPr lang="en-US" altLang="zh-CN" sz="2400" b="1" dirty="0">
                <a:solidFill>
                  <a:srgbClr val="B22222"/>
                </a:solidFill>
                <a:latin typeface="Courier New" panose="02070309020205020404" pitchFamily="49" charset="0"/>
              </a:rPr>
              <a:t>'Gain in dB'</a:t>
            </a:r>
            <a:r>
              <a:rPr lang="en-US" altLang="zh-CN" sz="2400" b="1" dirty="0">
                <a:latin typeface="Courier New" panose="02070309020205020404" pitchFamily="49" charset="0"/>
              </a:rPr>
              <a:t>);</a:t>
            </a:r>
            <a:endParaRPr lang="en-US" altLang="zh-CN" sz="2400" b="1" dirty="0"/>
          </a:p>
        </p:txBody>
      </p:sp>
      <p:sp>
        <p:nvSpPr>
          <p:cNvPr id="93188" name="Rectangle 4"/>
          <p:cNvSpPr>
            <a:spLocks noChangeArrowheads="1"/>
          </p:cNvSpPr>
          <p:nvPr/>
        </p:nvSpPr>
        <p:spPr bwMode="auto">
          <a:xfrm>
            <a:off x="1676400" y="10096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77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9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93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93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93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931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931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2" dur="500"/>
                                        <p:tgtEl>
                                          <p:spTgt spid="931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7" dur="500"/>
                                        <p:tgtEl>
                                          <p:spTgt spid="931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2711450" y="1390650"/>
            <a:ext cx="7486650" cy="3810000"/>
          </a:xfrm>
          <a:prstGeom prst="rect">
            <a:avLst/>
          </a:prstGeom>
          <a:noFill/>
          <a:ln w="22225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1" name="Line 3"/>
          <p:cNvSpPr>
            <a:spLocks noChangeShapeType="1"/>
          </p:cNvSpPr>
          <p:nvPr/>
        </p:nvSpPr>
        <p:spPr bwMode="auto">
          <a:xfrm flipV="1">
            <a:off x="2711450" y="1390650"/>
            <a:ext cx="1588" cy="3810000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2" name="Freeform 4"/>
          <p:cNvSpPr>
            <a:spLocks/>
          </p:cNvSpPr>
          <p:nvPr/>
        </p:nvSpPr>
        <p:spPr bwMode="auto">
          <a:xfrm>
            <a:off x="3956051" y="1400175"/>
            <a:ext cx="22225" cy="3811588"/>
          </a:xfrm>
          <a:custGeom>
            <a:avLst/>
            <a:gdLst>
              <a:gd name="T0" fmla="*/ 16 w 16"/>
              <a:gd name="T1" fmla="*/ 2809 h 2817"/>
              <a:gd name="T2" fmla="*/ 0 w 16"/>
              <a:gd name="T3" fmla="*/ 2729 h 2817"/>
              <a:gd name="T4" fmla="*/ 16 w 16"/>
              <a:gd name="T5" fmla="*/ 2729 h 2817"/>
              <a:gd name="T6" fmla="*/ 0 w 16"/>
              <a:gd name="T7" fmla="*/ 2649 h 2817"/>
              <a:gd name="T8" fmla="*/ 8 w 16"/>
              <a:gd name="T9" fmla="*/ 2657 h 2817"/>
              <a:gd name="T10" fmla="*/ 8 w 16"/>
              <a:gd name="T11" fmla="*/ 2561 h 2817"/>
              <a:gd name="T12" fmla="*/ 0 w 16"/>
              <a:gd name="T13" fmla="*/ 2569 h 2817"/>
              <a:gd name="T14" fmla="*/ 16 w 16"/>
              <a:gd name="T15" fmla="*/ 2489 h 2817"/>
              <a:gd name="T16" fmla="*/ 0 w 16"/>
              <a:gd name="T17" fmla="*/ 2409 h 2817"/>
              <a:gd name="T18" fmla="*/ 16 w 16"/>
              <a:gd name="T19" fmla="*/ 2409 h 2817"/>
              <a:gd name="T20" fmla="*/ 0 w 16"/>
              <a:gd name="T21" fmla="*/ 2329 h 2817"/>
              <a:gd name="T22" fmla="*/ 8 w 16"/>
              <a:gd name="T23" fmla="*/ 2337 h 2817"/>
              <a:gd name="T24" fmla="*/ 8 w 16"/>
              <a:gd name="T25" fmla="*/ 2241 h 2817"/>
              <a:gd name="T26" fmla="*/ 0 w 16"/>
              <a:gd name="T27" fmla="*/ 2249 h 2817"/>
              <a:gd name="T28" fmla="*/ 16 w 16"/>
              <a:gd name="T29" fmla="*/ 2169 h 2817"/>
              <a:gd name="T30" fmla="*/ 0 w 16"/>
              <a:gd name="T31" fmla="*/ 2089 h 2817"/>
              <a:gd name="T32" fmla="*/ 16 w 16"/>
              <a:gd name="T33" fmla="*/ 2089 h 2817"/>
              <a:gd name="T34" fmla="*/ 0 w 16"/>
              <a:gd name="T35" fmla="*/ 2009 h 2817"/>
              <a:gd name="T36" fmla="*/ 8 w 16"/>
              <a:gd name="T37" fmla="*/ 2017 h 2817"/>
              <a:gd name="T38" fmla="*/ 8 w 16"/>
              <a:gd name="T39" fmla="*/ 1921 h 2817"/>
              <a:gd name="T40" fmla="*/ 0 w 16"/>
              <a:gd name="T41" fmla="*/ 1929 h 2817"/>
              <a:gd name="T42" fmla="*/ 16 w 16"/>
              <a:gd name="T43" fmla="*/ 1849 h 2817"/>
              <a:gd name="T44" fmla="*/ 0 w 16"/>
              <a:gd name="T45" fmla="*/ 1769 h 2817"/>
              <a:gd name="T46" fmla="*/ 16 w 16"/>
              <a:gd name="T47" fmla="*/ 1769 h 2817"/>
              <a:gd name="T48" fmla="*/ 0 w 16"/>
              <a:gd name="T49" fmla="*/ 1689 h 2817"/>
              <a:gd name="T50" fmla="*/ 8 w 16"/>
              <a:gd name="T51" fmla="*/ 1697 h 2817"/>
              <a:gd name="T52" fmla="*/ 8 w 16"/>
              <a:gd name="T53" fmla="*/ 1601 h 2817"/>
              <a:gd name="T54" fmla="*/ 0 w 16"/>
              <a:gd name="T55" fmla="*/ 1609 h 2817"/>
              <a:gd name="T56" fmla="*/ 16 w 16"/>
              <a:gd name="T57" fmla="*/ 1529 h 2817"/>
              <a:gd name="T58" fmla="*/ 0 w 16"/>
              <a:gd name="T59" fmla="*/ 1449 h 2817"/>
              <a:gd name="T60" fmla="*/ 16 w 16"/>
              <a:gd name="T61" fmla="*/ 1449 h 2817"/>
              <a:gd name="T62" fmla="*/ 0 w 16"/>
              <a:gd name="T63" fmla="*/ 1369 h 2817"/>
              <a:gd name="T64" fmla="*/ 8 w 16"/>
              <a:gd name="T65" fmla="*/ 1377 h 2817"/>
              <a:gd name="T66" fmla="*/ 8 w 16"/>
              <a:gd name="T67" fmla="*/ 1281 h 2817"/>
              <a:gd name="T68" fmla="*/ 0 w 16"/>
              <a:gd name="T69" fmla="*/ 1289 h 2817"/>
              <a:gd name="T70" fmla="*/ 16 w 16"/>
              <a:gd name="T71" fmla="*/ 1209 h 2817"/>
              <a:gd name="T72" fmla="*/ 0 w 16"/>
              <a:gd name="T73" fmla="*/ 1129 h 2817"/>
              <a:gd name="T74" fmla="*/ 16 w 16"/>
              <a:gd name="T75" fmla="*/ 1129 h 2817"/>
              <a:gd name="T76" fmla="*/ 0 w 16"/>
              <a:gd name="T77" fmla="*/ 1049 h 2817"/>
              <a:gd name="T78" fmla="*/ 8 w 16"/>
              <a:gd name="T79" fmla="*/ 1057 h 2817"/>
              <a:gd name="T80" fmla="*/ 8 w 16"/>
              <a:gd name="T81" fmla="*/ 961 h 2817"/>
              <a:gd name="T82" fmla="*/ 0 w 16"/>
              <a:gd name="T83" fmla="*/ 969 h 2817"/>
              <a:gd name="T84" fmla="*/ 16 w 16"/>
              <a:gd name="T85" fmla="*/ 889 h 2817"/>
              <a:gd name="T86" fmla="*/ 0 w 16"/>
              <a:gd name="T87" fmla="*/ 809 h 2817"/>
              <a:gd name="T88" fmla="*/ 16 w 16"/>
              <a:gd name="T89" fmla="*/ 809 h 2817"/>
              <a:gd name="T90" fmla="*/ 0 w 16"/>
              <a:gd name="T91" fmla="*/ 729 h 2817"/>
              <a:gd name="T92" fmla="*/ 8 w 16"/>
              <a:gd name="T93" fmla="*/ 737 h 2817"/>
              <a:gd name="T94" fmla="*/ 8 w 16"/>
              <a:gd name="T95" fmla="*/ 641 h 2817"/>
              <a:gd name="T96" fmla="*/ 0 w 16"/>
              <a:gd name="T97" fmla="*/ 649 h 2817"/>
              <a:gd name="T98" fmla="*/ 16 w 16"/>
              <a:gd name="T99" fmla="*/ 568 h 2817"/>
              <a:gd name="T100" fmla="*/ 0 w 16"/>
              <a:gd name="T101" fmla="*/ 488 h 2817"/>
              <a:gd name="T102" fmla="*/ 16 w 16"/>
              <a:gd name="T103" fmla="*/ 488 h 2817"/>
              <a:gd name="T104" fmla="*/ 0 w 16"/>
              <a:gd name="T105" fmla="*/ 408 h 2817"/>
              <a:gd name="T106" fmla="*/ 8 w 16"/>
              <a:gd name="T107" fmla="*/ 416 h 2817"/>
              <a:gd name="T108" fmla="*/ 8 w 16"/>
              <a:gd name="T109" fmla="*/ 320 h 2817"/>
              <a:gd name="T110" fmla="*/ 0 w 16"/>
              <a:gd name="T111" fmla="*/ 328 h 2817"/>
              <a:gd name="T112" fmla="*/ 16 w 16"/>
              <a:gd name="T113" fmla="*/ 248 h 2817"/>
              <a:gd name="T114" fmla="*/ 0 w 16"/>
              <a:gd name="T115" fmla="*/ 168 h 2817"/>
              <a:gd name="T116" fmla="*/ 16 w 16"/>
              <a:gd name="T117" fmla="*/ 168 h 2817"/>
              <a:gd name="T118" fmla="*/ 0 w 16"/>
              <a:gd name="T119" fmla="*/ 88 h 2817"/>
              <a:gd name="T120" fmla="*/ 8 w 16"/>
              <a:gd name="T121" fmla="*/ 96 h 2817"/>
              <a:gd name="T122" fmla="*/ 8 w 16"/>
              <a:gd name="T123" fmla="*/ 0 h 2817"/>
              <a:gd name="T124" fmla="*/ 0 w 16"/>
              <a:gd name="T125" fmla="*/ 8 h 28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" h="2817">
                <a:moveTo>
                  <a:pt x="0" y="2809"/>
                </a:moveTo>
                <a:lnTo>
                  <a:pt x="0" y="2809"/>
                </a:lnTo>
                <a:cubicBezTo>
                  <a:pt x="0" y="2805"/>
                  <a:pt x="3" y="2801"/>
                  <a:pt x="8" y="2801"/>
                </a:cubicBezTo>
                <a:cubicBezTo>
                  <a:pt x="12" y="2801"/>
                  <a:pt x="16" y="2805"/>
                  <a:pt x="16" y="2809"/>
                </a:cubicBezTo>
                <a:lnTo>
                  <a:pt x="16" y="2809"/>
                </a:lnTo>
                <a:cubicBezTo>
                  <a:pt x="16" y="2813"/>
                  <a:pt x="12" y="2817"/>
                  <a:pt x="8" y="2817"/>
                </a:cubicBezTo>
                <a:cubicBezTo>
                  <a:pt x="3" y="2817"/>
                  <a:pt x="0" y="2813"/>
                  <a:pt x="0" y="2809"/>
                </a:cubicBezTo>
                <a:close/>
                <a:moveTo>
                  <a:pt x="0" y="2729"/>
                </a:moveTo>
                <a:lnTo>
                  <a:pt x="0" y="2729"/>
                </a:lnTo>
                <a:cubicBezTo>
                  <a:pt x="0" y="2725"/>
                  <a:pt x="3" y="2721"/>
                  <a:pt x="8" y="2721"/>
                </a:cubicBezTo>
                <a:cubicBezTo>
                  <a:pt x="12" y="2721"/>
                  <a:pt x="16" y="2725"/>
                  <a:pt x="16" y="2729"/>
                </a:cubicBezTo>
                <a:lnTo>
                  <a:pt x="16" y="2729"/>
                </a:lnTo>
                <a:cubicBezTo>
                  <a:pt x="16" y="2733"/>
                  <a:pt x="12" y="2737"/>
                  <a:pt x="8" y="2737"/>
                </a:cubicBezTo>
                <a:cubicBezTo>
                  <a:pt x="3" y="2737"/>
                  <a:pt x="0" y="2733"/>
                  <a:pt x="0" y="2729"/>
                </a:cubicBezTo>
                <a:close/>
                <a:moveTo>
                  <a:pt x="0" y="2649"/>
                </a:moveTo>
                <a:lnTo>
                  <a:pt x="0" y="2649"/>
                </a:lnTo>
                <a:cubicBezTo>
                  <a:pt x="0" y="2644"/>
                  <a:pt x="3" y="2641"/>
                  <a:pt x="8" y="2641"/>
                </a:cubicBezTo>
                <a:cubicBezTo>
                  <a:pt x="12" y="2641"/>
                  <a:pt x="16" y="2644"/>
                  <a:pt x="16" y="2649"/>
                </a:cubicBezTo>
                <a:lnTo>
                  <a:pt x="16" y="2649"/>
                </a:lnTo>
                <a:cubicBezTo>
                  <a:pt x="16" y="2653"/>
                  <a:pt x="12" y="2657"/>
                  <a:pt x="8" y="2657"/>
                </a:cubicBezTo>
                <a:cubicBezTo>
                  <a:pt x="3" y="2657"/>
                  <a:pt x="0" y="2653"/>
                  <a:pt x="0" y="2649"/>
                </a:cubicBezTo>
                <a:close/>
                <a:moveTo>
                  <a:pt x="0" y="2569"/>
                </a:moveTo>
                <a:lnTo>
                  <a:pt x="0" y="2569"/>
                </a:lnTo>
                <a:cubicBezTo>
                  <a:pt x="0" y="2564"/>
                  <a:pt x="3" y="2561"/>
                  <a:pt x="8" y="2561"/>
                </a:cubicBezTo>
                <a:cubicBezTo>
                  <a:pt x="12" y="2561"/>
                  <a:pt x="16" y="2564"/>
                  <a:pt x="16" y="2569"/>
                </a:cubicBezTo>
                <a:lnTo>
                  <a:pt x="16" y="2569"/>
                </a:lnTo>
                <a:cubicBezTo>
                  <a:pt x="16" y="2573"/>
                  <a:pt x="12" y="2577"/>
                  <a:pt x="8" y="2577"/>
                </a:cubicBezTo>
                <a:cubicBezTo>
                  <a:pt x="3" y="2577"/>
                  <a:pt x="0" y="2573"/>
                  <a:pt x="0" y="2569"/>
                </a:cubicBezTo>
                <a:close/>
                <a:moveTo>
                  <a:pt x="0" y="2489"/>
                </a:moveTo>
                <a:lnTo>
                  <a:pt x="0" y="2489"/>
                </a:lnTo>
                <a:cubicBezTo>
                  <a:pt x="0" y="2484"/>
                  <a:pt x="3" y="2481"/>
                  <a:pt x="8" y="2481"/>
                </a:cubicBezTo>
                <a:cubicBezTo>
                  <a:pt x="12" y="2481"/>
                  <a:pt x="16" y="2484"/>
                  <a:pt x="16" y="2489"/>
                </a:cubicBezTo>
                <a:lnTo>
                  <a:pt x="16" y="2489"/>
                </a:lnTo>
                <a:cubicBezTo>
                  <a:pt x="16" y="2493"/>
                  <a:pt x="12" y="2497"/>
                  <a:pt x="8" y="2497"/>
                </a:cubicBezTo>
                <a:cubicBezTo>
                  <a:pt x="3" y="2497"/>
                  <a:pt x="0" y="2493"/>
                  <a:pt x="0" y="2489"/>
                </a:cubicBezTo>
                <a:close/>
                <a:moveTo>
                  <a:pt x="0" y="2409"/>
                </a:moveTo>
                <a:lnTo>
                  <a:pt x="0" y="2409"/>
                </a:lnTo>
                <a:cubicBezTo>
                  <a:pt x="0" y="2404"/>
                  <a:pt x="3" y="2401"/>
                  <a:pt x="8" y="2401"/>
                </a:cubicBezTo>
                <a:cubicBezTo>
                  <a:pt x="12" y="2401"/>
                  <a:pt x="16" y="2404"/>
                  <a:pt x="16" y="2409"/>
                </a:cubicBezTo>
                <a:lnTo>
                  <a:pt x="16" y="2409"/>
                </a:lnTo>
                <a:cubicBezTo>
                  <a:pt x="16" y="2413"/>
                  <a:pt x="12" y="2417"/>
                  <a:pt x="8" y="2417"/>
                </a:cubicBezTo>
                <a:cubicBezTo>
                  <a:pt x="3" y="2417"/>
                  <a:pt x="0" y="2413"/>
                  <a:pt x="0" y="2409"/>
                </a:cubicBezTo>
                <a:close/>
                <a:moveTo>
                  <a:pt x="0" y="2329"/>
                </a:moveTo>
                <a:lnTo>
                  <a:pt x="0" y="2329"/>
                </a:lnTo>
                <a:cubicBezTo>
                  <a:pt x="0" y="2324"/>
                  <a:pt x="3" y="2321"/>
                  <a:pt x="8" y="2321"/>
                </a:cubicBezTo>
                <a:cubicBezTo>
                  <a:pt x="12" y="2321"/>
                  <a:pt x="16" y="2324"/>
                  <a:pt x="16" y="2329"/>
                </a:cubicBezTo>
                <a:lnTo>
                  <a:pt x="16" y="2329"/>
                </a:lnTo>
                <a:cubicBezTo>
                  <a:pt x="16" y="2333"/>
                  <a:pt x="12" y="2337"/>
                  <a:pt x="8" y="2337"/>
                </a:cubicBezTo>
                <a:cubicBezTo>
                  <a:pt x="3" y="2337"/>
                  <a:pt x="0" y="2333"/>
                  <a:pt x="0" y="2329"/>
                </a:cubicBezTo>
                <a:close/>
                <a:moveTo>
                  <a:pt x="0" y="2249"/>
                </a:moveTo>
                <a:lnTo>
                  <a:pt x="0" y="2249"/>
                </a:lnTo>
                <a:cubicBezTo>
                  <a:pt x="0" y="2244"/>
                  <a:pt x="3" y="2241"/>
                  <a:pt x="8" y="2241"/>
                </a:cubicBezTo>
                <a:cubicBezTo>
                  <a:pt x="12" y="2241"/>
                  <a:pt x="16" y="2244"/>
                  <a:pt x="16" y="2249"/>
                </a:cubicBezTo>
                <a:lnTo>
                  <a:pt x="16" y="2249"/>
                </a:lnTo>
                <a:cubicBezTo>
                  <a:pt x="16" y="2253"/>
                  <a:pt x="12" y="2257"/>
                  <a:pt x="8" y="2257"/>
                </a:cubicBezTo>
                <a:cubicBezTo>
                  <a:pt x="3" y="2257"/>
                  <a:pt x="0" y="2253"/>
                  <a:pt x="0" y="2249"/>
                </a:cubicBezTo>
                <a:close/>
                <a:moveTo>
                  <a:pt x="0" y="2169"/>
                </a:moveTo>
                <a:lnTo>
                  <a:pt x="0" y="2169"/>
                </a:lnTo>
                <a:cubicBezTo>
                  <a:pt x="0" y="2164"/>
                  <a:pt x="3" y="2161"/>
                  <a:pt x="8" y="2161"/>
                </a:cubicBezTo>
                <a:cubicBezTo>
                  <a:pt x="12" y="2161"/>
                  <a:pt x="16" y="2164"/>
                  <a:pt x="16" y="2169"/>
                </a:cubicBezTo>
                <a:lnTo>
                  <a:pt x="16" y="2169"/>
                </a:lnTo>
                <a:cubicBezTo>
                  <a:pt x="16" y="2173"/>
                  <a:pt x="12" y="2177"/>
                  <a:pt x="8" y="2177"/>
                </a:cubicBezTo>
                <a:cubicBezTo>
                  <a:pt x="3" y="2177"/>
                  <a:pt x="0" y="2173"/>
                  <a:pt x="0" y="2169"/>
                </a:cubicBezTo>
                <a:close/>
                <a:moveTo>
                  <a:pt x="0" y="2089"/>
                </a:moveTo>
                <a:lnTo>
                  <a:pt x="0" y="2089"/>
                </a:lnTo>
                <a:cubicBezTo>
                  <a:pt x="0" y="2084"/>
                  <a:pt x="3" y="2081"/>
                  <a:pt x="8" y="2081"/>
                </a:cubicBezTo>
                <a:cubicBezTo>
                  <a:pt x="12" y="2081"/>
                  <a:pt x="16" y="2084"/>
                  <a:pt x="16" y="2089"/>
                </a:cubicBezTo>
                <a:lnTo>
                  <a:pt x="16" y="2089"/>
                </a:lnTo>
                <a:cubicBezTo>
                  <a:pt x="16" y="2093"/>
                  <a:pt x="12" y="2097"/>
                  <a:pt x="8" y="2097"/>
                </a:cubicBezTo>
                <a:cubicBezTo>
                  <a:pt x="3" y="2097"/>
                  <a:pt x="0" y="2093"/>
                  <a:pt x="0" y="2089"/>
                </a:cubicBezTo>
                <a:close/>
                <a:moveTo>
                  <a:pt x="0" y="2009"/>
                </a:moveTo>
                <a:lnTo>
                  <a:pt x="0" y="2009"/>
                </a:lnTo>
                <a:cubicBezTo>
                  <a:pt x="0" y="2004"/>
                  <a:pt x="3" y="2001"/>
                  <a:pt x="8" y="2001"/>
                </a:cubicBezTo>
                <a:cubicBezTo>
                  <a:pt x="12" y="2001"/>
                  <a:pt x="16" y="2004"/>
                  <a:pt x="16" y="2009"/>
                </a:cubicBezTo>
                <a:lnTo>
                  <a:pt x="16" y="2009"/>
                </a:lnTo>
                <a:cubicBezTo>
                  <a:pt x="16" y="2013"/>
                  <a:pt x="12" y="2017"/>
                  <a:pt x="8" y="2017"/>
                </a:cubicBezTo>
                <a:cubicBezTo>
                  <a:pt x="3" y="2017"/>
                  <a:pt x="0" y="2013"/>
                  <a:pt x="0" y="2009"/>
                </a:cubicBezTo>
                <a:close/>
                <a:moveTo>
                  <a:pt x="0" y="1929"/>
                </a:moveTo>
                <a:lnTo>
                  <a:pt x="0" y="1929"/>
                </a:lnTo>
                <a:cubicBezTo>
                  <a:pt x="0" y="1924"/>
                  <a:pt x="3" y="1921"/>
                  <a:pt x="8" y="1921"/>
                </a:cubicBezTo>
                <a:cubicBezTo>
                  <a:pt x="12" y="1921"/>
                  <a:pt x="16" y="1924"/>
                  <a:pt x="16" y="1929"/>
                </a:cubicBezTo>
                <a:lnTo>
                  <a:pt x="16" y="1929"/>
                </a:lnTo>
                <a:cubicBezTo>
                  <a:pt x="16" y="1933"/>
                  <a:pt x="12" y="1937"/>
                  <a:pt x="8" y="1937"/>
                </a:cubicBezTo>
                <a:cubicBezTo>
                  <a:pt x="3" y="1937"/>
                  <a:pt x="0" y="1933"/>
                  <a:pt x="0" y="1929"/>
                </a:cubicBezTo>
                <a:close/>
                <a:moveTo>
                  <a:pt x="0" y="1849"/>
                </a:moveTo>
                <a:lnTo>
                  <a:pt x="0" y="1849"/>
                </a:lnTo>
                <a:cubicBezTo>
                  <a:pt x="0" y="1844"/>
                  <a:pt x="3" y="1841"/>
                  <a:pt x="8" y="1841"/>
                </a:cubicBezTo>
                <a:cubicBezTo>
                  <a:pt x="12" y="1841"/>
                  <a:pt x="16" y="1844"/>
                  <a:pt x="16" y="1849"/>
                </a:cubicBezTo>
                <a:lnTo>
                  <a:pt x="16" y="1849"/>
                </a:lnTo>
                <a:cubicBezTo>
                  <a:pt x="16" y="1853"/>
                  <a:pt x="12" y="1857"/>
                  <a:pt x="8" y="1857"/>
                </a:cubicBezTo>
                <a:cubicBezTo>
                  <a:pt x="3" y="1857"/>
                  <a:pt x="0" y="1853"/>
                  <a:pt x="0" y="1849"/>
                </a:cubicBezTo>
                <a:close/>
                <a:moveTo>
                  <a:pt x="0" y="1769"/>
                </a:moveTo>
                <a:lnTo>
                  <a:pt x="0" y="1769"/>
                </a:lnTo>
                <a:cubicBezTo>
                  <a:pt x="0" y="1764"/>
                  <a:pt x="3" y="1761"/>
                  <a:pt x="8" y="1761"/>
                </a:cubicBezTo>
                <a:cubicBezTo>
                  <a:pt x="12" y="1761"/>
                  <a:pt x="16" y="1764"/>
                  <a:pt x="16" y="1769"/>
                </a:cubicBezTo>
                <a:lnTo>
                  <a:pt x="16" y="1769"/>
                </a:lnTo>
                <a:cubicBezTo>
                  <a:pt x="16" y="1773"/>
                  <a:pt x="12" y="1777"/>
                  <a:pt x="8" y="1777"/>
                </a:cubicBezTo>
                <a:cubicBezTo>
                  <a:pt x="3" y="1777"/>
                  <a:pt x="0" y="1773"/>
                  <a:pt x="0" y="1769"/>
                </a:cubicBezTo>
                <a:close/>
                <a:moveTo>
                  <a:pt x="0" y="1689"/>
                </a:moveTo>
                <a:lnTo>
                  <a:pt x="0" y="1689"/>
                </a:lnTo>
                <a:cubicBezTo>
                  <a:pt x="0" y="1684"/>
                  <a:pt x="3" y="1681"/>
                  <a:pt x="8" y="1681"/>
                </a:cubicBezTo>
                <a:cubicBezTo>
                  <a:pt x="12" y="1681"/>
                  <a:pt x="16" y="1684"/>
                  <a:pt x="16" y="1689"/>
                </a:cubicBezTo>
                <a:lnTo>
                  <a:pt x="16" y="1689"/>
                </a:lnTo>
                <a:cubicBezTo>
                  <a:pt x="16" y="1693"/>
                  <a:pt x="12" y="1697"/>
                  <a:pt x="8" y="1697"/>
                </a:cubicBezTo>
                <a:cubicBezTo>
                  <a:pt x="3" y="1697"/>
                  <a:pt x="0" y="1693"/>
                  <a:pt x="0" y="1689"/>
                </a:cubicBezTo>
                <a:close/>
                <a:moveTo>
                  <a:pt x="0" y="1609"/>
                </a:moveTo>
                <a:lnTo>
                  <a:pt x="0" y="1609"/>
                </a:lnTo>
                <a:cubicBezTo>
                  <a:pt x="0" y="1604"/>
                  <a:pt x="3" y="1601"/>
                  <a:pt x="8" y="1601"/>
                </a:cubicBezTo>
                <a:cubicBezTo>
                  <a:pt x="12" y="1601"/>
                  <a:pt x="16" y="1604"/>
                  <a:pt x="16" y="1609"/>
                </a:cubicBezTo>
                <a:lnTo>
                  <a:pt x="16" y="1609"/>
                </a:lnTo>
                <a:cubicBezTo>
                  <a:pt x="16" y="1613"/>
                  <a:pt x="12" y="1617"/>
                  <a:pt x="8" y="1617"/>
                </a:cubicBezTo>
                <a:cubicBezTo>
                  <a:pt x="3" y="1617"/>
                  <a:pt x="0" y="1613"/>
                  <a:pt x="0" y="1609"/>
                </a:cubicBezTo>
                <a:close/>
                <a:moveTo>
                  <a:pt x="0" y="1529"/>
                </a:moveTo>
                <a:lnTo>
                  <a:pt x="0" y="1529"/>
                </a:lnTo>
                <a:cubicBezTo>
                  <a:pt x="0" y="1524"/>
                  <a:pt x="3" y="1521"/>
                  <a:pt x="8" y="1521"/>
                </a:cubicBezTo>
                <a:cubicBezTo>
                  <a:pt x="12" y="1521"/>
                  <a:pt x="16" y="1524"/>
                  <a:pt x="16" y="1529"/>
                </a:cubicBezTo>
                <a:lnTo>
                  <a:pt x="16" y="1529"/>
                </a:lnTo>
                <a:cubicBezTo>
                  <a:pt x="16" y="1533"/>
                  <a:pt x="12" y="1537"/>
                  <a:pt x="8" y="1537"/>
                </a:cubicBezTo>
                <a:cubicBezTo>
                  <a:pt x="3" y="1537"/>
                  <a:pt x="0" y="1533"/>
                  <a:pt x="0" y="1529"/>
                </a:cubicBezTo>
                <a:close/>
                <a:moveTo>
                  <a:pt x="0" y="1449"/>
                </a:moveTo>
                <a:lnTo>
                  <a:pt x="0" y="1449"/>
                </a:lnTo>
                <a:cubicBezTo>
                  <a:pt x="0" y="1444"/>
                  <a:pt x="3" y="1441"/>
                  <a:pt x="8" y="1441"/>
                </a:cubicBezTo>
                <a:cubicBezTo>
                  <a:pt x="12" y="1441"/>
                  <a:pt x="16" y="1444"/>
                  <a:pt x="16" y="1449"/>
                </a:cubicBezTo>
                <a:lnTo>
                  <a:pt x="16" y="1449"/>
                </a:lnTo>
                <a:cubicBezTo>
                  <a:pt x="16" y="1453"/>
                  <a:pt x="12" y="1457"/>
                  <a:pt x="8" y="1457"/>
                </a:cubicBezTo>
                <a:cubicBezTo>
                  <a:pt x="3" y="1457"/>
                  <a:pt x="0" y="1453"/>
                  <a:pt x="0" y="1449"/>
                </a:cubicBezTo>
                <a:close/>
                <a:moveTo>
                  <a:pt x="0" y="1369"/>
                </a:moveTo>
                <a:lnTo>
                  <a:pt x="0" y="1369"/>
                </a:lnTo>
                <a:cubicBezTo>
                  <a:pt x="0" y="1364"/>
                  <a:pt x="3" y="1361"/>
                  <a:pt x="8" y="1361"/>
                </a:cubicBezTo>
                <a:cubicBezTo>
                  <a:pt x="12" y="1361"/>
                  <a:pt x="16" y="1364"/>
                  <a:pt x="16" y="1369"/>
                </a:cubicBezTo>
                <a:lnTo>
                  <a:pt x="16" y="1369"/>
                </a:lnTo>
                <a:cubicBezTo>
                  <a:pt x="16" y="1373"/>
                  <a:pt x="12" y="1377"/>
                  <a:pt x="8" y="1377"/>
                </a:cubicBezTo>
                <a:cubicBezTo>
                  <a:pt x="3" y="1377"/>
                  <a:pt x="0" y="1373"/>
                  <a:pt x="0" y="1369"/>
                </a:cubicBezTo>
                <a:close/>
                <a:moveTo>
                  <a:pt x="0" y="1289"/>
                </a:moveTo>
                <a:lnTo>
                  <a:pt x="0" y="1289"/>
                </a:lnTo>
                <a:cubicBezTo>
                  <a:pt x="0" y="1284"/>
                  <a:pt x="3" y="1281"/>
                  <a:pt x="8" y="1281"/>
                </a:cubicBezTo>
                <a:cubicBezTo>
                  <a:pt x="12" y="1281"/>
                  <a:pt x="16" y="1284"/>
                  <a:pt x="16" y="1289"/>
                </a:cubicBezTo>
                <a:lnTo>
                  <a:pt x="16" y="1289"/>
                </a:lnTo>
                <a:cubicBezTo>
                  <a:pt x="16" y="1293"/>
                  <a:pt x="12" y="1297"/>
                  <a:pt x="8" y="1297"/>
                </a:cubicBezTo>
                <a:cubicBezTo>
                  <a:pt x="3" y="1297"/>
                  <a:pt x="0" y="1293"/>
                  <a:pt x="0" y="1289"/>
                </a:cubicBezTo>
                <a:close/>
                <a:moveTo>
                  <a:pt x="0" y="1209"/>
                </a:moveTo>
                <a:lnTo>
                  <a:pt x="0" y="1209"/>
                </a:lnTo>
                <a:cubicBezTo>
                  <a:pt x="0" y="1204"/>
                  <a:pt x="3" y="1201"/>
                  <a:pt x="8" y="1201"/>
                </a:cubicBezTo>
                <a:cubicBezTo>
                  <a:pt x="12" y="1201"/>
                  <a:pt x="16" y="1204"/>
                  <a:pt x="16" y="1209"/>
                </a:cubicBezTo>
                <a:lnTo>
                  <a:pt x="16" y="1209"/>
                </a:lnTo>
                <a:cubicBezTo>
                  <a:pt x="16" y="1213"/>
                  <a:pt x="12" y="1217"/>
                  <a:pt x="8" y="1217"/>
                </a:cubicBezTo>
                <a:cubicBezTo>
                  <a:pt x="3" y="1217"/>
                  <a:pt x="0" y="1213"/>
                  <a:pt x="0" y="1209"/>
                </a:cubicBezTo>
                <a:close/>
                <a:moveTo>
                  <a:pt x="0" y="1129"/>
                </a:moveTo>
                <a:lnTo>
                  <a:pt x="0" y="1129"/>
                </a:lnTo>
                <a:cubicBezTo>
                  <a:pt x="0" y="1124"/>
                  <a:pt x="3" y="1121"/>
                  <a:pt x="8" y="1121"/>
                </a:cubicBezTo>
                <a:cubicBezTo>
                  <a:pt x="12" y="1121"/>
                  <a:pt x="16" y="1124"/>
                  <a:pt x="16" y="1129"/>
                </a:cubicBezTo>
                <a:lnTo>
                  <a:pt x="16" y="1129"/>
                </a:lnTo>
                <a:cubicBezTo>
                  <a:pt x="16" y="1133"/>
                  <a:pt x="12" y="1137"/>
                  <a:pt x="8" y="1137"/>
                </a:cubicBezTo>
                <a:cubicBezTo>
                  <a:pt x="3" y="1137"/>
                  <a:pt x="0" y="1133"/>
                  <a:pt x="0" y="1129"/>
                </a:cubicBezTo>
                <a:close/>
                <a:moveTo>
                  <a:pt x="0" y="1049"/>
                </a:moveTo>
                <a:lnTo>
                  <a:pt x="0" y="1049"/>
                </a:lnTo>
                <a:cubicBezTo>
                  <a:pt x="0" y="1044"/>
                  <a:pt x="3" y="1041"/>
                  <a:pt x="8" y="1041"/>
                </a:cubicBezTo>
                <a:cubicBezTo>
                  <a:pt x="12" y="1041"/>
                  <a:pt x="16" y="1044"/>
                  <a:pt x="16" y="1049"/>
                </a:cubicBezTo>
                <a:lnTo>
                  <a:pt x="16" y="1049"/>
                </a:lnTo>
                <a:cubicBezTo>
                  <a:pt x="16" y="1053"/>
                  <a:pt x="12" y="1057"/>
                  <a:pt x="8" y="1057"/>
                </a:cubicBezTo>
                <a:cubicBezTo>
                  <a:pt x="3" y="1057"/>
                  <a:pt x="0" y="1053"/>
                  <a:pt x="0" y="1049"/>
                </a:cubicBezTo>
                <a:close/>
                <a:moveTo>
                  <a:pt x="0" y="969"/>
                </a:moveTo>
                <a:lnTo>
                  <a:pt x="0" y="969"/>
                </a:lnTo>
                <a:cubicBezTo>
                  <a:pt x="0" y="964"/>
                  <a:pt x="3" y="961"/>
                  <a:pt x="8" y="961"/>
                </a:cubicBezTo>
                <a:cubicBezTo>
                  <a:pt x="12" y="961"/>
                  <a:pt x="16" y="964"/>
                  <a:pt x="16" y="969"/>
                </a:cubicBezTo>
                <a:lnTo>
                  <a:pt x="16" y="969"/>
                </a:lnTo>
                <a:cubicBezTo>
                  <a:pt x="16" y="973"/>
                  <a:pt x="12" y="977"/>
                  <a:pt x="8" y="977"/>
                </a:cubicBezTo>
                <a:cubicBezTo>
                  <a:pt x="3" y="977"/>
                  <a:pt x="0" y="973"/>
                  <a:pt x="0" y="969"/>
                </a:cubicBezTo>
                <a:close/>
                <a:moveTo>
                  <a:pt x="0" y="889"/>
                </a:moveTo>
                <a:lnTo>
                  <a:pt x="0" y="889"/>
                </a:lnTo>
                <a:cubicBezTo>
                  <a:pt x="0" y="884"/>
                  <a:pt x="3" y="881"/>
                  <a:pt x="8" y="881"/>
                </a:cubicBezTo>
                <a:cubicBezTo>
                  <a:pt x="12" y="881"/>
                  <a:pt x="16" y="884"/>
                  <a:pt x="16" y="889"/>
                </a:cubicBezTo>
                <a:lnTo>
                  <a:pt x="16" y="889"/>
                </a:lnTo>
                <a:cubicBezTo>
                  <a:pt x="16" y="893"/>
                  <a:pt x="12" y="897"/>
                  <a:pt x="8" y="897"/>
                </a:cubicBezTo>
                <a:cubicBezTo>
                  <a:pt x="3" y="897"/>
                  <a:pt x="0" y="893"/>
                  <a:pt x="0" y="889"/>
                </a:cubicBezTo>
                <a:close/>
                <a:moveTo>
                  <a:pt x="0" y="809"/>
                </a:moveTo>
                <a:lnTo>
                  <a:pt x="0" y="809"/>
                </a:lnTo>
                <a:cubicBezTo>
                  <a:pt x="0" y="804"/>
                  <a:pt x="3" y="801"/>
                  <a:pt x="8" y="801"/>
                </a:cubicBezTo>
                <a:cubicBezTo>
                  <a:pt x="12" y="801"/>
                  <a:pt x="16" y="804"/>
                  <a:pt x="16" y="809"/>
                </a:cubicBezTo>
                <a:lnTo>
                  <a:pt x="16" y="809"/>
                </a:lnTo>
                <a:cubicBezTo>
                  <a:pt x="16" y="813"/>
                  <a:pt x="12" y="817"/>
                  <a:pt x="8" y="817"/>
                </a:cubicBezTo>
                <a:cubicBezTo>
                  <a:pt x="3" y="817"/>
                  <a:pt x="0" y="813"/>
                  <a:pt x="0" y="809"/>
                </a:cubicBezTo>
                <a:close/>
                <a:moveTo>
                  <a:pt x="0" y="729"/>
                </a:moveTo>
                <a:lnTo>
                  <a:pt x="0" y="729"/>
                </a:lnTo>
                <a:cubicBezTo>
                  <a:pt x="0" y="724"/>
                  <a:pt x="3" y="721"/>
                  <a:pt x="8" y="721"/>
                </a:cubicBezTo>
                <a:cubicBezTo>
                  <a:pt x="12" y="721"/>
                  <a:pt x="16" y="724"/>
                  <a:pt x="16" y="729"/>
                </a:cubicBezTo>
                <a:lnTo>
                  <a:pt x="16" y="729"/>
                </a:lnTo>
                <a:cubicBezTo>
                  <a:pt x="16" y="733"/>
                  <a:pt x="12" y="737"/>
                  <a:pt x="8" y="737"/>
                </a:cubicBezTo>
                <a:cubicBezTo>
                  <a:pt x="3" y="737"/>
                  <a:pt x="0" y="733"/>
                  <a:pt x="0" y="729"/>
                </a:cubicBezTo>
                <a:close/>
                <a:moveTo>
                  <a:pt x="0" y="649"/>
                </a:moveTo>
                <a:lnTo>
                  <a:pt x="0" y="649"/>
                </a:lnTo>
                <a:cubicBezTo>
                  <a:pt x="0" y="644"/>
                  <a:pt x="3" y="641"/>
                  <a:pt x="8" y="641"/>
                </a:cubicBezTo>
                <a:cubicBezTo>
                  <a:pt x="12" y="641"/>
                  <a:pt x="16" y="644"/>
                  <a:pt x="16" y="649"/>
                </a:cubicBezTo>
                <a:lnTo>
                  <a:pt x="16" y="649"/>
                </a:lnTo>
                <a:cubicBezTo>
                  <a:pt x="16" y="653"/>
                  <a:pt x="12" y="657"/>
                  <a:pt x="8" y="657"/>
                </a:cubicBezTo>
                <a:cubicBezTo>
                  <a:pt x="3" y="657"/>
                  <a:pt x="0" y="653"/>
                  <a:pt x="0" y="649"/>
                </a:cubicBezTo>
                <a:close/>
                <a:moveTo>
                  <a:pt x="0" y="569"/>
                </a:moveTo>
                <a:lnTo>
                  <a:pt x="0" y="568"/>
                </a:lnTo>
                <a:cubicBezTo>
                  <a:pt x="0" y="564"/>
                  <a:pt x="3" y="560"/>
                  <a:pt x="8" y="560"/>
                </a:cubicBezTo>
                <a:cubicBezTo>
                  <a:pt x="12" y="560"/>
                  <a:pt x="16" y="564"/>
                  <a:pt x="16" y="568"/>
                </a:cubicBezTo>
                <a:lnTo>
                  <a:pt x="16" y="569"/>
                </a:lnTo>
                <a:cubicBezTo>
                  <a:pt x="16" y="573"/>
                  <a:pt x="12" y="577"/>
                  <a:pt x="8" y="577"/>
                </a:cubicBezTo>
                <a:cubicBezTo>
                  <a:pt x="3" y="577"/>
                  <a:pt x="0" y="573"/>
                  <a:pt x="0" y="569"/>
                </a:cubicBezTo>
                <a:close/>
                <a:moveTo>
                  <a:pt x="0" y="488"/>
                </a:moveTo>
                <a:lnTo>
                  <a:pt x="0" y="488"/>
                </a:lnTo>
                <a:cubicBezTo>
                  <a:pt x="0" y="484"/>
                  <a:pt x="3" y="480"/>
                  <a:pt x="8" y="480"/>
                </a:cubicBezTo>
                <a:cubicBezTo>
                  <a:pt x="12" y="480"/>
                  <a:pt x="16" y="484"/>
                  <a:pt x="16" y="488"/>
                </a:cubicBezTo>
                <a:lnTo>
                  <a:pt x="16" y="488"/>
                </a:lnTo>
                <a:cubicBezTo>
                  <a:pt x="16" y="493"/>
                  <a:pt x="12" y="496"/>
                  <a:pt x="8" y="496"/>
                </a:cubicBezTo>
                <a:cubicBezTo>
                  <a:pt x="3" y="496"/>
                  <a:pt x="0" y="493"/>
                  <a:pt x="0" y="488"/>
                </a:cubicBezTo>
                <a:close/>
                <a:moveTo>
                  <a:pt x="0" y="408"/>
                </a:moveTo>
                <a:lnTo>
                  <a:pt x="0" y="408"/>
                </a:lnTo>
                <a:cubicBezTo>
                  <a:pt x="0" y="404"/>
                  <a:pt x="3" y="400"/>
                  <a:pt x="8" y="400"/>
                </a:cubicBezTo>
                <a:cubicBezTo>
                  <a:pt x="12" y="400"/>
                  <a:pt x="16" y="404"/>
                  <a:pt x="16" y="408"/>
                </a:cubicBezTo>
                <a:lnTo>
                  <a:pt x="16" y="408"/>
                </a:lnTo>
                <a:cubicBezTo>
                  <a:pt x="16" y="413"/>
                  <a:pt x="12" y="416"/>
                  <a:pt x="8" y="416"/>
                </a:cubicBezTo>
                <a:cubicBezTo>
                  <a:pt x="3" y="416"/>
                  <a:pt x="0" y="413"/>
                  <a:pt x="0" y="408"/>
                </a:cubicBezTo>
                <a:close/>
                <a:moveTo>
                  <a:pt x="0" y="328"/>
                </a:moveTo>
                <a:lnTo>
                  <a:pt x="0" y="328"/>
                </a:lnTo>
                <a:cubicBezTo>
                  <a:pt x="0" y="324"/>
                  <a:pt x="3" y="320"/>
                  <a:pt x="8" y="320"/>
                </a:cubicBezTo>
                <a:cubicBezTo>
                  <a:pt x="12" y="320"/>
                  <a:pt x="16" y="324"/>
                  <a:pt x="16" y="328"/>
                </a:cubicBezTo>
                <a:lnTo>
                  <a:pt x="16" y="328"/>
                </a:lnTo>
                <a:cubicBezTo>
                  <a:pt x="16" y="333"/>
                  <a:pt x="12" y="336"/>
                  <a:pt x="8" y="336"/>
                </a:cubicBezTo>
                <a:cubicBezTo>
                  <a:pt x="3" y="336"/>
                  <a:pt x="0" y="333"/>
                  <a:pt x="0" y="328"/>
                </a:cubicBezTo>
                <a:close/>
                <a:moveTo>
                  <a:pt x="0" y="248"/>
                </a:moveTo>
                <a:lnTo>
                  <a:pt x="0" y="248"/>
                </a:lnTo>
                <a:cubicBezTo>
                  <a:pt x="0" y="244"/>
                  <a:pt x="3" y="240"/>
                  <a:pt x="8" y="240"/>
                </a:cubicBezTo>
                <a:cubicBezTo>
                  <a:pt x="12" y="240"/>
                  <a:pt x="16" y="244"/>
                  <a:pt x="16" y="248"/>
                </a:cubicBezTo>
                <a:lnTo>
                  <a:pt x="16" y="248"/>
                </a:lnTo>
                <a:cubicBezTo>
                  <a:pt x="16" y="253"/>
                  <a:pt x="12" y="256"/>
                  <a:pt x="8" y="256"/>
                </a:cubicBezTo>
                <a:cubicBezTo>
                  <a:pt x="3" y="256"/>
                  <a:pt x="0" y="253"/>
                  <a:pt x="0" y="248"/>
                </a:cubicBezTo>
                <a:close/>
                <a:moveTo>
                  <a:pt x="0" y="168"/>
                </a:moveTo>
                <a:lnTo>
                  <a:pt x="0" y="168"/>
                </a:lnTo>
                <a:cubicBezTo>
                  <a:pt x="0" y="164"/>
                  <a:pt x="3" y="160"/>
                  <a:pt x="8" y="160"/>
                </a:cubicBezTo>
                <a:cubicBezTo>
                  <a:pt x="12" y="160"/>
                  <a:pt x="16" y="164"/>
                  <a:pt x="16" y="168"/>
                </a:cubicBezTo>
                <a:lnTo>
                  <a:pt x="16" y="168"/>
                </a:lnTo>
                <a:cubicBezTo>
                  <a:pt x="16" y="173"/>
                  <a:pt x="12" y="176"/>
                  <a:pt x="8" y="176"/>
                </a:cubicBezTo>
                <a:cubicBezTo>
                  <a:pt x="3" y="176"/>
                  <a:pt x="0" y="173"/>
                  <a:pt x="0" y="168"/>
                </a:cubicBezTo>
                <a:close/>
                <a:moveTo>
                  <a:pt x="0" y="88"/>
                </a:moveTo>
                <a:lnTo>
                  <a:pt x="0" y="88"/>
                </a:lnTo>
                <a:cubicBezTo>
                  <a:pt x="0" y="84"/>
                  <a:pt x="3" y="80"/>
                  <a:pt x="8" y="80"/>
                </a:cubicBezTo>
                <a:cubicBezTo>
                  <a:pt x="12" y="80"/>
                  <a:pt x="16" y="84"/>
                  <a:pt x="16" y="88"/>
                </a:cubicBezTo>
                <a:lnTo>
                  <a:pt x="16" y="88"/>
                </a:lnTo>
                <a:cubicBezTo>
                  <a:pt x="16" y="93"/>
                  <a:pt x="12" y="96"/>
                  <a:pt x="8" y="96"/>
                </a:cubicBezTo>
                <a:cubicBezTo>
                  <a:pt x="3" y="96"/>
                  <a:pt x="0" y="93"/>
                  <a:pt x="0" y="88"/>
                </a:cubicBezTo>
                <a:close/>
                <a:moveTo>
                  <a:pt x="0" y="8"/>
                </a:move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ubicBezTo>
                  <a:pt x="12" y="0"/>
                  <a:pt x="16" y="4"/>
                  <a:pt x="16" y="8"/>
                </a:cubicBezTo>
                <a:lnTo>
                  <a:pt x="16" y="8"/>
                </a:lnTo>
                <a:cubicBezTo>
                  <a:pt x="16" y="13"/>
                  <a:pt x="12" y="16"/>
                  <a:pt x="8" y="16"/>
                </a:cubicBezTo>
                <a:cubicBezTo>
                  <a:pt x="3" y="16"/>
                  <a:pt x="0" y="13"/>
                  <a:pt x="0" y="8"/>
                </a:cubicBezTo>
                <a:close/>
              </a:path>
            </a:pathLst>
          </a:custGeom>
          <a:solidFill>
            <a:srgbClr val="000000"/>
          </a:solidFill>
          <a:ln w="22225" cap="flat">
            <a:solidFill>
              <a:srgbClr val="000000"/>
            </a:solidFill>
            <a:prstDash val="solid"/>
            <a:bevel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13" name="Freeform 5"/>
          <p:cNvSpPr>
            <a:spLocks/>
          </p:cNvSpPr>
          <p:nvPr/>
        </p:nvSpPr>
        <p:spPr bwMode="auto">
          <a:xfrm>
            <a:off x="5189539" y="1400175"/>
            <a:ext cx="22225" cy="3811588"/>
          </a:xfrm>
          <a:custGeom>
            <a:avLst/>
            <a:gdLst>
              <a:gd name="T0" fmla="*/ 16 w 16"/>
              <a:gd name="T1" fmla="*/ 2809 h 2817"/>
              <a:gd name="T2" fmla="*/ 0 w 16"/>
              <a:gd name="T3" fmla="*/ 2729 h 2817"/>
              <a:gd name="T4" fmla="*/ 16 w 16"/>
              <a:gd name="T5" fmla="*/ 2729 h 2817"/>
              <a:gd name="T6" fmla="*/ 0 w 16"/>
              <a:gd name="T7" fmla="*/ 2649 h 2817"/>
              <a:gd name="T8" fmla="*/ 8 w 16"/>
              <a:gd name="T9" fmla="*/ 2657 h 2817"/>
              <a:gd name="T10" fmla="*/ 8 w 16"/>
              <a:gd name="T11" fmla="*/ 2561 h 2817"/>
              <a:gd name="T12" fmla="*/ 0 w 16"/>
              <a:gd name="T13" fmla="*/ 2569 h 2817"/>
              <a:gd name="T14" fmla="*/ 16 w 16"/>
              <a:gd name="T15" fmla="*/ 2489 h 2817"/>
              <a:gd name="T16" fmla="*/ 0 w 16"/>
              <a:gd name="T17" fmla="*/ 2409 h 2817"/>
              <a:gd name="T18" fmla="*/ 16 w 16"/>
              <a:gd name="T19" fmla="*/ 2409 h 2817"/>
              <a:gd name="T20" fmla="*/ 0 w 16"/>
              <a:gd name="T21" fmla="*/ 2329 h 2817"/>
              <a:gd name="T22" fmla="*/ 8 w 16"/>
              <a:gd name="T23" fmla="*/ 2337 h 2817"/>
              <a:gd name="T24" fmla="*/ 8 w 16"/>
              <a:gd name="T25" fmla="*/ 2241 h 2817"/>
              <a:gd name="T26" fmla="*/ 0 w 16"/>
              <a:gd name="T27" fmla="*/ 2249 h 2817"/>
              <a:gd name="T28" fmla="*/ 16 w 16"/>
              <a:gd name="T29" fmla="*/ 2169 h 2817"/>
              <a:gd name="T30" fmla="*/ 0 w 16"/>
              <a:gd name="T31" fmla="*/ 2089 h 2817"/>
              <a:gd name="T32" fmla="*/ 16 w 16"/>
              <a:gd name="T33" fmla="*/ 2089 h 2817"/>
              <a:gd name="T34" fmla="*/ 0 w 16"/>
              <a:gd name="T35" fmla="*/ 2009 h 2817"/>
              <a:gd name="T36" fmla="*/ 8 w 16"/>
              <a:gd name="T37" fmla="*/ 2017 h 2817"/>
              <a:gd name="T38" fmla="*/ 8 w 16"/>
              <a:gd name="T39" fmla="*/ 1921 h 2817"/>
              <a:gd name="T40" fmla="*/ 0 w 16"/>
              <a:gd name="T41" fmla="*/ 1929 h 2817"/>
              <a:gd name="T42" fmla="*/ 16 w 16"/>
              <a:gd name="T43" fmla="*/ 1849 h 2817"/>
              <a:gd name="T44" fmla="*/ 0 w 16"/>
              <a:gd name="T45" fmla="*/ 1769 h 2817"/>
              <a:gd name="T46" fmla="*/ 16 w 16"/>
              <a:gd name="T47" fmla="*/ 1769 h 2817"/>
              <a:gd name="T48" fmla="*/ 0 w 16"/>
              <a:gd name="T49" fmla="*/ 1689 h 2817"/>
              <a:gd name="T50" fmla="*/ 8 w 16"/>
              <a:gd name="T51" fmla="*/ 1697 h 2817"/>
              <a:gd name="T52" fmla="*/ 8 w 16"/>
              <a:gd name="T53" fmla="*/ 1601 h 2817"/>
              <a:gd name="T54" fmla="*/ 0 w 16"/>
              <a:gd name="T55" fmla="*/ 1609 h 2817"/>
              <a:gd name="T56" fmla="*/ 16 w 16"/>
              <a:gd name="T57" fmla="*/ 1529 h 2817"/>
              <a:gd name="T58" fmla="*/ 0 w 16"/>
              <a:gd name="T59" fmla="*/ 1449 h 2817"/>
              <a:gd name="T60" fmla="*/ 16 w 16"/>
              <a:gd name="T61" fmla="*/ 1449 h 2817"/>
              <a:gd name="T62" fmla="*/ 0 w 16"/>
              <a:gd name="T63" fmla="*/ 1369 h 2817"/>
              <a:gd name="T64" fmla="*/ 8 w 16"/>
              <a:gd name="T65" fmla="*/ 1377 h 2817"/>
              <a:gd name="T66" fmla="*/ 8 w 16"/>
              <a:gd name="T67" fmla="*/ 1281 h 2817"/>
              <a:gd name="T68" fmla="*/ 0 w 16"/>
              <a:gd name="T69" fmla="*/ 1289 h 2817"/>
              <a:gd name="T70" fmla="*/ 16 w 16"/>
              <a:gd name="T71" fmla="*/ 1209 h 2817"/>
              <a:gd name="T72" fmla="*/ 0 w 16"/>
              <a:gd name="T73" fmla="*/ 1129 h 2817"/>
              <a:gd name="T74" fmla="*/ 16 w 16"/>
              <a:gd name="T75" fmla="*/ 1129 h 2817"/>
              <a:gd name="T76" fmla="*/ 0 w 16"/>
              <a:gd name="T77" fmla="*/ 1049 h 2817"/>
              <a:gd name="T78" fmla="*/ 8 w 16"/>
              <a:gd name="T79" fmla="*/ 1057 h 2817"/>
              <a:gd name="T80" fmla="*/ 8 w 16"/>
              <a:gd name="T81" fmla="*/ 961 h 2817"/>
              <a:gd name="T82" fmla="*/ 0 w 16"/>
              <a:gd name="T83" fmla="*/ 969 h 2817"/>
              <a:gd name="T84" fmla="*/ 16 w 16"/>
              <a:gd name="T85" fmla="*/ 889 h 2817"/>
              <a:gd name="T86" fmla="*/ 0 w 16"/>
              <a:gd name="T87" fmla="*/ 809 h 2817"/>
              <a:gd name="T88" fmla="*/ 16 w 16"/>
              <a:gd name="T89" fmla="*/ 809 h 2817"/>
              <a:gd name="T90" fmla="*/ 0 w 16"/>
              <a:gd name="T91" fmla="*/ 729 h 2817"/>
              <a:gd name="T92" fmla="*/ 8 w 16"/>
              <a:gd name="T93" fmla="*/ 737 h 2817"/>
              <a:gd name="T94" fmla="*/ 8 w 16"/>
              <a:gd name="T95" fmla="*/ 641 h 2817"/>
              <a:gd name="T96" fmla="*/ 0 w 16"/>
              <a:gd name="T97" fmla="*/ 649 h 2817"/>
              <a:gd name="T98" fmla="*/ 16 w 16"/>
              <a:gd name="T99" fmla="*/ 568 h 2817"/>
              <a:gd name="T100" fmla="*/ 0 w 16"/>
              <a:gd name="T101" fmla="*/ 488 h 2817"/>
              <a:gd name="T102" fmla="*/ 16 w 16"/>
              <a:gd name="T103" fmla="*/ 488 h 2817"/>
              <a:gd name="T104" fmla="*/ 0 w 16"/>
              <a:gd name="T105" fmla="*/ 408 h 2817"/>
              <a:gd name="T106" fmla="*/ 8 w 16"/>
              <a:gd name="T107" fmla="*/ 416 h 2817"/>
              <a:gd name="T108" fmla="*/ 8 w 16"/>
              <a:gd name="T109" fmla="*/ 320 h 2817"/>
              <a:gd name="T110" fmla="*/ 0 w 16"/>
              <a:gd name="T111" fmla="*/ 328 h 2817"/>
              <a:gd name="T112" fmla="*/ 16 w 16"/>
              <a:gd name="T113" fmla="*/ 248 h 2817"/>
              <a:gd name="T114" fmla="*/ 0 w 16"/>
              <a:gd name="T115" fmla="*/ 168 h 2817"/>
              <a:gd name="T116" fmla="*/ 16 w 16"/>
              <a:gd name="T117" fmla="*/ 168 h 2817"/>
              <a:gd name="T118" fmla="*/ 0 w 16"/>
              <a:gd name="T119" fmla="*/ 88 h 2817"/>
              <a:gd name="T120" fmla="*/ 8 w 16"/>
              <a:gd name="T121" fmla="*/ 96 h 2817"/>
              <a:gd name="T122" fmla="*/ 8 w 16"/>
              <a:gd name="T123" fmla="*/ 0 h 2817"/>
              <a:gd name="T124" fmla="*/ 0 w 16"/>
              <a:gd name="T125" fmla="*/ 8 h 28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" h="2817">
                <a:moveTo>
                  <a:pt x="0" y="2809"/>
                </a:moveTo>
                <a:lnTo>
                  <a:pt x="0" y="2809"/>
                </a:lnTo>
                <a:cubicBezTo>
                  <a:pt x="0" y="2805"/>
                  <a:pt x="3" y="2801"/>
                  <a:pt x="8" y="2801"/>
                </a:cubicBezTo>
                <a:cubicBezTo>
                  <a:pt x="12" y="2801"/>
                  <a:pt x="16" y="2805"/>
                  <a:pt x="16" y="2809"/>
                </a:cubicBezTo>
                <a:lnTo>
                  <a:pt x="16" y="2809"/>
                </a:lnTo>
                <a:cubicBezTo>
                  <a:pt x="16" y="2813"/>
                  <a:pt x="12" y="2817"/>
                  <a:pt x="8" y="2817"/>
                </a:cubicBezTo>
                <a:cubicBezTo>
                  <a:pt x="3" y="2817"/>
                  <a:pt x="0" y="2813"/>
                  <a:pt x="0" y="2809"/>
                </a:cubicBezTo>
                <a:close/>
                <a:moveTo>
                  <a:pt x="0" y="2729"/>
                </a:moveTo>
                <a:lnTo>
                  <a:pt x="0" y="2729"/>
                </a:lnTo>
                <a:cubicBezTo>
                  <a:pt x="0" y="2725"/>
                  <a:pt x="3" y="2721"/>
                  <a:pt x="8" y="2721"/>
                </a:cubicBezTo>
                <a:cubicBezTo>
                  <a:pt x="12" y="2721"/>
                  <a:pt x="16" y="2725"/>
                  <a:pt x="16" y="2729"/>
                </a:cubicBezTo>
                <a:lnTo>
                  <a:pt x="16" y="2729"/>
                </a:lnTo>
                <a:cubicBezTo>
                  <a:pt x="16" y="2733"/>
                  <a:pt x="12" y="2737"/>
                  <a:pt x="8" y="2737"/>
                </a:cubicBezTo>
                <a:cubicBezTo>
                  <a:pt x="3" y="2737"/>
                  <a:pt x="0" y="2733"/>
                  <a:pt x="0" y="2729"/>
                </a:cubicBezTo>
                <a:close/>
                <a:moveTo>
                  <a:pt x="0" y="2649"/>
                </a:moveTo>
                <a:lnTo>
                  <a:pt x="0" y="2649"/>
                </a:lnTo>
                <a:cubicBezTo>
                  <a:pt x="0" y="2644"/>
                  <a:pt x="3" y="2641"/>
                  <a:pt x="8" y="2641"/>
                </a:cubicBezTo>
                <a:cubicBezTo>
                  <a:pt x="12" y="2641"/>
                  <a:pt x="16" y="2644"/>
                  <a:pt x="16" y="2649"/>
                </a:cubicBezTo>
                <a:lnTo>
                  <a:pt x="16" y="2649"/>
                </a:lnTo>
                <a:cubicBezTo>
                  <a:pt x="16" y="2653"/>
                  <a:pt x="12" y="2657"/>
                  <a:pt x="8" y="2657"/>
                </a:cubicBezTo>
                <a:cubicBezTo>
                  <a:pt x="3" y="2657"/>
                  <a:pt x="0" y="2653"/>
                  <a:pt x="0" y="2649"/>
                </a:cubicBezTo>
                <a:close/>
                <a:moveTo>
                  <a:pt x="0" y="2569"/>
                </a:moveTo>
                <a:lnTo>
                  <a:pt x="0" y="2569"/>
                </a:lnTo>
                <a:cubicBezTo>
                  <a:pt x="0" y="2564"/>
                  <a:pt x="3" y="2561"/>
                  <a:pt x="8" y="2561"/>
                </a:cubicBezTo>
                <a:cubicBezTo>
                  <a:pt x="12" y="2561"/>
                  <a:pt x="16" y="2564"/>
                  <a:pt x="16" y="2569"/>
                </a:cubicBezTo>
                <a:lnTo>
                  <a:pt x="16" y="2569"/>
                </a:lnTo>
                <a:cubicBezTo>
                  <a:pt x="16" y="2573"/>
                  <a:pt x="12" y="2577"/>
                  <a:pt x="8" y="2577"/>
                </a:cubicBezTo>
                <a:cubicBezTo>
                  <a:pt x="3" y="2577"/>
                  <a:pt x="0" y="2573"/>
                  <a:pt x="0" y="2569"/>
                </a:cubicBezTo>
                <a:close/>
                <a:moveTo>
                  <a:pt x="0" y="2489"/>
                </a:moveTo>
                <a:lnTo>
                  <a:pt x="0" y="2489"/>
                </a:lnTo>
                <a:cubicBezTo>
                  <a:pt x="0" y="2484"/>
                  <a:pt x="3" y="2481"/>
                  <a:pt x="8" y="2481"/>
                </a:cubicBezTo>
                <a:cubicBezTo>
                  <a:pt x="12" y="2481"/>
                  <a:pt x="16" y="2484"/>
                  <a:pt x="16" y="2489"/>
                </a:cubicBezTo>
                <a:lnTo>
                  <a:pt x="16" y="2489"/>
                </a:lnTo>
                <a:cubicBezTo>
                  <a:pt x="16" y="2493"/>
                  <a:pt x="12" y="2497"/>
                  <a:pt x="8" y="2497"/>
                </a:cubicBezTo>
                <a:cubicBezTo>
                  <a:pt x="3" y="2497"/>
                  <a:pt x="0" y="2493"/>
                  <a:pt x="0" y="2489"/>
                </a:cubicBezTo>
                <a:close/>
                <a:moveTo>
                  <a:pt x="0" y="2409"/>
                </a:moveTo>
                <a:lnTo>
                  <a:pt x="0" y="2409"/>
                </a:lnTo>
                <a:cubicBezTo>
                  <a:pt x="0" y="2404"/>
                  <a:pt x="3" y="2401"/>
                  <a:pt x="8" y="2401"/>
                </a:cubicBezTo>
                <a:cubicBezTo>
                  <a:pt x="12" y="2401"/>
                  <a:pt x="16" y="2404"/>
                  <a:pt x="16" y="2409"/>
                </a:cubicBezTo>
                <a:lnTo>
                  <a:pt x="16" y="2409"/>
                </a:lnTo>
                <a:cubicBezTo>
                  <a:pt x="16" y="2413"/>
                  <a:pt x="12" y="2417"/>
                  <a:pt x="8" y="2417"/>
                </a:cubicBezTo>
                <a:cubicBezTo>
                  <a:pt x="3" y="2417"/>
                  <a:pt x="0" y="2413"/>
                  <a:pt x="0" y="2409"/>
                </a:cubicBezTo>
                <a:close/>
                <a:moveTo>
                  <a:pt x="0" y="2329"/>
                </a:moveTo>
                <a:lnTo>
                  <a:pt x="0" y="2329"/>
                </a:lnTo>
                <a:cubicBezTo>
                  <a:pt x="0" y="2324"/>
                  <a:pt x="3" y="2321"/>
                  <a:pt x="8" y="2321"/>
                </a:cubicBezTo>
                <a:cubicBezTo>
                  <a:pt x="12" y="2321"/>
                  <a:pt x="16" y="2324"/>
                  <a:pt x="16" y="2329"/>
                </a:cubicBezTo>
                <a:lnTo>
                  <a:pt x="16" y="2329"/>
                </a:lnTo>
                <a:cubicBezTo>
                  <a:pt x="16" y="2333"/>
                  <a:pt x="12" y="2337"/>
                  <a:pt x="8" y="2337"/>
                </a:cubicBezTo>
                <a:cubicBezTo>
                  <a:pt x="3" y="2337"/>
                  <a:pt x="0" y="2333"/>
                  <a:pt x="0" y="2329"/>
                </a:cubicBezTo>
                <a:close/>
                <a:moveTo>
                  <a:pt x="0" y="2249"/>
                </a:moveTo>
                <a:lnTo>
                  <a:pt x="0" y="2249"/>
                </a:lnTo>
                <a:cubicBezTo>
                  <a:pt x="0" y="2244"/>
                  <a:pt x="3" y="2241"/>
                  <a:pt x="8" y="2241"/>
                </a:cubicBezTo>
                <a:cubicBezTo>
                  <a:pt x="12" y="2241"/>
                  <a:pt x="16" y="2244"/>
                  <a:pt x="16" y="2249"/>
                </a:cubicBezTo>
                <a:lnTo>
                  <a:pt x="16" y="2249"/>
                </a:lnTo>
                <a:cubicBezTo>
                  <a:pt x="16" y="2253"/>
                  <a:pt x="12" y="2257"/>
                  <a:pt x="8" y="2257"/>
                </a:cubicBezTo>
                <a:cubicBezTo>
                  <a:pt x="3" y="2257"/>
                  <a:pt x="0" y="2253"/>
                  <a:pt x="0" y="2249"/>
                </a:cubicBezTo>
                <a:close/>
                <a:moveTo>
                  <a:pt x="0" y="2169"/>
                </a:moveTo>
                <a:lnTo>
                  <a:pt x="0" y="2169"/>
                </a:lnTo>
                <a:cubicBezTo>
                  <a:pt x="0" y="2164"/>
                  <a:pt x="3" y="2161"/>
                  <a:pt x="8" y="2161"/>
                </a:cubicBezTo>
                <a:cubicBezTo>
                  <a:pt x="12" y="2161"/>
                  <a:pt x="16" y="2164"/>
                  <a:pt x="16" y="2169"/>
                </a:cubicBezTo>
                <a:lnTo>
                  <a:pt x="16" y="2169"/>
                </a:lnTo>
                <a:cubicBezTo>
                  <a:pt x="16" y="2173"/>
                  <a:pt x="12" y="2177"/>
                  <a:pt x="8" y="2177"/>
                </a:cubicBezTo>
                <a:cubicBezTo>
                  <a:pt x="3" y="2177"/>
                  <a:pt x="0" y="2173"/>
                  <a:pt x="0" y="2169"/>
                </a:cubicBezTo>
                <a:close/>
                <a:moveTo>
                  <a:pt x="0" y="2089"/>
                </a:moveTo>
                <a:lnTo>
                  <a:pt x="0" y="2089"/>
                </a:lnTo>
                <a:cubicBezTo>
                  <a:pt x="0" y="2084"/>
                  <a:pt x="3" y="2081"/>
                  <a:pt x="8" y="2081"/>
                </a:cubicBezTo>
                <a:cubicBezTo>
                  <a:pt x="12" y="2081"/>
                  <a:pt x="16" y="2084"/>
                  <a:pt x="16" y="2089"/>
                </a:cubicBezTo>
                <a:lnTo>
                  <a:pt x="16" y="2089"/>
                </a:lnTo>
                <a:cubicBezTo>
                  <a:pt x="16" y="2093"/>
                  <a:pt x="12" y="2097"/>
                  <a:pt x="8" y="2097"/>
                </a:cubicBezTo>
                <a:cubicBezTo>
                  <a:pt x="3" y="2097"/>
                  <a:pt x="0" y="2093"/>
                  <a:pt x="0" y="2089"/>
                </a:cubicBezTo>
                <a:close/>
                <a:moveTo>
                  <a:pt x="0" y="2009"/>
                </a:moveTo>
                <a:lnTo>
                  <a:pt x="0" y="2009"/>
                </a:lnTo>
                <a:cubicBezTo>
                  <a:pt x="0" y="2004"/>
                  <a:pt x="3" y="2001"/>
                  <a:pt x="8" y="2001"/>
                </a:cubicBezTo>
                <a:cubicBezTo>
                  <a:pt x="12" y="2001"/>
                  <a:pt x="16" y="2004"/>
                  <a:pt x="16" y="2009"/>
                </a:cubicBezTo>
                <a:lnTo>
                  <a:pt x="16" y="2009"/>
                </a:lnTo>
                <a:cubicBezTo>
                  <a:pt x="16" y="2013"/>
                  <a:pt x="12" y="2017"/>
                  <a:pt x="8" y="2017"/>
                </a:cubicBezTo>
                <a:cubicBezTo>
                  <a:pt x="3" y="2017"/>
                  <a:pt x="0" y="2013"/>
                  <a:pt x="0" y="2009"/>
                </a:cubicBezTo>
                <a:close/>
                <a:moveTo>
                  <a:pt x="0" y="1929"/>
                </a:moveTo>
                <a:lnTo>
                  <a:pt x="0" y="1929"/>
                </a:lnTo>
                <a:cubicBezTo>
                  <a:pt x="0" y="1924"/>
                  <a:pt x="3" y="1921"/>
                  <a:pt x="8" y="1921"/>
                </a:cubicBezTo>
                <a:cubicBezTo>
                  <a:pt x="12" y="1921"/>
                  <a:pt x="16" y="1924"/>
                  <a:pt x="16" y="1929"/>
                </a:cubicBezTo>
                <a:lnTo>
                  <a:pt x="16" y="1929"/>
                </a:lnTo>
                <a:cubicBezTo>
                  <a:pt x="16" y="1933"/>
                  <a:pt x="12" y="1937"/>
                  <a:pt x="8" y="1937"/>
                </a:cubicBezTo>
                <a:cubicBezTo>
                  <a:pt x="3" y="1937"/>
                  <a:pt x="0" y="1933"/>
                  <a:pt x="0" y="1929"/>
                </a:cubicBezTo>
                <a:close/>
                <a:moveTo>
                  <a:pt x="0" y="1849"/>
                </a:moveTo>
                <a:lnTo>
                  <a:pt x="0" y="1849"/>
                </a:lnTo>
                <a:cubicBezTo>
                  <a:pt x="0" y="1844"/>
                  <a:pt x="3" y="1841"/>
                  <a:pt x="8" y="1841"/>
                </a:cubicBezTo>
                <a:cubicBezTo>
                  <a:pt x="12" y="1841"/>
                  <a:pt x="16" y="1844"/>
                  <a:pt x="16" y="1849"/>
                </a:cubicBezTo>
                <a:lnTo>
                  <a:pt x="16" y="1849"/>
                </a:lnTo>
                <a:cubicBezTo>
                  <a:pt x="16" y="1853"/>
                  <a:pt x="12" y="1857"/>
                  <a:pt x="8" y="1857"/>
                </a:cubicBezTo>
                <a:cubicBezTo>
                  <a:pt x="3" y="1857"/>
                  <a:pt x="0" y="1853"/>
                  <a:pt x="0" y="1849"/>
                </a:cubicBezTo>
                <a:close/>
                <a:moveTo>
                  <a:pt x="0" y="1769"/>
                </a:moveTo>
                <a:lnTo>
                  <a:pt x="0" y="1769"/>
                </a:lnTo>
                <a:cubicBezTo>
                  <a:pt x="0" y="1764"/>
                  <a:pt x="3" y="1761"/>
                  <a:pt x="8" y="1761"/>
                </a:cubicBezTo>
                <a:cubicBezTo>
                  <a:pt x="12" y="1761"/>
                  <a:pt x="16" y="1764"/>
                  <a:pt x="16" y="1769"/>
                </a:cubicBezTo>
                <a:lnTo>
                  <a:pt x="16" y="1769"/>
                </a:lnTo>
                <a:cubicBezTo>
                  <a:pt x="16" y="1773"/>
                  <a:pt x="12" y="1777"/>
                  <a:pt x="8" y="1777"/>
                </a:cubicBezTo>
                <a:cubicBezTo>
                  <a:pt x="3" y="1777"/>
                  <a:pt x="0" y="1773"/>
                  <a:pt x="0" y="1769"/>
                </a:cubicBezTo>
                <a:close/>
                <a:moveTo>
                  <a:pt x="0" y="1689"/>
                </a:moveTo>
                <a:lnTo>
                  <a:pt x="0" y="1689"/>
                </a:lnTo>
                <a:cubicBezTo>
                  <a:pt x="0" y="1684"/>
                  <a:pt x="3" y="1681"/>
                  <a:pt x="8" y="1681"/>
                </a:cubicBezTo>
                <a:cubicBezTo>
                  <a:pt x="12" y="1681"/>
                  <a:pt x="16" y="1684"/>
                  <a:pt x="16" y="1689"/>
                </a:cubicBezTo>
                <a:lnTo>
                  <a:pt x="16" y="1689"/>
                </a:lnTo>
                <a:cubicBezTo>
                  <a:pt x="16" y="1693"/>
                  <a:pt x="12" y="1697"/>
                  <a:pt x="8" y="1697"/>
                </a:cubicBezTo>
                <a:cubicBezTo>
                  <a:pt x="3" y="1697"/>
                  <a:pt x="0" y="1693"/>
                  <a:pt x="0" y="1689"/>
                </a:cubicBezTo>
                <a:close/>
                <a:moveTo>
                  <a:pt x="0" y="1609"/>
                </a:moveTo>
                <a:lnTo>
                  <a:pt x="0" y="1609"/>
                </a:lnTo>
                <a:cubicBezTo>
                  <a:pt x="0" y="1604"/>
                  <a:pt x="3" y="1601"/>
                  <a:pt x="8" y="1601"/>
                </a:cubicBezTo>
                <a:cubicBezTo>
                  <a:pt x="12" y="1601"/>
                  <a:pt x="16" y="1604"/>
                  <a:pt x="16" y="1609"/>
                </a:cubicBezTo>
                <a:lnTo>
                  <a:pt x="16" y="1609"/>
                </a:lnTo>
                <a:cubicBezTo>
                  <a:pt x="16" y="1613"/>
                  <a:pt x="12" y="1617"/>
                  <a:pt x="8" y="1617"/>
                </a:cubicBezTo>
                <a:cubicBezTo>
                  <a:pt x="3" y="1617"/>
                  <a:pt x="0" y="1613"/>
                  <a:pt x="0" y="1609"/>
                </a:cubicBezTo>
                <a:close/>
                <a:moveTo>
                  <a:pt x="0" y="1529"/>
                </a:moveTo>
                <a:lnTo>
                  <a:pt x="0" y="1529"/>
                </a:lnTo>
                <a:cubicBezTo>
                  <a:pt x="0" y="1524"/>
                  <a:pt x="3" y="1521"/>
                  <a:pt x="8" y="1521"/>
                </a:cubicBezTo>
                <a:cubicBezTo>
                  <a:pt x="12" y="1521"/>
                  <a:pt x="16" y="1524"/>
                  <a:pt x="16" y="1529"/>
                </a:cubicBezTo>
                <a:lnTo>
                  <a:pt x="16" y="1529"/>
                </a:lnTo>
                <a:cubicBezTo>
                  <a:pt x="16" y="1533"/>
                  <a:pt x="12" y="1537"/>
                  <a:pt x="8" y="1537"/>
                </a:cubicBezTo>
                <a:cubicBezTo>
                  <a:pt x="3" y="1537"/>
                  <a:pt x="0" y="1533"/>
                  <a:pt x="0" y="1529"/>
                </a:cubicBezTo>
                <a:close/>
                <a:moveTo>
                  <a:pt x="0" y="1449"/>
                </a:moveTo>
                <a:lnTo>
                  <a:pt x="0" y="1449"/>
                </a:lnTo>
                <a:cubicBezTo>
                  <a:pt x="0" y="1444"/>
                  <a:pt x="3" y="1441"/>
                  <a:pt x="8" y="1441"/>
                </a:cubicBezTo>
                <a:cubicBezTo>
                  <a:pt x="12" y="1441"/>
                  <a:pt x="16" y="1444"/>
                  <a:pt x="16" y="1449"/>
                </a:cubicBezTo>
                <a:lnTo>
                  <a:pt x="16" y="1449"/>
                </a:lnTo>
                <a:cubicBezTo>
                  <a:pt x="16" y="1453"/>
                  <a:pt x="12" y="1457"/>
                  <a:pt x="8" y="1457"/>
                </a:cubicBezTo>
                <a:cubicBezTo>
                  <a:pt x="3" y="1457"/>
                  <a:pt x="0" y="1453"/>
                  <a:pt x="0" y="1449"/>
                </a:cubicBezTo>
                <a:close/>
                <a:moveTo>
                  <a:pt x="0" y="1369"/>
                </a:moveTo>
                <a:lnTo>
                  <a:pt x="0" y="1369"/>
                </a:lnTo>
                <a:cubicBezTo>
                  <a:pt x="0" y="1364"/>
                  <a:pt x="3" y="1361"/>
                  <a:pt x="8" y="1361"/>
                </a:cubicBezTo>
                <a:cubicBezTo>
                  <a:pt x="12" y="1361"/>
                  <a:pt x="16" y="1364"/>
                  <a:pt x="16" y="1369"/>
                </a:cubicBezTo>
                <a:lnTo>
                  <a:pt x="16" y="1369"/>
                </a:lnTo>
                <a:cubicBezTo>
                  <a:pt x="16" y="1373"/>
                  <a:pt x="12" y="1377"/>
                  <a:pt x="8" y="1377"/>
                </a:cubicBezTo>
                <a:cubicBezTo>
                  <a:pt x="3" y="1377"/>
                  <a:pt x="0" y="1373"/>
                  <a:pt x="0" y="1369"/>
                </a:cubicBezTo>
                <a:close/>
                <a:moveTo>
                  <a:pt x="0" y="1289"/>
                </a:moveTo>
                <a:lnTo>
                  <a:pt x="0" y="1289"/>
                </a:lnTo>
                <a:cubicBezTo>
                  <a:pt x="0" y="1284"/>
                  <a:pt x="3" y="1281"/>
                  <a:pt x="8" y="1281"/>
                </a:cubicBezTo>
                <a:cubicBezTo>
                  <a:pt x="12" y="1281"/>
                  <a:pt x="16" y="1284"/>
                  <a:pt x="16" y="1289"/>
                </a:cubicBezTo>
                <a:lnTo>
                  <a:pt x="16" y="1289"/>
                </a:lnTo>
                <a:cubicBezTo>
                  <a:pt x="16" y="1293"/>
                  <a:pt x="12" y="1297"/>
                  <a:pt x="8" y="1297"/>
                </a:cubicBezTo>
                <a:cubicBezTo>
                  <a:pt x="3" y="1297"/>
                  <a:pt x="0" y="1293"/>
                  <a:pt x="0" y="1289"/>
                </a:cubicBezTo>
                <a:close/>
                <a:moveTo>
                  <a:pt x="0" y="1209"/>
                </a:moveTo>
                <a:lnTo>
                  <a:pt x="0" y="1209"/>
                </a:lnTo>
                <a:cubicBezTo>
                  <a:pt x="0" y="1204"/>
                  <a:pt x="3" y="1201"/>
                  <a:pt x="8" y="1201"/>
                </a:cubicBezTo>
                <a:cubicBezTo>
                  <a:pt x="12" y="1201"/>
                  <a:pt x="16" y="1204"/>
                  <a:pt x="16" y="1209"/>
                </a:cubicBezTo>
                <a:lnTo>
                  <a:pt x="16" y="1209"/>
                </a:lnTo>
                <a:cubicBezTo>
                  <a:pt x="16" y="1213"/>
                  <a:pt x="12" y="1217"/>
                  <a:pt x="8" y="1217"/>
                </a:cubicBezTo>
                <a:cubicBezTo>
                  <a:pt x="3" y="1217"/>
                  <a:pt x="0" y="1213"/>
                  <a:pt x="0" y="1209"/>
                </a:cubicBezTo>
                <a:close/>
                <a:moveTo>
                  <a:pt x="0" y="1129"/>
                </a:moveTo>
                <a:lnTo>
                  <a:pt x="0" y="1129"/>
                </a:lnTo>
                <a:cubicBezTo>
                  <a:pt x="0" y="1124"/>
                  <a:pt x="3" y="1121"/>
                  <a:pt x="8" y="1121"/>
                </a:cubicBezTo>
                <a:cubicBezTo>
                  <a:pt x="12" y="1121"/>
                  <a:pt x="16" y="1124"/>
                  <a:pt x="16" y="1129"/>
                </a:cubicBezTo>
                <a:lnTo>
                  <a:pt x="16" y="1129"/>
                </a:lnTo>
                <a:cubicBezTo>
                  <a:pt x="16" y="1133"/>
                  <a:pt x="12" y="1137"/>
                  <a:pt x="8" y="1137"/>
                </a:cubicBezTo>
                <a:cubicBezTo>
                  <a:pt x="3" y="1137"/>
                  <a:pt x="0" y="1133"/>
                  <a:pt x="0" y="1129"/>
                </a:cubicBezTo>
                <a:close/>
                <a:moveTo>
                  <a:pt x="0" y="1049"/>
                </a:moveTo>
                <a:lnTo>
                  <a:pt x="0" y="1049"/>
                </a:lnTo>
                <a:cubicBezTo>
                  <a:pt x="0" y="1044"/>
                  <a:pt x="3" y="1041"/>
                  <a:pt x="8" y="1041"/>
                </a:cubicBezTo>
                <a:cubicBezTo>
                  <a:pt x="12" y="1041"/>
                  <a:pt x="16" y="1044"/>
                  <a:pt x="16" y="1049"/>
                </a:cubicBezTo>
                <a:lnTo>
                  <a:pt x="16" y="1049"/>
                </a:lnTo>
                <a:cubicBezTo>
                  <a:pt x="16" y="1053"/>
                  <a:pt x="12" y="1057"/>
                  <a:pt x="8" y="1057"/>
                </a:cubicBezTo>
                <a:cubicBezTo>
                  <a:pt x="3" y="1057"/>
                  <a:pt x="0" y="1053"/>
                  <a:pt x="0" y="1049"/>
                </a:cubicBezTo>
                <a:close/>
                <a:moveTo>
                  <a:pt x="0" y="969"/>
                </a:moveTo>
                <a:lnTo>
                  <a:pt x="0" y="969"/>
                </a:lnTo>
                <a:cubicBezTo>
                  <a:pt x="0" y="964"/>
                  <a:pt x="3" y="961"/>
                  <a:pt x="8" y="961"/>
                </a:cubicBezTo>
                <a:cubicBezTo>
                  <a:pt x="12" y="961"/>
                  <a:pt x="16" y="964"/>
                  <a:pt x="16" y="969"/>
                </a:cubicBezTo>
                <a:lnTo>
                  <a:pt x="16" y="969"/>
                </a:lnTo>
                <a:cubicBezTo>
                  <a:pt x="16" y="973"/>
                  <a:pt x="12" y="977"/>
                  <a:pt x="8" y="977"/>
                </a:cubicBezTo>
                <a:cubicBezTo>
                  <a:pt x="3" y="977"/>
                  <a:pt x="0" y="973"/>
                  <a:pt x="0" y="969"/>
                </a:cubicBezTo>
                <a:close/>
                <a:moveTo>
                  <a:pt x="0" y="889"/>
                </a:moveTo>
                <a:lnTo>
                  <a:pt x="0" y="889"/>
                </a:lnTo>
                <a:cubicBezTo>
                  <a:pt x="0" y="884"/>
                  <a:pt x="3" y="881"/>
                  <a:pt x="8" y="881"/>
                </a:cubicBezTo>
                <a:cubicBezTo>
                  <a:pt x="12" y="881"/>
                  <a:pt x="16" y="884"/>
                  <a:pt x="16" y="889"/>
                </a:cubicBezTo>
                <a:lnTo>
                  <a:pt x="16" y="889"/>
                </a:lnTo>
                <a:cubicBezTo>
                  <a:pt x="16" y="893"/>
                  <a:pt x="12" y="897"/>
                  <a:pt x="8" y="897"/>
                </a:cubicBezTo>
                <a:cubicBezTo>
                  <a:pt x="3" y="897"/>
                  <a:pt x="0" y="893"/>
                  <a:pt x="0" y="889"/>
                </a:cubicBezTo>
                <a:close/>
                <a:moveTo>
                  <a:pt x="0" y="809"/>
                </a:moveTo>
                <a:lnTo>
                  <a:pt x="0" y="809"/>
                </a:lnTo>
                <a:cubicBezTo>
                  <a:pt x="0" y="804"/>
                  <a:pt x="3" y="801"/>
                  <a:pt x="8" y="801"/>
                </a:cubicBezTo>
                <a:cubicBezTo>
                  <a:pt x="12" y="801"/>
                  <a:pt x="16" y="804"/>
                  <a:pt x="16" y="809"/>
                </a:cubicBezTo>
                <a:lnTo>
                  <a:pt x="16" y="809"/>
                </a:lnTo>
                <a:cubicBezTo>
                  <a:pt x="16" y="813"/>
                  <a:pt x="12" y="817"/>
                  <a:pt x="8" y="817"/>
                </a:cubicBezTo>
                <a:cubicBezTo>
                  <a:pt x="3" y="817"/>
                  <a:pt x="0" y="813"/>
                  <a:pt x="0" y="809"/>
                </a:cubicBezTo>
                <a:close/>
                <a:moveTo>
                  <a:pt x="0" y="729"/>
                </a:moveTo>
                <a:lnTo>
                  <a:pt x="0" y="729"/>
                </a:lnTo>
                <a:cubicBezTo>
                  <a:pt x="0" y="724"/>
                  <a:pt x="3" y="721"/>
                  <a:pt x="8" y="721"/>
                </a:cubicBezTo>
                <a:cubicBezTo>
                  <a:pt x="12" y="721"/>
                  <a:pt x="16" y="724"/>
                  <a:pt x="16" y="729"/>
                </a:cubicBezTo>
                <a:lnTo>
                  <a:pt x="16" y="729"/>
                </a:lnTo>
                <a:cubicBezTo>
                  <a:pt x="16" y="733"/>
                  <a:pt x="12" y="737"/>
                  <a:pt x="8" y="737"/>
                </a:cubicBezTo>
                <a:cubicBezTo>
                  <a:pt x="3" y="737"/>
                  <a:pt x="0" y="733"/>
                  <a:pt x="0" y="729"/>
                </a:cubicBezTo>
                <a:close/>
                <a:moveTo>
                  <a:pt x="0" y="649"/>
                </a:moveTo>
                <a:lnTo>
                  <a:pt x="0" y="649"/>
                </a:lnTo>
                <a:cubicBezTo>
                  <a:pt x="0" y="644"/>
                  <a:pt x="3" y="641"/>
                  <a:pt x="8" y="641"/>
                </a:cubicBezTo>
                <a:cubicBezTo>
                  <a:pt x="12" y="641"/>
                  <a:pt x="16" y="644"/>
                  <a:pt x="16" y="649"/>
                </a:cubicBezTo>
                <a:lnTo>
                  <a:pt x="16" y="649"/>
                </a:lnTo>
                <a:cubicBezTo>
                  <a:pt x="16" y="653"/>
                  <a:pt x="12" y="657"/>
                  <a:pt x="8" y="657"/>
                </a:cubicBezTo>
                <a:cubicBezTo>
                  <a:pt x="3" y="657"/>
                  <a:pt x="0" y="653"/>
                  <a:pt x="0" y="649"/>
                </a:cubicBezTo>
                <a:close/>
                <a:moveTo>
                  <a:pt x="0" y="569"/>
                </a:moveTo>
                <a:lnTo>
                  <a:pt x="0" y="568"/>
                </a:lnTo>
                <a:cubicBezTo>
                  <a:pt x="0" y="564"/>
                  <a:pt x="3" y="560"/>
                  <a:pt x="8" y="560"/>
                </a:cubicBezTo>
                <a:cubicBezTo>
                  <a:pt x="12" y="560"/>
                  <a:pt x="16" y="564"/>
                  <a:pt x="16" y="568"/>
                </a:cubicBezTo>
                <a:lnTo>
                  <a:pt x="16" y="569"/>
                </a:lnTo>
                <a:cubicBezTo>
                  <a:pt x="16" y="573"/>
                  <a:pt x="12" y="577"/>
                  <a:pt x="8" y="577"/>
                </a:cubicBezTo>
                <a:cubicBezTo>
                  <a:pt x="3" y="577"/>
                  <a:pt x="0" y="573"/>
                  <a:pt x="0" y="569"/>
                </a:cubicBezTo>
                <a:close/>
                <a:moveTo>
                  <a:pt x="0" y="488"/>
                </a:moveTo>
                <a:lnTo>
                  <a:pt x="0" y="488"/>
                </a:lnTo>
                <a:cubicBezTo>
                  <a:pt x="0" y="484"/>
                  <a:pt x="3" y="480"/>
                  <a:pt x="8" y="480"/>
                </a:cubicBezTo>
                <a:cubicBezTo>
                  <a:pt x="12" y="480"/>
                  <a:pt x="16" y="484"/>
                  <a:pt x="16" y="488"/>
                </a:cubicBezTo>
                <a:lnTo>
                  <a:pt x="16" y="488"/>
                </a:lnTo>
                <a:cubicBezTo>
                  <a:pt x="16" y="493"/>
                  <a:pt x="12" y="496"/>
                  <a:pt x="8" y="496"/>
                </a:cubicBezTo>
                <a:cubicBezTo>
                  <a:pt x="3" y="496"/>
                  <a:pt x="0" y="493"/>
                  <a:pt x="0" y="488"/>
                </a:cubicBezTo>
                <a:close/>
                <a:moveTo>
                  <a:pt x="0" y="408"/>
                </a:moveTo>
                <a:lnTo>
                  <a:pt x="0" y="408"/>
                </a:lnTo>
                <a:cubicBezTo>
                  <a:pt x="0" y="404"/>
                  <a:pt x="3" y="400"/>
                  <a:pt x="8" y="400"/>
                </a:cubicBezTo>
                <a:cubicBezTo>
                  <a:pt x="12" y="400"/>
                  <a:pt x="16" y="404"/>
                  <a:pt x="16" y="408"/>
                </a:cubicBezTo>
                <a:lnTo>
                  <a:pt x="16" y="408"/>
                </a:lnTo>
                <a:cubicBezTo>
                  <a:pt x="16" y="413"/>
                  <a:pt x="12" y="416"/>
                  <a:pt x="8" y="416"/>
                </a:cubicBezTo>
                <a:cubicBezTo>
                  <a:pt x="3" y="416"/>
                  <a:pt x="0" y="413"/>
                  <a:pt x="0" y="408"/>
                </a:cubicBezTo>
                <a:close/>
                <a:moveTo>
                  <a:pt x="0" y="328"/>
                </a:moveTo>
                <a:lnTo>
                  <a:pt x="0" y="328"/>
                </a:lnTo>
                <a:cubicBezTo>
                  <a:pt x="0" y="324"/>
                  <a:pt x="3" y="320"/>
                  <a:pt x="8" y="320"/>
                </a:cubicBezTo>
                <a:cubicBezTo>
                  <a:pt x="12" y="320"/>
                  <a:pt x="16" y="324"/>
                  <a:pt x="16" y="328"/>
                </a:cubicBezTo>
                <a:lnTo>
                  <a:pt x="16" y="328"/>
                </a:lnTo>
                <a:cubicBezTo>
                  <a:pt x="16" y="333"/>
                  <a:pt x="12" y="336"/>
                  <a:pt x="8" y="336"/>
                </a:cubicBezTo>
                <a:cubicBezTo>
                  <a:pt x="3" y="336"/>
                  <a:pt x="0" y="333"/>
                  <a:pt x="0" y="328"/>
                </a:cubicBezTo>
                <a:close/>
                <a:moveTo>
                  <a:pt x="0" y="248"/>
                </a:moveTo>
                <a:lnTo>
                  <a:pt x="0" y="248"/>
                </a:lnTo>
                <a:cubicBezTo>
                  <a:pt x="0" y="244"/>
                  <a:pt x="3" y="240"/>
                  <a:pt x="8" y="240"/>
                </a:cubicBezTo>
                <a:cubicBezTo>
                  <a:pt x="12" y="240"/>
                  <a:pt x="16" y="244"/>
                  <a:pt x="16" y="248"/>
                </a:cubicBezTo>
                <a:lnTo>
                  <a:pt x="16" y="248"/>
                </a:lnTo>
                <a:cubicBezTo>
                  <a:pt x="16" y="253"/>
                  <a:pt x="12" y="256"/>
                  <a:pt x="8" y="256"/>
                </a:cubicBezTo>
                <a:cubicBezTo>
                  <a:pt x="3" y="256"/>
                  <a:pt x="0" y="253"/>
                  <a:pt x="0" y="248"/>
                </a:cubicBezTo>
                <a:close/>
                <a:moveTo>
                  <a:pt x="0" y="168"/>
                </a:moveTo>
                <a:lnTo>
                  <a:pt x="0" y="168"/>
                </a:lnTo>
                <a:cubicBezTo>
                  <a:pt x="0" y="164"/>
                  <a:pt x="3" y="160"/>
                  <a:pt x="8" y="160"/>
                </a:cubicBezTo>
                <a:cubicBezTo>
                  <a:pt x="12" y="160"/>
                  <a:pt x="16" y="164"/>
                  <a:pt x="16" y="168"/>
                </a:cubicBezTo>
                <a:lnTo>
                  <a:pt x="16" y="168"/>
                </a:lnTo>
                <a:cubicBezTo>
                  <a:pt x="16" y="173"/>
                  <a:pt x="12" y="176"/>
                  <a:pt x="8" y="176"/>
                </a:cubicBezTo>
                <a:cubicBezTo>
                  <a:pt x="3" y="176"/>
                  <a:pt x="0" y="173"/>
                  <a:pt x="0" y="168"/>
                </a:cubicBezTo>
                <a:close/>
                <a:moveTo>
                  <a:pt x="0" y="88"/>
                </a:moveTo>
                <a:lnTo>
                  <a:pt x="0" y="88"/>
                </a:lnTo>
                <a:cubicBezTo>
                  <a:pt x="0" y="84"/>
                  <a:pt x="3" y="80"/>
                  <a:pt x="8" y="80"/>
                </a:cubicBezTo>
                <a:cubicBezTo>
                  <a:pt x="12" y="80"/>
                  <a:pt x="16" y="84"/>
                  <a:pt x="16" y="88"/>
                </a:cubicBezTo>
                <a:lnTo>
                  <a:pt x="16" y="88"/>
                </a:lnTo>
                <a:cubicBezTo>
                  <a:pt x="16" y="93"/>
                  <a:pt x="12" y="96"/>
                  <a:pt x="8" y="96"/>
                </a:cubicBezTo>
                <a:cubicBezTo>
                  <a:pt x="3" y="96"/>
                  <a:pt x="0" y="93"/>
                  <a:pt x="0" y="88"/>
                </a:cubicBezTo>
                <a:close/>
                <a:moveTo>
                  <a:pt x="0" y="8"/>
                </a:move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ubicBezTo>
                  <a:pt x="12" y="0"/>
                  <a:pt x="16" y="4"/>
                  <a:pt x="16" y="8"/>
                </a:cubicBezTo>
                <a:lnTo>
                  <a:pt x="16" y="8"/>
                </a:lnTo>
                <a:cubicBezTo>
                  <a:pt x="16" y="13"/>
                  <a:pt x="12" y="16"/>
                  <a:pt x="8" y="16"/>
                </a:cubicBezTo>
                <a:cubicBezTo>
                  <a:pt x="3" y="16"/>
                  <a:pt x="0" y="13"/>
                  <a:pt x="0" y="8"/>
                </a:cubicBezTo>
                <a:close/>
              </a:path>
            </a:pathLst>
          </a:custGeom>
          <a:solidFill>
            <a:srgbClr val="000000"/>
          </a:solidFill>
          <a:ln w="22225" cap="flat">
            <a:solidFill>
              <a:srgbClr val="000000"/>
            </a:solidFill>
            <a:prstDash val="solid"/>
            <a:bevel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14" name="Freeform 6"/>
          <p:cNvSpPr>
            <a:spLocks/>
          </p:cNvSpPr>
          <p:nvPr/>
        </p:nvSpPr>
        <p:spPr bwMode="auto">
          <a:xfrm>
            <a:off x="6445250" y="1400175"/>
            <a:ext cx="20638" cy="3811588"/>
          </a:xfrm>
          <a:custGeom>
            <a:avLst/>
            <a:gdLst>
              <a:gd name="T0" fmla="*/ 16 w 16"/>
              <a:gd name="T1" fmla="*/ 2809 h 2817"/>
              <a:gd name="T2" fmla="*/ 0 w 16"/>
              <a:gd name="T3" fmla="*/ 2729 h 2817"/>
              <a:gd name="T4" fmla="*/ 16 w 16"/>
              <a:gd name="T5" fmla="*/ 2729 h 2817"/>
              <a:gd name="T6" fmla="*/ 0 w 16"/>
              <a:gd name="T7" fmla="*/ 2649 h 2817"/>
              <a:gd name="T8" fmla="*/ 8 w 16"/>
              <a:gd name="T9" fmla="*/ 2657 h 2817"/>
              <a:gd name="T10" fmla="*/ 8 w 16"/>
              <a:gd name="T11" fmla="*/ 2561 h 2817"/>
              <a:gd name="T12" fmla="*/ 0 w 16"/>
              <a:gd name="T13" fmla="*/ 2569 h 2817"/>
              <a:gd name="T14" fmla="*/ 16 w 16"/>
              <a:gd name="T15" fmla="*/ 2489 h 2817"/>
              <a:gd name="T16" fmla="*/ 0 w 16"/>
              <a:gd name="T17" fmla="*/ 2409 h 2817"/>
              <a:gd name="T18" fmla="*/ 16 w 16"/>
              <a:gd name="T19" fmla="*/ 2409 h 2817"/>
              <a:gd name="T20" fmla="*/ 0 w 16"/>
              <a:gd name="T21" fmla="*/ 2329 h 2817"/>
              <a:gd name="T22" fmla="*/ 8 w 16"/>
              <a:gd name="T23" fmla="*/ 2337 h 2817"/>
              <a:gd name="T24" fmla="*/ 8 w 16"/>
              <a:gd name="T25" fmla="*/ 2241 h 2817"/>
              <a:gd name="T26" fmla="*/ 0 w 16"/>
              <a:gd name="T27" fmla="*/ 2249 h 2817"/>
              <a:gd name="T28" fmla="*/ 16 w 16"/>
              <a:gd name="T29" fmla="*/ 2169 h 2817"/>
              <a:gd name="T30" fmla="*/ 0 w 16"/>
              <a:gd name="T31" fmla="*/ 2089 h 2817"/>
              <a:gd name="T32" fmla="*/ 16 w 16"/>
              <a:gd name="T33" fmla="*/ 2089 h 2817"/>
              <a:gd name="T34" fmla="*/ 0 w 16"/>
              <a:gd name="T35" fmla="*/ 2009 h 2817"/>
              <a:gd name="T36" fmla="*/ 8 w 16"/>
              <a:gd name="T37" fmla="*/ 2017 h 2817"/>
              <a:gd name="T38" fmla="*/ 8 w 16"/>
              <a:gd name="T39" fmla="*/ 1921 h 2817"/>
              <a:gd name="T40" fmla="*/ 0 w 16"/>
              <a:gd name="T41" fmla="*/ 1929 h 2817"/>
              <a:gd name="T42" fmla="*/ 16 w 16"/>
              <a:gd name="T43" fmla="*/ 1849 h 2817"/>
              <a:gd name="T44" fmla="*/ 0 w 16"/>
              <a:gd name="T45" fmla="*/ 1769 h 2817"/>
              <a:gd name="T46" fmla="*/ 16 w 16"/>
              <a:gd name="T47" fmla="*/ 1769 h 2817"/>
              <a:gd name="T48" fmla="*/ 0 w 16"/>
              <a:gd name="T49" fmla="*/ 1689 h 2817"/>
              <a:gd name="T50" fmla="*/ 8 w 16"/>
              <a:gd name="T51" fmla="*/ 1697 h 2817"/>
              <a:gd name="T52" fmla="*/ 8 w 16"/>
              <a:gd name="T53" fmla="*/ 1601 h 2817"/>
              <a:gd name="T54" fmla="*/ 0 w 16"/>
              <a:gd name="T55" fmla="*/ 1609 h 2817"/>
              <a:gd name="T56" fmla="*/ 16 w 16"/>
              <a:gd name="T57" fmla="*/ 1529 h 2817"/>
              <a:gd name="T58" fmla="*/ 0 w 16"/>
              <a:gd name="T59" fmla="*/ 1449 h 2817"/>
              <a:gd name="T60" fmla="*/ 16 w 16"/>
              <a:gd name="T61" fmla="*/ 1449 h 2817"/>
              <a:gd name="T62" fmla="*/ 0 w 16"/>
              <a:gd name="T63" fmla="*/ 1369 h 2817"/>
              <a:gd name="T64" fmla="*/ 8 w 16"/>
              <a:gd name="T65" fmla="*/ 1377 h 2817"/>
              <a:gd name="T66" fmla="*/ 8 w 16"/>
              <a:gd name="T67" fmla="*/ 1281 h 2817"/>
              <a:gd name="T68" fmla="*/ 0 w 16"/>
              <a:gd name="T69" fmla="*/ 1289 h 2817"/>
              <a:gd name="T70" fmla="*/ 16 w 16"/>
              <a:gd name="T71" fmla="*/ 1209 h 2817"/>
              <a:gd name="T72" fmla="*/ 0 w 16"/>
              <a:gd name="T73" fmla="*/ 1129 h 2817"/>
              <a:gd name="T74" fmla="*/ 16 w 16"/>
              <a:gd name="T75" fmla="*/ 1129 h 2817"/>
              <a:gd name="T76" fmla="*/ 0 w 16"/>
              <a:gd name="T77" fmla="*/ 1049 h 2817"/>
              <a:gd name="T78" fmla="*/ 8 w 16"/>
              <a:gd name="T79" fmla="*/ 1057 h 2817"/>
              <a:gd name="T80" fmla="*/ 8 w 16"/>
              <a:gd name="T81" fmla="*/ 961 h 2817"/>
              <a:gd name="T82" fmla="*/ 0 w 16"/>
              <a:gd name="T83" fmla="*/ 969 h 2817"/>
              <a:gd name="T84" fmla="*/ 16 w 16"/>
              <a:gd name="T85" fmla="*/ 889 h 2817"/>
              <a:gd name="T86" fmla="*/ 0 w 16"/>
              <a:gd name="T87" fmla="*/ 809 h 2817"/>
              <a:gd name="T88" fmla="*/ 16 w 16"/>
              <a:gd name="T89" fmla="*/ 809 h 2817"/>
              <a:gd name="T90" fmla="*/ 0 w 16"/>
              <a:gd name="T91" fmla="*/ 729 h 2817"/>
              <a:gd name="T92" fmla="*/ 8 w 16"/>
              <a:gd name="T93" fmla="*/ 737 h 2817"/>
              <a:gd name="T94" fmla="*/ 8 w 16"/>
              <a:gd name="T95" fmla="*/ 641 h 2817"/>
              <a:gd name="T96" fmla="*/ 0 w 16"/>
              <a:gd name="T97" fmla="*/ 649 h 2817"/>
              <a:gd name="T98" fmla="*/ 16 w 16"/>
              <a:gd name="T99" fmla="*/ 568 h 2817"/>
              <a:gd name="T100" fmla="*/ 0 w 16"/>
              <a:gd name="T101" fmla="*/ 488 h 2817"/>
              <a:gd name="T102" fmla="*/ 16 w 16"/>
              <a:gd name="T103" fmla="*/ 488 h 2817"/>
              <a:gd name="T104" fmla="*/ 0 w 16"/>
              <a:gd name="T105" fmla="*/ 408 h 2817"/>
              <a:gd name="T106" fmla="*/ 8 w 16"/>
              <a:gd name="T107" fmla="*/ 416 h 2817"/>
              <a:gd name="T108" fmla="*/ 8 w 16"/>
              <a:gd name="T109" fmla="*/ 320 h 2817"/>
              <a:gd name="T110" fmla="*/ 0 w 16"/>
              <a:gd name="T111" fmla="*/ 328 h 2817"/>
              <a:gd name="T112" fmla="*/ 16 w 16"/>
              <a:gd name="T113" fmla="*/ 248 h 2817"/>
              <a:gd name="T114" fmla="*/ 0 w 16"/>
              <a:gd name="T115" fmla="*/ 168 h 2817"/>
              <a:gd name="T116" fmla="*/ 16 w 16"/>
              <a:gd name="T117" fmla="*/ 168 h 2817"/>
              <a:gd name="T118" fmla="*/ 0 w 16"/>
              <a:gd name="T119" fmla="*/ 88 h 2817"/>
              <a:gd name="T120" fmla="*/ 8 w 16"/>
              <a:gd name="T121" fmla="*/ 96 h 2817"/>
              <a:gd name="T122" fmla="*/ 8 w 16"/>
              <a:gd name="T123" fmla="*/ 0 h 2817"/>
              <a:gd name="T124" fmla="*/ 0 w 16"/>
              <a:gd name="T125" fmla="*/ 8 h 28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" h="2817">
                <a:moveTo>
                  <a:pt x="0" y="2809"/>
                </a:moveTo>
                <a:lnTo>
                  <a:pt x="0" y="2809"/>
                </a:lnTo>
                <a:cubicBezTo>
                  <a:pt x="0" y="2805"/>
                  <a:pt x="3" y="2801"/>
                  <a:pt x="8" y="2801"/>
                </a:cubicBezTo>
                <a:cubicBezTo>
                  <a:pt x="12" y="2801"/>
                  <a:pt x="16" y="2805"/>
                  <a:pt x="16" y="2809"/>
                </a:cubicBezTo>
                <a:lnTo>
                  <a:pt x="16" y="2809"/>
                </a:lnTo>
                <a:cubicBezTo>
                  <a:pt x="16" y="2813"/>
                  <a:pt x="12" y="2817"/>
                  <a:pt x="8" y="2817"/>
                </a:cubicBezTo>
                <a:cubicBezTo>
                  <a:pt x="3" y="2817"/>
                  <a:pt x="0" y="2813"/>
                  <a:pt x="0" y="2809"/>
                </a:cubicBezTo>
                <a:close/>
                <a:moveTo>
                  <a:pt x="0" y="2729"/>
                </a:moveTo>
                <a:lnTo>
                  <a:pt x="0" y="2729"/>
                </a:lnTo>
                <a:cubicBezTo>
                  <a:pt x="0" y="2725"/>
                  <a:pt x="3" y="2721"/>
                  <a:pt x="8" y="2721"/>
                </a:cubicBezTo>
                <a:cubicBezTo>
                  <a:pt x="12" y="2721"/>
                  <a:pt x="16" y="2725"/>
                  <a:pt x="16" y="2729"/>
                </a:cubicBezTo>
                <a:lnTo>
                  <a:pt x="16" y="2729"/>
                </a:lnTo>
                <a:cubicBezTo>
                  <a:pt x="16" y="2733"/>
                  <a:pt x="12" y="2737"/>
                  <a:pt x="8" y="2737"/>
                </a:cubicBezTo>
                <a:cubicBezTo>
                  <a:pt x="3" y="2737"/>
                  <a:pt x="0" y="2733"/>
                  <a:pt x="0" y="2729"/>
                </a:cubicBezTo>
                <a:close/>
                <a:moveTo>
                  <a:pt x="0" y="2649"/>
                </a:moveTo>
                <a:lnTo>
                  <a:pt x="0" y="2649"/>
                </a:lnTo>
                <a:cubicBezTo>
                  <a:pt x="0" y="2644"/>
                  <a:pt x="3" y="2641"/>
                  <a:pt x="8" y="2641"/>
                </a:cubicBezTo>
                <a:cubicBezTo>
                  <a:pt x="12" y="2641"/>
                  <a:pt x="16" y="2644"/>
                  <a:pt x="16" y="2649"/>
                </a:cubicBezTo>
                <a:lnTo>
                  <a:pt x="16" y="2649"/>
                </a:lnTo>
                <a:cubicBezTo>
                  <a:pt x="16" y="2653"/>
                  <a:pt x="12" y="2657"/>
                  <a:pt x="8" y="2657"/>
                </a:cubicBezTo>
                <a:cubicBezTo>
                  <a:pt x="3" y="2657"/>
                  <a:pt x="0" y="2653"/>
                  <a:pt x="0" y="2649"/>
                </a:cubicBezTo>
                <a:close/>
                <a:moveTo>
                  <a:pt x="0" y="2569"/>
                </a:moveTo>
                <a:lnTo>
                  <a:pt x="0" y="2569"/>
                </a:lnTo>
                <a:cubicBezTo>
                  <a:pt x="0" y="2564"/>
                  <a:pt x="3" y="2561"/>
                  <a:pt x="8" y="2561"/>
                </a:cubicBezTo>
                <a:cubicBezTo>
                  <a:pt x="12" y="2561"/>
                  <a:pt x="16" y="2564"/>
                  <a:pt x="16" y="2569"/>
                </a:cubicBezTo>
                <a:lnTo>
                  <a:pt x="16" y="2569"/>
                </a:lnTo>
                <a:cubicBezTo>
                  <a:pt x="16" y="2573"/>
                  <a:pt x="12" y="2577"/>
                  <a:pt x="8" y="2577"/>
                </a:cubicBezTo>
                <a:cubicBezTo>
                  <a:pt x="3" y="2577"/>
                  <a:pt x="0" y="2573"/>
                  <a:pt x="0" y="2569"/>
                </a:cubicBezTo>
                <a:close/>
                <a:moveTo>
                  <a:pt x="0" y="2489"/>
                </a:moveTo>
                <a:lnTo>
                  <a:pt x="0" y="2489"/>
                </a:lnTo>
                <a:cubicBezTo>
                  <a:pt x="0" y="2484"/>
                  <a:pt x="3" y="2481"/>
                  <a:pt x="8" y="2481"/>
                </a:cubicBezTo>
                <a:cubicBezTo>
                  <a:pt x="12" y="2481"/>
                  <a:pt x="16" y="2484"/>
                  <a:pt x="16" y="2489"/>
                </a:cubicBezTo>
                <a:lnTo>
                  <a:pt x="16" y="2489"/>
                </a:lnTo>
                <a:cubicBezTo>
                  <a:pt x="16" y="2493"/>
                  <a:pt x="12" y="2497"/>
                  <a:pt x="8" y="2497"/>
                </a:cubicBezTo>
                <a:cubicBezTo>
                  <a:pt x="3" y="2497"/>
                  <a:pt x="0" y="2493"/>
                  <a:pt x="0" y="2489"/>
                </a:cubicBezTo>
                <a:close/>
                <a:moveTo>
                  <a:pt x="0" y="2409"/>
                </a:moveTo>
                <a:lnTo>
                  <a:pt x="0" y="2409"/>
                </a:lnTo>
                <a:cubicBezTo>
                  <a:pt x="0" y="2404"/>
                  <a:pt x="3" y="2401"/>
                  <a:pt x="8" y="2401"/>
                </a:cubicBezTo>
                <a:cubicBezTo>
                  <a:pt x="12" y="2401"/>
                  <a:pt x="16" y="2404"/>
                  <a:pt x="16" y="2409"/>
                </a:cubicBezTo>
                <a:lnTo>
                  <a:pt x="16" y="2409"/>
                </a:lnTo>
                <a:cubicBezTo>
                  <a:pt x="16" y="2413"/>
                  <a:pt x="12" y="2417"/>
                  <a:pt x="8" y="2417"/>
                </a:cubicBezTo>
                <a:cubicBezTo>
                  <a:pt x="3" y="2417"/>
                  <a:pt x="0" y="2413"/>
                  <a:pt x="0" y="2409"/>
                </a:cubicBezTo>
                <a:close/>
                <a:moveTo>
                  <a:pt x="0" y="2329"/>
                </a:moveTo>
                <a:lnTo>
                  <a:pt x="0" y="2329"/>
                </a:lnTo>
                <a:cubicBezTo>
                  <a:pt x="0" y="2324"/>
                  <a:pt x="3" y="2321"/>
                  <a:pt x="8" y="2321"/>
                </a:cubicBezTo>
                <a:cubicBezTo>
                  <a:pt x="12" y="2321"/>
                  <a:pt x="16" y="2324"/>
                  <a:pt x="16" y="2329"/>
                </a:cubicBezTo>
                <a:lnTo>
                  <a:pt x="16" y="2329"/>
                </a:lnTo>
                <a:cubicBezTo>
                  <a:pt x="16" y="2333"/>
                  <a:pt x="12" y="2337"/>
                  <a:pt x="8" y="2337"/>
                </a:cubicBezTo>
                <a:cubicBezTo>
                  <a:pt x="3" y="2337"/>
                  <a:pt x="0" y="2333"/>
                  <a:pt x="0" y="2329"/>
                </a:cubicBezTo>
                <a:close/>
                <a:moveTo>
                  <a:pt x="0" y="2249"/>
                </a:moveTo>
                <a:lnTo>
                  <a:pt x="0" y="2249"/>
                </a:lnTo>
                <a:cubicBezTo>
                  <a:pt x="0" y="2244"/>
                  <a:pt x="3" y="2241"/>
                  <a:pt x="8" y="2241"/>
                </a:cubicBezTo>
                <a:cubicBezTo>
                  <a:pt x="12" y="2241"/>
                  <a:pt x="16" y="2244"/>
                  <a:pt x="16" y="2249"/>
                </a:cubicBezTo>
                <a:lnTo>
                  <a:pt x="16" y="2249"/>
                </a:lnTo>
                <a:cubicBezTo>
                  <a:pt x="16" y="2253"/>
                  <a:pt x="12" y="2257"/>
                  <a:pt x="8" y="2257"/>
                </a:cubicBezTo>
                <a:cubicBezTo>
                  <a:pt x="3" y="2257"/>
                  <a:pt x="0" y="2253"/>
                  <a:pt x="0" y="2249"/>
                </a:cubicBezTo>
                <a:close/>
                <a:moveTo>
                  <a:pt x="0" y="2169"/>
                </a:moveTo>
                <a:lnTo>
                  <a:pt x="0" y="2169"/>
                </a:lnTo>
                <a:cubicBezTo>
                  <a:pt x="0" y="2164"/>
                  <a:pt x="3" y="2161"/>
                  <a:pt x="8" y="2161"/>
                </a:cubicBezTo>
                <a:cubicBezTo>
                  <a:pt x="12" y="2161"/>
                  <a:pt x="16" y="2164"/>
                  <a:pt x="16" y="2169"/>
                </a:cubicBezTo>
                <a:lnTo>
                  <a:pt x="16" y="2169"/>
                </a:lnTo>
                <a:cubicBezTo>
                  <a:pt x="16" y="2173"/>
                  <a:pt x="12" y="2177"/>
                  <a:pt x="8" y="2177"/>
                </a:cubicBezTo>
                <a:cubicBezTo>
                  <a:pt x="3" y="2177"/>
                  <a:pt x="0" y="2173"/>
                  <a:pt x="0" y="2169"/>
                </a:cubicBezTo>
                <a:close/>
                <a:moveTo>
                  <a:pt x="0" y="2089"/>
                </a:moveTo>
                <a:lnTo>
                  <a:pt x="0" y="2089"/>
                </a:lnTo>
                <a:cubicBezTo>
                  <a:pt x="0" y="2084"/>
                  <a:pt x="3" y="2081"/>
                  <a:pt x="8" y="2081"/>
                </a:cubicBezTo>
                <a:cubicBezTo>
                  <a:pt x="12" y="2081"/>
                  <a:pt x="16" y="2084"/>
                  <a:pt x="16" y="2089"/>
                </a:cubicBezTo>
                <a:lnTo>
                  <a:pt x="16" y="2089"/>
                </a:lnTo>
                <a:cubicBezTo>
                  <a:pt x="16" y="2093"/>
                  <a:pt x="12" y="2097"/>
                  <a:pt x="8" y="2097"/>
                </a:cubicBezTo>
                <a:cubicBezTo>
                  <a:pt x="3" y="2097"/>
                  <a:pt x="0" y="2093"/>
                  <a:pt x="0" y="2089"/>
                </a:cubicBezTo>
                <a:close/>
                <a:moveTo>
                  <a:pt x="0" y="2009"/>
                </a:moveTo>
                <a:lnTo>
                  <a:pt x="0" y="2009"/>
                </a:lnTo>
                <a:cubicBezTo>
                  <a:pt x="0" y="2004"/>
                  <a:pt x="3" y="2001"/>
                  <a:pt x="8" y="2001"/>
                </a:cubicBezTo>
                <a:cubicBezTo>
                  <a:pt x="12" y="2001"/>
                  <a:pt x="16" y="2004"/>
                  <a:pt x="16" y="2009"/>
                </a:cubicBezTo>
                <a:lnTo>
                  <a:pt x="16" y="2009"/>
                </a:lnTo>
                <a:cubicBezTo>
                  <a:pt x="16" y="2013"/>
                  <a:pt x="12" y="2017"/>
                  <a:pt x="8" y="2017"/>
                </a:cubicBezTo>
                <a:cubicBezTo>
                  <a:pt x="3" y="2017"/>
                  <a:pt x="0" y="2013"/>
                  <a:pt x="0" y="2009"/>
                </a:cubicBezTo>
                <a:close/>
                <a:moveTo>
                  <a:pt x="0" y="1929"/>
                </a:moveTo>
                <a:lnTo>
                  <a:pt x="0" y="1929"/>
                </a:lnTo>
                <a:cubicBezTo>
                  <a:pt x="0" y="1924"/>
                  <a:pt x="3" y="1921"/>
                  <a:pt x="8" y="1921"/>
                </a:cubicBezTo>
                <a:cubicBezTo>
                  <a:pt x="12" y="1921"/>
                  <a:pt x="16" y="1924"/>
                  <a:pt x="16" y="1929"/>
                </a:cubicBezTo>
                <a:lnTo>
                  <a:pt x="16" y="1929"/>
                </a:lnTo>
                <a:cubicBezTo>
                  <a:pt x="16" y="1933"/>
                  <a:pt x="12" y="1937"/>
                  <a:pt x="8" y="1937"/>
                </a:cubicBezTo>
                <a:cubicBezTo>
                  <a:pt x="3" y="1937"/>
                  <a:pt x="0" y="1933"/>
                  <a:pt x="0" y="1929"/>
                </a:cubicBezTo>
                <a:close/>
                <a:moveTo>
                  <a:pt x="0" y="1849"/>
                </a:moveTo>
                <a:lnTo>
                  <a:pt x="0" y="1849"/>
                </a:lnTo>
                <a:cubicBezTo>
                  <a:pt x="0" y="1844"/>
                  <a:pt x="3" y="1841"/>
                  <a:pt x="8" y="1841"/>
                </a:cubicBezTo>
                <a:cubicBezTo>
                  <a:pt x="12" y="1841"/>
                  <a:pt x="16" y="1844"/>
                  <a:pt x="16" y="1849"/>
                </a:cubicBezTo>
                <a:lnTo>
                  <a:pt x="16" y="1849"/>
                </a:lnTo>
                <a:cubicBezTo>
                  <a:pt x="16" y="1853"/>
                  <a:pt x="12" y="1857"/>
                  <a:pt x="8" y="1857"/>
                </a:cubicBezTo>
                <a:cubicBezTo>
                  <a:pt x="3" y="1857"/>
                  <a:pt x="0" y="1853"/>
                  <a:pt x="0" y="1849"/>
                </a:cubicBezTo>
                <a:close/>
                <a:moveTo>
                  <a:pt x="0" y="1769"/>
                </a:moveTo>
                <a:lnTo>
                  <a:pt x="0" y="1769"/>
                </a:lnTo>
                <a:cubicBezTo>
                  <a:pt x="0" y="1764"/>
                  <a:pt x="3" y="1761"/>
                  <a:pt x="8" y="1761"/>
                </a:cubicBezTo>
                <a:cubicBezTo>
                  <a:pt x="12" y="1761"/>
                  <a:pt x="16" y="1764"/>
                  <a:pt x="16" y="1769"/>
                </a:cubicBezTo>
                <a:lnTo>
                  <a:pt x="16" y="1769"/>
                </a:lnTo>
                <a:cubicBezTo>
                  <a:pt x="16" y="1773"/>
                  <a:pt x="12" y="1777"/>
                  <a:pt x="8" y="1777"/>
                </a:cubicBezTo>
                <a:cubicBezTo>
                  <a:pt x="3" y="1777"/>
                  <a:pt x="0" y="1773"/>
                  <a:pt x="0" y="1769"/>
                </a:cubicBezTo>
                <a:close/>
                <a:moveTo>
                  <a:pt x="0" y="1689"/>
                </a:moveTo>
                <a:lnTo>
                  <a:pt x="0" y="1689"/>
                </a:lnTo>
                <a:cubicBezTo>
                  <a:pt x="0" y="1684"/>
                  <a:pt x="3" y="1681"/>
                  <a:pt x="8" y="1681"/>
                </a:cubicBezTo>
                <a:cubicBezTo>
                  <a:pt x="12" y="1681"/>
                  <a:pt x="16" y="1684"/>
                  <a:pt x="16" y="1689"/>
                </a:cubicBezTo>
                <a:lnTo>
                  <a:pt x="16" y="1689"/>
                </a:lnTo>
                <a:cubicBezTo>
                  <a:pt x="16" y="1693"/>
                  <a:pt x="12" y="1697"/>
                  <a:pt x="8" y="1697"/>
                </a:cubicBezTo>
                <a:cubicBezTo>
                  <a:pt x="3" y="1697"/>
                  <a:pt x="0" y="1693"/>
                  <a:pt x="0" y="1689"/>
                </a:cubicBezTo>
                <a:close/>
                <a:moveTo>
                  <a:pt x="0" y="1609"/>
                </a:moveTo>
                <a:lnTo>
                  <a:pt x="0" y="1609"/>
                </a:lnTo>
                <a:cubicBezTo>
                  <a:pt x="0" y="1604"/>
                  <a:pt x="3" y="1601"/>
                  <a:pt x="8" y="1601"/>
                </a:cubicBezTo>
                <a:cubicBezTo>
                  <a:pt x="12" y="1601"/>
                  <a:pt x="16" y="1604"/>
                  <a:pt x="16" y="1609"/>
                </a:cubicBezTo>
                <a:lnTo>
                  <a:pt x="16" y="1609"/>
                </a:lnTo>
                <a:cubicBezTo>
                  <a:pt x="16" y="1613"/>
                  <a:pt x="12" y="1617"/>
                  <a:pt x="8" y="1617"/>
                </a:cubicBezTo>
                <a:cubicBezTo>
                  <a:pt x="3" y="1617"/>
                  <a:pt x="0" y="1613"/>
                  <a:pt x="0" y="1609"/>
                </a:cubicBezTo>
                <a:close/>
                <a:moveTo>
                  <a:pt x="0" y="1529"/>
                </a:moveTo>
                <a:lnTo>
                  <a:pt x="0" y="1529"/>
                </a:lnTo>
                <a:cubicBezTo>
                  <a:pt x="0" y="1524"/>
                  <a:pt x="3" y="1521"/>
                  <a:pt x="8" y="1521"/>
                </a:cubicBezTo>
                <a:cubicBezTo>
                  <a:pt x="12" y="1521"/>
                  <a:pt x="16" y="1524"/>
                  <a:pt x="16" y="1529"/>
                </a:cubicBezTo>
                <a:lnTo>
                  <a:pt x="16" y="1529"/>
                </a:lnTo>
                <a:cubicBezTo>
                  <a:pt x="16" y="1533"/>
                  <a:pt x="12" y="1537"/>
                  <a:pt x="8" y="1537"/>
                </a:cubicBezTo>
                <a:cubicBezTo>
                  <a:pt x="3" y="1537"/>
                  <a:pt x="0" y="1533"/>
                  <a:pt x="0" y="1529"/>
                </a:cubicBezTo>
                <a:close/>
                <a:moveTo>
                  <a:pt x="0" y="1449"/>
                </a:moveTo>
                <a:lnTo>
                  <a:pt x="0" y="1449"/>
                </a:lnTo>
                <a:cubicBezTo>
                  <a:pt x="0" y="1444"/>
                  <a:pt x="3" y="1441"/>
                  <a:pt x="8" y="1441"/>
                </a:cubicBezTo>
                <a:cubicBezTo>
                  <a:pt x="12" y="1441"/>
                  <a:pt x="16" y="1444"/>
                  <a:pt x="16" y="1449"/>
                </a:cubicBezTo>
                <a:lnTo>
                  <a:pt x="16" y="1449"/>
                </a:lnTo>
                <a:cubicBezTo>
                  <a:pt x="16" y="1453"/>
                  <a:pt x="12" y="1457"/>
                  <a:pt x="8" y="1457"/>
                </a:cubicBezTo>
                <a:cubicBezTo>
                  <a:pt x="3" y="1457"/>
                  <a:pt x="0" y="1453"/>
                  <a:pt x="0" y="1449"/>
                </a:cubicBezTo>
                <a:close/>
                <a:moveTo>
                  <a:pt x="0" y="1369"/>
                </a:moveTo>
                <a:lnTo>
                  <a:pt x="0" y="1369"/>
                </a:lnTo>
                <a:cubicBezTo>
                  <a:pt x="0" y="1364"/>
                  <a:pt x="3" y="1361"/>
                  <a:pt x="8" y="1361"/>
                </a:cubicBezTo>
                <a:cubicBezTo>
                  <a:pt x="12" y="1361"/>
                  <a:pt x="16" y="1364"/>
                  <a:pt x="16" y="1369"/>
                </a:cubicBezTo>
                <a:lnTo>
                  <a:pt x="16" y="1369"/>
                </a:lnTo>
                <a:cubicBezTo>
                  <a:pt x="16" y="1373"/>
                  <a:pt x="12" y="1377"/>
                  <a:pt x="8" y="1377"/>
                </a:cubicBezTo>
                <a:cubicBezTo>
                  <a:pt x="3" y="1377"/>
                  <a:pt x="0" y="1373"/>
                  <a:pt x="0" y="1369"/>
                </a:cubicBezTo>
                <a:close/>
                <a:moveTo>
                  <a:pt x="0" y="1289"/>
                </a:moveTo>
                <a:lnTo>
                  <a:pt x="0" y="1289"/>
                </a:lnTo>
                <a:cubicBezTo>
                  <a:pt x="0" y="1284"/>
                  <a:pt x="3" y="1281"/>
                  <a:pt x="8" y="1281"/>
                </a:cubicBezTo>
                <a:cubicBezTo>
                  <a:pt x="12" y="1281"/>
                  <a:pt x="16" y="1284"/>
                  <a:pt x="16" y="1289"/>
                </a:cubicBezTo>
                <a:lnTo>
                  <a:pt x="16" y="1289"/>
                </a:lnTo>
                <a:cubicBezTo>
                  <a:pt x="16" y="1293"/>
                  <a:pt x="12" y="1297"/>
                  <a:pt x="8" y="1297"/>
                </a:cubicBezTo>
                <a:cubicBezTo>
                  <a:pt x="3" y="1297"/>
                  <a:pt x="0" y="1293"/>
                  <a:pt x="0" y="1289"/>
                </a:cubicBezTo>
                <a:close/>
                <a:moveTo>
                  <a:pt x="0" y="1209"/>
                </a:moveTo>
                <a:lnTo>
                  <a:pt x="0" y="1209"/>
                </a:lnTo>
                <a:cubicBezTo>
                  <a:pt x="0" y="1204"/>
                  <a:pt x="3" y="1201"/>
                  <a:pt x="8" y="1201"/>
                </a:cubicBezTo>
                <a:cubicBezTo>
                  <a:pt x="12" y="1201"/>
                  <a:pt x="16" y="1204"/>
                  <a:pt x="16" y="1209"/>
                </a:cubicBezTo>
                <a:lnTo>
                  <a:pt x="16" y="1209"/>
                </a:lnTo>
                <a:cubicBezTo>
                  <a:pt x="16" y="1213"/>
                  <a:pt x="12" y="1217"/>
                  <a:pt x="8" y="1217"/>
                </a:cubicBezTo>
                <a:cubicBezTo>
                  <a:pt x="3" y="1217"/>
                  <a:pt x="0" y="1213"/>
                  <a:pt x="0" y="1209"/>
                </a:cubicBezTo>
                <a:close/>
                <a:moveTo>
                  <a:pt x="0" y="1129"/>
                </a:moveTo>
                <a:lnTo>
                  <a:pt x="0" y="1129"/>
                </a:lnTo>
                <a:cubicBezTo>
                  <a:pt x="0" y="1124"/>
                  <a:pt x="3" y="1121"/>
                  <a:pt x="8" y="1121"/>
                </a:cubicBezTo>
                <a:cubicBezTo>
                  <a:pt x="12" y="1121"/>
                  <a:pt x="16" y="1124"/>
                  <a:pt x="16" y="1129"/>
                </a:cubicBezTo>
                <a:lnTo>
                  <a:pt x="16" y="1129"/>
                </a:lnTo>
                <a:cubicBezTo>
                  <a:pt x="16" y="1133"/>
                  <a:pt x="12" y="1137"/>
                  <a:pt x="8" y="1137"/>
                </a:cubicBezTo>
                <a:cubicBezTo>
                  <a:pt x="3" y="1137"/>
                  <a:pt x="0" y="1133"/>
                  <a:pt x="0" y="1129"/>
                </a:cubicBezTo>
                <a:close/>
                <a:moveTo>
                  <a:pt x="0" y="1049"/>
                </a:moveTo>
                <a:lnTo>
                  <a:pt x="0" y="1049"/>
                </a:lnTo>
                <a:cubicBezTo>
                  <a:pt x="0" y="1044"/>
                  <a:pt x="3" y="1041"/>
                  <a:pt x="8" y="1041"/>
                </a:cubicBezTo>
                <a:cubicBezTo>
                  <a:pt x="12" y="1041"/>
                  <a:pt x="16" y="1044"/>
                  <a:pt x="16" y="1049"/>
                </a:cubicBezTo>
                <a:lnTo>
                  <a:pt x="16" y="1049"/>
                </a:lnTo>
                <a:cubicBezTo>
                  <a:pt x="16" y="1053"/>
                  <a:pt x="12" y="1057"/>
                  <a:pt x="8" y="1057"/>
                </a:cubicBezTo>
                <a:cubicBezTo>
                  <a:pt x="3" y="1057"/>
                  <a:pt x="0" y="1053"/>
                  <a:pt x="0" y="1049"/>
                </a:cubicBezTo>
                <a:close/>
                <a:moveTo>
                  <a:pt x="0" y="969"/>
                </a:moveTo>
                <a:lnTo>
                  <a:pt x="0" y="969"/>
                </a:lnTo>
                <a:cubicBezTo>
                  <a:pt x="0" y="964"/>
                  <a:pt x="3" y="961"/>
                  <a:pt x="8" y="961"/>
                </a:cubicBezTo>
                <a:cubicBezTo>
                  <a:pt x="12" y="961"/>
                  <a:pt x="16" y="964"/>
                  <a:pt x="16" y="969"/>
                </a:cubicBezTo>
                <a:lnTo>
                  <a:pt x="16" y="969"/>
                </a:lnTo>
                <a:cubicBezTo>
                  <a:pt x="16" y="973"/>
                  <a:pt x="12" y="977"/>
                  <a:pt x="8" y="977"/>
                </a:cubicBezTo>
                <a:cubicBezTo>
                  <a:pt x="3" y="977"/>
                  <a:pt x="0" y="973"/>
                  <a:pt x="0" y="969"/>
                </a:cubicBezTo>
                <a:close/>
                <a:moveTo>
                  <a:pt x="0" y="889"/>
                </a:moveTo>
                <a:lnTo>
                  <a:pt x="0" y="889"/>
                </a:lnTo>
                <a:cubicBezTo>
                  <a:pt x="0" y="884"/>
                  <a:pt x="3" y="881"/>
                  <a:pt x="8" y="881"/>
                </a:cubicBezTo>
                <a:cubicBezTo>
                  <a:pt x="12" y="881"/>
                  <a:pt x="16" y="884"/>
                  <a:pt x="16" y="889"/>
                </a:cubicBezTo>
                <a:lnTo>
                  <a:pt x="16" y="889"/>
                </a:lnTo>
                <a:cubicBezTo>
                  <a:pt x="16" y="893"/>
                  <a:pt x="12" y="897"/>
                  <a:pt x="8" y="897"/>
                </a:cubicBezTo>
                <a:cubicBezTo>
                  <a:pt x="3" y="897"/>
                  <a:pt x="0" y="893"/>
                  <a:pt x="0" y="889"/>
                </a:cubicBezTo>
                <a:close/>
                <a:moveTo>
                  <a:pt x="0" y="809"/>
                </a:moveTo>
                <a:lnTo>
                  <a:pt x="0" y="809"/>
                </a:lnTo>
                <a:cubicBezTo>
                  <a:pt x="0" y="804"/>
                  <a:pt x="3" y="801"/>
                  <a:pt x="8" y="801"/>
                </a:cubicBezTo>
                <a:cubicBezTo>
                  <a:pt x="12" y="801"/>
                  <a:pt x="16" y="804"/>
                  <a:pt x="16" y="809"/>
                </a:cubicBezTo>
                <a:lnTo>
                  <a:pt x="16" y="809"/>
                </a:lnTo>
                <a:cubicBezTo>
                  <a:pt x="16" y="813"/>
                  <a:pt x="12" y="817"/>
                  <a:pt x="8" y="817"/>
                </a:cubicBezTo>
                <a:cubicBezTo>
                  <a:pt x="3" y="817"/>
                  <a:pt x="0" y="813"/>
                  <a:pt x="0" y="809"/>
                </a:cubicBezTo>
                <a:close/>
                <a:moveTo>
                  <a:pt x="0" y="729"/>
                </a:moveTo>
                <a:lnTo>
                  <a:pt x="0" y="729"/>
                </a:lnTo>
                <a:cubicBezTo>
                  <a:pt x="0" y="724"/>
                  <a:pt x="3" y="721"/>
                  <a:pt x="8" y="721"/>
                </a:cubicBezTo>
                <a:cubicBezTo>
                  <a:pt x="12" y="721"/>
                  <a:pt x="16" y="724"/>
                  <a:pt x="16" y="729"/>
                </a:cubicBezTo>
                <a:lnTo>
                  <a:pt x="16" y="729"/>
                </a:lnTo>
                <a:cubicBezTo>
                  <a:pt x="16" y="733"/>
                  <a:pt x="12" y="737"/>
                  <a:pt x="8" y="737"/>
                </a:cubicBezTo>
                <a:cubicBezTo>
                  <a:pt x="3" y="737"/>
                  <a:pt x="0" y="733"/>
                  <a:pt x="0" y="729"/>
                </a:cubicBezTo>
                <a:close/>
                <a:moveTo>
                  <a:pt x="0" y="649"/>
                </a:moveTo>
                <a:lnTo>
                  <a:pt x="0" y="649"/>
                </a:lnTo>
                <a:cubicBezTo>
                  <a:pt x="0" y="644"/>
                  <a:pt x="3" y="641"/>
                  <a:pt x="8" y="641"/>
                </a:cubicBezTo>
                <a:cubicBezTo>
                  <a:pt x="12" y="641"/>
                  <a:pt x="16" y="644"/>
                  <a:pt x="16" y="649"/>
                </a:cubicBezTo>
                <a:lnTo>
                  <a:pt x="16" y="649"/>
                </a:lnTo>
                <a:cubicBezTo>
                  <a:pt x="16" y="653"/>
                  <a:pt x="12" y="657"/>
                  <a:pt x="8" y="657"/>
                </a:cubicBezTo>
                <a:cubicBezTo>
                  <a:pt x="3" y="657"/>
                  <a:pt x="0" y="653"/>
                  <a:pt x="0" y="649"/>
                </a:cubicBezTo>
                <a:close/>
                <a:moveTo>
                  <a:pt x="0" y="569"/>
                </a:moveTo>
                <a:lnTo>
                  <a:pt x="0" y="568"/>
                </a:lnTo>
                <a:cubicBezTo>
                  <a:pt x="0" y="564"/>
                  <a:pt x="3" y="560"/>
                  <a:pt x="8" y="560"/>
                </a:cubicBezTo>
                <a:cubicBezTo>
                  <a:pt x="12" y="560"/>
                  <a:pt x="16" y="564"/>
                  <a:pt x="16" y="568"/>
                </a:cubicBezTo>
                <a:lnTo>
                  <a:pt x="16" y="569"/>
                </a:lnTo>
                <a:cubicBezTo>
                  <a:pt x="16" y="573"/>
                  <a:pt x="12" y="577"/>
                  <a:pt x="8" y="577"/>
                </a:cubicBezTo>
                <a:cubicBezTo>
                  <a:pt x="3" y="577"/>
                  <a:pt x="0" y="573"/>
                  <a:pt x="0" y="569"/>
                </a:cubicBezTo>
                <a:close/>
                <a:moveTo>
                  <a:pt x="0" y="488"/>
                </a:moveTo>
                <a:lnTo>
                  <a:pt x="0" y="488"/>
                </a:lnTo>
                <a:cubicBezTo>
                  <a:pt x="0" y="484"/>
                  <a:pt x="3" y="480"/>
                  <a:pt x="8" y="480"/>
                </a:cubicBezTo>
                <a:cubicBezTo>
                  <a:pt x="12" y="480"/>
                  <a:pt x="16" y="484"/>
                  <a:pt x="16" y="488"/>
                </a:cubicBezTo>
                <a:lnTo>
                  <a:pt x="16" y="488"/>
                </a:lnTo>
                <a:cubicBezTo>
                  <a:pt x="16" y="493"/>
                  <a:pt x="12" y="496"/>
                  <a:pt x="8" y="496"/>
                </a:cubicBezTo>
                <a:cubicBezTo>
                  <a:pt x="3" y="496"/>
                  <a:pt x="0" y="493"/>
                  <a:pt x="0" y="488"/>
                </a:cubicBezTo>
                <a:close/>
                <a:moveTo>
                  <a:pt x="0" y="408"/>
                </a:moveTo>
                <a:lnTo>
                  <a:pt x="0" y="408"/>
                </a:lnTo>
                <a:cubicBezTo>
                  <a:pt x="0" y="404"/>
                  <a:pt x="3" y="400"/>
                  <a:pt x="8" y="400"/>
                </a:cubicBezTo>
                <a:cubicBezTo>
                  <a:pt x="12" y="400"/>
                  <a:pt x="16" y="404"/>
                  <a:pt x="16" y="408"/>
                </a:cubicBezTo>
                <a:lnTo>
                  <a:pt x="16" y="408"/>
                </a:lnTo>
                <a:cubicBezTo>
                  <a:pt x="16" y="413"/>
                  <a:pt x="12" y="416"/>
                  <a:pt x="8" y="416"/>
                </a:cubicBezTo>
                <a:cubicBezTo>
                  <a:pt x="3" y="416"/>
                  <a:pt x="0" y="413"/>
                  <a:pt x="0" y="408"/>
                </a:cubicBezTo>
                <a:close/>
                <a:moveTo>
                  <a:pt x="0" y="328"/>
                </a:moveTo>
                <a:lnTo>
                  <a:pt x="0" y="328"/>
                </a:lnTo>
                <a:cubicBezTo>
                  <a:pt x="0" y="324"/>
                  <a:pt x="3" y="320"/>
                  <a:pt x="8" y="320"/>
                </a:cubicBezTo>
                <a:cubicBezTo>
                  <a:pt x="12" y="320"/>
                  <a:pt x="16" y="324"/>
                  <a:pt x="16" y="328"/>
                </a:cubicBezTo>
                <a:lnTo>
                  <a:pt x="16" y="328"/>
                </a:lnTo>
                <a:cubicBezTo>
                  <a:pt x="16" y="333"/>
                  <a:pt x="12" y="336"/>
                  <a:pt x="8" y="336"/>
                </a:cubicBezTo>
                <a:cubicBezTo>
                  <a:pt x="3" y="336"/>
                  <a:pt x="0" y="333"/>
                  <a:pt x="0" y="328"/>
                </a:cubicBezTo>
                <a:close/>
                <a:moveTo>
                  <a:pt x="0" y="248"/>
                </a:moveTo>
                <a:lnTo>
                  <a:pt x="0" y="248"/>
                </a:lnTo>
                <a:cubicBezTo>
                  <a:pt x="0" y="244"/>
                  <a:pt x="3" y="240"/>
                  <a:pt x="8" y="240"/>
                </a:cubicBezTo>
                <a:cubicBezTo>
                  <a:pt x="12" y="240"/>
                  <a:pt x="16" y="244"/>
                  <a:pt x="16" y="248"/>
                </a:cubicBezTo>
                <a:lnTo>
                  <a:pt x="16" y="248"/>
                </a:lnTo>
                <a:cubicBezTo>
                  <a:pt x="16" y="253"/>
                  <a:pt x="12" y="256"/>
                  <a:pt x="8" y="256"/>
                </a:cubicBezTo>
                <a:cubicBezTo>
                  <a:pt x="3" y="256"/>
                  <a:pt x="0" y="253"/>
                  <a:pt x="0" y="248"/>
                </a:cubicBezTo>
                <a:close/>
                <a:moveTo>
                  <a:pt x="0" y="168"/>
                </a:moveTo>
                <a:lnTo>
                  <a:pt x="0" y="168"/>
                </a:lnTo>
                <a:cubicBezTo>
                  <a:pt x="0" y="164"/>
                  <a:pt x="3" y="160"/>
                  <a:pt x="8" y="160"/>
                </a:cubicBezTo>
                <a:cubicBezTo>
                  <a:pt x="12" y="160"/>
                  <a:pt x="16" y="164"/>
                  <a:pt x="16" y="168"/>
                </a:cubicBezTo>
                <a:lnTo>
                  <a:pt x="16" y="168"/>
                </a:lnTo>
                <a:cubicBezTo>
                  <a:pt x="16" y="173"/>
                  <a:pt x="12" y="176"/>
                  <a:pt x="8" y="176"/>
                </a:cubicBezTo>
                <a:cubicBezTo>
                  <a:pt x="3" y="176"/>
                  <a:pt x="0" y="173"/>
                  <a:pt x="0" y="168"/>
                </a:cubicBezTo>
                <a:close/>
                <a:moveTo>
                  <a:pt x="0" y="88"/>
                </a:moveTo>
                <a:lnTo>
                  <a:pt x="0" y="88"/>
                </a:lnTo>
                <a:cubicBezTo>
                  <a:pt x="0" y="84"/>
                  <a:pt x="3" y="80"/>
                  <a:pt x="8" y="80"/>
                </a:cubicBezTo>
                <a:cubicBezTo>
                  <a:pt x="12" y="80"/>
                  <a:pt x="16" y="84"/>
                  <a:pt x="16" y="88"/>
                </a:cubicBezTo>
                <a:lnTo>
                  <a:pt x="16" y="88"/>
                </a:lnTo>
                <a:cubicBezTo>
                  <a:pt x="16" y="93"/>
                  <a:pt x="12" y="96"/>
                  <a:pt x="8" y="96"/>
                </a:cubicBezTo>
                <a:cubicBezTo>
                  <a:pt x="3" y="96"/>
                  <a:pt x="0" y="93"/>
                  <a:pt x="0" y="88"/>
                </a:cubicBezTo>
                <a:close/>
                <a:moveTo>
                  <a:pt x="0" y="8"/>
                </a:move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ubicBezTo>
                  <a:pt x="12" y="0"/>
                  <a:pt x="16" y="4"/>
                  <a:pt x="16" y="8"/>
                </a:cubicBezTo>
                <a:lnTo>
                  <a:pt x="16" y="8"/>
                </a:lnTo>
                <a:cubicBezTo>
                  <a:pt x="16" y="13"/>
                  <a:pt x="12" y="16"/>
                  <a:pt x="8" y="16"/>
                </a:cubicBezTo>
                <a:cubicBezTo>
                  <a:pt x="3" y="16"/>
                  <a:pt x="0" y="13"/>
                  <a:pt x="0" y="8"/>
                </a:cubicBezTo>
                <a:close/>
              </a:path>
            </a:pathLst>
          </a:custGeom>
          <a:solidFill>
            <a:srgbClr val="000000"/>
          </a:solidFill>
          <a:ln w="22225" cap="flat">
            <a:solidFill>
              <a:srgbClr val="000000"/>
            </a:solidFill>
            <a:prstDash val="solid"/>
            <a:bevel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15" name="Freeform 7"/>
          <p:cNvSpPr>
            <a:spLocks/>
          </p:cNvSpPr>
          <p:nvPr/>
        </p:nvSpPr>
        <p:spPr bwMode="auto">
          <a:xfrm>
            <a:off x="7699376" y="1400175"/>
            <a:ext cx="22225" cy="3811588"/>
          </a:xfrm>
          <a:custGeom>
            <a:avLst/>
            <a:gdLst>
              <a:gd name="T0" fmla="*/ 16 w 16"/>
              <a:gd name="T1" fmla="*/ 2809 h 2817"/>
              <a:gd name="T2" fmla="*/ 0 w 16"/>
              <a:gd name="T3" fmla="*/ 2729 h 2817"/>
              <a:gd name="T4" fmla="*/ 16 w 16"/>
              <a:gd name="T5" fmla="*/ 2729 h 2817"/>
              <a:gd name="T6" fmla="*/ 0 w 16"/>
              <a:gd name="T7" fmla="*/ 2649 h 2817"/>
              <a:gd name="T8" fmla="*/ 8 w 16"/>
              <a:gd name="T9" fmla="*/ 2657 h 2817"/>
              <a:gd name="T10" fmla="*/ 8 w 16"/>
              <a:gd name="T11" fmla="*/ 2561 h 2817"/>
              <a:gd name="T12" fmla="*/ 0 w 16"/>
              <a:gd name="T13" fmla="*/ 2569 h 2817"/>
              <a:gd name="T14" fmla="*/ 16 w 16"/>
              <a:gd name="T15" fmla="*/ 2489 h 2817"/>
              <a:gd name="T16" fmla="*/ 0 w 16"/>
              <a:gd name="T17" fmla="*/ 2409 h 2817"/>
              <a:gd name="T18" fmla="*/ 16 w 16"/>
              <a:gd name="T19" fmla="*/ 2409 h 2817"/>
              <a:gd name="T20" fmla="*/ 0 w 16"/>
              <a:gd name="T21" fmla="*/ 2329 h 2817"/>
              <a:gd name="T22" fmla="*/ 8 w 16"/>
              <a:gd name="T23" fmla="*/ 2337 h 2817"/>
              <a:gd name="T24" fmla="*/ 8 w 16"/>
              <a:gd name="T25" fmla="*/ 2241 h 2817"/>
              <a:gd name="T26" fmla="*/ 0 w 16"/>
              <a:gd name="T27" fmla="*/ 2249 h 2817"/>
              <a:gd name="T28" fmla="*/ 16 w 16"/>
              <a:gd name="T29" fmla="*/ 2169 h 2817"/>
              <a:gd name="T30" fmla="*/ 0 w 16"/>
              <a:gd name="T31" fmla="*/ 2089 h 2817"/>
              <a:gd name="T32" fmla="*/ 16 w 16"/>
              <a:gd name="T33" fmla="*/ 2089 h 2817"/>
              <a:gd name="T34" fmla="*/ 0 w 16"/>
              <a:gd name="T35" fmla="*/ 2009 h 2817"/>
              <a:gd name="T36" fmla="*/ 8 w 16"/>
              <a:gd name="T37" fmla="*/ 2017 h 2817"/>
              <a:gd name="T38" fmla="*/ 8 w 16"/>
              <a:gd name="T39" fmla="*/ 1921 h 2817"/>
              <a:gd name="T40" fmla="*/ 0 w 16"/>
              <a:gd name="T41" fmla="*/ 1929 h 2817"/>
              <a:gd name="T42" fmla="*/ 16 w 16"/>
              <a:gd name="T43" fmla="*/ 1849 h 2817"/>
              <a:gd name="T44" fmla="*/ 0 w 16"/>
              <a:gd name="T45" fmla="*/ 1769 h 2817"/>
              <a:gd name="T46" fmla="*/ 16 w 16"/>
              <a:gd name="T47" fmla="*/ 1769 h 2817"/>
              <a:gd name="T48" fmla="*/ 0 w 16"/>
              <a:gd name="T49" fmla="*/ 1689 h 2817"/>
              <a:gd name="T50" fmla="*/ 8 w 16"/>
              <a:gd name="T51" fmla="*/ 1697 h 2817"/>
              <a:gd name="T52" fmla="*/ 8 w 16"/>
              <a:gd name="T53" fmla="*/ 1601 h 2817"/>
              <a:gd name="T54" fmla="*/ 0 w 16"/>
              <a:gd name="T55" fmla="*/ 1609 h 2817"/>
              <a:gd name="T56" fmla="*/ 16 w 16"/>
              <a:gd name="T57" fmla="*/ 1529 h 2817"/>
              <a:gd name="T58" fmla="*/ 0 w 16"/>
              <a:gd name="T59" fmla="*/ 1449 h 2817"/>
              <a:gd name="T60" fmla="*/ 16 w 16"/>
              <a:gd name="T61" fmla="*/ 1449 h 2817"/>
              <a:gd name="T62" fmla="*/ 0 w 16"/>
              <a:gd name="T63" fmla="*/ 1369 h 2817"/>
              <a:gd name="T64" fmla="*/ 8 w 16"/>
              <a:gd name="T65" fmla="*/ 1377 h 2817"/>
              <a:gd name="T66" fmla="*/ 8 w 16"/>
              <a:gd name="T67" fmla="*/ 1281 h 2817"/>
              <a:gd name="T68" fmla="*/ 0 w 16"/>
              <a:gd name="T69" fmla="*/ 1289 h 2817"/>
              <a:gd name="T70" fmla="*/ 16 w 16"/>
              <a:gd name="T71" fmla="*/ 1209 h 2817"/>
              <a:gd name="T72" fmla="*/ 0 w 16"/>
              <a:gd name="T73" fmla="*/ 1129 h 2817"/>
              <a:gd name="T74" fmla="*/ 16 w 16"/>
              <a:gd name="T75" fmla="*/ 1129 h 2817"/>
              <a:gd name="T76" fmla="*/ 0 w 16"/>
              <a:gd name="T77" fmla="*/ 1049 h 2817"/>
              <a:gd name="T78" fmla="*/ 8 w 16"/>
              <a:gd name="T79" fmla="*/ 1057 h 2817"/>
              <a:gd name="T80" fmla="*/ 8 w 16"/>
              <a:gd name="T81" fmla="*/ 961 h 2817"/>
              <a:gd name="T82" fmla="*/ 0 w 16"/>
              <a:gd name="T83" fmla="*/ 969 h 2817"/>
              <a:gd name="T84" fmla="*/ 16 w 16"/>
              <a:gd name="T85" fmla="*/ 889 h 2817"/>
              <a:gd name="T86" fmla="*/ 0 w 16"/>
              <a:gd name="T87" fmla="*/ 809 h 2817"/>
              <a:gd name="T88" fmla="*/ 16 w 16"/>
              <a:gd name="T89" fmla="*/ 809 h 2817"/>
              <a:gd name="T90" fmla="*/ 0 w 16"/>
              <a:gd name="T91" fmla="*/ 729 h 2817"/>
              <a:gd name="T92" fmla="*/ 8 w 16"/>
              <a:gd name="T93" fmla="*/ 737 h 2817"/>
              <a:gd name="T94" fmla="*/ 8 w 16"/>
              <a:gd name="T95" fmla="*/ 641 h 2817"/>
              <a:gd name="T96" fmla="*/ 0 w 16"/>
              <a:gd name="T97" fmla="*/ 649 h 2817"/>
              <a:gd name="T98" fmla="*/ 16 w 16"/>
              <a:gd name="T99" fmla="*/ 568 h 2817"/>
              <a:gd name="T100" fmla="*/ 0 w 16"/>
              <a:gd name="T101" fmla="*/ 488 h 2817"/>
              <a:gd name="T102" fmla="*/ 16 w 16"/>
              <a:gd name="T103" fmla="*/ 488 h 2817"/>
              <a:gd name="T104" fmla="*/ 0 w 16"/>
              <a:gd name="T105" fmla="*/ 408 h 2817"/>
              <a:gd name="T106" fmla="*/ 8 w 16"/>
              <a:gd name="T107" fmla="*/ 416 h 2817"/>
              <a:gd name="T108" fmla="*/ 8 w 16"/>
              <a:gd name="T109" fmla="*/ 320 h 2817"/>
              <a:gd name="T110" fmla="*/ 0 w 16"/>
              <a:gd name="T111" fmla="*/ 328 h 2817"/>
              <a:gd name="T112" fmla="*/ 16 w 16"/>
              <a:gd name="T113" fmla="*/ 248 h 2817"/>
              <a:gd name="T114" fmla="*/ 0 w 16"/>
              <a:gd name="T115" fmla="*/ 168 h 2817"/>
              <a:gd name="T116" fmla="*/ 16 w 16"/>
              <a:gd name="T117" fmla="*/ 168 h 2817"/>
              <a:gd name="T118" fmla="*/ 0 w 16"/>
              <a:gd name="T119" fmla="*/ 88 h 2817"/>
              <a:gd name="T120" fmla="*/ 8 w 16"/>
              <a:gd name="T121" fmla="*/ 96 h 2817"/>
              <a:gd name="T122" fmla="*/ 8 w 16"/>
              <a:gd name="T123" fmla="*/ 0 h 2817"/>
              <a:gd name="T124" fmla="*/ 0 w 16"/>
              <a:gd name="T125" fmla="*/ 8 h 28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" h="2817">
                <a:moveTo>
                  <a:pt x="0" y="2809"/>
                </a:moveTo>
                <a:lnTo>
                  <a:pt x="0" y="2809"/>
                </a:lnTo>
                <a:cubicBezTo>
                  <a:pt x="0" y="2805"/>
                  <a:pt x="3" y="2801"/>
                  <a:pt x="8" y="2801"/>
                </a:cubicBezTo>
                <a:cubicBezTo>
                  <a:pt x="12" y="2801"/>
                  <a:pt x="16" y="2805"/>
                  <a:pt x="16" y="2809"/>
                </a:cubicBezTo>
                <a:lnTo>
                  <a:pt x="16" y="2809"/>
                </a:lnTo>
                <a:cubicBezTo>
                  <a:pt x="16" y="2813"/>
                  <a:pt x="12" y="2817"/>
                  <a:pt x="8" y="2817"/>
                </a:cubicBezTo>
                <a:cubicBezTo>
                  <a:pt x="3" y="2817"/>
                  <a:pt x="0" y="2813"/>
                  <a:pt x="0" y="2809"/>
                </a:cubicBezTo>
                <a:close/>
                <a:moveTo>
                  <a:pt x="0" y="2729"/>
                </a:moveTo>
                <a:lnTo>
                  <a:pt x="0" y="2729"/>
                </a:lnTo>
                <a:cubicBezTo>
                  <a:pt x="0" y="2725"/>
                  <a:pt x="3" y="2721"/>
                  <a:pt x="8" y="2721"/>
                </a:cubicBezTo>
                <a:cubicBezTo>
                  <a:pt x="12" y="2721"/>
                  <a:pt x="16" y="2725"/>
                  <a:pt x="16" y="2729"/>
                </a:cubicBezTo>
                <a:lnTo>
                  <a:pt x="16" y="2729"/>
                </a:lnTo>
                <a:cubicBezTo>
                  <a:pt x="16" y="2733"/>
                  <a:pt x="12" y="2737"/>
                  <a:pt x="8" y="2737"/>
                </a:cubicBezTo>
                <a:cubicBezTo>
                  <a:pt x="3" y="2737"/>
                  <a:pt x="0" y="2733"/>
                  <a:pt x="0" y="2729"/>
                </a:cubicBezTo>
                <a:close/>
                <a:moveTo>
                  <a:pt x="0" y="2649"/>
                </a:moveTo>
                <a:lnTo>
                  <a:pt x="0" y="2649"/>
                </a:lnTo>
                <a:cubicBezTo>
                  <a:pt x="0" y="2644"/>
                  <a:pt x="3" y="2641"/>
                  <a:pt x="8" y="2641"/>
                </a:cubicBezTo>
                <a:cubicBezTo>
                  <a:pt x="12" y="2641"/>
                  <a:pt x="16" y="2644"/>
                  <a:pt x="16" y="2649"/>
                </a:cubicBezTo>
                <a:lnTo>
                  <a:pt x="16" y="2649"/>
                </a:lnTo>
                <a:cubicBezTo>
                  <a:pt x="16" y="2653"/>
                  <a:pt x="12" y="2657"/>
                  <a:pt x="8" y="2657"/>
                </a:cubicBezTo>
                <a:cubicBezTo>
                  <a:pt x="3" y="2657"/>
                  <a:pt x="0" y="2653"/>
                  <a:pt x="0" y="2649"/>
                </a:cubicBezTo>
                <a:close/>
                <a:moveTo>
                  <a:pt x="0" y="2569"/>
                </a:moveTo>
                <a:lnTo>
                  <a:pt x="0" y="2569"/>
                </a:lnTo>
                <a:cubicBezTo>
                  <a:pt x="0" y="2564"/>
                  <a:pt x="3" y="2561"/>
                  <a:pt x="8" y="2561"/>
                </a:cubicBezTo>
                <a:cubicBezTo>
                  <a:pt x="12" y="2561"/>
                  <a:pt x="16" y="2564"/>
                  <a:pt x="16" y="2569"/>
                </a:cubicBezTo>
                <a:lnTo>
                  <a:pt x="16" y="2569"/>
                </a:lnTo>
                <a:cubicBezTo>
                  <a:pt x="16" y="2573"/>
                  <a:pt x="12" y="2577"/>
                  <a:pt x="8" y="2577"/>
                </a:cubicBezTo>
                <a:cubicBezTo>
                  <a:pt x="3" y="2577"/>
                  <a:pt x="0" y="2573"/>
                  <a:pt x="0" y="2569"/>
                </a:cubicBezTo>
                <a:close/>
                <a:moveTo>
                  <a:pt x="0" y="2489"/>
                </a:moveTo>
                <a:lnTo>
                  <a:pt x="0" y="2489"/>
                </a:lnTo>
                <a:cubicBezTo>
                  <a:pt x="0" y="2484"/>
                  <a:pt x="3" y="2481"/>
                  <a:pt x="8" y="2481"/>
                </a:cubicBezTo>
                <a:cubicBezTo>
                  <a:pt x="12" y="2481"/>
                  <a:pt x="16" y="2484"/>
                  <a:pt x="16" y="2489"/>
                </a:cubicBezTo>
                <a:lnTo>
                  <a:pt x="16" y="2489"/>
                </a:lnTo>
                <a:cubicBezTo>
                  <a:pt x="16" y="2493"/>
                  <a:pt x="12" y="2497"/>
                  <a:pt x="8" y="2497"/>
                </a:cubicBezTo>
                <a:cubicBezTo>
                  <a:pt x="3" y="2497"/>
                  <a:pt x="0" y="2493"/>
                  <a:pt x="0" y="2489"/>
                </a:cubicBezTo>
                <a:close/>
                <a:moveTo>
                  <a:pt x="0" y="2409"/>
                </a:moveTo>
                <a:lnTo>
                  <a:pt x="0" y="2409"/>
                </a:lnTo>
                <a:cubicBezTo>
                  <a:pt x="0" y="2404"/>
                  <a:pt x="3" y="2401"/>
                  <a:pt x="8" y="2401"/>
                </a:cubicBezTo>
                <a:cubicBezTo>
                  <a:pt x="12" y="2401"/>
                  <a:pt x="16" y="2404"/>
                  <a:pt x="16" y="2409"/>
                </a:cubicBezTo>
                <a:lnTo>
                  <a:pt x="16" y="2409"/>
                </a:lnTo>
                <a:cubicBezTo>
                  <a:pt x="16" y="2413"/>
                  <a:pt x="12" y="2417"/>
                  <a:pt x="8" y="2417"/>
                </a:cubicBezTo>
                <a:cubicBezTo>
                  <a:pt x="3" y="2417"/>
                  <a:pt x="0" y="2413"/>
                  <a:pt x="0" y="2409"/>
                </a:cubicBezTo>
                <a:close/>
                <a:moveTo>
                  <a:pt x="0" y="2329"/>
                </a:moveTo>
                <a:lnTo>
                  <a:pt x="0" y="2329"/>
                </a:lnTo>
                <a:cubicBezTo>
                  <a:pt x="0" y="2324"/>
                  <a:pt x="3" y="2321"/>
                  <a:pt x="8" y="2321"/>
                </a:cubicBezTo>
                <a:cubicBezTo>
                  <a:pt x="12" y="2321"/>
                  <a:pt x="16" y="2324"/>
                  <a:pt x="16" y="2329"/>
                </a:cubicBezTo>
                <a:lnTo>
                  <a:pt x="16" y="2329"/>
                </a:lnTo>
                <a:cubicBezTo>
                  <a:pt x="16" y="2333"/>
                  <a:pt x="12" y="2337"/>
                  <a:pt x="8" y="2337"/>
                </a:cubicBezTo>
                <a:cubicBezTo>
                  <a:pt x="3" y="2337"/>
                  <a:pt x="0" y="2333"/>
                  <a:pt x="0" y="2329"/>
                </a:cubicBezTo>
                <a:close/>
                <a:moveTo>
                  <a:pt x="0" y="2249"/>
                </a:moveTo>
                <a:lnTo>
                  <a:pt x="0" y="2249"/>
                </a:lnTo>
                <a:cubicBezTo>
                  <a:pt x="0" y="2244"/>
                  <a:pt x="3" y="2241"/>
                  <a:pt x="8" y="2241"/>
                </a:cubicBezTo>
                <a:cubicBezTo>
                  <a:pt x="12" y="2241"/>
                  <a:pt x="16" y="2244"/>
                  <a:pt x="16" y="2249"/>
                </a:cubicBezTo>
                <a:lnTo>
                  <a:pt x="16" y="2249"/>
                </a:lnTo>
                <a:cubicBezTo>
                  <a:pt x="16" y="2253"/>
                  <a:pt x="12" y="2257"/>
                  <a:pt x="8" y="2257"/>
                </a:cubicBezTo>
                <a:cubicBezTo>
                  <a:pt x="3" y="2257"/>
                  <a:pt x="0" y="2253"/>
                  <a:pt x="0" y="2249"/>
                </a:cubicBezTo>
                <a:close/>
                <a:moveTo>
                  <a:pt x="0" y="2169"/>
                </a:moveTo>
                <a:lnTo>
                  <a:pt x="0" y="2169"/>
                </a:lnTo>
                <a:cubicBezTo>
                  <a:pt x="0" y="2164"/>
                  <a:pt x="3" y="2161"/>
                  <a:pt x="8" y="2161"/>
                </a:cubicBezTo>
                <a:cubicBezTo>
                  <a:pt x="12" y="2161"/>
                  <a:pt x="16" y="2164"/>
                  <a:pt x="16" y="2169"/>
                </a:cubicBezTo>
                <a:lnTo>
                  <a:pt x="16" y="2169"/>
                </a:lnTo>
                <a:cubicBezTo>
                  <a:pt x="16" y="2173"/>
                  <a:pt x="12" y="2177"/>
                  <a:pt x="8" y="2177"/>
                </a:cubicBezTo>
                <a:cubicBezTo>
                  <a:pt x="3" y="2177"/>
                  <a:pt x="0" y="2173"/>
                  <a:pt x="0" y="2169"/>
                </a:cubicBezTo>
                <a:close/>
                <a:moveTo>
                  <a:pt x="0" y="2089"/>
                </a:moveTo>
                <a:lnTo>
                  <a:pt x="0" y="2089"/>
                </a:lnTo>
                <a:cubicBezTo>
                  <a:pt x="0" y="2084"/>
                  <a:pt x="3" y="2081"/>
                  <a:pt x="8" y="2081"/>
                </a:cubicBezTo>
                <a:cubicBezTo>
                  <a:pt x="12" y="2081"/>
                  <a:pt x="16" y="2084"/>
                  <a:pt x="16" y="2089"/>
                </a:cubicBezTo>
                <a:lnTo>
                  <a:pt x="16" y="2089"/>
                </a:lnTo>
                <a:cubicBezTo>
                  <a:pt x="16" y="2093"/>
                  <a:pt x="12" y="2097"/>
                  <a:pt x="8" y="2097"/>
                </a:cubicBezTo>
                <a:cubicBezTo>
                  <a:pt x="3" y="2097"/>
                  <a:pt x="0" y="2093"/>
                  <a:pt x="0" y="2089"/>
                </a:cubicBezTo>
                <a:close/>
                <a:moveTo>
                  <a:pt x="0" y="2009"/>
                </a:moveTo>
                <a:lnTo>
                  <a:pt x="0" y="2009"/>
                </a:lnTo>
                <a:cubicBezTo>
                  <a:pt x="0" y="2004"/>
                  <a:pt x="3" y="2001"/>
                  <a:pt x="8" y="2001"/>
                </a:cubicBezTo>
                <a:cubicBezTo>
                  <a:pt x="12" y="2001"/>
                  <a:pt x="16" y="2004"/>
                  <a:pt x="16" y="2009"/>
                </a:cubicBezTo>
                <a:lnTo>
                  <a:pt x="16" y="2009"/>
                </a:lnTo>
                <a:cubicBezTo>
                  <a:pt x="16" y="2013"/>
                  <a:pt x="12" y="2017"/>
                  <a:pt x="8" y="2017"/>
                </a:cubicBezTo>
                <a:cubicBezTo>
                  <a:pt x="3" y="2017"/>
                  <a:pt x="0" y="2013"/>
                  <a:pt x="0" y="2009"/>
                </a:cubicBezTo>
                <a:close/>
                <a:moveTo>
                  <a:pt x="0" y="1929"/>
                </a:moveTo>
                <a:lnTo>
                  <a:pt x="0" y="1929"/>
                </a:lnTo>
                <a:cubicBezTo>
                  <a:pt x="0" y="1924"/>
                  <a:pt x="3" y="1921"/>
                  <a:pt x="8" y="1921"/>
                </a:cubicBezTo>
                <a:cubicBezTo>
                  <a:pt x="12" y="1921"/>
                  <a:pt x="16" y="1924"/>
                  <a:pt x="16" y="1929"/>
                </a:cubicBezTo>
                <a:lnTo>
                  <a:pt x="16" y="1929"/>
                </a:lnTo>
                <a:cubicBezTo>
                  <a:pt x="16" y="1933"/>
                  <a:pt x="12" y="1937"/>
                  <a:pt x="8" y="1937"/>
                </a:cubicBezTo>
                <a:cubicBezTo>
                  <a:pt x="3" y="1937"/>
                  <a:pt x="0" y="1933"/>
                  <a:pt x="0" y="1929"/>
                </a:cubicBezTo>
                <a:close/>
                <a:moveTo>
                  <a:pt x="0" y="1849"/>
                </a:moveTo>
                <a:lnTo>
                  <a:pt x="0" y="1849"/>
                </a:lnTo>
                <a:cubicBezTo>
                  <a:pt x="0" y="1844"/>
                  <a:pt x="3" y="1841"/>
                  <a:pt x="8" y="1841"/>
                </a:cubicBezTo>
                <a:cubicBezTo>
                  <a:pt x="12" y="1841"/>
                  <a:pt x="16" y="1844"/>
                  <a:pt x="16" y="1849"/>
                </a:cubicBezTo>
                <a:lnTo>
                  <a:pt x="16" y="1849"/>
                </a:lnTo>
                <a:cubicBezTo>
                  <a:pt x="16" y="1853"/>
                  <a:pt x="12" y="1857"/>
                  <a:pt x="8" y="1857"/>
                </a:cubicBezTo>
                <a:cubicBezTo>
                  <a:pt x="3" y="1857"/>
                  <a:pt x="0" y="1853"/>
                  <a:pt x="0" y="1849"/>
                </a:cubicBezTo>
                <a:close/>
                <a:moveTo>
                  <a:pt x="0" y="1769"/>
                </a:moveTo>
                <a:lnTo>
                  <a:pt x="0" y="1769"/>
                </a:lnTo>
                <a:cubicBezTo>
                  <a:pt x="0" y="1764"/>
                  <a:pt x="3" y="1761"/>
                  <a:pt x="8" y="1761"/>
                </a:cubicBezTo>
                <a:cubicBezTo>
                  <a:pt x="12" y="1761"/>
                  <a:pt x="16" y="1764"/>
                  <a:pt x="16" y="1769"/>
                </a:cubicBezTo>
                <a:lnTo>
                  <a:pt x="16" y="1769"/>
                </a:lnTo>
                <a:cubicBezTo>
                  <a:pt x="16" y="1773"/>
                  <a:pt x="12" y="1777"/>
                  <a:pt x="8" y="1777"/>
                </a:cubicBezTo>
                <a:cubicBezTo>
                  <a:pt x="3" y="1777"/>
                  <a:pt x="0" y="1773"/>
                  <a:pt x="0" y="1769"/>
                </a:cubicBezTo>
                <a:close/>
                <a:moveTo>
                  <a:pt x="0" y="1689"/>
                </a:moveTo>
                <a:lnTo>
                  <a:pt x="0" y="1689"/>
                </a:lnTo>
                <a:cubicBezTo>
                  <a:pt x="0" y="1684"/>
                  <a:pt x="3" y="1681"/>
                  <a:pt x="8" y="1681"/>
                </a:cubicBezTo>
                <a:cubicBezTo>
                  <a:pt x="12" y="1681"/>
                  <a:pt x="16" y="1684"/>
                  <a:pt x="16" y="1689"/>
                </a:cubicBezTo>
                <a:lnTo>
                  <a:pt x="16" y="1689"/>
                </a:lnTo>
                <a:cubicBezTo>
                  <a:pt x="16" y="1693"/>
                  <a:pt x="12" y="1697"/>
                  <a:pt x="8" y="1697"/>
                </a:cubicBezTo>
                <a:cubicBezTo>
                  <a:pt x="3" y="1697"/>
                  <a:pt x="0" y="1693"/>
                  <a:pt x="0" y="1689"/>
                </a:cubicBezTo>
                <a:close/>
                <a:moveTo>
                  <a:pt x="0" y="1609"/>
                </a:moveTo>
                <a:lnTo>
                  <a:pt x="0" y="1609"/>
                </a:lnTo>
                <a:cubicBezTo>
                  <a:pt x="0" y="1604"/>
                  <a:pt x="3" y="1601"/>
                  <a:pt x="8" y="1601"/>
                </a:cubicBezTo>
                <a:cubicBezTo>
                  <a:pt x="12" y="1601"/>
                  <a:pt x="16" y="1604"/>
                  <a:pt x="16" y="1609"/>
                </a:cubicBezTo>
                <a:lnTo>
                  <a:pt x="16" y="1609"/>
                </a:lnTo>
                <a:cubicBezTo>
                  <a:pt x="16" y="1613"/>
                  <a:pt x="12" y="1617"/>
                  <a:pt x="8" y="1617"/>
                </a:cubicBezTo>
                <a:cubicBezTo>
                  <a:pt x="3" y="1617"/>
                  <a:pt x="0" y="1613"/>
                  <a:pt x="0" y="1609"/>
                </a:cubicBezTo>
                <a:close/>
                <a:moveTo>
                  <a:pt x="0" y="1529"/>
                </a:moveTo>
                <a:lnTo>
                  <a:pt x="0" y="1529"/>
                </a:lnTo>
                <a:cubicBezTo>
                  <a:pt x="0" y="1524"/>
                  <a:pt x="3" y="1521"/>
                  <a:pt x="8" y="1521"/>
                </a:cubicBezTo>
                <a:cubicBezTo>
                  <a:pt x="12" y="1521"/>
                  <a:pt x="16" y="1524"/>
                  <a:pt x="16" y="1529"/>
                </a:cubicBezTo>
                <a:lnTo>
                  <a:pt x="16" y="1529"/>
                </a:lnTo>
                <a:cubicBezTo>
                  <a:pt x="16" y="1533"/>
                  <a:pt x="12" y="1537"/>
                  <a:pt x="8" y="1537"/>
                </a:cubicBezTo>
                <a:cubicBezTo>
                  <a:pt x="3" y="1537"/>
                  <a:pt x="0" y="1533"/>
                  <a:pt x="0" y="1529"/>
                </a:cubicBezTo>
                <a:close/>
                <a:moveTo>
                  <a:pt x="0" y="1449"/>
                </a:moveTo>
                <a:lnTo>
                  <a:pt x="0" y="1449"/>
                </a:lnTo>
                <a:cubicBezTo>
                  <a:pt x="0" y="1444"/>
                  <a:pt x="3" y="1441"/>
                  <a:pt x="8" y="1441"/>
                </a:cubicBezTo>
                <a:cubicBezTo>
                  <a:pt x="12" y="1441"/>
                  <a:pt x="16" y="1444"/>
                  <a:pt x="16" y="1449"/>
                </a:cubicBezTo>
                <a:lnTo>
                  <a:pt x="16" y="1449"/>
                </a:lnTo>
                <a:cubicBezTo>
                  <a:pt x="16" y="1453"/>
                  <a:pt x="12" y="1457"/>
                  <a:pt x="8" y="1457"/>
                </a:cubicBezTo>
                <a:cubicBezTo>
                  <a:pt x="3" y="1457"/>
                  <a:pt x="0" y="1453"/>
                  <a:pt x="0" y="1449"/>
                </a:cubicBezTo>
                <a:close/>
                <a:moveTo>
                  <a:pt x="0" y="1369"/>
                </a:moveTo>
                <a:lnTo>
                  <a:pt x="0" y="1369"/>
                </a:lnTo>
                <a:cubicBezTo>
                  <a:pt x="0" y="1364"/>
                  <a:pt x="3" y="1361"/>
                  <a:pt x="8" y="1361"/>
                </a:cubicBezTo>
                <a:cubicBezTo>
                  <a:pt x="12" y="1361"/>
                  <a:pt x="16" y="1364"/>
                  <a:pt x="16" y="1369"/>
                </a:cubicBezTo>
                <a:lnTo>
                  <a:pt x="16" y="1369"/>
                </a:lnTo>
                <a:cubicBezTo>
                  <a:pt x="16" y="1373"/>
                  <a:pt x="12" y="1377"/>
                  <a:pt x="8" y="1377"/>
                </a:cubicBezTo>
                <a:cubicBezTo>
                  <a:pt x="3" y="1377"/>
                  <a:pt x="0" y="1373"/>
                  <a:pt x="0" y="1369"/>
                </a:cubicBezTo>
                <a:close/>
                <a:moveTo>
                  <a:pt x="0" y="1289"/>
                </a:moveTo>
                <a:lnTo>
                  <a:pt x="0" y="1289"/>
                </a:lnTo>
                <a:cubicBezTo>
                  <a:pt x="0" y="1284"/>
                  <a:pt x="3" y="1281"/>
                  <a:pt x="8" y="1281"/>
                </a:cubicBezTo>
                <a:cubicBezTo>
                  <a:pt x="12" y="1281"/>
                  <a:pt x="16" y="1284"/>
                  <a:pt x="16" y="1289"/>
                </a:cubicBezTo>
                <a:lnTo>
                  <a:pt x="16" y="1289"/>
                </a:lnTo>
                <a:cubicBezTo>
                  <a:pt x="16" y="1293"/>
                  <a:pt x="12" y="1297"/>
                  <a:pt x="8" y="1297"/>
                </a:cubicBezTo>
                <a:cubicBezTo>
                  <a:pt x="3" y="1297"/>
                  <a:pt x="0" y="1293"/>
                  <a:pt x="0" y="1289"/>
                </a:cubicBezTo>
                <a:close/>
                <a:moveTo>
                  <a:pt x="0" y="1209"/>
                </a:moveTo>
                <a:lnTo>
                  <a:pt x="0" y="1209"/>
                </a:lnTo>
                <a:cubicBezTo>
                  <a:pt x="0" y="1204"/>
                  <a:pt x="3" y="1201"/>
                  <a:pt x="8" y="1201"/>
                </a:cubicBezTo>
                <a:cubicBezTo>
                  <a:pt x="12" y="1201"/>
                  <a:pt x="16" y="1204"/>
                  <a:pt x="16" y="1209"/>
                </a:cubicBezTo>
                <a:lnTo>
                  <a:pt x="16" y="1209"/>
                </a:lnTo>
                <a:cubicBezTo>
                  <a:pt x="16" y="1213"/>
                  <a:pt x="12" y="1217"/>
                  <a:pt x="8" y="1217"/>
                </a:cubicBezTo>
                <a:cubicBezTo>
                  <a:pt x="3" y="1217"/>
                  <a:pt x="0" y="1213"/>
                  <a:pt x="0" y="1209"/>
                </a:cubicBezTo>
                <a:close/>
                <a:moveTo>
                  <a:pt x="0" y="1129"/>
                </a:moveTo>
                <a:lnTo>
                  <a:pt x="0" y="1129"/>
                </a:lnTo>
                <a:cubicBezTo>
                  <a:pt x="0" y="1124"/>
                  <a:pt x="3" y="1121"/>
                  <a:pt x="8" y="1121"/>
                </a:cubicBezTo>
                <a:cubicBezTo>
                  <a:pt x="12" y="1121"/>
                  <a:pt x="16" y="1124"/>
                  <a:pt x="16" y="1129"/>
                </a:cubicBezTo>
                <a:lnTo>
                  <a:pt x="16" y="1129"/>
                </a:lnTo>
                <a:cubicBezTo>
                  <a:pt x="16" y="1133"/>
                  <a:pt x="12" y="1137"/>
                  <a:pt x="8" y="1137"/>
                </a:cubicBezTo>
                <a:cubicBezTo>
                  <a:pt x="3" y="1137"/>
                  <a:pt x="0" y="1133"/>
                  <a:pt x="0" y="1129"/>
                </a:cubicBezTo>
                <a:close/>
                <a:moveTo>
                  <a:pt x="0" y="1049"/>
                </a:moveTo>
                <a:lnTo>
                  <a:pt x="0" y="1049"/>
                </a:lnTo>
                <a:cubicBezTo>
                  <a:pt x="0" y="1044"/>
                  <a:pt x="3" y="1041"/>
                  <a:pt x="8" y="1041"/>
                </a:cubicBezTo>
                <a:cubicBezTo>
                  <a:pt x="12" y="1041"/>
                  <a:pt x="16" y="1044"/>
                  <a:pt x="16" y="1049"/>
                </a:cubicBezTo>
                <a:lnTo>
                  <a:pt x="16" y="1049"/>
                </a:lnTo>
                <a:cubicBezTo>
                  <a:pt x="16" y="1053"/>
                  <a:pt x="12" y="1057"/>
                  <a:pt x="8" y="1057"/>
                </a:cubicBezTo>
                <a:cubicBezTo>
                  <a:pt x="3" y="1057"/>
                  <a:pt x="0" y="1053"/>
                  <a:pt x="0" y="1049"/>
                </a:cubicBezTo>
                <a:close/>
                <a:moveTo>
                  <a:pt x="0" y="969"/>
                </a:moveTo>
                <a:lnTo>
                  <a:pt x="0" y="969"/>
                </a:lnTo>
                <a:cubicBezTo>
                  <a:pt x="0" y="964"/>
                  <a:pt x="3" y="961"/>
                  <a:pt x="8" y="961"/>
                </a:cubicBezTo>
                <a:cubicBezTo>
                  <a:pt x="12" y="961"/>
                  <a:pt x="16" y="964"/>
                  <a:pt x="16" y="969"/>
                </a:cubicBezTo>
                <a:lnTo>
                  <a:pt x="16" y="969"/>
                </a:lnTo>
                <a:cubicBezTo>
                  <a:pt x="16" y="973"/>
                  <a:pt x="12" y="977"/>
                  <a:pt x="8" y="977"/>
                </a:cubicBezTo>
                <a:cubicBezTo>
                  <a:pt x="3" y="977"/>
                  <a:pt x="0" y="973"/>
                  <a:pt x="0" y="969"/>
                </a:cubicBezTo>
                <a:close/>
                <a:moveTo>
                  <a:pt x="0" y="889"/>
                </a:moveTo>
                <a:lnTo>
                  <a:pt x="0" y="889"/>
                </a:lnTo>
                <a:cubicBezTo>
                  <a:pt x="0" y="884"/>
                  <a:pt x="3" y="881"/>
                  <a:pt x="8" y="881"/>
                </a:cubicBezTo>
                <a:cubicBezTo>
                  <a:pt x="12" y="881"/>
                  <a:pt x="16" y="884"/>
                  <a:pt x="16" y="889"/>
                </a:cubicBezTo>
                <a:lnTo>
                  <a:pt x="16" y="889"/>
                </a:lnTo>
                <a:cubicBezTo>
                  <a:pt x="16" y="893"/>
                  <a:pt x="12" y="897"/>
                  <a:pt x="8" y="897"/>
                </a:cubicBezTo>
                <a:cubicBezTo>
                  <a:pt x="3" y="897"/>
                  <a:pt x="0" y="893"/>
                  <a:pt x="0" y="889"/>
                </a:cubicBezTo>
                <a:close/>
                <a:moveTo>
                  <a:pt x="0" y="809"/>
                </a:moveTo>
                <a:lnTo>
                  <a:pt x="0" y="809"/>
                </a:lnTo>
                <a:cubicBezTo>
                  <a:pt x="0" y="804"/>
                  <a:pt x="3" y="801"/>
                  <a:pt x="8" y="801"/>
                </a:cubicBezTo>
                <a:cubicBezTo>
                  <a:pt x="12" y="801"/>
                  <a:pt x="16" y="804"/>
                  <a:pt x="16" y="809"/>
                </a:cubicBezTo>
                <a:lnTo>
                  <a:pt x="16" y="809"/>
                </a:lnTo>
                <a:cubicBezTo>
                  <a:pt x="16" y="813"/>
                  <a:pt x="12" y="817"/>
                  <a:pt x="8" y="817"/>
                </a:cubicBezTo>
                <a:cubicBezTo>
                  <a:pt x="3" y="817"/>
                  <a:pt x="0" y="813"/>
                  <a:pt x="0" y="809"/>
                </a:cubicBezTo>
                <a:close/>
                <a:moveTo>
                  <a:pt x="0" y="729"/>
                </a:moveTo>
                <a:lnTo>
                  <a:pt x="0" y="729"/>
                </a:lnTo>
                <a:cubicBezTo>
                  <a:pt x="0" y="724"/>
                  <a:pt x="3" y="721"/>
                  <a:pt x="8" y="721"/>
                </a:cubicBezTo>
                <a:cubicBezTo>
                  <a:pt x="12" y="721"/>
                  <a:pt x="16" y="724"/>
                  <a:pt x="16" y="729"/>
                </a:cubicBezTo>
                <a:lnTo>
                  <a:pt x="16" y="729"/>
                </a:lnTo>
                <a:cubicBezTo>
                  <a:pt x="16" y="733"/>
                  <a:pt x="12" y="737"/>
                  <a:pt x="8" y="737"/>
                </a:cubicBezTo>
                <a:cubicBezTo>
                  <a:pt x="3" y="737"/>
                  <a:pt x="0" y="733"/>
                  <a:pt x="0" y="729"/>
                </a:cubicBezTo>
                <a:close/>
                <a:moveTo>
                  <a:pt x="0" y="649"/>
                </a:moveTo>
                <a:lnTo>
                  <a:pt x="0" y="649"/>
                </a:lnTo>
                <a:cubicBezTo>
                  <a:pt x="0" y="644"/>
                  <a:pt x="3" y="641"/>
                  <a:pt x="8" y="641"/>
                </a:cubicBezTo>
                <a:cubicBezTo>
                  <a:pt x="12" y="641"/>
                  <a:pt x="16" y="644"/>
                  <a:pt x="16" y="649"/>
                </a:cubicBezTo>
                <a:lnTo>
                  <a:pt x="16" y="649"/>
                </a:lnTo>
                <a:cubicBezTo>
                  <a:pt x="16" y="653"/>
                  <a:pt x="12" y="657"/>
                  <a:pt x="8" y="657"/>
                </a:cubicBezTo>
                <a:cubicBezTo>
                  <a:pt x="3" y="657"/>
                  <a:pt x="0" y="653"/>
                  <a:pt x="0" y="649"/>
                </a:cubicBezTo>
                <a:close/>
                <a:moveTo>
                  <a:pt x="0" y="569"/>
                </a:moveTo>
                <a:lnTo>
                  <a:pt x="0" y="568"/>
                </a:lnTo>
                <a:cubicBezTo>
                  <a:pt x="0" y="564"/>
                  <a:pt x="3" y="560"/>
                  <a:pt x="8" y="560"/>
                </a:cubicBezTo>
                <a:cubicBezTo>
                  <a:pt x="12" y="560"/>
                  <a:pt x="16" y="564"/>
                  <a:pt x="16" y="568"/>
                </a:cubicBezTo>
                <a:lnTo>
                  <a:pt x="16" y="569"/>
                </a:lnTo>
                <a:cubicBezTo>
                  <a:pt x="16" y="573"/>
                  <a:pt x="12" y="577"/>
                  <a:pt x="8" y="577"/>
                </a:cubicBezTo>
                <a:cubicBezTo>
                  <a:pt x="3" y="577"/>
                  <a:pt x="0" y="573"/>
                  <a:pt x="0" y="569"/>
                </a:cubicBezTo>
                <a:close/>
                <a:moveTo>
                  <a:pt x="0" y="488"/>
                </a:moveTo>
                <a:lnTo>
                  <a:pt x="0" y="488"/>
                </a:lnTo>
                <a:cubicBezTo>
                  <a:pt x="0" y="484"/>
                  <a:pt x="3" y="480"/>
                  <a:pt x="8" y="480"/>
                </a:cubicBezTo>
                <a:cubicBezTo>
                  <a:pt x="12" y="480"/>
                  <a:pt x="16" y="484"/>
                  <a:pt x="16" y="488"/>
                </a:cubicBezTo>
                <a:lnTo>
                  <a:pt x="16" y="488"/>
                </a:lnTo>
                <a:cubicBezTo>
                  <a:pt x="16" y="493"/>
                  <a:pt x="12" y="496"/>
                  <a:pt x="8" y="496"/>
                </a:cubicBezTo>
                <a:cubicBezTo>
                  <a:pt x="3" y="496"/>
                  <a:pt x="0" y="493"/>
                  <a:pt x="0" y="488"/>
                </a:cubicBezTo>
                <a:close/>
                <a:moveTo>
                  <a:pt x="0" y="408"/>
                </a:moveTo>
                <a:lnTo>
                  <a:pt x="0" y="408"/>
                </a:lnTo>
                <a:cubicBezTo>
                  <a:pt x="0" y="404"/>
                  <a:pt x="3" y="400"/>
                  <a:pt x="8" y="400"/>
                </a:cubicBezTo>
                <a:cubicBezTo>
                  <a:pt x="12" y="400"/>
                  <a:pt x="16" y="404"/>
                  <a:pt x="16" y="408"/>
                </a:cubicBezTo>
                <a:lnTo>
                  <a:pt x="16" y="408"/>
                </a:lnTo>
                <a:cubicBezTo>
                  <a:pt x="16" y="413"/>
                  <a:pt x="12" y="416"/>
                  <a:pt x="8" y="416"/>
                </a:cubicBezTo>
                <a:cubicBezTo>
                  <a:pt x="3" y="416"/>
                  <a:pt x="0" y="413"/>
                  <a:pt x="0" y="408"/>
                </a:cubicBezTo>
                <a:close/>
                <a:moveTo>
                  <a:pt x="0" y="328"/>
                </a:moveTo>
                <a:lnTo>
                  <a:pt x="0" y="328"/>
                </a:lnTo>
                <a:cubicBezTo>
                  <a:pt x="0" y="324"/>
                  <a:pt x="3" y="320"/>
                  <a:pt x="8" y="320"/>
                </a:cubicBezTo>
                <a:cubicBezTo>
                  <a:pt x="12" y="320"/>
                  <a:pt x="16" y="324"/>
                  <a:pt x="16" y="328"/>
                </a:cubicBezTo>
                <a:lnTo>
                  <a:pt x="16" y="328"/>
                </a:lnTo>
                <a:cubicBezTo>
                  <a:pt x="16" y="333"/>
                  <a:pt x="12" y="336"/>
                  <a:pt x="8" y="336"/>
                </a:cubicBezTo>
                <a:cubicBezTo>
                  <a:pt x="3" y="336"/>
                  <a:pt x="0" y="333"/>
                  <a:pt x="0" y="328"/>
                </a:cubicBezTo>
                <a:close/>
                <a:moveTo>
                  <a:pt x="0" y="248"/>
                </a:moveTo>
                <a:lnTo>
                  <a:pt x="0" y="248"/>
                </a:lnTo>
                <a:cubicBezTo>
                  <a:pt x="0" y="244"/>
                  <a:pt x="3" y="240"/>
                  <a:pt x="8" y="240"/>
                </a:cubicBezTo>
                <a:cubicBezTo>
                  <a:pt x="12" y="240"/>
                  <a:pt x="16" y="244"/>
                  <a:pt x="16" y="248"/>
                </a:cubicBezTo>
                <a:lnTo>
                  <a:pt x="16" y="248"/>
                </a:lnTo>
                <a:cubicBezTo>
                  <a:pt x="16" y="253"/>
                  <a:pt x="12" y="256"/>
                  <a:pt x="8" y="256"/>
                </a:cubicBezTo>
                <a:cubicBezTo>
                  <a:pt x="3" y="256"/>
                  <a:pt x="0" y="253"/>
                  <a:pt x="0" y="248"/>
                </a:cubicBezTo>
                <a:close/>
                <a:moveTo>
                  <a:pt x="0" y="168"/>
                </a:moveTo>
                <a:lnTo>
                  <a:pt x="0" y="168"/>
                </a:lnTo>
                <a:cubicBezTo>
                  <a:pt x="0" y="164"/>
                  <a:pt x="3" y="160"/>
                  <a:pt x="8" y="160"/>
                </a:cubicBezTo>
                <a:cubicBezTo>
                  <a:pt x="12" y="160"/>
                  <a:pt x="16" y="164"/>
                  <a:pt x="16" y="168"/>
                </a:cubicBezTo>
                <a:lnTo>
                  <a:pt x="16" y="168"/>
                </a:lnTo>
                <a:cubicBezTo>
                  <a:pt x="16" y="173"/>
                  <a:pt x="12" y="176"/>
                  <a:pt x="8" y="176"/>
                </a:cubicBezTo>
                <a:cubicBezTo>
                  <a:pt x="3" y="176"/>
                  <a:pt x="0" y="173"/>
                  <a:pt x="0" y="168"/>
                </a:cubicBezTo>
                <a:close/>
                <a:moveTo>
                  <a:pt x="0" y="88"/>
                </a:moveTo>
                <a:lnTo>
                  <a:pt x="0" y="88"/>
                </a:lnTo>
                <a:cubicBezTo>
                  <a:pt x="0" y="84"/>
                  <a:pt x="3" y="80"/>
                  <a:pt x="8" y="80"/>
                </a:cubicBezTo>
                <a:cubicBezTo>
                  <a:pt x="12" y="80"/>
                  <a:pt x="16" y="84"/>
                  <a:pt x="16" y="88"/>
                </a:cubicBezTo>
                <a:lnTo>
                  <a:pt x="16" y="88"/>
                </a:lnTo>
                <a:cubicBezTo>
                  <a:pt x="16" y="93"/>
                  <a:pt x="12" y="96"/>
                  <a:pt x="8" y="96"/>
                </a:cubicBezTo>
                <a:cubicBezTo>
                  <a:pt x="3" y="96"/>
                  <a:pt x="0" y="93"/>
                  <a:pt x="0" y="88"/>
                </a:cubicBezTo>
                <a:close/>
                <a:moveTo>
                  <a:pt x="0" y="8"/>
                </a:move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ubicBezTo>
                  <a:pt x="12" y="0"/>
                  <a:pt x="16" y="4"/>
                  <a:pt x="16" y="8"/>
                </a:cubicBezTo>
                <a:lnTo>
                  <a:pt x="16" y="8"/>
                </a:lnTo>
                <a:cubicBezTo>
                  <a:pt x="16" y="13"/>
                  <a:pt x="12" y="16"/>
                  <a:pt x="8" y="16"/>
                </a:cubicBezTo>
                <a:cubicBezTo>
                  <a:pt x="3" y="16"/>
                  <a:pt x="0" y="13"/>
                  <a:pt x="0" y="8"/>
                </a:cubicBezTo>
                <a:close/>
              </a:path>
            </a:pathLst>
          </a:custGeom>
          <a:solidFill>
            <a:srgbClr val="000000"/>
          </a:solidFill>
          <a:ln w="22225" cap="flat">
            <a:solidFill>
              <a:srgbClr val="000000"/>
            </a:solidFill>
            <a:prstDash val="solid"/>
            <a:bevel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16" name="Freeform 8"/>
          <p:cNvSpPr>
            <a:spLocks/>
          </p:cNvSpPr>
          <p:nvPr/>
        </p:nvSpPr>
        <p:spPr bwMode="auto">
          <a:xfrm>
            <a:off x="8932864" y="1400175"/>
            <a:ext cx="22225" cy="3811588"/>
          </a:xfrm>
          <a:custGeom>
            <a:avLst/>
            <a:gdLst>
              <a:gd name="T0" fmla="*/ 16 w 16"/>
              <a:gd name="T1" fmla="*/ 2809 h 2817"/>
              <a:gd name="T2" fmla="*/ 0 w 16"/>
              <a:gd name="T3" fmla="*/ 2729 h 2817"/>
              <a:gd name="T4" fmla="*/ 16 w 16"/>
              <a:gd name="T5" fmla="*/ 2729 h 2817"/>
              <a:gd name="T6" fmla="*/ 0 w 16"/>
              <a:gd name="T7" fmla="*/ 2649 h 2817"/>
              <a:gd name="T8" fmla="*/ 8 w 16"/>
              <a:gd name="T9" fmla="*/ 2657 h 2817"/>
              <a:gd name="T10" fmla="*/ 8 w 16"/>
              <a:gd name="T11" fmla="*/ 2561 h 2817"/>
              <a:gd name="T12" fmla="*/ 0 w 16"/>
              <a:gd name="T13" fmla="*/ 2569 h 2817"/>
              <a:gd name="T14" fmla="*/ 16 w 16"/>
              <a:gd name="T15" fmla="*/ 2489 h 2817"/>
              <a:gd name="T16" fmla="*/ 0 w 16"/>
              <a:gd name="T17" fmla="*/ 2409 h 2817"/>
              <a:gd name="T18" fmla="*/ 16 w 16"/>
              <a:gd name="T19" fmla="*/ 2409 h 2817"/>
              <a:gd name="T20" fmla="*/ 0 w 16"/>
              <a:gd name="T21" fmla="*/ 2329 h 2817"/>
              <a:gd name="T22" fmla="*/ 8 w 16"/>
              <a:gd name="T23" fmla="*/ 2337 h 2817"/>
              <a:gd name="T24" fmla="*/ 8 w 16"/>
              <a:gd name="T25" fmla="*/ 2241 h 2817"/>
              <a:gd name="T26" fmla="*/ 0 w 16"/>
              <a:gd name="T27" fmla="*/ 2249 h 2817"/>
              <a:gd name="T28" fmla="*/ 16 w 16"/>
              <a:gd name="T29" fmla="*/ 2169 h 2817"/>
              <a:gd name="T30" fmla="*/ 0 w 16"/>
              <a:gd name="T31" fmla="*/ 2089 h 2817"/>
              <a:gd name="T32" fmla="*/ 16 w 16"/>
              <a:gd name="T33" fmla="*/ 2089 h 2817"/>
              <a:gd name="T34" fmla="*/ 0 w 16"/>
              <a:gd name="T35" fmla="*/ 2009 h 2817"/>
              <a:gd name="T36" fmla="*/ 8 w 16"/>
              <a:gd name="T37" fmla="*/ 2017 h 2817"/>
              <a:gd name="T38" fmla="*/ 8 w 16"/>
              <a:gd name="T39" fmla="*/ 1921 h 2817"/>
              <a:gd name="T40" fmla="*/ 0 w 16"/>
              <a:gd name="T41" fmla="*/ 1929 h 2817"/>
              <a:gd name="T42" fmla="*/ 16 w 16"/>
              <a:gd name="T43" fmla="*/ 1849 h 2817"/>
              <a:gd name="T44" fmla="*/ 0 w 16"/>
              <a:gd name="T45" fmla="*/ 1769 h 2817"/>
              <a:gd name="T46" fmla="*/ 16 w 16"/>
              <a:gd name="T47" fmla="*/ 1769 h 2817"/>
              <a:gd name="T48" fmla="*/ 0 w 16"/>
              <a:gd name="T49" fmla="*/ 1689 h 2817"/>
              <a:gd name="T50" fmla="*/ 8 w 16"/>
              <a:gd name="T51" fmla="*/ 1697 h 2817"/>
              <a:gd name="T52" fmla="*/ 8 w 16"/>
              <a:gd name="T53" fmla="*/ 1601 h 2817"/>
              <a:gd name="T54" fmla="*/ 0 w 16"/>
              <a:gd name="T55" fmla="*/ 1609 h 2817"/>
              <a:gd name="T56" fmla="*/ 16 w 16"/>
              <a:gd name="T57" fmla="*/ 1529 h 2817"/>
              <a:gd name="T58" fmla="*/ 0 w 16"/>
              <a:gd name="T59" fmla="*/ 1449 h 2817"/>
              <a:gd name="T60" fmla="*/ 16 w 16"/>
              <a:gd name="T61" fmla="*/ 1449 h 2817"/>
              <a:gd name="T62" fmla="*/ 0 w 16"/>
              <a:gd name="T63" fmla="*/ 1369 h 2817"/>
              <a:gd name="T64" fmla="*/ 8 w 16"/>
              <a:gd name="T65" fmla="*/ 1377 h 2817"/>
              <a:gd name="T66" fmla="*/ 8 w 16"/>
              <a:gd name="T67" fmla="*/ 1281 h 2817"/>
              <a:gd name="T68" fmla="*/ 0 w 16"/>
              <a:gd name="T69" fmla="*/ 1289 h 2817"/>
              <a:gd name="T70" fmla="*/ 16 w 16"/>
              <a:gd name="T71" fmla="*/ 1209 h 2817"/>
              <a:gd name="T72" fmla="*/ 0 w 16"/>
              <a:gd name="T73" fmla="*/ 1129 h 2817"/>
              <a:gd name="T74" fmla="*/ 16 w 16"/>
              <a:gd name="T75" fmla="*/ 1129 h 2817"/>
              <a:gd name="T76" fmla="*/ 0 w 16"/>
              <a:gd name="T77" fmla="*/ 1049 h 2817"/>
              <a:gd name="T78" fmla="*/ 8 w 16"/>
              <a:gd name="T79" fmla="*/ 1057 h 2817"/>
              <a:gd name="T80" fmla="*/ 8 w 16"/>
              <a:gd name="T81" fmla="*/ 961 h 2817"/>
              <a:gd name="T82" fmla="*/ 0 w 16"/>
              <a:gd name="T83" fmla="*/ 969 h 2817"/>
              <a:gd name="T84" fmla="*/ 16 w 16"/>
              <a:gd name="T85" fmla="*/ 889 h 2817"/>
              <a:gd name="T86" fmla="*/ 0 w 16"/>
              <a:gd name="T87" fmla="*/ 809 h 2817"/>
              <a:gd name="T88" fmla="*/ 16 w 16"/>
              <a:gd name="T89" fmla="*/ 809 h 2817"/>
              <a:gd name="T90" fmla="*/ 0 w 16"/>
              <a:gd name="T91" fmla="*/ 729 h 2817"/>
              <a:gd name="T92" fmla="*/ 8 w 16"/>
              <a:gd name="T93" fmla="*/ 737 h 2817"/>
              <a:gd name="T94" fmla="*/ 8 w 16"/>
              <a:gd name="T95" fmla="*/ 641 h 2817"/>
              <a:gd name="T96" fmla="*/ 0 w 16"/>
              <a:gd name="T97" fmla="*/ 649 h 2817"/>
              <a:gd name="T98" fmla="*/ 16 w 16"/>
              <a:gd name="T99" fmla="*/ 568 h 2817"/>
              <a:gd name="T100" fmla="*/ 0 w 16"/>
              <a:gd name="T101" fmla="*/ 488 h 2817"/>
              <a:gd name="T102" fmla="*/ 16 w 16"/>
              <a:gd name="T103" fmla="*/ 488 h 2817"/>
              <a:gd name="T104" fmla="*/ 0 w 16"/>
              <a:gd name="T105" fmla="*/ 408 h 2817"/>
              <a:gd name="T106" fmla="*/ 8 w 16"/>
              <a:gd name="T107" fmla="*/ 416 h 2817"/>
              <a:gd name="T108" fmla="*/ 8 w 16"/>
              <a:gd name="T109" fmla="*/ 320 h 2817"/>
              <a:gd name="T110" fmla="*/ 0 w 16"/>
              <a:gd name="T111" fmla="*/ 328 h 2817"/>
              <a:gd name="T112" fmla="*/ 16 w 16"/>
              <a:gd name="T113" fmla="*/ 248 h 2817"/>
              <a:gd name="T114" fmla="*/ 0 w 16"/>
              <a:gd name="T115" fmla="*/ 168 h 2817"/>
              <a:gd name="T116" fmla="*/ 16 w 16"/>
              <a:gd name="T117" fmla="*/ 168 h 2817"/>
              <a:gd name="T118" fmla="*/ 0 w 16"/>
              <a:gd name="T119" fmla="*/ 88 h 2817"/>
              <a:gd name="T120" fmla="*/ 8 w 16"/>
              <a:gd name="T121" fmla="*/ 96 h 2817"/>
              <a:gd name="T122" fmla="*/ 8 w 16"/>
              <a:gd name="T123" fmla="*/ 0 h 2817"/>
              <a:gd name="T124" fmla="*/ 0 w 16"/>
              <a:gd name="T125" fmla="*/ 8 h 28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" h="2817">
                <a:moveTo>
                  <a:pt x="0" y="2809"/>
                </a:moveTo>
                <a:lnTo>
                  <a:pt x="0" y="2809"/>
                </a:lnTo>
                <a:cubicBezTo>
                  <a:pt x="0" y="2805"/>
                  <a:pt x="3" y="2801"/>
                  <a:pt x="8" y="2801"/>
                </a:cubicBezTo>
                <a:cubicBezTo>
                  <a:pt x="12" y="2801"/>
                  <a:pt x="16" y="2805"/>
                  <a:pt x="16" y="2809"/>
                </a:cubicBezTo>
                <a:lnTo>
                  <a:pt x="16" y="2809"/>
                </a:lnTo>
                <a:cubicBezTo>
                  <a:pt x="16" y="2813"/>
                  <a:pt x="12" y="2817"/>
                  <a:pt x="8" y="2817"/>
                </a:cubicBezTo>
                <a:cubicBezTo>
                  <a:pt x="3" y="2817"/>
                  <a:pt x="0" y="2813"/>
                  <a:pt x="0" y="2809"/>
                </a:cubicBezTo>
                <a:close/>
                <a:moveTo>
                  <a:pt x="0" y="2729"/>
                </a:moveTo>
                <a:lnTo>
                  <a:pt x="0" y="2729"/>
                </a:lnTo>
                <a:cubicBezTo>
                  <a:pt x="0" y="2725"/>
                  <a:pt x="3" y="2721"/>
                  <a:pt x="8" y="2721"/>
                </a:cubicBezTo>
                <a:cubicBezTo>
                  <a:pt x="12" y="2721"/>
                  <a:pt x="16" y="2725"/>
                  <a:pt x="16" y="2729"/>
                </a:cubicBezTo>
                <a:lnTo>
                  <a:pt x="16" y="2729"/>
                </a:lnTo>
                <a:cubicBezTo>
                  <a:pt x="16" y="2733"/>
                  <a:pt x="12" y="2737"/>
                  <a:pt x="8" y="2737"/>
                </a:cubicBezTo>
                <a:cubicBezTo>
                  <a:pt x="3" y="2737"/>
                  <a:pt x="0" y="2733"/>
                  <a:pt x="0" y="2729"/>
                </a:cubicBezTo>
                <a:close/>
                <a:moveTo>
                  <a:pt x="0" y="2649"/>
                </a:moveTo>
                <a:lnTo>
                  <a:pt x="0" y="2649"/>
                </a:lnTo>
                <a:cubicBezTo>
                  <a:pt x="0" y="2644"/>
                  <a:pt x="3" y="2641"/>
                  <a:pt x="8" y="2641"/>
                </a:cubicBezTo>
                <a:cubicBezTo>
                  <a:pt x="12" y="2641"/>
                  <a:pt x="16" y="2644"/>
                  <a:pt x="16" y="2649"/>
                </a:cubicBezTo>
                <a:lnTo>
                  <a:pt x="16" y="2649"/>
                </a:lnTo>
                <a:cubicBezTo>
                  <a:pt x="16" y="2653"/>
                  <a:pt x="12" y="2657"/>
                  <a:pt x="8" y="2657"/>
                </a:cubicBezTo>
                <a:cubicBezTo>
                  <a:pt x="3" y="2657"/>
                  <a:pt x="0" y="2653"/>
                  <a:pt x="0" y="2649"/>
                </a:cubicBezTo>
                <a:close/>
                <a:moveTo>
                  <a:pt x="0" y="2569"/>
                </a:moveTo>
                <a:lnTo>
                  <a:pt x="0" y="2569"/>
                </a:lnTo>
                <a:cubicBezTo>
                  <a:pt x="0" y="2564"/>
                  <a:pt x="3" y="2561"/>
                  <a:pt x="8" y="2561"/>
                </a:cubicBezTo>
                <a:cubicBezTo>
                  <a:pt x="12" y="2561"/>
                  <a:pt x="16" y="2564"/>
                  <a:pt x="16" y="2569"/>
                </a:cubicBezTo>
                <a:lnTo>
                  <a:pt x="16" y="2569"/>
                </a:lnTo>
                <a:cubicBezTo>
                  <a:pt x="16" y="2573"/>
                  <a:pt x="12" y="2577"/>
                  <a:pt x="8" y="2577"/>
                </a:cubicBezTo>
                <a:cubicBezTo>
                  <a:pt x="3" y="2577"/>
                  <a:pt x="0" y="2573"/>
                  <a:pt x="0" y="2569"/>
                </a:cubicBezTo>
                <a:close/>
                <a:moveTo>
                  <a:pt x="0" y="2489"/>
                </a:moveTo>
                <a:lnTo>
                  <a:pt x="0" y="2489"/>
                </a:lnTo>
                <a:cubicBezTo>
                  <a:pt x="0" y="2484"/>
                  <a:pt x="3" y="2481"/>
                  <a:pt x="8" y="2481"/>
                </a:cubicBezTo>
                <a:cubicBezTo>
                  <a:pt x="12" y="2481"/>
                  <a:pt x="16" y="2484"/>
                  <a:pt x="16" y="2489"/>
                </a:cubicBezTo>
                <a:lnTo>
                  <a:pt x="16" y="2489"/>
                </a:lnTo>
                <a:cubicBezTo>
                  <a:pt x="16" y="2493"/>
                  <a:pt x="12" y="2497"/>
                  <a:pt x="8" y="2497"/>
                </a:cubicBezTo>
                <a:cubicBezTo>
                  <a:pt x="3" y="2497"/>
                  <a:pt x="0" y="2493"/>
                  <a:pt x="0" y="2489"/>
                </a:cubicBezTo>
                <a:close/>
                <a:moveTo>
                  <a:pt x="0" y="2409"/>
                </a:moveTo>
                <a:lnTo>
                  <a:pt x="0" y="2409"/>
                </a:lnTo>
                <a:cubicBezTo>
                  <a:pt x="0" y="2404"/>
                  <a:pt x="3" y="2401"/>
                  <a:pt x="8" y="2401"/>
                </a:cubicBezTo>
                <a:cubicBezTo>
                  <a:pt x="12" y="2401"/>
                  <a:pt x="16" y="2404"/>
                  <a:pt x="16" y="2409"/>
                </a:cubicBezTo>
                <a:lnTo>
                  <a:pt x="16" y="2409"/>
                </a:lnTo>
                <a:cubicBezTo>
                  <a:pt x="16" y="2413"/>
                  <a:pt x="12" y="2417"/>
                  <a:pt x="8" y="2417"/>
                </a:cubicBezTo>
                <a:cubicBezTo>
                  <a:pt x="3" y="2417"/>
                  <a:pt x="0" y="2413"/>
                  <a:pt x="0" y="2409"/>
                </a:cubicBezTo>
                <a:close/>
                <a:moveTo>
                  <a:pt x="0" y="2329"/>
                </a:moveTo>
                <a:lnTo>
                  <a:pt x="0" y="2329"/>
                </a:lnTo>
                <a:cubicBezTo>
                  <a:pt x="0" y="2324"/>
                  <a:pt x="3" y="2321"/>
                  <a:pt x="8" y="2321"/>
                </a:cubicBezTo>
                <a:cubicBezTo>
                  <a:pt x="12" y="2321"/>
                  <a:pt x="16" y="2324"/>
                  <a:pt x="16" y="2329"/>
                </a:cubicBezTo>
                <a:lnTo>
                  <a:pt x="16" y="2329"/>
                </a:lnTo>
                <a:cubicBezTo>
                  <a:pt x="16" y="2333"/>
                  <a:pt x="12" y="2337"/>
                  <a:pt x="8" y="2337"/>
                </a:cubicBezTo>
                <a:cubicBezTo>
                  <a:pt x="3" y="2337"/>
                  <a:pt x="0" y="2333"/>
                  <a:pt x="0" y="2329"/>
                </a:cubicBezTo>
                <a:close/>
                <a:moveTo>
                  <a:pt x="0" y="2249"/>
                </a:moveTo>
                <a:lnTo>
                  <a:pt x="0" y="2249"/>
                </a:lnTo>
                <a:cubicBezTo>
                  <a:pt x="0" y="2244"/>
                  <a:pt x="3" y="2241"/>
                  <a:pt x="8" y="2241"/>
                </a:cubicBezTo>
                <a:cubicBezTo>
                  <a:pt x="12" y="2241"/>
                  <a:pt x="16" y="2244"/>
                  <a:pt x="16" y="2249"/>
                </a:cubicBezTo>
                <a:lnTo>
                  <a:pt x="16" y="2249"/>
                </a:lnTo>
                <a:cubicBezTo>
                  <a:pt x="16" y="2253"/>
                  <a:pt x="12" y="2257"/>
                  <a:pt x="8" y="2257"/>
                </a:cubicBezTo>
                <a:cubicBezTo>
                  <a:pt x="3" y="2257"/>
                  <a:pt x="0" y="2253"/>
                  <a:pt x="0" y="2249"/>
                </a:cubicBezTo>
                <a:close/>
                <a:moveTo>
                  <a:pt x="0" y="2169"/>
                </a:moveTo>
                <a:lnTo>
                  <a:pt x="0" y="2169"/>
                </a:lnTo>
                <a:cubicBezTo>
                  <a:pt x="0" y="2164"/>
                  <a:pt x="3" y="2161"/>
                  <a:pt x="8" y="2161"/>
                </a:cubicBezTo>
                <a:cubicBezTo>
                  <a:pt x="12" y="2161"/>
                  <a:pt x="16" y="2164"/>
                  <a:pt x="16" y="2169"/>
                </a:cubicBezTo>
                <a:lnTo>
                  <a:pt x="16" y="2169"/>
                </a:lnTo>
                <a:cubicBezTo>
                  <a:pt x="16" y="2173"/>
                  <a:pt x="12" y="2177"/>
                  <a:pt x="8" y="2177"/>
                </a:cubicBezTo>
                <a:cubicBezTo>
                  <a:pt x="3" y="2177"/>
                  <a:pt x="0" y="2173"/>
                  <a:pt x="0" y="2169"/>
                </a:cubicBezTo>
                <a:close/>
                <a:moveTo>
                  <a:pt x="0" y="2089"/>
                </a:moveTo>
                <a:lnTo>
                  <a:pt x="0" y="2089"/>
                </a:lnTo>
                <a:cubicBezTo>
                  <a:pt x="0" y="2084"/>
                  <a:pt x="3" y="2081"/>
                  <a:pt x="8" y="2081"/>
                </a:cubicBezTo>
                <a:cubicBezTo>
                  <a:pt x="12" y="2081"/>
                  <a:pt x="16" y="2084"/>
                  <a:pt x="16" y="2089"/>
                </a:cubicBezTo>
                <a:lnTo>
                  <a:pt x="16" y="2089"/>
                </a:lnTo>
                <a:cubicBezTo>
                  <a:pt x="16" y="2093"/>
                  <a:pt x="12" y="2097"/>
                  <a:pt x="8" y="2097"/>
                </a:cubicBezTo>
                <a:cubicBezTo>
                  <a:pt x="3" y="2097"/>
                  <a:pt x="0" y="2093"/>
                  <a:pt x="0" y="2089"/>
                </a:cubicBezTo>
                <a:close/>
                <a:moveTo>
                  <a:pt x="0" y="2009"/>
                </a:moveTo>
                <a:lnTo>
                  <a:pt x="0" y="2009"/>
                </a:lnTo>
                <a:cubicBezTo>
                  <a:pt x="0" y="2004"/>
                  <a:pt x="3" y="2001"/>
                  <a:pt x="8" y="2001"/>
                </a:cubicBezTo>
                <a:cubicBezTo>
                  <a:pt x="12" y="2001"/>
                  <a:pt x="16" y="2004"/>
                  <a:pt x="16" y="2009"/>
                </a:cubicBezTo>
                <a:lnTo>
                  <a:pt x="16" y="2009"/>
                </a:lnTo>
                <a:cubicBezTo>
                  <a:pt x="16" y="2013"/>
                  <a:pt x="12" y="2017"/>
                  <a:pt x="8" y="2017"/>
                </a:cubicBezTo>
                <a:cubicBezTo>
                  <a:pt x="3" y="2017"/>
                  <a:pt x="0" y="2013"/>
                  <a:pt x="0" y="2009"/>
                </a:cubicBezTo>
                <a:close/>
                <a:moveTo>
                  <a:pt x="0" y="1929"/>
                </a:moveTo>
                <a:lnTo>
                  <a:pt x="0" y="1929"/>
                </a:lnTo>
                <a:cubicBezTo>
                  <a:pt x="0" y="1924"/>
                  <a:pt x="3" y="1921"/>
                  <a:pt x="8" y="1921"/>
                </a:cubicBezTo>
                <a:cubicBezTo>
                  <a:pt x="12" y="1921"/>
                  <a:pt x="16" y="1924"/>
                  <a:pt x="16" y="1929"/>
                </a:cubicBezTo>
                <a:lnTo>
                  <a:pt x="16" y="1929"/>
                </a:lnTo>
                <a:cubicBezTo>
                  <a:pt x="16" y="1933"/>
                  <a:pt x="12" y="1937"/>
                  <a:pt x="8" y="1937"/>
                </a:cubicBezTo>
                <a:cubicBezTo>
                  <a:pt x="3" y="1937"/>
                  <a:pt x="0" y="1933"/>
                  <a:pt x="0" y="1929"/>
                </a:cubicBezTo>
                <a:close/>
                <a:moveTo>
                  <a:pt x="0" y="1849"/>
                </a:moveTo>
                <a:lnTo>
                  <a:pt x="0" y="1849"/>
                </a:lnTo>
                <a:cubicBezTo>
                  <a:pt x="0" y="1844"/>
                  <a:pt x="3" y="1841"/>
                  <a:pt x="8" y="1841"/>
                </a:cubicBezTo>
                <a:cubicBezTo>
                  <a:pt x="12" y="1841"/>
                  <a:pt x="16" y="1844"/>
                  <a:pt x="16" y="1849"/>
                </a:cubicBezTo>
                <a:lnTo>
                  <a:pt x="16" y="1849"/>
                </a:lnTo>
                <a:cubicBezTo>
                  <a:pt x="16" y="1853"/>
                  <a:pt x="12" y="1857"/>
                  <a:pt x="8" y="1857"/>
                </a:cubicBezTo>
                <a:cubicBezTo>
                  <a:pt x="3" y="1857"/>
                  <a:pt x="0" y="1853"/>
                  <a:pt x="0" y="1849"/>
                </a:cubicBezTo>
                <a:close/>
                <a:moveTo>
                  <a:pt x="0" y="1769"/>
                </a:moveTo>
                <a:lnTo>
                  <a:pt x="0" y="1769"/>
                </a:lnTo>
                <a:cubicBezTo>
                  <a:pt x="0" y="1764"/>
                  <a:pt x="3" y="1761"/>
                  <a:pt x="8" y="1761"/>
                </a:cubicBezTo>
                <a:cubicBezTo>
                  <a:pt x="12" y="1761"/>
                  <a:pt x="16" y="1764"/>
                  <a:pt x="16" y="1769"/>
                </a:cubicBezTo>
                <a:lnTo>
                  <a:pt x="16" y="1769"/>
                </a:lnTo>
                <a:cubicBezTo>
                  <a:pt x="16" y="1773"/>
                  <a:pt x="12" y="1777"/>
                  <a:pt x="8" y="1777"/>
                </a:cubicBezTo>
                <a:cubicBezTo>
                  <a:pt x="3" y="1777"/>
                  <a:pt x="0" y="1773"/>
                  <a:pt x="0" y="1769"/>
                </a:cubicBezTo>
                <a:close/>
                <a:moveTo>
                  <a:pt x="0" y="1689"/>
                </a:moveTo>
                <a:lnTo>
                  <a:pt x="0" y="1689"/>
                </a:lnTo>
                <a:cubicBezTo>
                  <a:pt x="0" y="1684"/>
                  <a:pt x="3" y="1681"/>
                  <a:pt x="8" y="1681"/>
                </a:cubicBezTo>
                <a:cubicBezTo>
                  <a:pt x="12" y="1681"/>
                  <a:pt x="16" y="1684"/>
                  <a:pt x="16" y="1689"/>
                </a:cubicBezTo>
                <a:lnTo>
                  <a:pt x="16" y="1689"/>
                </a:lnTo>
                <a:cubicBezTo>
                  <a:pt x="16" y="1693"/>
                  <a:pt x="12" y="1697"/>
                  <a:pt x="8" y="1697"/>
                </a:cubicBezTo>
                <a:cubicBezTo>
                  <a:pt x="3" y="1697"/>
                  <a:pt x="0" y="1693"/>
                  <a:pt x="0" y="1689"/>
                </a:cubicBezTo>
                <a:close/>
                <a:moveTo>
                  <a:pt x="0" y="1609"/>
                </a:moveTo>
                <a:lnTo>
                  <a:pt x="0" y="1609"/>
                </a:lnTo>
                <a:cubicBezTo>
                  <a:pt x="0" y="1604"/>
                  <a:pt x="3" y="1601"/>
                  <a:pt x="8" y="1601"/>
                </a:cubicBezTo>
                <a:cubicBezTo>
                  <a:pt x="12" y="1601"/>
                  <a:pt x="16" y="1604"/>
                  <a:pt x="16" y="1609"/>
                </a:cubicBezTo>
                <a:lnTo>
                  <a:pt x="16" y="1609"/>
                </a:lnTo>
                <a:cubicBezTo>
                  <a:pt x="16" y="1613"/>
                  <a:pt x="12" y="1617"/>
                  <a:pt x="8" y="1617"/>
                </a:cubicBezTo>
                <a:cubicBezTo>
                  <a:pt x="3" y="1617"/>
                  <a:pt x="0" y="1613"/>
                  <a:pt x="0" y="1609"/>
                </a:cubicBezTo>
                <a:close/>
                <a:moveTo>
                  <a:pt x="0" y="1529"/>
                </a:moveTo>
                <a:lnTo>
                  <a:pt x="0" y="1529"/>
                </a:lnTo>
                <a:cubicBezTo>
                  <a:pt x="0" y="1524"/>
                  <a:pt x="3" y="1521"/>
                  <a:pt x="8" y="1521"/>
                </a:cubicBezTo>
                <a:cubicBezTo>
                  <a:pt x="12" y="1521"/>
                  <a:pt x="16" y="1524"/>
                  <a:pt x="16" y="1529"/>
                </a:cubicBezTo>
                <a:lnTo>
                  <a:pt x="16" y="1529"/>
                </a:lnTo>
                <a:cubicBezTo>
                  <a:pt x="16" y="1533"/>
                  <a:pt x="12" y="1537"/>
                  <a:pt x="8" y="1537"/>
                </a:cubicBezTo>
                <a:cubicBezTo>
                  <a:pt x="3" y="1537"/>
                  <a:pt x="0" y="1533"/>
                  <a:pt x="0" y="1529"/>
                </a:cubicBezTo>
                <a:close/>
                <a:moveTo>
                  <a:pt x="0" y="1449"/>
                </a:moveTo>
                <a:lnTo>
                  <a:pt x="0" y="1449"/>
                </a:lnTo>
                <a:cubicBezTo>
                  <a:pt x="0" y="1444"/>
                  <a:pt x="3" y="1441"/>
                  <a:pt x="8" y="1441"/>
                </a:cubicBezTo>
                <a:cubicBezTo>
                  <a:pt x="12" y="1441"/>
                  <a:pt x="16" y="1444"/>
                  <a:pt x="16" y="1449"/>
                </a:cubicBezTo>
                <a:lnTo>
                  <a:pt x="16" y="1449"/>
                </a:lnTo>
                <a:cubicBezTo>
                  <a:pt x="16" y="1453"/>
                  <a:pt x="12" y="1457"/>
                  <a:pt x="8" y="1457"/>
                </a:cubicBezTo>
                <a:cubicBezTo>
                  <a:pt x="3" y="1457"/>
                  <a:pt x="0" y="1453"/>
                  <a:pt x="0" y="1449"/>
                </a:cubicBezTo>
                <a:close/>
                <a:moveTo>
                  <a:pt x="0" y="1369"/>
                </a:moveTo>
                <a:lnTo>
                  <a:pt x="0" y="1369"/>
                </a:lnTo>
                <a:cubicBezTo>
                  <a:pt x="0" y="1364"/>
                  <a:pt x="3" y="1361"/>
                  <a:pt x="8" y="1361"/>
                </a:cubicBezTo>
                <a:cubicBezTo>
                  <a:pt x="12" y="1361"/>
                  <a:pt x="16" y="1364"/>
                  <a:pt x="16" y="1369"/>
                </a:cubicBezTo>
                <a:lnTo>
                  <a:pt x="16" y="1369"/>
                </a:lnTo>
                <a:cubicBezTo>
                  <a:pt x="16" y="1373"/>
                  <a:pt x="12" y="1377"/>
                  <a:pt x="8" y="1377"/>
                </a:cubicBezTo>
                <a:cubicBezTo>
                  <a:pt x="3" y="1377"/>
                  <a:pt x="0" y="1373"/>
                  <a:pt x="0" y="1369"/>
                </a:cubicBezTo>
                <a:close/>
                <a:moveTo>
                  <a:pt x="0" y="1289"/>
                </a:moveTo>
                <a:lnTo>
                  <a:pt x="0" y="1289"/>
                </a:lnTo>
                <a:cubicBezTo>
                  <a:pt x="0" y="1284"/>
                  <a:pt x="3" y="1281"/>
                  <a:pt x="8" y="1281"/>
                </a:cubicBezTo>
                <a:cubicBezTo>
                  <a:pt x="12" y="1281"/>
                  <a:pt x="16" y="1284"/>
                  <a:pt x="16" y="1289"/>
                </a:cubicBezTo>
                <a:lnTo>
                  <a:pt x="16" y="1289"/>
                </a:lnTo>
                <a:cubicBezTo>
                  <a:pt x="16" y="1293"/>
                  <a:pt x="12" y="1297"/>
                  <a:pt x="8" y="1297"/>
                </a:cubicBezTo>
                <a:cubicBezTo>
                  <a:pt x="3" y="1297"/>
                  <a:pt x="0" y="1293"/>
                  <a:pt x="0" y="1289"/>
                </a:cubicBezTo>
                <a:close/>
                <a:moveTo>
                  <a:pt x="0" y="1209"/>
                </a:moveTo>
                <a:lnTo>
                  <a:pt x="0" y="1209"/>
                </a:lnTo>
                <a:cubicBezTo>
                  <a:pt x="0" y="1204"/>
                  <a:pt x="3" y="1201"/>
                  <a:pt x="8" y="1201"/>
                </a:cubicBezTo>
                <a:cubicBezTo>
                  <a:pt x="12" y="1201"/>
                  <a:pt x="16" y="1204"/>
                  <a:pt x="16" y="1209"/>
                </a:cubicBezTo>
                <a:lnTo>
                  <a:pt x="16" y="1209"/>
                </a:lnTo>
                <a:cubicBezTo>
                  <a:pt x="16" y="1213"/>
                  <a:pt x="12" y="1217"/>
                  <a:pt x="8" y="1217"/>
                </a:cubicBezTo>
                <a:cubicBezTo>
                  <a:pt x="3" y="1217"/>
                  <a:pt x="0" y="1213"/>
                  <a:pt x="0" y="1209"/>
                </a:cubicBezTo>
                <a:close/>
                <a:moveTo>
                  <a:pt x="0" y="1129"/>
                </a:moveTo>
                <a:lnTo>
                  <a:pt x="0" y="1129"/>
                </a:lnTo>
                <a:cubicBezTo>
                  <a:pt x="0" y="1124"/>
                  <a:pt x="3" y="1121"/>
                  <a:pt x="8" y="1121"/>
                </a:cubicBezTo>
                <a:cubicBezTo>
                  <a:pt x="12" y="1121"/>
                  <a:pt x="16" y="1124"/>
                  <a:pt x="16" y="1129"/>
                </a:cubicBezTo>
                <a:lnTo>
                  <a:pt x="16" y="1129"/>
                </a:lnTo>
                <a:cubicBezTo>
                  <a:pt x="16" y="1133"/>
                  <a:pt x="12" y="1137"/>
                  <a:pt x="8" y="1137"/>
                </a:cubicBezTo>
                <a:cubicBezTo>
                  <a:pt x="3" y="1137"/>
                  <a:pt x="0" y="1133"/>
                  <a:pt x="0" y="1129"/>
                </a:cubicBezTo>
                <a:close/>
                <a:moveTo>
                  <a:pt x="0" y="1049"/>
                </a:moveTo>
                <a:lnTo>
                  <a:pt x="0" y="1049"/>
                </a:lnTo>
                <a:cubicBezTo>
                  <a:pt x="0" y="1044"/>
                  <a:pt x="3" y="1041"/>
                  <a:pt x="8" y="1041"/>
                </a:cubicBezTo>
                <a:cubicBezTo>
                  <a:pt x="12" y="1041"/>
                  <a:pt x="16" y="1044"/>
                  <a:pt x="16" y="1049"/>
                </a:cubicBezTo>
                <a:lnTo>
                  <a:pt x="16" y="1049"/>
                </a:lnTo>
                <a:cubicBezTo>
                  <a:pt x="16" y="1053"/>
                  <a:pt x="12" y="1057"/>
                  <a:pt x="8" y="1057"/>
                </a:cubicBezTo>
                <a:cubicBezTo>
                  <a:pt x="3" y="1057"/>
                  <a:pt x="0" y="1053"/>
                  <a:pt x="0" y="1049"/>
                </a:cubicBezTo>
                <a:close/>
                <a:moveTo>
                  <a:pt x="0" y="969"/>
                </a:moveTo>
                <a:lnTo>
                  <a:pt x="0" y="969"/>
                </a:lnTo>
                <a:cubicBezTo>
                  <a:pt x="0" y="964"/>
                  <a:pt x="3" y="961"/>
                  <a:pt x="8" y="961"/>
                </a:cubicBezTo>
                <a:cubicBezTo>
                  <a:pt x="12" y="961"/>
                  <a:pt x="16" y="964"/>
                  <a:pt x="16" y="969"/>
                </a:cubicBezTo>
                <a:lnTo>
                  <a:pt x="16" y="969"/>
                </a:lnTo>
                <a:cubicBezTo>
                  <a:pt x="16" y="973"/>
                  <a:pt x="12" y="977"/>
                  <a:pt x="8" y="977"/>
                </a:cubicBezTo>
                <a:cubicBezTo>
                  <a:pt x="3" y="977"/>
                  <a:pt x="0" y="973"/>
                  <a:pt x="0" y="969"/>
                </a:cubicBezTo>
                <a:close/>
                <a:moveTo>
                  <a:pt x="0" y="889"/>
                </a:moveTo>
                <a:lnTo>
                  <a:pt x="0" y="889"/>
                </a:lnTo>
                <a:cubicBezTo>
                  <a:pt x="0" y="884"/>
                  <a:pt x="3" y="881"/>
                  <a:pt x="8" y="881"/>
                </a:cubicBezTo>
                <a:cubicBezTo>
                  <a:pt x="12" y="881"/>
                  <a:pt x="16" y="884"/>
                  <a:pt x="16" y="889"/>
                </a:cubicBezTo>
                <a:lnTo>
                  <a:pt x="16" y="889"/>
                </a:lnTo>
                <a:cubicBezTo>
                  <a:pt x="16" y="893"/>
                  <a:pt x="12" y="897"/>
                  <a:pt x="8" y="897"/>
                </a:cubicBezTo>
                <a:cubicBezTo>
                  <a:pt x="3" y="897"/>
                  <a:pt x="0" y="893"/>
                  <a:pt x="0" y="889"/>
                </a:cubicBezTo>
                <a:close/>
                <a:moveTo>
                  <a:pt x="0" y="809"/>
                </a:moveTo>
                <a:lnTo>
                  <a:pt x="0" y="809"/>
                </a:lnTo>
                <a:cubicBezTo>
                  <a:pt x="0" y="804"/>
                  <a:pt x="3" y="801"/>
                  <a:pt x="8" y="801"/>
                </a:cubicBezTo>
                <a:cubicBezTo>
                  <a:pt x="12" y="801"/>
                  <a:pt x="16" y="804"/>
                  <a:pt x="16" y="809"/>
                </a:cubicBezTo>
                <a:lnTo>
                  <a:pt x="16" y="809"/>
                </a:lnTo>
                <a:cubicBezTo>
                  <a:pt x="16" y="813"/>
                  <a:pt x="12" y="817"/>
                  <a:pt x="8" y="817"/>
                </a:cubicBezTo>
                <a:cubicBezTo>
                  <a:pt x="3" y="817"/>
                  <a:pt x="0" y="813"/>
                  <a:pt x="0" y="809"/>
                </a:cubicBezTo>
                <a:close/>
                <a:moveTo>
                  <a:pt x="0" y="729"/>
                </a:moveTo>
                <a:lnTo>
                  <a:pt x="0" y="729"/>
                </a:lnTo>
                <a:cubicBezTo>
                  <a:pt x="0" y="724"/>
                  <a:pt x="3" y="721"/>
                  <a:pt x="8" y="721"/>
                </a:cubicBezTo>
                <a:cubicBezTo>
                  <a:pt x="12" y="721"/>
                  <a:pt x="16" y="724"/>
                  <a:pt x="16" y="729"/>
                </a:cubicBezTo>
                <a:lnTo>
                  <a:pt x="16" y="729"/>
                </a:lnTo>
                <a:cubicBezTo>
                  <a:pt x="16" y="733"/>
                  <a:pt x="12" y="737"/>
                  <a:pt x="8" y="737"/>
                </a:cubicBezTo>
                <a:cubicBezTo>
                  <a:pt x="3" y="737"/>
                  <a:pt x="0" y="733"/>
                  <a:pt x="0" y="729"/>
                </a:cubicBezTo>
                <a:close/>
                <a:moveTo>
                  <a:pt x="0" y="649"/>
                </a:moveTo>
                <a:lnTo>
                  <a:pt x="0" y="649"/>
                </a:lnTo>
                <a:cubicBezTo>
                  <a:pt x="0" y="644"/>
                  <a:pt x="3" y="641"/>
                  <a:pt x="8" y="641"/>
                </a:cubicBezTo>
                <a:cubicBezTo>
                  <a:pt x="12" y="641"/>
                  <a:pt x="16" y="644"/>
                  <a:pt x="16" y="649"/>
                </a:cubicBezTo>
                <a:lnTo>
                  <a:pt x="16" y="649"/>
                </a:lnTo>
                <a:cubicBezTo>
                  <a:pt x="16" y="653"/>
                  <a:pt x="12" y="657"/>
                  <a:pt x="8" y="657"/>
                </a:cubicBezTo>
                <a:cubicBezTo>
                  <a:pt x="3" y="657"/>
                  <a:pt x="0" y="653"/>
                  <a:pt x="0" y="649"/>
                </a:cubicBezTo>
                <a:close/>
                <a:moveTo>
                  <a:pt x="0" y="569"/>
                </a:moveTo>
                <a:lnTo>
                  <a:pt x="0" y="568"/>
                </a:lnTo>
                <a:cubicBezTo>
                  <a:pt x="0" y="564"/>
                  <a:pt x="3" y="560"/>
                  <a:pt x="8" y="560"/>
                </a:cubicBezTo>
                <a:cubicBezTo>
                  <a:pt x="12" y="560"/>
                  <a:pt x="16" y="564"/>
                  <a:pt x="16" y="568"/>
                </a:cubicBezTo>
                <a:lnTo>
                  <a:pt x="16" y="569"/>
                </a:lnTo>
                <a:cubicBezTo>
                  <a:pt x="16" y="573"/>
                  <a:pt x="12" y="577"/>
                  <a:pt x="8" y="577"/>
                </a:cubicBezTo>
                <a:cubicBezTo>
                  <a:pt x="3" y="577"/>
                  <a:pt x="0" y="573"/>
                  <a:pt x="0" y="569"/>
                </a:cubicBezTo>
                <a:close/>
                <a:moveTo>
                  <a:pt x="0" y="488"/>
                </a:moveTo>
                <a:lnTo>
                  <a:pt x="0" y="488"/>
                </a:lnTo>
                <a:cubicBezTo>
                  <a:pt x="0" y="484"/>
                  <a:pt x="3" y="480"/>
                  <a:pt x="8" y="480"/>
                </a:cubicBezTo>
                <a:cubicBezTo>
                  <a:pt x="12" y="480"/>
                  <a:pt x="16" y="484"/>
                  <a:pt x="16" y="488"/>
                </a:cubicBezTo>
                <a:lnTo>
                  <a:pt x="16" y="488"/>
                </a:lnTo>
                <a:cubicBezTo>
                  <a:pt x="16" y="493"/>
                  <a:pt x="12" y="496"/>
                  <a:pt x="8" y="496"/>
                </a:cubicBezTo>
                <a:cubicBezTo>
                  <a:pt x="3" y="496"/>
                  <a:pt x="0" y="493"/>
                  <a:pt x="0" y="488"/>
                </a:cubicBezTo>
                <a:close/>
                <a:moveTo>
                  <a:pt x="0" y="408"/>
                </a:moveTo>
                <a:lnTo>
                  <a:pt x="0" y="408"/>
                </a:lnTo>
                <a:cubicBezTo>
                  <a:pt x="0" y="404"/>
                  <a:pt x="3" y="400"/>
                  <a:pt x="8" y="400"/>
                </a:cubicBezTo>
                <a:cubicBezTo>
                  <a:pt x="12" y="400"/>
                  <a:pt x="16" y="404"/>
                  <a:pt x="16" y="408"/>
                </a:cubicBezTo>
                <a:lnTo>
                  <a:pt x="16" y="408"/>
                </a:lnTo>
                <a:cubicBezTo>
                  <a:pt x="16" y="413"/>
                  <a:pt x="12" y="416"/>
                  <a:pt x="8" y="416"/>
                </a:cubicBezTo>
                <a:cubicBezTo>
                  <a:pt x="3" y="416"/>
                  <a:pt x="0" y="413"/>
                  <a:pt x="0" y="408"/>
                </a:cubicBezTo>
                <a:close/>
                <a:moveTo>
                  <a:pt x="0" y="328"/>
                </a:moveTo>
                <a:lnTo>
                  <a:pt x="0" y="328"/>
                </a:lnTo>
                <a:cubicBezTo>
                  <a:pt x="0" y="324"/>
                  <a:pt x="3" y="320"/>
                  <a:pt x="8" y="320"/>
                </a:cubicBezTo>
                <a:cubicBezTo>
                  <a:pt x="12" y="320"/>
                  <a:pt x="16" y="324"/>
                  <a:pt x="16" y="328"/>
                </a:cubicBezTo>
                <a:lnTo>
                  <a:pt x="16" y="328"/>
                </a:lnTo>
                <a:cubicBezTo>
                  <a:pt x="16" y="333"/>
                  <a:pt x="12" y="336"/>
                  <a:pt x="8" y="336"/>
                </a:cubicBezTo>
                <a:cubicBezTo>
                  <a:pt x="3" y="336"/>
                  <a:pt x="0" y="333"/>
                  <a:pt x="0" y="328"/>
                </a:cubicBezTo>
                <a:close/>
                <a:moveTo>
                  <a:pt x="0" y="248"/>
                </a:moveTo>
                <a:lnTo>
                  <a:pt x="0" y="248"/>
                </a:lnTo>
                <a:cubicBezTo>
                  <a:pt x="0" y="244"/>
                  <a:pt x="3" y="240"/>
                  <a:pt x="8" y="240"/>
                </a:cubicBezTo>
                <a:cubicBezTo>
                  <a:pt x="12" y="240"/>
                  <a:pt x="16" y="244"/>
                  <a:pt x="16" y="248"/>
                </a:cubicBezTo>
                <a:lnTo>
                  <a:pt x="16" y="248"/>
                </a:lnTo>
                <a:cubicBezTo>
                  <a:pt x="16" y="253"/>
                  <a:pt x="12" y="256"/>
                  <a:pt x="8" y="256"/>
                </a:cubicBezTo>
                <a:cubicBezTo>
                  <a:pt x="3" y="256"/>
                  <a:pt x="0" y="253"/>
                  <a:pt x="0" y="248"/>
                </a:cubicBezTo>
                <a:close/>
                <a:moveTo>
                  <a:pt x="0" y="168"/>
                </a:moveTo>
                <a:lnTo>
                  <a:pt x="0" y="168"/>
                </a:lnTo>
                <a:cubicBezTo>
                  <a:pt x="0" y="164"/>
                  <a:pt x="3" y="160"/>
                  <a:pt x="8" y="160"/>
                </a:cubicBezTo>
                <a:cubicBezTo>
                  <a:pt x="12" y="160"/>
                  <a:pt x="16" y="164"/>
                  <a:pt x="16" y="168"/>
                </a:cubicBezTo>
                <a:lnTo>
                  <a:pt x="16" y="168"/>
                </a:lnTo>
                <a:cubicBezTo>
                  <a:pt x="16" y="173"/>
                  <a:pt x="12" y="176"/>
                  <a:pt x="8" y="176"/>
                </a:cubicBezTo>
                <a:cubicBezTo>
                  <a:pt x="3" y="176"/>
                  <a:pt x="0" y="173"/>
                  <a:pt x="0" y="168"/>
                </a:cubicBezTo>
                <a:close/>
                <a:moveTo>
                  <a:pt x="0" y="88"/>
                </a:moveTo>
                <a:lnTo>
                  <a:pt x="0" y="88"/>
                </a:lnTo>
                <a:cubicBezTo>
                  <a:pt x="0" y="84"/>
                  <a:pt x="3" y="80"/>
                  <a:pt x="8" y="80"/>
                </a:cubicBezTo>
                <a:cubicBezTo>
                  <a:pt x="12" y="80"/>
                  <a:pt x="16" y="84"/>
                  <a:pt x="16" y="88"/>
                </a:cubicBezTo>
                <a:lnTo>
                  <a:pt x="16" y="88"/>
                </a:lnTo>
                <a:cubicBezTo>
                  <a:pt x="16" y="93"/>
                  <a:pt x="12" y="96"/>
                  <a:pt x="8" y="96"/>
                </a:cubicBezTo>
                <a:cubicBezTo>
                  <a:pt x="3" y="96"/>
                  <a:pt x="0" y="93"/>
                  <a:pt x="0" y="88"/>
                </a:cubicBezTo>
                <a:close/>
                <a:moveTo>
                  <a:pt x="0" y="8"/>
                </a:move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ubicBezTo>
                  <a:pt x="12" y="0"/>
                  <a:pt x="16" y="4"/>
                  <a:pt x="16" y="8"/>
                </a:cubicBezTo>
                <a:lnTo>
                  <a:pt x="16" y="8"/>
                </a:lnTo>
                <a:cubicBezTo>
                  <a:pt x="16" y="13"/>
                  <a:pt x="12" y="16"/>
                  <a:pt x="8" y="16"/>
                </a:cubicBezTo>
                <a:cubicBezTo>
                  <a:pt x="3" y="16"/>
                  <a:pt x="0" y="13"/>
                  <a:pt x="0" y="8"/>
                </a:cubicBezTo>
                <a:close/>
              </a:path>
            </a:pathLst>
          </a:custGeom>
          <a:solidFill>
            <a:srgbClr val="000000"/>
          </a:solidFill>
          <a:ln w="22225" cap="flat">
            <a:solidFill>
              <a:srgbClr val="000000"/>
            </a:solidFill>
            <a:prstDash val="solid"/>
            <a:bevel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17" name="Line 9"/>
          <p:cNvSpPr>
            <a:spLocks noChangeShapeType="1"/>
          </p:cNvSpPr>
          <p:nvPr/>
        </p:nvSpPr>
        <p:spPr bwMode="auto">
          <a:xfrm flipV="1">
            <a:off x="10198100" y="1390650"/>
            <a:ext cx="1588" cy="3810000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8" name="Line 10"/>
          <p:cNvSpPr>
            <a:spLocks noChangeShapeType="1"/>
          </p:cNvSpPr>
          <p:nvPr/>
        </p:nvSpPr>
        <p:spPr bwMode="auto">
          <a:xfrm>
            <a:off x="2711450" y="5200650"/>
            <a:ext cx="7486650" cy="15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9" name="Freeform 11"/>
          <p:cNvSpPr>
            <a:spLocks/>
          </p:cNvSpPr>
          <p:nvPr/>
        </p:nvSpPr>
        <p:spPr bwMode="auto">
          <a:xfrm>
            <a:off x="2701925" y="4432301"/>
            <a:ext cx="7488238" cy="22225"/>
          </a:xfrm>
          <a:custGeom>
            <a:avLst/>
            <a:gdLst>
              <a:gd name="T0" fmla="*/ 88 w 5537"/>
              <a:gd name="T1" fmla="*/ 0 h 16"/>
              <a:gd name="T2" fmla="*/ 168 w 5537"/>
              <a:gd name="T3" fmla="*/ 0 h 16"/>
              <a:gd name="T4" fmla="*/ 256 w 5537"/>
              <a:gd name="T5" fmla="*/ 8 h 16"/>
              <a:gd name="T6" fmla="*/ 328 w 5537"/>
              <a:gd name="T7" fmla="*/ 16 h 16"/>
              <a:gd name="T8" fmla="*/ 408 w 5537"/>
              <a:gd name="T9" fmla="*/ 16 h 16"/>
              <a:gd name="T10" fmla="*/ 480 w 5537"/>
              <a:gd name="T11" fmla="*/ 8 h 16"/>
              <a:gd name="T12" fmla="*/ 568 w 5537"/>
              <a:gd name="T13" fmla="*/ 0 h 16"/>
              <a:gd name="T14" fmla="*/ 728 w 5537"/>
              <a:gd name="T15" fmla="*/ 0 h 16"/>
              <a:gd name="T16" fmla="*/ 808 w 5537"/>
              <a:gd name="T17" fmla="*/ 0 h 16"/>
              <a:gd name="T18" fmla="*/ 896 w 5537"/>
              <a:gd name="T19" fmla="*/ 8 h 16"/>
              <a:gd name="T20" fmla="*/ 968 w 5537"/>
              <a:gd name="T21" fmla="*/ 16 h 16"/>
              <a:gd name="T22" fmla="*/ 1048 w 5537"/>
              <a:gd name="T23" fmla="*/ 16 h 16"/>
              <a:gd name="T24" fmla="*/ 1120 w 5537"/>
              <a:gd name="T25" fmla="*/ 8 h 16"/>
              <a:gd name="T26" fmla="*/ 1208 w 5537"/>
              <a:gd name="T27" fmla="*/ 0 h 16"/>
              <a:gd name="T28" fmla="*/ 1368 w 5537"/>
              <a:gd name="T29" fmla="*/ 0 h 16"/>
              <a:gd name="T30" fmla="*/ 1448 w 5537"/>
              <a:gd name="T31" fmla="*/ 0 h 16"/>
              <a:gd name="T32" fmla="*/ 1536 w 5537"/>
              <a:gd name="T33" fmla="*/ 8 h 16"/>
              <a:gd name="T34" fmla="*/ 1608 w 5537"/>
              <a:gd name="T35" fmla="*/ 16 h 16"/>
              <a:gd name="T36" fmla="*/ 1688 w 5537"/>
              <a:gd name="T37" fmla="*/ 16 h 16"/>
              <a:gd name="T38" fmla="*/ 1760 w 5537"/>
              <a:gd name="T39" fmla="*/ 8 h 16"/>
              <a:gd name="T40" fmla="*/ 1848 w 5537"/>
              <a:gd name="T41" fmla="*/ 0 h 16"/>
              <a:gd name="T42" fmla="*/ 2008 w 5537"/>
              <a:gd name="T43" fmla="*/ 0 h 16"/>
              <a:gd name="T44" fmla="*/ 2088 w 5537"/>
              <a:gd name="T45" fmla="*/ 0 h 16"/>
              <a:gd name="T46" fmla="*/ 2176 w 5537"/>
              <a:gd name="T47" fmla="*/ 8 h 16"/>
              <a:gd name="T48" fmla="*/ 2248 w 5537"/>
              <a:gd name="T49" fmla="*/ 16 h 16"/>
              <a:gd name="T50" fmla="*/ 2328 w 5537"/>
              <a:gd name="T51" fmla="*/ 16 h 16"/>
              <a:gd name="T52" fmla="*/ 2400 w 5537"/>
              <a:gd name="T53" fmla="*/ 8 h 16"/>
              <a:gd name="T54" fmla="*/ 2488 w 5537"/>
              <a:gd name="T55" fmla="*/ 0 h 16"/>
              <a:gd name="T56" fmla="*/ 2648 w 5537"/>
              <a:gd name="T57" fmla="*/ 0 h 16"/>
              <a:gd name="T58" fmla="*/ 2728 w 5537"/>
              <a:gd name="T59" fmla="*/ 0 h 16"/>
              <a:gd name="T60" fmla="*/ 2816 w 5537"/>
              <a:gd name="T61" fmla="*/ 8 h 16"/>
              <a:gd name="T62" fmla="*/ 2888 w 5537"/>
              <a:gd name="T63" fmla="*/ 16 h 16"/>
              <a:gd name="T64" fmla="*/ 2968 w 5537"/>
              <a:gd name="T65" fmla="*/ 16 h 16"/>
              <a:gd name="T66" fmla="*/ 3040 w 5537"/>
              <a:gd name="T67" fmla="*/ 8 h 16"/>
              <a:gd name="T68" fmla="*/ 3128 w 5537"/>
              <a:gd name="T69" fmla="*/ 0 h 16"/>
              <a:gd name="T70" fmla="*/ 3288 w 5537"/>
              <a:gd name="T71" fmla="*/ 0 h 16"/>
              <a:gd name="T72" fmla="*/ 3368 w 5537"/>
              <a:gd name="T73" fmla="*/ 0 h 16"/>
              <a:gd name="T74" fmla="*/ 3456 w 5537"/>
              <a:gd name="T75" fmla="*/ 8 h 16"/>
              <a:gd name="T76" fmla="*/ 3529 w 5537"/>
              <a:gd name="T77" fmla="*/ 16 h 16"/>
              <a:gd name="T78" fmla="*/ 3609 w 5537"/>
              <a:gd name="T79" fmla="*/ 16 h 16"/>
              <a:gd name="T80" fmla="*/ 3681 w 5537"/>
              <a:gd name="T81" fmla="*/ 8 h 16"/>
              <a:gd name="T82" fmla="*/ 3769 w 5537"/>
              <a:gd name="T83" fmla="*/ 0 h 16"/>
              <a:gd name="T84" fmla="*/ 3929 w 5537"/>
              <a:gd name="T85" fmla="*/ 0 h 16"/>
              <a:gd name="T86" fmla="*/ 4009 w 5537"/>
              <a:gd name="T87" fmla="*/ 0 h 16"/>
              <a:gd name="T88" fmla="*/ 4097 w 5537"/>
              <a:gd name="T89" fmla="*/ 8 h 16"/>
              <a:gd name="T90" fmla="*/ 4169 w 5537"/>
              <a:gd name="T91" fmla="*/ 16 h 16"/>
              <a:gd name="T92" fmla="*/ 4249 w 5537"/>
              <a:gd name="T93" fmla="*/ 16 h 16"/>
              <a:gd name="T94" fmla="*/ 4321 w 5537"/>
              <a:gd name="T95" fmla="*/ 8 h 16"/>
              <a:gd name="T96" fmla="*/ 4409 w 5537"/>
              <a:gd name="T97" fmla="*/ 0 h 16"/>
              <a:gd name="T98" fmla="*/ 4569 w 5537"/>
              <a:gd name="T99" fmla="*/ 0 h 16"/>
              <a:gd name="T100" fmla="*/ 4649 w 5537"/>
              <a:gd name="T101" fmla="*/ 0 h 16"/>
              <a:gd name="T102" fmla="*/ 4737 w 5537"/>
              <a:gd name="T103" fmla="*/ 8 h 16"/>
              <a:gd name="T104" fmla="*/ 4809 w 5537"/>
              <a:gd name="T105" fmla="*/ 16 h 16"/>
              <a:gd name="T106" fmla="*/ 4889 w 5537"/>
              <a:gd name="T107" fmla="*/ 16 h 16"/>
              <a:gd name="T108" fmla="*/ 4961 w 5537"/>
              <a:gd name="T109" fmla="*/ 8 h 16"/>
              <a:gd name="T110" fmla="*/ 5049 w 5537"/>
              <a:gd name="T111" fmla="*/ 0 h 16"/>
              <a:gd name="T112" fmla="*/ 5209 w 5537"/>
              <a:gd name="T113" fmla="*/ 0 h 16"/>
              <a:gd name="T114" fmla="*/ 5289 w 5537"/>
              <a:gd name="T115" fmla="*/ 0 h 16"/>
              <a:gd name="T116" fmla="*/ 5377 w 5537"/>
              <a:gd name="T117" fmla="*/ 8 h 16"/>
              <a:gd name="T118" fmla="*/ 5449 w 5537"/>
              <a:gd name="T119" fmla="*/ 16 h 16"/>
              <a:gd name="T120" fmla="*/ 5529 w 5537"/>
              <a:gd name="T121" fmla="*/ 16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537" h="16">
                <a:moveTo>
                  <a:pt x="8" y="0"/>
                </a:moveTo>
                <a:lnTo>
                  <a:pt x="8" y="0"/>
                </a:lnTo>
                <a:cubicBezTo>
                  <a:pt x="12" y="0"/>
                  <a:pt x="16" y="4"/>
                  <a:pt x="16" y="8"/>
                </a:cubicBezTo>
                <a:cubicBezTo>
                  <a:pt x="16" y="12"/>
                  <a:pt x="12" y="16"/>
                  <a:pt x="8" y="16"/>
                </a:cubicBezTo>
                <a:lnTo>
                  <a:pt x="8" y="16"/>
                </a:lnTo>
                <a:cubicBezTo>
                  <a:pt x="3" y="16"/>
                  <a:pt x="0" y="12"/>
                  <a:pt x="0" y="8"/>
                </a:cubicBezTo>
                <a:cubicBezTo>
                  <a:pt x="0" y="4"/>
                  <a:pt x="3" y="0"/>
                  <a:pt x="8" y="0"/>
                </a:cubicBezTo>
                <a:close/>
                <a:moveTo>
                  <a:pt x="88" y="0"/>
                </a:moveTo>
                <a:lnTo>
                  <a:pt x="88" y="0"/>
                </a:lnTo>
                <a:cubicBezTo>
                  <a:pt x="92" y="0"/>
                  <a:pt x="96" y="4"/>
                  <a:pt x="96" y="8"/>
                </a:cubicBezTo>
                <a:cubicBezTo>
                  <a:pt x="96" y="12"/>
                  <a:pt x="92" y="16"/>
                  <a:pt x="88" y="16"/>
                </a:cubicBezTo>
                <a:lnTo>
                  <a:pt x="88" y="16"/>
                </a:lnTo>
                <a:cubicBezTo>
                  <a:pt x="83" y="16"/>
                  <a:pt x="80" y="12"/>
                  <a:pt x="80" y="8"/>
                </a:cubicBezTo>
                <a:cubicBezTo>
                  <a:pt x="80" y="4"/>
                  <a:pt x="83" y="0"/>
                  <a:pt x="88" y="0"/>
                </a:cubicBezTo>
                <a:close/>
                <a:moveTo>
                  <a:pt x="168" y="0"/>
                </a:moveTo>
                <a:lnTo>
                  <a:pt x="168" y="0"/>
                </a:lnTo>
                <a:cubicBezTo>
                  <a:pt x="172" y="0"/>
                  <a:pt x="176" y="4"/>
                  <a:pt x="176" y="8"/>
                </a:cubicBezTo>
                <a:cubicBezTo>
                  <a:pt x="176" y="12"/>
                  <a:pt x="172" y="16"/>
                  <a:pt x="168" y="16"/>
                </a:cubicBezTo>
                <a:lnTo>
                  <a:pt x="168" y="16"/>
                </a:lnTo>
                <a:cubicBezTo>
                  <a:pt x="163" y="16"/>
                  <a:pt x="160" y="12"/>
                  <a:pt x="160" y="8"/>
                </a:cubicBezTo>
                <a:cubicBezTo>
                  <a:pt x="160" y="4"/>
                  <a:pt x="163" y="0"/>
                  <a:pt x="168" y="0"/>
                </a:cubicBezTo>
                <a:close/>
                <a:moveTo>
                  <a:pt x="248" y="0"/>
                </a:moveTo>
                <a:lnTo>
                  <a:pt x="248" y="0"/>
                </a:lnTo>
                <a:cubicBezTo>
                  <a:pt x="252" y="0"/>
                  <a:pt x="256" y="4"/>
                  <a:pt x="256" y="8"/>
                </a:cubicBezTo>
                <a:cubicBezTo>
                  <a:pt x="256" y="12"/>
                  <a:pt x="252" y="16"/>
                  <a:pt x="248" y="16"/>
                </a:cubicBezTo>
                <a:lnTo>
                  <a:pt x="248" y="16"/>
                </a:lnTo>
                <a:cubicBezTo>
                  <a:pt x="243" y="16"/>
                  <a:pt x="240" y="12"/>
                  <a:pt x="240" y="8"/>
                </a:cubicBezTo>
                <a:cubicBezTo>
                  <a:pt x="240" y="4"/>
                  <a:pt x="243" y="0"/>
                  <a:pt x="248" y="0"/>
                </a:cubicBezTo>
                <a:close/>
                <a:moveTo>
                  <a:pt x="328" y="0"/>
                </a:moveTo>
                <a:lnTo>
                  <a:pt x="328" y="0"/>
                </a:lnTo>
                <a:cubicBezTo>
                  <a:pt x="332" y="0"/>
                  <a:pt x="336" y="4"/>
                  <a:pt x="336" y="8"/>
                </a:cubicBezTo>
                <a:cubicBezTo>
                  <a:pt x="336" y="12"/>
                  <a:pt x="332" y="16"/>
                  <a:pt x="328" y="16"/>
                </a:cubicBezTo>
                <a:lnTo>
                  <a:pt x="328" y="16"/>
                </a:lnTo>
                <a:cubicBezTo>
                  <a:pt x="323" y="16"/>
                  <a:pt x="320" y="12"/>
                  <a:pt x="320" y="8"/>
                </a:cubicBezTo>
                <a:cubicBezTo>
                  <a:pt x="320" y="4"/>
                  <a:pt x="323" y="0"/>
                  <a:pt x="328" y="0"/>
                </a:cubicBezTo>
                <a:close/>
                <a:moveTo>
                  <a:pt x="408" y="0"/>
                </a:moveTo>
                <a:lnTo>
                  <a:pt x="408" y="0"/>
                </a:lnTo>
                <a:cubicBezTo>
                  <a:pt x="412" y="0"/>
                  <a:pt x="416" y="4"/>
                  <a:pt x="416" y="8"/>
                </a:cubicBezTo>
                <a:cubicBezTo>
                  <a:pt x="416" y="12"/>
                  <a:pt x="412" y="16"/>
                  <a:pt x="408" y="16"/>
                </a:cubicBezTo>
                <a:lnTo>
                  <a:pt x="408" y="16"/>
                </a:lnTo>
                <a:cubicBezTo>
                  <a:pt x="403" y="16"/>
                  <a:pt x="400" y="12"/>
                  <a:pt x="400" y="8"/>
                </a:cubicBezTo>
                <a:cubicBezTo>
                  <a:pt x="400" y="4"/>
                  <a:pt x="403" y="0"/>
                  <a:pt x="408" y="0"/>
                </a:cubicBezTo>
                <a:close/>
                <a:moveTo>
                  <a:pt x="488" y="0"/>
                </a:moveTo>
                <a:lnTo>
                  <a:pt x="488" y="0"/>
                </a:lnTo>
                <a:cubicBezTo>
                  <a:pt x="492" y="0"/>
                  <a:pt x="496" y="4"/>
                  <a:pt x="496" y="8"/>
                </a:cubicBezTo>
                <a:cubicBezTo>
                  <a:pt x="496" y="12"/>
                  <a:pt x="492" y="16"/>
                  <a:pt x="488" y="16"/>
                </a:cubicBezTo>
                <a:lnTo>
                  <a:pt x="488" y="16"/>
                </a:lnTo>
                <a:cubicBezTo>
                  <a:pt x="483" y="16"/>
                  <a:pt x="480" y="12"/>
                  <a:pt x="480" y="8"/>
                </a:cubicBezTo>
                <a:cubicBezTo>
                  <a:pt x="480" y="4"/>
                  <a:pt x="483" y="0"/>
                  <a:pt x="488" y="0"/>
                </a:cubicBezTo>
                <a:close/>
                <a:moveTo>
                  <a:pt x="568" y="0"/>
                </a:moveTo>
                <a:lnTo>
                  <a:pt x="568" y="0"/>
                </a:lnTo>
                <a:cubicBezTo>
                  <a:pt x="572" y="0"/>
                  <a:pt x="576" y="4"/>
                  <a:pt x="576" y="8"/>
                </a:cubicBezTo>
                <a:cubicBezTo>
                  <a:pt x="576" y="12"/>
                  <a:pt x="572" y="16"/>
                  <a:pt x="568" y="16"/>
                </a:cubicBezTo>
                <a:lnTo>
                  <a:pt x="568" y="16"/>
                </a:lnTo>
                <a:cubicBezTo>
                  <a:pt x="563" y="16"/>
                  <a:pt x="560" y="12"/>
                  <a:pt x="560" y="8"/>
                </a:cubicBezTo>
                <a:cubicBezTo>
                  <a:pt x="560" y="4"/>
                  <a:pt x="563" y="0"/>
                  <a:pt x="568" y="0"/>
                </a:cubicBezTo>
                <a:close/>
                <a:moveTo>
                  <a:pt x="648" y="0"/>
                </a:moveTo>
                <a:lnTo>
                  <a:pt x="648" y="0"/>
                </a:lnTo>
                <a:cubicBezTo>
                  <a:pt x="652" y="0"/>
                  <a:pt x="656" y="4"/>
                  <a:pt x="656" y="8"/>
                </a:cubicBezTo>
                <a:cubicBezTo>
                  <a:pt x="656" y="12"/>
                  <a:pt x="652" y="16"/>
                  <a:pt x="648" y="16"/>
                </a:cubicBezTo>
                <a:lnTo>
                  <a:pt x="648" y="16"/>
                </a:lnTo>
                <a:cubicBezTo>
                  <a:pt x="643" y="16"/>
                  <a:pt x="640" y="12"/>
                  <a:pt x="640" y="8"/>
                </a:cubicBezTo>
                <a:cubicBezTo>
                  <a:pt x="640" y="4"/>
                  <a:pt x="643" y="0"/>
                  <a:pt x="648" y="0"/>
                </a:cubicBezTo>
                <a:close/>
                <a:moveTo>
                  <a:pt x="728" y="0"/>
                </a:moveTo>
                <a:lnTo>
                  <a:pt x="728" y="0"/>
                </a:lnTo>
                <a:cubicBezTo>
                  <a:pt x="732" y="0"/>
                  <a:pt x="736" y="4"/>
                  <a:pt x="736" y="8"/>
                </a:cubicBezTo>
                <a:cubicBezTo>
                  <a:pt x="736" y="12"/>
                  <a:pt x="732" y="16"/>
                  <a:pt x="728" y="16"/>
                </a:cubicBezTo>
                <a:lnTo>
                  <a:pt x="728" y="16"/>
                </a:lnTo>
                <a:cubicBezTo>
                  <a:pt x="724" y="16"/>
                  <a:pt x="720" y="12"/>
                  <a:pt x="720" y="8"/>
                </a:cubicBezTo>
                <a:cubicBezTo>
                  <a:pt x="720" y="4"/>
                  <a:pt x="724" y="0"/>
                  <a:pt x="728" y="0"/>
                </a:cubicBezTo>
                <a:close/>
                <a:moveTo>
                  <a:pt x="808" y="0"/>
                </a:moveTo>
                <a:lnTo>
                  <a:pt x="808" y="0"/>
                </a:lnTo>
                <a:cubicBezTo>
                  <a:pt x="812" y="0"/>
                  <a:pt x="816" y="4"/>
                  <a:pt x="816" y="8"/>
                </a:cubicBezTo>
                <a:cubicBezTo>
                  <a:pt x="816" y="12"/>
                  <a:pt x="812" y="16"/>
                  <a:pt x="808" y="16"/>
                </a:cubicBezTo>
                <a:lnTo>
                  <a:pt x="808" y="16"/>
                </a:lnTo>
                <a:cubicBezTo>
                  <a:pt x="804" y="16"/>
                  <a:pt x="800" y="12"/>
                  <a:pt x="800" y="8"/>
                </a:cubicBezTo>
                <a:cubicBezTo>
                  <a:pt x="800" y="4"/>
                  <a:pt x="804" y="0"/>
                  <a:pt x="808" y="0"/>
                </a:cubicBezTo>
                <a:close/>
                <a:moveTo>
                  <a:pt x="888" y="0"/>
                </a:moveTo>
                <a:lnTo>
                  <a:pt x="888" y="0"/>
                </a:lnTo>
                <a:cubicBezTo>
                  <a:pt x="892" y="0"/>
                  <a:pt x="896" y="4"/>
                  <a:pt x="896" y="8"/>
                </a:cubicBezTo>
                <a:cubicBezTo>
                  <a:pt x="896" y="12"/>
                  <a:pt x="892" y="16"/>
                  <a:pt x="888" y="16"/>
                </a:cubicBezTo>
                <a:lnTo>
                  <a:pt x="888" y="16"/>
                </a:lnTo>
                <a:cubicBezTo>
                  <a:pt x="884" y="16"/>
                  <a:pt x="880" y="12"/>
                  <a:pt x="880" y="8"/>
                </a:cubicBezTo>
                <a:cubicBezTo>
                  <a:pt x="880" y="4"/>
                  <a:pt x="884" y="0"/>
                  <a:pt x="888" y="0"/>
                </a:cubicBezTo>
                <a:close/>
                <a:moveTo>
                  <a:pt x="968" y="0"/>
                </a:moveTo>
                <a:lnTo>
                  <a:pt x="968" y="0"/>
                </a:lnTo>
                <a:cubicBezTo>
                  <a:pt x="972" y="0"/>
                  <a:pt x="976" y="4"/>
                  <a:pt x="976" y="8"/>
                </a:cubicBezTo>
                <a:cubicBezTo>
                  <a:pt x="976" y="12"/>
                  <a:pt x="972" y="16"/>
                  <a:pt x="968" y="16"/>
                </a:cubicBezTo>
                <a:lnTo>
                  <a:pt x="968" y="16"/>
                </a:lnTo>
                <a:cubicBezTo>
                  <a:pt x="964" y="16"/>
                  <a:pt x="960" y="12"/>
                  <a:pt x="960" y="8"/>
                </a:cubicBezTo>
                <a:cubicBezTo>
                  <a:pt x="960" y="4"/>
                  <a:pt x="964" y="0"/>
                  <a:pt x="968" y="0"/>
                </a:cubicBezTo>
                <a:close/>
                <a:moveTo>
                  <a:pt x="1048" y="0"/>
                </a:moveTo>
                <a:lnTo>
                  <a:pt x="1048" y="0"/>
                </a:lnTo>
                <a:cubicBezTo>
                  <a:pt x="1052" y="0"/>
                  <a:pt x="1056" y="4"/>
                  <a:pt x="1056" y="8"/>
                </a:cubicBezTo>
                <a:cubicBezTo>
                  <a:pt x="1056" y="12"/>
                  <a:pt x="1052" y="16"/>
                  <a:pt x="1048" y="16"/>
                </a:cubicBezTo>
                <a:lnTo>
                  <a:pt x="1048" y="16"/>
                </a:lnTo>
                <a:cubicBezTo>
                  <a:pt x="1044" y="16"/>
                  <a:pt x="1040" y="12"/>
                  <a:pt x="1040" y="8"/>
                </a:cubicBezTo>
                <a:cubicBezTo>
                  <a:pt x="1040" y="4"/>
                  <a:pt x="1044" y="0"/>
                  <a:pt x="1048" y="0"/>
                </a:cubicBezTo>
                <a:close/>
                <a:moveTo>
                  <a:pt x="1128" y="0"/>
                </a:moveTo>
                <a:lnTo>
                  <a:pt x="1128" y="0"/>
                </a:lnTo>
                <a:cubicBezTo>
                  <a:pt x="1132" y="0"/>
                  <a:pt x="1136" y="4"/>
                  <a:pt x="1136" y="8"/>
                </a:cubicBezTo>
                <a:cubicBezTo>
                  <a:pt x="1136" y="12"/>
                  <a:pt x="1132" y="16"/>
                  <a:pt x="1128" y="16"/>
                </a:cubicBezTo>
                <a:lnTo>
                  <a:pt x="1128" y="16"/>
                </a:lnTo>
                <a:cubicBezTo>
                  <a:pt x="1124" y="16"/>
                  <a:pt x="1120" y="12"/>
                  <a:pt x="1120" y="8"/>
                </a:cubicBezTo>
                <a:cubicBezTo>
                  <a:pt x="1120" y="4"/>
                  <a:pt x="1124" y="0"/>
                  <a:pt x="1128" y="0"/>
                </a:cubicBezTo>
                <a:close/>
                <a:moveTo>
                  <a:pt x="1208" y="0"/>
                </a:moveTo>
                <a:lnTo>
                  <a:pt x="1208" y="0"/>
                </a:lnTo>
                <a:cubicBezTo>
                  <a:pt x="1212" y="0"/>
                  <a:pt x="1216" y="4"/>
                  <a:pt x="1216" y="8"/>
                </a:cubicBezTo>
                <a:cubicBezTo>
                  <a:pt x="1216" y="12"/>
                  <a:pt x="1212" y="16"/>
                  <a:pt x="1208" y="16"/>
                </a:cubicBezTo>
                <a:lnTo>
                  <a:pt x="1208" y="16"/>
                </a:lnTo>
                <a:cubicBezTo>
                  <a:pt x="1204" y="16"/>
                  <a:pt x="1200" y="12"/>
                  <a:pt x="1200" y="8"/>
                </a:cubicBezTo>
                <a:cubicBezTo>
                  <a:pt x="1200" y="4"/>
                  <a:pt x="1204" y="0"/>
                  <a:pt x="1208" y="0"/>
                </a:cubicBezTo>
                <a:close/>
                <a:moveTo>
                  <a:pt x="1288" y="0"/>
                </a:moveTo>
                <a:lnTo>
                  <a:pt x="1288" y="0"/>
                </a:lnTo>
                <a:cubicBezTo>
                  <a:pt x="1292" y="0"/>
                  <a:pt x="1296" y="4"/>
                  <a:pt x="1296" y="8"/>
                </a:cubicBezTo>
                <a:cubicBezTo>
                  <a:pt x="1296" y="12"/>
                  <a:pt x="1292" y="16"/>
                  <a:pt x="1288" y="16"/>
                </a:cubicBezTo>
                <a:lnTo>
                  <a:pt x="1288" y="16"/>
                </a:lnTo>
                <a:cubicBezTo>
                  <a:pt x="1284" y="16"/>
                  <a:pt x="1280" y="12"/>
                  <a:pt x="1280" y="8"/>
                </a:cubicBezTo>
                <a:cubicBezTo>
                  <a:pt x="1280" y="4"/>
                  <a:pt x="1284" y="0"/>
                  <a:pt x="1288" y="0"/>
                </a:cubicBezTo>
                <a:close/>
                <a:moveTo>
                  <a:pt x="1368" y="0"/>
                </a:moveTo>
                <a:lnTo>
                  <a:pt x="1368" y="0"/>
                </a:lnTo>
                <a:cubicBezTo>
                  <a:pt x="1372" y="0"/>
                  <a:pt x="1376" y="4"/>
                  <a:pt x="1376" y="8"/>
                </a:cubicBezTo>
                <a:cubicBezTo>
                  <a:pt x="1376" y="12"/>
                  <a:pt x="1372" y="16"/>
                  <a:pt x="1368" y="16"/>
                </a:cubicBezTo>
                <a:lnTo>
                  <a:pt x="1368" y="16"/>
                </a:lnTo>
                <a:cubicBezTo>
                  <a:pt x="1364" y="16"/>
                  <a:pt x="1360" y="12"/>
                  <a:pt x="1360" y="8"/>
                </a:cubicBezTo>
                <a:cubicBezTo>
                  <a:pt x="1360" y="4"/>
                  <a:pt x="1364" y="0"/>
                  <a:pt x="1368" y="0"/>
                </a:cubicBezTo>
                <a:close/>
                <a:moveTo>
                  <a:pt x="1448" y="0"/>
                </a:moveTo>
                <a:lnTo>
                  <a:pt x="1448" y="0"/>
                </a:lnTo>
                <a:cubicBezTo>
                  <a:pt x="1453" y="0"/>
                  <a:pt x="1456" y="4"/>
                  <a:pt x="1456" y="8"/>
                </a:cubicBezTo>
                <a:cubicBezTo>
                  <a:pt x="1456" y="12"/>
                  <a:pt x="1453" y="16"/>
                  <a:pt x="1448" y="16"/>
                </a:cubicBezTo>
                <a:lnTo>
                  <a:pt x="1448" y="16"/>
                </a:lnTo>
                <a:cubicBezTo>
                  <a:pt x="1444" y="16"/>
                  <a:pt x="1440" y="12"/>
                  <a:pt x="1440" y="8"/>
                </a:cubicBezTo>
                <a:cubicBezTo>
                  <a:pt x="1440" y="4"/>
                  <a:pt x="1444" y="0"/>
                  <a:pt x="1448" y="0"/>
                </a:cubicBezTo>
                <a:close/>
                <a:moveTo>
                  <a:pt x="1528" y="0"/>
                </a:moveTo>
                <a:lnTo>
                  <a:pt x="1528" y="0"/>
                </a:lnTo>
                <a:cubicBezTo>
                  <a:pt x="1533" y="0"/>
                  <a:pt x="1536" y="4"/>
                  <a:pt x="1536" y="8"/>
                </a:cubicBezTo>
                <a:cubicBezTo>
                  <a:pt x="1536" y="12"/>
                  <a:pt x="1533" y="16"/>
                  <a:pt x="1528" y="16"/>
                </a:cubicBezTo>
                <a:lnTo>
                  <a:pt x="1528" y="16"/>
                </a:lnTo>
                <a:cubicBezTo>
                  <a:pt x="1524" y="16"/>
                  <a:pt x="1520" y="12"/>
                  <a:pt x="1520" y="8"/>
                </a:cubicBezTo>
                <a:cubicBezTo>
                  <a:pt x="1520" y="4"/>
                  <a:pt x="1524" y="0"/>
                  <a:pt x="1528" y="0"/>
                </a:cubicBezTo>
                <a:close/>
                <a:moveTo>
                  <a:pt x="1608" y="0"/>
                </a:moveTo>
                <a:lnTo>
                  <a:pt x="1608" y="0"/>
                </a:lnTo>
                <a:cubicBezTo>
                  <a:pt x="1613" y="0"/>
                  <a:pt x="1616" y="4"/>
                  <a:pt x="1616" y="8"/>
                </a:cubicBezTo>
                <a:cubicBezTo>
                  <a:pt x="1616" y="12"/>
                  <a:pt x="1613" y="16"/>
                  <a:pt x="1608" y="16"/>
                </a:cubicBezTo>
                <a:lnTo>
                  <a:pt x="1608" y="16"/>
                </a:lnTo>
                <a:cubicBezTo>
                  <a:pt x="1604" y="16"/>
                  <a:pt x="1600" y="12"/>
                  <a:pt x="1600" y="8"/>
                </a:cubicBezTo>
                <a:cubicBezTo>
                  <a:pt x="1600" y="4"/>
                  <a:pt x="1604" y="0"/>
                  <a:pt x="1608" y="0"/>
                </a:cubicBezTo>
                <a:close/>
                <a:moveTo>
                  <a:pt x="1688" y="0"/>
                </a:moveTo>
                <a:lnTo>
                  <a:pt x="1688" y="0"/>
                </a:lnTo>
                <a:cubicBezTo>
                  <a:pt x="1693" y="0"/>
                  <a:pt x="1696" y="4"/>
                  <a:pt x="1696" y="8"/>
                </a:cubicBezTo>
                <a:cubicBezTo>
                  <a:pt x="1696" y="12"/>
                  <a:pt x="1693" y="16"/>
                  <a:pt x="1688" y="16"/>
                </a:cubicBezTo>
                <a:lnTo>
                  <a:pt x="1688" y="16"/>
                </a:lnTo>
                <a:cubicBezTo>
                  <a:pt x="1684" y="16"/>
                  <a:pt x="1680" y="12"/>
                  <a:pt x="1680" y="8"/>
                </a:cubicBezTo>
                <a:cubicBezTo>
                  <a:pt x="1680" y="4"/>
                  <a:pt x="1684" y="0"/>
                  <a:pt x="1688" y="0"/>
                </a:cubicBezTo>
                <a:close/>
                <a:moveTo>
                  <a:pt x="1768" y="0"/>
                </a:moveTo>
                <a:lnTo>
                  <a:pt x="1768" y="0"/>
                </a:lnTo>
                <a:cubicBezTo>
                  <a:pt x="1773" y="0"/>
                  <a:pt x="1776" y="4"/>
                  <a:pt x="1776" y="8"/>
                </a:cubicBezTo>
                <a:cubicBezTo>
                  <a:pt x="1776" y="12"/>
                  <a:pt x="1773" y="16"/>
                  <a:pt x="1768" y="16"/>
                </a:cubicBezTo>
                <a:lnTo>
                  <a:pt x="1768" y="16"/>
                </a:lnTo>
                <a:cubicBezTo>
                  <a:pt x="1764" y="16"/>
                  <a:pt x="1760" y="12"/>
                  <a:pt x="1760" y="8"/>
                </a:cubicBezTo>
                <a:cubicBezTo>
                  <a:pt x="1760" y="4"/>
                  <a:pt x="1764" y="0"/>
                  <a:pt x="1768" y="0"/>
                </a:cubicBezTo>
                <a:close/>
                <a:moveTo>
                  <a:pt x="1848" y="0"/>
                </a:moveTo>
                <a:lnTo>
                  <a:pt x="1848" y="0"/>
                </a:lnTo>
                <a:cubicBezTo>
                  <a:pt x="1853" y="0"/>
                  <a:pt x="1856" y="4"/>
                  <a:pt x="1856" y="8"/>
                </a:cubicBezTo>
                <a:cubicBezTo>
                  <a:pt x="1856" y="12"/>
                  <a:pt x="1853" y="16"/>
                  <a:pt x="1848" y="16"/>
                </a:cubicBezTo>
                <a:lnTo>
                  <a:pt x="1848" y="16"/>
                </a:lnTo>
                <a:cubicBezTo>
                  <a:pt x="1844" y="16"/>
                  <a:pt x="1840" y="12"/>
                  <a:pt x="1840" y="8"/>
                </a:cubicBezTo>
                <a:cubicBezTo>
                  <a:pt x="1840" y="4"/>
                  <a:pt x="1844" y="0"/>
                  <a:pt x="1848" y="0"/>
                </a:cubicBezTo>
                <a:close/>
                <a:moveTo>
                  <a:pt x="1928" y="0"/>
                </a:moveTo>
                <a:lnTo>
                  <a:pt x="1928" y="0"/>
                </a:lnTo>
                <a:cubicBezTo>
                  <a:pt x="1933" y="0"/>
                  <a:pt x="1936" y="4"/>
                  <a:pt x="1936" y="8"/>
                </a:cubicBezTo>
                <a:cubicBezTo>
                  <a:pt x="1936" y="12"/>
                  <a:pt x="1933" y="16"/>
                  <a:pt x="1928" y="16"/>
                </a:cubicBezTo>
                <a:lnTo>
                  <a:pt x="1928" y="16"/>
                </a:lnTo>
                <a:cubicBezTo>
                  <a:pt x="1924" y="16"/>
                  <a:pt x="1920" y="12"/>
                  <a:pt x="1920" y="8"/>
                </a:cubicBezTo>
                <a:cubicBezTo>
                  <a:pt x="1920" y="4"/>
                  <a:pt x="1924" y="0"/>
                  <a:pt x="1928" y="0"/>
                </a:cubicBezTo>
                <a:close/>
                <a:moveTo>
                  <a:pt x="2008" y="0"/>
                </a:moveTo>
                <a:lnTo>
                  <a:pt x="2008" y="0"/>
                </a:lnTo>
                <a:cubicBezTo>
                  <a:pt x="2013" y="0"/>
                  <a:pt x="2016" y="4"/>
                  <a:pt x="2016" y="8"/>
                </a:cubicBezTo>
                <a:cubicBezTo>
                  <a:pt x="2016" y="12"/>
                  <a:pt x="2013" y="16"/>
                  <a:pt x="2008" y="16"/>
                </a:cubicBezTo>
                <a:lnTo>
                  <a:pt x="2008" y="16"/>
                </a:lnTo>
                <a:cubicBezTo>
                  <a:pt x="2004" y="16"/>
                  <a:pt x="2000" y="12"/>
                  <a:pt x="2000" y="8"/>
                </a:cubicBezTo>
                <a:cubicBezTo>
                  <a:pt x="2000" y="4"/>
                  <a:pt x="2004" y="0"/>
                  <a:pt x="2008" y="0"/>
                </a:cubicBezTo>
                <a:close/>
                <a:moveTo>
                  <a:pt x="2088" y="0"/>
                </a:moveTo>
                <a:lnTo>
                  <a:pt x="2088" y="0"/>
                </a:lnTo>
                <a:cubicBezTo>
                  <a:pt x="2093" y="0"/>
                  <a:pt x="2096" y="4"/>
                  <a:pt x="2096" y="8"/>
                </a:cubicBezTo>
                <a:cubicBezTo>
                  <a:pt x="2096" y="12"/>
                  <a:pt x="2093" y="16"/>
                  <a:pt x="2088" y="16"/>
                </a:cubicBezTo>
                <a:lnTo>
                  <a:pt x="2088" y="16"/>
                </a:lnTo>
                <a:cubicBezTo>
                  <a:pt x="2084" y="16"/>
                  <a:pt x="2080" y="12"/>
                  <a:pt x="2080" y="8"/>
                </a:cubicBezTo>
                <a:cubicBezTo>
                  <a:pt x="2080" y="4"/>
                  <a:pt x="2084" y="0"/>
                  <a:pt x="2088" y="0"/>
                </a:cubicBezTo>
                <a:close/>
                <a:moveTo>
                  <a:pt x="2168" y="0"/>
                </a:moveTo>
                <a:lnTo>
                  <a:pt x="2168" y="0"/>
                </a:lnTo>
                <a:cubicBezTo>
                  <a:pt x="2173" y="0"/>
                  <a:pt x="2176" y="4"/>
                  <a:pt x="2176" y="8"/>
                </a:cubicBezTo>
                <a:cubicBezTo>
                  <a:pt x="2176" y="12"/>
                  <a:pt x="2173" y="16"/>
                  <a:pt x="2168" y="16"/>
                </a:cubicBezTo>
                <a:lnTo>
                  <a:pt x="2168" y="16"/>
                </a:lnTo>
                <a:cubicBezTo>
                  <a:pt x="2164" y="16"/>
                  <a:pt x="2160" y="12"/>
                  <a:pt x="2160" y="8"/>
                </a:cubicBezTo>
                <a:cubicBezTo>
                  <a:pt x="2160" y="4"/>
                  <a:pt x="2164" y="0"/>
                  <a:pt x="2168" y="0"/>
                </a:cubicBezTo>
                <a:close/>
                <a:moveTo>
                  <a:pt x="2248" y="0"/>
                </a:moveTo>
                <a:lnTo>
                  <a:pt x="2248" y="0"/>
                </a:lnTo>
                <a:cubicBezTo>
                  <a:pt x="2253" y="0"/>
                  <a:pt x="2256" y="4"/>
                  <a:pt x="2256" y="8"/>
                </a:cubicBezTo>
                <a:cubicBezTo>
                  <a:pt x="2256" y="12"/>
                  <a:pt x="2253" y="16"/>
                  <a:pt x="2248" y="16"/>
                </a:cubicBezTo>
                <a:lnTo>
                  <a:pt x="2248" y="16"/>
                </a:lnTo>
                <a:cubicBezTo>
                  <a:pt x="2244" y="16"/>
                  <a:pt x="2240" y="12"/>
                  <a:pt x="2240" y="8"/>
                </a:cubicBezTo>
                <a:cubicBezTo>
                  <a:pt x="2240" y="4"/>
                  <a:pt x="2244" y="0"/>
                  <a:pt x="2248" y="0"/>
                </a:cubicBezTo>
                <a:close/>
                <a:moveTo>
                  <a:pt x="2328" y="0"/>
                </a:moveTo>
                <a:lnTo>
                  <a:pt x="2328" y="0"/>
                </a:lnTo>
                <a:cubicBezTo>
                  <a:pt x="2333" y="0"/>
                  <a:pt x="2336" y="4"/>
                  <a:pt x="2336" y="8"/>
                </a:cubicBezTo>
                <a:cubicBezTo>
                  <a:pt x="2336" y="12"/>
                  <a:pt x="2333" y="16"/>
                  <a:pt x="2328" y="16"/>
                </a:cubicBezTo>
                <a:lnTo>
                  <a:pt x="2328" y="16"/>
                </a:lnTo>
                <a:cubicBezTo>
                  <a:pt x="2324" y="16"/>
                  <a:pt x="2320" y="12"/>
                  <a:pt x="2320" y="8"/>
                </a:cubicBezTo>
                <a:cubicBezTo>
                  <a:pt x="2320" y="4"/>
                  <a:pt x="2324" y="0"/>
                  <a:pt x="2328" y="0"/>
                </a:cubicBezTo>
                <a:close/>
                <a:moveTo>
                  <a:pt x="2408" y="0"/>
                </a:moveTo>
                <a:lnTo>
                  <a:pt x="2408" y="0"/>
                </a:lnTo>
                <a:cubicBezTo>
                  <a:pt x="2413" y="0"/>
                  <a:pt x="2416" y="4"/>
                  <a:pt x="2416" y="8"/>
                </a:cubicBezTo>
                <a:cubicBezTo>
                  <a:pt x="2416" y="12"/>
                  <a:pt x="2413" y="16"/>
                  <a:pt x="2408" y="16"/>
                </a:cubicBezTo>
                <a:lnTo>
                  <a:pt x="2408" y="16"/>
                </a:lnTo>
                <a:cubicBezTo>
                  <a:pt x="2404" y="16"/>
                  <a:pt x="2400" y="12"/>
                  <a:pt x="2400" y="8"/>
                </a:cubicBezTo>
                <a:cubicBezTo>
                  <a:pt x="2400" y="4"/>
                  <a:pt x="2404" y="0"/>
                  <a:pt x="2408" y="0"/>
                </a:cubicBezTo>
                <a:close/>
                <a:moveTo>
                  <a:pt x="2488" y="0"/>
                </a:moveTo>
                <a:lnTo>
                  <a:pt x="2488" y="0"/>
                </a:lnTo>
                <a:cubicBezTo>
                  <a:pt x="2493" y="0"/>
                  <a:pt x="2496" y="4"/>
                  <a:pt x="2496" y="8"/>
                </a:cubicBezTo>
                <a:cubicBezTo>
                  <a:pt x="2496" y="12"/>
                  <a:pt x="2493" y="16"/>
                  <a:pt x="2488" y="16"/>
                </a:cubicBezTo>
                <a:lnTo>
                  <a:pt x="2488" y="16"/>
                </a:lnTo>
                <a:cubicBezTo>
                  <a:pt x="2484" y="16"/>
                  <a:pt x="2480" y="12"/>
                  <a:pt x="2480" y="8"/>
                </a:cubicBezTo>
                <a:cubicBezTo>
                  <a:pt x="2480" y="4"/>
                  <a:pt x="2484" y="0"/>
                  <a:pt x="2488" y="0"/>
                </a:cubicBezTo>
                <a:close/>
                <a:moveTo>
                  <a:pt x="2568" y="0"/>
                </a:moveTo>
                <a:lnTo>
                  <a:pt x="2568" y="0"/>
                </a:lnTo>
                <a:cubicBezTo>
                  <a:pt x="2573" y="0"/>
                  <a:pt x="2576" y="4"/>
                  <a:pt x="2576" y="8"/>
                </a:cubicBezTo>
                <a:cubicBezTo>
                  <a:pt x="2576" y="12"/>
                  <a:pt x="2573" y="16"/>
                  <a:pt x="2568" y="16"/>
                </a:cubicBezTo>
                <a:lnTo>
                  <a:pt x="2568" y="16"/>
                </a:lnTo>
                <a:cubicBezTo>
                  <a:pt x="2564" y="16"/>
                  <a:pt x="2560" y="12"/>
                  <a:pt x="2560" y="8"/>
                </a:cubicBezTo>
                <a:cubicBezTo>
                  <a:pt x="2560" y="4"/>
                  <a:pt x="2564" y="0"/>
                  <a:pt x="2568" y="0"/>
                </a:cubicBezTo>
                <a:close/>
                <a:moveTo>
                  <a:pt x="2648" y="0"/>
                </a:moveTo>
                <a:lnTo>
                  <a:pt x="2648" y="0"/>
                </a:lnTo>
                <a:cubicBezTo>
                  <a:pt x="2653" y="0"/>
                  <a:pt x="2656" y="4"/>
                  <a:pt x="2656" y="8"/>
                </a:cubicBezTo>
                <a:cubicBezTo>
                  <a:pt x="2656" y="12"/>
                  <a:pt x="2653" y="16"/>
                  <a:pt x="2648" y="16"/>
                </a:cubicBezTo>
                <a:lnTo>
                  <a:pt x="2648" y="16"/>
                </a:lnTo>
                <a:cubicBezTo>
                  <a:pt x="2644" y="16"/>
                  <a:pt x="2640" y="12"/>
                  <a:pt x="2640" y="8"/>
                </a:cubicBezTo>
                <a:cubicBezTo>
                  <a:pt x="2640" y="4"/>
                  <a:pt x="2644" y="0"/>
                  <a:pt x="2648" y="0"/>
                </a:cubicBezTo>
                <a:close/>
                <a:moveTo>
                  <a:pt x="2728" y="0"/>
                </a:moveTo>
                <a:lnTo>
                  <a:pt x="2728" y="0"/>
                </a:lnTo>
                <a:cubicBezTo>
                  <a:pt x="2733" y="0"/>
                  <a:pt x="2736" y="4"/>
                  <a:pt x="2736" y="8"/>
                </a:cubicBezTo>
                <a:cubicBezTo>
                  <a:pt x="2736" y="12"/>
                  <a:pt x="2733" y="16"/>
                  <a:pt x="2728" y="16"/>
                </a:cubicBezTo>
                <a:lnTo>
                  <a:pt x="2728" y="16"/>
                </a:lnTo>
                <a:cubicBezTo>
                  <a:pt x="2724" y="16"/>
                  <a:pt x="2720" y="12"/>
                  <a:pt x="2720" y="8"/>
                </a:cubicBezTo>
                <a:cubicBezTo>
                  <a:pt x="2720" y="4"/>
                  <a:pt x="2724" y="0"/>
                  <a:pt x="2728" y="0"/>
                </a:cubicBezTo>
                <a:close/>
                <a:moveTo>
                  <a:pt x="2808" y="0"/>
                </a:moveTo>
                <a:lnTo>
                  <a:pt x="2808" y="0"/>
                </a:lnTo>
                <a:cubicBezTo>
                  <a:pt x="2813" y="0"/>
                  <a:pt x="2816" y="4"/>
                  <a:pt x="2816" y="8"/>
                </a:cubicBezTo>
                <a:cubicBezTo>
                  <a:pt x="2816" y="12"/>
                  <a:pt x="2813" y="16"/>
                  <a:pt x="2808" y="16"/>
                </a:cubicBezTo>
                <a:lnTo>
                  <a:pt x="2808" y="16"/>
                </a:lnTo>
                <a:cubicBezTo>
                  <a:pt x="2804" y="16"/>
                  <a:pt x="2800" y="12"/>
                  <a:pt x="2800" y="8"/>
                </a:cubicBezTo>
                <a:cubicBezTo>
                  <a:pt x="2800" y="4"/>
                  <a:pt x="2804" y="0"/>
                  <a:pt x="2808" y="0"/>
                </a:cubicBezTo>
                <a:close/>
                <a:moveTo>
                  <a:pt x="2888" y="0"/>
                </a:moveTo>
                <a:lnTo>
                  <a:pt x="2888" y="0"/>
                </a:lnTo>
                <a:cubicBezTo>
                  <a:pt x="2893" y="0"/>
                  <a:pt x="2896" y="4"/>
                  <a:pt x="2896" y="8"/>
                </a:cubicBezTo>
                <a:cubicBezTo>
                  <a:pt x="2896" y="12"/>
                  <a:pt x="2893" y="16"/>
                  <a:pt x="2888" y="16"/>
                </a:cubicBezTo>
                <a:lnTo>
                  <a:pt x="2888" y="16"/>
                </a:lnTo>
                <a:cubicBezTo>
                  <a:pt x="2884" y="16"/>
                  <a:pt x="2880" y="12"/>
                  <a:pt x="2880" y="8"/>
                </a:cubicBezTo>
                <a:cubicBezTo>
                  <a:pt x="2880" y="4"/>
                  <a:pt x="2884" y="0"/>
                  <a:pt x="2888" y="0"/>
                </a:cubicBezTo>
                <a:close/>
                <a:moveTo>
                  <a:pt x="2968" y="0"/>
                </a:moveTo>
                <a:lnTo>
                  <a:pt x="2968" y="0"/>
                </a:lnTo>
                <a:cubicBezTo>
                  <a:pt x="2973" y="0"/>
                  <a:pt x="2976" y="4"/>
                  <a:pt x="2976" y="8"/>
                </a:cubicBezTo>
                <a:cubicBezTo>
                  <a:pt x="2976" y="12"/>
                  <a:pt x="2973" y="16"/>
                  <a:pt x="2968" y="16"/>
                </a:cubicBezTo>
                <a:lnTo>
                  <a:pt x="2968" y="16"/>
                </a:lnTo>
                <a:cubicBezTo>
                  <a:pt x="2964" y="16"/>
                  <a:pt x="2960" y="12"/>
                  <a:pt x="2960" y="8"/>
                </a:cubicBezTo>
                <a:cubicBezTo>
                  <a:pt x="2960" y="4"/>
                  <a:pt x="2964" y="0"/>
                  <a:pt x="2968" y="0"/>
                </a:cubicBezTo>
                <a:close/>
                <a:moveTo>
                  <a:pt x="3048" y="0"/>
                </a:moveTo>
                <a:lnTo>
                  <a:pt x="3048" y="0"/>
                </a:lnTo>
                <a:cubicBezTo>
                  <a:pt x="3053" y="0"/>
                  <a:pt x="3056" y="4"/>
                  <a:pt x="3056" y="8"/>
                </a:cubicBezTo>
                <a:cubicBezTo>
                  <a:pt x="3056" y="12"/>
                  <a:pt x="3053" y="16"/>
                  <a:pt x="3048" y="16"/>
                </a:cubicBezTo>
                <a:lnTo>
                  <a:pt x="3048" y="16"/>
                </a:lnTo>
                <a:cubicBezTo>
                  <a:pt x="3044" y="16"/>
                  <a:pt x="3040" y="12"/>
                  <a:pt x="3040" y="8"/>
                </a:cubicBezTo>
                <a:cubicBezTo>
                  <a:pt x="3040" y="4"/>
                  <a:pt x="3044" y="0"/>
                  <a:pt x="3048" y="0"/>
                </a:cubicBezTo>
                <a:close/>
                <a:moveTo>
                  <a:pt x="3128" y="0"/>
                </a:moveTo>
                <a:lnTo>
                  <a:pt x="3128" y="0"/>
                </a:lnTo>
                <a:cubicBezTo>
                  <a:pt x="3133" y="0"/>
                  <a:pt x="3136" y="4"/>
                  <a:pt x="3136" y="8"/>
                </a:cubicBezTo>
                <a:cubicBezTo>
                  <a:pt x="3136" y="12"/>
                  <a:pt x="3133" y="16"/>
                  <a:pt x="3128" y="16"/>
                </a:cubicBezTo>
                <a:lnTo>
                  <a:pt x="3128" y="16"/>
                </a:lnTo>
                <a:cubicBezTo>
                  <a:pt x="3124" y="16"/>
                  <a:pt x="3120" y="12"/>
                  <a:pt x="3120" y="8"/>
                </a:cubicBezTo>
                <a:cubicBezTo>
                  <a:pt x="3120" y="4"/>
                  <a:pt x="3124" y="0"/>
                  <a:pt x="3128" y="0"/>
                </a:cubicBezTo>
                <a:close/>
                <a:moveTo>
                  <a:pt x="3208" y="0"/>
                </a:moveTo>
                <a:lnTo>
                  <a:pt x="3208" y="0"/>
                </a:lnTo>
                <a:cubicBezTo>
                  <a:pt x="3213" y="0"/>
                  <a:pt x="3216" y="4"/>
                  <a:pt x="3216" y="8"/>
                </a:cubicBezTo>
                <a:cubicBezTo>
                  <a:pt x="3216" y="12"/>
                  <a:pt x="3213" y="16"/>
                  <a:pt x="3208" y="16"/>
                </a:cubicBezTo>
                <a:lnTo>
                  <a:pt x="3208" y="16"/>
                </a:lnTo>
                <a:cubicBezTo>
                  <a:pt x="3204" y="16"/>
                  <a:pt x="3200" y="12"/>
                  <a:pt x="3200" y="8"/>
                </a:cubicBezTo>
                <a:cubicBezTo>
                  <a:pt x="3200" y="4"/>
                  <a:pt x="3204" y="0"/>
                  <a:pt x="3208" y="0"/>
                </a:cubicBezTo>
                <a:close/>
                <a:moveTo>
                  <a:pt x="3288" y="0"/>
                </a:moveTo>
                <a:lnTo>
                  <a:pt x="3288" y="0"/>
                </a:lnTo>
                <a:cubicBezTo>
                  <a:pt x="3293" y="0"/>
                  <a:pt x="3296" y="4"/>
                  <a:pt x="3296" y="8"/>
                </a:cubicBezTo>
                <a:cubicBezTo>
                  <a:pt x="3296" y="12"/>
                  <a:pt x="3293" y="16"/>
                  <a:pt x="3288" y="16"/>
                </a:cubicBezTo>
                <a:lnTo>
                  <a:pt x="3288" y="16"/>
                </a:lnTo>
                <a:cubicBezTo>
                  <a:pt x="3284" y="16"/>
                  <a:pt x="3280" y="12"/>
                  <a:pt x="3280" y="8"/>
                </a:cubicBezTo>
                <a:cubicBezTo>
                  <a:pt x="3280" y="4"/>
                  <a:pt x="3284" y="0"/>
                  <a:pt x="3288" y="0"/>
                </a:cubicBezTo>
                <a:close/>
                <a:moveTo>
                  <a:pt x="3368" y="0"/>
                </a:moveTo>
                <a:lnTo>
                  <a:pt x="3368" y="0"/>
                </a:lnTo>
                <a:cubicBezTo>
                  <a:pt x="3373" y="0"/>
                  <a:pt x="3376" y="4"/>
                  <a:pt x="3376" y="8"/>
                </a:cubicBezTo>
                <a:cubicBezTo>
                  <a:pt x="3376" y="12"/>
                  <a:pt x="3373" y="16"/>
                  <a:pt x="3368" y="16"/>
                </a:cubicBezTo>
                <a:lnTo>
                  <a:pt x="3368" y="16"/>
                </a:lnTo>
                <a:cubicBezTo>
                  <a:pt x="3364" y="16"/>
                  <a:pt x="3360" y="12"/>
                  <a:pt x="3360" y="8"/>
                </a:cubicBezTo>
                <a:cubicBezTo>
                  <a:pt x="3360" y="4"/>
                  <a:pt x="3364" y="0"/>
                  <a:pt x="3368" y="0"/>
                </a:cubicBezTo>
                <a:close/>
                <a:moveTo>
                  <a:pt x="3448" y="0"/>
                </a:moveTo>
                <a:lnTo>
                  <a:pt x="3448" y="0"/>
                </a:lnTo>
                <a:cubicBezTo>
                  <a:pt x="3453" y="0"/>
                  <a:pt x="3456" y="4"/>
                  <a:pt x="3456" y="8"/>
                </a:cubicBezTo>
                <a:cubicBezTo>
                  <a:pt x="3456" y="12"/>
                  <a:pt x="3453" y="16"/>
                  <a:pt x="3448" y="16"/>
                </a:cubicBezTo>
                <a:lnTo>
                  <a:pt x="3448" y="16"/>
                </a:lnTo>
                <a:cubicBezTo>
                  <a:pt x="3444" y="16"/>
                  <a:pt x="3440" y="12"/>
                  <a:pt x="3440" y="8"/>
                </a:cubicBezTo>
                <a:cubicBezTo>
                  <a:pt x="3440" y="4"/>
                  <a:pt x="3444" y="0"/>
                  <a:pt x="3448" y="0"/>
                </a:cubicBezTo>
                <a:close/>
                <a:moveTo>
                  <a:pt x="3528" y="0"/>
                </a:moveTo>
                <a:lnTo>
                  <a:pt x="3529" y="0"/>
                </a:lnTo>
                <a:cubicBezTo>
                  <a:pt x="3533" y="0"/>
                  <a:pt x="3537" y="4"/>
                  <a:pt x="3537" y="8"/>
                </a:cubicBezTo>
                <a:cubicBezTo>
                  <a:pt x="3537" y="12"/>
                  <a:pt x="3533" y="16"/>
                  <a:pt x="3529" y="16"/>
                </a:cubicBezTo>
                <a:lnTo>
                  <a:pt x="3528" y="16"/>
                </a:lnTo>
                <a:cubicBezTo>
                  <a:pt x="3524" y="16"/>
                  <a:pt x="3520" y="12"/>
                  <a:pt x="3520" y="8"/>
                </a:cubicBezTo>
                <a:cubicBezTo>
                  <a:pt x="3520" y="4"/>
                  <a:pt x="3524" y="0"/>
                  <a:pt x="3528" y="0"/>
                </a:cubicBezTo>
                <a:close/>
                <a:moveTo>
                  <a:pt x="3609" y="0"/>
                </a:moveTo>
                <a:lnTo>
                  <a:pt x="3609" y="0"/>
                </a:lnTo>
                <a:cubicBezTo>
                  <a:pt x="3613" y="0"/>
                  <a:pt x="3617" y="4"/>
                  <a:pt x="3617" y="8"/>
                </a:cubicBezTo>
                <a:cubicBezTo>
                  <a:pt x="3617" y="12"/>
                  <a:pt x="3613" y="16"/>
                  <a:pt x="3609" y="16"/>
                </a:cubicBezTo>
                <a:lnTo>
                  <a:pt x="3609" y="16"/>
                </a:lnTo>
                <a:cubicBezTo>
                  <a:pt x="3604" y="16"/>
                  <a:pt x="3601" y="12"/>
                  <a:pt x="3601" y="8"/>
                </a:cubicBezTo>
                <a:cubicBezTo>
                  <a:pt x="3601" y="4"/>
                  <a:pt x="3604" y="0"/>
                  <a:pt x="3609" y="0"/>
                </a:cubicBezTo>
                <a:close/>
                <a:moveTo>
                  <a:pt x="3689" y="0"/>
                </a:moveTo>
                <a:lnTo>
                  <a:pt x="3689" y="0"/>
                </a:lnTo>
                <a:cubicBezTo>
                  <a:pt x="3693" y="0"/>
                  <a:pt x="3697" y="4"/>
                  <a:pt x="3697" y="8"/>
                </a:cubicBezTo>
                <a:cubicBezTo>
                  <a:pt x="3697" y="12"/>
                  <a:pt x="3693" y="16"/>
                  <a:pt x="3689" y="16"/>
                </a:cubicBezTo>
                <a:lnTo>
                  <a:pt x="3689" y="16"/>
                </a:lnTo>
                <a:cubicBezTo>
                  <a:pt x="3684" y="16"/>
                  <a:pt x="3681" y="12"/>
                  <a:pt x="3681" y="8"/>
                </a:cubicBezTo>
                <a:cubicBezTo>
                  <a:pt x="3681" y="4"/>
                  <a:pt x="3684" y="0"/>
                  <a:pt x="3689" y="0"/>
                </a:cubicBezTo>
                <a:close/>
                <a:moveTo>
                  <a:pt x="3769" y="0"/>
                </a:moveTo>
                <a:lnTo>
                  <a:pt x="3769" y="0"/>
                </a:lnTo>
                <a:cubicBezTo>
                  <a:pt x="3773" y="0"/>
                  <a:pt x="3777" y="4"/>
                  <a:pt x="3777" y="8"/>
                </a:cubicBezTo>
                <a:cubicBezTo>
                  <a:pt x="3777" y="12"/>
                  <a:pt x="3773" y="16"/>
                  <a:pt x="3769" y="16"/>
                </a:cubicBezTo>
                <a:lnTo>
                  <a:pt x="3769" y="16"/>
                </a:lnTo>
                <a:cubicBezTo>
                  <a:pt x="3764" y="16"/>
                  <a:pt x="3761" y="12"/>
                  <a:pt x="3761" y="8"/>
                </a:cubicBezTo>
                <a:cubicBezTo>
                  <a:pt x="3761" y="4"/>
                  <a:pt x="3764" y="0"/>
                  <a:pt x="3769" y="0"/>
                </a:cubicBezTo>
                <a:close/>
                <a:moveTo>
                  <a:pt x="3849" y="0"/>
                </a:moveTo>
                <a:lnTo>
                  <a:pt x="3849" y="0"/>
                </a:lnTo>
                <a:cubicBezTo>
                  <a:pt x="3853" y="0"/>
                  <a:pt x="3857" y="4"/>
                  <a:pt x="3857" y="8"/>
                </a:cubicBezTo>
                <a:cubicBezTo>
                  <a:pt x="3857" y="12"/>
                  <a:pt x="3853" y="16"/>
                  <a:pt x="3849" y="16"/>
                </a:cubicBezTo>
                <a:lnTo>
                  <a:pt x="3849" y="16"/>
                </a:lnTo>
                <a:cubicBezTo>
                  <a:pt x="3844" y="16"/>
                  <a:pt x="3841" y="12"/>
                  <a:pt x="3841" y="8"/>
                </a:cubicBezTo>
                <a:cubicBezTo>
                  <a:pt x="3841" y="4"/>
                  <a:pt x="3844" y="0"/>
                  <a:pt x="3849" y="0"/>
                </a:cubicBezTo>
                <a:close/>
                <a:moveTo>
                  <a:pt x="3929" y="0"/>
                </a:moveTo>
                <a:lnTo>
                  <a:pt x="3929" y="0"/>
                </a:lnTo>
                <a:cubicBezTo>
                  <a:pt x="3933" y="0"/>
                  <a:pt x="3937" y="4"/>
                  <a:pt x="3937" y="8"/>
                </a:cubicBezTo>
                <a:cubicBezTo>
                  <a:pt x="3937" y="12"/>
                  <a:pt x="3933" y="16"/>
                  <a:pt x="3929" y="16"/>
                </a:cubicBezTo>
                <a:lnTo>
                  <a:pt x="3929" y="16"/>
                </a:lnTo>
                <a:cubicBezTo>
                  <a:pt x="3924" y="16"/>
                  <a:pt x="3921" y="12"/>
                  <a:pt x="3921" y="8"/>
                </a:cubicBezTo>
                <a:cubicBezTo>
                  <a:pt x="3921" y="4"/>
                  <a:pt x="3924" y="0"/>
                  <a:pt x="3929" y="0"/>
                </a:cubicBezTo>
                <a:close/>
                <a:moveTo>
                  <a:pt x="4009" y="0"/>
                </a:moveTo>
                <a:lnTo>
                  <a:pt x="4009" y="0"/>
                </a:lnTo>
                <a:cubicBezTo>
                  <a:pt x="4013" y="0"/>
                  <a:pt x="4017" y="4"/>
                  <a:pt x="4017" y="8"/>
                </a:cubicBezTo>
                <a:cubicBezTo>
                  <a:pt x="4017" y="12"/>
                  <a:pt x="4013" y="16"/>
                  <a:pt x="4009" y="16"/>
                </a:cubicBezTo>
                <a:lnTo>
                  <a:pt x="4009" y="16"/>
                </a:lnTo>
                <a:cubicBezTo>
                  <a:pt x="4004" y="16"/>
                  <a:pt x="4001" y="12"/>
                  <a:pt x="4001" y="8"/>
                </a:cubicBezTo>
                <a:cubicBezTo>
                  <a:pt x="4001" y="4"/>
                  <a:pt x="4004" y="0"/>
                  <a:pt x="4009" y="0"/>
                </a:cubicBezTo>
                <a:close/>
                <a:moveTo>
                  <a:pt x="4089" y="0"/>
                </a:moveTo>
                <a:lnTo>
                  <a:pt x="4089" y="0"/>
                </a:lnTo>
                <a:cubicBezTo>
                  <a:pt x="4093" y="0"/>
                  <a:pt x="4097" y="4"/>
                  <a:pt x="4097" y="8"/>
                </a:cubicBezTo>
                <a:cubicBezTo>
                  <a:pt x="4097" y="12"/>
                  <a:pt x="4093" y="16"/>
                  <a:pt x="4089" y="16"/>
                </a:cubicBezTo>
                <a:lnTo>
                  <a:pt x="4089" y="16"/>
                </a:lnTo>
                <a:cubicBezTo>
                  <a:pt x="4084" y="16"/>
                  <a:pt x="4081" y="12"/>
                  <a:pt x="4081" y="8"/>
                </a:cubicBezTo>
                <a:cubicBezTo>
                  <a:pt x="4081" y="4"/>
                  <a:pt x="4084" y="0"/>
                  <a:pt x="4089" y="0"/>
                </a:cubicBezTo>
                <a:close/>
                <a:moveTo>
                  <a:pt x="4169" y="0"/>
                </a:moveTo>
                <a:lnTo>
                  <a:pt x="4169" y="0"/>
                </a:lnTo>
                <a:cubicBezTo>
                  <a:pt x="4173" y="0"/>
                  <a:pt x="4177" y="4"/>
                  <a:pt x="4177" y="8"/>
                </a:cubicBezTo>
                <a:cubicBezTo>
                  <a:pt x="4177" y="12"/>
                  <a:pt x="4173" y="16"/>
                  <a:pt x="4169" y="16"/>
                </a:cubicBezTo>
                <a:lnTo>
                  <a:pt x="4169" y="16"/>
                </a:lnTo>
                <a:cubicBezTo>
                  <a:pt x="4164" y="16"/>
                  <a:pt x="4161" y="12"/>
                  <a:pt x="4161" y="8"/>
                </a:cubicBezTo>
                <a:cubicBezTo>
                  <a:pt x="4161" y="4"/>
                  <a:pt x="4164" y="0"/>
                  <a:pt x="4169" y="0"/>
                </a:cubicBezTo>
                <a:close/>
                <a:moveTo>
                  <a:pt x="4249" y="0"/>
                </a:moveTo>
                <a:lnTo>
                  <a:pt x="4249" y="0"/>
                </a:lnTo>
                <a:cubicBezTo>
                  <a:pt x="4253" y="0"/>
                  <a:pt x="4257" y="4"/>
                  <a:pt x="4257" y="8"/>
                </a:cubicBezTo>
                <a:cubicBezTo>
                  <a:pt x="4257" y="12"/>
                  <a:pt x="4253" y="16"/>
                  <a:pt x="4249" y="16"/>
                </a:cubicBezTo>
                <a:lnTo>
                  <a:pt x="4249" y="16"/>
                </a:lnTo>
                <a:cubicBezTo>
                  <a:pt x="4244" y="16"/>
                  <a:pt x="4241" y="12"/>
                  <a:pt x="4241" y="8"/>
                </a:cubicBezTo>
                <a:cubicBezTo>
                  <a:pt x="4241" y="4"/>
                  <a:pt x="4244" y="0"/>
                  <a:pt x="4249" y="0"/>
                </a:cubicBezTo>
                <a:close/>
                <a:moveTo>
                  <a:pt x="4329" y="0"/>
                </a:moveTo>
                <a:lnTo>
                  <a:pt x="4329" y="0"/>
                </a:lnTo>
                <a:cubicBezTo>
                  <a:pt x="4333" y="0"/>
                  <a:pt x="4337" y="4"/>
                  <a:pt x="4337" y="8"/>
                </a:cubicBezTo>
                <a:cubicBezTo>
                  <a:pt x="4337" y="12"/>
                  <a:pt x="4333" y="16"/>
                  <a:pt x="4329" y="16"/>
                </a:cubicBezTo>
                <a:lnTo>
                  <a:pt x="4329" y="16"/>
                </a:lnTo>
                <a:cubicBezTo>
                  <a:pt x="4324" y="16"/>
                  <a:pt x="4321" y="12"/>
                  <a:pt x="4321" y="8"/>
                </a:cubicBezTo>
                <a:cubicBezTo>
                  <a:pt x="4321" y="4"/>
                  <a:pt x="4324" y="0"/>
                  <a:pt x="4329" y="0"/>
                </a:cubicBezTo>
                <a:close/>
                <a:moveTo>
                  <a:pt x="4409" y="0"/>
                </a:moveTo>
                <a:lnTo>
                  <a:pt x="4409" y="0"/>
                </a:lnTo>
                <a:cubicBezTo>
                  <a:pt x="4413" y="0"/>
                  <a:pt x="4417" y="4"/>
                  <a:pt x="4417" y="8"/>
                </a:cubicBezTo>
                <a:cubicBezTo>
                  <a:pt x="4417" y="12"/>
                  <a:pt x="4413" y="16"/>
                  <a:pt x="4409" y="16"/>
                </a:cubicBezTo>
                <a:lnTo>
                  <a:pt x="4409" y="16"/>
                </a:lnTo>
                <a:cubicBezTo>
                  <a:pt x="4404" y="16"/>
                  <a:pt x="4401" y="12"/>
                  <a:pt x="4401" y="8"/>
                </a:cubicBezTo>
                <a:cubicBezTo>
                  <a:pt x="4401" y="4"/>
                  <a:pt x="4404" y="0"/>
                  <a:pt x="4409" y="0"/>
                </a:cubicBezTo>
                <a:close/>
                <a:moveTo>
                  <a:pt x="4489" y="0"/>
                </a:moveTo>
                <a:lnTo>
                  <a:pt x="4489" y="0"/>
                </a:lnTo>
                <a:cubicBezTo>
                  <a:pt x="4493" y="0"/>
                  <a:pt x="4497" y="4"/>
                  <a:pt x="4497" y="8"/>
                </a:cubicBezTo>
                <a:cubicBezTo>
                  <a:pt x="4497" y="12"/>
                  <a:pt x="4493" y="16"/>
                  <a:pt x="4489" y="16"/>
                </a:cubicBezTo>
                <a:lnTo>
                  <a:pt x="4489" y="16"/>
                </a:lnTo>
                <a:cubicBezTo>
                  <a:pt x="4484" y="16"/>
                  <a:pt x="4481" y="12"/>
                  <a:pt x="4481" y="8"/>
                </a:cubicBezTo>
                <a:cubicBezTo>
                  <a:pt x="4481" y="4"/>
                  <a:pt x="4484" y="0"/>
                  <a:pt x="4489" y="0"/>
                </a:cubicBezTo>
                <a:close/>
                <a:moveTo>
                  <a:pt x="4569" y="0"/>
                </a:moveTo>
                <a:lnTo>
                  <a:pt x="4569" y="0"/>
                </a:lnTo>
                <a:cubicBezTo>
                  <a:pt x="4573" y="0"/>
                  <a:pt x="4577" y="4"/>
                  <a:pt x="4577" y="8"/>
                </a:cubicBezTo>
                <a:cubicBezTo>
                  <a:pt x="4577" y="12"/>
                  <a:pt x="4573" y="16"/>
                  <a:pt x="4569" y="16"/>
                </a:cubicBezTo>
                <a:lnTo>
                  <a:pt x="4569" y="16"/>
                </a:lnTo>
                <a:cubicBezTo>
                  <a:pt x="4564" y="16"/>
                  <a:pt x="4561" y="12"/>
                  <a:pt x="4561" y="8"/>
                </a:cubicBezTo>
                <a:cubicBezTo>
                  <a:pt x="4561" y="4"/>
                  <a:pt x="4564" y="0"/>
                  <a:pt x="4569" y="0"/>
                </a:cubicBezTo>
                <a:close/>
                <a:moveTo>
                  <a:pt x="4649" y="0"/>
                </a:moveTo>
                <a:lnTo>
                  <a:pt x="4649" y="0"/>
                </a:lnTo>
                <a:cubicBezTo>
                  <a:pt x="4653" y="0"/>
                  <a:pt x="4657" y="4"/>
                  <a:pt x="4657" y="8"/>
                </a:cubicBezTo>
                <a:cubicBezTo>
                  <a:pt x="4657" y="12"/>
                  <a:pt x="4653" y="16"/>
                  <a:pt x="4649" y="16"/>
                </a:cubicBezTo>
                <a:lnTo>
                  <a:pt x="4649" y="16"/>
                </a:lnTo>
                <a:cubicBezTo>
                  <a:pt x="4644" y="16"/>
                  <a:pt x="4641" y="12"/>
                  <a:pt x="4641" y="8"/>
                </a:cubicBezTo>
                <a:cubicBezTo>
                  <a:pt x="4641" y="4"/>
                  <a:pt x="4644" y="0"/>
                  <a:pt x="4649" y="0"/>
                </a:cubicBezTo>
                <a:close/>
                <a:moveTo>
                  <a:pt x="4729" y="0"/>
                </a:moveTo>
                <a:lnTo>
                  <a:pt x="4729" y="0"/>
                </a:lnTo>
                <a:cubicBezTo>
                  <a:pt x="4733" y="0"/>
                  <a:pt x="4737" y="4"/>
                  <a:pt x="4737" y="8"/>
                </a:cubicBezTo>
                <a:cubicBezTo>
                  <a:pt x="4737" y="12"/>
                  <a:pt x="4733" y="16"/>
                  <a:pt x="4729" y="16"/>
                </a:cubicBezTo>
                <a:lnTo>
                  <a:pt x="4729" y="16"/>
                </a:lnTo>
                <a:cubicBezTo>
                  <a:pt x="4724" y="16"/>
                  <a:pt x="4721" y="12"/>
                  <a:pt x="4721" y="8"/>
                </a:cubicBezTo>
                <a:cubicBezTo>
                  <a:pt x="4721" y="4"/>
                  <a:pt x="4724" y="0"/>
                  <a:pt x="4729" y="0"/>
                </a:cubicBezTo>
                <a:close/>
                <a:moveTo>
                  <a:pt x="4809" y="0"/>
                </a:moveTo>
                <a:lnTo>
                  <a:pt x="4809" y="0"/>
                </a:lnTo>
                <a:cubicBezTo>
                  <a:pt x="4813" y="0"/>
                  <a:pt x="4817" y="4"/>
                  <a:pt x="4817" y="8"/>
                </a:cubicBezTo>
                <a:cubicBezTo>
                  <a:pt x="4817" y="12"/>
                  <a:pt x="4813" y="16"/>
                  <a:pt x="4809" y="16"/>
                </a:cubicBezTo>
                <a:lnTo>
                  <a:pt x="4809" y="16"/>
                </a:lnTo>
                <a:cubicBezTo>
                  <a:pt x="4804" y="16"/>
                  <a:pt x="4801" y="12"/>
                  <a:pt x="4801" y="8"/>
                </a:cubicBezTo>
                <a:cubicBezTo>
                  <a:pt x="4801" y="4"/>
                  <a:pt x="4804" y="0"/>
                  <a:pt x="4809" y="0"/>
                </a:cubicBezTo>
                <a:close/>
                <a:moveTo>
                  <a:pt x="4889" y="0"/>
                </a:moveTo>
                <a:lnTo>
                  <a:pt x="4889" y="0"/>
                </a:lnTo>
                <a:cubicBezTo>
                  <a:pt x="4893" y="0"/>
                  <a:pt x="4897" y="4"/>
                  <a:pt x="4897" y="8"/>
                </a:cubicBezTo>
                <a:cubicBezTo>
                  <a:pt x="4897" y="12"/>
                  <a:pt x="4893" y="16"/>
                  <a:pt x="4889" y="16"/>
                </a:cubicBezTo>
                <a:lnTo>
                  <a:pt x="4889" y="16"/>
                </a:lnTo>
                <a:cubicBezTo>
                  <a:pt x="4884" y="16"/>
                  <a:pt x="4881" y="12"/>
                  <a:pt x="4881" y="8"/>
                </a:cubicBezTo>
                <a:cubicBezTo>
                  <a:pt x="4881" y="4"/>
                  <a:pt x="4884" y="0"/>
                  <a:pt x="4889" y="0"/>
                </a:cubicBezTo>
                <a:close/>
                <a:moveTo>
                  <a:pt x="4969" y="0"/>
                </a:moveTo>
                <a:lnTo>
                  <a:pt x="4969" y="0"/>
                </a:lnTo>
                <a:cubicBezTo>
                  <a:pt x="4973" y="0"/>
                  <a:pt x="4977" y="4"/>
                  <a:pt x="4977" y="8"/>
                </a:cubicBezTo>
                <a:cubicBezTo>
                  <a:pt x="4977" y="12"/>
                  <a:pt x="4973" y="16"/>
                  <a:pt x="4969" y="16"/>
                </a:cubicBezTo>
                <a:lnTo>
                  <a:pt x="4969" y="16"/>
                </a:lnTo>
                <a:cubicBezTo>
                  <a:pt x="4964" y="16"/>
                  <a:pt x="4961" y="12"/>
                  <a:pt x="4961" y="8"/>
                </a:cubicBezTo>
                <a:cubicBezTo>
                  <a:pt x="4961" y="4"/>
                  <a:pt x="4964" y="0"/>
                  <a:pt x="4969" y="0"/>
                </a:cubicBezTo>
                <a:close/>
                <a:moveTo>
                  <a:pt x="5049" y="0"/>
                </a:moveTo>
                <a:lnTo>
                  <a:pt x="5049" y="0"/>
                </a:lnTo>
                <a:cubicBezTo>
                  <a:pt x="5053" y="0"/>
                  <a:pt x="5057" y="4"/>
                  <a:pt x="5057" y="8"/>
                </a:cubicBezTo>
                <a:cubicBezTo>
                  <a:pt x="5057" y="12"/>
                  <a:pt x="5053" y="16"/>
                  <a:pt x="5049" y="16"/>
                </a:cubicBezTo>
                <a:lnTo>
                  <a:pt x="5049" y="16"/>
                </a:lnTo>
                <a:cubicBezTo>
                  <a:pt x="5044" y="16"/>
                  <a:pt x="5041" y="12"/>
                  <a:pt x="5041" y="8"/>
                </a:cubicBezTo>
                <a:cubicBezTo>
                  <a:pt x="5041" y="4"/>
                  <a:pt x="5044" y="0"/>
                  <a:pt x="5049" y="0"/>
                </a:cubicBezTo>
                <a:close/>
                <a:moveTo>
                  <a:pt x="5129" y="0"/>
                </a:moveTo>
                <a:lnTo>
                  <a:pt x="5129" y="0"/>
                </a:lnTo>
                <a:cubicBezTo>
                  <a:pt x="5133" y="0"/>
                  <a:pt x="5137" y="4"/>
                  <a:pt x="5137" y="8"/>
                </a:cubicBezTo>
                <a:cubicBezTo>
                  <a:pt x="5137" y="12"/>
                  <a:pt x="5133" y="16"/>
                  <a:pt x="5129" y="16"/>
                </a:cubicBezTo>
                <a:lnTo>
                  <a:pt x="5129" y="16"/>
                </a:lnTo>
                <a:cubicBezTo>
                  <a:pt x="5124" y="16"/>
                  <a:pt x="5121" y="12"/>
                  <a:pt x="5121" y="8"/>
                </a:cubicBezTo>
                <a:cubicBezTo>
                  <a:pt x="5121" y="4"/>
                  <a:pt x="5124" y="0"/>
                  <a:pt x="5129" y="0"/>
                </a:cubicBezTo>
                <a:close/>
                <a:moveTo>
                  <a:pt x="5209" y="0"/>
                </a:moveTo>
                <a:lnTo>
                  <a:pt x="5209" y="0"/>
                </a:lnTo>
                <a:cubicBezTo>
                  <a:pt x="5213" y="0"/>
                  <a:pt x="5217" y="4"/>
                  <a:pt x="5217" y="8"/>
                </a:cubicBezTo>
                <a:cubicBezTo>
                  <a:pt x="5217" y="12"/>
                  <a:pt x="5213" y="16"/>
                  <a:pt x="5209" y="16"/>
                </a:cubicBezTo>
                <a:lnTo>
                  <a:pt x="5209" y="16"/>
                </a:lnTo>
                <a:cubicBezTo>
                  <a:pt x="5204" y="16"/>
                  <a:pt x="5201" y="12"/>
                  <a:pt x="5201" y="8"/>
                </a:cubicBezTo>
                <a:cubicBezTo>
                  <a:pt x="5201" y="4"/>
                  <a:pt x="5204" y="0"/>
                  <a:pt x="5209" y="0"/>
                </a:cubicBezTo>
                <a:close/>
                <a:moveTo>
                  <a:pt x="5289" y="0"/>
                </a:moveTo>
                <a:lnTo>
                  <a:pt x="5289" y="0"/>
                </a:lnTo>
                <a:cubicBezTo>
                  <a:pt x="5293" y="0"/>
                  <a:pt x="5297" y="4"/>
                  <a:pt x="5297" y="8"/>
                </a:cubicBezTo>
                <a:cubicBezTo>
                  <a:pt x="5297" y="12"/>
                  <a:pt x="5293" y="16"/>
                  <a:pt x="5289" y="16"/>
                </a:cubicBezTo>
                <a:lnTo>
                  <a:pt x="5289" y="16"/>
                </a:lnTo>
                <a:cubicBezTo>
                  <a:pt x="5284" y="16"/>
                  <a:pt x="5281" y="12"/>
                  <a:pt x="5281" y="8"/>
                </a:cubicBezTo>
                <a:cubicBezTo>
                  <a:pt x="5281" y="4"/>
                  <a:pt x="5284" y="0"/>
                  <a:pt x="5289" y="0"/>
                </a:cubicBezTo>
                <a:close/>
                <a:moveTo>
                  <a:pt x="5369" y="0"/>
                </a:moveTo>
                <a:lnTo>
                  <a:pt x="5369" y="0"/>
                </a:lnTo>
                <a:cubicBezTo>
                  <a:pt x="5373" y="0"/>
                  <a:pt x="5377" y="4"/>
                  <a:pt x="5377" y="8"/>
                </a:cubicBezTo>
                <a:cubicBezTo>
                  <a:pt x="5377" y="12"/>
                  <a:pt x="5373" y="16"/>
                  <a:pt x="5369" y="16"/>
                </a:cubicBezTo>
                <a:lnTo>
                  <a:pt x="5369" y="16"/>
                </a:lnTo>
                <a:cubicBezTo>
                  <a:pt x="5364" y="16"/>
                  <a:pt x="5361" y="12"/>
                  <a:pt x="5361" y="8"/>
                </a:cubicBezTo>
                <a:cubicBezTo>
                  <a:pt x="5361" y="4"/>
                  <a:pt x="5364" y="0"/>
                  <a:pt x="5369" y="0"/>
                </a:cubicBezTo>
                <a:close/>
                <a:moveTo>
                  <a:pt x="5449" y="0"/>
                </a:moveTo>
                <a:lnTo>
                  <a:pt x="5449" y="0"/>
                </a:lnTo>
                <a:cubicBezTo>
                  <a:pt x="5453" y="0"/>
                  <a:pt x="5457" y="4"/>
                  <a:pt x="5457" y="8"/>
                </a:cubicBezTo>
                <a:cubicBezTo>
                  <a:pt x="5457" y="12"/>
                  <a:pt x="5453" y="16"/>
                  <a:pt x="5449" y="16"/>
                </a:cubicBezTo>
                <a:lnTo>
                  <a:pt x="5449" y="16"/>
                </a:lnTo>
                <a:cubicBezTo>
                  <a:pt x="5444" y="16"/>
                  <a:pt x="5441" y="12"/>
                  <a:pt x="5441" y="8"/>
                </a:cubicBezTo>
                <a:cubicBezTo>
                  <a:pt x="5441" y="4"/>
                  <a:pt x="5444" y="0"/>
                  <a:pt x="5449" y="0"/>
                </a:cubicBezTo>
                <a:close/>
                <a:moveTo>
                  <a:pt x="5529" y="0"/>
                </a:moveTo>
                <a:lnTo>
                  <a:pt x="5529" y="0"/>
                </a:lnTo>
                <a:cubicBezTo>
                  <a:pt x="5533" y="0"/>
                  <a:pt x="5537" y="4"/>
                  <a:pt x="5537" y="8"/>
                </a:cubicBezTo>
                <a:cubicBezTo>
                  <a:pt x="5537" y="12"/>
                  <a:pt x="5533" y="16"/>
                  <a:pt x="5529" y="16"/>
                </a:cubicBezTo>
                <a:lnTo>
                  <a:pt x="5529" y="16"/>
                </a:lnTo>
                <a:cubicBezTo>
                  <a:pt x="5524" y="16"/>
                  <a:pt x="5521" y="12"/>
                  <a:pt x="5521" y="8"/>
                </a:cubicBezTo>
                <a:cubicBezTo>
                  <a:pt x="5521" y="4"/>
                  <a:pt x="5524" y="0"/>
                  <a:pt x="5529" y="0"/>
                </a:cubicBezTo>
                <a:close/>
              </a:path>
            </a:pathLst>
          </a:custGeom>
          <a:solidFill>
            <a:srgbClr val="000000"/>
          </a:solidFill>
          <a:ln w="22225" cap="flat">
            <a:solidFill>
              <a:srgbClr val="000000"/>
            </a:solidFill>
            <a:prstDash val="solid"/>
            <a:bevel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20" name="Freeform 12"/>
          <p:cNvSpPr>
            <a:spLocks/>
          </p:cNvSpPr>
          <p:nvPr/>
        </p:nvSpPr>
        <p:spPr bwMode="auto">
          <a:xfrm>
            <a:off x="2701925" y="3675064"/>
            <a:ext cx="7488238" cy="20637"/>
          </a:xfrm>
          <a:custGeom>
            <a:avLst/>
            <a:gdLst>
              <a:gd name="T0" fmla="*/ 88 w 5537"/>
              <a:gd name="T1" fmla="*/ 0 h 16"/>
              <a:gd name="T2" fmla="*/ 168 w 5537"/>
              <a:gd name="T3" fmla="*/ 0 h 16"/>
              <a:gd name="T4" fmla="*/ 256 w 5537"/>
              <a:gd name="T5" fmla="*/ 8 h 16"/>
              <a:gd name="T6" fmla="*/ 328 w 5537"/>
              <a:gd name="T7" fmla="*/ 16 h 16"/>
              <a:gd name="T8" fmla="*/ 408 w 5537"/>
              <a:gd name="T9" fmla="*/ 16 h 16"/>
              <a:gd name="T10" fmla="*/ 480 w 5537"/>
              <a:gd name="T11" fmla="*/ 8 h 16"/>
              <a:gd name="T12" fmla="*/ 568 w 5537"/>
              <a:gd name="T13" fmla="*/ 0 h 16"/>
              <a:gd name="T14" fmla="*/ 728 w 5537"/>
              <a:gd name="T15" fmla="*/ 0 h 16"/>
              <a:gd name="T16" fmla="*/ 808 w 5537"/>
              <a:gd name="T17" fmla="*/ 0 h 16"/>
              <a:gd name="T18" fmla="*/ 896 w 5537"/>
              <a:gd name="T19" fmla="*/ 8 h 16"/>
              <a:gd name="T20" fmla="*/ 968 w 5537"/>
              <a:gd name="T21" fmla="*/ 16 h 16"/>
              <a:gd name="T22" fmla="*/ 1048 w 5537"/>
              <a:gd name="T23" fmla="*/ 16 h 16"/>
              <a:gd name="T24" fmla="*/ 1120 w 5537"/>
              <a:gd name="T25" fmla="*/ 8 h 16"/>
              <a:gd name="T26" fmla="*/ 1208 w 5537"/>
              <a:gd name="T27" fmla="*/ 0 h 16"/>
              <a:gd name="T28" fmla="*/ 1368 w 5537"/>
              <a:gd name="T29" fmla="*/ 0 h 16"/>
              <a:gd name="T30" fmla="*/ 1448 w 5537"/>
              <a:gd name="T31" fmla="*/ 0 h 16"/>
              <a:gd name="T32" fmla="*/ 1536 w 5537"/>
              <a:gd name="T33" fmla="*/ 8 h 16"/>
              <a:gd name="T34" fmla="*/ 1608 w 5537"/>
              <a:gd name="T35" fmla="*/ 16 h 16"/>
              <a:gd name="T36" fmla="*/ 1688 w 5537"/>
              <a:gd name="T37" fmla="*/ 16 h 16"/>
              <a:gd name="T38" fmla="*/ 1760 w 5537"/>
              <a:gd name="T39" fmla="*/ 8 h 16"/>
              <a:gd name="T40" fmla="*/ 1848 w 5537"/>
              <a:gd name="T41" fmla="*/ 0 h 16"/>
              <a:gd name="T42" fmla="*/ 2008 w 5537"/>
              <a:gd name="T43" fmla="*/ 0 h 16"/>
              <a:gd name="T44" fmla="*/ 2088 w 5537"/>
              <a:gd name="T45" fmla="*/ 0 h 16"/>
              <a:gd name="T46" fmla="*/ 2176 w 5537"/>
              <a:gd name="T47" fmla="*/ 8 h 16"/>
              <a:gd name="T48" fmla="*/ 2248 w 5537"/>
              <a:gd name="T49" fmla="*/ 16 h 16"/>
              <a:gd name="T50" fmla="*/ 2328 w 5537"/>
              <a:gd name="T51" fmla="*/ 16 h 16"/>
              <a:gd name="T52" fmla="*/ 2400 w 5537"/>
              <a:gd name="T53" fmla="*/ 8 h 16"/>
              <a:gd name="T54" fmla="*/ 2488 w 5537"/>
              <a:gd name="T55" fmla="*/ 0 h 16"/>
              <a:gd name="T56" fmla="*/ 2648 w 5537"/>
              <a:gd name="T57" fmla="*/ 0 h 16"/>
              <a:gd name="T58" fmla="*/ 2728 w 5537"/>
              <a:gd name="T59" fmla="*/ 0 h 16"/>
              <a:gd name="T60" fmla="*/ 2816 w 5537"/>
              <a:gd name="T61" fmla="*/ 8 h 16"/>
              <a:gd name="T62" fmla="*/ 2888 w 5537"/>
              <a:gd name="T63" fmla="*/ 16 h 16"/>
              <a:gd name="T64" fmla="*/ 2968 w 5537"/>
              <a:gd name="T65" fmla="*/ 16 h 16"/>
              <a:gd name="T66" fmla="*/ 3040 w 5537"/>
              <a:gd name="T67" fmla="*/ 8 h 16"/>
              <a:gd name="T68" fmla="*/ 3128 w 5537"/>
              <a:gd name="T69" fmla="*/ 0 h 16"/>
              <a:gd name="T70" fmla="*/ 3288 w 5537"/>
              <a:gd name="T71" fmla="*/ 0 h 16"/>
              <a:gd name="T72" fmla="*/ 3368 w 5537"/>
              <a:gd name="T73" fmla="*/ 0 h 16"/>
              <a:gd name="T74" fmla="*/ 3456 w 5537"/>
              <a:gd name="T75" fmla="*/ 8 h 16"/>
              <a:gd name="T76" fmla="*/ 3529 w 5537"/>
              <a:gd name="T77" fmla="*/ 16 h 16"/>
              <a:gd name="T78" fmla="*/ 3609 w 5537"/>
              <a:gd name="T79" fmla="*/ 16 h 16"/>
              <a:gd name="T80" fmla="*/ 3681 w 5537"/>
              <a:gd name="T81" fmla="*/ 8 h 16"/>
              <a:gd name="T82" fmla="*/ 3769 w 5537"/>
              <a:gd name="T83" fmla="*/ 0 h 16"/>
              <a:gd name="T84" fmla="*/ 3929 w 5537"/>
              <a:gd name="T85" fmla="*/ 0 h 16"/>
              <a:gd name="T86" fmla="*/ 4009 w 5537"/>
              <a:gd name="T87" fmla="*/ 0 h 16"/>
              <a:gd name="T88" fmla="*/ 4097 w 5537"/>
              <a:gd name="T89" fmla="*/ 8 h 16"/>
              <a:gd name="T90" fmla="*/ 4169 w 5537"/>
              <a:gd name="T91" fmla="*/ 16 h 16"/>
              <a:gd name="T92" fmla="*/ 4249 w 5537"/>
              <a:gd name="T93" fmla="*/ 16 h 16"/>
              <a:gd name="T94" fmla="*/ 4321 w 5537"/>
              <a:gd name="T95" fmla="*/ 8 h 16"/>
              <a:gd name="T96" fmla="*/ 4409 w 5537"/>
              <a:gd name="T97" fmla="*/ 0 h 16"/>
              <a:gd name="T98" fmla="*/ 4569 w 5537"/>
              <a:gd name="T99" fmla="*/ 0 h 16"/>
              <a:gd name="T100" fmla="*/ 4649 w 5537"/>
              <a:gd name="T101" fmla="*/ 0 h 16"/>
              <a:gd name="T102" fmla="*/ 4737 w 5537"/>
              <a:gd name="T103" fmla="*/ 8 h 16"/>
              <a:gd name="T104" fmla="*/ 4809 w 5537"/>
              <a:gd name="T105" fmla="*/ 16 h 16"/>
              <a:gd name="T106" fmla="*/ 4889 w 5537"/>
              <a:gd name="T107" fmla="*/ 16 h 16"/>
              <a:gd name="T108" fmla="*/ 4961 w 5537"/>
              <a:gd name="T109" fmla="*/ 8 h 16"/>
              <a:gd name="T110" fmla="*/ 5049 w 5537"/>
              <a:gd name="T111" fmla="*/ 0 h 16"/>
              <a:gd name="T112" fmla="*/ 5209 w 5537"/>
              <a:gd name="T113" fmla="*/ 0 h 16"/>
              <a:gd name="T114" fmla="*/ 5289 w 5537"/>
              <a:gd name="T115" fmla="*/ 0 h 16"/>
              <a:gd name="T116" fmla="*/ 5377 w 5537"/>
              <a:gd name="T117" fmla="*/ 8 h 16"/>
              <a:gd name="T118" fmla="*/ 5449 w 5537"/>
              <a:gd name="T119" fmla="*/ 16 h 16"/>
              <a:gd name="T120" fmla="*/ 5529 w 5537"/>
              <a:gd name="T121" fmla="*/ 16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537" h="16">
                <a:moveTo>
                  <a:pt x="8" y="0"/>
                </a:moveTo>
                <a:lnTo>
                  <a:pt x="8" y="0"/>
                </a:lnTo>
                <a:cubicBezTo>
                  <a:pt x="12" y="0"/>
                  <a:pt x="16" y="4"/>
                  <a:pt x="16" y="8"/>
                </a:cubicBezTo>
                <a:cubicBezTo>
                  <a:pt x="16" y="12"/>
                  <a:pt x="12" y="16"/>
                  <a:pt x="8" y="16"/>
                </a:cubicBezTo>
                <a:lnTo>
                  <a:pt x="8" y="16"/>
                </a:lnTo>
                <a:cubicBezTo>
                  <a:pt x="3" y="16"/>
                  <a:pt x="0" y="12"/>
                  <a:pt x="0" y="8"/>
                </a:cubicBezTo>
                <a:cubicBezTo>
                  <a:pt x="0" y="4"/>
                  <a:pt x="3" y="0"/>
                  <a:pt x="8" y="0"/>
                </a:cubicBezTo>
                <a:close/>
                <a:moveTo>
                  <a:pt x="88" y="0"/>
                </a:moveTo>
                <a:lnTo>
                  <a:pt x="88" y="0"/>
                </a:lnTo>
                <a:cubicBezTo>
                  <a:pt x="92" y="0"/>
                  <a:pt x="96" y="4"/>
                  <a:pt x="96" y="8"/>
                </a:cubicBezTo>
                <a:cubicBezTo>
                  <a:pt x="96" y="12"/>
                  <a:pt x="92" y="16"/>
                  <a:pt x="88" y="16"/>
                </a:cubicBezTo>
                <a:lnTo>
                  <a:pt x="88" y="16"/>
                </a:lnTo>
                <a:cubicBezTo>
                  <a:pt x="83" y="16"/>
                  <a:pt x="80" y="12"/>
                  <a:pt x="80" y="8"/>
                </a:cubicBezTo>
                <a:cubicBezTo>
                  <a:pt x="80" y="4"/>
                  <a:pt x="83" y="0"/>
                  <a:pt x="88" y="0"/>
                </a:cubicBezTo>
                <a:close/>
                <a:moveTo>
                  <a:pt x="168" y="0"/>
                </a:moveTo>
                <a:lnTo>
                  <a:pt x="168" y="0"/>
                </a:lnTo>
                <a:cubicBezTo>
                  <a:pt x="172" y="0"/>
                  <a:pt x="176" y="4"/>
                  <a:pt x="176" y="8"/>
                </a:cubicBezTo>
                <a:cubicBezTo>
                  <a:pt x="176" y="12"/>
                  <a:pt x="172" y="16"/>
                  <a:pt x="168" y="16"/>
                </a:cubicBezTo>
                <a:lnTo>
                  <a:pt x="168" y="16"/>
                </a:lnTo>
                <a:cubicBezTo>
                  <a:pt x="163" y="16"/>
                  <a:pt x="160" y="12"/>
                  <a:pt x="160" y="8"/>
                </a:cubicBezTo>
                <a:cubicBezTo>
                  <a:pt x="160" y="4"/>
                  <a:pt x="163" y="0"/>
                  <a:pt x="168" y="0"/>
                </a:cubicBezTo>
                <a:close/>
                <a:moveTo>
                  <a:pt x="248" y="0"/>
                </a:moveTo>
                <a:lnTo>
                  <a:pt x="248" y="0"/>
                </a:lnTo>
                <a:cubicBezTo>
                  <a:pt x="252" y="0"/>
                  <a:pt x="256" y="4"/>
                  <a:pt x="256" y="8"/>
                </a:cubicBezTo>
                <a:cubicBezTo>
                  <a:pt x="256" y="12"/>
                  <a:pt x="252" y="16"/>
                  <a:pt x="248" y="16"/>
                </a:cubicBezTo>
                <a:lnTo>
                  <a:pt x="248" y="16"/>
                </a:lnTo>
                <a:cubicBezTo>
                  <a:pt x="243" y="16"/>
                  <a:pt x="240" y="12"/>
                  <a:pt x="240" y="8"/>
                </a:cubicBezTo>
                <a:cubicBezTo>
                  <a:pt x="240" y="4"/>
                  <a:pt x="243" y="0"/>
                  <a:pt x="248" y="0"/>
                </a:cubicBezTo>
                <a:close/>
                <a:moveTo>
                  <a:pt x="328" y="0"/>
                </a:moveTo>
                <a:lnTo>
                  <a:pt x="328" y="0"/>
                </a:lnTo>
                <a:cubicBezTo>
                  <a:pt x="332" y="0"/>
                  <a:pt x="336" y="4"/>
                  <a:pt x="336" y="8"/>
                </a:cubicBezTo>
                <a:cubicBezTo>
                  <a:pt x="336" y="12"/>
                  <a:pt x="332" y="16"/>
                  <a:pt x="328" y="16"/>
                </a:cubicBezTo>
                <a:lnTo>
                  <a:pt x="328" y="16"/>
                </a:lnTo>
                <a:cubicBezTo>
                  <a:pt x="323" y="16"/>
                  <a:pt x="320" y="12"/>
                  <a:pt x="320" y="8"/>
                </a:cubicBezTo>
                <a:cubicBezTo>
                  <a:pt x="320" y="4"/>
                  <a:pt x="323" y="0"/>
                  <a:pt x="328" y="0"/>
                </a:cubicBezTo>
                <a:close/>
                <a:moveTo>
                  <a:pt x="408" y="0"/>
                </a:moveTo>
                <a:lnTo>
                  <a:pt x="408" y="0"/>
                </a:lnTo>
                <a:cubicBezTo>
                  <a:pt x="412" y="0"/>
                  <a:pt x="416" y="4"/>
                  <a:pt x="416" y="8"/>
                </a:cubicBezTo>
                <a:cubicBezTo>
                  <a:pt x="416" y="12"/>
                  <a:pt x="412" y="16"/>
                  <a:pt x="408" y="16"/>
                </a:cubicBezTo>
                <a:lnTo>
                  <a:pt x="408" y="16"/>
                </a:lnTo>
                <a:cubicBezTo>
                  <a:pt x="403" y="16"/>
                  <a:pt x="400" y="12"/>
                  <a:pt x="400" y="8"/>
                </a:cubicBezTo>
                <a:cubicBezTo>
                  <a:pt x="400" y="4"/>
                  <a:pt x="403" y="0"/>
                  <a:pt x="408" y="0"/>
                </a:cubicBezTo>
                <a:close/>
                <a:moveTo>
                  <a:pt x="488" y="0"/>
                </a:moveTo>
                <a:lnTo>
                  <a:pt x="488" y="0"/>
                </a:lnTo>
                <a:cubicBezTo>
                  <a:pt x="492" y="0"/>
                  <a:pt x="496" y="4"/>
                  <a:pt x="496" y="8"/>
                </a:cubicBezTo>
                <a:cubicBezTo>
                  <a:pt x="496" y="12"/>
                  <a:pt x="492" y="16"/>
                  <a:pt x="488" y="16"/>
                </a:cubicBezTo>
                <a:lnTo>
                  <a:pt x="488" y="16"/>
                </a:lnTo>
                <a:cubicBezTo>
                  <a:pt x="483" y="16"/>
                  <a:pt x="480" y="12"/>
                  <a:pt x="480" y="8"/>
                </a:cubicBezTo>
                <a:cubicBezTo>
                  <a:pt x="480" y="4"/>
                  <a:pt x="483" y="0"/>
                  <a:pt x="488" y="0"/>
                </a:cubicBezTo>
                <a:close/>
                <a:moveTo>
                  <a:pt x="568" y="0"/>
                </a:moveTo>
                <a:lnTo>
                  <a:pt x="568" y="0"/>
                </a:lnTo>
                <a:cubicBezTo>
                  <a:pt x="572" y="0"/>
                  <a:pt x="576" y="4"/>
                  <a:pt x="576" y="8"/>
                </a:cubicBezTo>
                <a:cubicBezTo>
                  <a:pt x="576" y="12"/>
                  <a:pt x="572" y="16"/>
                  <a:pt x="568" y="16"/>
                </a:cubicBezTo>
                <a:lnTo>
                  <a:pt x="568" y="16"/>
                </a:lnTo>
                <a:cubicBezTo>
                  <a:pt x="563" y="16"/>
                  <a:pt x="560" y="12"/>
                  <a:pt x="560" y="8"/>
                </a:cubicBezTo>
                <a:cubicBezTo>
                  <a:pt x="560" y="4"/>
                  <a:pt x="563" y="0"/>
                  <a:pt x="568" y="0"/>
                </a:cubicBezTo>
                <a:close/>
                <a:moveTo>
                  <a:pt x="648" y="0"/>
                </a:moveTo>
                <a:lnTo>
                  <a:pt x="648" y="0"/>
                </a:lnTo>
                <a:cubicBezTo>
                  <a:pt x="652" y="0"/>
                  <a:pt x="656" y="4"/>
                  <a:pt x="656" y="8"/>
                </a:cubicBezTo>
                <a:cubicBezTo>
                  <a:pt x="656" y="12"/>
                  <a:pt x="652" y="16"/>
                  <a:pt x="648" y="16"/>
                </a:cubicBezTo>
                <a:lnTo>
                  <a:pt x="648" y="16"/>
                </a:lnTo>
                <a:cubicBezTo>
                  <a:pt x="643" y="16"/>
                  <a:pt x="640" y="12"/>
                  <a:pt x="640" y="8"/>
                </a:cubicBezTo>
                <a:cubicBezTo>
                  <a:pt x="640" y="4"/>
                  <a:pt x="643" y="0"/>
                  <a:pt x="648" y="0"/>
                </a:cubicBezTo>
                <a:close/>
                <a:moveTo>
                  <a:pt x="728" y="0"/>
                </a:moveTo>
                <a:lnTo>
                  <a:pt x="728" y="0"/>
                </a:lnTo>
                <a:cubicBezTo>
                  <a:pt x="732" y="0"/>
                  <a:pt x="736" y="4"/>
                  <a:pt x="736" y="8"/>
                </a:cubicBezTo>
                <a:cubicBezTo>
                  <a:pt x="736" y="12"/>
                  <a:pt x="732" y="16"/>
                  <a:pt x="728" y="16"/>
                </a:cubicBezTo>
                <a:lnTo>
                  <a:pt x="728" y="16"/>
                </a:lnTo>
                <a:cubicBezTo>
                  <a:pt x="724" y="16"/>
                  <a:pt x="720" y="12"/>
                  <a:pt x="720" y="8"/>
                </a:cubicBezTo>
                <a:cubicBezTo>
                  <a:pt x="720" y="4"/>
                  <a:pt x="724" y="0"/>
                  <a:pt x="728" y="0"/>
                </a:cubicBezTo>
                <a:close/>
                <a:moveTo>
                  <a:pt x="808" y="0"/>
                </a:moveTo>
                <a:lnTo>
                  <a:pt x="808" y="0"/>
                </a:lnTo>
                <a:cubicBezTo>
                  <a:pt x="812" y="0"/>
                  <a:pt x="816" y="4"/>
                  <a:pt x="816" y="8"/>
                </a:cubicBezTo>
                <a:cubicBezTo>
                  <a:pt x="816" y="12"/>
                  <a:pt x="812" y="16"/>
                  <a:pt x="808" y="16"/>
                </a:cubicBezTo>
                <a:lnTo>
                  <a:pt x="808" y="16"/>
                </a:lnTo>
                <a:cubicBezTo>
                  <a:pt x="804" y="16"/>
                  <a:pt x="800" y="12"/>
                  <a:pt x="800" y="8"/>
                </a:cubicBezTo>
                <a:cubicBezTo>
                  <a:pt x="800" y="4"/>
                  <a:pt x="804" y="0"/>
                  <a:pt x="808" y="0"/>
                </a:cubicBezTo>
                <a:close/>
                <a:moveTo>
                  <a:pt x="888" y="0"/>
                </a:moveTo>
                <a:lnTo>
                  <a:pt x="888" y="0"/>
                </a:lnTo>
                <a:cubicBezTo>
                  <a:pt x="892" y="0"/>
                  <a:pt x="896" y="4"/>
                  <a:pt x="896" y="8"/>
                </a:cubicBezTo>
                <a:cubicBezTo>
                  <a:pt x="896" y="12"/>
                  <a:pt x="892" y="16"/>
                  <a:pt x="888" y="16"/>
                </a:cubicBezTo>
                <a:lnTo>
                  <a:pt x="888" y="16"/>
                </a:lnTo>
                <a:cubicBezTo>
                  <a:pt x="884" y="16"/>
                  <a:pt x="880" y="12"/>
                  <a:pt x="880" y="8"/>
                </a:cubicBezTo>
                <a:cubicBezTo>
                  <a:pt x="880" y="4"/>
                  <a:pt x="884" y="0"/>
                  <a:pt x="888" y="0"/>
                </a:cubicBezTo>
                <a:close/>
                <a:moveTo>
                  <a:pt x="968" y="0"/>
                </a:moveTo>
                <a:lnTo>
                  <a:pt x="968" y="0"/>
                </a:lnTo>
                <a:cubicBezTo>
                  <a:pt x="972" y="0"/>
                  <a:pt x="976" y="4"/>
                  <a:pt x="976" y="8"/>
                </a:cubicBezTo>
                <a:cubicBezTo>
                  <a:pt x="976" y="12"/>
                  <a:pt x="972" y="16"/>
                  <a:pt x="968" y="16"/>
                </a:cubicBezTo>
                <a:lnTo>
                  <a:pt x="968" y="16"/>
                </a:lnTo>
                <a:cubicBezTo>
                  <a:pt x="964" y="16"/>
                  <a:pt x="960" y="12"/>
                  <a:pt x="960" y="8"/>
                </a:cubicBezTo>
                <a:cubicBezTo>
                  <a:pt x="960" y="4"/>
                  <a:pt x="964" y="0"/>
                  <a:pt x="968" y="0"/>
                </a:cubicBezTo>
                <a:close/>
                <a:moveTo>
                  <a:pt x="1048" y="0"/>
                </a:moveTo>
                <a:lnTo>
                  <a:pt x="1048" y="0"/>
                </a:lnTo>
                <a:cubicBezTo>
                  <a:pt x="1052" y="0"/>
                  <a:pt x="1056" y="4"/>
                  <a:pt x="1056" y="8"/>
                </a:cubicBezTo>
                <a:cubicBezTo>
                  <a:pt x="1056" y="12"/>
                  <a:pt x="1052" y="16"/>
                  <a:pt x="1048" y="16"/>
                </a:cubicBezTo>
                <a:lnTo>
                  <a:pt x="1048" y="16"/>
                </a:lnTo>
                <a:cubicBezTo>
                  <a:pt x="1044" y="16"/>
                  <a:pt x="1040" y="12"/>
                  <a:pt x="1040" y="8"/>
                </a:cubicBezTo>
                <a:cubicBezTo>
                  <a:pt x="1040" y="4"/>
                  <a:pt x="1044" y="0"/>
                  <a:pt x="1048" y="0"/>
                </a:cubicBezTo>
                <a:close/>
                <a:moveTo>
                  <a:pt x="1128" y="0"/>
                </a:moveTo>
                <a:lnTo>
                  <a:pt x="1128" y="0"/>
                </a:lnTo>
                <a:cubicBezTo>
                  <a:pt x="1132" y="0"/>
                  <a:pt x="1136" y="4"/>
                  <a:pt x="1136" y="8"/>
                </a:cubicBezTo>
                <a:cubicBezTo>
                  <a:pt x="1136" y="12"/>
                  <a:pt x="1132" y="16"/>
                  <a:pt x="1128" y="16"/>
                </a:cubicBezTo>
                <a:lnTo>
                  <a:pt x="1128" y="16"/>
                </a:lnTo>
                <a:cubicBezTo>
                  <a:pt x="1124" y="16"/>
                  <a:pt x="1120" y="12"/>
                  <a:pt x="1120" y="8"/>
                </a:cubicBezTo>
                <a:cubicBezTo>
                  <a:pt x="1120" y="4"/>
                  <a:pt x="1124" y="0"/>
                  <a:pt x="1128" y="0"/>
                </a:cubicBezTo>
                <a:close/>
                <a:moveTo>
                  <a:pt x="1208" y="0"/>
                </a:moveTo>
                <a:lnTo>
                  <a:pt x="1208" y="0"/>
                </a:lnTo>
                <a:cubicBezTo>
                  <a:pt x="1212" y="0"/>
                  <a:pt x="1216" y="4"/>
                  <a:pt x="1216" y="8"/>
                </a:cubicBezTo>
                <a:cubicBezTo>
                  <a:pt x="1216" y="12"/>
                  <a:pt x="1212" y="16"/>
                  <a:pt x="1208" y="16"/>
                </a:cubicBezTo>
                <a:lnTo>
                  <a:pt x="1208" y="16"/>
                </a:lnTo>
                <a:cubicBezTo>
                  <a:pt x="1204" y="16"/>
                  <a:pt x="1200" y="12"/>
                  <a:pt x="1200" y="8"/>
                </a:cubicBezTo>
                <a:cubicBezTo>
                  <a:pt x="1200" y="4"/>
                  <a:pt x="1204" y="0"/>
                  <a:pt x="1208" y="0"/>
                </a:cubicBezTo>
                <a:close/>
                <a:moveTo>
                  <a:pt x="1288" y="0"/>
                </a:moveTo>
                <a:lnTo>
                  <a:pt x="1288" y="0"/>
                </a:lnTo>
                <a:cubicBezTo>
                  <a:pt x="1292" y="0"/>
                  <a:pt x="1296" y="4"/>
                  <a:pt x="1296" y="8"/>
                </a:cubicBezTo>
                <a:cubicBezTo>
                  <a:pt x="1296" y="12"/>
                  <a:pt x="1292" y="16"/>
                  <a:pt x="1288" y="16"/>
                </a:cubicBezTo>
                <a:lnTo>
                  <a:pt x="1288" y="16"/>
                </a:lnTo>
                <a:cubicBezTo>
                  <a:pt x="1284" y="16"/>
                  <a:pt x="1280" y="12"/>
                  <a:pt x="1280" y="8"/>
                </a:cubicBezTo>
                <a:cubicBezTo>
                  <a:pt x="1280" y="4"/>
                  <a:pt x="1284" y="0"/>
                  <a:pt x="1288" y="0"/>
                </a:cubicBezTo>
                <a:close/>
                <a:moveTo>
                  <a:pt x="1368" y="0"/>
                </a:moveTo>
                <a:lnTo>
                  <a:pt x="1368" y="0"/>
                </a:lnTo>
                <a:cubicBezTo>
                  <a:pt x="1372" y="0"/>
                  <a:pt x="1376" y="4"/>
                  <a:pt x="1376" y="8"/>
                </a:cubicBezTo>
                <a:cubicBezTo>
                  <a:pt x="1376" y="12"/>
                  <a:pt x="1372" y="16"/>
                  <a:pt x="1368" y="16"/>
                </a:cubicBezTo>
                <a:lnTo>
                  <a:pt x="1368" y="16"/>
                </a:lnTo>
                <a:cubicBezTo>
                  <a:pt x="1364" y="16"/>
                  <a:pt x="1360" y="12"/>
                  <a:pt x="1360" y="8"/>
                </a:cubicBezTo>
                <a:cubicBezTo>
                  <a:pt x="1360" y="4"/>
                  <a:pt x="1364" y="0"/>
                  <a:pt x="1368" y="0"/>
                </a:cubicBezTo>
                <a:close/>
                <a:moveTo>
                  <a:pt x="1448" y="0"/>
                </a:moveTo>
                <a:lnTo>
                  <a:pt x="1448" y="0"/>
                </a:lnTo>
                <a:cubicBezTo>
                  <a:pt x="1453" y="0"/>
                  <a:pt x="1456" y="4"/>
                  <a:pt x="1456" y="8"/>
                </a:cubicBezTo>
                <a:cubicBezTo>
                  <a:pt x="1456" y="12"/>
                  <a:pt x="1453" y="16"/>
                  <a:pt x="1448" y="16"/>
                </a:cubicBezTo>
                <a:lnTo>
                  <a:pt x="1448" y="16"/>
                </a:lnTo>
                <a:cubicBezTo>
                  <a:pt x="1444" y="16"/>
                  <a:pt x="1440" y="12"/>
                  <a:pt x="1440" y="8"/>
                </a:cubicBezTo>
                <a:cubicBezTo>
                  <a:pt x="1440" y="4"/>
                  <a:pt x="1444" y="0"/>
                  <a:pt x="1448" y="0"/>
                </a:cubicBezTo>
                <a:close/>
                <a:moveTo>
                  <a:pt x="1528" y="0"/>
                </a:moveTo>
                <a:lnTo>
                  <a:pt x="1528" y="0"/>
                </a:lnTo>
                <a:cubicBezTo>
                  <a:pt x="1533" y="0"/>
                  <a:pt x="1536" y="4"/>
                  <a:pt x="1536" y="8"/>
                </a:cubicBezTo>
                <a:cubicBezTo>
                  <a:pt x="1536" y="12"/>
                  <a:pt x="1533" y="16"/>
                  <a:pt x="1528" y="16"/>
                </a:cubicBezTo>
                <a:lnTo>
                  <a:pt x="1528" y="16"/>
                </a:lnTo>
                <a:cubicBezTo>
                  <a:pt x="1524" y="16"/>
                  <a:pt x="1520" y="12"/>
                  <a:pt x="1520" y="8"/>
                </a:cubicBezTo>
                <a:cubicBezTo>
                  <a:pt x="1520" y="4"/>
                  <a:pt x="1524" y="0"/>
                  <a:pt x="1528" y="0"/>
                </a:cubicBezTo>
                <a:close/>
                <a:moveTo>
                  <a:pt x="1608" y="0"/>
                </a:moveTo>
                <a:lnTo>
                  <a:pt x="1608" y="0"/>
                </a:lnTo>
                <a:cubicBezTo>
                  <a:pt x="1613" y="0"/>
                  <a:pt x="1616" y="4"/>
                  <a:pt x="1616" y="8"/>
                </a:cubicBezTo>
                <a:cubicBezTo>
                  <a:pt x="1616" y="12"/>
                  <a:pt x="1613" y="16"/>
                  <a:pt x="1608" y="16"/>
                </a:cubicBezTo>
                <a:lnTo>
                  <a:pt x="1608" y="16"/>
                </a:lnTo>
                <a:cubicBezTo>
                  <a:pt x="1604" y="16"/>
                  <a:pt x="1600" y="12"/>
                  <a:pt x="1600" y="8"/>
                </a:cubicBezTo>
                <a:cubicBezTo>
                  <a:pt x="1600" y="4"/>
                  <a:pt x="1604" y="0"/>
                  <a:pt x="1608" y="0"/>
                </a:cubicBezTo>
                <a:close/>
                <a:moveTo>
                  <a:pt x="1688" y="0"/>
                </a:moveTo>
                <a:lnTo>
                  <a:pt x="1688" y="0"/>
                </a:lnTo>
                <a:cubicBezTo>
                  <a:pt x="1693" y="0"/>
                  <a:pt x="1696" y="4"/>
                  <a:pt x="1696" y="8"/>
                </a:cubicBezTo>
                <a:cubicBezTo>
                  <a:pt x="1696" y="12"/>
                  <a:pt x="1693" y="16"/>
                  <a:pt x="1688" y="16"/>
                </a:cubicBezTo>
                <a:lnTo>
                  <a:pt x="1688" y="16"/>
                </a:lnTo>
                <a:cubicBezTo>
                  <a:pt x="1684" y="16"/>
                  <a:pt x="1680" y="12"/>
                  <a:pt x="1680" y="8"/>
                </a:cubicBezTo>
                <a:cubicBezTo>
                  <a:pt x="1680" y="4"/>
                  <a:pt x="1684" y="0"/>
                  <a:pt x="1688" y="0"/>
                </a:cubicBezTo>
                <a:close/>
                <a:moveTo>
                  <a:pt x="1768" y="0"/>
                </a:moveTo>
                <a:lnTo>
                  <a:pt x="1768" y="0"/>
                </a:lnTo>
                <a:cubicBezTo>
                  <a:pt x="1773" y="0"/>
                  <a:pt x="1776" y="4"/>
                  <a:pt x="1776" y="8"/>
                </a:cubicBezTo>
                <a:cubicBezTo>
                  <a:pt x="1776" y="12"/>
                  <a:pt x="1773" y="16"/>
                  <a:pt x="1768" y="16"/>
                </a:cubicBezTo>
                <a:lnTo>
                  <a:pt x="1768" y="16"/>
                </a:lnTo>
                <a:cubicBezTo>
                  <a:pt x="1764" y="16"/>
                  <a:pt x="1760" y="12"/>
                  <a:pt x="1760" y="8"/>
                </a:cubicBezTo>
                <a:cubicBezTo>
                  <a:pt x="1760" y="4"/>
                  <a:pt x="1764" y="0"/>
                  <a:pt x="1768" y="0"/>
                </a:cubicBezTo>
                <a:close/>
                <a:moveTo>
                  <a:pt x="1848" y="0"/>
                </a:moveTo>
                <a:lnTo>
                  <a:pt x="1848" y="0"/>
                </a:lnTo>
                <a:cubicBezTo>
                  <a:pt x="1853" y="0"/>
                  <a:pt x="1856" y="4"/>
                  <a:pt x="1856" y="8"/>
                </a:cubicBezTo>
                <a:cubicBezTo>
                  <a:pt x="1856" y="12"/>
                  <a:pt x="1853" y="16"/>
                  <a:pt x="1848" y="16"/>
                </a:cubicBezTo>
                <a:lnTo>
                  <a:pt x="1848" y="16"/>
                </a:lnTo>
                <a:cubicBezTo>
                  <a:pt x="1844" y="16"/>
                  <a:pt x="1840" y="12"/>
                  <a:pt x="1840" y="8"/>
                </a:cubicBezTo>
                <a:cubicBezTo>
                  <a:pt x="1840" y="4"/>
                  <a:pt x="1844" y="0"/>
                  <a:pt x="1848" y="0"/>
                </a:cubicBezTo>
                <a:close/>
                <a:moveTo>
                  <a:pt x="1928" y="0"/>
                </a:moveTo>
                <a:lnTo>
                  <a:pt x="1928" y="0"/>
                </a:lnTo>
                <a:cubicBezTo>
                  <a:pt x="1933" y="0"/>
                  <a:pt x="1936" y="4"/>
                  <a:pt x="1936" y="8"/>
                </a:cubicBezTo>
                <a:cubicBezTo>
                  <a:pt x="1936" y="12"/>
                  <a:pt x="1933" y="16"/>
                  <a:pt x="1928" y="16"/>
                </a:cubicBezTo>
                <a:lnTo>
                  <a:pt x="1928" y="16"/>
                </a:lnTo>
                <a:cubicBezTo>
                  <a:pt x="1924" y="16"/>
                  <a:pt x="1920" y="12"/>
                  <a:pt x="1920" y="8"/>
                </a:cubicBezTo>
                <a:cubicBezTo>
                  <a:pt x="1920" y="4"/>
                  <a:pt x="1924" y="0"/>
                  <a:pt x="1928" y="0"/>
                </a:cubicBezTo>
                <a:close/>
                <a:moveTo>
                  <a:pt x="2008" y="0"/>
                </a:moveTo>
                <a:lnTo>
                  <a:pt x="2008" y="0"/>
                </a:lnTo>
                <a:cubicBezTo>
                  <a:pt x="2013" y="0"/>
                  <a:pt x="2016" y="4"/>
                  <a:pt x="2016" y="8"/>
                </a:cubicBezTo>
                <a:cubicBezTo>
                  <a:pt x="2016" y="12"/>
                  <a:pt x="2013" y="16"/>
                  <a:pt x="2008" y="16"/>
                </a:cubicBezTo>
                <a:lnTo>
                  <a:pt x="2008" y="16"/>
                </a:lnTo>
                <a:cubicBezTo>
                  <a:pt x="2004" y="16"/>
                  <a:pt x="2000" y="12"/>
                  <a:pt x="2000" y="8"/>
                </a:cubicBezTo>
                <a:cubicBezTo>
                  <a:pt x="2000" y="4"/>
                  <a:pt x="2004" y="0"/>
                  <a:pt x="2008" y="0"/>
                </a:cubicBezTo>
                <a:close/>
                <a:moveTo>
                  <a:pt x="2088" y="0"/>
                </a:moveTo>
                <a:lnTo>
                  <a:pt x="2088" y="0"/>
                </a:lnTo>
                <a:cubicBezTo>
                  <a:pt x="2093" y="0"/>
                  <a:pt x="2096" y="4"/>
                  <a:pt x="2096" y="8"/>
                </a:cubicBezTo>
                <a:cubicBezTo>
                  <a:pt x="2096" y="12"/>
                  <a:pt x="2093" y="16"/>
                  <a:pt x="2088" y="16"/>
                </a:cubicBezTo>
                <a:lnTo>
                  <a:pt x="2088" y="16"/>
                </a:lnTo>
                <a:cubicBezTo>
                  <a:pt x="2084" y="16"/>
                  <a:pt x="2080" y="12"/>
                  <a:pt x="2080" y="8"/>
                </a:cubicBezTo>
                <a:cubicBezTo>
                  <a:pt x="2080" y="4"/>
                  <a:pt x="2084" y="0"/>
                  <a:pt x="2088" y="0"/>
                </a:cubicBezTo>
                <a:close/>
                <a:moveTo>
                  <a:pt x="2168" y="0"/>
                </a:moveTo>
                <a:lnTo>
                  <a:pt x="2168" y="0"/>
                </a:lnTo>
                <a:cubicBezTo>
                  <a:pt x="2173" y="0"/>
                  <a:pt x="2176" y="4"/>
                  <a:pt x="2176" y="8"/>
                </a:cubicBezTo>
                <a:cubicBezTo>
                  <a:pt x="2176" y="12"/>
                  <a:pt x="2173" y="16"/>
                  <a:pt x="2168" y="16"/>
                </a:cubicBezTo>
                <a:lnTo>
                  <a:pt x="2168" y="16"/>
                </a:lnTo>
                <a:cubicBezTo>
                  <a:pt x="2164" y="16"/>
                  <a:pt x="2160" y="12"/>
                  <a:pt x="2160" y="8"/>
                </a:cubicBezTo>
                <a:cubicBezTo>
                  <a:pt x="2160" y="4"/>
                  <a:pt x="2164" y="0"/>
                  <a:pt x="2168" y="0"/>
                </a:cubicBezTo>
                <a:close/>
                <a:moveTo>
                  <a:pt x="2248" y="0"/>
                </a:moveTo>
                <a:lnTo>
                  <a:pt x="2248" y="0"/>
                </a:lnTo>
                <a:cubicBezTo>
                  <a:pt x="2253" y="0"/>
                  <a:pt x="2256" y="4"/>
                  <a:pt x="2256" y="8"/>
                </a:cubicBezTo>
                <a:cubicBezTo>
                  <a:pt x="2256" y="12"/>
                  <a:pt x="2253" y="16"/>
                  <a:pt x="2248" y="16"/>
                </a:cubicBezTo>
                <a:lnTo>
                  <a:pt x="2248" y="16"/>
                </a:lnTo>
                <a:cubicBezTo>
                  <a:pt x="2244" y="16"/>
                  <a:pt x="2240" y="12"/>
                  <a:pt x="2240" y="8"/>
                </a:cubicBezTo>
                <a:cubicBezTo>
                  <a:pt x="2240" y="4"/>
                  <a:pt x="2244" y="0"/>
                  <a:pt x="2248" y="0"/>
                </a:cubicBezTo>
                <a:close/>
                <a:moveTo>
                  <a:pt x="2328" y="0"/>
                </a:moveTo>
                <a:lnTo>
                  <a:pt x="2328" y="0"/>
                </a:lnTo>
                <a:cubicBezTo>
                  <a:pt x="2333" y="0"/>
                  <a:pt x="2336" y="4"/>
                  <a:pt x="2336" y="8"/>
                </a:cubicBezTo>
                <a:cubicBezTo>
                  <a:pt x="2336" y="12"/>
                  <a:pt x="2333" y="16"/>
                  <a:pt x="2328" y="16"/>
                </a:cubicBezTo>
                <a:lnTo>
                  <a:pt x="2328" y="16"/>
                </a:lnTo>
                <a:cubicBezTo>
                  <a:pt x="2324" y="16"/>
                  <a:pt x="2320" y="12"/>
                  <a:pt x="2320" y="8"/>
                </a:cubicBezTo>
                <a:cubicBezTo>
                  <a:pt x="2320" y="4"/>
                  <a:pt x="2324" y="0"/>
                  <a:pt x="2328" y="0"/>
                </a:cubicBezTo>
                <a:close/>
                <a:moveTo>
                  <a:pt x="2408" y="0"/>
                </a:moveTo>
                <a:lnTo>
                  <a:pt x="2408" y="0"/>
                </a:lnTo>
                <a:cubicBezTo>
                  <a:pt x="2413" y="0"/>
                  <a:pt x="2416" y="4"/>
                  <a:pt x="2416" y="8"/>
                </a:cubicBezTo>
                <a:cubicBezTo>
                  <a:pt x="2416" y="12"/>
                  <a:pt x="2413" y="16"/>
                  <a:pt x="2408" y="16"/>
                </a:cubicBezTo>
                <a:lnTo>
                  <a:pt x="2408" y="16"/>
                </a:lnTo>
                <a:cubicBezTo>
                  <a:pt x="2404" y="16"/>
                  <a:pt x="2400" y="12"/>
                  <a:pt x="2400" y="8"/>
                </a:cubicBezTo>
                <a:cubicBezTo>
                  <a:pt x="2400" y="4"/>
                  <a:pt x="2404" y="0"/>
                  <a:pt x="2408" y="0"/>
                </a:cubicBezTo>
                <a:close/>
                <a:moveTo>
                  <a:pt x="2488" y="0"/>
                </a:moveTo>
                <a:lnTo>
                  <a:pt x="2488" y="0"/>
                </a:lnTo>
                <a:cubicBezTo>
                  <a:pt x="2493" y="0"/>
                  <a:pt x="2496" y="4"/>
                  <a:pt x="2496" y="8"/>
                </a:cubicBezTo>
                <a:cubicBezTo>
                  <a:pt x="2496" y="12"/>
                  <a:pt x="2493" y="16"/>
                  <a:pt x="2488" y="16"/>
                </a:cubicBezTo>
                <a:lnTo>
                  <a:pt x="2488" y="16"/>
                </a:lnTo>
                <a:cubicBezTo>
                  <a:pt x="2484" y="16"/>
                  <a:pt x="2480" y="12"/>
                  <a:pt x="2480" y="8"/>
                </a:cubicBezTo>
                <a:cubicBezTo>
                  <a:pt x="2480" y="4"/>
                  <a:pt x="2484" y="0"/>
                  <a:pt x="2488" y="0"/>
                </a:cubicBezTo>
                <a:close/>
                <a:moveTo>
                  <a:pt x="2568" y="0"/>
                </a:moveTo>
                <a:lnTo>
                  <a:pt x="2568" y="0"/>
                </a:lnTo>
                <a:cubicBezTo>
                  <a:pt x="2573" y="0"/>
                  <a:pt x="2576" y="4"/>
                  <a:pt x="2576" y="8"/>
                </a:cubicBezTo>
                <a:cubicBezTo>
                  <a:pt x="2576" y="12"/>
                  <a:pt x="2573" y="16"/>
                  <a:pt x="2568" y="16"/>
                </a:cubicBezTo>
                <a:lnTo>
                  <a:pt x="2568" y="16"/>
                </a:lnTo>
                <a:cubicBezTo>
                  <a:pt x="2564" y="16"/>
                  <a:pt x="2560" y="12"/>
                  <a:pt x="2560" y="8"/>
                </a:cubicBezTo>
                <a:cubicBezTo>
                  <a:pt x="2560" y="4"/>
                  <a:pt x="2564" y="0"/>
                  <a:pt x="2568" y="0"/>
                </a:cubicBezTo>
                <a:close/>
                <a:moveTo>
                  <a:pt x="2648" y="0"/>
                </a:moveTo>
                <a:lnTo>
                  <a:pt x="2648" y="0"/>
                </a:lnTo>
                <a:cubicBezTo>
                  <a:pt x="2653" y="0"/>
                  <a:pt x="2656" y="4"/>
                  <a:pt x="2656" y="8"/>
                </a:cubicBezTo>
                <a:cubicBezTo>
                  <a:pt x="2656" y="12"/>
                  <a:pt x="2653" y="16"/>
                  <a:pt x="2648" y="16"/>
                </a:cubicBezTo>
                <a:lnTo>
                  <a:pt x="2648" y="16"/>
                </a:lnTo>
                <a:cubicBezTo>
                  <a:pt x="2644" y="16"/>
                  <a:pt x="2640" y="12"/>
                  <a:pt x="2640" y="8"/>
                </a:cubicBezTo>
                <a:cubicBezTo>
                  <a:pt x="2640" y="4"/>
                  <a:pt x="2644" y="0"/>
                  <a:pt x="2648" y="0"/>
                </a:cubicBezTo>
                <a:close/>
                <a:moveTo>
                  <a:pt x="2728" y="0"/>
                </a:moveTo>
                <a:lnTo>
                  <a:pt x="2728" y="0"/>
                </a:lnTo>
                <a:cubicBezTo>
                  <a:pt x="2733" y="0"/>
                  <a:pt x="2736" y="4"/>
                  <a:pt x="2736" y="8"/>
                </a:cubicBezTo>
                <a:cubicBezTo>
                  <a:pt x="2736" y="12"/>
                  <a:pt x="2733" y="16"/>
                  <a:pt x="2728" y="16"/>
                </a:cubicBezTo>
                <a:lnTo>
                  <a:pt x="2728" y="16"/>
                </a:lnTo>
                <a:cubicBezTo>
                  <a:pt x="2724" y="16"/>
                  <a:pt x="2720" y="12"/>
                  <a:pt x="2720" y="8"/>
                </a:cubicBezTo>
                <a:cubicBezTo>
                  <a:pt x="2720" y="4"/>
                  <a:pt x="2724" y="0"/>
                  <a:pt x="2728" y="0"/>
                </a:cubicBezTo>
                <a:close/>
                <a:moveTo>
                  <a:pt x="2808" y="0"/>
                </a:moveTo>
                <a:lnTo>
                  <a:pt x="2808" y="0"/>
                </a:lnTo>
                <a:cubicBezTo>
                  <a:pt x="2813" y="0"/>
                  <a:pt x="2816" y="4"/>
                  <a:pt x="2816" y="8"/>
                </a:cubicBezTo>
                <a:cubicBezTo>
                  <a:pt x="2816" y="12"/>
                  <a:pt x="2813" y="16"/>
                  <a:pt x="2808" y="16"/>
                </a:cubicBezTo>
                <a:lnTo>
                  <a:pt x="2808" y="16"/>
                </a:lnTo>
                <a:cubicBezTo>
                  <a:pt x="2804" y="16"/>
                  <a:pt x="2800" y="12"/>
                  <a:pt x="2800" y="8"/>
                </a:cubicBezTo>
                <a:cubicBezTo>
                  <a:pt x="2800" y="4"/>
                  <a:pt x="2804" y="0"/>
                  <a:pt x="2808" y="0"/>
                </a:cubicBezTo>
                <a:close/>
                <a:moveTo>
                  <a:pt x="2888" y="0"/>
                </a:moveTo>
                <a:lnTo>
                  <a:pt x="2888" y="0"/>
                </a:lnTo>
                <a:cubicBezTo>
                  <a:pt x="2893" y="0"/>
                  <a:pt x="2896" y="4"/>
                  <a:pt x="2896" y="8"/>
                </a:cubicBezTo>
                <a:cubicBezTo>
                  <a:pt x="2896" y="12"/>
                  <a:pt x="2893" y="16"/>
                  <a:pt x="2888" y="16"/>
                </a:cubicBezTo>
                <a:lnTo>
                  <a:pt x="2888" y="16"/>
                </a:lnTo>
                <a:cubicBezTo>
                  <a:pt x="2884" y="16"/>
                  <a:pt x="2880" y="12"/>
                  <a:pt x="2880" y="8"/>
                </a:cubicBezTo>
                <a:cubicBezTo>
                  <a:pt x="2880" y="4"/>
                  <a:pt x="2884" y="0"/>
                  <a:pt x="2888" y="0"/>
                </a:cubicBezTo>
                <a:close/>
                <a:moveTo>
                  <a:pt x="2968" y="0"/>
                </a:moveTo>
                <a:lnTo>
                  <a:pt x="2968" y="0"/>
                </a:lnTo>
                <a:cubicBezTo>
                  <a:pt x="2973" y="0"/>
                  <a:pt x="2976" y="4"/>
                  <a:pt x="2976" y="8"/>
                </a:cubicBezTo>
                <a:cubicBezTo>
                  <a:pt x="2976" y="12"/>
                  <a:pt x="2973" y="16"/>
                  <a:pt x="2968" y="16"/>
                </a:cubicBezTo>
                <a:lnTo>
                  <a:pt x="2968" y="16"/>
                </a:lnTo>
                <a:cubicBezTo>
                  <a:pt x="2964" y="16"/>
                  <a:pt x="2960" y="12"/>
                  <a:pt x="2960" y="8"/>
                </a:cubicBezTo>
                <a:cubicBezTo>
                  <a:pt x="2960" y="4"/>
                  <a:pt x="2964" y="0"/>
                  <a:pt x="2968" y="0"/>
                </a:cubicBezTo>
                <a:close/>
                <a:moveTo>
                  <a:pt x="3048" y="0"/>
                </a:moveTo>
                <a:lnTo>
                  <a:pt x="3048" y="0"/>
                </a:lnTo>
                <a:cubicBezTo>
                  <a:pt x="3053" y="0"/>
                  <a:pt x="3056" y="4"/>
                  <a:pt x="3056" y="8"/>
                </a:cubicBezTo>
                <a:cubicBezTo>
                  <a:pt x="3056" y="12"/>
                  <a:pt x="3053" y="16"/>
                  <a:pt x="3048" y="16"/>
                </a:cubicBezTo>
                <a:lnTo>
                  <a:pt x="3048" y="16"/>
                </a:lnTo>
                <a:cubicBezTo>
                  <a:pt x="3044" y="16"/>
                  <a:pt x="3040" y="12"/>
                  <a:pt x="3040" y="8"/>
                </a:cubicBezTo>
                <a:cubicBezTo>
                  <a:pt x="3040" y="4"/>
                  <a:pt x="3044" y="0"/>
                  <a:pt x="3048" y="0"/>
                </a:cubicBezTo>
                <a:close/>
                <a:moveTo>
                  <a:pt x="3128" y="0"/>
                </a:moveTo>
                <a:lnTo>
                  <a:pt x="3128" y="0"/>
                </a:lnTo>
                <a:cubicBezTo>
                  <a:pt x="3133" y="0"/>
                  <a:pt x="3136" y="4"/>
                  <a:pt x="3136" y="8"/>
                </a:cubicBezTo>
                <a:cubicBezTo>
                  <a:pt x="3136" y="12"/>
                  <a:pt x="3133" y="16"/>
                  <a:pt x="3128" y="16"/>
                </a:cubicBezTo>
                <a:lnTo>
                  <a:pt x="3128" y="16"/>
                </a:lnTo>
                <a:cubicBezTo>
                  <a:pt x="3124" y="16"/>
                  <a:pt x="3120" y="12"/>
                  <a:pt x="3120" y="8"/>
                </a:cubicBezTo>
                <a:cubicBezTo>
                  <a:pt x="3120" y="4"/>
                  <a:pt x="3124" y="0"/>
                  <a:pt x="3128" y="0"/>
                </a:cubicBezTo>
                <a:close/>
                <a:moveTo>
                  <a:pt x="3208" y="0"/>
                </a:moveTo>
                <a:lnTo>
                  <a:pt x="3208" y="0"/>
                </a:lnTo>
                <a:cubicBezTo>
                  <a:pt x="3213" y="0"/>
                  <a:pt x="3216" y="4"/>
                  <a:pt x="3216" y="8"/>
                </a:cubicBezTo>
                <a:cubicBezTo>
                  <a:pt x="3216" y="12"/>
                  <a:pt x="3213" y="16"/>
                  <a:pt x="3208" y="16"/>
                </a:cubicBezTo>
                <a:lnTo>
                  <a:pt x="3208" y="16"/>
                </a:lnTo>
                <a:cubicBezTo>
                  <a:pt x="3204" y="16"/>
                  <a:pt x="3200" y="12"/>
                  <a:pt x="3200" y="8"/>
                </a:cubicBezTo>
                <a:cubicBezTo>
                  <a:pt x="3200" y="4"/>
                  <a:pt x="3204" y="0"/>
                  <a:pt x="3208" y="0"/>
                </a:cubicBezTo>
                <a:close/>
                <a:moveTo>
                  <a:pt x="3288" y="0"/>
                </a:moveTo>
                <a:lnTo>
                  <a:pt x="3288" y="0"/>
                </a:lnTo>
                <a:cubicBezTo>
                  <a:pt x="3293" y="0"/>
                  <a:pt x="3296" y="4"/>
                  <a:pt x="3296" y="8"/>
                </a:cubicBezTo>
                <a:cubicBezTo>
                  <a:pt x="3296" y="12"/>
                  <a:pt x="3293" y="16"/>
                  <a:pt x="3288" y="16"/>
                </a:cubicBezTo>
                <a:lnTo>
                  <a:pt x="3288" y="16"/>
                </a:lnTo>
                <a:cubicBezTo>
                  <a:pt x="3284" y="16"/>
                  <a:pt x="3280" y="12"/>
                  <a:pt x="3280" y="8"/>
                </a:cubicBezTo>
                <a:cubicBezTo>
                  <a:pt x="3280" y="4"/>
                  <a:pt x="3284" y="0"/>
                  <a:pt x="3288" y="0"/>
                </a:cubicBezTo>
                <a:close/>
                <a:moveTo>
                  <a:pt x="3368" y="0"/>
                </a:moveTo>
                <a:lnTo>
                  <a:pt x="3368" y="0"/>
                </a:lnTo>
                <a:cubicBezTo>
                  <a:pt x="3373" y="0"/>
                  <a:pt x="3376" y="4"/>
                  <a:pt x="3376" y="8"/>
                </a:cubicBezTo>
                <a:cubicBezTo>
                  <a:pt x="3376" y="12"/>
                  <a:pt x="3373" y="16"/>
                  <a:pt x="3368" y="16"/>
                </a:cubicBezTo>
                <a:lnTo>
                  <a:pt x="3368" y="16"/>
                </a:lnTo>
                <a:cubicBezTo>
                  <a:pt x="3364" y="16"/>
                  <a:pt x="3360" y="12"/>
                  <a:pt x="3360" y="8"/>
                </a:cubicBezTo>
                <a:cubicBezTo>
                  <a:pt x="3360" y="4"/>
                  <a:pt x="3364" y="0"/>
                  <a:pt x="3368" y="0"/>
                </a:cubicBezTo>
                <a:close/>
                <a:moveTo>
                  <a:pt x="3448" y="0"/>
                </a:moveTo>
                <a:lnTo>
                  <a:pt x="3448" y="0"/>
                </a:lnTo>
                <a:cubicBezTo>
                  <a:pt x="3453" y="0"/>
                  <a:pt x="3456" y="4"/>
                  <a:pt x="3456" y="8"/>
                </a:cubicBezTo>
                <a:cubicBezTo>
                  <a:pt x="3456" y="12"/>
                  <a:pt x="3453" y="16"/>
                  <a:pt x="3448" y="16"/>
                </a:cubicBezTo>
                <a:lnTo>
                  <a:pt x="3448" y="16"/>
                </a:lnTo>
                <a:cubicBezTo>
                  <a:pt x="3444" y="16"/>
                  <a:pt x="3440" y="12"/>
                  <a:pt x="3440" y="8"/>
                </a:cubicBezTo>
                <a:cubicBezTo>
                  <a:pt x="3440" y="4"/>
                  <a:pt x="3444" y="0"/>
                  <a:pt x="3448" y="0"/>
                </a:cubicBezTo>
                <a:close/>
                <a:moveTo>
                  <a:pt x="3528" y="0"/>
                </a:moveTo>
                <a:lnTo>
                  <a:pt x="3529" y="0"/>
                </a:lnTo>
                <a:cubicBezTo>
                  <a:pt x="3533" y="0"/>
                  <a:pt x="3537" y="4"/>
                  <a:pt x="3537" y="8"/>
                </a:cubicBezTo>
                <a:cubicBezTo>
                  <a:pt x="3537" y="12"/>
                  <a:pt x="3533" y="16"/>
                  <a:pt x="3529" y="16"/>
                </a:cubicBezTo>
                <a:lnTo>
                  <a:pt x="3528" y="16"/>
                </a:lnTo>
                <a:cubicBezTo>
                  <a:pt x="3524" y="16"/>
                  <a:pt x="3520" y="12"/>
                  <a:pt x="3520" y="8"/>
                </a:cubicBezTo>
                <a:cubicBezTo>
                  <a:pt x="3520" y="4"/>
                  <a:pt x="3524" y="0"/>
                  <a:pt x="3528" y="0"/>
                </a:cubicBezTo>
                <a:close/>
                <a:moveTo>
                  <a:pt x="3609" y="0"/>
                </a:moveTo>
                <a:lnTo>
                  <a:pt x="3609" y="0"/>
                </a:lnTo>
                <a:cubicBezTo>
                  <a:pt x="3613" y="0"/>
                  <a:pt x="3617" y="4"/>
                  <a:pt x="3617" y="8"/>
                </a:cubicBezTo>
                <a:cubicBezTo>
                  <a:pt x="3617" y="12"/>
                  <a:pt x="3613" y="16"/>
                  <a:pt x="3609" y="16"/>
                </a:cubicBezTo>
                <a:lnTo>
                  <a:pt x="3609" y="16"/>
                </a:lnTo>
                <a:cubicBezTo>
                  <a:pt x="3604" y="16"/>
                  <a:pt x="3601" y="12"/>
                  <a:pt x="3601" y="8"/>
                </a:cubicBezTo>
                <a:cubicBezTo>
                  <a:pt x="3601" y="4"/>
                  <a:pt x="3604" y="0"/>
                  <a:pt x="3609" y="0"/>
                </a:cubicBezTo>
                <a:close/>
                <a:moveTo>
                  <a:pt x="3689" y="0"/>
                </a:moveTo>
                <a:lnTo>
                  <a:pt x="3689" y="0"/>
                </a:lnTo>
                <a:cubicBezTo>
                  <a:pt x="3693" y="0"/>
                  <a:pt x="3697" y="4"/>
                  <a:pt x="3697" y="8"/>
                </a:cubicBezTo>
                <a:cubicBezTo>
                  <a:pt x="3697" y="12"/>
                  <a:pt x="3693" y="16"/>
                  <a:pt x="3689" y="16"/>
                </a:cubicBezTo>
                <a:lnTo>
                  <a:pt x="3689" y="16"/>
                </a:lnTo>
                <a:cubicBezTo>
                  <a:pt x="3684" y="16"/>
                  <a:pt x="3681" y="12"/>
                  <a:pt x="3681" y="8"/>
                </a:cubicBezTo>
                <a:cubicBezTo>
                  <a:pt x="3681" y="4"/>
                  <a:pt x="3684" y="0"/>
                  <a:pt x="3689" y="0"/>
                </a:cubicBezTo>
                <a:close/>
                <a:moveTo>
                  <a:pt x="3769" y="0"/>
                </a:moveTo>
                <a:lnTo>
                  <a:pt x="3769" y="0"/>
                </a:lnTo>
                <a:cubicBezTo>
                  <a:pt x="3773" y="0"/>
                  <a:pt x="3777" y="4"/>
                  <a:pt x="3777" y="8"/>
                </a:cubicBezTo>
                <a:cubicBezTo>
                  <a:pt x="3777" y="12"/>
                  <a:pt x="3773" y="16"/>
                  <a:pt x="3769" y="16"/>
                </a:cubicBezTo>
                <a:lnTo>
                  <a:pt x="3769" y="16"/>
                </a:lnTo>
                <a:cubicBezTo>
                  <a:pt x="3764" y="16"/>
                  <a:pt x="3761" y="12"/>
                  <a:pt x="3761" y="8"/>
                </a:cubicBezTo>
                <a:cubicBezTo>
                  <a:pt x="3761" y="4"/>
                  <a:pt x="3764" y="0"/>
                  <a:pt x="3769" y="0"/>
                </a:cubicBezTo>
                <a:close/>
                <a:moveTo>
                  <a:pt x="3849" y="0"/>
                </a:moveTo>
                <a:lnTo>
                  <a:pt x="3849" y="0"/>
                </a:lnTo>
                <a:cubicBezTo>
                  <a:pt x="3853" y="0"/>
                  <a:pt x="3857" y="4"/>
                  <a:pt x="3857" y="8"/>
                </a:cubicBezTo>
                <a:cubicBezTo>
                  <a:pt x="3857" y="12"/>
                  <a:pt x="3853" y="16"/>
                  <a:pt x="3849" y="16"/>
                </a:cubicBezTo>
                <a:lnTo>
                  <a:pt x="3849" y="16"/>
                </a:lnTo>
                <a:cubicBezTo>
                  <a:pt x="3844" y="16"/>
                  <a:pt x="3841" y="12"/>
                  <a:pt x="3841" y="8"/>
                </a:cubicBezTo>
                <a:cubicBezTo>
                  <a:pt x="3841" y="4"/>
                  <a:pt x="3844" y="0"/>
                  <a:pt x="3849" y="0"/>
                </a:cubicBezTo>
                <a:close/>
                <a:moveTo>
                  <a:pt x="3929" y="0"/>
                </a:moveTo>
                <a:lnTo>
                  <a:pt x="3929" y="0"/>
                </a:lnTo>
                <a:cubicBezTo>
                  <a:pt x="3933" y="0"/>
                  <a:pt x="3937" y="4"/>
                  <a:pt x="3937" y="8"/>
                </a:cubicBezTo>
                <a:cubicBezTo>
                  <a:pt x="3937" y="12"/>
                  <a:pt x="3933" y="16"/>
                  <a:pt x="3929" y="16"/>
                </a:cubicBezTo>
                <a:lnTo>
                  <a:pt x="3929" y="16"/>
                </a:lnTo>
                <a:cubicBezTo>
                  <a:pt x="3924" y="16"/>
                  <a:pt x="3921" y="12"/>
                  <a:pt x="3921" y="8"/>
                </a:cubicBezTo>
                <a:cubicBezTo>
                  <a:pt x="3921" y="4"/>
                  <a:pt x="3924" y="0"/>
                  <a:pt x="3929" y="0"/>
                </a:cubicBezTo>
                <a:close/>
                <a:moveTo>
                  <a:pt x="4009" y="0"/>
                </a:moveTo>
                <a:lnTo>
                  <a:pt x="4009" y="0"/>
                </a:lnTo>
                <a:cubicBezTo>
                  <a:pt x="4013" y="0"/>
                  <a:pt x="4017" y="4"/>
                  <a:pt x="4017" y="8"/>
                </a:cubicBezTo>
                <a:cubicBezTo>
                  <a:pt x="4017" y="12"/>
                  <a:pt x="4013" y="16"/>
                  <a:pt x="4009" y="16"/>
                </a:cubicBezTo>
                <a:lnTo>
                  <a:pt x="4009" y="16"/>
                </a:lnTo>
                <a:cubicBezTo>
                  <a:pt x="4004" y="16"/>
                  <a:pt x="4001" y="12"/>
                  <a:pt x="4001" y="8"/>
                </a:cubicBezTo>
                <a:cubicBezTo>
                  <a:pt x="4001" y="4"/>
                  <a:pt x="4004" y="0"/>
                  <a:pt x="4009" y="0"/>
                </a:cubicBezTo>
                <a:close/>
                <a:moveTo>
                  <a:pt x="4089" y="0"/>
                </a:moveTo>
                <a:lnTo>
                  <a:pt x="4089" y="0"/>
                </a:lnTo>
                <a:cubicBezTo>
                  <a:pt x="4093" y="0"/>
                  <a:pt x="4097" y="4"/>
                  <a:pt x="4097" y="8"/>
                </a:cubicBezTo>
                <a:cubicBezTo>
                  <a:pt x="4097" y="12"/>
                  <a:pt x="4093" y="16"/>
                  <a:pt x="4089" y="16"/>
                </a:cubicBezTo>
                <a:lnTo>
                  <a:pt x="4089" y="16"/>
                </a:lnTo>
                <a:cubicBezTo>
                  <a:pt x="4084" y="16"/>
                  <a:pt x="4081" y="12"/>
                  <a:pt x="4081" y="8"/>
                </a:cubicBezTo>
                <a:cubicBezTo>
                  <a:pt x="4081" y="4"/>
                  <a:pt x="4084" y="0"/>
                  <a:pt x="4089" y="0"/>
                </a:cubicBezTo>
                <a:close/>
                <a:moveTo>
                  <a:pt x="4169" y="0"/>
                </a:moveTo>
                <a:lnTo>
                  <a:pt x="4169" y="0"/>
                </a:lnTo>
                <a:cubicBezTo>
                  <a:pt x="4173" y="0"/>
                  <a:pt x="4177" y="4"/>
                  <a:pt x="4177" y="8"/>
                </a:cubicBezTo>
                <a:cubicBezTo>
                  <a:pt x="4177" y="12"/>
                  <a:pt x="4173" y="16"/>
                  <a:pt x="4169" y="16"/>
                </a:cubicBezTo>
                <a:lnTo>
                  <a:pt x="4169" y="16"/>
                </a:lnTo>
                <a:cubicBezTo>
                  <a:pt x="4164" y="16"/>
                  <a:pt x="4161" y="12"/>
                  <a:pt x="4161" y="8"/>
                </a:cubicBezTo>
                <a:cubicBezTo>
                  <a:pt x="4161" y="4"/>
                  <a:pt x="4164" y="0"/>
                  <a:pt x="4169" y="0"/>
                </a:cubicBezTo>
                <a:close/>
                <a:moveTo>
                  <a:pt x="4249" y="0"/>
                </a:moveTo>
                <a:lnTo>
                  <a:pt x="4249" y="0"/>
                </a:lnTo>
                <a:cubicBezTo>
                  <a:pt x="4253" y="0"/>
                  <a:pt x="4257" y="4"/>
                  <a:pt x="4257" y="8"/>
                </a:cubicBezTo>
                <a:cubicBezTo>
                  <a:pt x="4257" y="12"/>
                  <a:pt x="4253" y="16"/>
                  <a:pt x="4249" y="16"/>
                </a:cubicBezTo>
                <a:lnTo>
                  <a:pt x="4249" y="16"/>
                </a:lnTo>
                <a:cubicBezTo>
                  <a:pt x="4244" y="16"/>
                  <a:pt x="4241" y="12"/>
                  <a:pt x="4241" y="8"/>
                </a:cubicBezTo>
                <a:cubicBezTo>
                  <a:pt x="4241" y="4"/>
                  <a:pt x="4244" y="0"/>
                  <a:pt x="4249" y="0"/>
                </a:cubicBezTo>
                <a:close/>
                <a:moveTo>
                  <a:pt x="4329" y="0"/>
                </a:moveTo>
                <a:lnTo>
                  <a:pt x="4329" y="0"/>
                </a:lnTo>
                <a:cubicBezTo>
                  <a:pt x="4333" y="0"/>
                  <a:pt x="4337" y="4"/>
                  <a:pt x="4337" y="8"/>
                </a:cubicBezTo>
                <a:cubicBezTo>
                  <a:pt x="4337" y="12"/>
                  <a:pt x="4333" y="16"/>
                  <a:pt x="4329" y="16"/>
                </a:cubicBezTo>
                <a:lnTo>
                  <a:pt x="4329" y="16"/>
                </a:lnTo>
                <a:cubicBezTo>
                  <a:pt x="4324" y="16"/>
                  <a:pt x="4321" y="12"/>
                  <a:pt x="4321" y="8"/>
                </a:cubicBezTo>
                <a:cubicBezTo>
                  <a:pt x="4321" y="4"/>
                  <a:pt x="4324" y="0"/>
                  <a:pt x="4329" y="0"/>
                </a:cubicBezTo>
                <a:close/>
                <a:moveTo>
                  <a:pt x="4409" y="0"/>
                </a:moveTo>
                <a:lnTo>
                  <a:pt x="4409" y="0"/>
                </a:lnTo>
                <a:cubicBezTo>
                  <a:pt x="4413" y="0"/>
                  <a:pt x="4417" y="4"/>
                  <a:pt x="4417" y="8"/>
                </a:cubicBezTo>
                <a:cubicBezTo>
                  <a:pt x="4417" y="12"/>
                  <a:pt x="4413" y="16"/>
                  <a:pt x="4409" y="16"/>
                </a:cubicBezTo>
                <a:lnTo>
                  <a:pt x="4409" y="16"/>
                </a:lnTo>
                <a:cubicBezTo>
                  <a:pt x="4404" y="16"/>
                  <a:pt x="4401" y="12"/>
                  <a:pt x="4401" y="8"/>
                </a:cubicBezTo>
                <a:cubicBezTo>
                  <a:pt x="4401" y="4"/>
                  <a:pt x="4404" y="0"/>
                  <a:pt x="4409" y="0"/>
                </a:cubicBezTo>
                <a:close/>
                <a:moveTo>
                  <a:pt x="4489" y="0"/>
                </a:moveTo>
                <a:lnTo>
                  <a:pt x="4489" y="0"/>
                </a:lnTo>
                <a:cubicBezTo>
                  <a:pt x="4493" y="0"/>
                  <a:pt x="4497" y="4"/>
                  <a:pt x="4497" y="8"/>
                </a:cubicBezTo>
                <a:cubicBezTo>
                  <a:pt x="4497" y="12"/>
                  <a:pt x="4493" y="16"/>
                  <a:pt x="4489" y="16"/>
                </a:cubicBezTo>
                <a:lnTo>
                  <a:pt x="4489" y="16"/>
                </a:lnTo>
                <a:cubicBezTo>
                  <a:pt x="4484" y="16"/>
                  <a:pt x="4481" y="12"/>
                  <a:pt x="4481" y="8"/>
                </a:cubicBezTo>
                <a:cubicBezTo>
                  <a:pt x="4481" y="4"/>
                  <a:pt x="4484" y="0"/>
                  <a:pt x="4489" y="0"/>
                </a:cubicBezTo>
                <a:close/>
                <a:moveTo>
                  <a:pt x="4569" y="0"/>
                </a:moveTo>
                <a:lnTo>
                  <a:pt x="4569" y="0"/>
                </a:lnTo>
                <a:cubicBezTo>
                  <a:pt x="4573" y="0"/>
                  <a:pt x="4577" y="4"/>
                  <a:pt x="4577" y="8"/>
                </a:cubicBezTo>
                <a:cubicBezTo>
                  <a:pt x="4577" y="12"/>
                  <a:pt x="4573" y="16"/>
                  <a:pt x="4569" y="16"/>
                </a:cubicBezTo>
                <a:lnTo>
                  <a:pt x="4569" y="16"/>
                </a:lnTo>
                <a:cubicBezTo>
                  <a:pt x="4564" y="16"/>
                  <a:pt x="4561" y="12"/>
                  <a:pt x="4561" y="8"/>
                </a:cubicBezTo>
                <a:cubicBezTo>
                  <a:pt x="4561" y="4"/>
                  <a:pt x="4564" y="0"/>
                  <a:pt x="4569" y="0"/>
                </a:cubicBezTo>
                <a:close/>
                <a:moveTo>
                  <a:pt x="4649" y="0"/>
                </a:moveTo>
                <a:lnTo>
                  <a:pt x="4649" y="0"/>
                </a:lnTo>
                <a:cubicBezTo>
                  <a:pt x="4653" y="0"/>
                  <a:pt x="4657" y="4"/>
                  <a:pt x="4657" y="8"/>
                </a:cubicBezTo>
                <a:cubicBezTo>
                  <a:pt x="4657" y="12"/>
                  <a:pt x="4653" y="16"/>
                  <a:pt x="4649" y="16"/>
                </a:cubicBezTo>
                <a:lnTo>
                  <a:pt x="4649" y="16"/>
                </a:lnTo>
                <a:cubicBezTo>
                  <a:pt x="4644" y="16"/>
                  <a:pt x="4641" y="12"/>
                  <a:pt x="4641" y="8"/>
                </a:cubicBezTo>
                <a:cubicBezTo>
                  <a:pt x="4641" y="4"/>
                  <a:pt x="4644" y="0"/>
                  <a:pt x="4649" y="0"/>
                </a:cubicBezTo>
                <a:close/>
                <a:moveTo>
                  <a:pt x="4729" y="0"/>
                </a:moveTo>
                <a:lnTo>
                  <a:pt x="4729" y="0"/>
                </a:lnTo>
                <a:cubicBezTo>
                  <a:pt x="4733" y="0"/>
                  <a:pt x="4737" y="4"/>
                  <a:pt x="4737" y="8"/>
                </a:cubicBezTo>
                <a:cubicBezTo>
                  <a:pt x="4737" y="12"/>
                  <a:pt x="4733" y="16"/>
                  <a:pt x="4729" y="16"/>
                </a:cubicBezTo>
                <a:lnTo>
                  <a:pt x="4729" y="16"/>
                </a:lnTo>
                <a:cubicBezTo>
                  <a:pt x="4724" y="16"/>
                  <a:pt x="4721" y="12"/>
                  <a:pt x="4721" y="8"/>
                </a:cubicBezTo>
                <a:cubicBezTo>
                  <a:pt x="4721" y="4"/>
                  <a:pt x="4724" y="0"/>
                  <a:pt x="4729" y="0"/>
                </a:cubicBezTo>
                <a:close/>
                <a:moveTo>
                  <a:pt x="4809" y="0"/>
                </a:moveTo>
                <a:lnTo>
                  <a:pt x="4809" y="0"/>
                </a:lnTo>
                <a:cubicBezTo>
                  <a:pt x="4813" y="0"/>
                  <a:pt x="4817" y="4"/>
                  <a:pt x="4817" y="8"/>
                </a:cubicBezTo>
                <a:cubicBezTo>
                  <a:pt x="4817" y="12"/>
                  <a:pt x="4813" y="16"/>
                  <a:pt x="4809" y="16"/>
                </a:cubicBezTo>
                <a:lnTo>
                  <a:pt x="4809" y="16"/>
                </a:lnTo>
                <a:cubicBezTo>
                  <a:pt x="4804" y="16"/>
                  <a:pt x="4801" y="12"/>
                  <a:pt x="4801" y="8"/>
                </a:cubicBezTo>
                <a:cubicBezTo>
                  <a:pt x="4801" y="4"/>
                  <a:pt x="4804" y="0"/>
                  <a:pt x="4809" y="0"/>
                </a:cubicBezTo>
                <a:close/>
                <a:moveTo>
                  <a:pt x="4889" y="0"/>
                </a:moveTo>
                <a:lnTo>
                  <a:pt x="4889" y="0"/>
                </a:lnTo>
                <a:cubicBezTo>
                  <a:pt x="4893" y="0"/>
                  <a:pt x="4897" y="4"/>
                  <a:pt x="4897" y="8"/>
                </a:cubicBezTo>
                <a:cubicBezTo>
                  <a:pt x="4897" y="12"/>
                  <a:pt x="4893" y="16"/>
                  <a:pt x="4889" y="16"/>
                </a:cubicBezTo>
                <a:lnTo>
                  <a:pt x="4889" y="16"/>
                </a:lnTo>
                <a:cubicBezTo>
                  <a:pt x="4884" y="16"/>
                  <a:pt x="4881" y="12"/>
                  <a:pt x="4881" y="8"/>
                </a:cubicBezTo>
                <a:cubicBezTo>
                  <a:pt x="4881" y="4"/>
                  <a:pt x="4884" y="0"/>
                  <a:pt x="4889" y="0"/>
                </a:cubicBezTo>
                <a:close/>
                <a:moveTo>
                  <a:pt x="4969" y="0"/>
                </a:moveTo>
                <a:lnTo>
                  <a:pt x="4969" y="0"/>
                </a:lnTo>
                <a:cubicBezTo>
                  <a:pt x="4973" y="0"/>
                  <a:pt x="4977" y="4"/>
                  <a:pt x="4977" y="8"/>
                </a:cubicBezTo>
                <a:cubicBezTo>
                  <a:pt x="4977" y="12"/>
                  <a:pt x="4973" y="16"/>
                  <a:pt x="4969" y="16"/>
                </a:cubicBezTo>
                <a:lnTo>
                  <a:pt x="4969" y="16"/>
                </a:lnTo>
                <a:cubicBezTo>
                  <a:pt x="4964" y="16"/>
                  <a:pt x="4961" y="12"/>
                  <a:pt x="4961" y="8"/>
                </a:cubicBezTo>
                <a:cubicBezTo>
                  <a:pt x="4961" y="4"/>
                  <a:pt x="4964" y="0"/>
                  <a:pt x="4969" y="0"/>
                </a:cubicBezTo>
                <a:close/>
                <a:moveTo>
                  <a:pt x="5049" y="0"/>
                </a:moveTo>
                <a:lnTo>
                  <a:pt x="5049" y="0"/>
                </a:lnTo>
                <a:cubicBezTo>
                  <a:pt x="5053" y="0"/>
                  <a:pt x="5057" y="4"/>
                  <a:pt x="5057" y="8"/>
                </a:cubicBezTo>
                <a:cubicBezTo>
                  <a:pt x="5057" y="12"/>
                  <a:pt x="5053" y="16"/>
                  <a:pt x="5049" y="16"/>
                </a:cubicBezTo>
                <a:lnTo>
                  <a:pt x="5049" y="16"/>
                </a:lnTo>
                <a:cubicBezTo>
                  <a:pt x="5044" y="16"/>
                  <a:pt x="5041" y="12"/>
                  <a:pt x="5041" y="8"/>
                </a:cubicBezTo>
                <a:cubicBezTo>
                  <a:pt x="5041" y="4"/>
                  <a:pt x="5044" y="0"/>
                  <a:pt x="5049" y="0"/>
                </a:cubicBezTo>
                <a:close/>
                <a:moveTo>
                  <a:pt x="5129" y="0"/>
                </a:moveTo>
                <a:lnTo>
                  <a:pt x="5129" y="0"/>
                </a:lnTo>
                <a:cubicBezTo>
                  <a:pt x="5133" y="0"/>
                  <a:pt x="5137" y="4"/>
                  <a:pt x="5137" y="8"/>
                </a:cubicBezTo>
                <a:cubicBezTo>
                  <a:pt x="5137" y="12"/>
                  <a:pt x="5133" y="16"/>
                  <a:pt x="5129" y="16"/>
                </a:cubicBezTo>
                <a:lnTo>
                  <a:pt x="5129" y="16"/>
                </a:lnTo>
                <a:cubicBezTo>
                  <a:pt x="5124" y="16"/>
                  <a:pt x="5121" y="12"/>
                  <a:pt x="5121" y="8"/>
                </a:cubicBezTo>
                <a:cubicBezTo>
                  <a:pt x="5121" y="4"/>
                  <a:pt x="5124" y="0"/>
                  <a:pt x="5129" y="0"/>
                </a:cubicBezTo>
                <a:close/>
                <a:moveTo>
                  <a:pt x="5209" y="0"/>
                </a:moveTo>
                <a:lnTo>
                  <a:pt x="5209" y="0"/>
                </a:lnTo>
                <a:cubicBezTo>
                  <a:pt x="5213" y="0"/>
                  <a:pt x="5217" y="4"/>
                  <a:pt x="5217" y="8"/>
                </a:cubicBezTo>
                <a:cubicBezTo>
                  <a:pt x="5217" y="12"/>
                  <a:pt x="5213" y="16"/>
                  <a:pt x="5209" y="16"/>
                </a:cubicBezTo>
                <a:lnTo>
                  <a:pt x="5209" y="16"/>
                </a:lnTo>
                <a:cubicBezTo>
                  <a:pt x="5204" y="16"/>
                  <a:pt x="5201" y="12"/>
                  <a:pt x="5201" y="8"/>
                </a:cubicBezTo>
                <a:cubicBezTo>
                  <a:pt x="5201" y="4"/>
                  <a:pt x="5204" y="0"/>
                  <a:pt x="5209" y="0"/>
                </a:cubicBezTo>
                <a:close/>
                <a:moveTo>
                  <a:pt x="5289" y="0"/>
                </a:moveTo>
                <a:lnTo>
                  <a:pt x="5289" y="0"/>
                </a:lnTo>
                <a:cubicBezTo>
                  <a:pt x="5293" y="0"/>
                  <a:pt x="5297" y="4"/>
                  <a:pt x="5297" y="8"/>
                </a:cubicBezTo>
                <a:cubicBezTo>
                  <a:pt x="5297" y="12"/>
                  <a:pt x="5293" y="16"/>
                  <a:pt x="5289" y="16"/>
                </a:cubicBezTo>
                <a:lnTo>
                  <a:pt x="5289" y="16"/>
                </a:lnTo>
                <a:cubicBezTo>
                  <a:pt x="5284" y="16"/>
                  <a:pt x="5281" y="12"/>
                  <a:pt x="5281" y="8"/>
                </a:cubicBezTo>
                <a:cubicBezTo>
                  <a:pt x="5281" y="4"/>
                  <a:pt x="5284" y="0"/>
                  <a:pt x="5289" y="0"/>
                </a:cubicBezTo>
                <a:close/>
                <a:moveTo>
                  <a:pt x="5369" y="0"/>
                </a:moveTo>
                <a:lnTo>
                  <a:pt x="5369" y="0"/>
                </a:lnTo>
                <a:cubicBezTo>
                  <a:pt x="5373" y="0"/>
                  <a:pt x="5377" y="4"/>
                  <a:pt x="5377" y="8"/>
                </a:cubicBezTo>
                <a:cubicBezTo>
                  <a:pt x="5377" y="12"/>
                  <a:pt x="5373" y="16"/>
                  <a:pt x="5369" y="16"/>
                </a:cubicBezTo>
                <a:lnTo>
                  <a:pt x="5369" y="16"/>
                </a:lnTo>
                <a:cubicBezTo>
                  <a:pt x="5364" y="16"/>
                  <a:pt x="5361" y="12"/>
                  <a:pt x="5361" y="8"/>
                </a:cubicBezTo>
                <a:cubicBezTo>
                  <a:pt x="5361" y="4"/>
                  <a:pt x="5364" y="0"/>
                  <a:pt x="5369" y="0"/>
                </a:cubicBezTo>
                <a:close/>
                <a:moveTo>
                  <a:pt x="5449" y="0"/>
                </a:moveTo>
                <a:lnTo>
                  <a:pt x="5449" y="0"/>
                </a:lnTo>
                <a:cubicBezTo>
                  <a:pt x="5453" y="0"/>
                  <a:pt x="5457" y="4"/>
                  <a:pt x="5457" y="8"/>
                </a:cubicBezTo>
                <a:cubicBezTo>
                  <a:pt x="5457" y="12"/>
                  <a:pt x="5453" y="16"/>
                  <a:pt x="5449" y="16"/>
                </a:cubicBezTo>
                <a:lnTo>
                  <a:pt x="5449" y="16"/>
                </a:lnTo>
                <a:cubicBezTo>
                  <a:pt x="5444" y="16"/>
                  <a:pt x="5441" y="12"/>
                  <a:pt x="5441" y="8"/>
                </a:cubicBezTo>
                <a:cubicBezTo>
                  <a:pt x="5441" y="4"/>
                  <a:pt x="5444" y="0"/>
                  <a:pt x="5449" y="0"/>
                </a:cubicBezTo>
                <a:close/>
                <a:moveTo>
                  <a:pt x="5529" y="0"/>
                </a:moveTo>
                <a:lnTo>
                  <a:pt x="5529" y="0"/>
                </a:lnTo>
                <a:cubicBezTo>
                  <a:pt x="5533" y="0"/>
                  <a:pt x="5537" y="4"/>
                  <a:pt x="5537" y="8"/>
                </a:cubicBezTo>
                <a:cubicBezTo>
                  <a:pt x="5537" y="12"/>
                  <a:pt x="5533" y="16"/>
                  <a:pt x="5529" y="16"/>
                </a:cubicBezTo>
                <a:lnTo>
                  <a:pt x="5529" y="16"/>
                </a:lnTo>
                <a:cubicBezTo>
                  <a:pt x="5524" y="16"/>
                  <a:pt x="5521" y="12"/>
                  <a:pt x="5521" y="8"/>
                </a:cubicBezTo>
                <a:cubicBezTo>
                  <a:pt x="5521" y="4"/>
                  <a:pt x="5524" y="0"/>
                  <a:pt x="5529" y="0"/>
                </a:cubicBezTo>
                <a:close/>
              </a:path>
            </a:pathLst>
          </a:custGeom>
          <a:solidFill>
            <a:srgbClr val="000000"/>
          </a:solidFill>
          <a:ln w="22225" cap="flat">
            <a:solidFill>
              <a:srgbClr val="000000"/>
            </a:solidFill>
            <a:prstDash val="solid"/>
            <a:bevel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21" name="Freeform 13"/>
          <p:cNvSpPr>
            <a:spLocks/>
          </p:cNvSpPr>
          <p:nvPr/>
        </p:nvSpPr>
        <p:spPr bwMode="auto">
          <a:xfrm>
            <a:off x="2701925" y="2895601"/>
            <a:ext cx="7488238" cy="22225"/>
          </a:xfrm>
          <a:custGeom>
            <a:avLst/>
            <a:gdLst>
              <a:gd name="T0" fmla="*/ 88 w 5537"/>
              <a:gd name="T1" fmla="*/ 0 h 16"/>
              <a:gd name="T2" fmla="*/ 168 w 5537"/>
              <a:gd name="T3" fmla="*/ 0 h 16"/>
              <a:gd name="T4" fmla="*/ 256 w 5537"/>
              <a:gd name="T5" fmla="*/ 8 h 16"/>
              <a:gd name="T6" fmla="*/ 328 w 5537"/>
              <a:gd name="T7" fmla="*/ 16 h 16"/>
              <a:gd name="T8" fmla="*/ 408 w 5537"/>
              <a:gd name="T9" fmla="*/ 16 h 16"/>
              <a:gd name="T10" fmla="*/ 480 w 5537"/>
              <a:gd name="T11" fmla="*/ 8 h 16"/>
              <a:gd name="T12" fmla="*/ 568 w 5537"/>
              <a:gd name="T13" fmla="*/ 0 h 16"/>
              <a:gd name="T14" fmla="*/ 728 w 5537"/>
              <a:gd name="T15" fmla="*/ 0 h 16"/>
              <a:gd name="T16" fmla="*/ 808 w 5537"/>
              <a:gd name="T17" fmla="*/ 0 h 16"/>
              <a:gd name="T18" fmla="*/ 896 w 5537"/>
              <a:gd name="T19" fmla="*/ 8 h 16"/>
              <a:gd name="T20" fmla="*/ 968 w 5537"/>
              <a:gd name="T21" fmla="*/ 16 h 16"/>
              <a:gd name="T22" fmla="*/ 1048 w 5537"/>
              <a:gd name="T23" fmla="*/ 16 h 16"/>
              <a:gd name="T24" fmla="*/ 1120 w 5537"/>
              <a:gd name="T25" fmla="*/ 8 h 16"/>
              <a:gd name="T26" fmla="*/ 1208 w 5537"/>
              <a:gd name="T27" fmla="*/ 0 h 16"/>
              <a:gd name="T28" fmla="*/ 1368 w 5537"/>
              <a:gd name="T29" fmla="*/ 0 h 16"/>
              <a:gd name="T30" fmla="*/ 1448 w 5537"/>
              <a:gd name="T31" fmla="*/ 0 h 16"/>
              <a:gd name="T32" fmla="*/ 1536 w 5537"/>
              <a:gd name="T33" fmla="*/ 8 h 16"/>
              <a:gd name="T34" fmla="*/ 1608 w 5537"/>
              <a:gd name="T35" fmla="*/ 16 h 16"/>
              <a:gd name="T36" fmla="*/ 1688 w 5537"/>
              <a:gd name="T37" fmla="*/ 16 h 16"/>
              <a:gd name="T38" fmla="*/ 1760 w 5537"/>
              <a:gd name="T39" fmla="*/ 8 h 16"/>
              <a:gd name="T40" fmla="*/ 1848 w 5537"/>
              <a:gd name="T41" fmla="*/ 0 h 16"/>
              <a:gd name="T42" fmla="*/ 2008 w 5537"/>
              <a:gd name="T43" fmla="*/ 0 h 16"/>
              <a:gd name="T44" fmla="*/ 2088 w 5537"/>
              <a:gd name="T45" fmla="*/ 0 h 16"/>
              <a:gd name="T46" fmla="*/ 2176 w 5537"/>
              <a:gd name="T47" fmla="*/ 8 h 16"/>
              <a:gd name="T48" fmla="*/ 2248 w 5537"/>
              <a:gd name="T49" fmla="*/ 16 h 16"/>
              <a:gd name="T50" fmla="*/ 2328 w 5537"/>
              <a:gd name="T51" fmla="*/ 16 h 16"/>
              <a:gd name="T52" fmla="*/ 2400 w 5537"/>
              <a:gd name="T53" fmla="*/ 8 h 16"/>
              <a:gd name="T54" fmla="*/ 2488 w 5537"/>
              <a:gd name="T55" fmla="*/ 0 h 16"/>
              <a:gd name="T56" fmla="*/ 2648 w 5537"/>
              <a:gd name="T57" fmla="*/ 0 h 16"/>
              <a:gd name="T58" fmla="*/ 2728 w 5537"/>
              <a:gd name="T59" fmla="*/ 0 h 16"/>
              <a:gd name="T60" fmla="*/ 2816 w 5537"/>
              <a:gd name="T61" fmla="*/ 8 h 16"/>
              <a:gd name="T62" fmla="*/ 2888 w 5537"/>
              <a:gd name="T63" fmla="*/ 16 h 16"/>
              <a:gd name="T64" fmla="*/ 2968 w 5537"/>
              <a:gd name="T65" fmla="*/ 16 h 16"/>
              <a:gd name="T66" fmla="*/ 3040 w 5537"/>
              <a:gd name="T67" fmla="*/ 8 h 16"/>
              <a:gd name="T68" fmla="*/ 3128 w 5537"/>
              <a:gd name="T69" fmla="*/ 0 h 16"/>
              <a:gd name="T70" fmla="*/ 3288 w 5537"/>
              <a:gd name="T71" fmla="*/ 0 h 16"/>
              <a:gd name="T72" fmla="*/ 3368 w 5537"/>
              <a:gd name="T73" fmla="*/ 0 h 16"/>
              <a:gd name="T74" fmla="*/ 3456 w 5537"/>
              <a:gd name="T75" fmla="*/ 8 h 16"/>
              <a:gd name="T76" fmla="*/ 3529 w 5537"/>
              <a:gd name="T77" fmla="*/ 16 h 16"/>
              <a:gd name="T78" fmla="*/ 3609 w 5537"/>
              <a:gd name="T79" fmla="*/ 16 h 16"/>
              <a:gd name="T80" fmla="*/ 3681 w 5537"/>
              <a:gd name="T81" fmla="*/ 8 h 16"/>
              <a:gd name="T82" fmla="*/ 3769 w 5537"/>
              <a:gd name="T83" fmla="*/ 0 h 16"/>
              <a:gd name="T84" fmla="*/ 3929 w 5537"/>
              <a:gd name="T85" fmla="*/ 0 h 16"/>
              <a:gd name="T86" fmla="*/ 4009 w 5537"/>
              <a:gd name="T87" fmla="*/ 0 h 16"/>
              <a:gd name="T88" fmla="*/ 4097 w 5537"/>
              <a:gd name="T89" fmla="*/ 8 h 16"/>
              <a:gd name="T90" fmla="*/ 4169 w 5537"/>
              <a:gd name="T91" fmla="*/ 16 h 16"/>
              <a:gd name="T92" fmla="*/ 4249 w 5537"/>
              <a:gd name="T93" fmla="*/ 16 h 16"/>
              <a:gd name="T94" fmla="*/ 4321 w 5537"/>
              <a:gd name="T95" fmla="*/ 8 h 16"/>
              <a:gd name="T96" fmla="*/ 4409 w 5537"/>
              <a:gd name="T97" fmla="*/ 0 h 16"/>
              <a:gd name="T98" fmla="*/ 4569 w 5537"/>
              <a:gd name="T99" fmla="*/ 0 h 16"/>
              <a:gd name="T100" fmla="*/ 4649 w 5537"/>
              <a:gd name="T101" fmla="*/ 0 h 16"/>
              <a:gd name="T102" fmla="*/ 4737 w 5537"/>
              <a:gd name="T103" fmla="*/ 8 h 16"/>
              <a:gd name="T104" fmla="*/ 4809 w 5537"/>
              <a:gd name="T105" fmla="*/ 16 h 16"/>
              <a:gd name="T106" fmla="*/ 4889 w 5537"/>
              <a:gd name="T107" fmla="*/ 16 h 16"/>
              <a:gd name="T108" fmla="*/ 4961 w 5537"/>
              <a:gd name="T109" fmla="*/ 8 h 16"/>
              <a:gd name="T110" fmla="*/ 5049 w 5537"/>
              <a:gd name="T111" fmla="*/ 0 h 16"/>
              <a:gd name="T112" fmla="*/ 5209 w 5537"/>
              <a:gd name="T113" fmla="*/ 0 h 16"/>
              <a:gd name="T114" fmla="*/ 5289 w 5537"/>
              <a:gd name="T115" fmla="*/ 0 h 16"/>
              <a:gd name="T116" fmla="*/ 5377 w 5537"/>
              <a:gd name="T117" fmla="*/ 8 h 16"/>
              <a:gd name="T118" fmla="*/ 5449 w 5537"/>
              <a:gd name="T119" fmla="*/ 16 h 16"/>
              <a:gd name="T120" fmla="*/ 5529 w 5537"/>
              <a:gd name="T121" fmla="*/ 16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537" h="16">
                <a:moveTo>
                  <a:pt x="8" y="0"/>
                </a:moveTo>
                <a:lnTo>
                  <a:pt x="8" y="0"/>
                </a:lnTo>
                <a:cubicBezTo>
                  <a:pt x="12" y="0"/>
                  <a:pt x="16" y="4"/>
                  <a:pt x="16" y="8"/>
                </a:cubicBezTo>
                <a:cubicBezTo>
                  <a:pt x="16" y="12"/>
                  <a:pt x="12" y="16"/>
                  <a:pt x="8" y="16"/>
                </a:cubicBezTo>
                <a:lnTo>
                  <a:pt x="8" y="16"/>
                </a:lnTo>
                <a:cubicBezTo>
                  <a:pt x="3" y="16"/>
                  <a:pt x="0" y="12"/>
                  <a:pt x="0" y="8"/>
                </a:cubicBezTo>
                <a:cubicBezTo>
                  <a:pt x="0" y="4"/>
                  <a:pt x="3" y="0"/>
                  <a:pt x="8" y="0"/>
                </a:cubicBezTo>
                <a:close/>
                <a:moveTo>
                  <a:pt x="88" y="0"/>
                </a:moveTo>
                <a:lnTo>
                  <a:pt x="88" y="0"/>
                </a:lnTo>
                <a:cubicBezTo>
                  <a:pt x="92" y="0"/>
                  <a:pt x="96" y="4"/>
                  <a:pt x="96" y="8"/>
                </a:cubicBezTo>
                <a:cubicBezTo>
                  <a:pt x="96" y="12"/>
                  <a:pt x="92" y="16"/>
                  <a:pt x="88" y="16"/>
                </a:cubicBezTo>
                <a:lnTo>
                  <a:pt x="88" y="16"/>
                </a:lnTo>
                <a:cubicBezTo>
                  <a:pt x="83" y="16"/>
                  <a:pt x="80" y="12"/>
                  <a:pt x="80" y="8"/>
                </a:cubicBezTo>
                <a:cubicBezTo>
                  <a:pt x="80" y="4"/>
                  <a:pt x="83" y="0"/>
                  <a:pt x="88" y="0"/>
                </a:cubicBezTo>
                <a:close/>
                <a:moveTo>
                  <a:pt x="168" y="0"/>
                </a:moveTo>
                <a:lnTo>
                  <a:pt x="168" y="0"/>
                </a:lnTo>
                <a:cubicBezTo>
                  <a:pt x="172" y="0"/>
                  <a:pt x="176" y="4"/>
                  <a:pt x="176" y="8"/>
                </a:cubicBezTo>
                <a:cubicBezTo>
                  <a:pt x="176" y="12"/>
                  <a:pt x="172" y="16"/>
                  <a:pt x="168" y="16"/>
                </a:cubicBezTo>
                <a:lnTo>
                  <a:pt x="168" y="16"/>
                </a:lnTo>
                <a:cubicBezTo>
                  <a:pt x="163" y="16"/>
                  <a:pt x="160" y="12"/>
                  <a:pt x="160" y="8"/>
                </a:cubicBezTo>
                <a:cubicBezTo>
                  <a:pt x="160" y="4"/>
                  <a:pt x="163" y="0"/>
                  <a:pt x="168" y="0"/>
                </a:cubicBezTo>
                <a:close/>
                <a:moveTo>
                  <a:pt x="248" y="0"/>
                </a:moveTo>
                <a:lnTo>
                  <a:pt x="248" y="0"/>
                </a:lnTo>
                <a:cubicBezTo>
                  <a:pt x="252" y="0"/>
                  <a:pt x="256" y="4"/>
                  <a:pt x="256" y="8"/>
                </a:cubicBezTo>
                <a:cubicBezTo>
                  <a:pt x="256" y="12"/>
                  <a:pt x="252" y="16"/>
                  <a:pt x="248" y="16"/>
                </a:cubicBezTo>
                <a:lnTo>
                  <a:pt x="248" y="16"/>
                </a:lnTo>
                <a:cubicBezTo>
                  <a:pt x="243" y="16"/>
                  <a:pt x="240" y="12"/>
                  <a:pt x="240" y="8"/>
                </a:cubicBezTo>
                <a:cubicBezTo>
                  <a:pt x="240" y="4"/>
                  <a:pt x="243" y="0"/>
                  <a:pt x="248" y="0"/>
                </a:cubicBezTo>
                <a:close/>
                <a:moveTo>
                  <a:pt x="328" y="0"/>
                </a:moveTo>
                <a:lnTo>
                  <a:pt x="328" y="0"/>
                </a:lnTo>
                <a:cubicBezTo>
                  <a:pt x="332" y="0"/>
                  <a:pt x="336" y="4"/>
                  <a:pt x="336" y="8"/>
                </a:cubicBezTo>
                <a:cubicBezTo>
                  <a:pt x="336" y="12"/>
                  <a:pt x="332" y="16"/>
                  <a:pt x="328" y="16"/>
                </a:cubicBezTo>
                <a:lnTo>
                  <a:pt x="328" y="16"/>
                </a:lnTo>
                <a:cubicBezTo>
                  <a:pt x="323" y="16"/>
                  <a:pt x="320" y="12"/>
                  <a:pt x="320" y="8"/>
                </a:cubicBezTo>
                <a:cubicBezTo>
                  <a:pt x="320" y="4"/>
                  <a:pt x="323" y="0"/>
                  <a:pt x="328" y="0"/>
                </a:cubicBezTo>
                <a:close/>
                <a:moveTo>
                  <a:pt x="408" y="0"/>
                </a:moveTo>
                <a:lnTo>
                  <a:pt x="408" y="0"/>
                </a:lnTo>
                <a:cubicBezTo>
                  <a:pt x="412" y="0"/>
                  <a:pt x="416" y="4"/>
                  <a:pt x="416" y="8"/>
                </a:cubicBezTo>
                <a:cubicBezTo>
                  <a:pt x="416" y="12"/>
                  <a:pt x="412" y="16"/>
                  <a:pt x="408" y="16"/>
                </a:cubicBezTo>
                <a:lnTo>
                  <a:pt x="408" y="16"/>
                </a:lnTo>
                <a:cubicBezTo>
                  <a:pt x="403" y="16"/>
                  <a:pt x="400" y="12"/>
                  <a:pt x="400" y="8"/>
                </a:cubicBezTo>
                <a:cubicBezTo>
                  <a:pt x="400" y="4"/>
                  <a:pt x="403" y="0"/>
                  <a:pt x="408" y="0"/>
                </a:cubicBezTo>
                <a:close/>
                <a:moveTo>
                  <a:pt x="488" y="0"/>
                </a:moveTo>
                <a:lnTo>
                  <a:pt x="488" y="0"/>
                </a:lnTo>
                <a:cubicBezTo>
                  <a:pt x="492" y="0"/>
                  <a:pt x="496" y="4"/>
                  <a:pt x="496" y="8"/>
                </a:cubicBezTo>
                <a:cubicBezTo>
                  <a:pt x="496" y="12"/>
                  <a:pt x="492" y="16"/>
                  <a:pt x="488" y="16"/>
                </a:cubicBezTo>
                <a:lnTo>
                  <a:pt x="488" y="16"/>
                </a:lnTo>
                <a:cubicBezTo>
                  <a:pt x="483" y="16"/>
                  <a:pt x="480" y="12"/>
                  <a:pt x="480" y="8"/>
                </a:cubicBezTo>
                <a:cubicBezTo>
                  <a:pt x="480" y="4"/>
                  <a:pt x="483" y="0"/>
                  <a:pt x="488" y="0"/>
                </a:cubicBezTo>
                <a:close/>
                <a:moveTo>
                  <a:pt x="568" y="0"/>
                </a:moveTo>
                <a:lnTo>
                  <a:pt x="568" y="0"/>
                </a:lnTo>
                <a:cubicBezTo>
                  <a:pt x="572" y="0"/>
                  <a:pt x="576" y="4"/>
                  <a:pt x="576" y="8"/>
                </a:cubicBezTo>
                <a:cubicBezTo>
                  <a:pt x="576" y="12"/>
                  <a:pt x="572" y="16"/>
                  <a:pt x="568" y="16"/>
                </a:cubicBezTo>
                <a:lnTo>
                  <a:pt x="568" y="16"/>
                </a:lnTo>
                <a:cubicBezTo>
                  <a:pt x="563" y="16"/>
                  <a:pt x="560" y="12"/>
                  <a:pt x="560" y="8"/>
                </a:cubicBezTo>
                <a:cubicBezTo>
                  <a:pt x="560" y="4"/>
                  <a:pt x="563" y="0"/>
                  <a:pt x="568" y="0"/>
                </a:cubicBezTo>
                <a:close/>
                <a:moveTo>
                  <a:pt x="648" y="0"/>
                </a:moveTo>
                <a:lnTo>
                  <a:pt x="648" y="0"/>
                </a:lnTo>
                <a:cubicBezTo>
                  <a:pt x="652" y="0"/>
                  <a:pt x="656" y="4"/>
                  <a:pt x="656" y="8"/>
                </a:cubicBezTo>
                <a:cubicBezTo>
                  <a:pt x="656" y="12"/>
                  <a:pt x="652" y="16"/>
                  <a:pt x="648" y="16"/>
                </a:cubicBezTo>
                <a:lnTo>
                  <a:pt x="648" y="16"/>
                </a:lnTo>
                <a:cubicBezTo>
                  <a:pt x="643" y="16"/>
                  <a:pt x="640" y="12"/>
                  <a:pt x="640" y="8"/>
                </a:cubicBezTo>
                <a:cubicBezTo>
                  <a:pt x="640" y="4"/>
                  <a:pt x="643" y="0"/>
                  <a:pt x="648" y="0"/>
                </a:cubicBezTo>
                <a:close/>
                <a:moveTo>
                  <a:pt x="728" y="0"/>
                </a:moveTo>
                <a:lnTo>
                  <a:pt x="728" y="0"/>
                </a:lnTo>
                <a:cubicBezTo>
                  <a:pt x="732" y="0"/>
                  <a:pt x="736" y="4"/>
                  <a:pt x="736" y="8"/>
                </a:cubicBezTo>
                <a:cubicBezTo>
                  <a:pt x="736" y="12"/>
                  <a:pt x="732" y="16"/>
                  <a:pt x="728" y="16"/>
                </a:cubicBezTo>
                <a:lnTo>
                  <a:pt x="728" y="16"/>
                </a:lnTo>
                <a:cubicBezTo>
                  <a:pt x="724" y="16"/>
                  <a:pt x="720" y="12"/>
                  <a:pt x="720" y="8"/>
                </a:cubicBezTo>
                <a:cubicBezTo>
                  <a:pt x="720" y="4"/>
                  <a:pt x="724" y="0"/>
                  <a:pt x="728" y="0"/>
                </a:cubicBezTo>
                <a:close/>
                <a:moveTo>
                  <a:pt x="808" y="0"/>
                </a:moveTo>
                <a:lnTo>
                  <a:pt x="808" y="0"/>
                </a:lnTo>
                <a:cubicBezTo>
                  <a:pt x="812" y="0"/>
                  <a:pt x="816" y="4"/>
                  <a:pt x="816" y="8"/>
                </a:cubicBezTo>
                <a:cubicBezTo>
                  <a:pt x="816" y="12"/>
                  <a:pt x="812" y="16"/>
                  <a:pt x="808" y="16"/>
                </a:cubicBezTo>
                <a:lnTo>
                  <a:pt x="808" y="16"/>
                </a:lnTo>
                <a:cubicBezTo>
                  <a:pt x="804" y="16"/>
                  <a:pt x="800" y="12"/>
                  <a:pt x="800" y="8"/>
                </a:cubicBezTo>
                <a:cubicBezTo>
                  <a:pt x="800" y="4"/>
                  <a:pt x="804" y="0"/>
                  <a:pt x="808" y="0"/>
                </a:cubicBezTo>
                <a:close/>
                <a:moveTo>
                  <a:pt x="888" y="0"/>
                </a:moveTo>
                <a:lnTo>
                  <a:pt x="888" y="0"/>
                </a:lnTo>
                <a:cubicBezTo>
                  <a:pt x="892" y="0"/>
                  <a:pt x="896" y="4"/>
                  <a:pt x="896" y="8"/>
                </a:cubicBezTo>
                <a:cubicBezTo>
                  <a:pt x="896" y="12"/>
                  <a:pt x="892" y="16"/>
                  <a:pt x="888" y="16"/>
                </a:cubicBezTo>
                <a:lnTo>
                  <a:pt x="888" y="16"/>
                </a:lnTo>
                <a:cubicBezTo>
                  <a:pt x="884" y="16"/>
                  <a:pt x="880" y="12"/>
                  <a:pt x="880" y="8"/>
                </a:cubicBezTo>
                <a:cubicBezTo>
                  <a:pt x="880" y="4"/>
                  <a:pt x="884" y="0"/>
                  <a:pt x="888" y="0"/>
                </a:cubicBezTo>
                <a:close/>
                <a:moveTo>
                  <a:pt x="968" y="0"/>
                </a:moveTo>
                <a:lnTo>
                  <a:pt x="968" y="0"/>
                </a:lnTo>
                <a:cubicBezTo>
                  <a:pt x="972" y="0"/>
                  <a:pt x="976" y="4"/>
                  <a:pt x="976" y="8"/>
                </a:cubicBezTo>
                <a:cubicBezTo>
                  <a:pt x="976" y="12"/>
                  <a:pt x="972" y="16"/>
                  <a:pt x="968" y="16"/>
                </a:cubicBezTo>
                <a:lnTo>
                  <a:pt x="968" y="16"/>
                </a:lnTo>
                <a:cubicBezTo>
                  <a:pt x="964" y="16"/>
                  <a:pt x="960" y="12"/>
                  <a:pt x="960" y="8"/>
                </a:cubicBezTo>
                <a:cubicBezTo>
                  <a:pt x="960" y="4"/>
                  <a:pt x="964" y="0"/>
                  <a:pt x="968" y="0"/>
                </a:cubicBezTo>
                <a:close/>
                <a:moveTo>
                  <a:pt x="1048" y="0"/>
                </a:moveTo>
                <a:lnTo>
                  <a:pt x="1048" y="0"/>
                </a:lnTo>
                <a:cubicBezTo>
                  <a:pt x="1052" y="0"/>
                  <a:pt x="1056" y="4"/>
                  <a:pt x="1056" y="8"/>
                </a:cubicBezTo>
                <a:cubicBezTo>
                  <a:pt x="1056" y="12"/>
                  <a:pt x="1052" y="16"/>
                  <a:pt x="1048" y="16"/>
                </a:cubicBezTo>
                <a:lnTo>
                  <a:pt x="1048" y="16"/>
                </a:lnTo>
                <a:cubicBezTo>
                  <a:pt x="1044" y="16"/>
                  <a:pt x="1040" y="12"/>
                  <a:pt x="1040" y="8"/>
                </a:cubicBezTo>
                <a:cubicBezTo>
                  <a:pt x="1040" y="4"/>
                  <a:pt x="1044" y="0"/>
                  <a:pt x="1048" y="0"/>
                </a:cubicBezTo>
                <a:close/>
                <a:moveTo>
                  <a:pt x="1128" y="0"/>
                </a:moveTo>
                <a:lnTo>
                  <a:pt x="1128" y="0"/>
                </a:lnTo>
                <a:cubicBezTo>
                  <a:pt x="1132" y="0"/>
                  <a:pt x="1136" y="4"/>
                  <a:pt x="1136" y="8"/>
                </a:cubicBezTo>
                <a:cubicBezTo>
                  <a:pt x="1136" y="12"/>
                  <a:pt x="1132" y="16"/>
                  <a:pt x="1128" y="16"/>
                </a:cubicBezTo>
                <a:lnTo>
                  <a:pt x="1128" y="16"/>
                </a:lnTo>
                <a:cubicBezTo>
                  <a:pt x="1124" y="16"/>
                  <a:pt x="1120" y="12"/>
                  <a:pt x="1120" y="8"/>
                </a:cubicBezTo>
                <a:cubicBezTo>
                  <a:pt x="1120" y="4"/>
                  <a:pt x="1124" y="0"/>
                  <a:pt x="1128" y="0"/>
                </a:cubicBezTo>
                <a:close/>
                <a:moveTo>
                  <a:pt x="1208" y="0"/>
                </a:moveTo>
                <a:lnTo>
                  <a:pt x="1208" y="0"/>
                </a:lnTo>
                <a:cubicBezTo>
                  <a:pt x="1212" y="0"/>
                  <a:pt x="1216" y="4"/>
                  <a:pt x="1216" y="8"/>
                </a:cubicBezTo>
                <a:cubicBezTo>
                  <a:pt x="1216" y="12"/>
                  <a:pt x="1212" y="16"/>
                  <a:pt x="1208" y="16"/>
                </a:cubicBezTo>
                <a:lnTo>
                  <a:pt x="1208" y="16"/>
                </a:lnTo>
                <a:cubicBezTo>
                  <a:pt x="1204" y="16"/>
                  <a:pt x="1200" y="12"/>
                  <a:pt x="1200" y="8"/>
                </a:cubicBezTo>
                <a:cubicBezTo>
                  <a:pt x="1200" y="4"/>
                  <a:pt x="1204" y="0"/>
                  <a:pt x="1208" y="0"/>
                </a:cubicBezTo>
                <a:close/>
                <a:moveTo>
                  <a:pt x="1288" y="0"/>
                </a:moveTo>
                <a:lnTo>
                  <a:pt x="1288" y="0"/>
                </a:lnTo>
                <a:cubicBezTo>
                  <a:pt x="1292" y="0"/>
                  <a:pt x="1296" y="4"/>
                  <a:pt x="1296" y="8"/>
                </a:cubicBezTo>
                <a:cubicBezTo>
                  <a:pt x="1296" y="12"/>
                  <a:pt x="1292" y="16"/>
                  <a:pt x="1288" y="16"/>
                </a:cubicBezTo>
                <a:lnTo>
                  <a:pt x="1288" y="16"/>
                </a:lnTo>
                <a:cubicBezTo>
                  <a:pt x="1284" y="16"/>
                  <a:pt x="1280" y="12"/>
                  <a:pt x="1280" y="8"/>
                </a:cubicBezTo>
                <a:cubicBezTo>
                  <a:pt x="1280" y="4"/>
                  <a:pt x="1284" y="0"/>
                  <a:pt x="1288" y="0"/>
                </a:cubicBezTo>
                <a:close/>
                <a:moveTo>
                  <a:pt x="1368" y="0"/>
                </a:moveTo>
                <a:lnTo>
                  <a:pt x="1368" y="0"/>
                </a:lnTo>
                <a:cubicBezTo>
                  <a:pt x="1372" y="0"/>
                  <a:pt x="1376" y="4"/>
                  <a:pt x="1376" y="8"/>
                </a:cubicBezTo>
                <a:cubicBezTo>
                  <a:pt x="1376" y="12"/>
                  <a:pt x="1372" y="16"/>
                  <a:pt x="1368" y="16"/>
                </a:cubicBezTo>
                <a:lnTo>
                  <a:pt x="1368" y="16"/>
                </a:lnTo>
                <a:cubicBezTo>
                  <a:pt x="1364" y="16"/>
                  <a:pt x="1360" y="12"/>
                  <a:pt x="1360" y="8"/>
                </a:cubicBezTo>
                <a:cubicBezTo>
                  <a:pt x="1360" y="4"/>
                  <a:pt x="1364" y="0"/>
                  <a:pt x="1368" y="0"/>
                </a:cubicBezTo>
                <a:close/>
                <a:moveTo>
                  <a:pt x="1448" y="0"/>
                </a:moveTo>
                <a:lnTo>
                  <a:pt x="1448" y="0"/>
                </a:lnTo>
                <a:cubicBezTo>
                  <a:pt x="1453" y="0"/>
                  <a:pt x="1456" y="4"/>
                  <a:pt x="1456" y="8"/>
                </a:cubicBezTo>
                <a:cubicBezTo>
                  <a:pt x="1456" y="12"/>
                  <a:pt x="1453" y="16"/>
                  <a:pt x="1448" y="16"/>
                </a:cubicBezTo>
                <a:lnTo>
                  <a:pt x="1448" y="16"/>
                </a:lnTo>
                <a:cubicBezTo>
                  <a:pt x="1444" y="16"/>
                  <a:pt x="1440" y="12"/>
                  <a:pt x="1440" y="8"/>
                </a:cubicBezTo>
                <a:cubicBezTo>
                  <a:pt x="1440" y="4"/>
                  <a:pt x="1444" y="0"/>
                  <a:pt x="1448" y="0"/>
                </a:cubicBezTo>
                <a:close/>
                <a:moveTo>
                  <a:pt x="1528" y="0"/>
                </a:moveTo>
                <a:lnTo>
                  <a:pt x="1528" y="0"/>
                </a:lnTo>
                <a:cubicBezTo>
                  <a:pt x="1533" y="0"/>
                  <a:pt x="1536" y="4"/>
                  <a:pt x="1536" y="8"/>
                </a:cubicBezTo>
                <a:cubicBezTo>
                  <a:pt x="1536" y="12"/>
                  <a:pt x="1533" y="16"/>
                  <a:pt x="1528" y="16"/>
                </a:cubicBezTo>
                <a:lnTo>
                  <a:pt x="1528" y="16"/>
                </a:lnTo>
                <a:cubicBezTo>
                  <a:pt x="1524" y="16"/>
                  <a:pt x="1520" y="12"/>
                  <a:pt x="1520" y="8"/>
                </a:cubicBezTo>
                <a:cubicBezTo>
                  <a:pt x="1520" y="4"/>
                  <a:pt x="1524" y="0"/>
                  <a:pt x="1528" y="0"/>
                </a:cubicBezTo>
                <a:close/>
                <a:moveTo>
                  <a:pt x="1608" y="0"/>
                </a:moveTo>
                <a:lnTo>
                  <a:pt x="1608" y="0"/>
                </a:lnTo>
                <a:cubicBezTo>
                  <a:pt x="1613" y="0"/>
                  <a:pt x="1616" y="4"/>
                  <a:pt x="1616" y="8"/>
                </a:cubicBezTo>
                <a:cubicBezTo>
                  <a:pt x="1616" y="12"/>
                  <a:pt x="1613" y="16"/>
                  <a:pt x="1608" y="16"/>
                </a:cubicBezTo>
                <a:lnTo>
                  <a:pt x="1608" y="16"/>
                </a:lnTo>
                <a:cubicBezTo>
                  <a:pt x="1604" y="16"/>
                  <a:pt x="1600" y="12"/>
                  <a:pt x="1600" y="8"/>
                </a:cubicBezTo>
                <a:cubicBezTo>
                  <a:pt x="1600" y="4"/>
                  <a:pt x="1604" y="0"/>
                  <a:pt x="1608" y="0"/>
                </a:cubicBezTo>
                <a:close/>
                <a:moveTo>
                  <a:pt x="1688" y="0"/>
                </a:moveTo>
                <a:lnTo>
                  <a:pt x="1688" y="0"/>
                </a:lnTo>
                <a:cubicBezTo>
                  <a:pt x="1693" y="0"/>
                  <a:pt x="1696" y="4"/>
                  <a:pt x="1696" y="8"/>
                </a:cubicBezTo>
                <a:cubicBezTo>
                  <a:pt x="1696" y="12"/>
                  <a:pt x="1693" y="16"/>
                  <a:pt x="1688" y="16"/>
                </a:cubicBezTo>
                <a:lnTo>
                  <a:pt x="1688" y="16"/>
                </a:lnTo>
                <a:cubicBezTo>
                  <a:pt x="1684" y="16"/>
                  <a:pt x="1680" y="12"/>
                  <a:pt x="1680" y="8"/>
                </a:cubicBezTo>
                <a:cubicBezTo>
                  <a:pt x="1680" y="4"/>
                  <a:pt x="1684" y="0"/>
                  <a:pt x="1688" y="0"/>
                </a:cubicBezTo>
                <a:close/>
                <a:moveTo>
                  <a:pt x="1768" y="0"/>
                </a:moveTo>
                <a:lnTo>
                  <a:pt x="1768" y="0"/>
                </a:lnTo>
                <a:cubicBezTo>
                  <a:pt x="1773" y="0"/>
                  <a:pt x="1776" y="4"/>
                  <a:pt x="1776" y="8"/>
                </a:cubicBezTo>
                <a:cubicBezTo>
                  <a:pt x="1776" y="12"/>
                  <a:pt x="1773" y="16"/>
                  <a:pt x="1768" y="16"/>
                </a:cubicBezTo>
                <a:lnTo>
                  <a:pt x="1768" y="16"/>
                </a:lnTo>
                <a:cubicBezTo>
                  <a:pt x="1764" y="16"/>
                  <a:pt x="1760" y="12"/>
                  <a:pt x="1760" y="8"/>
                </a:cubicBezTo>
                <a:cubicBezTo>
                  <a:pt x="1760" y="4"/>
                  <a:pt x="1764" y="0"/>
                  <a:pt x="1768" y="0"/>
                </a:cubicBezTo>
                <a:close/>
                <a:moveTo>
                  <a:pt x="1848" y="0"/>
                </a:moveTo>
                <a:lnTo>
                  <a:pt x="1848" y="0"/>
                </a:lnTo>
                <a:cubicBezTo>
                  <a:pt x="1853" y="0"/>
                  <a:pt x="1856" y="4"/>
                  <a:pt x="1856" y="8"/>
                </a:cubicBezTo>
                <a:cubicBezTo>
                  <a:pt x="1856" y="12"/>
                  <a:pt x="1853" y="16"/>
                  <a:pt x="1848" y="16"/>
                </a:cubicBezTo>
                <a:lnTo>
                  <a:pt x="1848" y="16"/>
                </a:lnTo>
                <a:cubicBezTo>
                  <a:pt x="1844" y="16"/>
                  <a:pt x="1840" y="12"/>
                  <a:pt x="1840" y="8"/>
                </a:cubicBezTo>
                <a:cubicBezTo>
                  <a:pt x="1840" y="4"/>
                  <a:pt x="1844" y="0"/>
                  <a:pt x="1848" y="0"/>
                </a:cubicBezTo>
                <a:close/>
                <a:moveTo>
                  <a:pt x="1928" y="0"/>
                </a:moveTo>
                <a:lnTo>
                  <a:pt x="1928" y="0"/>
                </a:lnTo>
                <a:cubicBezTo>
                  <a:pt x="1933" y="0"/>
                  <a:pt x="1936" y="4"/>
                  <a:pt x="1936" y="8"/>
                </a:cubicBezTo>
                <a:cubicBezTo>
                  <a:pt x="1936" y="12"/>
                  <a:pt x="1933" y="16"/>
                  <a:pt x="1928" y="16"/>
                </a:cubicBezTo>
                <a:lnTo>
                  <a:pt x="1928" y="16"/>
                </a:lnTo>
                <a:cubicBezTo>
                  <a:pt x="1924" y="16"/>
                  <a:pt x="1920" y="12"/>
                  <a:pt x="1920" y="8"/>
                </a:cubicBezTo>
                <a:cubicBezTo>
                  <a:pt x="1920" y="4"/>
                  <a:pt x="1924" y="0"/>
                  <a:pt x="1928" y="0"/>
                </a:cubicBezTo>
                <a:close/>
                <a:moveTo>
                  <a:pt x="2008" y="0"/>
                </a:moveTo>
                <a:lnTo>
                  <a:pt x="2008" y="0"/>
                </a:lnTo>
                <a:cubicBezTo>
                  <a:pt x="2013" y="0"/>
                  <a:pt x="2016" y="4"/>
                  <a:pt x="2016" y="8"/>
                </a:cubicBezTo>
                <a:cubicBezTo>
                  <a:pt x="2016" y="12"/>
                  <a:pt x="2013" y="16"/>
                  <a:pt x="2008" y="16"/>
                </a:cubicBezTo>
                <a:lnTo>
                  <a:pt x="2008" y="16"/>
                </a:lnTo>
                <a:cubicBezTo>
                  <a:pt x="2004" y="16"/>
                  <a:pt x="2000" y="12"/>
                  <a:pt x="2000" y="8"/>
                </a:cubicBezTo>
                <a:cubicBezTo>
                  <a:pt x="2000" y="4"/>
                  <a:pt x="2004" y="0"/>
                  <a:pt x="2008" y="0"/>
                </a:cubicBezTo>
                <a:close/>
                <a:moveTo>
                  <a:pt x="2088" y="0"/>
                </a:moveTo>
                <a:lnTo>
                  <a:pt x="2088" y="0"/>
                </a:lnTo>
                <a:cubicBezTo>
                  <a:pt x="2093" y="0"/>
                  <a:pt x="2096" y="4"/>
                  <a:pt x="2096" y="8"/>
                </a:cubicBezTo>
                <a:cubicBezTo>
                  <a:pt x="2096" y="12"/>
                  <a:pt x="2093" y="16"/>
                  <a:pt x="2088" y="16"/>
                </a:cubicBezTo>
                <a:lnTo>
                  <a:pt x="2088" y="16"/>
                </a:lnTo>
                <a:cubicBezTo>
                  <a:pt x="2084" y="16"/>
                  <a:pt x="2080" y="12"/>
                  <a:pt x="2080" y="8"/>
                </a:cubicBezTo>
                <a:cubicBezTo>
                  <a:pt x="2080" y="4"/>
                  <a:pt x="2084" y="0"/>
                  <a:pt x="2088" y="0"/>
                </a:cubicBezTo>
                <a:close/>
                <a:moveTo>
                  <a:pt x="2168" y="0"/>
                </a:moveTo>
                <a:lnTo>
                  <a:pt x="2168" y="0"/>
                </a:lnTo>
                <a:cubicBezTo>
                  <a:pt x="2173" y="0"/>
                  <a:pt x="2176" y="4"/>
                  <a:pt x="2176" y="8"/>
                </a:cubicBezTo>
                <a:cubicBezTo>
                  <a:pt x="2176" y="12"/>
                  <a:pt x="2173" y="16"/>
                  <a:pt x="2168" y="16"/>
                </a:cubicBezTo>
                <a:lnTo>
                  <a:pt x="2168" y="16"/>
                </a:lnTo>
                <a:cubicBezTo>
                  <a:pt x="2164" y="16"/>
                  <a:pt x="2160" y="12"/>
                  <a:pt x="2160" y="8"/>
                </a:cubicBezTo>
                <a:cubicBezTo>
                  <a:pt x="2160" y="4"/>
                  <a:pt x="2164" y="0"/>
                  <a:pt x="2168" y="0"/>
                </a:cubicBezTo>
                <a:close/>
                <a:moveTo>
                  <a:pt x="2248" y="0"/>
                </a:moveTo>
                <a:lnTo>
                  <a:pt x="2248" y="0"/>
                </a:lnTo>
                <a:cubicBezTo>
                  <a:pt x="2253" y="0"/>
                  <a:pt x="2256" y="4"/>
                  <a:pt x="2256" y="8"/>
                </a:cubicBezTo>
                <a:cubicBezTo>
                  <a:pt x="2256" y="12"/>
                  <a:pt x="2253" y="16"/>
                  <a:pt x="2248" y="16"/>
                </a:cubicBezTo>
                <a:lnTo>
                  <a:pt x="2248" y="16"/>
                </a:lnTo>
                <a:cubicBezTo>
                  <a:pt x="2244" y="16"/>
                  <a:pt x="2240" y="12"/>
                  <a:pt x="2240" y="8"/>
                </a:cubicBezTo>
                <a:cubicBezTo>
                  <a:pt x="2240" y="4"/>
                  <a:pt x="2244" y="0"/>
                  <a:pt x="2248" y="0"/>
                </a:cubicBezTo>
                <a:close/>
                <a:moveTo>
                  <a:pt x="2328" y="0"/>
                </a:moveTo>
                <a:lnTo>
                  <a:pt x="2328" y="0"/>
                </a:lnTo>
                <a:cubicBezTo>
                  <a:pt x="2333" y="0"/>
                  <a:pt x="2336" y="4"/>
                  <a:pt x="2336" y="8"/>
                </a:cubicBezTo>
                <a:cubicBezTo>
                  <a:pt x="2336" y="12"/>
                  <a:pt x="2333" y="16"/>
                  <a:pt x="2328" y="16"/>
                </a:cubicBezTo>
                <a:lnTo>
                  <a:pt x="2328" y="16"/>
                </a:lnTo>
                <a:cubicBezTo>
                  <a:pt x="2324" y="16"/>
                  <a:pt x="2320" y="12"/>
                  <a:pt x="2320" y="8"/>
                </a:cubicBezTo>
                <a:cubicBezTo>
                  <a:pt x="2320" y="4"/>
                  <a:pt x="2324" y="0"/>
                  <a:pt x="2328" y="0"/>
                </a:cubicBezTo>
                <a:close/>
                <a:moveTo>
                  <a:pt x="2408" y="0"/>
                </a:moveTo>
                <a:lnTo>
                  <a:pt x="2408" y="0"/>
                </a:lnTo>
                <a:cubicBezTo>
                  <a:pt x="2413" y="0"/>
                  <a:pt x="2416" y="4"/>
                  <a:pt x="2416" y="8"/>
                </a:cubicBezTo>
                <a:cubicBezTo>
                  <a:pt x="2416" y="12"/>
                  <a:pt x="2413" y="16"/>
                  <a:pt x="2408" y="16"/>
                </a:cubicBezTo>
                <a:lnTo>
                  <a:pt x="2408" y="16"/>
                </a:lnTo>
                <a:cubicBezTo>
                  <a:pt x="2404" y="16"/>
                  <a:pt x="2400" y="12"/>
                  <a:pt x="2400" y="8"/>
                </a:cubicBezTo>
                <a:cubicBezTo>
                  <a:pt x="2400" y="4"/>
                  <a:pt x="2404" y="0"/>
                  <a:pt x="2408" y="0"/>
                </a:cubicBezTo>
                <a:close/>
                <a:moveTo>
                  <a:pt x="2488" y="0"/>
                </a:moveTo>
                <a:lnTo>
                  <a:pt x="2488" y="0"/>
                </a:lnTo>
                <a:cubicBezTo>
                  <a:pt x="2493" y="0"/>
                  <a:pt x="2496" y="4"/>
                  <a:pt x="2496" y="8"/>
                </a:cubicBezTo>
                <a:cubicBezTo>
                  <a:pt x="2496" y="12"/>
                  <a:pt x="2493" y="16"/>
                  <a:pt x="2488" y="16"/>
                </a:cubicBezTo>
                <a:lnTo>
                  <a:pt x="2488" y="16"/>
                </a:lnTo>
                <a:cubicBezTo>
                  <a:pt x="2484" y="16"/>
                  <a:pt x="2480" y="12"/>
                  <a:pt x="2480" y="8"/>
                </a:cubicBezTo>
                <a:cubicBezTo>
                  <a:pt x="2480" y="4"/>
                  <a:pt x="2484" y="0"/>
                  <a:pt x="2488" y="0"/>
                </a:cubicBezTo>
                <a:close/>
                <a:moveTo>
                  <a:pt x="2568" y="0"/>
                </a:moveTo>
                <a:lnTo>
                  <a:pt x="2568" y="0"/>
                </a:lnTo>
                <a:cubicBezTo>
                  <a:pt x="2573" y="0"/>
                  <a:pt x="2576" y="4"/>
                  <a:pt x="2576" y="8"/>
                </a:cubicBezTo>
                <a:cubicBezTo>
                  <a:pt x="2576" y="12"/>
                  <a:pt x="2573" y="16"/>
                  <a:pt x="2568" y="16"/>
                </a:cubicBezTo>
                <a:lnTo>
                  <a:pt x="2568" y="16"/>
                </a:lnTo>
                <a:cubicBezTo>
                  <a:pt x="2564" y="16"/>
                  <a:pt x="2560" y="12"/>
                  <a:pt x="2560" y="8"/>
                </a:cubicBezTo>
                <a:cubicBezTo>
                  <a:pt x="2560" y="4"/>
                  <a:pt x="2564" y="0"/>
                  <a:pt x="2568" y="0"/>
                </a:cubicBezTo>
                <a:close/>
                <a:moveTo>
                  <a:pt x="2648" y="0"/>
                </a:moveTo>
                <a:lnTo>
                  <a:pt x="2648" y="0"/>
                </a:lnTo>
                <a:cubicBezTo>
                  <a:pt x="2653" y="0"/>
                  <a:pt x="2656" y="4"/>
                  <a:pt x="2656" y="8"/>
                </a:cubicBezTo>
                <a:cubicBezTo>
                  <a:pt x="2656" y="12"/>
                  <a:pt x="2653" y="16"/>
                  <a:pt x="2648" y="16"/>
                </a:cubicBezTo>
                <a:lnTo>
                  <a:pt x="2648" y="16"/>
                </a:lnTo>
                <a:cubicBezTo>
                  <a:pt x="2644" y="16"/>
                  <a:pt x="2640" y="12"/>
                  <a:pt x="2640" y="8"/>
                </a:cubicBezTo>
                <a:cubicBezTo>
                  <a:pt x="2640" y="4"/>
                  <a:pt x="2644" y="0"/>
                  <a:pt x="2648" y="0"/>
                </a:cubicBezTo>
                <a:close/>
                <a:moveTo>
                  <a:pt x="2728" y="0"/>
                </a:moveTo>
                <a:lnTo>
                  <a:pt x="2728" y="0"/>
                </a:lnTo>
                <a:cubicBezTo>
                  <a:pt x="2733" y="0"/>
                  <a:pt x="2736" y="4"/>
                  <a:pt x="2736" y="8"/>
                </a:cubicBezTo>
                <a:cubicBezTo>
                  <a:pt x="2736" y="12"/>
                  <a:pt x="2733" y="16"/>
                  <a:pt x="2728" y="16"/>
                </a:cubicBezTo>
                <a:lnTo>
                  <a:pt x="2728" y="16"/>
                </a:lnTo>
                <a:cubicBezTo>
                  <a:pt x="2724" y="16"/>
                  <a:pt x="2720" y="12"/>
                  <a:pt x="2720" y="8"/>
                </a:cubicBezTo>
                <a:cubicBezTo>
                  <a:pt x="2720" y="4"/>
                  <a:pt x="2724" y="0"/>
                  <a:pt x="2728" y="0"/>
                </a:cubicBezTo>
                <a:close/>
                <a:moveTo>
                  <a:pt x="2808" y="0"/>
                </a:moveTo>
                <a:lnTo>
                  <a:pt x="2808" y="0"/>
                </a:lnTo>
                <a:cubicBezTo>
                  <a:pt x="2813" y="0"/>
                  <a:pt x="2816" y="4"/>
                  <a:pt x="2816" y="8"/>
                </a:cubicBezTo>
                <a:cubicBezTo>
                  <a:pt x="2816" y="12"/>
                  <a:pt x="2813" y="16"/>
                  <a:pt x="2808" y="16"/>
                </a:cubicBezTo>
                <a:lnTo>
                  <a:pt x="2808" y="16"/>
                </a:lnTo>
                <a:cubicBezTo>
                  <a:pt x="2804" y="16"/>
                  <a:pt x="2800" y="12"/>
                  <a:pt x="2800" y="8"/>
                </a:cubicBezTo>
                <a:cubicBezTo>
                  <a:pt x="2800" y="4"/>
                  <a:pt x="2804" y="0"/>
                  <a:pt x="2808" y="0"/>
                </a:cubicBezTo>
                <a:close/>
                <a:moveTo>
                  <a:pt x="2888" y="0"/>
                </a:moveTo>
                <a:lnTo>
                  <a:pt x="2888" y="0"/>
                </a:lnTo>
                <a:cubicBezTo>
                  <a:pt x="2893" y="0"/>
                  <a:pt x="2896" y="4"/>
                  <a:pt x="2896" y="8"/>
                </a:cubicBezTo>
                <a:cubicBezTo>
                  <a:pt x="2896" y="12"/>
                  <a:pt x="2893" y="16"/>
                  <a:pt x="2888" y="16"/>
                </a:cubicBezTo>
                <a:lnTo>
                  <a:pt x="2888" y="16"/>
                </a:lnTo>
                <a:cubicBezTo>
                  <a:pt x="2884" y="16"/>
                  <a:pt x="2880" y="12"/>
                  <a:pt x="2880" y="8"/>
                </a:cubicBezTo>
                <a:cubicBezTo>
                  <a:pt x="2880" y="4"/>
                  <a:pt x="2884" y="0"/>
                  <a:pt x="2888" y="0"/>
                </a:cubicBezTo>
                <a:close/>
                <a:moveTo>
                  <a:pt x="2968" y="0"/>
                </a:moveTo>
                <a:lnTo>
                  <a:pt x="2968" y="0"/>
                </a:lnTo>
                <a:cubicBezTo>
                  <a:pt x="2973" y="0"/>
                  <a:pt x="2976" y="4"/>
                  <a:pt x="2976" y="8"/>
                </a:cubicBezTo>
                <a:cubicBezTo>
                  <a:pt x="2976" y="12"/>
                  <a:pt x="2973" y="16"/>
                  <a:pt x="2968" y="16"/>
                </a:cubicBezTo>
                <a:lnTo>
                  <a:pt x="2968" y="16"/>
                </a:lnTo>
                <a:cubicBezTo>
                  <a:pt x="2964" y="16"/>
                  <a:pt x="2960" y="12"/>
                  <a:pt x="2960" y="8"/>
                </a:cubicBezTo>
                <a:cubicBezTo>
                  <a:pt x="2960" y="4"/>
                  <a:pt x="2964" y="0"/>
                  <a:pt x="2968" y="0"/>
                </a:cubicBezTo>
                <a:close/>
                <a:moveTo>
                  <a:pt x="3048" y="0"/>
                </a:moveTo>
                <a:lnTo>
                  <a:pt x="3048" y="0"/>
                </a:lnTo>
                <a:cubicBezTo>
                  <a:pt x="3053" y="0"/>
                  <a:pt x="3056" y="4"/>
                  <a:pt x="3056" y="8"/>
                </a:cubicBezTo>
                <a:cubicBezTo>
                  <a:pt x="3056" y="12"/>
                  <a:pt x="3053" y="16"/>
                  <a:pt x="3048" y="16"/>
                </a:cubicBezTo>
                <a:lnTo>
                  <a:pt x="3048" y="16"/>
                </a:lnTo>
                <a:cubicBezTo>
                  <a:pt x="3044" y="16"/>
                  <a:pt x="3040" y="12"/>
                  <a:pt x="3040" y="8"/>
                </a:cubicBezTo>
                <a:cubicBezTo>
                  <a:pt x="3040" y="4"/>
                  <a:pt x="3044" y="0"/>
                  <a:pt x="3048" y="0"/>
                </a:cubicBezTo>
                <a:close/>
                <a:moveTo>
                  <a:pt x="3128" y="0"/>
                </a:moveTo>
                <a:lnTo>
                  <a:pt x="3128" y="0"/>
                </a:lnTo>
                <a:cubicBezTo>
                  <a:pt x="3133" y="0"/>
                  <a:pt x="3136" y="4"/>
                  <a:pt x="3136" y="8"/>
                </a:cubicBezTo>
                <a:cubicBezTo>
                  <a:pt x="3136" y="12"/>
                  <a:pt x="3133" y="16"/>
                  <a:pt x="3128" y="16"/>
                </a:cubicBezTo>
                <a:lnTo>
                  <a:pt x="3128" y="16"/>
                </a:lnTo>
                <a:cubicBezTo>
                  <a:pt x="3124" y="16"/>
                  <a:pt x="3120" y="12"/>
                  <a:pt x="3120" y="8"/>
                </a:cubicBezTo>
                <a:cubicBezTo>
                  <a:pt x="3120" y="4"/>
                  <a:pt x="3124" y="0"/>
                  <a:pt x="3128" y="0"/>
                </a:cubicBezTo>
                <a:close/>
                <a:moveTo>
                  <a:pt x="3208" y="0"/>
                </a:moveTo>
                <a:lnTo>
                  <a:pt x="3208" y="0"/>
                </a:lnTo>
                <a:cubicBezTo>
                  <a:pt x="3213" y="0"/>
                  <a:pt x="3216" y="4"/>
                  <a:pt x="3216" y="8"/>
                </a:cubicBezTo>
                <a:cubicBezTo>
                  <a:pt x="3216" y="12"/>
                  <a:pt x="3213" y="16"/>
                  <a:pt x="3208" y="16"/>
                </a:cubicBezTo>
                <a:lnTo>
                  <a:pt x="3208" y="16"/>
                </a:lnTo>
                <a:cubicBezTo>
                  <a:pt x="3204" y="16"/>
                  <a:pt x="3200" y="12"/>
                  <a:pt x="3200" y="8"/>
                </a:cubicBezTo>
                <a:cubicBezTo>
                  <a:pt x="3200" y="4"/>
                  <a:pt x="3204" y="0"/>
                  <a:pt x="3208" y="0"/>
                </a:cubicBezTo>
                <a:close/>
                <a:moveTo>
                  <a:pt x="3288" y="0"/>
                </a:moveTo>
                <a:lnTo>
                  <a:pt x="3288" y="0"/>
                </a:lnTo>
                <a:cubicBezTo>
                  <a:pt x="3293" y="0"/>
                  <a:pt x="3296" y="4"/>
                  <a:pt x="3296" y="8"/>
                </a:cubicBezTo>
                <a:cubicBezTo>
                  <a:pt x="3296" y="12"/>
                  <a:pt x="3293" y="16"/>
                  <a:pt x="3288" y="16"/>
                </a:cubicBezTo>
                <a:lnTo>
                  <a:pt x="3288" y="16"/>
                </a:lnTo>
                <a:cubicBezTo>
                  <a:pt x="3284" y="16"/>
                  <a:pt x="3280" y="12"/>
                  <a:pt x="3280" y="8"/>
                </a:cubicBezTo>
                <a:cubicBezTo>
                  <a:pt x="3280" y="4"/>
                  <a:pt x="3284" y="0"/>
                  <a:pt x="3288" y="0"/>
                </a:cubicBezTo>
                <a:close/>
                <a:moveTo>
                  <a:pt x="3368" y="0"/>
                </a:moveTo>
                <a:lnTo>
                  <a:pt x="3368" y="0"/>
                </a:lnTo>
                <a:cubicBezTo>
                  <a:pt x="3373" y="0"/>
                  <a:pt x="3376" y="4"/>
                  <a:pt x="3376" y="8"/>
                </a:cubicBezTo>
                <a:cubicBezTo>
                  <a:pt x="3376" y="12"/>
                  <a:pt x="3373" y="16"/>
                  <a:pt x="3368" y="16"/>
                </a:cubicBezTo>
                <a:lnTo>
                  <a:pt x="3368" y="16"/>
                </a:lnTo>
                <a:cubicBezTo>
                  <a:pt x="3364" y="16"/>
                  <a:pt x="3360" y="12"/>
                  <a:pt x="3360" y="8"/>
                </a:cubicBezTo>
                <a:cubicBezTo>
                  <a:pt x="3360" y="4"/>
                  <a:pt x="3364" y="0"/>
                  <a:pt x="3368" y="0"/>
                </a:cubicBezTo>
                <a:close/>
                <a:moveTo>
                  <a:pt x="3448" y="0"/>
                </a:moveTo>
                <a:lnTo>
                  <a:pt x="3448" y="0"/>
                </a:lnTo>
                <a:cubicBezTo>
                  <a:pt x="3453" y="0"/>
                  <a:pt x="3456" y="4"/>
                  <a:pt x="3456" y="8"/>
                </a:cubicBezTo>
                <a:cubicBezTo>
                  <a:pt x="3456" y="12"/>
                  <a:pt x="3453" y="16"/>
                  <a:pt x="3448" y="16"/>
                </a:cubicBezTo>
                <a:lnTo>
                  <a:pt x="3448" y="16"/>
                </a:lnTo>
                <a:cubicBezTo>
                  <a:pt x="3444" y="16"/>
                  <a:pt x="3440" y="12"/>
                  <a:pt x="3440" y="8"/>
                </a:cubicBezTo>
                <a:cubicBezTo>
                  <a:pt x="3440" y="4"/>
                  <a:pt x="3444" y="0"/>
                  <a:pt x="3448" y="0"/>
                </a:cubicBezTo>
                <a:close/>
                <a:moveTo>
                  <a:pt x="3528" y="0"/>
                </a:moveTo>
                <a:lnTo>
                  <a:pt x="3529" y="0"/>
                </a:lnTo>
                <a:cubicBezTo>
                  <a:pt x="3533" y="0"/>
                  <a:pt x="3537" y="4"/>
                  <a:pt x="3537" y="8"/>
                </a:cubicBezTo>
                <a:cubicBezTo>
                  <a:pt x="3537" y="12"/>
                  <a:pt x="3533" y="16"/>
                  <a:pt x="3529" y="16"/>
                </a:cubicBezTo>
                <a:lnTo>
                  <a:pt x="3528" y="16"/>
                </a:lnTo>
                <a:cubicBezTo>
                  <a:pt x="3524" y="16"/>
                  <a:pt x="3520" y="12"/>
                  <a:pt x="3520" y="8"/>
                </a:cubicBezTo>
                <a:cubicBezTo>
                  <a:pt x="3520" y="4"/>
                  <a:pt x="3524" y="0"/>
                  <a:pt x="3528" y="0"/>
                </a:cubicBezTo>
                <a:close/>
                <a:moveTo>
                  <a:pt x="3609" y="0"/>
                </a:moveTo>
                <a:lnTo>
                  <a:pt x="3609" y="0"/>
                </a:lnTo>
                <a:cubicBezTo>
                  <a:pt x="3613" y="0"/>
                  <a:pt x="3617" y="4"/>
                  <a:pt x="3617" y="8"/>
                </a:cubicBezTo>
                <a:cubicBezTo>
                  <a:pt x="3617" y="12"/>
                  <a:pt x="3613" y="16"/>
                  <a:pt x="3609" y="16"/>
                </a:cubicBezTo>
                <a:lnTo>
                  <a:pt x="3609" y="16"/>
                </a:lnTo>
                <a:cubicBezTo>
                  <a:pt x="3604" y="16"/>
                  <a:pt x="3601" y="12"/>
                  <a:pt x="3601" y="8"/>
                </a:cubicBezTo>
                <a:cubicBezTo>
                  <a:pt x="3601" y="4"/>
                  <a:pt x="3604" y="0"/>
                  <a:pt x="3609" y="0"/>
                </a:cubicBezTo>
                <a:close/>
                <a:moveTo>
                  <a:pt x="3689" y="0"/>
                </a:moveTo>
                <a:lnTo>
                  <a:pt x="3689" y="0"/>
                </a:lnTo>
                <a:cubicBezTo>
                  <a:pt x="3693" y="0"/>
                  <a:pt x="3697" y="4"/>
                  <a:pt x="3697" y="8"/>
                </a:cubicBezTo>
                <a:cubicBezTo>
                  <a:pt x="3697" y="12"/>
                  <a:pt x="3693" y="16"/>
                  <a:pt x="3689" y="16"/>
                </a:cubicBezTo>
                <a:lnTo>
                  <a:pt x="3689" y="16"/>
                </a:lnTo>
                <a:cubicBezTo>
                  <a:pt x="3684" y="16"/>
                  <a:pt x="3681" y="12"/>
                  <a:pt x="3681" y="8"/>
                </a:cubicBezTo>
                <a:cubicBezTo>
                  <a:pt x="3681" y="4"/>
                  <a:pt x="3684" y="0"/>
                  <a:pt x="3689" y="0"/>
                </a:cubicBezTo>
                <a:close/>
                <a:moveTo>
                  <a:pt x="3769" y="0"/>
                </a:moveTo>
                <a:lnTo>
                  <a:pt x="3769" y="0"/>
                </a:lnTo>
                <a:cubicBezTo>
                  <a:pt x="3773" y="0"/>
                  <a:pt x="3777" y="4"/>
                  <a:pt x="3777" y="8"/>
                </a:cubicBezTo>
                <a:cubicBezTo>
                  <a:pt x="3777" y="12"/>
                  <a:pt x="3773" y="16"/>
                  <a:pt x="3769" y="16"/>
                </a:cubicBezTo>
                <a:lnTo>
                  <a:pt x="3769" y="16"/>
                </a:lnTo>
                <a:cubicBezTo>
                  <a:pt x="3764" y="16"/>
                  <a:pt x="3761" y="12"/>
                  <a:pt x="3761" y="8"/>
                </a:cubicBezTo>
                <a:cubicBezTo>
                  <a:pt x="3761" y="4"/>
                  <a:pt x="3764" y="0"/>
                  <a:pt x="3769" y="0"/>
                </a:cubicBezTo>
                <a:close/>
                <a:moveTo>
                  <a:pt x="3849" y="0"/>
                </a:moveTo>
                <a:lnTo>
                  <a:pt x="3849" y="0"/>
                </a:lnTo>
                <a:cubicBezTo>
                  <a:pt x="3853" y="0"/>
                  <a:pt x="3857" y="4"/>
                  <a:pt x="3857" y="8"/>
                </a:cubicBezTo>
                <a:cubicBezTo>
                  <a:pt x="3857" y="12"/>
                  <a:pt x="3853" y="16"/>
                  <a:pt x="3849" y="16"/>
                </a:cubicBezTo>
                <a:lnTo>
                  <a:pt x="3849" y="16"/>
                </a:lnTo>
                <a:cubicBezTo>
                  <a:pt x="3844" y="16"/>
                  <a:pt x="3841" y="12"/>
                  <a:pt x="3841" y="8"/>
                </a:cubicBezTo>
                <a:cubicBezTo>
                  <a:pt x="3841" y="4"/>
                  <a:pt x="3844" y="0"/>
                  <a:pt x="3849" y="0"/>
                </a:cubicBezTo>
                <a:close/>
                <a:moveTo>
                  <a:pt x="3929" y="0"/>
                </a:moveTo>
                <a:lnTo>
                  <a:pt x="3929" y="0"/>
                </a:lnTo>
                <a:cubicBezTo>
                  <a:pt x="3933" y="0"/>
                  <a:pt x="3937" y="4"/>
                  <a:pt x="3937" y="8"/>
                </a:cubicBezTo>
                <a:cubicBezTo>
                  <a:pt x="3937" y="12"/>
                  <a:pt x="3933" y="16"/>
                  <a:pt x="3929" y="16"/>
                </a:cubicBezTo>
                <a:lnTo>
                  <a:pt x="3929" y="16"/>
                </a:lnTo>
                <a:cubicBezTo>
                  <a:pt x="3924" y="16"/>
                  <a:pt x="3921" y="12"/>
                  <a:pt x="3921" y="8"/>
                </a:cubicBezTo>
                <a:cubicBezTo>
                  <a:pt x="3921" y="4"/>
                  <a:pt x="3924" y="0"/>
                  <a:pt x="3929" y="0"/>
                </a:cubicBezTo>
                <a:close/>
                <a:moveTo>
                  <a:pt x="4009" y="0"/>
                </a:moveTo>
                <a:lnTo>
                  <a:pt x="4009" y="0"/>
                </a:lnTo>
                <a:cubicBezTo>
                  <a:pt x="4013" y="0"/>
                  <a:pt x="4017" y="4"/>
                  <a:pt x="4017" y="8"/>
                </a:cubicBezTo>
                <a:cubicBezTo>
                  <a:pt x="4017" y="12"/>
                  <a:pt x="4013" y="16"/>
                  <a:pt x="4009" y="16"/>
                </a:cubicBezTo>
                <a:lnTo>
                  <a:pt x="4009" y="16"/>
                </a:lnTo>
                <a:cubicBezTo>
                  <a:pt x="4004" y="16"/>
                  <a:pt x="4001" y="12"/>
                  <a:pt x="4001" y="8"/>
                </a:cubicBezTo>
                <a:cubicBezTo>
                  <a:pt x="4001" y="4"/>
                  <a:pt x="4004" y="0"/>
                  <a:pt x="4009" y="0"/>
                </a:cubicBezTo>
                <a:close/>
                <a:moveTo>
                  <a:pt x="4089" y="0"/>
                </a:moveTo>
                <a:lnTo>
                  <a:pt x="4089" y="0"/>
                </a:lnTo>
                <a:cubicBezTo>
                  <a:pt x="4093" y="0"/>
                  <a:pt x="4097" y="4"/>
                  <a:pt x="4097" y="8"/>
                </a:cubicBezTo>
                <a:cubicBezTo>
                  <a:pt x="4097" y="12"/>
                  <a:pt x="4093" y="16"/>
                  <a:pt x="4089" y="16"/>
                </a:cubicBezTo>
                <a:lnTo>
                  <a:pt x="4089" y="16"/>
                </a:lnTo>
                <a:cubicBezTo>
                  <a:pt x="4084" y="16"/>
                  <a:pt x="4081" y="12"/>
                  <a:pt x="4081" y="8"/>
                </a:cubicBezTo>
                <a:cubicBezTo>
                  <a:pt x="4081" y="4"/>
                  <a:pt x="4084" y="0"/>
                  <a:pt x="4089" y="0"/>
                </a:cubicBezTo>
                <a:close/>
                <a:moveTo>
                  <a:pt x="4169" y="0"/>
                </a:moveTo>
                <a:lnTo>
                  <a:pt x="4169" y="0"/>
                </a:lnTo>
                <a:cubicBezTo>
                  <a:pt x="4173" y="0"/>
                  <a:pt x="4177" y="4"/>
                  <a:pt x="4177" y="8"/>
                </a:cubicBezTo>
                <a:cubicBezTo>
                  <a:pt x="4177" y="12"/>
                  <a:pt x="4173" y="16"/>
                  <a:pt x="4169" y="16"/>
                </a:cubicBezTo>
                <a:lnTo>
                  <a:pt x="4169" y="16"/>
                </a:lnTo>
                <a:cubicBezTo>
                  <a:pt x="4164" y="16"/>
                  <a:pt x="4161" y="12"/>
                  <a:pt x="4161" y="8"/>
                </a:cubicBezTo>
                <a:cubicBezTo>
                  <a:pt x="4161" y="4"/>
                  <a:pt x="4164" y="0"/>
                  <a:pt x="4169" y="0"/>
                </a:cubicBezTo>
                <a:close/>
                <a:moveTo>
                  <a:pt x="4249" y="0"/>
                </a:moveTo>
                <a:lnTo>
                  <a:pt x="4249" y="0"/>
                </a:lnTo>
                <a:cubicBezTo>
                  <a:pt x="4253" y="0"/>
                  <a:pt x="4257" y="4"/>
                  <a:pt x="4257" y="8"/>
                </a:cubicBezTo>
                <a:cubicBezTo>
                  <a:pt x="4257" y="12"/>
                  <a:pt x="4253" y="16"/>
                  <a:pt x="4249" y="16"/>
                </a:cubicBezTo>
                <a:lnTo>
                  <a:pt x="4249" y="16"/>
                </a:lnTo>
                <a:cubicBezTo>
                  <a:pt x="4244" y="16"/>
                  <a:pt x="4241" y="12"/>
                  <a:pt x="4241" y="8"/>
                </a:cubicBezTo>
                <a:cubicBezTo>
                  <a:pt x="4241" y="4"/>
                  <a:pt x="4244" y="0"/>
                  <a:pt x="4249" y="0"/>
                </a:cubicBezTo>
                <a:close/>
                <a:moveTo>
                  <a:pt x="4329" y="0"/>
                </a:moveTo>
                <a:lnTo>
                  <a:pt x="4329" y="0"/>
                </a:lnTo>
                <a:cubicBezTo>
                  <a:pt x="4333" y="0"/>
                  <a:pt x="4337" y="4"/>
                  <a:pt x="4337" y="8"/>
                </a:cubicBezTo>
                <a:cubicBezTo>
                  <a:pt x="4337" y="12"/>
                  <a:pt x="4333" y="16"/>
                  <a:pt x="4329" y="16"/>
                </a:cubicBezTo>
                <a:lnTo>
                  <a:pt x="4329" y="16"/>
                </a:lnTo>
                <a:cubicBezTo>
                  <a:pt x="4324" y="16"/>
                  <a:pt x="4321" y="12"/>
                  <a:pt x="4321" y="8"/>
                </a:cubicBezTo>
                <a:cubicBezTo>
                  <a:pt x="4321" y="4"/>
                  <a:pt x="4324" y="0"/>
                  <a:pt x="4329" y="0"/>
                </a:cubicBezTo>
                <a:close/>
                <a:moveTo>
                  <a:pt x="4409" y="0"/>
                </a:moveTo>
                <a:lnTo>
                  <a:pt x="4409" y="0"/>
                </a:lnTo>
                <a:cubicBezTo>
                  <a:pt x="4413" y="0"/>
                  <a:pt x="4417" y="4"/>
                  <a:pt x="4417" y="8"/>
                </a:cubicBezTo>
                <a:cubicBezTo>
                  <a:pt x="4417" y="12"/>
                  <a:pt x="4413" y="16"/>
                  <a:pt x="4409" y="16"/>
                </a:cubicBezTo>
                <a:lnTo>
                  <a:pt x="4409" y="16"/>
                </a:lnTo>
                <a:cubicBezTo>
                  <a:pt x="4404" y="16"/>
                  <a:pt x="4401" y="12"/>
                  <a:pt x="4401" y="8"/>
                </a:cubicBezTo>
                <a:cubicBezTo>
                  <a:pt x="4401" y="4"/>
                  <a:pt x="4404" y="0"/>
                  <a:pt x="4409" y="0"/>
                </a:cubicBezTo>
                <a:close/>
                <a:moveTo>
                  <a:pt x="4489" y="0"/>
                </a:moveTo>
                <a:lnTo>
                  <a:pt x="4489" y="0"/>
                </a:lnTo>
                <a:cubicBezTo>
                  <a:pt x="4493" y="0"/>
                  <a:pt x="4497" y="4"/>
                  <a:pt x="4497" y="8"/>
                </a:cubicBezTo>
                <a:cubicBezTo>
                  <a:pt x="4497" y="12"/>
                  <a:pt x="4493" y="16"/>
                  <a:pt x="4489" y="16"/>
                </a:cubicBezTo>
                <a:lnTo>
                  <a:pt x="4489" y="16"/>
                </a:lnTo>
                <a:cubicBezTo>
                  <a:pt x="4484" y="16"/>
                  <a:pt x="4481" y="12"/>
                  <a:pt x="4481" y="8"/>
                </a:cubicBezTo>
                <a:cubicBezTo>
                  <a:pt x="4481" y="4"/>
                  <a:pt x="4484" y="0"/>
                  <a:pt x="4489" y="0"/>
                </a:cubicBezTo>
                <a:close/>
                <a:moveTo>
                  <a:pt x="4569" y="0"/>
                </a:moveTo>
                <a:lnTo>
                  <a:pt x="4569" y="0"/>
                </a:lnTo>
                <a:cubicBezTo>
                  <a:pt x="4573" y="0"/>
                  <a:pt x="4577" y="4"/>
                  <a:pt x="4577" y="8"/>
                </a:cubicBezTo>
                <a:cubicBezTo>
                  <a:pt x="4577" y="12"/>
                  <a:pt x="4573" y="16"/>
                  <a:pt x="4569" y="16"/>
                </a:cubicBezTo>
                <a:lnTo>
                  <a:pt x="4569" y="16"/>
                </a:lnTo>
                <a:cubicBezTo>
                  <a:pt x="4564" y="16"/>
                  <a:pt x="4561" y="12"/>
                  <a:pt x="4561" y="8"/>
                </a:cubicBezTo>
                <a:cubicBezTo>
                  <a:pt x="4561" y="4"/>
                  <a:pt x="4564" y="0"/>
                  <a:pt x="4569" y="0"/>
                </a:cubicBezTo>
                <a:close/>
                <a:moveTo>
                  <a:pt x="4649" y="0"/>
                </a:moveTo>
                <a:lnTo>
                  <a:pt x="4649" y="0"/>
                </a:lnTo>
                <a:cubicBezTo>
                  <a:pt x="4653" y="0"/>
                  <a:pt x="4657" y="4"/>
                  <a:pt x="4657" y="8"/>
                </a:cubicBezTo>
                <a:cubicBezTo>
                  <a:pt x="4657" y="12"/>
                  <a:pt x="4653" y="16"/>
                  <a:pt x="4649" y="16"/>
                </a:cubicBezTo>
                <a:lnTo>
                  <a:pt x="4649" y="16"/>
                </a:lnTo>
                <a:cubicBezTo>
                  <a:pt x="4644" y="16"/>
                  <a:pt x="4641" y="12"/>
                  <a:pt x="4641" y="8"/>
                </a:cubicBezTo>
                <a:cubicBezTo>
                  <a:pt x="4641" y="4"/>
                  <a:pt x="4644" y="0"/>
                  <a:pt x="4649" y="0"/>
                </a:cubicBezTo>
                <a:close/>
                <a:moveTo>
                  <a:pt x="4729" y="0"/>
                </a:moveTo>
                <a:lnTo>
                  <a:pt x="4729" y="0"/>
                </a:lnTo>
                <a:cubicBezTo>
                  <a:pt x="4733" y="0"/>
                  <a:pt x="4737" y="4"/>
                  <a:pt x="4737" y="8"/>
                </a:cubicBezTo>
                <a:cubicBezTo>
                  <a:pt x="4737" y="12"/>
                  <a:pt x="4733" y="16"/>
                  <a:pt x="4729" y="16"/>
                </a:cubicBezTo>
                <a:lnTo>
                  <a:pt x="4729" y="16"/>
                </a:lnTo>
                <a:cubicBezTo>
                  <a:pt x="4724" y="16"/>
                  <a:pt x="4721" y="12"/>
                  <a:pt x="4721" y="8"/>
                </a:cubicBezTo>
                <a:cubicBezTo>
                  <a:pt x="4721" y="4"/>
                  <a:pt x="4724" y="0"/>
                  <a:pt x="4729" y="0"/>
                </a:cubicBezTo>
                <a:close/>
                <a:moveTo>
                  <a:pt x="4809" y="0"/>
                </a:moveTo>
                <a:lnTo>
                  <a:pt x="4809" y="0"/>
                </a:lnTo>
                <a:cubicBezTo>
                  <a:pt x="4813" y="0"/>
                  <a:pt x="4817" y="4"/>
                  <a:pt x="4817" y="8"/>
                </a:cubicBezTo>
                <a:cubicBezTo>
                  <a:pt x="4817" y="12"/>
                  <a:pt x="4813" y="16"/>
                  <a:pt x="4809" y="16"/>
                </a:cubicBezTo>
                <a:lnTo>
                  <a:pt x="4809" y="16"/>
                </a:lnTo>
                <a:cubicBezTo>
                  <a:pt x="4804" y="16"/>
                  <a:pt x="4801" y="12"/>
                  <a:pt x="4801" y="8"/>
                </a:cubicBezTo>
                <a:cubicBezTo>
                  <a:pt x="4801" y="4"/>
                  <a:pt x="4804" y="0"/>
                  <a:pt x="4809" y="0"/>
                </a:cubicBezTo>
                <a:close/>
                <a:moveTo>
                  <a:pt x="4889" y="0"/>
                </a:moveTo>
                <a:lnTo>
                  <a:pt x="4889" y="0"/>
                </a:lnTo>
                <a:cubicBezTo>
                  <a:pt x="4893" y="0"/>
                  <a:pt x="4897" y="4"/>
                  <a:pt x="4897" y="8"/>
                </a:cubicBezTo>
                <a:cubicBezTo>
                  <a:pt x="4897" y="12"/>
                  <a:pt x="4893" y="16"/>
                  <a:pt x="4889" y="16"/>
                </a:cubicBezTo>
                <a:lnTo>
                  <a:pt x="4889" y="16"/>
                </a:lnTo>
                <a:cubicBezTo>
                  <a:pt x="4884" y="16"/>
                  <a:pt x="4881" y="12"/>
                  <a:pt x="4881" y="8"/>
                </a:cubicBezTo>
                <a:cubicBezTo>
                  <a:pt x="4881" y="4"/>
                  <a:pt x="4884" y="0"/>
                  <a:pt x="4889" y="0"/>
                </a:cubicBezTo>
                <a:close/>
                <a:moveTo>
                  <a:pt x="4969" y="0"/>
                </a:moveTo>
                <a:lnTo>
                  <a:pt x="4969" y="0"/>
                </a:lnTo>
                <a:cubicBezTo>
                  <a:pt x="4973" y="0"/>
                  <a:pt x="4977" y="4"/>
                  <a:pt x="4977" y="8"/>
                </a:cubicBezTo>
                <a:cubicBezTo>
                  <a:pt x="4977" y="12"/>
                  <a:pt x="4973" y="16"/>
                  <a:pt x="4969" y="16"/>
                </a:cubicBezTo>
                <a:lnTo>
                  <a:pt x="4969" y="16"/>
                </a:lnTo>
                <a:cubicBezTo>
                  <a:pt x="4964" y="16"/>
                  <a:pt x="4961" y="12"/>
                  <a:pt x="4961" y="8"/>
                </a:cubicBezTo>
                <a:cubicBezTo>
                  <a:pt x="4961" y="4"/>
                  <a:pt x="4964" y="0"/>
                  <a:pt x="4969" y="0"/>
                </a:cubicBezTo>
                <a:close/>
                <a:moveTo>
                  <a:pt x="5049" y="0"/>
                </a:moveTo>
                <a:lnTo>
                  <a:pt x="5049" y="0"/>
                </a:lnTo>
                <a:cubicBezTo>
                  <a:pt x="5053" y="0"/>
                  <a:pt x="5057" y="4"/>
                  <a:pt x="5057" y="8"/>
                </a:cubicBezTo>
                <a:cubicBezTo>
                  <a:pt x="5057" y="12"/>
                  <a:pt x="5053" y="16"/>
                  <a:pt x="5049" y="16"/>
                </a:cubicBezTo>
                <a:lnTo>
                  <a:pt x="5049" y="16"/>
                </a:lnTo>
                <a:cubicBezTo>
                  <a:pt x="5044" y="16"/>
                  <a:pt x="5041" y="12"/>
                  <a:pt x="5041" y="8"/>
                </a:cubicBezTo>
                <a:cubicBezTo>
                  <a:pt x="5041" y="4"/>
                  <a:pt x="5044" y="0"/>
                  <a:pt x="5049" y="0"/>
                </a:cubicBezTo>
                <a:close/>
                <a:moveTo>
                  <a:pt x="5129" y="0"/>
                </a:moveTo>
                <a:lnTo>
                  <a:pt x="5129" y="0"/>
                </a:lnTo>
                <a:cubicBezTo>
                  <a:pt x="5133" y="0"/>
                  <a:pt x="5137" y="4"/>
                  <a:pt x="5137" y="8"/>
                </a:cubicBezTo>
                <a:cubicBezTo>
                  <a:pt x="5137" y="12"/>
                  <a:pt x="5133" y="16"/>
                  <a:pt x="5129" y="16"/>
                </a:cubicBezTo>
                <a:lnTo>
                  <a:pt x="5129" y="16"/>
                </a:lnTo>
                <a:cubicBezTo>
                  <a:pt x="5124" y="16"/>
                  <a:pt x="5121" y="12"/>
                  <a:pt x="5121" y="8"/>
                </a:cubicBezTo>
                <a:cubicBezTo>
                  <a:pt x="5121" y="4"/>
                  <a:pt x="5124" y="0"/>
                  <a:pt x="5129" y="0"/>
                </a:cubicBezTo>
                <a:close/>
                <a:moveTo>
                  <a:pt x="5209" y="0"/>
                </a:moveTo>
                <a:lnTo>
                  <a:pt x="5209" y="0"/>
                </a:lnTo>
                <a:cubicBezTo>
                  <a:pt x="5213" y="0"/>
                  <a:pt x="5217" y="4"/>
                  <a:pt x="5217" y="8"/>
                </a:cubicBezTo>
                <a:cubicBezTo>
                  <a:pt x="5217" y="12"/>
                  <a:pt x="5213" y="16"/>
                  <a:pt x="5209" y="16"/>
                </a:cubicBezTo>
                <a:lnTo>
                  <a:pt x="5209" y="16"/>
                </a:lnTo>
                <a:cubicBezTo>
                  <a:pt x="5204" y="16"/>
                  <a:pt x="5201" y="12"/>
                  <a:pt x="5201" y="8"/>
                </a:cubicBezTo>
                <a:cubicBezTo>
                  <a:pt x="5201" y="4"/>
                  <a:pt x="5204" y="0"/>
                  <a:pt x="5209" y="0"/>
                </a:cubicBezTo>
                <a:close/>
                <a:moveTo>
                  <a:pt x="5289" y="0"/>
                </a:moveTo>
                <a:lnTo>
                  <a:pt x="5289" y="0"/>
                </a:lnTo>
                <a:cubicBezTo>
                  <a:pt x="5293" y="0"/>
                  <a:pt x="5297" y="4"/>
                  <a:pt x="5297" y="8"/>
                </a:cubicBezTo>
                <a:cubicBezTo>
                  <a:pt x="5297" y="12"/>
                  <a:pt x="5293" y="16"/>
                  <a:pt x="5289" y="16"/>
                </a:cubicBezTo>
                <a:lnTo>
                  <a:pt x="5289" y="16"/>
                </a:lnTo>
                <a:cubicBezTo>
                  <a:pt x="5284" y="16"/>
                  <a:pt x="5281" y="12"/>
                  <a:pt x="5281" y="8"/>
                </a:cubicBezTo>
                <a:cubicBezTo>
                  <a:pt x="5281" y="4"/>
                  <a:pt x="5284" y="0"/>
                  <a:pt x="5289" y="0"/>
                </a:cubicBezTo>
                <a:close/>
                <a:moveTo>
                  <a:pt x="5369" y="0"/>
                </a:moveTo>
                <a:lnTo>
                  <a:pt x="5369" y="0"/>
                </a:lnTo>
                <a:cubicBezTo>
                  <a:pt x="5373" y="0"/>
                  <a:pt x="5377" y="4"/>
                  <a:pt x="5377" y="8"/>
                </a:cubicBezTo>
                <a:cubicBezTo>
                  <a:pt x="5377" y="12"/>
                  <a:pt x="5373" y="16"/>
                  <a:pt x="5369" y="16"/>
                </a:cubicBezTo>
                <a:lnTo>
                  <a:pt x="5369" y="16"/>
                </a:lnTo>
                <a:cubicBezTo>
                  <a:pt x="5364" y="16"/>
                  <a:pt x="5361" y="12"/>
                  <a:pt x="5361" y="8"/>
                </a:cubicBezTo>
                <a:cubicBezTo>
                  <a:pt x="5361" y="4"/>
                  <a:pt x="5364" y="0"/>
                  <a:pt x="5369" y="0"/>
                </a:cubicBezTo>
                <a:close/>
                <a:moveTo>
                  <a:pt x="5449" y="0"/>
                </a:moveTo>
                <a:lnTo>
                  <a:pt x="5449" y="0"/>
                </a:lnTo>
                <a:cubicBezTo>
                  <a:pt x="5453" y="0"/>
                  <a:pt x="5457" y="4"/>
                  <a:pt x="5457" y="8"/>
                </a:cubicBezTo>
                <a:cubicBezTo>
                  <a:pt x="5457" y="12"/>
                  <a:pt x="5453" y="16"/>
                  <a:pt x="5449" y="16"/>
                </a:cubicBezTo>
                <a:lnTo>
                  <a:pt x="5449" y="16"/>
                </a:lnTo>
                <a:cubicBezTo>
                  <a:pt x="5444" y="16"/>
                  <a:pt x="5441" y="12"/>
                  <a:pt x="5441" y="8"/>
                </a:cubicBezTo>
                <a:cubicBezTo>
                  <a:pt x="5441" y="4"/>
                  <a:pt x="5444" y="0"/>
                  <a:pt x="5449" y="0"/>
                </a:cubicBezTo>
                <a:close/>
                <a:moveTo>
                  <a:pt x="5529" y="0"/>
                </a:moveTo>
                <a:lnTo>
                  <a:pt x="5529" y="0"/>
                </a:lnTo>
                <a:cubicBezTo>
                  <a:pt x="5533" y="0"/>
                  <a:pt x="5537" y="4"/>
                  <a:pt x="5537" y="8"/>
                </a:cubicBezTo>
                <a:cubicBezTo>
                  <a:pt x="5537" y="12"/>
                  <a:pt x="5533" y="16"/>
                  <a:pt x="5529" y="16"/>
                </a:cubicBezTo>
                <a:lnTo>
                  <a:pt x="5529" y="16"/>
                </a:lnTo>
                <a:cubicBezTo>
                  <a:pt x="5524" y="16"/>
                  <a:pt x="5521" y="12"/>
                  <a:pt x="5521" y="8"/>
                </a:cubicBezTo>
                <a:cubicBezTo>
                  <a:pt x="5521" y="4"/>
                  <a:pt x="5524" y="0"/>
                  <a:pt x="5529" y="0"/>
                </a:cubicBezTo>
                <a:close/>
              </a:path>
            </a:pathLst>
          </a:custGeom>
          <a:solidFill>
            <a:srgbClr val="000000"/>
          </a:solidFill>
          <a:ln w="22225" cap="flat">
            <a:solidFill>
              <a:srgbClr val="000000"/>
            </a:solidFill>
            <a:prstDash val="solid"/>
            <a:bevel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22" name="Freeform 14"/>
          <p:cNvSpPr>
            <a:spLocks/>
          </p:cNvSpPr>
          <p:nvPr/>
        </p:nvSpPr>
        <p:spPr bwMode="auto">
          <a:xfrm>
            <a:off x="2701925" y="2138364"/>
            <a:ext cx="7488238" cy="20637"/>
          </a:xfrm>
          <a:custGeom>
            <a:avLst/>
            <a:gdLst>
              <a:gd name="T0" fmla="*/ 88 w 5537"/>
              <a:gd name="T1" fmla="*/ 0 h 16"/>
              <a:gd name="T2" fmla="*/ 168 w 5537"/>
              <a:gd name="T3" fmla="*/ 0 h 16"/>
              <a:gd name="T4" fmla="*/ 256 w 5537"/>
              <a:gd name="T5" fmla="*/ 8 h 16"/>
              <a:gd name="T6" fmla="*/ 328 w 5537"/>
              <a:gd name="T7" fmla="*/ 16 h 16"/>
              <a:gd name="T8" fmla="*/ 408 w 5537"/>
              <a:gd name="T9" fmla="*/ 16 h 16"/>
              <a:gd name="T10" fmla="*/ 480 w 5537"/>
              <a:gd name="T11" fmla="*/ 8 h 16"/>
              <a:gd name="T12" fmla="*/ 568 w 5537"/>
              <a:gd name="T13" fmla="*/ 0 h 16"/>
              <a:gd name="T14" fmla="*/ 728 w 5537"/>
              <a:gd name="T15" fmla="*/ 0 h 16"/>
              <a:gd name="T16" fmla="*/ 808 w 5537"/>
              <a:gd name="T17" fmla="*/ 0 h 16"/>
              <a:gd name="T18" fmla="*/ 896 w 5537"/>
              <a:gd name="T19" fmla="*/ 8 h 16"/>
              <a:gd name="T20" fmla="*/ 968 w 5537"/>
              <a:gd name="T21" fmla="*/ 16 h 16"/>
              <a:gd name="T22" fmla="*/ 1048 w 5537"/>
              <a:gd name="T23" fmla="*/ 16 h 16"/>
              <a:gd name="T24" fmla="*/ 1120 w 5537"/>
              <a:gd name="T25" fmla="*/ 8 h 16"/>
              <a:gd name="T26" fmla="*/ 1208 w 5537"/>
              <a:gd name="T27" fmla="*/ 0 h 16"/>
              <a:gd name="T28" fmla="*/ 1368 w 5537"/>
              <a:gd name="T29" fmla="*/ 0 h 16"/>
              <a:gd name="T30" fmla="*/ 1448 w 5537"/>
              <a:gd name="T31" fmla="*/ 0 h 16"/>
              <a:gd name="T32" fmla="*/ 1536 w 5537"/>
              <a:gd name="T33" fmla="*/ 8 h 16"/>
              <a:gd name="T34" fmla="*/ 1608 w 5537"/>
              <a:gd name="T35" fmla="*/ 16 h 16"/>
              <a:gd name="T36" fmla="*/ 1688 w 5537"/>
              <a:gd name="T37" fmla="*/ 16 h 16"/>
              <a:gd name="T38" fmla="*/ 1760 w 5537"/>
              <a:gd name="T39" fmla="*/ 8 h 16"/>
              <a:gd name="T40" fmla="*/ 1848 w 5537"/>
              <a:gd name="T41" fmla="*/ 0 h 16"/>
              <a:gd name="T42" fmla="*/ 2008 w 5537"/>
              <a:gd name="T43" fmla="*/ 0 h 16"/>
              <a:gd name="T44" fmla="*/ 2088 w 5537"/>
              <a:gd name="T45" fmla="*/ 0 h 16"/>
              <a:gd name="T46" fmla="*/ 2176 w 5537"/>
              <a:gd name="T47" fmla="*/ 8 h 16"/>
              <a:gd name="T48" fmla="*/ 2248 w 5537"/>
              <a:gd name="T49" fmla="*/ 16 h 16"/>
              <a:gd name="T50" fmla="*/ 2328 w 5537"/>
              <a:gd name="T51" fmla="*/ 16 h 16"/>
              <a:gd name="T52" fmla="*/ 2400 w 5537"/>
              <a:gd name="T53" fmla="*/ 8 h 16"/>
              <a:gd name="T54" fmla="*/ 2488 w 5537"/>
              <a:gd name="T55" fmla="*/ 0 h 16"/>
              <a:gd name="T56" fmla="*/ 2648 w 5537"/>
              <a:gd name="T57" fmla="*/ 0 h 16"/>
              <a:gd name="T58" fmla="*/ 2728 w 5537"/>
              <a:gd name="T59" fmla="*/ 0 h 16"/>
              <a:gd name="T60" fmla="*/ 2816 w 5537"/>
              <a:gd name="T61" fmla="*/ 8 h 16"/>
              <a:gd name="T62" fmla="*/ 2888 w 5537"/>
              <a:gd name="T63" fmla="*/ 16 h 16"/>
              <a:gd name="T64" fmla="*/ 2968 w 5537"/>
              <a:gd name="T65" fmla="*/ 16 h 16"/>
              <a:gd name="T66" fmla="*/ 3040 w 5537"/>
              <a:gd name="T67" fmla="*/ 8 h 16"/>
              <a:gd name="T68" fmla="*/ 3128 w 5537"/>
              <a:gd name="T69" fmla="*/ 0 h 16"/>
              <a:gd name="T70" fmla="*/ 3288 w 5537"/>
              <a:gd name="T71" fmla="*/ 0 h 16"/>
              <a:gd name="T72" fmla="*/ 3368 w 5537"/>
              <a:gd name="T73" fmla="*/ 0 h 16"/>
              <a:gd name="T74" fmla="*/ 3456 w 5537"/>
              <a:gd name="T75" fmla="*/ 8 h 16"/>
              <a:gd name="T76" fmla="*/ 3529 w 5537"/>
              <a:gd name="T77" fmla="*/ 16 h 16"/>
              <a:gd name="T78" fmla="*/ 3609 w 5537"/>
              <a:gd name="T79" fmla="*/ 16 h 16"/>
              <a:gd name="T80" fmla="*/ 3681 w 5537"/>
              <a:gd name="T81" fmla="*/ 8 h 16"/>
              <a:gd name="T82" fmla="*/ 3769 w 5537"/>
              <a:gd name="T83" fmla="*/ 0 h 16"/>
              <a:gd name="T84" fmla="*/ 3929 w 5537"/>
              <a:gd name="T85" fmla="*/ 0 h 16"/>
              <a:gd name="T86" fmla="*/ 4009 w 5537"/>
              <a:gd name="T87" fmla="*/ 0 h 16"/>
              <a:gd name="T88" fmla="*/ 4097 w 5537"/>
              <a:gd name="T89" fmla="*/ 8 h 16"/>
              <a:gd name="T90" fmla="*/ 4169 w 5537"/>
              <a:gd name="T91" fmla="*/ 16 h 16"/>
              <a:gd name="T92" fmla="*/ 4249 w 5537"/>
              <a:gd name="T93" fmla="*/ 16 h 16"/>
              <a:gd name="T94" fmla="*/ 4321 w 5537"/>
              <a:gd name="T95" fmla="*/ 8 h 16"/>
              <a:gd name="T96" fmla="*/ 4409 w 5537"/>
              <a:gd name="T97" fmla="*/ 0 h 16"/>
              <a:gd name="T98" fmla="*/ 4569 w 5537"/>
              <a:gd name="T99" fmla="*/ 0 h 16"/>
              <a:gd name="T100" fmla="*/ 4649 w 5537"/>
              <a:gd name="T101" fmla="*/ 0 h 16"/>
              <a:gd name="T102" fmla="*/ 4737 w 5537"/>
              <a:gd name="T103" fmla="*/ 8 h 16"/>
              <a:gd name="T104" fmla="*/ 4809 w 5537"/>
              <a:gd name="T105" fmla="*/ 16 h 16"/>
              <a:gd name="T106" fmla="*/ 4889 w 5537"/>
              <a:gd name="T107" fmla="*/ 16 h 16"/>
              <a:gd name="T108" fmla="*/ 4961 w 5537"/>
              <a:gd name="T109" fmla="*/ 8 h 16"/>
              <a:gd name="T110" fmla="*/ 5049 w 5537"/>
              <a:gd name="T111" fmla="*/ 0 h 16"/>
              <a:gd name="T112" fmla="*/ 5209 w 5537"/>
              <a:gd name="T113" fmla="*/ 0 h 16"/>
              <a:gd name="T114" fmla="*/ 5289 w 5537"/>
              <a:gd name="T115" fmla="*/ 0 h 16"/>
              <a:gd name="T116" fmla="*/ 5377 w 5537"/>
              <a:gd name="T117" fmla="*/ 8 h 16"/>
              <a:gd name="T118" fmla="*/ 5449 w 5537"/>
              <a:gd name="T119" fmla="*/ 16 h 16"/>
              <a:gd name="T120" fmla="*/ 5529 w 5537"/>
              <a:gd name="T121" fmla="*/ 16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537" h="16">
                <a:moveTo>
                  <a:pt x="8" y="0"/>
                </a:moveTo>
                <a:lnTo>
                  <a:pt x="8" y="0"/>
                </a:lnTo>
                <a:cubicBezTo>
                  <a:pt x="12" y="0"/>
                  <a:pt x="16" y="4"/>
                  <a:pt x="16" y="8"/>
                </a:cubicBezTo>
                <a:cubicBezTo>
                  <a:pt x="16" y="12"/>
                  <a:pt x="12" y="16"/>
                  <a:pt x="8" y="16"/>
                </a:cubicBezTo>
                <a:lnTo>
                  <a:pt x="8" y="16"/>
                </a:lnTo>
                <a:cubicBezTo>
                  <a:pt x="3" y="16"/>
                  <a:pt x="0" y="12"/>
                  <a:pt x="0" y="8"/>
                </a:cubicBezTo>
                <a:cubicBezTo>
                  <a:pt x="0" y="4"/>
                  <a:pt x="3" y="0"/>
                  <a:pt x="8" y="0"/>
                </a:cubicBezTo>
                <a:close/>
                <a:moveTo>
                  <a:pt x="88" y="0"/>
                </a:moveTo>
                <a:lnTo>
                  <a:pt x="88" y="0"/>
                </a:lnTo>
                <a:cubicBezTo>
                  <a:pt x="92" y="0"/>
                  <a:pt x="96" y="4"/>
                  <a:pt x="96" y="8"/>
                </a:cubicBezTo>
                <a:cubicBezTo>
                  <a:pt x="96" y="12"/>
                  <a:pt x="92" y="16"/>
                  <a:pt x="88" y="16"/>
                </a:cubicBezTo>
                <a:lnTo>
                  <a:pt x="88" y="16"/>
                </a:lnTo>
                <a:cubicBezTo>
                  <a:pt x="83" y="16"/>
                  <a:pt x="80" y="12"/>
                  <a:pt x="80" y="8"/>
                </a:cubicBezTo>
                <a:cubicBezTo>
                  <a:pt x="80" y="4"/>
                  <a:pt x="83" y="0"/>
                  <a:pt x="88" y="0"/>
                </a:cubicBezTo>
                <a:close/>
                <a:moveTo>
                  <a:pt x="168" y="0"/>
                </a:moveTo>
                <a:lnTo>
                  <a:pt x="168" y="0"/>
                </a:lnTo>
                <a:cubicBezTo>
                  <a:pt x="172" y="0"/>
                  <a:pt x="176" y="4"/>
                  <a:pt x="176" y="8"/>
                </a:cubicBezTo>
                <a:cubicBezTo>
                  <a:pt x="176" y="12"/>
                  <a:pt x="172" y="16"/>
                  <a:pt x="168" y="16"/>
                </a:cubicBezTo>
                <a:lnTo>
                  <a:pt x="168" y="16"/>
                </a:lnTo>
                <a:cubicBezTo>
                  <a:pt x="163" y="16"/>
                  <a:pt x="160" y="12"/>
                  <a:pt x="160" y="8"/>
                </a:cubicBezTo>
                <a:cubicBezTo>
                  <a:pt x="160" y="4"/>
                  <a:pt x="163" y="0"/>
                  <a:pt x="168" y="0"/>
                </a:cubicBezTo>
                <a:close/>
                <a:moveTo>
                  <a:pt x="248" y="0"/>
                </a:moveTo>
                <a:lnTo>
                  <a:pt x="248" y="0"/>
                </a:lnTo>
                <a:cubicBezTo>
                  <a:pt x="252" y="0"/>
                  <a:pt x="256" y="4"/>
                  <a:pt x="256" y="8"/>
                </a:cubicBezTo>
                <a:cubicBezTo>
                  <a:pt x="256" y="12"/>
                  <a:pt x="252" y="16"/>
                  <a:pt x="248" y="16"/>
                </a:cubicBezTo>
                <a:lnTo>
                  <a:pt x="248" y="16"/>
                </a:lnTo>
                <a:cubicBezTo>
                  <a:pt x="243" y="16"/>
                  <a:pt x="240" y="12"/>
                  <a:pt x="240" y="8"/>
                </a:cubicBezTo>
                <a:cubicBezTo>
                  <a:pt x="240" y="4"/>
                  <a:pt x="243" y="0"/>
                  <a:pt x="248" y="0"/>
                </a:cubicBezTo>
                <a:close/>
                <a:moveTo>
                  <a:pt x="328" y="0"/>
                </a:moveTo>
                <a:lnTo>
                  <a:pt x="328" y="0"/>
                </a:lnTo>
                <a:cubicBezTo>
                  <a:pt x="332" y="0"/>
                  <a:pt x="336" y="4"/>
                  <a:pt x="336" y="8"/>
                </a:cubicBezTo>
                <a:cubicBezTo>
                  <a:pt x="336" y="12"/>
                  <a:pt x="332" y="16"/>
                  <a:pt x="328" y="16"/>
                </a:cubicBezTo>
                <a:lnTo>
                  <a:pt x="328" y="16"/>
                </a:lnTo>
                <a:cubicBezTo>
                  <a:pt x="323" y="16"/>
                  <a:pt x="320" y="12"/>
                  <a:pt x="320" y="8"/>
                </a:cubicBezTo>
                <a:cubicBezTo>
                  <a:pt x="320" y="4"/>
                  <a:pt x="323" y="0"/>
                  <a:pt x="328" y="0"/>
                </a:cubicBezTo>
                <a:close/>
                <a:moveTo>
                  <a:pt x="408" y="0"/>
                </a:moveTo>
                <a:lnTo>
                  <a:pt x="408" y="0"/>
                </a:lnTo>
                <a:cubicBezTo>
                  <a:pt x="412" y="0"/>
                  <a:pt x="416" y="4"/>
                  <a:pt x="416" y="8"/>
                </a:cubicBezTo>
                <a:cubicBezTo>
                  <a:pt x="416" y="12"/>
                  <a:pt x="412" y="16"/>
                  <a:pt x="408" y="16"/>
                </a:cubicBezTo>
                <a:lnTo>
                  <a:pt x="408" y="16"/>
                </a:lnTo>
                <a:cubicBezTo>
                  <a:pt x="403" y="16"/>
                  <a:pt x="400" y="12"/>
                  <a:pt x="400" y="8"/>
                </a:cubicBezTo>
                <a:cubicBezTo>
                  <a:pt x="400" y="4"/>
                  <a:pt x="403" y="0"/>
                  <a:pt x="408" y="0"/>
                </a:cubicBezTo>
                <a:close/>
                <a:moveTo>
                  <a:pt x="488" y="0"/>
                </a:moveTo>
                <a:lnTo>
                  <a:pt x="488" y="0"/>
                </a:lnTo>
                <a:cubicBezTo>
                  <a:pt x="492" y="0"/>
                  <a:pt x="496" y="4"/>
                  <a:pt x="496" y="8"/>
                </a:cubicBezTo>
                <a:cubicBezTo>
                  <a:pt x="496" y="12"/>
                  <a:pt x="492" y="16"/>
                  <a:pt x="488" y="16"/>
                </a:cubicBezTo>
                <a:lnTo>
                  <a:pt x="488" y="16"/>
                </a:lnTo>
                <a:cubicBezTo>
                  <a:pt x="483" y="16"/>
                  <a:pt x="480" y="12"/>
                  <a:pt x="480" y="8"/>
                </a:cubicBezTo>
                <a:cubicBezTo>
                  <a:pt x="480" y="4"/>
                  <a:pt x="483" y="0"/>
                  <a:pt x="488" y="0"/>
                </a:cubicBezTo>
                <a:close/>
                <a:moveTo>
                  <a:pt x="568" y="0"/>
                </a:moveTo>
                <a:lnTo>
                  <a:pt x="568" y="0"/>
                </a:lnTo>
                <a:cubicBezTo>
                  <a:pt x="572" y="0"/>
                  <a:pt x="576" y="4"/>
                  <a:pt x="576" y="8"/>
                </a:cubicBezTo>
                <a:cubicBezTo>
                  <a:pt x="576" y="12"/>
                  <a:pt x="572" y="16"/>
                  <a:pt x="568" y="16"/>
                </a:cubicBezTo>
                <a:lnTo>
                  <a:pt x="568" y="16"/>
                </a:lnTo>
                <a:cubicBezTo>
                  <a:pt x="563" y="16"/>
                  <a:pt x="560" y="12"/>
                  <a:pt x="560" y="8"/>
                </a:cubicBezTo>
                <a:cubicBezTo>
                  <a:pt x="560" y="4"/>
                  <a:pt x="563" y="0"/>
                  <a:pt x="568" y="0"/>
                </a:cubicBezTo>
                <a:close/>
                <a:moveTo>
                  <a:pt x="648" y="0"/>
                </a:moveTo>
                <a:lnTo>
                  <a:pt x="648" y="0"/>
                </a:lnTo>
                <a:cubicBezTo>
                  <a:pt x="652" y="0"/>
                  <a:pt x="656" y="4"/>
                  <a:pt x="656" y="8"/>
                </a:cubicBezTo>
                <a:cubicBezTo>
                  <a:pt x="656" y="12"/>
                  <a:pt x="652" y="16"/>
                  <a:pt x="648" y="16"/>
                </a:cubicBezTo>
                <a:lnTo>
                  <a:pt x="648" y="16"/>
                </a:lnTo>
                <a:cubicBezTo>
                  <a:pt x="643" y="16"/>
                  <a:pt x="640" y="12"/>
                  <a:pt x="640" y="8"/>
                </a:cubicBezTo>
                <a:cubicBezTo>
                  <a:pt x="640" y="4"/>
                  <a:pt x="643" y="0"/>
                  <a:pt x="648" y="0"/>
                </a:cubicBezTo>
                <a:close/>
                <a:moveTo>
                  <a:pt x="728" y="0"/>
                </a:moveTo>
                <a:lnTo>
                  <a:pt x="728" y="0"/>
                </a:lnTo>
                <a:cubicBezTo>
                  <a:pt x="732" y="0"/>
                  <a:pt x="736" y="4"/>
                  <a:pt x="736" y="8"/>
                </a:cubicBezTo>
                <a:cubicBezTo>
                  <a:pt x="736" y="12"/>
                  <a:pt x="732" y="16"/>
                  <a:pt x="728" y="16"/>
                </a:cubicBezTo>
                <a:lnTo>
                  <a:pt x="728" y="16"/>
                </a:lnTo>
                <a:cubicBezTo>
                  <a:pt x="724" y="16"/>
                  <a:pt x="720" y="12"/>
                  <a:pt x="720" y="8"/>
                </a:cubicBezTo>
                <a:cubicBezTo>
                  <a:pt x="720" y="4"/>
                  <a:pt x="724" y="0"/>
                  <a:pt x="728" y="0"/>
                </a:cubicBezTo>
                <a:close/>
                <a:moveTo>
                  <a:pt x="808" y="0"/>
                </a:moveTo>
                <a:lnTo>
                  <a:pt x="808" y="0"/>
                </a:lnTo>
                <a:cubicBezTo>
                  <a:pt x="812" y="0"/>
                  <a:pt x="816" y="4"/>
                  <a:pt x="816" y="8"/>
                </a:cubicBezTo>
                <a:cubicBezTo>
                  <a:pt x="816" y="12"/>
                  <a:pt x="812" y="16"/>
                  <a:pt x="808" y="16"/>
                </a:cubicBezTo>
                <a:lnTo>
                  <a:pt x="808" y="16"/>
                </a:lnTo>
                <a:cubicBezTo>
                  <a:pt x="804" y="16"/>
                  <a:pt x="800" y="12"/>
                  <a:pt x="800" y="8"/>
                </a:cubicBezTo>
                <a:cubicBezTo>
                  <a:pt x="800" y="4"/>
                  <a:pt x="804" y="0"/>
                  <a:pt x="808" y="0"/>
                </a:cubicBezTo>
                <a:close/>
                <a:moveTo>
                  <a:pt x="888" y="0"/>
                </a:moveTo>
                <a:lnTo>
                  <a:pt x="888" y="0"/>
                </a:lnTo>
                <a:cubicBezTo>
                  <a:pt x="892" y="0"/>
                  <a:pt x="896" y="4"/>
                  <a:pt x="896" y="8"/>
                </a:cubicBezTo>
                <a:cubicBezTo>
                  <a:pt x="896" y="12"/>
                  <a:pt x="892" y="16"/>
                  <a:pt x="888" y="16"/>
                </a:cubicBezTo>
                <a:lnTo>
                  <a:pt x="888" y="16"/>
                </a:lnTo>
                <a:cubicBezTo>
                  <a:pt x="884" y="16"/>
                  <a:pt x="880" y="12"/>
                  <a:pt x="880" y="8"/>
                </a:cubicBezTo>
                <a:cubicBezTo>
                  <a:pt x="880" y="4"/>
                  <a:pt x="884" y="0"/>
                  <a:pt x="888" y="0"/>
                </a:cubicBezTo>
                <a:close/>
                <a:moveTo>
                  <a:pt x="968" y="0"/>
                </a:moveTo>
                <a:lnTo>
                  <a:pt x="968" y="0"/>
                </a:lnTo>
                <a:cubicBezTo>
                  <a:pt x="972" y="0"/>
                  <a:pt x="976" y="4"/>
                  <a:pt x="976" y="8"/>
                </a:cubicBezTo>
                <a:cubicBezTo>
                  <a:pt x="976" y="12"/>
                  <a:pt x="972" y="16"/>
                  <a:pt x="968" y="16"/>
                </a:cubicBezTo>
                <a:lnTo>
                  <a:pt x="968" y="16"/>
                </a:lnTo>
                <a:cubicBezTo>
                  <a:pt x="964" y="16"/>
                  <a:pt x="960" y="12"/>
                  <a:pt x="960" y="8"/>
                </a:cubicBezTo>
                <a:cubicBezTo>
                  <a:pt x="960" y="4"/>
                  <a:pt x="964" y="0"/>
                  <a:pt x="968" y="0"/>
                </a:cubicBezTo>
                <a:close/>
                <a:moveTo>
                  <a:pt x="1048" y="0"/>
                </a:moveTo>
                <a:lnTo>
                  <a:pt x="1048" y="0"/>
                </a:lnTo>
                <a:cubicBezTo>
                  <a:pt x="1052" y="0"/>
                  <a:pt x="1056" y="4"/>
                  <a:pt x="1056" y="8"/>
                </a:cubicBezTo>
                <a:cubicBezTo>
                  <a:pt x="1056" y="12"/>
                  <a:pt x="1052" y="16"/>
                  <a:pt x="1048" y="16"/>
                </a:cubicBezTo>
                <a:lnTo>
                  <a:pt x="1048" y="16"/>
                </a:lnTo>
                <a:cubicBezTo>
                  <a:pt x="1044" y="16"/>
                  <a:pt x="1040" y="12"/>
                  <a:pt x="1040" y="8"/>
                </a:cubicBezTo>
                <a:cubicBezTo>
                  <a:pt x="1040" y="4"/>
                  <a:pt x="1044" y="0"/>
                  <a:pt x="1048" y="0"/>
                </a:cubicBezTo>
                <a:close/>
                <a:moveTo>
                  <a:pt x="1128" y="0"/>
                </a:moveTo>
                <a:lnTo>
                  <a:pt x="1128" y="0"/>
                </a:lnTo>
                <a:cubicBezTo>
                  <a:pt x="1132" y="0"/>
                  <a:pt x="1136" y="4"/>
                  <a:pt x="1136" y="8"/>
                </a:cubicBezTo>
                <a:cubicBezTo>
                  <a:pt x="1136" y="12"/>
                  <a:pt x="1132" y="16"/>
                  <a:pt x="1128" y="16"/>
                </a:cubicBezTo>
                <a:lnTo>
                  <a:pt x="1128" y="16"/>
                </a:lnTo>
                <a:cubicBezTo>
                  <a:pt x="1124" y="16"/>
                  <a:pt x="1120" y="12"/>
                  <a:pt x="1120" y="8"/>
                </a:cubicBezTo>
                <a:cubicBezTo>
                  <a:pt x="1120" y="4"/>
                  <a:pt x="1124" y="0"/>
                  <a:pt x="1128" y="0"/>
                </a:cubicBezTo>
                <a:close/>
                <a:moveTo>
                  <a:pt x="1208" y="0"/>
                </a:moveTo>
                <a:lnTo>
                  <a:pt x="1208" y="0"/>
                </a:lnTo>
                <a:cubicBezTo>
                  <a:pt x="1212" y="0"/>
                  <a:pt x="1216" y="4"/>
                  <a:pt x="1216" y="8"/>
                </a:cubicBezTo>
                <a:cubicBezTo>
                  <a:pt x="1216" y="12"/>
                  <a:pt x="1212" y="16"/>
                  <a:pt x="1208" y="16"/>
                </a:cubicBezTo>
                <a:lnTo>
                  <a:pt x="1208" y="16"/>
                </a:lnTo>
                <a:cubicBezTo>
                  <a:pt x="1204" y="16"/>
                  <a:pt x="1200" y="12"/>
                  <a:pt x="1200" y="8"/>
                </a:cubicBezTo>
                <a:cubicBezTo>
                  <a:pt x="1200" y="4"/>
                  <a:pt x="1204" y="0"/>
                  <a:pt x="1208" y="0"/>
                </a:cubicBezTo>
                <a:close/>
                <a:moveTo>
                  <a:pt x="1288" y="0"/>
                </a:moveTo>
                <a:lnTo>
                  <a:pt x="1288" y="0"/>
                </a:lnTo>
                <a:cubicBezTo>
                  <a:pt x="1292" y="0"/>
                  <a:pt x="1296" y="4"/>
                  <a:pt x="1296" y="8"/>
                </a:cubicBezTo>
                <a:cubicBezTo>
                  <a:pt x="1296" y="12"/>
                  <a:pt x="1292" y="16"/>
                  <a:pt x="1288" y="16"/>
                </a:cubicBezTo>
                <a:lnTo>
                  <a:pt x="1288" y="16"/>
                </a:lnTo>
                <a:cubicBezTo>
                  <a:pt x="1284" y="16"/>
                  <a:pt x="1280" y="12"/>
                  <a:pt x="1280" y="8"/>
                </a:cubicBezTo>
                <a:cubicBezTo>
                  <a:pt x="1280" y="4"/>
                  <a:pt x="1284" y="0"/>
                  <a:pt x="1288" y="0"/>
                </a:cubicBezTo>
                <a:close/>
                <a:moveTo>
                  <a:pt x="1368" y="0"/>
                </a:moveTo>
                <a:lnTo>
                  <a:pt x="1368" y="0"/>
                </a:lnTo>
                <a:cubicBezTo>
                  <a:pt x="1372" y="0"/>
                  <a:pt x="1376" y="4"/>
                  <a:pt x="1376" y="8"/>
                </a:cubicBezTo>
                <a:cubicBezTo>
                  <a:pt x="1376" y="12"/>
                  <a:pt x="1372" y="16"/>
                  <a:pt x="1368" y="16"/>
                </a:cubicBezTo>
                <a:lnTo>
                  <a:pt x="1368" y="16"/>
                </a:lnTo>
                <a:cubicBezTo>
                  <a:pt x="1364" y="16"/>
                  <a:pt x="1360" y="12"/>
                  <a:pt x="1360" y="8"/>
                </a:cubicBezTo>
                <a:cubicBezTo>
                  <a:pt x="1360" y="4"/>
                  <a:pt x="1364" y="0"/>
                  <a:pt x="1368" y="0"/>
                </a:cubicBezTo>
                <a:close/>
                <a:moveTo>
                  <a:pt x="1448" y="0"/>
                </a:moveTo>
                <a:lnTo>
                  <a:pt x="1448" y="0"/>
                </a:lnTo>
                <a:cubicBezTo>
                  <a:pt x="1453" y="0"/>
                  <a:pt x="1456" y="4"/>
                  <a:pt x="1456" y="8"/>
                </a:cubicBezTo>
                <a:cubicBezTo>
                  <a:pt x="1456" y="12"/>
                  <a:pt x="1453" y="16"/>
                  <a:pt x="1448" y="16"/>
                </a:cubicBezTo>
                <a:lnTo>
                  <a:pt x="1448" y="16"/>
                </a:lnTo>
                <a:cubicBezTo>
                  <a:pt x="1444" y="16"/>
                  <a:pt x="1440" y="12"/>
                  <a:pt x="1440" y="8"/>
                </a:cubicBezTo>
                <a:cubicBezTo>
                  <a:pt x="1440" y="4"/>
                  <a:pt x="1444" y="0"/>
                  <a:pt x="1448" y="0"/>
                </a:cubicBezTo>
                <a:close/>
                <a:moveTo>
                  <a:pt x="1528" y="0"/>
                </a:moveTo>
                <a:lnTo>
                  <a:pt x="1528" y="0"/>
                </a:lnTo>
                <a:cubicBezTo>
                  <a:pt x="1533" y="0"/>
                  <a:pt x="1536" y="4"/>
                  <a:pt x="1536" y="8"/>
                </a:cubicBezTo>
                <a:cubicBezTo>
                  <a:pt x="1536" y="12"/>
                  <a:pt x="1533" y="16"/>
                  <a:pt x="1528" y="16"/>
                </a:cubicBezTo>
                <a:lnTo>
                  <a:pt x="1528" y="16"/>
                </a:lnTo>
                <a:cubicBezTo>
                  <a:pt x="1524" y="16"/>
                  <a:pt x="1520" y="12"/>
                  <a:pt x="1520" y="8"/>
                </a:cubicBezTo>
                <a:cubicBezTo>
                  <a:pt x="1520" y="4"/>
                  <a:pt x="1524" y="0"/>
                  <a:pt x="1528" y="0"/>
                </a:cubicBezTo>
                <a:close/>
                <a:moveTo>
                  <a:pt x="1608" y="0"/>
                </a:moveTo>
                <a:lnTo>
                  <a:pt x="1608" y="0"/>
                </a:lnTo>
                <a:cubicBezTo>
                  <a:pt x="1613" y="0"/>
                  <a:pt x="1616" y="4"/>
                  <a:pt x="1616" y="8"/>
                </a:cubicBezTo>
                <a:cubicBezTo>
                  <a:pt x="1616" y="12"/>
                  <a:pt x="1613" y="16"/>
                  <a:pt x="1608" y="16"/>
                </a:cubicBezTo>
                <a:lnTo>
                  <a:pt x="1608" y="16"/>
                </a:lnTo>
                <a:cubicBezTo>
                  <a:pt x="1604" y="16"/>
                  <a:pt x="1600" y="12"/>
                  <a:pt x="1600" y="8"/>
                </a:cubicBezTo>
                <a:cubicBezTo>
                  <a:pt x="1600" y="4"/>
                  <a:pt x="1604" y="0"/>
                  <a:pt x="1608" y="0"/>
                </a:cubicBezTo>
                <a:close/>
                <a:moveTo>
                  <a:pt x="1688" y="0"/>
                </a:moveTo>
                <a:lnTo>
                  <a:pt x="1688" y="0"/>
                </a:lnTo>
                <a:cubicBezTo>
                  <a:pt x="1693" y="0"/>
                  <a:pt x="1696" y="4"/>
                  <a:pt x="1696" y="8"/>
                </a:cubicBezTo>
                <a:cubicBezTo>
                  <a:pt x="1696" y="12"/>
                  <a:pt x="1693" y="16"/>
                  <a:pt x="1688" y="16"/>
                </a:cubicBezTo>
                <a:lnTo>
                  <a:pt x="1688" y="16"/>
                </a:lnTo>
                <a:cubicBezTo>
                  <a:pt x="1684" y="16"/>
                  <a:pt x="1680" y="12"/>
                  <a:pt x="1680" y="8"/>
                </a:cubicBezTo>
                <a:cubicBezTo>
                  <a:pt x="1680" y="4"/>
                  <a:pt x="1684" y="0"/>
                  <a:pt x="1688" y="0"/>
                </a:cubicBezTo>
                <a:close/>
                <a:moveTo>
                  <a:pt x="1768" y="0"/>
                </a:moveTo>
                <a:lnTo>
                  <a:pt x="1768" y="0"/>
                </a:lnTo>
                <a:cubicBezTo>
                  <a:pt x="1773" y="0"/>
                  <a:pt x="1776" y="4"/>
                  <a:pt x="1776" y="8"/>
                </a:cubicBezTo>
                <a:cubicBezTo>
                  <a:pt x="1776" y="12"/>
                  <a:pt x="1773" y="16"/>
                  <a:pt x="1768" y="16"/>
                </a:cubicBezTo>
                <a:lnTo>
                  <a:pt x="1768" y="16"/>
                </a:lnTo>
                <a:cubicBezTo>
                  <a:pt x="1764" y="16"/>
                  <a:pt x="1760" y="12"/>
                  <a:pt x="1760" y="8"/>
                </a:cubicBezTo>
                <a:cubicBezTo>
                  <a:pt x="1760" y="4"/>
                  <a:pt x="1764" y="0"/>
                  <a:pt x="1768" y="0"/>
                </a:cubicBezTo>
                <a:close/>
                <a:moveTo>
                  <a:pt x="1848" y="0"/>
                </a:moveTo>
                <a:lnTo>
                  <a:pt x="1848" y="0"/>
                </a:lnTo>
                <a:cubicBezTo>
                  <a:pt x="1853" y="0"/>
                  <a:pt x="1856" y="4"/>
                  <a:pt x="1856" y="8"/>
                </a:cubicBezTo>
                <a:cubicBezTo>
                  <a:pt x="1856" y="12"/>
                  <a:pt x="1853" y="16"/>
                  <a:pt x="1848" y="16"/>
                </a:cubicBezTo>
                <a:lnTo>
                  <a:pt x="1848" y="16"/>
                </a:lnTo>
                <a:cubicBezTo>
                  <a:pt x="1844" y="16"/>
                  <a:pt x="1840" y="12"/>
                  <a:pt x="1840" y="8"/>
                </a:cubicBezTo>
                <a:cubicBezTo>
                  <a:pt x="1840" y="4"/>
                  <a:pt x="1844" y="0"/>
                  <a:pt x="1848" y="0"/>
                </a:cubicBezTo>
                <a:close/>
                <a:moveTo>
                  <a:pt x="1928" y="0"/>
                </a:moveTo>
                <a:lnTo>
                  <a:pt x="1928" y="0"/>
                </a:lnTo>
                <a:cubicBezTo>
                  <a:pt x="1933" y="0"/>
                  <a:pt x="1936" y="4"/>
                  <a:pt x="1936" y="8"/>
                </a:cubicBezTo>
                <a:cubicBezTo>
                  <a:pt x="1936" y="12"/>
                  <a:pt x="1933" y="16"/>
                  <a:pt x="1928" y="16"/>
                </a:cubicBezTo>
                <a:lnTo>
                  <a:pt x="1928" y="16"/>
                </a:lnTo>
                <a:cubicBezTo>
                  <a:pt x="1924" y="16"/>
                  <a:pt x="1920" y="12"/>
                  <a:pt x="1920" y="8"/>
                </a:cubicBezTo>
                <a:cubicBezTo>
                  <a:pt x="1920" y="4"/>
                  <a:pt x="1924" y="0"/>
                  <a:pt x="1928" y="0"/>
                </a:cubicBezTo>
                <a:close/>
                <a:moveTo>
                  <a:pt x="2008" y="0"/>
                </a:moveTo>
                <a:lnTo>
                  <a:pt x="2008" y="0"/>
                </a:lnTo>
                <a:cubicBezTo>
                  <a:pt x="2013" y="0"/>
                  <a:pt x="2016" y="4"/>
                  <a:pt x="2016" y="8"/>
                </a:cubicBezTo>
                <a:cubicBezTo>
                  <a:pt x="2016" y="12"/>
                  <a:pt x="2013" y="16"/>
                  <a:pt x="2008" y="16"/>
                </a:cubicBezTo>
                <a:lnTo>
                  <a:pt x="2008" y="16"/>
                </a:lnTo>
                <a:cubicBezTo>
                  <a:pt x="2004" y="16"/>
                  <a:pt x="2000" y="12"/>
                  <a:pt x="2000" y="8"/>
                </a:cubicBezTo>
                <a:cubicBezTo>
                  <a:pt x="2000" y="4"/>
                  <a:pt x="2004" y="0"/>
                  <a:pt x="2008" y="0"/>
                </a:cubicBezTo>
                <a:close/>
                <a:moveTo>
                  <a:pt x="2088" y="0"/>
                </a:moveTo>
                <a:lnTo>
                  <a:pt x="2088" y="0"/>
                </a:lnTo>
                <a:cubicBezTo>
                  <a:pt x="2093" y="0"/>
                  <a:pt x="2096" y="4"/>
                  <a:pt x="2096" y="8"/>
                </a:cubicBezTo>
                <a:cubicBezTo>
                  <a:pt x="2096" y="12"/>
                  <a:pt x="2093" y="16"/>
                  <a:pt x="2088" y="16"/>
                </a:cubicBezTo>
                <a:lnTo>
                  <a:pt x="2088" y="16"/>
                </a:lnTo>
                <a:cubicBezTo>
                  <a:pt x="2084" y="16"/>
                  <a:pt x="2080" y="12"/>
                  <a:pt x="2080" y="8"/>
                </a:cubicBezTo>
                <a:cubicBezTo>
                  <a:pt x="2080" y="4"/>
                  <a:pt x="2084" y="0"/>
                  <a:pt x="2088" y="0"/>
                </a:cubicBezTo>
                <a:close/>
                <a:moveTo>
                  <a:pt x="2168" y="0"/>
                </a:moveTo>
                <a:lnTo>
                  <a:pt x="2168" y="0"/>
                </a:lnTo>
                <a:cubicBezTo>
                  <a:pt x="2173" y="0"/>
                  <a:pt x="2176" y="4"/>
                  <a:pt x="2176" y="8"/>
                </a:cubicBezTo>
                <a:cubicBezTo>
                  <a:pt x="2176" y="12"/>
                  <a:pt x="2173" y="16"/>
                  <a:pt x="2168" y="16"/>
                </a:cubicBezTo>
                <a:lnTo>
                  <a:pt x="2168" y="16"/>
                </a:lnTo>
                <a:cubicBezTo>
                  <a:pt x="2164" y="16"/>
                  <a:pt x="2160" y="12"/>
                  <a:pt x="2160" y="8"/>
                </a:cubicBezTo>
                <a:cubicBezTo>
                  <a:pt x="2160" y="4"/>
                  <a:pt x="2164" y="0"/>
                  <a:pt x="2168" y="0"/>
                </a:cubicBezTo>
                <a:close/>
                <a:moveTo>
                  <a:pt x="2248" y="0"/>
                </a:moveTo>
                <a:lnTo>
                  <a:pt x="2248" y="0"/>
                </a:lnTo>
                <a:cubicBezTo>
                  <a:pt x="2253" y="0"/>
                  <a:pt x="2256" y="4"/>
                  <a:pt x="2256" y="8"/>
                </a:cubicBezTo>
                <a:cubicBezTo>
                  <a:pt x="2256" y="12"/>
                  <a:pt x="2253" y="16"/>
                  <a:pt x="2248" y="16"/>
                </a:cubicBezTo>
                <a:lnTo>
                  <a:pt x="2248" y="16"/>
                </a:lnTo>
                <a:cubicBezTo>
                  <a:pt x="2244" y="16"/>
                  <a:pt x="2240" y="12"/>
                  <a:pt x="2240" y="8"/>
                </a:cubicBezTo>
                <a:cubicBezTo>
                  <a:pt x="2240" y="4"/>
                  <a:pt x="2244" y="0"/>
                  <a:pt x="2248" y="0"/>
                </a:cubicBezTo>
                <a:close/>
                <a:moveTo>
                  <a:pt x="2328" y="0"/>
                </a:moveTo>
                <a:lnTo>
                  <a:pt x="2328" y="0"/>
                </a:lnTo>
                <a:cubicBezTo>
                  <a:pt x="2333" y="0"/>
                  <a:pt x="2336" y="4"/>
                  <a:pt x="2336" y="8"/>
                </a:cubicBezTo>
                <a:cubicBezTo>
                  <a:pt x="2336" y="12"/>
                  <a:pt x="2333" y="16"/>
                  <a:pt x="2328" y="16"/>
                </a:cubicBezTo>
                <a:lnTo>
                  <a:pt x="2328" y="16"/>
                </a:lnTo>
                <a:cubicBezTo>
                  <a:pt x="2324" y="16"/>
                  <a:pt x="2320" y="12"/>
                  <a:pt x="2320" y="8"/>
                </a:cubicBezTo>
                <a:cubicBezTo>
                  <a:pt x="2320" y="4"/>
                  <a:pt x="2324" y="0"/>
                  <a:pt x="2328" y="0"/>
                </a:cubicBezTo>
                <a:close/>
                <a:moveTo>
                  <a:pt x="2408" y="0"/>
                </a:moveTo>
                <a:lnTo>
                  <a:pt x="2408" y="0"/>
                </a:lnTo>
                <a:cubicBezTo>
                  <a:pt x="2413" y="0"/>
                  <a:pt x="2416" y="4"/>
                  <a:pt x="2416" y="8"/>
                </a:cubicBezTo>
                <a:cubicBezTo>
                  <a:pt x="2416" y="12"/>
                  <a:pt x="2413" y="16"/>
                  <a:pt x="2408" y="16"/>
                </a:cubicBezTo>
                <a:lnTo>
                  <a:pt x="2408" y="16"/>
                </a:lnTo>
                <a:cubicBezTo>
                  <a:pt x="2404" y="16"/>
                  <a:pt x="2400" y="12"/>
                  <a:pt x="2400" y="8"/>
                </a:cubicBezTo>
                <a:cubicBezTo>
                  <a:pt x="2400" y="4"/>
                  <a:pt x="2404" y="0"/>
                  <a:pt x="2408" y="0"/>
                </a:cubicBezTo>
                <a:close/>
                <a:moveTo>
                  <a:pt x="2488" y="0"/>
                </a:moveTo>
                <a:lnTo>
                  <a:pt x="2488" y="0"/>
                </a:lnTo>
                <a:cubicBezTo>
                  <a:pt x="2493" y="0"/>
                  <a:pt x="2496" y="4"/>
                  <a:pt x="2496" y="8"/>
                </a:cubicBezTo>
                <a:cubicBezTo>
                  <a:pt x="2496" y="12"/>
                  <a:pt x="2493" y="16"/>
                  <a:pt x="2488" y="16"/>
                </a:cubicBezTo>
                <a:lnTo>
                  <a:pt x="2488" y="16"/>
                </a:lnTo>
                <a:cubicBezTo>
                  <a:pt x="2484" y="16"/>
                  <a:pt x="2480" y="12"/>
                  <a:pt x="2480" y="8"/>
                </a:cubicBezTo>
                <a:cubicBezTo>
                  <a:pt x="2480" y="4"/>
                  <a:pt x="2484" y="0"/>
                  <a:pt x="2488" y="0"/>
                </a:cubicBezTo>
                <a:close/>
                <a:moveTo>
                  <a:pt x="2568" y="0"/>
                </a:moveTo>
                <a:lnTo>
                  <a:pt x="2568" y="0"/>
                </a:lnTo>
                <a:cubicBezTo>
                  <a:pt x="2573" y="0"/>
                  <a:pt x="2576" y="4"/>
                  <a:pt x="2576" y="8"/>
                </a:cubicBezTo>
                <a:cubicBezTo>
                  <a:pt x="2576" y="12"/>
                  <a:pt x="2573" y="16"/>
                  <a:pt x="2568" y="16"/>
                </a:cubicBezTo>
                <a:lnTo>
                  <a:pt x="2568" y="16"/>
                </a:lnTo>
                <a:cubicBezTo>
                  <a:pt x="2564" y="16"/>
                  <a:pt x="2560" y="12"/>
                  <a:pt x="2560" y="8"/>
                </a:cubicBezTo>
                <a:cubicBezTo>
                  <a:pt x="2560" y="4"/>
                  <a:pt x="2564" y="0"/>
                  <a:pt x="2568" y="0"/>
                </a:cubicBezTo>
                <a:close/>
                <a:moveTo>
                  <a:pt x="2648" y="0"/>
                </a:moveTo>
                <a:lnTo>
                  <a:pt x="2648" y="0"/>
                </a:lnTo>
                <a:cubicBezTo>
                  <a:pt x="2653" y="0"/>
                  <a:pt x="2656" y="4"/>
                  <a:pt x="2656" y="8"/>
                </a:cubicBezTo>
                <a:cubicBezTo>
                  <a:pt x="2656" y="12"/>
                  <a:pt x="2653" y="16"/>
                  <a:pt x="2648" y="16"/>
                </a:cubicBezTo>
                <a:lnTo>
                  <a:pt x="2648" y="16"/>
                </a:lnTo>
                <a:cubicBezTo>
                  <a:pt x="2644" y="16"/>
                  <a:pt x="2640" y="12"/>
                  <a:pt x="2640" y="8"/>
                </a:cubicBezTo>
                <a:cubicBezTo>
                  <a:pt x="2640" y="4"/>
                  <a:pt x="2644" y="0"/>
                  <a:pt x="2648" y="0"/>
                </a:cubicBezTo>
                <a:close/>
                <a:moveTo>
                  <a:pt x="2728" y="0"/>
                </a:moveTo>
                <a:lnTo>
                  <a:pt x="2728" y="0"/>
                </a:lnTo>
                <a:cubicBezTo>
                  <a:pt x="2733" y="0"/>
                  <a:pt x="2736" y="4"/>
                  <a:pt x="2736" y="8"/>
                </a:cubicBezTo>
                <a:cubicBezTo>
                  <a:pt x="2736" y="12"/>
                  <a:pt x="2733" y="16"/>
                  <a:pt x="2728" y="16"/>
                </a:cubicBezTo>
                <a:lnTo>
                  <a:pt x="2728" y="16"/>
                </a:lnTo>
                <a:cubicBezTo>
                  <a:pt x="2724" y="16"/>
                  <a:pt x="2720" y="12"/>
                  <a:pt x="2720" y="8"/>
                </a:cubicBezTo>
                <a:cubicBezTo>
                  <a:pt x="2720" y="4"/>
                  <a:pt x="2724" y="0"/>
                  <a:pt x="2728" y="0"/>
                </a:cubicBezTo>
                <a:close/>
                <a:moveTo>
                  <a:pt x="2808" y="0"/>
                </a:moveTo>
                <a:lnTo>
                  <a:pt x="2808" y="0"/>
                </a:lnTo>
                <a:cubicBezTo>
                  <a:pt x="2813" y="0"/>
                  <a:pt x="2816" y="4"/>
                  <a:pt x="2816" y="8"/>
                </a:cubicBezTo>
                <a:cubicBezTo>
                  <a:pt x="2816" y="12"/>
                  <a:pt x="2813" y="16"/>
                  <a:pt x="2808" y="16"/>
                </a:cubicBezTo>
                <a:lnTo>
                  <a:pt x="2808" y="16"/>
                </a:lnTo>
                <a:cubicBezTo>
                  <a:pt x="2804" y="16"/>
                  <a:pt x="2800" y="12"/>
                  <a:pt x="2800" y="8"/>
                </a:cubicBezTo>
                <a:cubicBezTo>
                  <a:pt x="2800" y="4"/>
                  <a:pt x="2804" y="0"/>
                  <a:pt x="2808" y="0"/>
                </a:cubicBezTo>
                <a:close/>
                <a:moveTo>
                  <a:pt x="2888" y="0"/>
                </a:moveTo>
                <a:lnTo>
                  <a:pt x="2888" y="0"/>
                </a:lnTo>
                <a:cubicBezTo>
                  <a:pt x="2893" y="0"/>
                  <a:pt x="2896" y="4"/>
                  <a:pt x="2896" y="8"/>
                </a:cubicBezTo>
                <a:cubicBezTo>
                  <a:pt x="2896" y="12"/>
                  <a:pt x="2893" y="16"/>
                  <a:pt x="2888" y="16"/>
                </a:cubicBezTo>
                <a:lnTo>
                  <a:pt x="2888" y="16"/>
                </a:lnTo>
                <a:cubicBezTo>
                  <a:pt x="2884" y="16"/>
                  <a:pt x="2880" y="12"/>
                  <a:pt x="2880" y="8"/>
                </a:cubicBezTo>
                <a:cubicBezTo>
                  <a:pt x="2880" y="4"/>
                  <a:pt x="2884" y="0"/>
                  <a:pt x="2888" y="0"/>
                </a:cubicBezTo>
                <a:close/>
                <a:moveTo>
                  <a:pt x="2968" y="0"/>
                </a:moveTo>
                <a:lnTo>
                  <a:pt x="2968" y="0"/>
                </a:lnTo>
                <a:cubicBezTo>
                  <a:pt x="2973" y="0"/>
                  <a:pt x="2976" y="4"/>
                  <a:pt x="2976" y="8"/>
                </a:cubicBezTo>
                <a:cubicBezTo>
                  <a:pt x="2976" y="12"/>
                  <a:pt x="2973" y="16"/>
                  <a:pt x="2968" y="16"/>
                </a:cubicBezTo>
                <a:lnTo>
                  <a:pt x="2968" y="16"/>
                </a:lnTo>
                <a:cubicBezTo>
                  <a:pt x="2964" y="16"/>
                  <a:pt x="2960" y="12"/>
                  <a:pt x="2960" y="8"/>
                </a:cubicBezTo>
                <a:cubicBezTo>
                  <a:pt x="2960" y="4"/>
                  <a:pt x="2964" y="0"/>
                  <a:pt x="2968" y="0"/>
                </a:cubicBezTo>
                <a:close/>
                <a:moveTo>
                  <a:pt x="3048" y="0"/>
                </a:moveTo>
                <a:lnTo>
                  <a:pt x="3048" y="0"/>
                </a:lnTo>
                <a:cubicBezTo>
                  <a:pt x="3053" y="0"/>
                  <a:pt x="3056" y="4"/>
                  <a:pt x="3056" y="8"/>
                </a:cubicBezTo>
                <a:cubicBezTo>
                  <a:pt x="3056" y="12"/>
                  <a:pt x="3053" y="16"/>
                  <a:pt x="3048" y="16"/>
                </a:cubicBezTo>
                <a:lnTo>
                  <a:pt x="3048" y="16"/>
                </a:lnTo>
                <a:cubicBezTo>
                  <a:pt x="3044" y="16"/>
                  <a:pt x="3040" y="12"/>
                  <a:pt x="3040" y="8"/>
                </a:cubicBezTo>
                <a:cubicBezTo>
                  <a:pt x="3040" y="4"/>
                  <a:pt x="3044" y="0"/>
                  <a:pt x="3048" y="0"/>
                </a:cubicBezTo>
                <a:close/>
                <a:moveTo>
                  <a:pt x="3128" y="0"/>
                </a:moveTo>
                <a:lnTo>
                  <a:pt x="3128" y="0"/>
                </a:lnTo>
                <a:cubicBezTo>
                  <a:pt x="3133" y="0"/>
                  <a:pt x="3136" y="4"/>
                  <a:pt x="3136" y="8"/>
                </a:cubicBezTo>
                <a:cubicBezTo>
                  <a:pt x="3136" y="12"/>
                  <a:pt x="3133" y="16"/>
                  <a:pt x="3128" y="16"/>
                </a:cubicBezTo>
                <a:lnTo>
                  <a:pt x="3128" y="16"/>
                </a:lnTo>
                <a:cubicBezTo>
                  <a:pt x="3124" y="16"/>
                  <a:pt x="3120" y="12"/>
                  <a:pt x="3120" y="8"/>
                </a:cubicBezTo>
                <a:cubicBezTo>
                  <a:pt x="3120" y="4"/>
                  <a:pt x="3124" y="0"/>
                  <a:pt x="3128" y="0"/>
                </a:cubicBezTo>
                <a:close/>
                <a:moveTo>
                  <a:pt x="3208" y="0"/>
                </a:moveTo>
                <a:lnTo>
                  <a:pt x="3208" y="0"/>
                </a:lnTo>
                <a:cubicBezTo>
                  <a:pt x="3213" y="0"/>
                  <a:pt x="3216" y="4"/>
                  <a:pt x="3216" y="8"/>
                </a:cubicBezTo>
                <a:cubicBezTo>
                  <a:pt x="3216" y="12"/>
                  <a:pt x="3213" y="16"/>
                  <a:pt x="3208" y="16"/>
                </a:cubicBezTo>
                <a:lnTo>
                  <a:pt x="3208" y="16"/>
                </a:lnTo>
                <a:cubicBezTo>
                  <a:pt x="3204" y="16"/>
                  <a:pt x="3200" y="12"/>
                  <a:pt x="3200" y="8"/>
                </a:cubicBezTo>
                <a:cubicBezTo>
                  <a:pt x="3200" y="4"/>
                  <a:pt x="3204" y="0"/>
                  <a:pt x="3208" y="0"/>
                </a:cubicBezTo>
                <a:close/>
                <a:moveTo>
                  <a:pt x="3288" y="0"/>
                </a:moveTo>
                <a:lnTo>
                  <a:pt x="3288" y="0"/>
                </a:lnTo>
                <a:cubicBezTo>
                  <a:pt x="3293" y="0"/>
                  <a:pt x="3296" y="4"/>
                  <a:pt x="3296" y="8"/>
                </a:cubicBezTo>
                <a:cubicBezTo>
                  <a:pt x="3296" y="12"/>
                  <a:pt x="3293" y="16"/>
                  <a:pt x="3288" y="16"/>
                </a:cubicBezTo>
                <a:lnTo>
                  <a:pt x="3288" y="16"/>
                </a:lnTo>
                <a:cubicBezTo>
                  <a:pt x="3284" y="16"/>
                  <a:pt x="3280" y="12"/>
                  <a:pt x="3280" y="8"/>
                </a:cubicBezTo>
                <a:cubicBezTo>
                  <a:pt x="3280" y="4"/>
                  <a:pt x="3284" y="0"/>
                  <a:pt x="3288" y="0"/>
                </a:cubicBezTo>
                <a:close/>
                <a:moveTo>
                  <a:pt x="3368" y="0"/>
                </a:moveTo>
                <a:lnTo>
                  <a:pt x="3368" y="0"/>
                </a:lnTo>
                <a:cubicBezTo>
                  <a:pt x="3373" y="0"/>
                  <a:pt x="3376" y="4"/>
                  <a:pt x="3376" y="8"/>
                </a:cubicBezTo>
                <a:cubicBezTo>
                  <a:pt x="3376" y="12"/>
                  <a:pt x="3373" y="16"/>
                  <a:pt x="3368" y="16"/>
                </a:cubicBezTo>
                <a:lnTo>
                  <a:pt x="3368" y="16"/>
                </a:lnTo>
                <a:cubicBezTo>
                  <a:pt x="3364" y="16"/>
                  <a:pt x="3360" y="12"/>
                  <a:pt x="3360" y="8"/>
                </a:cubicBezTo>
                <a:cubicBezTo>
                  <a:pt x="3360" y="4"/>
                  <a:pt x="3364" y="0"/>
                  <a:pt x="3368" y="0"/>
                </a:cubicBezTo>
                <a:close/>
                <a:moveTo>
                  <a:pt x="3448" y="0"/>
                </a:moveTo>
                <a:lnTo>
                  <a:pt x="3448" y="0"/>
                </a:lnTo>
                <a:cubicBezTo>
                  <a:pt x="3453" y="0"/>
                  <a:pt x="3456" y="4"/>
                  <a:pt x="3456" y="8"/>
                </a:cubicBezTo>
                <a:cubicBezTo>
                  <a:pt x="3456" y="12"/>
                  <a:pt x="3453" y="16"/>
                  <a:pt x="3448" y="16"/>
                </a:cubicBezTo>
                <a:lnTo>
                  <a:pt x="3448" y="16"/>
                </a:lnTo>
                <a:cubicBezTo>
                  <a:pt x="3444" y="16"/>
                  <a:pt x="3440" y="12"/>
                  <a:pt x="3440" y="8"/>
                </a:cubicBezTo>
                <a:cubicBezTo>
                  <a:pt x="3440" y="4"/>
                  <a:pt x="3444" y="0"/>
                  <a:pt x="3448" y="0"/>
                </a:cubicBezTo>
                <a:close/>
                <a:moveTo>
                  <a:pt x="3528" y="0"/>
                </a:moveTo>
                <a:lnTo>
                  <a:pt x="3529" y="0"/>
                </a:lnTo>
                <a:cubicBezTo>
                  <a:pt x="3533" y="0"/>
                  <a:pt x="3537" y="4"/>
                  <a:pt x="3537" y="8"/>
                </a:cubicBezTo>
                <a:cubicBezTo>
                  <a:pt x="3537" y="12"/>
                  <a:pt x="3533" y="16"/>
                  <a:pt x="3529" y="16"/>
                </a:cubicBezTo>
                <a:lnTo>
                  <a:pt x="3528" y="16"/>
                </a:lnTo>
                <a:cubicBezTo>
                  <a:pt x="3524" y="16"/>
                  <a:pt x="3520" y="12"/>
                  <a:pt x="3520" y="8"/>
                </a:cubicBezTo>
                <a:cubicBezTo>
                  <a:pt x="3520" y="4"/>
                  <a:pt x="3524" y="0"/>
                  <a:pt x="3528" y="0"/>
                </a:cubicBezTo>
                <a:close/>
                <a:moveTo>
                  <a:pt x="3609" y="0"/>
                </a:moveTo>
                <a:lnTo>
                  <a:pt x="3609" y="0"/>
                </a:lnTo>
                <a:cubicBezTo>
                  <a:pt x="3613" y="0"/>
                  <a:pt x="3617" y="4"/>
                  <a:pt x="3617" y="8"/>
                </a:cubicBezTo>
                <a:cubicBezTo>
                  <a:pt x="3617" y="12"/>
                  <a:pt x="3613" y="16"/>
                  <a:pt x="3609" y="16"/>
                </a:cubicBezTo>
                <a:lnTo>
                  <a:pt x="3609" y="16"/>
                </a:lnTo>
                <a:cubicBezTo>
                  <a:pt x="3604" y="16"/>
                  <a:pt x="3601" y="12"/>
                  <a:pt x="3601" y="8"/>
                </a:cubicBezTo>
                <a:cubicBezTo>
                  <a:pt x="3601" y="4"/>
                  <a:pt x="3604" y="0"/>
                  <a:pt x="3609" y="0"/>
                </a:cubicBezTo>
                <a:close/>
                <a:moveTo>
                  <a:pt x="3689" y="0"/>
                </a:moveTo>
                <a:lnTo>
                  <a:pt x="3689" y="0"/>
                </a:lnTo>
                <a:cubicBezTo>
                  <a:pt x="3693" y="0"/>
                  <a:pt x="3697" y="4"/>
                  <a:pt x="3697" y="8"/>
                </a:cubicBezTo>
                <a:cubicBezTo>
                  <a:pt x="3697" y="12"/>
                  <a:pt x="3693" y="16"/>
                  <a:pt x="3689" y="16"/>
                </a:cubicBezTo>
                <a:lnTo>
                  <a:pt x="3689" y="16"/>
                </a:lnTo>
                <a:cubicBezTo>
                  <a:pt x="3684" y="16"/>
                  <a:pt x="3681" y="12"/>
                  <a:pt x="3681" y="8"/>
                </a:cubicBezTo>
                <a:cubicBezTo>
                  <a:pt x="3681" y="4"/>
                  <a:pt x="3684" y="0"/>
                  <a:pt x="3689" y="0"/>
                </a:cubicBezTo>
                <a:close/>
                <a:moveTo>
                  <a:pt x="3769" y="0"/>
                </a:moveTo>
                <a:lnTo>
                  <a:pt x="3769" y="0"/>
                </a:lnTo>
                <a:cubicBezTo>
                  <a:pt x="3773" y="0"/>
                  <a:pt x="3777" y="4"/>
                  <a:pt x="3777" y="8"/>
                </a:cubicBezTo>
                <a:cubicBezTo>
                  <a:pt x="3777" y="12"/>
                  <a:pt x="3773" y="16"/>
                  <a:pt x="3769" y="16"/>
                </a:cubicBezTo>
                <a:lnTo>
                  <a:pt x="3769" y="16"/>
                </a:lnTo>
                <a:cubicBezTo>
                  <a:pt x="3764" y="16"/>
                  <a:pt x="3761" y="12"/>
                  <a:pt x="3761" y="8"/>
                </a:cubicBezTo>
                <a:cubicBezTo>
                  <a:pt x="3761" y="4"/>
                  <a:pt x="3764" y="0"/>
                  <a:pt x="3769" y="0"/>
                </a:cubicBezTo>
                <a:close/>
                <a:moveTo>
                  <a:pt x="3849" y="0"/>
                </a:moveTo>
                <a:lnTo>
                  <a:pt x="3849" y="0"/>
                </a:lnTo>
                <a:cubicBezTo>
                  <a:pt x="3853" y="0"/>
                  <a:pt x="3857" y="4"/>
                  <a:pt x="3857" y="8"/>
                </a:cubicBezTo>
                <a:cubicBezTo>
                  <a:pt x="3857" y="12"/>
                  <a:pt x="3853" y="16"/>
                  <a:pt x="3849" y="16"/>
                </a:cubicBezTo>
                <a:lnTo>
                  <a:pt x="3849" y="16"/>
                </a:lnTo>
                <a:cubicBezTo>
                  <a:pt x="3844" y="16"/>
                  <a:pt x="3841" y="12"/>
                  <a:pt x="3841" y="8"/>
                </a:cubicBezTo>
                <a:cubicBezTo>
                  <a:pt x="3841" y="4"/>
                  <a:pt x="3844" y="0"/>
                  <a:pt x="3849" y="0"/>
                </a:cubicBezTo>
                <a:close/>
                <a:moveTo>
                  <a:pt x="3929" y="0"/>
                </a:moveTo>
                <a:lnTo>
                  <a:pt x="3929" y="0"/>
                </a:lnTo>
                <a:cubicBezTo>
                  <a:pt x="3933" y="0"/>
                  <a:pt x="3937" y="4"/>
                  <a:pt x="3937" y="8"/>
                </a:cubicBezTo>
                <a:cubicBezTo>
                  <a:pt x="3937" y="12"/>
                  <a:pt x="3933" y="16"/>
                  <a:pt x="3929" y="16"/>
                </a:cubicBezTo>
                <a:lnTo>
                  <a:pt x="3929" y="16"/>
                </a:lnTo>
                <a:cubicBezTo>
                  <a:pt x="3924" y="16"/>
                  <a:pt x="3921" y="12"/>
                  <a:pt x="3921" y="8"/>
                </a:cubicBezTo>
                <a:cubicBezTo>
                  <a:pt x="3921" y="4"/>
                  <a:pt x="3924" y="0"/>
                  <a:pt x="3929" y="0"/>
                </a:cubicBezTo>
                <a:close/>
                <a:moveTo>
                  <a:pt x="4009" y="0"/>
                </a:moveTo>
                <a:lnTo>
                  <a:pt x="4009" y="0"/>
                </a:lnTo>
                <a:cubicBezTo>
                  <a:pt x="4013" y="0"/>
                  <a:pt x="4017" y="4"/>
                  <a:pt x="4017" y="8"/>
                </a:cubicBezTo>
                <a:cubicBezTo>
                  <a:pt x="4017" y="12"/>
                  <a:pt x="4013" y="16"/>
                  <a:pt x="4009" y="16"/>
                </a:cubicBezTo>
                <a:lnTo>
                  <a:pt x="4009" y="16"/>
                </a:lnTo>
                <a:cubicBezTo>
                  <a:pt x="4004" y="16"/>
                  <a:pt x="4001" y="12"/>
                  <a:pt x="4001" y="8"/>
                </a:cubicBezTo>
                <a:cubicBezTo>
                  <a:pt x="4001" y="4"/>
                  <a:pt x="4004" y="0"/>
                  <a:pt x="4009" y="0"/>
                </a:cubicBezTo>
                <a:close/>
                <a:moveTo>
                  <a:pt x="4089" y="0"/>
                </a:moveTo>
                <a:lnTo>
                  <a:pt x="4089" y="0"/>
                </a:lnTo>
                <a:cubicBezTo>
                  <a:pt x="4093" y="0"/>
                  <a:pt x="4097" y="4"/>
                  <a:pt x="4097" y="8"/>
                </a:cubicBezTo>
                <a:cubicBezTo>
                  <a:pt x="4097" y="12"/>
                  <a:pt x="4093" y="16"/>
                  <a:pt x="4089" y="16"/>
                </a:cubicBezTo>
                <a:lnTo>
                  <a:pt x="4089" y="16"/>
                </a:lnTo>
                <a:cubicBezTo>
                  <a:pt x="4084" y="16"/>
                  <a:pt x="4081" y="12"/>
                  <a:pt x="4081" y="8"/>
                </a:cubicBezTo>
                <a:cubicBezTo>
                  <a:pt x="4081" y="4"/>
                  <a:pt x="4084" y="0"/>
                  <a:pt x="4089" y="0"/>
                </a:cubicBezTo>
                <a:close/>
                <a:moveTo>
                  <a:pt x="4169" y="0"/>
                </a:moveTo>
                <a:lnTo>
                  <a:pt x="4169" y="0"/>
                </a:lnTo>
                <a:cubicBezTo>
                  <a:pt x="4173" y="0"/>
                  <a:pt x="4177" y="4"/>
                  <a:pt x="4177" y="8"/>
                </a:cubicBezTo>
                <a:cubicBezTo>
                  <a:pt x="4177" y="12"/>
                  <a:pt x="4173" y="16"/>
                  <a:pt x="4169" y="16"/>
                </a:cubicBezTo>
                <a:lnTo>
                  <a:pt x="4169" y="16"/>
                </a:lnTo>
                <a:cubicBezTo>
                  <a:pt x="4164" y="16"/>
                  <a:pt x="4161" y="12"/>
                  <a:pt x="4161" y="8"/>
                </a:cubicBezTo>
                <a:cubicBezTo>
                  <a:pt x="4161" y="4"/>
                  <a:pt x="4164" y="0"/>
                  <a:pt x="4169" y="0"/>
                </a:cubicBezTo>
                <a:close/>
                <a:moveTo>
                  <a:pt x="4249" y="0"/>
                </a:moveTo>
                <a:lnTo>
                  <a:pt x="4249" y="0"/>
                </a:lnTo>
                <a:cubicBezTo>
                  <a:pt x="4253" y="0"/>
                  <a:pt x="4257" y="4"/>
                  <a:pt x="4257" y="8"/>
                </a:cubicBezTo>
                <a:cubicBezTo>
                  <a:pt x="4257" y="12"/>
                  <a:pt x="4253" y="16"/>
                  <a:pt x="4249" y="16"/>
                </a:cubicBezTo>
                <a:lnTo>
                  <a:pt x="4249" y="16"/>
                </a:lnTo>
                <a:cubicBezTo>
                  <a:pt x="4244" y="16"/>
                  <a:pt x="4241" y="12"/>
                  <a:pt x="4241" y="8"/>
                </a:cubicBezTo>
                <a:cubicBezTo>
                  <a:pt x="4241" y="4"/>
                  <a:pt x="4244" y="0"/>
                  <a:pt x="4249" y="0"/>
                </a:cubicBezTo>
                <a:close/>
                <a:moveTo>
                  <a:pt x="4329" y="0"/>
                </a:moveTo>
                <a:lnTo>
                  <a:pt x="4329" y="0"/>
                </a:lnTo>
                <a:cubicBezTo>
                  <a:pt x="4333" y="0"/>
                  <a:pt x="4337" y="4"/>
                  <a:pt x="4337" y="8"/>
                </a:cubicBezTo>
                <a:cubicBezTo>
                  <a:pt x="4337" y="12"/>
                  <a:pt x="4333" y="16"/>
                  <a:pt x="4329" y="16"/>
                </a:cubicBezTo>
                <a:lnTo>
                  <a:pt x="4329" y="16"/>
                </a:lnTo>
                <a:cubicBezTo>
                  <a:pt x="4324" y="16"/>
                  <a:pt x="4321" y="12"/>
                  <a:pt x="4321" y="8"/>
                </a:cubicBezTo>
                <a:cubicBezTo>
                  <a:pt x="4321" y="4"/>
                  <a:pt x="4324" y="0"/>
                  <a:pt x="4329" y="0"/>
                </a:cubicBezTo>
                <a:close/>
                <a:moveTo>
                  <a:pt x="4409" y="0"/>
                </a:moveTo>
                <a:lnTo>
                  <a:pt x="4409" y="0"/>
                </a:lnTo>
                <a:cubicBezTo>
                  <a:pt x="4413" y="0"/>
                  <a:pt x="4417" y="4"/>
                  <a:pt x="4417" y="8"/>
                </a:cubicBezTo>
                <a:cubicBezTo>
                  <a:pt x="4417" y="12"/>
                  <a:pt x="4413" y="16"/>
                  <a:pt x="4409" y="16"/>
                </a:cubicBezTo>
                <a:lnTo>
                  <a:pt x="4409" y="16"/>
                </a:lnTo>
                <a:cubicBezTo>
                  <a:pt x="4404" y="16"/>
                  <a:pt x="4401" y="12"/>
                  <a:pt x="4401" y="8"/>
                </a:cubicBezTo>
                <a:cubicBezTo>
                  <a:pt x="4401" y="4"/>
                  <a:pt x="4404" y="0"/>
                  <a:pt x="4409" y="0"/>
                </a:cubicBezTo>
                <a:close/>
                <a:moveTo>
                  <a:pt x="4489" y="0"/>
                </a:moveTo>
                <a:lnTo>
                  <a:pt x="4489" y="0"/>
                </a:lnTo>
                <a:cubicBezTo>
                  <a:pt x="4493" y="0"/>
                  <a:pt x="4497" y="4"/>
                  <a:pt x="4497" y="8"/>
                </a:cubicBezTo>
                <a:cubicBezTo>
                  <a:pt x="4497" y="12"/>
                  <a:pt x="4493" y="16"/>
                  <a:pt x="4489" y="16"/>
                </a:cubicBezTo>
                <a:lnTo>
                  <a:pt x="4489" y="16"/>
                </a:lnTo>
                <a:cubicBezTo>
                  <a:pt x="4484" y="16"/>
                  <a:pt x="4481" y="12"/>
                  <a:pt x="4481" y="8"/>
                </a:cubicBezTo>
                <a:cubicBezTo>
                  <a:pt x="4481" y="4"/>
                  <a:pt x="4484" y="0"/>
                  <a:pt x="4489" y="0"/>
                </a:cubicBezTo>
                <a:close/>
                <a:moveTo>
                  <a:pt x="4569" y="0"/>
                </a:moveTo>
                <a:lnTo>
                  <a:pt x="4569" y="0"/>
                </a:lnTo>
                <a:cubicBezTo>
                  <a:pt x="4573" y="0"/>
                  <a:pt x="4577" y="4"/>
                  <a:pt x="4577" y="8"/>
                </a:cubicBezTo>
                <a:cubicBezTo>
                  <a:pt x="4577" y="12"/>
                  <a:pt x="4573" y="16"/>
                  <a:pt x="4569" y="16"/>
                </a:cubicBezTo>
                <a:lnTo>
                  <a:pt x="4569" y="16"/>
                </a:lnTo>
                <a:cubicBezTo>
                  <a:pt x="4564" y="16"/>
                  <a:pt x="4561" y="12"/>
                  <a:pt x="4561" y="8"/>
                </a:cubicBezTo>
                <a:cubicBezTo>
                  <a:pt x="4561" y="4"/>
                  <a:pt x="4564" y="0"/>
                  <a:pt x="4569" y="0"/>
                </a:cubicBezTo>
                <a:close/>
                <a:moveTo>
                  <a:pt x="4649" y="0"/>
                </a:moveTo>
                <a:lnTo>
                  <a:pt x="4649" y="0"/>
                </a:lnTo>
                <a:cubicBezTo>
                  <a:pt x="4653" y="0"/>
                  <a:pt x="4657" y="4"/>
                  <a:pt x="4657" y="8"/>
                </a:cubicBezTo>
                <a:cubicBezTo>
                  <a:pt x="4657" y="12"/>
                  <a:pt x="4653" y="16"/>
                  <a:pt x="4649" y="16"/>
                </a:cubicBezTo>
                <a:lnTo>
                  <a:pt x="4649" y="16"/>
                </a:lnTo>
                <a:cubicBezTo>
                  <a:pt x="4644" y="16"/>
                  <a:pt x="4641" y="12"/>
                  <a:pt x="4641" y="8"/>
                </a:cubicBezTo>
                <a:cubicBezTo>
                  <a:pt x="4641" y="4"/>
                  <a:pt x="4644" y="0"/>
                  <a:pt x="4649" y="0"/>
                </a:cubicBezTo>
                <a:close/>
                <a:moveTo>
                  <a:pt x="4729" y="0"/>
                </a:moveTo>
                <a:lnTo>
                  <a:pt x="4729" y="0"/>
                </a:lnTo>
                <a:cubicBezTo>
                  <a:pt x="4733" y="0"/>
                  <a:pt x="4737" y="4"/>
                  <a:pt x="4737" y="8"/>
                </a:cubicBezTo>
                <a:cubicBezTo>
                  <a:pt x="4737" y="12"/>
                  <a:pt x="4733" y="16"/>
                  <a:pt x="4729" y="16"/>
                </a:cubicBezTo>
                <a:lnTo>
                  <a:pt x="4729" y="16"/>
                </a:lnTo>
                <a:cubicBezTo>
                  <a:pt x="4724" y="16"/>
                  <a:pt x="4721" y="12"/>
                  <a:pt x="4721" y="8"/>
                </a:cubicBezTo>
                <a:cubicBezTo>
                  <a:pt x="4721" y="4"/>
                  <a:pt x="4724" y="0"/>
                  <a:pt x="4729" y="0"/>
                </a:cubicBezTo>
                <a:close/>
                <a:moveTo>
                  <a:pt x="4809" y="0"/>
                </a:moveTo>
                <a:lnTo>
                  <a:pt x="4809" y="0"/>
                </a:lnTo>
                <a:cubicBezTo>
                  <a:pt x="4813" y="0"/>
                  <a:pt x="4817" y="4"/>
                  <a:pt x="4817" y="8"/>
                </a:cubicBezTo>
                <a:cubicBezTo>
                  <a:pt x="4817" y="12"/>
                  <a:pt x="4813" y="16"/>
                  <a:pt x="4809" y="16"/>
                </a:cubicBezTo>
                <a:lnTo>
                  <a:pt x="4809" y="16"/>
                </a:lnTo>
                <a:cubicBezTo>
                  <a:pt x="4804" y="16"/>
                  <a:pt x="4801" y="12"/>
                  <a:pt x="4801" y="8"/>
                </a:cubicBezTo>
                <a:cubicBezTo>
                  <a:pt x="4801" y="4"/>
                  <a:pt x="4804" y="0"/>
                  <a:pt x="4809" y="0"/>
                </a:cubicBezTo>
                <a:close/>
                <a:moveTo>
                  <a:pt x="4889" y="0"/>
                </a:moveTo>
                <a:lnTo>
                  <a:pt x="4889" y="0"/>
                </a:lnTo>
                <a:cubicBezTo>
                  <a:pt x="4893" y="0"/>
                  <a:pt x="4897" y="4"/>
                  <a:pt x="4897" y="8"/>
                </a:cubicBezTo>
                <a:cubicBezTo>
                  <a:pt x="4897" y="12"/>
                  <a:pt x="4893" y="16"/>
                  <a:pt x="4889" y="16"/>
                </a:cubicBezTo>
                <a:lnTo>
                  <a:pt x="4889" y="16"/>
                </a:lnTo>
                <a:cubicBezTo>
                  <a:pt x="4884" y="16"/>
                  <a:pt x="4881" y="12"/>
                  <a:pt x="4881" y="8"/>
                </a:cubicBezTo>
                <a:cubicBezTo>
                  <a:pt x="4881" y="4"/>
                  <a:pt x="4884" y="0"/>
                  <a:pt x="4889" y="0"/>
                </a:cubicBezTo>
                <a:close/>
                <a:moveTo>
                  <a:pt x="4969" y="0"/>
                </a:moveTo>
                <a:lnTo>
                  <a:pt x="4969" y="0"/>
                </a:lnTo>
                <a:cubicBezTo>
                  <a:pt x="4973" y="0"/>
                  <a:pt x="4977" y="4"/>
                  <a:pt x="4977" y="8"/>
                </a:cubicBezTo>
                <a:cubicBezTo>
                  <a:pt x="4977" y="12"/>
                  <a:pt x="4973" y="16"/>
                  <a:pt x="4969" y="16"/>
                </a:cubicBezTo>
                <a:lnTo>
                  <a:pt x="4969" y="16"/>
                </a:lnTo>
                <a:cubicBezTo>
                  <a:pt x="4964" y="16"/>
                  <a:pt x="4961" y="12"/>
                  <a:pt x="4961" y="8"/>
                </a:cubicBezTo>
                <a:cubicBezTo>
                  <a:pt x="4961" y="4"/>
                  <a:pt x="4964" y="0"/>
                  <a:pt x="4969" y="0"/>
                </a:cubicBezTo>
                <a:close/>
                <a:moveTo>
                  <a:pt x="5049" y="0"/>
                </a:moveTo>
                <a:lnTo>
                  <a:pt x="5049" y="0"/>
                </a:lnTo>
                <a:cubicBezTo>
                  <a:pt x="5053" y="0"/>
                  <a:pt x="5057" y="4"/>
                  <a:pt x="5057" y="8"/>
                </a:cubicBezTo>
                <a:cubicBezTo>
                  <a:pt x="5057" y="12"/>
                  <a:pt x="5053" y="16"/>
                  <a:pt x="5049" y="16"/>
                </a:cubicBezTo>
                <a:lnTo>
                  <a:pt x="5049" y="16"/>
                </a:lnTo>
                <a:cubicBezTo>
                  <a:pt x="5044" y="16"/>
                  <a:pt x="5041" y="12"/>
                  <a:pt x="5041" y="8"/>
                </a:cubicBezTo>
                <a:cubicBezTo>
                  <a:pt x="5041" y="4"/>
                  <a:pt x="5044" y="0"/>
                  <a:pt x="5049" y="0"/>
                </a:cubicBezTo>
                <a:close/>
                <a:moveTo>
                  <a:pt x="5129" y="0"/>
                </a:moveTo>
                <a:lnTo>
                  <a:pt x="5129" y="0"/>
                </a:lnTo>
                <a:cubicBezTo>
                  <a:pt x="5133" y="0"/>
                  <a:pt x="5137" y="4"/>
                  <a:pt x="5137" y="8"/>
                </a:cubicBezTo>
                <a:cubicBezTo>
                  <a:pt x="5137" y="12"/>
                  <a:pt x="5133" y="16"/>
                  <a:pt x="5129" y="16"/>
                </a:cubicBezTo>
                <a:lnTo>
                  <a:pt x="5129" y="16"/>
                </a:lnTo>
                <a:cubicBezTo>
                  <a:pt x="5124" y="16"/>
                  <a:pt x="5121" y="12"/>
                  <a:pt x="5121" y="8"/>
                </a:cubicBezTo>
                <a:cubicBezTo>
                  <a:pt x="5121" y="4"/>
                  <a:pt x="5124" y="0"/>
                  <a:pt x="5129" y="0"/>
                </a:cubicBezTo>
                <a:close/>
                <a:moveTo>
                  <a:pt x="5209" y="0"/>
                </a:moveTo>
                <a:lnTo>
                  <a:pt x="5209" y="0"/>
                </a:lnTo>
                <a:cubicBezTo>
                  <a:pt x="5213" y="0"/>
                  <a:pt x="5217" y="4"/>
                  <a:pt x="5217" y="8"/>
                </a:cubicBezTo>
                <a:cubicBezTo>
                  <a:pt x="5217" y="12"/>
                  <a:pt x="5213" y="16"/>
                  <a:pt x="5209" y="16"/>
                </a:cubicBezTo>
                <a:lnTo>
                  <a:pt x="5209" y="16"/>
                </a:lnTo>
                <a:cubicBezTo>
                  <a:pt x="5204" y="16"/>
                  <a:pt x="5201" y="12"/>
                  <a:pt x="5201" y="8"/>
                </a:cubicBezTo>
                <a:cubicBezTo>
                  <a:pt x="5201" y="4"/>
                  <a:pt x="5204" y="0"/>
                  <a:pt x="5209" y="0"/>
                </a:cubicBezTo>
                <a:close/>
                <a:moveTo>
                  <a:pt x="5289" y="0"/>
                </a:moveTo>
                <a:lnTo>
                  <a:pt x="5289" y="0"/>
                </a:lnTo>
                <a:cubicBezTo>
                  <a:pt x="5293" y="0"/>
                  <a:pt x="5297" y="4"/>
                  <a:pt x="5297" y="8"/>
                </a:cubicBezTo>
                <a:cubicBezTo>
                  <a:pt x="5297" y="12"/>
                  <a:pt x="5293" y="16"/>
                  <a:pt x="5289" y="16"/>
                </a:cubicBezTo>
                <a:lnTo>
                  <a:pt x="5289" y="16"/>
                </a:lnTo>
                <a:cubicBezTo>
                  <a:pt x="5284" y="16"/>
                  <a:pt x="5281" y="12"/>
                  <a:pt x="5281" y="8"/>
                </a:cubicBezTo>
                <a:cubicBezTo>
                  <a:pt x="5281" y="4"/>
                  <a:pt x="5284" y="0"/>
                  <a:pt x="5289" y="0"/>
                </a:cubicBezTo>
                <a:close/>
                <a:moveTo>
                  <a:pt x="5369" y="0"/>
                </a:moveTo>
                <a:lnTo>
                  <a:pt x="5369" y="0"/>
                </a:lnTo>
                <a:cubicBezTo>
                  <a:pt x="5373" y="0"/>
                  <a:pt x="5377" y="4"/>
                  <a:pt x="5377" y="8"/>
                </a:cubicBezTo>
                <a:cubicBezTo>
                  <a:pt x="5377" y="12"/>
                  <a:pt x="5373" y="16"/>
                  <a:pt x="5369" y="16"/>
                </a:cubicBezTo>
                <a:lnTo>
                  <a:pt x="5369" y="16"/>
                </a:lnTo>
                <a:cubicBezTo>
                  <a:pt x="5364" y="16"/>
                  <a:pt x="5361" y="12"/>
                  <a:pt x="5361" y="8"/>
                </a:cubicBezTo>
                <a:cubicBezTo>
                  <a:pt x="5361" y="4"/>
                  <a:pt x="5364" y="0"/>
                  <a:pt x="5369" y="0"/>
                </a:cubicBezTo>
                <a:close/>
                <a:moveTo>
                  <a:pt x="5449" y="0"/>
                </a:moveTo>
                <a:lnTo>
                  <a:pt x="5449" y="0"/>
                </a:lnTo>
                <a:cubicBezTo>
                  <a:pt x="5453" y="0"/>
                  <a:pt x="5457" y="4"/>
                  <a:pt x="5457" y="8"/>
                </a:cubicBezTo>
                <a:cubicBezTo>
                  <a:pt x="5457" y="12"/>
                  <a:pt x="5453" y="16"/>
                  <a:pt x="5449" y="16"/>
                </a:cubicBezTo>
                <a:lnTo>
                  <a:pt x="5449" y="16"/>
                </a:lnTo>
                <a:cubicBezTo>
                  <a:pt x="5444" y="16"/>
                  <a:pt x="5441" y="12"/>
                  <a:pt x="5441" y="8"/>
                </a:cubicBezTo>
                <a:cubicBezTo>
                  <a:pt x="5441" y="4"/>
                  <a:pt x="5444" y="0"/>
                  <a:pt x="5449" y="0"/>
                </a:cubicBezTo>
                <a:close/>
                <a:moveTo>
                  <a:pt x="5529" y="0"/>
                </a:moveTo>
                <a:lnTo>
                  <a:pt x="5529" y="0"/>
                </a:lnTo>
                <a:cubicBezTo>
                  <a:pt x="5533" y="0"/>
                  <a:pt x="5537" y="4"/>
                  <a:pt x="5537" y="8"/>
                </a:cubicBezTo>
                <a:cubicBezTo>
                  <a:pt x="5537" y="12"/>
                  <a:pt x="5533" y="16"/>
                  <a:pt x="5529" y="16"/>
                </a:cubicBezTo>
                <a:lnTo>
                  <a:pt x="5529" y="16"/>
                </a:lnTo>
                <a:cubicBezTo>
                  <a:pt x="5524" y="16"/>
                  <a:pt x="5521" y="12"/>
                  <a:pt x="5521" y="8"/>
                </a:cubicBezTo>
                <a:cubicBezTo>
                  <a:pt x="5521" y="4"/>
                  <a:pt x="5524" y="0"/>
                  <a:pt x="5529" y="0"/>
                </a:cubicBezTo>
                <a:close/>
              </a:path>
            </a:pathLst>
          </a:custGeom>
          <a:solidFill>
            <a:srgbClr val="000000"/>
          </a:solidFill>
          <a:ln w="22225" cap="flat">
            <a:solidFill>
              <a:srgbClr val="000000"/>
            </a:solidFill>
            <a:prstDash val="solid"/>
            <a:bevel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23" name="Line 15"/>
          <p:cNvSpPr>
            <a:spLocks noChangeShapeType="1"/>
          </p:cNvSpPr>
          <p:nvPr/>
        </p:nvSpPr>
        <p:spPr bwMode="auto">
          <a:xfrm>
            <a:off x="2711450" y="1390650"/>
            <a:ext cx="7486650" cy="15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24" name="Line 16"/>
          <p:cNvSpPr>
            <a:spLocks noChangeShapeType="1"/>
          </p:cNvSpPr>
          <p:nvPr/>
        </p:nvSpPr>
        <p:spPr bwMode="auto">
          <a:xfrm flipV="1">
            <a:off x="2711450" y="5135564"/>
            <a:ext cx="1588" cy="65087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25" name="Line 17"/>
          <p:cNvSpPr>
            <a:spLocks noChangeShapeType="1"/>
          </p:cNvSpPr>
          <p:nvPr/>
        </p:nvSpPr>
        <p:spPr bwMode="auto">
          <a:xfrm>
            <a:off x="2711450" y="1390650"/>
            <a:ext cx="1588" cy="650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26" name="Rectangle 18"/>
          <p:cNvSpPr>
            <a:spLocks noChangeArrowheads="1"/>
          </p:cNvSpPr>
          <p:nvPr/>
        </p:nvSpPr>
        <p:spPr bwMode="auto">
          <a:xfrm>
            <a:off x="2640013" y="5300663"/>
            <a:ext cx="157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zh-CN"/>
          </a:p>
        </p:txBody>
      </p:sp>
      <p:sp>
        <p:nvSpPr>
          <p:cNvPr id="94227" name="Line 19"/>
          <p:cNvSpPr>
            <a:spLocks noChangeShapeType="1"/>
          </p:cNvSpPr>
          <p:nvPr/>
        </p:nvSpPr>
        <p:spPr bwMode="auto">
          <a:xfrm flipV="1">
            <a:off x="3967164" y="5135564"/>
            <a:ext cx="1587" cy="65087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28" name="Line 20"/>
          <p:cNvSpPr>
            <a:spLocks noChangeShapeType="1"/>
          </p:cNvSpPr>
          <p:nvPr/>
        </p:nvSpPr>
        <p:spPr bwMode="auto">
          <a:xfrm>
            <a:off x="3967164" y="1390650"/>
            <a:ext cx="1587" cy="650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29" name="Rectangle 21"/>
          <p:cNvSpPr>
            <a:spLocks noChangeArrowheads="1"/>
          </p:cNvSpPr>
          <p:nvPr/>
        </p:nvSpPr>
        <p:spPr bwMode="auto">
          <a:xfrm>
            <a:off x="3657601" y="5300663"/>
            <a:ext cx="6283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1000</a:t>
            </a:r>
            <a:endParaRPr lang="en-US" altLang="zh-CN"/>
          </a:p>
        </p:txBody>
      </p:sp>
      <p:sp>
        <p:nvSpPr>
          <p:cNvPr id="94230" name="Line 22"/>
          <p:cNvSpPr>
            <a:spLocks noChangeShapeType="1"/>
          </p:cNvSpPr>
          <p:nvPr/>
        </p:nvSpPr>
        <p:spPr bwMode="auto">
          <a:xfrm flipV="1">
            <a:off x="5200650" y="5135564"/>
            <a:ext cx="1588" cy="65087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31" name="Line 23"/>
          <p:cNvSpPr>
            <a:spLocks noChangeShapeType="1"/>
          </p:cNvSpPr>
          <p:nvPr/>
        </p:nvSpPr>
        <p:spPr bwMode="auto">
          <a:xfrm>
            <a:off x="5200650" y="1390650"/>
            <a:ext cx="1588" cy="650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32" name="Rectangle 24"/>
          <p:cNvSpPr>
            <a:spLocks noChangeArrowheads="1"/>
          </p:cNvSpPr>
          <p:nvPr/>
        </p:nvSpPr>
        <p:spPr bwMode="auto">
          <a:xfrm>
            <a:off x="4891089" y="5300663"/>
            <a:ext cx="6283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2000</a:t>
            </a:r>
            <a:endParaRPr lang="en-US" altLang="zh-CN"/>
          </a:p>
        </p:txBody>
      </p:sp>
      <p:sp>
        <p:nvSpPr>
          <p:cNvPr id="94233" name="Line 25"/>
          <p:cNvSpPr>
            <a:spLocks noChangeShapeType="1"/>
          </p:cNvSpPr>
          <p:nvPr/>
        </p:nvSpPr>
        <p:spPr bwMode="auto">
          <a:xfrm flipV="1">
            <a:off x="6454775" y="5135564"/>
            <a:ext cx="1588" cy="65087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34" name="Line 26"/>
          <p:cNvSpPr>
            <a:spLocks noChangeShapeType="1"/>
          </p:cNvSpPr>
          <p:nvPr/>
        </p:nvSpPr>
        <p:spPr bwMode="auto">
          <a:xfrm>
            <a:off x="6454775" y="1390650"/>
            <a:ext cx="1588" cy="650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35" name="Rectangle 27"/>
          <p:cNvSpPr>
            <a:spLocks noChangeArrowheads="1"/>
          </p:cNvSpPr>
          <p:nvPr/>
        </p:nvSpPr>
        <p:spPr bwMode="auto">
          <a:xfrm>
            <a:off x="6145214" y="5300663"/>
            <a:ext cx="6283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3000</a:t>
            </a:r>
            <a:endParaRPr lang="en-US" altLang="zh-CN"/>
          </a:p>
        </p:txBody>
      </p:sp>
      <p:sp>
        <p:nvSpPr>
          <p:cNvPr id="94236" name="Line 28"/>
          <p:cNvSpPr>
            <a:spLocks noChangeShapeType="1"/>
          </p:cNvSpPr>
          <p:nvPr/>
        </p:nvSpPr>
        <p:spPr bwMode="auto">
          <a:xfrm flipV="1">
            <a:off x="7710489" y="5135564"/>
            <a:ext cx="1587" cy="65087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37" name="Line 29"/>
          <p:cNvSpPr>
            <a:spLocks noChangeShapeType="1"/>
          </p:cNvSpPr>
          <p:nvPr/>
        </p:nvSpPr>
        <p:spPr bwMode="auto">
          <a:xfrm>
            <a:off x="7710489" y="1390650"/>
            <a:ext cx="1587" cy="650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38" name="Rectangle 30"/>
          <p:cNvSpPr>
            <a:spLocks noChangeArrowheads="1"/>
          </p:cNvSpPr>
          <p:nvPr/>
        </p:nvSpPr>
        <p:spPr bwMode="auto">
          <a:xfrm>
            <a:off x="7400926" y="5300663"/>
            <a:ext cx="6283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4000</a:t>
            </a:r>
            <a:endParaRPr lang="en-US" altLang="zh-CN"/>
          </a:p>
        </p:txBody>
      </p:sp>
      <p:sp>
        <p:nvSpPr>
          <p:cNvPr id="94239" name="Line 31"/>
          <p:cNvSpPr>
            <a:spLocks noChangeShapeType="1"/>
          </p:cNvSpPr>
          <p:nvPr/>
        </p:nvSpPr>
        <p:spPr bwMode="auto">
          <a:xfrm flipV="1">
            <a:off x="8943975" y="5135564"/>
            <a:ext cx="1588" cy="65087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40" name="Line 32"/>
          <p:cNvSpPr>
            <a:spLocks noChangeShapeType="1"/>
          </p:cNvSpPr>
          <p:nvPr/>
        </p:nvSpPr>
        <p:spPr bwMode="auto">
          <a:xfrm>
            <a:off x="8943975" y="1390650"/>
            <a:ext cx="1588" cy="650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41" name="Rectangle 33"/>
          <p:cNvSpPr>
            <a:spLocks noChangeArrowheads="1"/>
          </p:cNvSpPr>
          <p:nvPr/>
        </p:nvSpPr>
        <p:spPr bwMode="auto">
          <a:xfrm>
            <a:off x="8634414" y="5300663"/>
            <a:ext cx="6283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5000</a:t>
            </a:r>
            <a:endParaRPr lang="en-US" altLang="zh-CN"/>
          </a:p>
        </p:txBody>
      </p:sp>
      <p:sp>
        <p:nvSpPr>
          <p:cNvPr id="94242" name="Line 34"/>
          <p:cNvSpPr>
            <a:spLocks noChangeShapeType="1"/>
          </p:cNvSpPr>
          <p:nvPr/>
        </p:nvSpPr>
        <p:spPr bwMode="auto">
          <a:xfrm flipV="1">
            <a:off x="10198100" y="5135564"/>
            <a:ext cx="1588" cy="65087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43" name="Line 35"/>
          <p:cNvSpPr>
            <a:spLocks noChangeShapeType="1"/>
          </p:cNvSpPr>
          <p:nvPr/>
        </p:nvSpPr>
        <p:spPr bwMode="auto">
          <a:xfrm>
            <a:off x="10198100" y="1390650"/>
            <a:ext cx="1588" cy="650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44" name="Rectangle 36"/>
          <p:cNvSpPr>
            <a:spLocks noChangeArrowheads="1"/>
          </p:cNvSpPr>
          <p:nvPr/>
        </p:nvSpPr>
        <p:spPr bwMode="auto">
          <a:xfrm>
            <a:off x="9888539" y="5300663"/>
            <a:ext cx="6283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6000</a:t>
            </a:r>
            <a:endParaRPr lang="en-US" altLang="zh-CN"/>
          </a:p>
        </p:txBody>
      </p:sp>
      <p:sp>
        <p:nvSpPr>
          <p:cNvPr id="94245" name="Line 37"/>
          <p:cNvSpPr>
            <a:spLocks noChangeShapeType="1"/>
          </p:cNvSpPr>
          <p:nvPr/>
        </p:nvSpPr>
        <p:spPr bwMode="auto">
          <a:xfrm>
            <a:off x="2711450" y="5200650"/>
            <a:ext cx="65088" cy="15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46" name="Line 38"/>
          <p:cNvSpPr>
            <a:spLocks noChangeShapeType="1"/>
          </p:cNvSpPr>
          <p:nvPr/>
        </p:nvSpPr>
        <p:spPr bwMode="auto">
          <a:xfrm flipH="1">
            <a:off x="10134600" y="5200650"/>
            <a:ext cx="63500" cy="15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47" name="Rectangle 39"/>
          <p:cNvSpPr>
            <a:spLocks noChangeArrowheads="1"/>
          </p:cNvSpPr>
          <p:nvPr/>
        </p:nvSpPr>
        <p:spPr bwMode="auto">
          <a:xfrm>
            <a:off x="2228850" y="5040313"/>
            <a:ext cx="40876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-50</a:t>
            </a:r>
            <a:endParaRPr lang="en-US" altLang="zh-CN"/>
          </a:p>
        </p:txBody>
      </p:sp>
      <p:sp>
        <p:nvSpPr>
          <p:cNvPr id="94248" name="Line 40"/>
          <p:cNvSpPr>
            <a:spLocks noChangeShapeType="1"/>
          </p:cNvSpPr>
          <p:nvPr/>
        </p:nvSpPr>
        <p:spPr bwMode="auto">
          <a:xfrm>
            <a:off x="2711450" y="4443414"/>
            <a:ext cx="65088" cy="1587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49" name="Line 41"/>
          <p:cNvSpPr>
            <a:spLocks noChangeShapeType="1"/>
          </p:cNvSpPr>
          <p:nvPr/>
        </p:nvSpPr>
        <p:spPr bwMode="auto">
          <a:xfrm flipH="1">
            <a:off x="10134600" y="4443414"/>
            <a:ext cx="63500" cy="1587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50" name="Rectangle 42"/>
          <p:cNvSpPr>
            <a:spLocks noChangeArrowheads="1"/>
          </p:cNvSpPr>
          <p:nvPr/>
        </p:nvSpPr>
        <p:spPr bwMode="auto">
          <a:xfrm>
            <a:off x="2228850" y="4283075"/>
            <a:ext cx="40876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-40</a:t>
            </a:r>
            <a:endParaRPr lang="en-US" altLang="zh-CN"/>
          </a:p>
        </p:txBody>
      </p:sp>
      <p:sp>
        <p:nvSpPr>
          <p:cNvPr id="94251" name="Line 43"/>
          <p:cNvSpPr>
            <a:spLocks noChangeShapeType="1"/>
          </p:cNvSpPr>
          <p:nvPr/>
        </p:nvSpPr>
        <p:spPr bwMode="auto">
          <a:xfrm>
            <a:off x="2711450" y="3686175"/>
            <a:ext cx="65088" cy="15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52" name="Line 44"/>
          <p:cNvSpPr>
            <a:spLocks noChangeShapeType="1"/>
          </p:cNvSpPr>
          <p:nvPr/>
        </p:nvSpPr>
        <p:spPr bwMode="auto">
          <a:xfrm flipH="1">
            <a:off x="10134600" y="3686175"/>
            <a:ext cx="63500" cy="15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53" name="Rectangle 45"/>
          <p:cNvSpPr>
            <a:spLocks noChangeArrowheads="1"/>
          </p:cNvSpPr>
          <p:nvPr/>
        </p:nvSpPr>
        <p:spPr bwMode="auto">
          <a:xfrm>
            <a:off x="2228850" y="3525838"/>
            <a:ext cx="40876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-30</a:t>
            </a:r>
            <a:endParaRPr lang="en-US" altLang="zh-CN"/>
          </a:p>
        </p:txBody>
      </p:sp>
      <p:sp>
        <p:nvSpPr>
          <p:cNvPr id="94254" name="Line 46"/>
          <p:cNvSpPr>
            <a:spLocks noChangeShapeType="1"/>
          </p:cNvSpPr>
          <p:nvPr/>
        </p:nvSpPr>
        <p:spPr bwMode="auto">
          <a:xfrm>
            <a:off x="2711450" y="2906714"/>
            <a:ext cx="65088" cy="1587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55" name="Line 47"/>
          <p:cNvSpPr>
            <a:spLocks noChangeShapeType="1"/>
          </p:cNvSpPr>
          <p:nvPr/>
        </p:nvSpPr>
        <p:spPr bwMode="auto">
          <a:xfrm flipH="1">
            <a:off x="10134600" y="2906714"/>
            <a:ext cx="63500" cy="1587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56" name="Rectangle 48"/>
          <p:cNvSpPr>
            <a:spLocks noChangeArrowheads="1"/>
          </p:cNvSpPr>
          <p:nvPr/>
        </p:nvSpPr>
        <p:spPr bwMode="auto">
          <a:xfrm>
            <a:off x="2228850" y="2746375"/>
            <a:ext cx="40876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-20</a:t>
            </a:r>
            <a:endParaRPr lang="en-US" altLang="zh-CN"/>
          </a:p>
        </p:txBody>
      </p:sp>
      <p:sp>
        <p:nvSpPr>
          <p:cNvPr id="94257" name="Line 49"/>
          <p:cNvSpPr>
            <a:spLocks noChangeShapeType="1"/>
          </p:cNvSpPr>
          <p:nvPr/>
        </p:nvSpPr>
        <p:spPr bwMode="auto">
          <a:xfrm>
            <a:off x="2711450" y="2149475"/>
            <a:ext cx="65088" cy="15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58" name="Line 50"/>
          <p:cNvSpPr>
            <a:spLocks noChangeShapeType="1"/>
          </p:cNvSpPr>
          <p:nvPr/>
        </p:nvSpPr>
        <p:spPr bwMode="auto">
          <a:xfrm flipH="1">
            <a:off x="10134600" y="2149475"/>
            <a:ext cx="63500" cy="15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59" name="Rectangle 51"/>
          <p:cNvSpPr>
            <a:spLocks noChangeArrowheads="1"/>
          </p:cNvSpPr>
          <p:nvPr/>
        </p:nvSpPr>
        <p:spPr bwMode="auto">
          <a:xfrm>
            <a:off x="2228850" y="1989138"/>
            <a:ext cx="40876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-10</a:t>
            </a:r>
            <a:endParaRPr lang="en-US" altLang="zh-CN"/>
          </a:p>
        </p:txBody>
      </p:sp>
      <p:sp>
        <p:nvSpPr>
          <p:cNvPr id="94260" name="Line 52"/>
          <p:cNvSpPr>
            <a:spLocks noChangeShapeType="1"/>
          </p:cNvSpPr>
          <p:nvPr/>
        </p:nvSpPr>
        <p:spPr bwMode="auto">
          <a:xfrm>
            <a:off x="2711450" y="1390650"/>
            <a:ext cx="65088" cy="15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61" name="Line 53"/>
          <p:cNvSpPr>
            <a:spLocks noChangeShapeType="1"/>
          </p:cNvSpPr>
          <p:nvPr/>
        </p:nvSpPr>
        <p:spPr bwMode="auto">
          <a:xfrm flipH="1">
            <a:off x="10134600" y="1390650"/>
            <a:ext cx="63500" cy="1588"/>
          </a:xfrm>
          <a:prstGeom prst="line">
            <a:avLst/>
          </a:prstGeom>
          <a:noFill/>
          <a:ln w="222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62" name="Rectangle 54"/>
          <p:cNvSpPr>
            <a:spLocks noChangeArrowheads="1"/>
          </p:cNvSpPr>
          <p:nvPr/>
        </p:nvSpPr>
        <p:spPr bwMode="auto">
          <a:xfrm>
            <a:off x="2466975" y="1230313"/>
            <a:ext cx="157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zh-CN"/>
          </a:p>
        </p:txBody>
      </p:sp>
      <p:sp>
        <p:nvSpPr>
          <p:cNvPr id="94263" name="Freeform 55"/>
          <p:cNvSpPr>
            <a:spLocks/>
          </p:cNvSpPr>
          <p:nvPr/>
        </p:nvSpPr>
        <p:spPr bwMode="auto">
          <a:xfrm>
            <a:off x="2711451" y="1390651"/>
            <a:ext cx="7466013" cy="3529013"/>
          </a:xfrm>
          <a:custGeom>
            <a:avLst/>
            <a:gdLst>
              <a:gd name="T0" fmla="*/ 55 w 4703"/>
              <a:gd name="T1" fmla="*/ 0 h 2223"/>
              <a:gd name="T2" fmla="*/ 123 w 4703"/>
              <a:gd name="T3" fmla="*/ 0 h 2223"/>
              <a:gd name="T4" fmla="*/ 205 w 4703"/>
              <a:gd name="T5" fmla="*/ 0 h 2223"/>
              <a:gd name="T6" fmla="*/ 273 w 4703"/>
              <a:gd name="T7" fmla="*/ 0 h 2223"/>
              <a:gd name="T8" fmla="*/ 355 w 4703"/>
              <a:gd name="T9" fmla="*/ 0 h 2223"/>
              <a:gd name="T10" fmla="*/ 423 w 4703"/>
              <a:gd name="T11" fmla="*/ 0 h 2223"/>
              <a:gd name="T12" fmla="*/ 505 w 4703"/>
              <a:gd name="T13" fmla="*/ 0 h 2223"/>
              <a:gd name="T14" fmla="*/ 573 w 4703"/>
              <a:gd name="T15" fmla="*/ 0 h 2223"/>
              <a:gd name="T16" fmla="*/ 655 w 4703"/>
              <a:gd name="T17" fmla="*/ 0 h 2223"/>
              <a:gd name="T18" fmla="*/ 723 w 4703"/>
              <a:gd name="T19" fmla="*/ 0 h 2223"/>
              <a:gd name="T20" fmla="*/ 805 w 4703"/>
              <a:gd name="T21" fmla="*/ 0 h 2223"/>
              <a:gd name="T22" fmla="*/ 873 w 4703"/>
              <a:gd name="T23" fmla="*/ 14 h 2223"/>
              <a:gd name="T24" fmla="*/ 955 w 4703"/>
              <a:gd name="T25" fmla="*/ 28 h 2223"/>
              <a:gd name="T26" fmla="*/ 1023 w 4703"/>
              <a:gd name="T27" fmla="*/ 41 h 2223"/>
              <a:gd name="T28" fmla="*/ 1104 w 4703"/>
              <a:gd name="T29" fmla="*/ 69 h 2223"/>
              <a:gd name="T30" fmla="*/ 1173 w 4703"/>
              <a:gd name="T31" fmla="*/ 110 h 2223"/>
              <a:gd name="T32" fmla="*/ 1254 w 4703"/>
              <a:gd name="T33" fmla="*/ 150 h 2223"/>
              <a:gd name="T34" fmla="*/ 1323 w 4703"/>
              <a:gd name="T35" fmla="*/ 205 h 2223"/>
              <a:gd name="T36" fmla="*/ 1404 w 4703"/>
              <a:gd name="T37" fmla="*/ 273 h 2223"/>
              <a:gd name="T38" fmla="*/ 1472 w 4703"/>
              <a:gd name="T39" fmla="*/ 328 h 2223"/>
              <a:gd name="T40" fmla="*/ 1554 w 4703"/>
              <a:gd name="T41" fmla="*/ 409 h 2223"/>
              <a:gd name="T42" fmla="*/ 1622 w 4703"/>
              <a:gd name="T43" fmla="*/ 478 h 2223"/>
              <a:gd name="T44" fmla="*/ 1704 w 4703"/>
              <a:gd name="T45" fmla="*/ 546 h 2223"/>
              <a:gd name="T46" fmla="*/ 1772 w 4703"/>
              <a:gd name="T47" fmla="*/ 614 h 2223"/>
              <a:gd name="T48" fmla="*/ 1854 w 4703"/>
              <a:gd name="T49" fmla="*/ 668 h 2223"/>
              <a:gd name="T50" fmla="*/ 1922 w 4703"/>
              <a:gd name="T51" fmla="*/ 737 h 2223"/>
              <a:gd name="T52" fmla="*/ 2004 w 4703"/>
              <a:gd name="T53" fmla="*/ 805 h 2223"/>
              <a:gd name="T54" fmla="*/ 2072 w 4703"/>
              <a:gd name="T55" fmla="*/ 859 h 2223"/>
              <a:gd name="T56" fmla="*/ 2154 w 4703"/>
              <a:gd name="T57" fmla="*/ 914 h 2223"/>
              <a:gd name="T58" fmla="*/ 2222 w 4703"/>
              <a:gd name="T59" fmla="*/ 968 h 2223"/>
              <a:gd name="T60" fmla="*/ 2304 w 4703"/>
              <a:gd name="T61" fmla="*/ 1023 h 2223"/>
              <a:gd name="T62" fmla="*/ 2372 w 4703"/>
              <a:gd name="T63" fmla="*/ 1077 h 2223"/>
              <a:gd name="T64" fmla="*/ 2454 w 4703"/>
              <a:gd name="T65" fmla="*/ 1132 h 2223"/>
              <a:gd name="T66" fmla="*/ 2522 w 4703"/>
              <a:gd name="T67" fmla="*/ 1187 h 2223"/>
              <a:gd name="T68" fmla="*/ 2604 w 4703"/>
              <a:gd name="T69" fmla="*/ 1227 h 2223"/>
              <a:gd name="T70" fmla="*/ 2672 w 4703"/>
              <a:gd name="T71" fmla="*/ 1282 h 2223"/>
              <a:gd name="T72" fmla="*/ 2754 w 4703"/>
              <a:gd name="T73" fmla="*/ 1323 h 2223"/>
              <a:gd name="T74" fmla="*/ 2822 w 4703"/>
              <a:gd name="T75" fmla="*/ 1377 h 2223"/>
              <a:gd name="T76" fmla="*/ 2904 w 4703"/>
              <a:gd name="T77" fmla="*/ 1418 h 2223"/>
              <a:gd name="T78" fmla="*/ 2972 w 4703"/>
              <a:gd name="T79" fmla="*/ 1459 h 2223"/>
              <a:gd name="T80" fmla="*/ 3054 w 4703"/>
              <a:gd name="T81" fmla="*/ 1500 h 2223"/>
              <a:gd name="T82" fmla="*/ 3122 w 4703"/>
              <a:gd name="T83" fmla="*/ 1541 h 2223"/>
              <a:gd name="T84" fmla="*/ 3204 w 4703"/>
              <a:gd name="T85" fmla="*/ 1582 h 2223"/>
              <a:gd name="T86" fmla="*/ 3272 w 4703"/>
              <a:gd name="T87" fmla="*/ 1623 h 2223"/>
              <a:gd name="T88" fmla="*/ 3353 w 4703"/>
              <a:gd name="T89" fmla="*/ 1650 h 2223"/>
              <a:gd name="T90" fmla="*/ 3422 w 4703"/>
              <a:gd name="T91" fmla="*/ 1691 h 2223"/>
              <a:gd name="T92" fmla="*/ 3503 w 4703"/>
              <a:gd name="T93" fmla="*/ 1732 h 2223"/>
              <a:gd name="T94" fmla="*/ 3572 w 4703"/>
              <a:gd name="T95" fmla="*/ 1759 h 2223"/>
              <a:gd name="T96" fmla="*/ 3653 w 4703"/>
              <a:gd name="T97" fmla="*/ 1800 h 2223"/>
              <a:gd name="T98" fmla="*/ 3735 w 4703"/>
              <a:gd name="T99" fmla="*/ 1827 h 2223"/>
              <a:gd name="T100" fmla="*/ 3803 w 4703"/>
              <a:gd name="T101" fmla="*/ 1868 h 2223"/>
              <a:gd name="T102" fmla="*/ 3885 w 4703"/>
              <a:gd name="T103" fmla="*/ 1895 h 2223"/>
              <a:gd name="T104" fmla="*/ 3953 w 4703"/>
              <a:gd name="T105" fmla="*/ 1936 h 2223"/>
              <a:gd name="T106" fmla="*/ 4035 w 4703"/>
              <a:gd name="T107" fmla="*/ 1964 h 2223"/>
              <a:gd name="T108" fmla="*/ 4103 w 4703"/>
              <a:gd name="T109" fmla="*/ 1991 h 2223"/>
              <a:gd name="T110" fmla="*/ 4185 w 4703"/>
              <a:gd name="T111" fmla="*/ 2018 h 2223"/>
              <a:gd name="T112" fmla="*/ 4253 w 4703"/>
              <a:gd name="T113" fmla="*/ 2045 h 2223"/>
              <a:gd name="T114" fmla="*/ 4335 w 4703"/>
              <a:gd name="T115" fmla="*/ 2086 h 2223"/>
              <a:gd name="T116" fmla="*/ 4403 w 4703"/>
              <a:gd name="T117" fmla="*/ 2114 h 2223"/>
              <a:gd name="T118" fmla="*/ 4485 w 4703"/>
              <a:gd name="T119" fmla="*/ 2141 h 2223"/>
              <a:gd name="T120" fmla="*/ 4553 w 4703"/>
              <a:gd name="T121" fmla="*/ 2168 h 2223"/>
              <a:gd name="T122" fmla="*/ 4635 w 4703"/>
              <a:gd name="T123" fmla="*/ 2195 h 2223"/>
              <a:gd name="T124" fmla="*/ 4703 w 4703"/>
              <a:gd name="T125" fmla="*/ 2223 h 2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703" h="2223">
                <a:moveTo>
                  <a:pt x="0" y="0"/>
                </a:moveTo>
                <a:lnTo>
                  <a:pt x="28" y="0"/>
                </a:lnTo>
                <a:lnTo>
                  <a:pt x="55" y="0"/>
                </a:lnTo>
                <a:lnTo>
                  <a:pt x="82" y="0"/>
                </a:lnTo>
                <a:lnTo>
                  <a:pt x="96" y="0"/>
                </a:lnTo>
                <a:lnTo>
                  <a:pt x="123" y="0"/>
                </a:lnTo>
                <a:lnTo>
                  <a:pt x="150" y="0"/>
                </a:lnTo>
                <a:lnTo>
                  <a:pt x="178" y="0"/>
                </a:lnTo>
                <a:lnTo>
                  <a:pt x="205" y="0"/>
                </a:lnTo>
                <a:lnTo>
                  <a:pt x="232" y="0"/>
                </a:lnTo>
                <a:lnTo>
                  <a:pt x="246" y="0"/>
                </a:lnTo>
                <a:lnTo>
                  <a:pt x="273" y="0"/>
                </a:lnTo>
                <a:lnTo>
                  <a:pt x="300" y="0"/>
                </a:lnTo>
                <a:lnTo>
                  <a:pt x="328" y="0"/>
                </a:lnTo>
                <a:lnTo>
                  <a:pt x="355" y="0"/>
                </a:lnTo>
                <a:lnTo>
                  <a:pt x="382" y="0"/>
                </a:lnTo>
                <a:lnTo>
                  <a:pt x="396" y="0"/>
                </a:lnTo>
                <a:lnTo>
                  <a:pt x="423" y="0"/>
                </a:lnTo>
                <a:lnTo>
                  <a:pt x="450" y="0"/>
                </a:lnTo>
                <a:lnTo>
                  <a:pt x="477" y="0"/>
                </a:lnTo>
                <a:lnTo>
                  <a:pt x="505" y="0"/>
                </a:lnTo>
                <a:lnTo>
                  <a:pt x="532" y="0"/>
                </a:lnTo>
                <a:lnTo>
                  <a:pt x="546" y="0"/>
                </a:lnTo>
                <a:lnTo>
                  <a:pt x="573" y="0"/>
                </a:lnTo>
                <a:lnTo>
                  <a:pt x="600" y="0"/>
                </a:lnTo>
                <a:lnTo>
                  <a:pt x="627" y="0"/>
                </a:lnTo>
                <a:lnTo>
                  <a:pt x="655" y="0"/>
                </a:lnTo>
                <a:lnTo>
                  <a:pt x="682" y="0"/>
                </a:lnTo>
                <a:lnTo>
                  <a:pt x="696" y="0"/>
                </a:lnTo>
                <a:lnTo>
                  <a:pt x="723" y="0"/>
                </a:lnTo>
                <a:lnTo>
                  <a:pt x="750" y="0"/>
                </a:lnTo>
                <a:lnTo>
                  <a:pt x="777" y="0"/>
                </a:lnTo>
                <a:lnTo>
                  <a:pt x="805" y="0"/>
                </a:lnTo>
                <a:lnTo>
                  <a:pt x="832" y="14"/>
                </a:lnTo>
                <a:lnTo>
                  <a:pt x="846" y="14"/>
                </a:lnTo>
                <a:lnTo>
                  <a:pt x="873" y="14"/>
                </a:lnTo>
                <a:lnTo>
                  <a:pt x="900" y="14"/>
                </a:lnTo>
                <a:lnTo>
                  <a:pt x="927" y="14"/>
                </a:lnTo>
                <a:lnTo>
                  <a:pt x="955" y="28"/>
                </a:lnTo>
                <a:lnTo>
                  <a:pt x="982" y="28"/>
                </a:lnTo>
                <a:lnTo>
                  <a:pt x="995" y="28"/>
                </a:lnTo>
                <a:lnTo>
                  <a:pt x="1023" y="41"/>
                </a:lnTo>
                <a:lnTo>
                  <a:pt x="1050" y="55"/>
                </a:lnTo>
                <a:lnTo>
                  <a:pt x="1077" y="55"/>
                </a:lnTo>
                <a:lnTo>
                  <a:pt x="1104" y="69"/>
                </a:lnTo>
                <a:lnTo>
                  <a:pt x="1132" y="82"/>
                </a:lnTo>
                <a:lnTo>
                  <a:pt x="1145" y="96"/>
                </a:lnTo>
                <a:lnTo>
                  <a:pt x="1173" y="110"/>
                </a:lnTo>
                <a:lnTo>
                  <a:pt x="1200" y="123"/>
                </a:lnTo>
                <a:lnTo>
                  <a:pt x="1227" y="137"/>
                </a:lnTo>
                <a:lnTo>
                  <a:pt x="1254" y="150"/>
                </a:lnTo>
                <a:lnTo>
                  <a:pt x="1282" y="164"/>
                </a:lnTo>
                <a:lnTo>
                  <a:pt x="1295" y="191"/>
                </a:lnTo>
                <a:lnTo>
                  <a:pt x="1323" y="205"/>
                </a:lnTo>
                <a:lnTo>
                  <a:pt x="1350" y="232"/>
                </a:lnTo>
                <a:lnTo>
                  <a:pt x="1377" y="246"/>
                </a:lnTo>
                <a:lnTo>
                  <a:pt x="1404" y="273"/>
                </a:lnTo>
                <a:lnTo>
                  <a:pt x="1432" y="287"/>
                </a:lnTo>
                <a:lnTo>
                  <a:pt x="1445" y="314"/>
                </a:lnTo>
                <a:lnTo>
                  <a:pt x="1472" y="328"/>
                </a:lnTo>
                <a:lnTo>
                  <a:pt x="1500" y="355"/>
                </a:lnTo>
                <a:lnTo>
                  <a:pt x="1527" y="382"/>
                </a:lnTo>
                <a:lnTo>
                  <a:pt x="1554" y="409"/>
                </a:lnTo>
                <a:lnTo>
                  <a:pt x="1582" y="423"/>
                </a:lnTo>
                <a:lnTo>
                  <a:pt x="1595" y="450"/>
                </a:lnTo>
                <a:lnTo>
                  <a:pt x="1622" y="478"/>
                </a:lnTo>
                <a:lnTo>
                  <a:pt x="1650" y="491"/>
                </a:lnTo>
                <a:lnTo>
                  <a:pt x="1677" y="518"/>
                </a:lnTo>
                <a:lnTo>
                  <a:pt x="1704" y="546"/>
                </a:lnTo>
                <a:lnTo>
                  <a:pt x="1731" y="559"/>
                </a:lnTo>
                <a:lnTo>
                  <a:pt x="1745" y="587"/>
                </a:lnTo>
                <a:lnTo>
                  <a:pt x="1772" y="614"/>
                </a:lnTo>
                <a:lnTo>
                  <a:pt x="1800" y="628"/>
                </a:lnTo>
                <a:lnTo>
                  <a:pt x="1827" y="655"/>
                </a:lnTo>
                <a:lnTo>
                  <a:pt x="1854" y="668"/>
                </a:lnTo>
                <a:lnTo>
                  <a:pt x="1881" y="696"/>
                </a:lnTo>
                <a:lnTo>
                  <a:pt x="1909" y="723"/>
                </a:lnTo>
                <a:lnTo>
                  <a:pt x="1922" y="737"/>
                </a:lnTo>
                <a:lnTo>
                  <a:pt x="1950" y="764"/>
                </a:lnTo>
                <a:lnTo>
                  <a:pt x="1977" y="778"/>
                </a:lnTo>
                <a:lnTo>
                  <a:pt x="2004" y="805"/>
                </a:lnTo>
                <a:lnTo>
                  <a:pt x="2031" y="818"/>
                </a:lnTo>
                <a:lnTo>
                  <a:pt x="2059" y="846"/>
                </a:lnTo>
                <a:lnTo>
                  <a:pt x="2072" y="859"/>
                </a:lnTo>
                <a:lnTo>
                  <a:pt x="2099" y="873"/>
                </a:lnTo>
                <a:lnTo>
                  <a:pt x="2127" y="900"/>
                </a:lnTo>
                <a:lnTo>
                  <a:pt x="2154" y="914"/>
                </a:lnTo>
                <a:lnTo>
                  <a:pt x="2181" y="941"/>
                </a:lnTo>
                <a:lnTo>
                  <a:pt x="2209" y="955"/>
                </a:lnTo>
                <a:lnTo>
                  <a:pt x="2222" y="968"/>
                </a:lnTo>
                <a:lnTo>
                  <a:pt x="2249" y="996"/>
                </a:lnTo>
                <a:lnTo>
                  <a:pt x="2277" y="1009"/>
                </a:lnTo>
                <a:lnTo>
                  <a:pt x="2304" y="1023"/>
                </a:lnTo>
                <a:lnTo>
                  <a:pt x="2331" y="1050"/>
                </a:lnTo>
                <a:lnTo>
                  <a:pt x="2358" y="1064"/>
                </a:lnTo>
                <a:lnTo>
                  <a:pt x="2372" y="1077"/>
                </a:lnTo>
                <a:lnTo>
                  <a:pt x="2399" y="1105"/>
                </a:lnTo>
                <a:lnTo>
                  <a:pt x="2427" y="1118"/>
                </a:lnTo>
                <a:lnTo>
                  <a:pt x="2454" y="1132"/>
                </a:lnTo>
                <a:lnTo>
                  <a:pt x="2481" y="1146"/>
                </a:lnTo>
                <a:lnTo>
                  <a:pt x="2508" y="1173"/>
                </a:lnTo>
                <a:lnTo>
                  <a:pt x="2522" y="1187"/>
                </a:lnTo>
                <a:lnTo>
                  <a:pt x="2549" y="1200"/>
                </a:lnTo>
                <a:lnTo>
                  <a:pt x="2577" y="1214"/>
                </a:lnTo>
                <a:lnTo>
                  <a:pt x="2604" y="1227"/>
                </a:lnTo>
                <a:lnTo>
                  <a:pt x="2631" y="1255"/>
                </a:lnTo>
                <a:lnTo>
                  <a:pt x="2658" y="1268"/>
                </a:lnTo>
                <a:lnTo>
                  <a:pt x="2672" y="1282"/>
                </a:lnTo>
                <a:lnTo>
                  <a:pt x="2699" y="1296"/>
                </a:lnTo>
                <a:lnTo>
                  <a:pt x="2726" y="1309"/>
                </a:lnTo>
                <a:lnTo>
                  <a:pt x="2754" y="1323"/>
                </a:lnTo>
                <a:lnTo>
                  <a:pt x="2781" y="1336"/>
                </a:lnTo>
                <a:lnTo>
                  <a:pt x="2808" y="1350"/>
                </a:lnTo>
                <a:lnTo>
                  <a:pt x="2822" y="1377"/>
                </a:lnTo>
                <a:lnTo>
                  <a:pt x="2849" y="1391"/>
                </a:lnTo>
                <a:lnTo>
                  <a:pt x="2876" y="1405"/>
                </a:lnTo>
                <a:lnTo>
                  <a:pt x="2904" y="1418"/>
                </a:lnTo>
                <a:lnTo>
                  <a:pt x="2931" y="1432"/>
                </a:lnTo>
                <a:lnTo>
                  <a:pt x="2958" y="1446"/>
                </a:lnTo>
                <a:lnTo>
                  <a:pt x="2972" y="1459"/>
                </a:lnTo>
                <a:lnTo>
                  <a:pt x="2999" y="1473"/>
                </a:lnTo>
                <a:lnTo>
                  <a:pt x="3026" y="1486"/>
                </a:lnTo>
                <a:lnTo>
                  <a:pt x="3054" y="1500"/>
                </a:lnTo>
                <a:lnTo>
                  <a:pt x="3081" y="1514"/>
                </a:lnTo>
                <a:lnTo>
                  <a:pt x="3108" y="1527"/>
                </a:lnTo>
                <a:lnTo>
                  <a:pt x="3122" y="1541"/>
                </a:lnTo>
                <a:lnTo>
                  <a:pt x="3149" y="1555"/>
                </a:lnTo>
                <a:lnTo>
                  <a:pt x="3176" y="1568"/>
                </a:lnTo>
                <a:lnTo>
                  <a:pt x="3204" y="1582"/>
                </a:lnTo>
                <a:lnTo>
                  <a:pt x="3231" y="1596"/>
                </a:lnTo>
                <a:lnTo>
                  <a:pt x="3258" y="1609"/>
                </a:lnTo>
                <a:lnTo>
                  <a:pt x="3272" y="1623"/>
                </a:lnTo>
                <a:lnTo>
                  <a:pt x="3299" y="1636"/>
                </a:lnTo>
                <a:lnTo>
                  <a:pt x="3326" y="1636"/>
                </a:lnTo>
                <a:lnTo>
                  <a:pt x="3353" y="1650"/>
                </a:lnTo>
                <a:lnTo>
                  <a:pt x="3381" y="1664"/>
                </a:lnTo>
                <a:lnTo>
                  <a:pt x="3408" y="1677"/>
                </a:lnTo>
                <a:lnTo>
                  <a:pt x="3422" y="1691"/>
                </a:lnTo>
                <a:lnTo>
                  <a:pt x="3449" y="1705"/>
                </a:lnTo>
                <a:lnTo>
                  <a:pt x="3476" y="1718"/>
                </a:lnTo>
                <a:lnTo>
                  <a:pt x="3503" y="1732"/>
                </a:lnTo>
                <a:lnTo>
                  <a:pt x="3531" y="1745"/>
                </a:lnTo>
                <a:lnTo>
                  <a:pt x="3558" y="1745"/>
                </a:lnTo>
                <a:lnTo>
                  <a:pt x="3572" y="1759"/>
                </a:lnTo>
                <a:lnTo>
                  <a:pt x="3599" y="1773"/>
                </a:lnTo>
                <a:lnTo>
                  <a:pt x="3626" y="1786"/>
                </a:lnTo>
                <a:lnTo>
                  <a:pt x="3653" y="1800"/>
                </a:lnTo>
                <a:lnTo>
                  <a:pt x="3681" y="1814"/>
                </a:lnTo>
                <a:lnTo>
                  <a:pt x="3708" y="1827"/>
                </a:lnTo>
                <a:lnTo>
                  <a:pt x="3735" y="1827"/>
                </a:lnTo>
                <a:lnTo>
                  <a:pt x="3749" y="1841"/>
                </a:lnTo>
                <a:lnTo>
                  <a:pt x="3776" y="1855"/>
                </a:lnTo>
                <a:lnTo>
                  <a:pt x="3803" y="1868"/>
                </a:lnTo>
                <a:lnTo>
                  <a:pt x="3831" y="1882"/>
                </a:lnTo>
                <a:lnTo>
                  <a:pt x="3858" y="1882"/>
                </a:lnTo>
                <a:lnTo>
                  <a:pt x="3885" y="1895"/>
                </a:lnTo>
                <a:lnTo>
                  <a:pt x="3899" y="1909"/>
                </a:lnTo>
                <a:lnTo>
                  <a:pt x="3926" y="1923"/>
                </a:lnTo>
                <a:lnTo>
                  <a:pt x="3953" y="1936"/>
                </a:lnTo>
                <a:lnTo>
                  <a:pt x="3980" y="1936"/>
                </a:lnTo>
                <a:lnTo>
                  <a:pt x="4008" y="1950"/>
                </a:lnTo>
                <a:lnTo>
                  <a:pt x="4035" y="1964"/>
                </a:lnTo>
                <a:lnTo>
                  <a:pt x="4049" y="1977"/>
                </a:lnTo>
                <a:lnTo>
                  <a:pt x="4076" y="1977"/>
                </a:lnTo>
                <a:lnTo>
                  <a:pt x="4103" y="1991"/>
                </a:lnTo>
                <a:lnTo>
                  <a:pt x="4130" y="2005"/>
                </a:lnTo>
                <a:lnTo>
                  <a:pt x="4158" y="2018"/>
                </a:lnTo>
                <a:lnTo>
                  <a:pt x="4185" y="2018"/>
                </a:lnTo>
                <a:lnTo>
                  <a:pt x="4199" y="2032"/>
                </a:lnTo>
                <a:lnTo>
                  <a:pt x="4226" y="2045"/>
                </a:lnTo>
                <a:lnTo>
                  <a:pt x="4253" y="2045"/>
                </a:lnTo>
                <a:lnTo>
                  <a:pt x="4280" y="2059"/>
                </a:lnTo>
                <a:lnTo>
                  <a:pt x="4308" y="2073"/>
                </a:lnTo>
                <a:lnTo>
                  <a:pt x="4335" y="2086"/>
                </a:lnTo>
                <a:lnTo>
                  <a:pt x="4348" y="2086"/>
                </a:lnTo>
                <a:lnTo>
                  <a:pt x="4376" y="2100"/>
                </a:lnTo>
                <a:lnTo>
                  <a:pt x="4403" y="2114"/>
                </a:lnTo>
                <a:lnTo>
                  <a:pt x="4430" y="2114"/>
                </a:lnTo>
                <a:lnTo>
                  <a:pt x="4458" y="2127"/>
                </a:lnTo>
                <a:lnTo>
                  <a:pt x="4485" y="2141"/>
                </a:lnTo>
                <a:lnTo>
                  <a:pt x="4498" y="2141"/>
                </a:lnTo>
                <a:lnTo>
                  <a:pt x="4526" y="2154"/>
                </a:lnTo>
                <a:lnTo>
                  <a:pt x="4553" y="2168"/>
                </a:lnTo>
                <a:lnTo>
                  <a:pt x="4580" y="2168"/>
                </a:lnTo>
                <a:lnTo>
                  <a:pt x="4607" y="2182"/>
                </a:lnTo>
                <a:lnTo>
                  <a:pt x="4635" y="2195"/>
                </a:lnTo>
                <a:lnTo>
                  <a:pt x="4648" y="2195"/>
                </a:lnTo>
                <a:lnTo>
                  <a:pt x="4676" y="2209"/>
                </a:lnTo>
                <a:lnTo>
                  <a:pt x="4703" y="2223"/>
                </a:lnTo>
              </a:path>
            </a:pathLst>
          </a:custGeom>
          <a:noFill/>
          <a:ln w="30163" cap="rnd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64" name="Rectangle 56"/>
          <p:cNvSpPr>
            <a:spLocks noChangeArrowheads="1"/>
          </p:cNvSpPr>
          <p:nvPr/>
        </p:nvSpPr>
        <p:spPr bwMode="auto">
          <a:xfrm>
            <a:off x="5387976" y="5667375"/>
            <a:ext cx="205665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Frequency in Hz</a:t>
            </a:r>
            <a:endParaRPr lang="en-US" altLang="zh-CN"/>
          </a:p>
        </p:txBody>
      </p:sp>
      <p:sp>
        <p:nvSpPr>
          <p:cNvPr id="94265" name="Rectangle 57"/>
          <p:cNvSpPr>
            <a:spLocks noChangeArrowheads="1"/>
          </p:cNvSpPr>
          <p:nvPr/>
        </p:nvSpPr>
        <p:spPr bwMode="auto">
          <a:xfrm rot="16200000">
            <a:off x="1849963" y="3785980"/>
            <a:ext cx="2196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G</a:t>
            </a:r>
            <a:endParaRPr lang="en-US" altLang="zh-CN"/>
          </a:p>
        </p:txBody>
      </p:sp>
      <p:sp>
        <p:nvSpPr>
          <p:cNvPr id="94266" name="Rectangle 58"/>
          <p:cNvSpPr>
            <a:spLocks noChangeArrowheads="1"/>
          </p:cNvSpPr>
          <p:nvPr/>
        </p:nvSpPr>
        <p:spPr bwMode="auto">
          <a:xfrm rot="16200000">
            <a:off x="1881222" y="3597861"/>
            <a:ext cx="157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endParaRPr lang="en-US" altLang="zh-CN"/>
          </a:p>
        </p:txBody>
      </p:sp>
      <p:sp>
        <p:nvSpPr>
          <p:cNvPr id="94267" name="Rectangle 59"/>
          <p:cNvSpPr>
            <a:spLocks noChangeArrowheads="1"/>
          </p:cNvSpPr>
          <p:nvPr/>
        </p:nvSpPr>
        <p:spPr bwMode="auto">
          <a:xfrm rot="16200000">
            <a:off x="1928510" y="3493880"/>
            <a:ext cx="625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endParaRPr lang="en-US" altLang="zh-CN"/>
          </a:p>
        </p:txBody>
      </p:sp>
      <p:sp>
        <p:nvSpPr>
          <p:cNvPr id="94268" name="Rectangle 60"/>
          <p:cNvSpPr>
            <a:spLocks noChangeArrowheads="1"/>
          </p:cNvSpPr>
          <p:nvPr/>
        </p:nvSpPr>
        <p:spPr bwMode="auto">
          <a:xfrm rot="16200000">
            <a:off x="1881222" y="3381961"/>
            <a:ext cx="157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endParaRPr lang="en-US" altLang="zh-CN"/>
          </a:p>
        </p:txBody>
      </p:sp>
      <p:sp>
        <p:nvSpPr>
          <p:cNvPr id="94269" name="Rectangle 61"/>
          <p:cNvSpPr>
            <a:spLocks noChangeArrowheads="1"/>
          </p:cNvSpPr>
          <p:nvPr/>
        </p:nvSpPr>
        <p:spPr bwMode="auto">
          <a:xfrm rot="16200000">
            <a:off x="1920495" y="3271630"/>
            <a:ext cx="7854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zh-CN"/>
          </a:p>
        </p:txBody>
      </p:sp>
      <p:sp>
        <p:nvSpPr>
          <p:cNvPr id="94270" name="Rectangle 62"/>
          <p:cNvSpPr>
            <a:spLocks noChangeArrowheads="1"/>
          </p:cNvSpPr>
          <p:nvPr/>
        </p:nvSpPr>
        <p:spPr bwMode="auto">
          <a:xfrm rot="16200000">
            <a:off x="1928510" y="3190667"/>
            <a:ext cx="625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endParaRPr lang="en-US" altLang="zh-CN"/>
          </a:p>
        </p:txBody>
      </p:sp>
      <p:sp>
        <p:nvSpPr>
          <p:cNvPr id="94271" name="Rectangle 63"/>
          <p:cNvSpPr>
            <a:spLocks noChangeArrowheads="1"/>
          </p:cNvSpPr>
          <p:nvPr/>
        </p:nvSpPr>
        <p:spPr bwMode="auto">
          <a:xfrm rot="16200000">
            <a:off x="1881222" y="3078749"/>
            <a:ext cx="157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endParaRPr lang="en-US" altLang="zh-CN"/>
          </a:p>
        </p:txBody>
      </p:sp>
      <p:sp>
        <p:nvSpPr>
          <p:cNvPr id="94272" name="Rectangle 64"/>
          <p:cNvSpPr>
            <a:spLocks noChangeArrowheads="1"/>
          </p:cNvSpPr>
          <p:nvPr/>
        </p:nvSpPr>
        <p:spPr bwMode="auto">
          <a:xfrm rot="16200000">
            <a:off x="1920495" y="2968417"/>
            <a:ext cx="7854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zh-CN"/>
          </a:p>
        </p:txBody>
      </p:sp>
      <p:sp>
        <p:nvSpPr>
          <p:cNvPr id="94273" name="Rectangle 65"/>
          <p:cNvSpPr>
            <a:spLocks noChangeArrowheads="1"/>
          </p:cNvSpPr>
          <p:nvPr/>
        </p:nvSpPr>
        <p:spPr bwMode="auto">
          <a:xfrm rot="16200000">
            <a:off x="1881222" y="2862849"/>
            <a:ext cx="157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endParaRPr lang="en-US" altLang="zh-CN"/>
          </a:p>
        </p:txBody>
      </p:sp>
      <p:sp>
        <p:nvSpPr>
          <p:cNvPr id="94274" name="Rectangle 66"/>
          <p:cNvSpPr>
            <a:spLocks noChangeArrowheads="1"/>
          </p:cNvSpPr>
          <p:nvPr/>
        </p:nvSpPr>
        <p:spPr bwMode="auto">
          <a:xfrm rot="16200000">
            <a:off x="1865993" y="2677905"/>
            <a:ext cx="1875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2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US" altLang="zh-CN"/>
          </a:p>
        </p:txBody>
      </p:sp>
      <p:sp>
        <p:nvSpPr>
          <p:cNvPr id="94275" name="Text Box 67"/>
          <p:cNvSpPr txBox="1">
            <a:spLocks noChangeArrowheads="1"/>
          </p:cNvSpPr>
          <p:nvPr/>
        </p:nvSpPr>
        <p:spPr bwMode="auto">
          <a:xfrm>
            <a:off x="2247900" y="6115050"/>
            <a:ext cx="7658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i="1"/>
              <a:t>N</a:t>
            </a:r>
            <a:r>
              <a:rPr lang="en-US" altLang="zh-CN"/>
              <a:t>=4      Ap= 0.1098 dB      As= 40.0000  dB</a:t>
            </a:r>
          </a:p>
        </p:txBody>
      </p:sp>
      <p:sp>
        <p:nvSpPr>
          <p:cNvPr id="94278" name="Text Box 70"/>
          <p:cNvSpPr txBox="1">
            <a:spLocks noChangeArrowheads="1"/>
          </p:cNvSpPr>
          <p:nvPr/>
        </p:nvSpPr>
        <p:spPr bwMode="auto">
          <a:xfrm>
            <a:off x="1643063" y="57150"/>
            <a:ext cx="8229600" cy="7571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b="1" dirty="0"/>
              <a:t>  </a:t>
            </a:r>
            <a:r>
              <a:rPr lang="zh-CN" altLang="en-US" b="1" dirty="0" smtClean="0"/>
              <a:t>例：</a:t>
            </a:r>
            <a:r>
              <a:rPr lang="zh-CN" altLang="en-US" b="1" dirty="0"/>
              <a:t>设计满足下列条件的模拟</a:t>
            </a:r>
            <a:r>
              <a:rPr lang="en-US" altLang="zh-CN" b="1" dirty="0"/>
              <a:t>Butterworth</a:t>
            </a:r>
            <a:r>
              <a:rPr lang="zh-CN" altLang="en-US" b="1" dirty="0"/>
              <a:t>低通滤波器</a:t>
            </a:r>
          </a:p>
          <a:p>
            <a:pPr algn="just">
              <a:lnSpc>
                <a:spcPct val="120000"/>
              </a:lnSpc>
            </a:pPr>
            <a:r>
              <a:rPr lang="zh-CN" altLang="en-US" b="1" dirty="0"/>
              <a:t>                  </a:t>
            </a:r>
            <a:r>
              <a:rPr lang="en-US" altLang="zh-CN" b="1" i="1" dirty="0" err="1"/>
              <a:t>f</a:t>
            </a:r>
            <a:r>
              <a:rPr lang="en-US" altLang="zh-CN" b="1" baseline="-25000" dirty="0" err="1"/>
              <a:t>p</a:t>
            </a:r>
            <a:r>
              <a:rPr lang="en-US" altLang="zh-CN" b="1" dirty="0"/>
              <a:t>=1kHz,  </a:t>
            </a:r>
            <a:r>
              <a:rPr lang="en-US" altLang="zh-CN" b="1" i="1" dirty="0"/>
              <a:t>f</a:t>
            </a:r>
            <a:r>
              <a:rPr lang="en-US" altLang="zh-CN" b="1" baseline="-25000" dirty="0"/>
              <a:t>s</a:t>
            </a:r>
            <a:r>
              <a:rPr lang="en-US" altLang="zh-CN" b="1" dirty="0"/>
              <a:t>=5kHz,  </a:t>
            </a:r>
            <a:r>
              <a:rPr lang="en-US" altLang="zh-CN" b="1" i="1" dirty="0" err="1"/>
              <a:t>A</a:t>
            </a:r>
            <a:r>
              <a:rPr lang="en-US" altLang="zh-CN" b="1" baseline="-25000" dirty="0" err="1"/>
              <a:t>p</a:t>
            </a:r>
            <a:r>
              <a:rPr lang="en-US" altLang="zh-CN" b="1" dirty="0"/>
              <a:t>=1dB,   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s</a:t>
            </a:r>
            <a:r>
              <a:rPr lang="en-US" altLang="zh-CN" b="1" dirty="0"/>
              <a:t>=40dB</a:t>
            </a:r>
          </a:p>
        </p:txBody>
      </p:sp>
      <p:sp>
        <p:nvSpPr>
          <p:cNvPr id="94279" name="Rectangle 71"/>
          <p:cNvSpPr>
            <a:spLocks noChangeArrowheads="1"/>
          </p:cNvSpPr>
          <p:nvPr/>
        </p:nvSpPr>
        <p:spPr bwMode="auto">
          <a:xfrm>
            <a:off x="1676400" y="10096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48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模拟频率变换</a:t>
            </a:r>
          </a:p>
        </p:txBody>
      </p:sp>
      <p:sp>
        <p:nvSpPr>
          <p:cNvPr id="33841" name="Rectangle 1073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42" name="Text Box 1074"/>
          <p:cNvSpPr txBox="1">
            <a:spLocks noChangeArrowheads="1"/>
          </p:cNvSpPr>
          <p:nvPr/>
        </p:nvSpPr>
        <p:spPr bwMode="auto">
          <a:xfrm>
            <a:off x="1828800" y="1447801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/>
              <a:t>1. </a:t>
            </a:r>
            <a:r>
              <a:rPr lang="zh-CN" altLang="en-US" sz="2800" b="1" dirty="0"/>
              <a:t>原型低</a:t>
            </a:r>
            <a:r>
              <a:rPr lang="zh-CN" altLang="en-US" sz="2800" b="1" dirty="0" smtClean="0"/>
              <a:t>通</a:t>
            </a:r>
            <a:r>
              <a:rPr lang="en-US" altLang="zh-CN" sz="2800" b="1" dirty="0" smtClean="0"/>
              <a:t>HL</a:t>
            </a:r>
            <a:r>
              <a:rPr lang="zh-CN" altLang="en-US" sz="2800" b="1" dirty="0" smtClean="0"/>
              <a:t>到</a:t>
            </a:r>
            <a:r>
              <a:rPr lang="zh-CN" altLang="en-US" sz="2800" b="1" dirty="0"/>
              <a:t>低</a:t>
            </a:r>
            <a:r>
              <a:rPr lang="zh-CN" altLang="en-US" sz="2800" b="1" dirty="0" smtClean="0"/>
              <a:t>通</a:t>
            </a:r>
            <a:r>
              <a:rPr lang="en-US" altLang="zh-CN" sz="2800" b="1" dirty="0" smtClean="0"/>
              <a:t>HLP</a:t>
            </a:r>
            <a:r>
              <a:rPr lang="zh-CN" altLang="en-US" sz="2800" b="1" dirty="0" smtClean="0"/>
              <a:t>的</a:t>
            </a:r>
            <a:r>
              <a:rPr lang="zh-CN" altLang="en-US" sz="2800" b="1" dirty="0"/>
              <a:t>变换</a:t>
            </a:r>
          </a:p>
        </p:txBody>
      </p:sp>
      <p:graphicFrame>
        <p:nvGraphicFramePr>
          <p:cNvPr id="33846" name="Object 10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846193"/>
              </p:ext>
            </p:extLst>
          </p:nvPr>
        </p:nvGraphicFramePr>
        <p:xfrm>
          <a:off x="4737100" y="2276476"/>
          <a:ext cx="2986088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6" name="Equation" r:id="rId3" imgW="1193760" imgH="266400" progId="Equation.DSMT4">
                  <p:embed/>
                </p:oleObj>
              </mc:Choice>
              <mc:Fallback>
                <p:oleObj name="Equation" r:id="rId3" imgW="1193760" imgH="266400" progId="Equation.DSMT4">
                  <p:embed/>
                  <p:pic>
                    <p:nvPicPr>
                      <p:cNvPr id="33846" name="Object 10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2276476"/>
                        <a:ext cx="2986088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48" name="Object 1080"/>
          <p:cNvGraphicFramePr>
            <a:graphicFrameLocks noChangeAspect="1"/>
          </p:cNvGraphicFramePr>
          <p:nvPr/>
        </p:nvGraphicFramePr>
        <p:xfrm>
          <a:off x="3352801" y="4648200"/>
          <a:ext cx="1655763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7" name="公式" r:id="rId5" imgW="660240" imgH="228600" progId="Equation.3">
                  <p:embed/>
                </p:oleObj>
              </mc:Choice>
              <mc:Fallback>
                <p:oleObj name="公式" r:id="rId5" imgW="660240" imgH="228600" progId="Equation.3">
                  <p:embed/>
                  <p:pic>
                    <p:nvPicPr>
                      <p:cNvPr id="33848" name="Object 10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4648200"/>
                        <a:ext cx="1655763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49" name="Object 1081"/>
          <p:cNvGraphicFramePr>
            <a:graphicFrameLocks noChangeAspect="1"/>
          </p:cNvGraphicFramePr>
          <p:nvPr/>
        </p:nvGraphicFramePr>
        <p:xfrm>
          <a:off x="6400800" y="3729038"/>
          <a:ext cx="3765550" cy="312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8" name="Visio" r:id="rId7" imgW="1642567" imgH="1365809" progId="Visio.Drawing.6">
                  <p:embed/>
                </p:oleObj>
              </mc:Choice>
              <mc:Fallback>
                <p:oleObj name="Visio" r:id="rId7" imgW="1642567" imgH="1365809" progId="Visio.Drawing.6">
                  <p:embed/>
                  <p:pic>
                    <p:nvPicPr>
                      <p:cNvPr id="33849" name="Object 10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729038"/>
                        <a:ext cx="3765550" cy="312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50" name="Object 1082"/>
          <p:cNvGraphicFramePr>
            <a:graphicFrameLocks noChangeAspect="1"/>
          </p:cNvGraphicFramePr>
          <p:nvPr/>
        </p:nvGraphicFramePr>
        <p:xfrm>
          <a:off x="2209800" y="3429001"/>
          <a:ext cx="48196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9" name="Equation" r:id="rId9" imgW="2006280" imgH="215640" progId="Equation.3">
                  <p:embed/>
                </p:oleObj>
              </mc:Choice>
              <mc:Fallback>
                <p:oleObj name="Equation" r:id="rId9" imgW="2006280" imgH="215640" progId="Equation.3">
                  <p:embed/>
                  <p:pic>
                    <p:nvPicPr>
                      <p:cNvPr id="33850" name="Object 10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429001"/>
                        <a:ext cx="481965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056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模拟频率变换</a:t>
            </a:r>
          </a:p>
        </p:txBody>
      </p:sp>
      <p:sp>
        <p:nvSpPr>
          <p:cNvPr id="34819" name="Rectangle 1027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0" name="Text Box 1028"/>
          <p:cNvSpPr txBox="1">
            <a:spLocks noChangeArrowheads="1"/>
          </p:cNvSpPr>
          <p:nvPr/>
        </p:nvSpPr>
        <p:spPr bwMode="auto">
          <a:xfrm>
            <a:off x="1828800" y="1447801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2. </a:t>
            </a:r>
            <a:r>
              <a:rPr lang="zh-CN" altLang="en-US" sz="2800" b="1"/>
              <a:t>原型低通到高通的变换</a:t>
            </a:r>
          </a:p>
        </p:txBody>
      </p:sp>
      <p:graphicFrame>
        <p:nvGraphicFramePr>
          <p:cNvPr id="34821" name="Object 1029"/>
          <p:cNvGraphicFramePr>
            <a:graphicFrameLocks noChangeAspect="1"/>
          </p:cNvGraphicFramePr>
          <p:nvPr/>
        </p:nvGraphicFramePr>
        <p:xfrm>
          <a:off x="4225926" y="2116138"/>
          <a:ext cx="3021013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5" name="公式" r:id="rId3" imgW="1206360" imgH="266400" progId="Equation.3">
                  <p:embed/>
                </p:oleObj>
              </mc:Choice>
              <mc:Fallback>
                <p:oleObj name="公式" r:id="rId3" imgW="1206360" imgH="266400" progId="Equation.3">
                  <p:embed/>
                  <p:pic>
                    <p:nvPicPr>
                      <p:cNvPr id="34821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5926" y="2116138"/>
                        <a:ext cx="3021013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1030"/>
          <p:cNvGraphicFramePr>
            <a:graphicFrameLocks noChangeAspect="1"/>
          </p:cNvGraphicFramePr>
          <p:nvPr/>
        </p:nvGraphicFramePr>
        <p:xfrm>
          <a:off x="2057401" y="2971801"/>
          <a:ext cx="488156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6" name="Equation" r:id="rId5" imgW="2031840" imgH="215640" progId="Equation.3">
                  <p:embed/>
                </p:oleObj>
              </mc:Choice>
              <mc:Fallback>
                <p:oleObj name="Equation" r:id="rId5" imgW="2031840" imgH="215640" progId="Equation.3">
                  <p:embed/>
                  <p:pic>
                    <p:nvPicPr>
                      <p:cNvPr id="34822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2971801"/>
                        <a:ext cx="488156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1031"/>
          <p:cNvGraphicFramePr>
            <a:graphicFrameLocks noChangeAspect="1"/>
          </p:cNvGraphicFramePr>
          <p:nvPr/>
        </p:nvGraphicFramePr>
        <p:xfrm>
          <a:off x="3048001" y="4343400"/>
          <a:ext cx="1655763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7" name="公式" r:id="rId7" imgW="660240" imgH="228600" progId="Equation.3">
                  <p:embed/>
                </p:oleObj>
              </mc:Choice>
              <mc:Fallback>
                <p:oleObj name="公式" r:id="rId7" imgW="660240" imgH="228600" progId="Equation.3">
                  <p:embed/>
                  <p:pic>
                    <p:nvPicPr>
                      <p:cNvPr id="34823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4343400"/>
                        <a:ext cx="1655763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4" name="Group 1032"/>
          <p:cNvGrpSpPr>
            <a:grpSpLocks/>
          </p:cNvGrpSpPr>
          <p:nvPr/>
        </p:nvGrpSpPr>
        <p:grpSpPr bwMode="auto">
          <a:xfrm>
            <a:off x="5105400" y="2895601"/>
            <a:ext cx="5284788" cy="3649663"/>
            <a:chOff x="1784" y="1989"/>
            <a:chExt cx="3329" cy="2299"/>
          </a:xfrm>
        </p:grpSpPr>
        <p:graphicFrame>
          <p:nvGraphicFramePr>
            <p:cNvPr id="34825" name="Object 1033"/>
            <p:cNvGraphicFramePr>
              <a:graphicFrameLocks noChangeAspect="1"/>
            </p:cNvGraphicFramePr>
            <p:nvPr/>
          </p:nvGraphicFramePr>
          <p:xfrm>
            <a:off x="3413" y="2485"/>
            <a:ext cx="360" cy="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88" name="公式" r:id="rId9" imgW="228600" imgH="431640" progId="Equation.3">
                    <p:embed/>
                  </p:oleObj>
                </mc:Choice>
                <mc:Fallback>
                  <p:oleObj name="公式" r:id="rId9" imgW="228600" imgH="431640" progId="Equation.3">
                    <p:embed/>
                    <p:pic>
                      <p:nvPicPr>
                        <p:cNvPr id="34825" name="Object 10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3" y="2485"/>
                          <a:ext cx="360" cy="6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4826" name="Group 1034"/>
            <p:cNvGrpSpPr>
              <a:grpSpLocks/>
            </p:cNvGrpSpPr>
            <p:nvPr/>
          </p:nvGrpSpPr>
          <p:grpSpPr bwMode="auto">
            <a:xfrm>
              <a:off x="3360" y="3190"/>
              <a:ext cx="642" cy="144"/>
              <a:chOff x="3384" y="3168"/>
              <a:chExt cx="642" cy="144"/>
            </a:xfrm>
          </p:grpSpPr>
          <p:sp>
            <p:nvSpPr>
              <p:cNvPr id="34827" name="Line 1035"/>
              <p:cNvSpPr>
                <a:spLocks noChangeShapeType="1"/>
              </p:cNvSpPr>
              <p:nvPr/>
            </p:nvSpPr>
            <p:spPr bwMode="auto">
              <a:xfrm flipV="1">
                <a:off x="3384" y="3304"/>
                <a:ext cx="642" cy="2"/>
              </a:xfrm>
              <a:prstGeom prst="line">
                <a:avLst/>
              </a:prstGeom>
              <a:noFill/>
              <a:ln w="6350" cap="rnd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28" name="Line 1036"/>
              <p:cNvSpPr>
                <a:spLocks noChangeShapeType="1"/>
              </p:cNvSpPr>
              <p:nvPr/>
            </p:nvSpPr>
            <p:spPr bwMode="auto">
              <a:xfrm flipV="1">
                <a:off x="3990" y="3168"/>
                <a:ext cx="0" cy="144"/>
              </a:xfrm>
              <a:prstGeom prst="line">
                <a:avLst/>
              </a:prstGeom>
              <a:noFill/>
              <a:ln w="6350" cap="rnd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4829" name="Line 1037"/>
            <p:cNvSpPr>
              <a:spLocks noChangeShapeType="1"/>
            </p:cNvSpPr>
            <p:nvPr/>
          </p:nvSpPr>
          <p:spPr bwMode="auto">
            <a:xfrm>
              <a:off x="1784" y="3175"/>
              <a:ext cx="3063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0" name="Line 1038"/>
            <p:cNvSpPr>
              <a:spLocks noChangeShapeType="1"/>
            </p:cNvSpPr>
            <p:nvPr/>
          </p:nvSpPr>
          <p:spPr bwMode="auto">
            <a:xfrm flipV="1">
              <a:off x="3376" y="2001"/>
              <a:ext cx="7" cy="22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1" name="Freeform 1039"/>
            <p:cNvSpPr>
              <a:spLocks/>
            </p:cNvSpPr>
            <p:nvPr/>
          </p:nvSpPr>
          <p:spPr bwMode="auto">
            <a:xfrm>
              <a:off x="1784" y="2042"/>
              <a:ext cx="1509" cy="1069"/>
            </a:xfrm>
            <a:custGeom>
              <a:avLst/>
              <a:gdLst>
                <a:gd name="T0" fmla="*/ 25 w 1509"/>
                <a:gd name="T1" fmla="*/ 1069 h 1069"/>
                <a:gd name="T2" fmla="*/ 64 w 1509"/>
                <a:gd name="T3" fmla="*/ 1069 h 1069"/>
                <a:gd name="T4" fmla="*/ 96 w 1509"/>
                <a:gd name="T5" fmla="*/ 1069 h 1069"/>
                <a:gd name="T6" fmla="*/ 134 w 1509"/>
                <a:gd name="T7" fmla="*/ 1056 h 1069"/>
                <a:gd name="T8" fmla="*/ 166 w 1509"/>
                <a:gd name="T9" fmla="*/ 1056 h 1069"/>
                <a:gd name="T10" fmla="*/ 204 w 1509"/>
                <a:gd name="T11" fmla="*/ 1056 h 1069"/>
                <a:gd name="T12" fmla="*/ 243 w 1509"/>
                <a:gd name="T13" fmla="*/ 1056 h 1069"/>
                <a:gd name="T14" fmla="*/ 275 w 1509"/>
                <a:gd name="T15" fmla="*/ 1056 h 1069"/>
                <a:gd name="T16" fmla="*/ 313 w 1509"/>
                <a:gd name="T17" fmla="*/ 1056 h 1069"/>
                <a:gd name="T18" fmla="*/ 345 w 1509"/>
                <a:gd name="T19" fmla="*/ 1056 h 1069"/>
                <a:gd name="T20" fmla="*/ 383 w 1509"/>
                <a:gd name="T21" fmla="*/ 1050 h 1069"/>
                <a:gd name="T22" fmla="*/ 422 w 1509"/>
                <a:gd name="T23" fmla="*/ 1050 h 1069"/>
                <a:gd name="T24" fmla="*/ 454 w 1509"/>
                <a:gd name="T25" fmla="*/ 1050 h 1069"/>
                <a:gd name="T26" fmla="*/ 492 w 1509"/>
                <a:gd name="T27" fmla="*/ 1050 h 1069"/>
                <a:gd name="T28" fmla="*/ 530 w 1509"/>
                <a:gd name="T29" fmla="*/ 1037 h 1069"/>
                <a:gd name="T30" fmla="*/ 562 w 1509"/>
                <a:gd name="T31" fmla="*/ 1037 h 1069"/>
                <a:gd name="T32" fmla="*/ 601 w 1509"/>
                <a:gd name="T33" fmla="*/ 1037 h 1069"/>
                <a:gd name="T34" fmla="*/ 633 w 1509"/>
                <a:gd name="T35" fmla="*/ 1037 h 1069"/>
                <a:gd name="T36" fmla="*/ 671 w 1509"/>
                <a:gd name="T37" fmla="*/ 1024 h 1069"/>
                <a:gd name="T38" fmla="*/ 709 w 1509"/>
                <a:gd name="T39" fmla="*/ 1024 h 1069"/>
                <a:gd name="T40" fmla="*/ 741 w 1509"/>
                <a:gd name="T41" fmla="*/ 1024 h 1069"/>
                <a:gd name="T42" fmla="*/ 780 w 1509"/>
                <a:gd name="T43" fmla="*/ 1011 h 1069"/>
                <a:gd name="T44" fmla="*/ 818 w 1509"/>
                <a:gd name="T45" fmla="*/ 1011 h 1069"/>
                <a:gd name="T46" fmla="*/ 850 w 1509"/>
                <a:gd name="T47" fmla="*/ 998 h 1069"/>
                <a:gd name="T48" fmla="*/ 888 w 1509"/>
                <a:gd name="T49" fmla="*/ 998 h 1069"/>
                <a:gd name="T50" fmla="*/ 920 w 1509"/>
                <a:gd name="T51" fmla="*/ 986 h 1069"/>
                <a:gd name="T52" fmla="*/ 959 w 1509"/>
                <a:gd name="T53" fmla="*/ 986 h 1069"/>
                <a:gd name="T54" fmla="*/ 997 w 1509"/>
                <a:gd name="T55" fmla="*/ 973 h 1069"/>
                <a:gd name="T56" fmla="*/ 1029 w 1509"/>
                <a:gd name="T57" fmla="*/ 960 h 1069"/>
                <a:gd name="T58" fmla="*/ 1068 w 1509"/>
                <a:gd name="T59" fmla="*/ 954 h 1069"/>
                <a:gd name="T60" fmla="*/ 1099 w 1509"/>
                <a:gd name="T61" fmla="*/ 941 h 1069"/>
                <a:gd name="T62" fmla="*/ 1138 w 1509"/>
                <a:gd name="T63" fmla="*/ 928 h 1069"/>
                <a:gd name="T64" fmla="*/ 1176 w 1509"/>
                <a:gd name="T65" fmla="*/ 915 h 1069"/>
                <a:gd name="T66" fmla="*/ 1208 w 1509"/>
                <a:gd name="T67" fmla="*/ 890 h 1069"/>
                <a:gd name="T68" fmla="*/ 1247 w 1509"/>
                <a:gd name="T69" fmla="*/ 858 h 1069"/>
                <a:gd name="T70" fmla="*/ 1285 w 1509"/>
                <a:gd name="T71" fmla="*/ 832 h 1069"/>
                <a:gd name="T72" fmla="*/ 1317 w 1509"/>
                <a:gd name="T73" fmla="*/ 794 h 1069"/>
                <a:gd name="T74" fmla="*/ 1342 w 1509"/>
                <a:gd name="T75" fmla="*/ 762 h 1069"/>
                <a:gd name="T76" fmla="*/ 1368 w 1509"/>
                <a:gd name="T77" fmla="*/ 723 h 1069"/>
                <a:gd name="T78" fmla="*/ 1387 w 1509"/>
                <a:gd name="T79" fmla="*/ 685 h 1069"/>
                <a:gd name="T80" fmla="*/ 1413 w 1509"/>
                <a:gd name="T81" fmla="*/ 627 h 1069"/>
                <a:gd name="T82" fmla="*/ 1438 w 1509"/>
                <a:gd name="T83" fmla="*/ 557 h 1069"/>
                <a:gd name="T84" fmla="*/ 1451 w 1509"/>
                <a:gd name="T85" fmla="*/ 448 h 1069"/>
                <a:gd name="T86" fmla="*/ 1477 w 1509"/>
                <a:gd name="T87" fmla="*/ 314 h 1069"/>
                <a:gd name="T88" fmla="*/ 1496 w 1509"/>
                <a:gd name="T89" fmla="*/ 96 h 1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509" h="1069">
                  <a:moveTo>
                    <a:pt x="0" y="1069"/>
                  </a:moveTo>
                  <a:lnTo>
                    <a:pt x="12" y="1069"/>
                  </a:lnTo>
                  <a:lnTo>
                    <a:pt x="25" y="1069"/>
                  </a:lnTo>
                  <a:lnTo>
                    <a:pt x="38" y="1069"/>
                  </a:lnTo>
                  <a:lnTo>
                    <a:pt x="51" y="1069"/>
                  </a:lnTo>
                  <a:lnTo>
                    <a:pt x="64" y="1069"/>
                  </a:lnTo>
                  <a:lnTo>
                    <a:pt x="70" y="1069"/>
                  </a:lnTo>
                  <a:lnTo>
                    <a:pt x="83" y="1069"/>
                  </a:lnTo>
                  <a:lnTo>
                    <a:pt x="96" y="1069"/>
                  </a:lnTo>
                  <a:lnTo>
                    <a:pt x="108" y="1056"/>
                  </a:lnTo>
                  <a:lnTo>
                    <a:pt x="121" y="1056"/>
                  </a:lnTo>
                  <a:lnTo>
                    <a:pt x="134" y="1056"/>
                  </a:lnTo>
                  <a:lnTo>
                    <a:pt x="147" y="1056"/>
                  </a:lnTo>
                  <a:lnTo>
                    <a:pt x="159" y="1056"/>
                  </a:lnTo>
                  <a:lnTo>
                    <a:pt x="166" y="1056"/>
                  </a:lnTo>
                  <a:lnTo>
                    <a:pt x="179" y="1056"/>
                  </a:lnTo>
                  <a:lnTo>
                    <a:pt x="191" y="1056"/>
                  </a:lnTo>
                  <a:lnTo>
                    <a:pt x="204" y="1056"/>
                  </a:lnTo>
                  <a:lnTo>
                    <a:pt x="217" y="1056"/>
                  </a:lnTo>
                  <a:lnTo>
                    <a:pt x="230" y="1056"/>
                  </a:lnTo>
                  <a:lnTo>
                    <a:pt x="243" y="1056"/>
                  </a:lnTo>
                  <a:lnTo>
                    <a:pt x="249" y="1056"/>
                  </a:lnTo>
                  <a:lnTo>
                    <a:pt x="262" y="1056"/>
                  </a:lnTo>
                  <a:lnTo>
                    <a:pt x="275" y="1056"/>
                  </a:lnTo>
                  <a:lnTo>
                    <a:pt x="287" y="1056"/>
                  </a:lnTo>
                  <a:lnTo>
                    <a:pt x="300" y="1056"/>
                  </a:lnTo>
                  <a:lnTo>
                    <a:pt x="313" y="1056"/>
                  </a:lnTo>
                  <a:lnTo>
                    <a:pt x="326" y="1056"/>
                  </a:lnTo>
                  <a:lnTo>
                    <a:pt x="339" y="1056"/>
                  </a:lnTo>
                  <a:lnTo>
                    <a:pt x="345" y="1056"/>
                  </a:lnTo>
                  <a:lnTo>
                    <a:pt x="358" y="1050"/>
                  </a:lnTo>
                  <a:lnTo>
                    <a:pt x="370" y="1050"/>
                  </a:lnTo>
                  <a:lnTo>
                    <a:pt x="383" y="1050"/>
                  </a:lnTo>
                  <a:lnTo>
                    <a:pt x="396" y="1050"/>
                  </a:lnTo>
                  <a:lnTo>
                    <a:pt x="409" y="1050"/>
                  </a:lnTo>
                  <a:lnTo>
                    <a:pt x="422" y="1050"/>
                  </a:lnTo>
                  <a:lnTo>
                    <a:pt x="434" y="1050"/>
                  </a:lnTo>
                  <a:lnTo>
                    <a:pt x="441" y="1050"/>
                  </a:lnTo>
                  <a:lnTo>
                    <a:pt x="454" y="1050"/>
                  </a:lnTo>
                  <a:lnTo>
                    <a:pt x="466" y="1050"/>
                  </a:lnTo>
                  <a:lnTo>
                    <a:pt x="479" y="1050"/>
                  </a:lnTo>
                  <a:lnTo>
                    <a:pt x="492" y="1050"/>
                  </a:lnTo>
                  <a:lnTo>
                    <a:pt x="505" y="1050"/>
                  </a:lnTo>
                  <a:lnTo>
                    <a:pt x="518" y="1050"/>
                  </a:lnTo>
                  <a:lnTo>
                    <a:pt x="530" y="1037"/>
                  </a:lnTo>
                  <a:lnTo>
                    <a:pt x="537" y="1037"/>
                  </a:lnTo>
                  <a:lnTo>
                    <a:pt x="550" y="1037"/>
                  </a:lnTo>
                  <a:lnTo>
                    <a:pt x="562" y="1037"/>
                  </a:lnTo>
                  <a:lnTo>
                    <a:pt x="575" y="1037"/>
                  </a:lnTo>
                  <a:lnTo>
                    <a:pt x="588" y="1037"/>
                  </a:lnTo>
                  <a:lnTo>
                    <a:pt x="601" y="1037"/>
                  </a:lnTo>
                  <a:lnTo>
                    <a:pt x="613" y="1037"/>
                  </a:lnTo>
                  <a:lnTo>
                    <a:pt x="626" y="1037"/>
                  </a:lnTo>
                  <a:lnTo>
                    <a:pt x="633" y="1037"/>
                  </a:lnTo>
                  <a:lnTo>
                    <a:pt x="645" y="1037"/>
                  </a:lnTo>
                  <a:lnTo>
                    <a:pt x="658" y="1037"/>
                  </a:lnTo>
                  <a:lnTo>
                    <a:pt x="671" y="1024"/>
                  </a:lnTo>
                  <a:lnTo>
                    <a:pt x="684" y="1024"/>
                  </a:lnTo>
                  <a:lnTo>
                    <a:pt x="697" y="1024"/>
                  </a:lnTo>
                  <a:lnTo>
                    <a:pt x="709" y="1024"/>
                  </a:lnTo>
                  <a:lnTo>
                    <a:pt x="722" y="1024"/>
                  </a:lnTo>
                  <a:lnTo>
                    <a:pt x="729" y="1024"/>
                  </a:lnTo>
                  <a:lnTo>
                    <a:pt x="741" y="1024"/>
                  </a:lnTo>
                  <a:lnTo>
                    <a:pt x="754" y="1024"/>
                  </a:lnTo>
                  <a:lnTo>
                    <a:pt x="767" y="1011"/>
                  </a:lnTo>
                  <a:lnTo>
                    <a:pt x="780" y="1011"/>
                  </a:lnTo>
                  <a:lnTo>
                    <a:pt x="793" y="1011"/>
                  </a:lnTo>
                  <a:lnTo>
                    <a:pt x="805" y="1011"/>
                  </a:lnTo>
                  <a:lnTo>
                    <a:pt x="818" y="1011"/>
                  </a:lnTo>
                  <a:lnTo>
                    <a:pt x="825" y="1011"/>
                  </a:lnTo>
                  <a:lnTo>
                    <a:pt x="837" y="1011"/>
                  </a:lnTo>
                  <a:lnTo>
                    <a:pt x="850" y="998"/>
                  </a:lnTo>
                  <a:lnTo>
                    <a:pt x="863" y="998"/>
                  </a:lnTo>
                  <a:lnTo>
                    <a:pt x="876" y="998"/>
                  </a:lnTo>
                  <a:lnTo>
                    <a:pt x="888" y="998"/>
                  </a:lnTo>
                  <a:lnTo>
                    <a:pt x="901" y="998"/>
                  </a:lnTo>
                  <a:lnTo>
                    <a:pt x="914" y="998"/>
                  </a:lnTo>
                  <a:lnTo>
                    <a:pt x="920" y="986"/>
                  </a:lnTo>
                  <a:lnTo>
                    <a:pt x="933" y="986"/>
                  </a:lnTo>
                  <a:lnTo>
                    <a:pt x="946" y="986"/>
                  </a:lnTo>
                  <a:lnTo>
                    <a:pt x="959" y="986"/>
                  </a:lnTo>
                  <a:lnTo>
                    <a:pt x="972" y="973"/>
                  </a:lnTo>
                  <a:lnTo>
                    <a:pt x="984" y="973"/>
                  </a:lnTo>
                  <a:lnTo>
                    <a:pt x="997" y="973"/>
                  </a:lnTo>
                  <a:lnTo>
                    <a:pt x="1004" y="973"/>
                  </a:lnTo>
                  <a:lnTo>
                    <a:pt x="1016" y="960"/>
                  </a:lnTo>
                  <a:lnTo>
                    <a:pt x="1029" y="960"/>
                  </a:lnTo>
                  <a:lnTo>
                    <a:pt x="1042" y="960"/>
                  </a:lnTo>
                  <a:lnTo>
                    <a:pt x="1055" y="960"/>
                  </a:lnTo>
                  <a:lnTo>
                    <a:pt x="1068" y="954"/>
                  </a:lnTo>
                  <a:lnTo>
                    <a:pt x="1080" y="954"/>
                  </a:lnTo>
                  <a:lnTo>
                    <a:pt x="1093" y="954"/>
                  </a:lnTo>
                  <a:lnTo>
                    <a:pt x="1099" y="941"/>
                  </a:lnTo>
                  <a:lnTo>
                    <a:pt x="1112" y="941"/>
                  </a:lnTo>
                  <a:lnTo>
                    <a:pt x="1125" y="928"/>
                  </a:lnTo>
                  <a:lnTo>
                    <a:pt x="1138" y="928"/>
                  </a:lnTo>
                  <a:lnTo>
                    <a:pt x="1151" y="915"/>
                  </a:lnTo>
                  <a:lnTo>
                    <a:pt x="1163" y="915"/>
                  </a:lnTo>
                  <a:lnTo>
                    <a:pt x="1176" y="915"/>
                  </a:lnTo>
                  <a:lnTo>
                    <a:pt x="1189" y="902"/>
                  </a:lnTo>
                  <a:lnTo>
                    <a:pt x="1195" y="890"/>
                  </a:lnTo>
                  <a:lnTo>
                    <a:pt x="1208" y="890"/>
                  </a:lnTo>
                  <a:lnTo>
                    <a:pt x="1221" y="877"/>
                  </a:lnTo>
                  <a:lnTo>
                    <a:pt x="1234" y="864"/>
                  </a:lnTo>
                  <a:lnTo>
                    <a:pt x="1247" y="858"/>
                  </a:lnTo>
                  <a:lnTo>
                    <a:pt x="1259" y="858"/>
                  </a:lnTo>
                  <a:lnTo>
                    <a:pt x="1272" y="845"/>
                  </a:lnTo>
                  <a:lnTo>
                    <a:pt x="1285" y="832"/>
                  </a:lnTo>
                  <a:lnTo>
                    <a:pt x="1291" y="819"/>
                  </a:lnTo>
                  <a:lnTo>
                    <a:pt x="1304" y="807"/>
                  </a:lnTo>
                  <a:lnTo>
                    <a:pt x="1317" y="794"/>
                  </a:lnTo>
                  <a:lnTo>
                    <a:pt x="1330" y="781"/>
                  </a:lnTo>
                  <a:lnTo>
                    <a:pt x="1330" y="768"/>
                  </a:lnTo>
                  <a:lnTo>
                    <a:pt x="1342" y="762"/>
                  </a:lnTo>
                  <a:lnTo>
                    <a:pt x="1355" y="749"/>
                  </a:lnTo>
                  <a:lnTo>
                    <a:pt x="1355" y="736"/>
                  </a:lnTo>
                  <a:lnTo>
                    <a:pt x="1368" y="723"/>
                  </a:lnTo>
                  <a:lnTo>
                    <a:pt x="1368" y="711"/>
                  </a:lnTo>
                  <a:lnTo>
                    <a:pt x="1381" y="698"/>
                  </a:lnTo>
                  <a:lnTo>
                    <a:pt x="1387" y="685"/>
                  </a:lnTo>
                  <a:lnTo>
                    <a:pt x="1387" y="666"/>
                  </a:lnTo>
                  <a:lnTo>
                    <a:pt x="1400" y="640"/>
                  </a:lnTo>
                  <a:lnTo>
                    <a:pt x="1413" y="627"/>
                  </a:lnTo>
                  <a:lnTo>
                    <a:pt x="1413" y="602"/>
                  </a:lnTo>
                  <a:lnTo>
                    <a:pt x="1426" y="576"/>
                  </a:lnTo>
                  <a:lnTo>
                    <a:pt x="1438" y="557"/>
                  </a:lnTo>
                  <a:lnTo>
                    <a:pt x="1438" y="519"/>
                  </a:lnTo>
                  <a:lnTo>
                    <a:pt x="1451" y="480"/>
                  </a:lnTo>
                  <a:lnTo>
                    <a:pt x="1451" y="448"/>
                  </a:lnTo>
                  <a:lnTo>
                    <a:pt x="1464" y="410"/>
                  </a:lnTo>
                  <a:lnTo>
                    <a:pt x="1477" y="365"/>
                  </a:lnTo>
                  <a:lnTo>
                    <a:pt x="1477" y="314"/>
                  </a:lnTo>
                  <a:lnTo>
                    <a:pt x="1483" y="256"/>
                  </a:lnTo>
                  <a:lnTo>
                    <a:pt x="1496" y="180"/>
                  </a:lnTo>
                  <a:lnTo>
                    <a:pt x="1496" y="96"/>
                  </a:lnTo>
                  <a:lnTo>
                    <a:pt x="1509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2" name="Freeform 1040"/>
            <p:cNvSpPr>
              <a:spLocks/>
            </p:cNvSpPr>
            <p:nvPr/>
          </p:nvSpPr>
          <p:spPr bwMode="auto">
            <a:xfrm>
              <a:off x="3453" y="3220"/>
              <a:ext cx="1502" cy="1068"/>
            </a:xfrm>
            <a:custGeom>
              <a:avLst/>
              <a:gdLst>
                <a:gd name="T0" fmla="*/ 6 w 1502"/>
                <a:gd name="T1" fmla="*/ 889 h 1068"/>
                <a:gd name="T2" fmla="*/ 32 w 1502"/>
                <a:gd name="T3" fmla="*/ 710 h 1068"/>
                <a:gd name="T4" fmla="*/ 57 w 1502"/>
                <a:gd name="T5" fmla="*/ 588 h 1068"/>
                <a:gd name="T6" fmla="*/ 83 w 1502"/>
                <a:gd name="T7" fmla="*/ 492 h 1068"/>
                <a:gd name="T8" fmla="*/ 102 w 1502"/>
                <a:gd name="T9" fmla="*/ 435 h 1068"/>
                <a:gd name="T10" fmla="*/ 128 w 1502"/>
                <a:gd name="T11" fmla="*/ 371 h 1068"/>
                <a:gd name="T12" fmla="*/ 153 w 1502"/>
                <a:gd name="T13" fmla="*/ 339 h 1068"/>
                <a:gd name="T14" fmla="*/ 179 w 1502"/>
                <a:gd name="T15" fmla="*/ 300 h 1068"/>
                <a:gd name="T16" fmla="*/ 198 w 1502"/>
                <a:gd name="T17" fmla="*/ 262 h 1068"/>
                <a:gd name="T18" fmla="*/ 236 w 1502"/>
                <a:gd name="T19" fmla="*/ 230 h 1068"/>
                <a:gd name="T20" fmla="*/ 275 w 1502"/>
                <a:gd name="T21" fmla="*/ 204 h 1068"/>
                <a:gd name="T22" fmla="*/ 307 w 1502"/>
                <a:gd name="T23" fmla="*/ 179 h 1068"/>
                <a:gd name="T24" fmla="*/ 345 w 1502"/>
                <a:gd name="T25" fmla="*/ 160 h 1068"/>
                <a:gd name="T26" fmla="*/ 377 w 1502"/>
                <a:gd name="T27" fmla="*/ 134 h 1068"/>
                <a:gd name="T28" fmla="*/ 415 w 1502"/>
                <a:gd name="T29" fmla="*/ 121 h 1068"/>
                <a:gd name="T30" fmla="*/ 454 w 1502"/>
                <a:gd name="T31" fmla="*/ 108 h 1068"/>
                <a:gd name="T32" fmla="*/ 486 w 1502"/>
                <a:gd name="T33" fmla="*/ 96 h 1068"/>
                <a:gd name="T34" fmla="*/ 524 w 1502"/>
                <a:gd name="T35" fmla="*/ 96 h 1068"/>
                <a:gd name="T36" fmla="*/ 562 w 1502"/>
                <a:gd name="T37" fmla="*/ 83 h 1068"/>
                <a:gd name="T38" fmla="*/ 594 w 1502"/>
                <a:gd name="T39" fmla="*/ 70 h 1068"/>
                <a:gd name="T40" fmla="*/ 633 w 1502"/>
                <a:gd name="T41" fmla="*/ 70 h 1068"/>
                <a:gd name="T42" fmla="*/ 665 w 1502"/>
                <a:gd name="T43" fmla="*/ 64 h 1068"/>
                <a:gd name="T44" fmla="*/ 703 w 1502"/>
                <a:gd name="T45" fmla="*/ 64 h 1068"/>
                <a:gd name="T46" fmla="*/ 741 w 1502"/>
                <a:gd name="T47" fmla="*/ 64 h 1068"/>
                <a:gd name="T48" fmla="*/ 773 w 1502"/>
                <a:gd name="T49" fmla="*/ 51 h 1068"/>
                <a:gd name="T50" fmla="*/ 812 w 1502"/>
                <a:gd name="T51" fmla="*/ 51 h 1068"/>
                <a:gd name="T52" fmla="*/ 844 w 1502"/>
                <a:gd name="T53" fmla="*/ 38 h 1068"/>
                <a:gd name="T54" fmla="*/ 882 w 1502"/>
                <a:gd name="T55" fmla="*/ 38 h 1068"/>
                <a:gd name="T56" fmla="*/ 920 w 1502"/>
                <a:gd name="T57" fmla="*/ 38 h 1068"/>
                <a:gd name="T58" fmla="*/ 952 w 1502"/>
                <a:gd name="T59" fmla="*/ 38 h 1068"/>
                <a:gd name="T60" fmla="*/ 991 w 1502"/>
                <a:gd name="T61" fmla="*/ 25 h 1068"/>
                <a:gd name="T62" fmla="*/ 1029 w 1502"/>
                <a:gd name="T63" fmla="*/ 25 h 1068"/>
                <a:gd name="T64" fmla="*/ 1061 w 1502"/>
                <a:gd name="T65" fmla="*/ 25 h 1068"/>
                <a:gd name="T66" fmla="*/ 1100 w 1502"/>
                <a:gd name="T67" fmla="*/ 25 h 1068"/>
                <a:gd name="T68" fmla="*/ 1131 w 1502"/>
                <a:gd name="T69" fmla="*/ 25 h 1068"/>
                <a:gd name="T70" fmla="*/ 1170 w 1502"/>
                <a:gd name="T71" fmla="*/ 12 h 1068"/>
                <a:gd name="T72" fmla="*/ 1208 w 1502"/>
                <a:gd name="T73" fmla="*/ 12 h 1068"/>
                <a:gd name="T74" fmla="*/ 1240 w 1502"/>
                <a:gd name="T75" fmla="*/ 12 h 1068"/>
                <a:gd name="T76" fmla="*/ 1279 w 1502"/>
                <a:gd name="T77" fmla="*/ 12 h 1068"/>
                <a:gd name="T78" fmla="*/ 1317 w 1502"/>
                <a:gd name="T79" fmla="*/ 12 h 1068"/>
                <a:gd name="T80" fmla="*/ 1349 w 1502"/>
                <a:gd name="T81" fmla="*/ 12 h 1068"/>
                <a:gd name="T82" fmla="*/ 1387 w 1502"/>
                <a:gd name="T83" fmla="*/ 12 h 1068"/>
                <a:gd name="T84" fmla="*/ 1419 w 1502"/>
                <a:gd name="T85" fmla="*/ 0 h 1068"/>
                <a:gd name="T86" fmla="*/ 1458 w 1502"/>
                <a:gd name="T87" fmla="*/ 0 h 1068"/>
                <a:gd name="T88" fmla="*/ 1496 w 1502"/>
                <a:gd name="T89" fmla="*/ 0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502" h="1068">
                  <a:moveTo>
                    <a:pt x="0" y="1068"/>
                  </a:moveTo>
                  <a:lnTo>
                    <a:pt x="6" y="972"/>
                  </a:lnTo>
                  <a:lnTo>
                    <a:pt x="6" y="889"/>
                  </a:lnTo>
                  <a:lnTo>
                    <a:pt x="19" y="818"/>
                  </a:lnTo>
                  <a:lnTo>
                    <a:pt x="32" y="755"/>
                  </a:lnTo>
                  <a:lnTo>
                    <a:pt x="32" y="710"/>
                  </a:lnTo>
                  <a:lnTo>
                    <a:pt x="44" y="659"/>
                  </a:lnTo>
                  <a:lnTo>
                    <a:pt x="57" y="627"/>
                  </a:lnTo>
                  <a:lnTo>
                    <a:pt x="57" y="588"/>
                  </a:lnTo>
                  <a:lnTo>
                    <a:pt x="70" y="550"/>
                  </a:lnTo>
                  <a:lnTo>
                    <a:pt x="70" y="518"/>
                  </a:lnTo>
                  <a:lnTo>
                    <a:pt x="83" y="492"/>
                  </a:lnTo>
                  <a:lnTo>
                    <a:pt x="89" y="467"/>
                  </a:lnTo>
                  <a:lnTo>
                    <a:pt x="89" y="447"/>
                  </a:lnTo>
                  <a:lnTo>
                    <a:pt x="102" y="435"/>
                  </a:lnTo>
                  <a:lnTo>
                    <a:pt x="115" y="409"/>
                  </a:lnTo>
                  <a:lnTo>
                    <a:pt x="115" y="383"/>
                  </a:lnTo>
                  <a:lnTo>
                    <a:pt x="128" y="371"/>
                  </a:lnTo>
                  <a:lnTo>
                    <a:pt x="140" y="358"/>
                  </a:lnTo>
                  <a:lnTo>
                    <a:pt x="140" y="351"/>
                  </a:lnTo>
                  <a:lnTo>
                    <a:pt x="153" y="339"/>
                  </a:lnTo>
                  <a:lnTo>
                    <a:pt x="153" y="326"/>
                  </a:lnTo>
                  <a:lnTo>
                    <a:pt x="166" y="313"/>
                  </a:lnTo>
                  <a:lnTo>
                    <a:pt x="179" y="300"/>
                  </a:lnTo>
                  <a:lnTo>
                    <a:pt x="179" y="287"/>
                  </a:lnTo>
                  <a:lnTo>
                    <a:pt x="185" y="275"/>
                  </a:lnTo>
                  <a:lnTo>
                    <a:pt x="198" y="262"/>
                  </a:lnTo>
                  <a:lnTo>
                    <a:pt x="211" y="255"/>
                  </a:lnTo>
                  <a:lnTo>
                    <a:pt x="223" y="243"/>
                  </a:lnTo>
                  <a:lnTo>
                    <a:pt x="236" y="230"/>
                  </a:lnTo>
                  <a:lnTo>
                    <a:pt x="249" y="217"/>
                  </a:lnTo>
                  <a:lnTo>
                    <a:pt x="262" y="204"/>
                  </a:lnTo>
                  <a:lnTo>
                    <a:pt x="275" y="204"/>
                  </a:lnTo>
                  <a:lnTo>
                    <a:pt x="281" y="192"/>
                  </a:lnTo>
                  <a:lnTo>
                    <a:pt x="294" y="179"/>
                  </a:lnTo>
                  <a:lnTo>
                    <a:pt x="307" y="179"/>
                  </a:lnTo>
                  <a:lnTo>
                    <a:pt x="319" y="166"/>
                  </a:lnTo>
                  <a:lnTo>
                    <a:pt x="332" y="160"/>
                  </a:lnTo>
                  <a:lnTo>
                    <a:pt x="345" y="160"/>
                  </a:lnTo>
                  <a:lnTo>
                    <a:pt x="358" y="147"/>
                  </a:lnTo>
                  <a:lnTo>
                    <a:pt x="371" y="147"/>
                  </a:lnTo>
                  <a:lnTo>
                    <a:pt x="377" y="134"/>
                  </a:lnTo>
                  <a:lnTo>
                    <a:pt x="390" y="134"/>
                  </a:lnTo>
                  <a:lnTo>
                    <a:pt x="402" y="134"/>
                  </a:lnTo>
                  <a:lnTo>
                    <a:pt x="415" y="121"/>
                  </a:lnTo>
                  <a:lnTo>
                    <a:pt x="428" y="121"/>
                  </a:lnTo>
                  <a:lnTo>
                    <a:pt x="441" y="121"/>
                  </a:lnTo>
                  <a:lnTo>
                    <a:pt x="454" y="108"/>
                  </a:lnTo>
                  <a:lnTo>
                    <a:pt x="466" y="108"/>
                  </a:lnTo>
                  <a:lnTo>
                    <a:pt x="473" y="108"/>
                  </a:lnTo>
                  <a:lnTo>
                    <a:pt x="486" y="96"/>
                  </a:lnTo>
                  <a:lnTo>
                    <a:pt x="498" y="96"/>
                  </a:lnTo>
                  <a:lnTo>
                    <a:pt x="511" y="96"/>
                  </a:lnTo>
                  <a:lnTo>
                    <a:pt x="524" y="96"/>
                  </a:lnTo>
                  <a:lnTo>
                    <a:pt x="537" y="96"/>
                  </a:lnTo>
                  <a:lnTo>
                    <a:pt x="550" y="83"/>
                  </a:lnTo>
                  <a:lnTo>
                    <a:pt x="562" y="83"/>
                  </a:lnTo>
                  <a:lnTo>
                    <a:pt x="569" y="83"/>
                  </a:lnTo>
                  <a:lnTo>
                    <a:pt x="582" y="83"/>
                  </a:lnTo>
                  <a:lnTo>
                    <a:pt x="594" y="70"/>
                  </a:lnTo>
                  <a:lnTo>
                    <a:pt x="607" y="70"/>
                  </a:lnTo>
                  <a:lnTo>
                    <a:pt x="620" y="70"/>
                  </a:lnTo>
                  <a:lnTo>
                    <a:pt x="633" y="70"/>
                  </a:lnTo>
                  <a:lnTo>
                    <a:pt x="645" y="70"/>
                  </a:lnTo>
                  <a:lnTo>
                    <a:pt x="658" y="70"/>
                  </a:lnTo>
                  <a:lnTo>
                    <a:pt x="665" y="64"/>
                  </a:lnTo>
                  <a:lnTo>
                    <a:pt x="677" y="64"/>
                  </a:lnTo>
                  <a:lnTo>
                    <a:pt x="690" y="64"/>
                  </a:lnTo>
                  <a:lnTo>
                    <a:pt x="703" y="64"/>
                  </a:lnTo>
                  <a:lnTo>
                    <a:pt x="716" y="64"/>
                  </a:lnTo>
                  <a:lnTo>
                    <a:pt x="729" y="64"/>
                  </a:lnTo>
                  <a:lnTo>
                    <a:pt x="741" y="64"/>
                  </a:lnTo>
                  <a:lnTo>
                    <a:pt x="748" y="51"/>
                  </a:lnTo>
                  <a:lnTo>
                    <a:pt x="761" y="51"/>
                  </a:lnTo>
                  <a:lnTo>
                    <a:pt x="773" y="51"/>
                  </a:lnTo>
                  <a:lnTo>
                    <a:pt x="786" y="51"/>
                  </a:lnTo>
                  <a:lnTo>
                    <a:pt x="799" y="51"/>
                  </a:lnTo>
                  <a:lnTo>
                    <a:pt x="812" y="51"/>
                  </a:lnTo>
                  <a:lnTo>
                    <a:pt x="825" y="51"/>
                  </a:lnTo>
                  <a:lnTo>
                    <a:pt x="837" y="51"/>
                  </a:lnTo>
                  <a:lnTo>
                    <a:pt x="844" y="38"/>
                  </a:lnTo>
                  <a:lnTo>
                    <a:pt x="857" y="38"/>
                  </a:lnTo>
                  <a:lnTo>
                    <a:pt x="869" y="38"/>
                  </a:lnTo>
                  <a:lnTo>
                    <a:pt x="882" y="38"/>
                  </a:lnTo>
                  <a:lnTo>
                    <a:pt x="895" y="38"/>
                  </a:lnTo>
                  <a:lnTo>
                    <a:pt x="908" y="38"/>
                  </a:lnTo>
                  <a:lnTo>
                    <a:pt x="920" y="38"/>
                  </a:lnTo>
                  <a:lnTo>
                    <a:pt x="933" y="38"/>
                  </a:lnTo>
                  <a:lnTo>
                    <a:pt x="940" y="38"/>
                  </a:lnTo>
                  <a:lnTo>
                    <a:pt x="952" y="38"/>
                  </a:lnTo>
                  <a:lnTo>
                    <a:pt x="965" y="38"/>
                  </a:lnTo>
                  <a:lnTo>
                    <a:pt x="978" y="25"/>
                  </a:lnTo>
                  <a:lnTo>
                    <a:pt x="991" y="25"/>
                  </a:lnTo>
                  <a:lnTo>
                    <a:pt x="1004" y="25"/>
                  </a:lnTo>
                  <a:lnTo>
                    <a:pt x="1016" y="25"/>
                  </a:lnTo>
                  <a:lnTo>
                    <a:pt x="1029" y="25"/>
                  </a:lnTo>
                  <a:lnTo>
                    <a:pt x="1036" y="25"/>
                  </a:lnTo>
                  <a:lnTo>
                    <a:pt x="1048" y="25"/>
                  </a:lnTo>
                  <a:lnTo>
                    <a:pt x="1061" y="25"/>
                  </a:lnTo>
                  <a:lnTo>
                    <a:pt x="1074" y="25"/>
                  </a:lnTo>
                  <a:lnTo>
                    <a:pt x="1087" y="25"/>
                  </a:lnTo>
                  <a:lnTo>
                    <a:pt x="1100" y="25"/>
                  </a:lnTo>
                  <a:lnTo>
                    <a:pt x="1112" y="25"/>
                  </a:lnTo>
                  <a:lnTo>
                    <a:pt x="1125" y="25"/>
                  </a:lnTo>
                  <a:lnTo>
                    <a:pt x="1131" y="25"/>
                  </a:lnTo>
                  <a:lnTo>
                    <a:pt x="1144" y="25"/>
                  </a:lnTo>
                  <a:lnTo>
                    <a:pt x="1157" y="12"/>
                  </a:lnTo>
                  <a:lnTo>
                    <a:pt x="1170" y="12"/>
                  </a:lnTo>
                  <a:lnTo>
                    <a:pt x="1183" y="12"/>
                  </a:lnTo>
                  <a:lnTo>
                    <a:pt x="1195" y="12"/>
                  </a:lnTo>
                  <a:lnTo>
                    <a:pt x="1208" y="12"/>
                  </a:lnTo>
                  <a:lnTo>
                    <a:pt x="1221" y="12"/>
                  </a:lnTo>
                  <a:lnTo>
                    <a:pt x="1227" y="12"/>
                  </a:lnTo>
                  <a:lnTo>
                    <a:pt x="1240" y="12"/>
                  </a:lnTo>
                  <a:lnTo>
                    <a:pt x="1253" y="12"/>
                  </a:lnTo>
                  <a:lnTo>
                    <a:pt x="1266" y="12"/>
                  </a:lnTo>
                  <a:lnTo>
                    <a:pt x="1279" y="12"/>
                  </a:lnTo>
                  <a:lnTo>
                    <a:pt x="1291" y="12"/>
                  </a:lnTo>
                  <a:lnTo>
                    <a:pt x="1304" y="12"/>
                  </a:lnTo>
                  <a:lnTo>
                    <a:pt x="1317" y="12"/>
                  </a:lnTo>
                  <a:lnTo>
                    <a:pt x="1323" y="12"/>
                  </a:lnTo>
                  <a:lnTo>
                    <a:pt x="1336" y="12"/>
                  </a:lnTo>
                  <a:lnTo>
                    <a:pt x="1349" y="12"/>
                  </a:lnTo>
                  <a:lnTo>
                    <a:pt x="1362" y="12"/>
                  </a:lnTo>
                  <a:lnTo>
                    <a:pt x="1374" y="12"/>
                  </a:lnTo>
                  <a:lnTo>
                    <a:pt x="1387" y="12"/>
                  </a:lnTo>
                  <a:lnTo>
                    <a:pt x="1400" y="12"/>
                  </a:lnTo>
                  <a:lnTo>
                    <a:pt x="1413" y="0"/>
                  </a:lnTo>
                  <a:lnTo>
                    <a:pt x="1419" y="0"/>
                  </a:lnTo>
                  <a:lnTo>
                    <a:pt x="1432" y="0"/>
                  </a:lnTo>
                  <a:lnTo>
                    <a:pt x="1445" y="0"/>
                  </a:lnTo>
                  <a:lnTo>
                    <a:pt x="1458" y="0"/>
                  </a:lnTo>
                  <a:lnTo>
                    <a:pt x="1470" y="0"/>
                  </a:lnTo>
                  <a:lnTo>
                    <a:pt x="1483" y="0"/>
                  </a:lnTo>
                  <a:lnTo>
                    <a:pt x="1496" y="0"/>
                  </a:lnTo>
                  <a:lnTo>
                    <a:pt x="1502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3" name="Rectangle 1041"/>
            <p:cNvSpPr>
              <a:spLocks noChangeArrowheads="1"/>
            </p:cNvSpPr>
            <p:nvPr/>
          </p:nvSpPr>
          <p:spPr bwMode="auto">
            <a:xfrm>
              <a:off x="5013" y="3034"/>
              <a:ext cx="1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Symbol" panose="05050102010706020507" pitchFamily="18" charset="2"/>
                </a:rPr>
                <a:t>w</a:t>
              </a:r>
              <a:endParaRPr lang="en-US" altLang="zh-CN"/>
            </a:p>
          </p:txBody>
        </p:sp>
        <p:graphicFrame>
          <p:nvGraphicFramePr>
            <p:cNvPr id="34834" name="Object 1042"/>
            <p:cNvGraphicFramePr>
              <a:graphicFrameLocks noChangeAspect="1"/>
            </p:cNvGraphicFramePr>
            <p:nvPr/>
          </p:nvGraphicFramePr>
          <p:xfrm>
            <a:off x="3914" y="2130"/>
            <a:ext cx="1043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89" name="公式" r:id="rId11" imgW="660240" imgH="228600" progId="Equation.3">
                    <p:embed/>
                  </p:oleObj>
                </mc:Choice>
                <mc:Fallback>
                  <p:oleObj name="公式" r:id="rId11" imgW="660240" imgH="228600" progId="Equation.3">
                    <p:embed/>
                    <p:pic>
                      <p:nvPicPr>
                        <p:cNvPr id="34834" name="Object 10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4" y="2130"/>
                          <a:ext cx="1043" cy="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5" name="Object 1043"/>
            <p:cNvGraphicFramePr>
              <a:graphicFrameLocks noChangeAspect="1"/>
            </p:cNvGraphicFramePr>
            <p:nvPr/>
          </p:nvGraphicFramePr>
          <p:xfrm>
            <a:off x="3466" y="1989"/>
            <a:ext cx="258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90" name="公式" r:id="rId13" imgW="164880" imgH="164880" progId="Equation.3">
                    <p:embed/>
                  </p:oleObj>
                </mc:Choice>
                <mc:Fallback>
                  <p:oleObj name="公式" r:id="rId13" imgW="164880" imgH="164880" progId="Equation.3">
                    <p:embed/>
                    <p:pic>
                      <p:nvPicPr>
                        <p:cNvPr id="34835" name="Object 10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6" y="1989"/>
                          <a:ext cx="258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6" name="Object 1044"/>
            <p:cNvGraphicFramePr>
              <a:graphicFrameLocks noChangeAspect="1"/>
            </p:cNvGraphicFramePr>
            <p:nvPr/>
          </p:nvGraphicFramePr>
          <p:xfrm>
            <a:off x="2885" y="3600"/>
            <a:ext cx="461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91" name="公式" r:id="rId15" imgW="291960" imgH="228600" progId="Equation.3">
                    <p:embed/>
                  </p:oleObj>
                </mc:Choice>
                <mc:Fallback>
                  <p:oleObj name="公式" r:id="rId15" imgW="291960" imgH="228600" progId="Equation.3">
                    <p:embed/>
                    <p:pic>
                      <p:nvPicPr>
                        <p:cNvPr id="34836" name="Object 10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5" y="3600"/>
                          <a:ext cx="461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4837" name="Group 1045"/>
            <p:cNvGrpSpPr>
              <a:grpSpLocks/>
            </p:cNvGrpSpPr>
            <p:nvPr/>
          </p:nvGrpSpPr>
          <p:grpSpPr bwMode="auto">
            <a:xfrm>
              <a:off x="3374" y="3186"/>
              <a:ext cx="144" cy="618"/>
              <a:chOff x="3375" y="3174"/>
              <a:chExt cx="144" cy="618"/>
            </a:xfrm>
          </p:grpSpPr>
          <p:sp>
            <p:nvSpPr>
              <p:cNvPr id="34838" name="Line 1046"/>
              <p:cNvSpPr>
                <a:spLocks noChangeShapeType="1"/>
              </p:cNvSpPr>
              <p:nvPr/>
            </p:nvSpPr>
            <p:spPr bwMode="auto">
              <a:xfrm flipV="1">
                <a:off x="3375" y="3790"/>
                <a:ext cx="144" cy="2"/>
              </a:xfrm>
              <a:prstGeom prst="line">
                <a:avLst/>
              </a:prstGeom>
              <a:noFill/>
              <a:ln w="6350" cap="rnd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39" name="Line 1047"/>
              <p:cNvSpPr>
                <a:spLocks noChangeShapeType="1"/>
              </p:cNvSpPr>
              <p:nvPr/>
            </p:nvSpPr>
            <p:spPr bwMode="auto">
              <a:xfrm flipV="1">
                <a:off x="3510" y="3174"/>
                <a:ext cx="0" cy="618"/>
              </a:xfrm>
              <a:prstGeom prst="line">
                <a:avLst/>
              </a:prstGeom>
              <a:noFill/>
              <a:ln w="6350" cap="rnd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4840" name="Object 1048"/>
            <p:cNvGraphicFramePr>
              <a:graphicFrameLocks noChangeAspect="1"/>
            </p:cNvGraphicFramePr>
            <p:nvPr/>
          </p:nvGraphicFramePr>
          <p:xfrm>
            <a:off x="2829" y="3173"/>
            <a:ext cx="502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92" name="公式" r:id="rId17" imgW="317160" imgH="241200" progId="Equation.3">
                    <p:embed/>
                  </p:oleObj>
                </mc:Choice>
                <mc:Fallback>
                  <p:oleObj name="公式" r:id="rId17" imgW="317160" imgH="241200" progId="Equation.3">
                    <p:embed/>
                    <p:pic>
                      <p:nvPicPr>
                        <p:cNvPr id="34840" name="Object 10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9" y="3173"/>
                          <a:ext cx="502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41" name="Object 1049"/>
            <p:cNvGraphicFramePr>
              <a:graphicFrameLocks noChangeAspect="1"/>
            </p:cNvGraphicFramePr>
            <p:nvPr/>
          </p:nvGraphicFramePr>
          <p:xfrm>
            <a:off x="3832" y="2484"/>
            <a:ext cx="360" cy="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93" name="公式" r:id="rId19" imgW="228600" imgH="444240" progId="Equation.3">
                    <p:embed/>
                  </p:oleObj>
                </mc:Choice>
                <mc:Fallback>
                  <p:oleObj name="公式" r:id="rId19" imgW="228600" imgH="444240" progId="Equation.3">
                    <p:embed/>
                    <p:pic>
                      <p:nvPicPr>
                        <p:cNvPr id="34841" name="Object 10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2" y="2484"/>
                          <a:ext cx="360" cy="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8317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模拟频率变换</a:t>
            </a:r>
          </a:p>
        </p:txBody>
      </p:sp>
      <p:sp>
        <p:nvSpPr>
          <p:cNvPr id="35843" name="Rectangle 1027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4" name="Text Box 1028"/>
          <p:cNvSpPr txBox="1">
            <a:spLocks noChangeArrowheads="1"/>
          </p:cNvSpPr>
          <p:nvPr/>
        </p:nvSpPr>
        <p:spPr bwMode="auto">
          <a:xfrm>
            <a:off x="1828800" y="1219201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3. </a:t>
            </a:r>
            <a:r>
              <a:rPr lang="zh-CN" altLang="en-US" sz="2800" b="1"/>
              <a:t>原型低通到带通的变换</a:t>
            </a:r>
          </a:p>
        </p:txBody>
      </p:sp>
      <p:sp>
        <p:nvSpPr>
          <p:cNvPr id="35845" name="Text Box 1029"/>
          <p:cNvSpPr txBox="1">
            <a:spLocks noChangeArrowheads="1"/>
          </p:cNvSpPr>
          <p:nvPr/>
        </p:nvSpPr>
        <p:spPr bwMode="auto">
          <a:xfrm>
            <a:off x="4364038" y="6019800"/>
            <a:ext cx="40179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模拟带通</a:t>
            </a:r>
            <a:r>
              <a:rPr lang="zh-CN" altLang="en-US">
                <a:solidFill>
                  <a:srgbClr val="000000"/>
                </a:solidFill>
              </a:rPr>
              <a:t>滤波器的幅度响应</a:t>
            </a:r>
          </a:p>
        </p:txBody>
      </p:sp>
      <p:graphicFrame>
        <p:nvGraphicFramePr>
          <p:cNvPr id="35846" name="Object 1030"/>
          <p:cNvGraphicFramePr>
            <a:graphicFrameLocks noChangeAspect="1"/>
          </p:cNvGraphicFramePr>
          <p:nvPr/>
        </p:nvGraphicFramePr>
        <p:xfrm>
          <a:off x="2759076" y="1979614"/>
          <a:ext cx="7040563" cy="412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3" name="Visio" r:id="rId3" imgW="2838907" imgH="1662074" progId="Visio.Drawing.6">
                  <p:embed/>
                </p:oleObj>
              </mc:Choice>
              <mc:Fallback>
                <p:oleObj name="Visio" r:id="rId3" imgW="2838907" imgH="1662074" progId="Visio.Drawing.6">
                  <p:embed/>
                  <p:pic>
                    <p:nvPicPr>
                      <p:cNvPr id="35846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076" y="1979614"/>
                        <a:ext cx="7040563" cy="412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037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模拟频率变换</a:t>
            </a: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1828800" y="1143001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3. </a:t>
            </a:r>
            <a:r>
              <a:rPr lang="zh-CN" altLang="en-US" sz="2800" b="1"/>
              <a:t>原型低通到带通的变换</a:t>
            </a:r>
          </a:p>
        </p:txBody>
      </p:sp>
      <p:graphicFrame>
        <p:nvGraphicFramePr>
          <p:cNvPr id="37893" name="Object 5"/>
          <p:cNvGraphicFramePr>
            <a:graphicFrameLocks noChangeAspect="1"/>
          </p:cNvGraphicFramePr>
          <p:nvPr/>
        </p:nvGraphicFramePr>
        <p:xfrm>
          <a:off x="4679951" y="1754189"/>
          <a:ext cx="3025775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5" name="公式" r:id="rId3" imgW="1257120" imgH="469800" progId="Equation.3">
                  <p:embed/>
                </p:oleObj>
              </mc:Choice>
              <mc:Fallback>
                <p:oleObj name="公式" r:id="rId3" imgW="1257120" imgH="469800" progId="Equation.3">
                  <p:embed/>
                  <p:pic>
                    <p:nvPicPr>
                      <p:cNvPr id="378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1" y="1754189"/>
                        <a:ext cx="3025775" cy="112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7"/>
          <p:cNvGraphicFramePr>
            <a:graphicFrameLocks noChangeAspect="1"/>
          </p:cNvGraphicFramePr>
          <p:nvPr/>
        </p:nvGraphicFramePr>
        <p:xfrm>
          <a:off x="2673350" y="2949576"/>
          <a:ext cx="304323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6" name="Equation" r:id="rId5" imgW="1218960" imgH="228600" progId="Equation.3">
                  <p:embed/>
                </p:oleObj>
              </mc:Choice>
              <mc:Fallback>
                <p:oleObj name="Equation" r:id="rId5" imgW="1218960" imgH="228600" progId="Equation.3">
                  <p:embed/>
                  <p:pic>
                    <p:nvPicPr>
                      <p:cNvPr id="378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2949576"/>
                        <a:ext cx="3043238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8"/>
          <p:cNvGraphicFramePr>
            <a:graphicFrameLocks noChangeAspect="1"/>
          </p:cNvGraphicFramePr>
          <p:nvPr/>
        </p:nvGraphicFramePr>
        <p:xfrm>
          <a:off x="6561139" y="2895601"/>
          <a:ext cx="18446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7" name="Equation" r:id="rId7" imgW="736560" imgH="253800" progId="Equation.3">
                  <p:embed/>
                </p:oleObj>
              </mc:Choice>
              <mc:Fallback>
                <p:oleObj name="Equation" r:id="rId7" imgW="736560" imgH="253800" progId="Equation.3">
                  <p:embed/>
                  <p:pic>
                    <p:nvPicPr>
                      <p:cNvPr id="378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1139" y="2895601"/>
                        <a:ext cx="184467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9"/>
          <p:cNvGraphicFramePr>
            <a:graphicFrameLocks noChangeAspect="1"/>
          </p:cNvGraphicFramePr>
          <p:nvPr/>
        </p:nvGraphicFramePr>
        <p:xfrm>
          <a:off x="1920875" y="3443289"/>
          <a:ext cx="53086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8" name="Equation" r:id="rId9" imgW="2209680" imgH="393480" progId="Equation.3">
                  <p:embed/>
                </p:oleObj>
              </mc:Choice>
              <mc:Fallback>
                <p:oleObj name="Equation" r:id="rId9" imgW="2209680" imgH="393480" progId="Equation.3">
                  <p:embed/>
                  <p:pic>
                    <p:nvPicPr>
                      <p:cNvPr id="3789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5" y="3443289"/>
                        <a:ext cx="5308600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8" name="Object 10"/>
          <p:cNvGraphicFramePr>
            <a:graphicFrameLocks noChangeAspect="1"/>
          </p:cNvGraphicFramePr>
          <p:nvPr/>
        </p:nvGraphicFramePr>
        <p:xfrm>
          <a:off x="3413126" y="4495800"/>
          <a:ext cx="472757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9" name="公式" r:id="rId11" imgW="1892160" imgH="291960" progId="Equation.3">
                  <p:embed/>
                </p:oleObj>
              </mc:Choice>
              <mc:Fallback>
                <p:oleObj name="公式" r:id="rId11" imgW="1892160" imgH="291960" progId="Equation.3">
                  <p:embed/>
                  <p:pic>
                    <p:nvPicPr>
                      <p:cNvPr id="378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26" y="4495800"/>
                        <a:ext cx="4727575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9" name="Group 11"/>
          <p:cNvGrpSpPr>
            <a:grpSpLocks/>
          </p:cNvGrpSpPr>
          <p:nvPr/>
        </p:nvGrpSpPr>
        <p:grpSpPr bwMode="auto">
          <a:xfrm>
            <a:off x="2057401" y="5164138"/>
            <a:ext cx="6272213" cy="482600"/>
            <a:chOff x="816" y="2677"/>
            <a:chExt cx="3951" cy="304"/>
          </a:xfrm>
        </p:grpSpPr>
        <p:sp>
          <p:nvSpPr>
            <p:cNvPr id="37900" name="Rectangle 12"/>
            <p:cNvSpPr>
              <a:spLocks noChangeArrowheads="1"/>
            </p:cNvSpPr>
            <p:nvPr/>
          </p:nvSpPr>
          <p:spPr bwMode="auto">
            <a:xfrm>
              <a:off x="816" y="2712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取</a:t>
              </a:r>
              <a:endParaRPr lang="zh-CN" altLang="en-US" sz="2800"/>
            </a:p>
          </p:txBody>
        </p:sp>
        <p:sp>
          <p:nvSpPr>
            <p:cNvPr id="37901" name="Rectangle 13"/>
            <p:cNvSpPr>
              <a:spLocks noChangeArrowheads="1"/>
            </p:cNvSpPr>
            <p:nvPr/>
          </p:nvSpPr>
          <p:spPr bwMode="auto">
            <a:xfrm>
              <a:off x="1056" y="2704"/>
              <a:ext cx="10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>
                  <a:solidFill>
                    <a:srgbClr val="000000"/>
                  </a:solidFill>
                </a:rPr>
                <a:t>+</a:t>
              </a:r>
              <a:endParaRPr lang="en-US" altLang="zh-CN" sz="2800"/>
            </a:p>
          </p:txBody>
        </p:sp>
        <p:sp>
          <p:nvSpPr>
            <p:cNvPr id="37902" name="Rectangle 14"/>
            <p:cNvSpPr>
              <a:spLocks noChangeArrowheads="1"/>
            </p:cNvSpPr>
            <p:nvPr/>
          </p:nvSpPr>
          <p:spPr bwMode="auto">
            <a:xfrm>
              <a:off x="1192" y="2712"/>
              <a:ext cx="11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号时，无论</a:t>
              </a:r>
              <a:endParaRPr lang="zh-CN" altLang="en-US" sz="2800"/>
            </a:p>
          </p:txBody>
        </p:sp>
        <p:grpSp>
          <p:nvGrpSpPr>
            <p:cNvPr id="37903" name="Group 15"/>
            <p:cNvGrpSpPr>
              <a:grpSpLocks/>
            </p:cNvGrpSpPr>
            <p:nvPr/>
          </p:nvGrpSpPr>
          <p:grpSpPr bwMode="auto">
            <a:xfrm>
              <a:off x="2410" y="2678"/>
              <a:ext cx="201" cy="269"/>
              <a:chOff x="2410" y="2678"/>
              <a:chExt cx="201" cy="269"/>
            </a:xfrm>
          </p:grpSpPr>
          <p:sp>
            <p:nvSpPr>
              <p:cNvPr id="37904" name="Line 16"/>
              <p:cNvSpPr>
                <a:spLocks noChangeShapeType="1"/>
              </p:cNvSpPr>
              <p:nvPr/>
            </p:nvSpPr>
            <p:spPr bwMode="auto">
              <a:xfrm>
                <a:off x="2443" y="2771"/>
                <a:ext cx="168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05" name="Rectangle 17"/>
              <p:cNvSpPr>
                <a:spLocks noChangeArrowheads="1"/>
              </p:cNvSpPr>
              <p:nvPr/>
            </p:nvSpPr>
            <p:spPr bwMode="auto">
              <a:xfrm>
                <a:off x="2410" y="2678"/>
                <a:ext cx="15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800" i="1">
                    <a:solidFill>
                      <a:srgbClr val="000000"/>
                    </a:solidFill>
                    <a:latin typeface="Symbol" panose="05050102010706020507" pitchFamily="18" charset="2"/>
                  </a:rPr>
                  <a:t>w</a:t>
                </a:r>
                <a:endParaRPr lang="en-US" altLang="zh-CN" sz="2800"/>
              </a:p>
            </p:txBody>
          </p:sp>
        </p:grpSp>
        <p:sp>
          <p:nvSpPr>
            <p:cNvPr id="37906" name="Rectangle 18"/>
            <p:cNvSpPr>
              <a:spLocks noChangeArrowheads="1"/>
            </p:cNvSpPr>
            <p:nvPr/>
          </p:nvSpPr>
          <p:spPr bwMode="auto">
            <a:xfrm>
              <a:off x="2655" y="2712"/>
              <a:ext cx="11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怎样变化，</a:t>
              </a:r>
              <a:endParaRPr lang="zh-CN" altLang="en-US" sz="2800"/>
            </a:p>
          </p:txBody>
        </p:sp>
        <p:sp>
          <p:nvSpPr>
            <p:cNvPr id="37907" name="Rectangle 19"/>
            <p:cNvSpPr>
              <a:spLocks noChangeArrowheads="1"/>
            </p:cNvSpPr>
            <p:nvPr/>
          </p:nvSpPr>
          <p:spPr bwMode="auto">
            <a:xfrm>
              <a:off x="3874" y="2677"/>
              <a:ext cx="15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i="1">
                  <a:solidFill>
                    <a:srgbClr val="000000"/>
                  </a:solidFill>
                  <a:latin typeface="Symbol" panose="05050102010706020507" pitchFamily="18" charset="2"/>
                </a:rPr>
                <a:t>w</a:t>
              </a:r>
              <a:endParaRPr lang="en-US" altLang="zh-CN" sz="2800"/>
            </a:p>
          </p:txBody>
        </p:sp>
        <p:sp>
          <p:nvSpPr>
            <p:cNvPr id="37908" name="Rectangle 20"/>
            <p:cNvSpPr>
              <a:spLocks noChangeArrowheads="1"/>
            </p:cNvSpPr>
            <p:nvPr/>
          </p:nvSpPr>
          <p:spPr bwMode="auto">
            <a:xfrm>
              <a:off x="4095" y="2712"/>
              <a:ext cx="67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均为正</a:t>
              </a:r>
              <a:endParaRPr lang="zh-CN" altLang="en-US" sz="2800"/>
            </a:p>
          </p:txBody>
        </p:sp>
      </p:grpSp>
      <p:grpSp>
        <p:nvGrpSpPr>
          <p:cNvPr id="37909" name="Group 21"/>
          <p:cNvGrpSpPr>
            <a:grpSpLocks/>
          </p:cNvGrpSpPr>
          <p:nvPr/>
        </p:nvGrpSpPr>
        <p:grpSpPr bwMode="auto">
          <a:xfrm>
            <a:off x="2057401" y="5811838"/>
            <a:ext cx="6411913" cy="482600"/>
            <a:chOff x="672" y="3109"/>
            <a:chExt cx="4039" cy="304"/>
          </a:xfrm>
        </p:grpSpPr>
        <p:sp>
          <p:nvSpPr>
            <p:cNvPr id="37910" name="Rectangle 22"/>
            <p:cNvSpPr>
              <a:spLocks noChangeArrowheads="1"/>
            </p:cNvSpPr>
            <p:nvPr/>
          </p:nvSpPr>
          <p:spPr bwMode="auto">
            <a:xfrm>
              <a:off x="672" y="3144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取</a:t>
              </a:r>
              <a:endParaRPr lang="zh-CN" altLang="en-US" sz="2800"/>
            </a:p>
          </p:txBody>
        </p:sp>
        <p:sp>
          <p:nvSpPr>
            <p:cNvPr id="37911" name="Rectangle 23"/>
            <p:cNvSpPr>
              <a:spLocks noChangeArrowheads="1"/>
            </p:cNvSpPr>
            <p:nvPr/>
          </p:nvSpPr>
          <p:spPr bwMode="auto">
            <a:xfrm>
              <a:off x="960" y="3136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zh-CN" sz="2800"/>
            </a:p>
          </p:txBody>
        </p:sp>
        <p:sp>
          <p:nvSpPr>
            <p:cNvPr id="37912" name="Rectangle 24"/>
            <p:cNvSpPr>
              <a:spLocks noChangeArrowheads="1"/>
            </p:cNvSpPr>
            <p:nvPr/>
          </p:nvSpPr>
          <p:spPr bwMode="auto">
            <a:xfrm>
              <a:off x="1136" y="3144"/>
              <a:ext cx="11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号时，无论</a:t>
              </a:r>
              <a:endParaRPr lang="zh-CN" altLang="en-US" sz="2800"/>
            </a:p>
          </p:txBody>
        </p:sp>
        <p:grpSp>
          <p:nvGrpSpPr>
            <p:cNvPr id="37913" name="Group 25"/>
            <p:cNvGrpSpPr>
              <a:grpSpLocks/>
            </p:cNvGrpSpPr>
            <p:nvPr/>
          </p:nvGrpSpPr>
          <p:grpSpPr bwMode="auto">
            <a:xfrm>
              <a:off x="2354" y="3110"/>
              <a:ext cx="201" cy="269"/>
              <a:chOff x="2354" y="3110"/>
              <a:chExt cx="201" cy="269"/>
            </a:xfrm>
          </p:grpSpPr>
          <p:sp>
            <p:nvSpPr>
              <p:cNvPr id="37914" name="Line 26"/>
              <p:cNvSpPr>
                <a:spLocks noChangeShapeType="1"/>
              </p:cNvSpPr>
              <p:nvPr/>
            </p:nvSpPr>
            <p:spPr bwMode="auto">
              <a:xfrm>
                <a:off x="2387" y="3203"/>
                <a:ext cx="168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15" name="Rectangle 27"/>
              <p:cNvSpPr>
                <a:spLocks noChangeArrowheads="1"/>
              </p:cNvSpPr>
              <p:nvPr/>
            </p:nvSpPr>
            <p:spPr bwMode="auto">
              <a:xfrm>
                <a:off x="2354" y="3110"/>
                <a:ext cx="15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800" i="1">
                    <a:solidFill>
                      <a:srgbClr val="000000"/>
                    </a:solidFill>
                    <a:latin typeface="Symbol" panose="05050102010706020507" pitchFamily="18" charset="2"/>
                  </a:rPr>
                  <a:t>w</a:t>
                </a:r>
                <a:endParaRPr lang="en-US" altLang="zh-CN" sz="2800"/>
              </a:p>
            </p:txBody>
          </p:sp>
        </p:grpSp>
        <p:sp>
          <p:nvSpPr>
            <p:cNvPr id="37916" name="Rectangle 28"/>
            <p:cNvSpPr>
              <a:spLocks noChangeArrowheads="1"/>
            </p:cNvSpPr>
            <p:nvPr/>
          </p:nvSpPr>
          <p:spPr bwMode="auto">
            <a:xfrm>
              <a:off x="2599" y="3144"/>
              <a:ext cx="11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怎样变化，</a:t>
              </a:r>
              <a:endParaRPr lang="zh-CN" altLang="en-US" sz="2800"/>
            </a:p>
          </p:txBody>
        </p:sp>
        <p:sp>
          <p:nvSpPr>
            <p:cNvPr id="37917" name="Rectangle 29"/>
            <p:cNvSpPr>
              <a:spLocks noChangeArrowheads="1"/>
            </p:cNvSpPr>
            <p:nvPr/>
          </p:nvSpPr>
          <p:spPr bwMode="auto">
            <a:xfrm>
              <a:off x="3817" y="3109"/>
              <a:ext cx="15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i="1">
                  <a:solidFill>
                    <a:srgbClr val="000000"/>
                  </a:solidFill>
                  <a:latin typeface="Symbol" panose="05050102010706020507" pitchFamily="18" charset="2"/>
                </a:rPr>
                <a:t>w</a:t>
              </a:r>
              <a:endParaRPr lang="en-US" altLang="zh-CN" sz="2800"/>
            </a:p>
          </p:txBody>
        </p:sp>
        <p:sp>
          <p:nvSpPr>
            <p:cNvPr id="37918" name="Rectangle 30"/>
            <p:cNvSpPr>
              <a:spLocks noChangeArrowheads="1"/>
            </p:cNvSpPr>
            <p:nvPr/>
          </p:nvSpPr>
          <p:spPr bwMode="auto">
            <a:xfrm>
              <a:off x="4039" y="3144"/>
              <a:ext cx="67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均为负</a:t>
              </a:r>
              <a:endParaRPr lang="zh-CN" altLang="en-US" sz="2800"/>
            </a:p>
          </p:txBody>
        </p:sp>
      </p:grpSp>
      <p:sp>
        <p:nvSpPr>
          <p:cNvPr id="37920" name="AutoShape 32"/>
          <p:cNvSpPr>
            <a:spLocks noChangeArrowheads="1"/>
          </p:cNvSpPr>
          <p:nvPr/>
        </p:nvSpPr>
        <p:spPr bwMode="auto">
          <a:xfrm>
            <a:off x="8839200" y="5715000"/>
            <a:ext cx="1600200" cy="838200"/>
          </a:xfrm>
          <a:prstGeom prst="wedgeRoundRectCallout">
            <a:avLst>
              <a:gd name="adj1" fmla="val -71625"/>
              <a:gd name="adj2" fmla="val -80301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/>
              <a:t>只讨论取</a:t>
            </a:r>
            <a:r>
              <a:rPr lang="en-US" altLang="zh-CN" b="1"/>
              <a:t>+</a:t>
            </a:r>
            <a:r>
              <a:rPr lang="zh-CN" altLang="en-US" b="1"/>
              <a:t>号情况</a:t>
            </a:r>
          </a:p>
        </p:txBody>
      </p:sp>
    </p:spTree>
    <p:extLst>
      <p:ext uri="{BB962C8B-B14F-4D97-AF65-F5344CB8AC3E}">
        <p14:creationId xmlns:p14="http://schemas.microsoft.com/office/powerpoint/2010/main" val="28276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0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模拟频率变换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828800" y="1157288"/>
            <a:ext cx="5791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3. </a:t>
            </a:r>
            <a:r>
              <a:rPr lang="zh-CN" altLang="en-US" sz="2800" b="1"/>
              <a:t>原型低通到带通的变换</a:t>
            </a:r>
          </a:p>
        </p:txBody>
      </p:sp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4419601" y="1143001"/>
          <a:ext cx="6189663" cy="370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76" name="Visio" r:id="rId3" imgW="2574341" imgH="1542288" progId="Visio.Drawing.6">
                  <p:embed/>
                </p:oleObj>
              </mc:Choice>
              <mc:Fallback>
                <p:oleObj name="Visio" r:id="rId3" imgW="2574341" imgH="1542288" progId="Visio.Drawing.6">
                  <p:embed/>
                  <p:pic>
                    <p:nvPicPr>
                      <p:cNvPr id="389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1" y="1143001"/>
                        <a:ext cx="6189663" cy="370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1" name="Object 9"/>
          <p:cNvGraphicFramePr>
            <a:graphicFrameLocks noChangeAspect="1"/>
          </p:cNvGraphicFramePr>
          <p:nvPr/>
        </p:nvGraphicFramePr>
        <p:xfrm>
          <a:off x="1905000" y="2057400"/>
          <a:ext cx="343535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77" name="公式" r:id="rId5" imgW="1562040" imgH="482400" progId="Equation.3">
                  <p:embed/>
                </p:oleObj>
              </mc:Choice>
              <mc:Fallback>
                <p:oleObj name="公式" r:id="rId5" imgW="1562040" imgH="482400" progId="Equation.3">
                  <p:embed/>
                  <p:pic>
                    <p:nvPicPr>
                      <p:cNvPr id="389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057400"/>
                        <a:ext cx="343535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2" name="Object 10"/>
          <p:cNvGraphicFramePr>
            <a:graphicFrameLocks noChangeAspect="1"/>
          </p:cNvGraphicFramePr>
          <p:nvPr/>
        </p:nvGraphicFramePr>
        <p:xfrm>
          <a:off x="1905000" y="3276600"/>
          <a:ext cx="329565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78" name="公式" r:id="rId7" imgW="1498320" imgH="482400" progId="Equation.3">
                  <p:embed/>
                </p:oleObj>
              </mc:Choice>
              <mc:Fallback>
                <p:oleObj name="公式" r:id="rId7" imgW="1498320" imgH="482400" progId="Equation.3">
                  <p:embed/>
                  <p:pic>
                    <p:nvPicPr>
                      <p:cNvPr id="389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276600"/>
                        <a:ext cx="329565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3" name="Object 11"/>
          <p:cNvGraphicFramePr>
            <a:graphicFrameLocks noChangeAspect="1"/>
          </p:cNvGraphicFramePr>
          <p:nvPr/>
        </p:nvGraphicFramePr>
        <p:xfrm>
          <a:off x="2419351" y="4840289"/>
          <a:ext cx="2708275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79" name="Equation" r:id="rId9" imgW="1231560" imgH="444240" progId="Equation.3">
                  <p:embed/>
                </p:oleObj>
              </mc:Choice>
              <mc:Fallback>
                <p:oleObj name="Equation" r:id="rId9" imgW="1231560" imgH="444240" progId="Equation.3">
                  <p:embed/>
                  <p:pic>
                    <p:nvPicPr>
                      <p:cNvPr id="389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1" y="4840289"/>
                        <a:ext cx="2708275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Object 12"/>
          <p:cNvGraphicFramePr>
            <a:graphicFrameLocks noChangeAspect="1"/>
          </p:cNvGraphicFramePr>
          <p:nvPr/>
        </p:nvGraphicFramePr>
        <p:xfrm>
          <a:off x="6589714" y="4841875"/>
          <a:ext cx="27654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0" name="Equation" r:id="rId11" imgW="1257120" imgH="444240" progId="Equation.3">
                  <p:embed/>
                </p:oleObj>
              </mc:Choice>
              <mc:Fallback>
                <p:oleObj name="Equation" r:id="rId11" imgW="1257120" imgH="444240" progId="Equation.3">
                  <p:embed/>
                  <p:pic>
                    <p:nvPicPr>
                      <p:cNvPr id="389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9714" y="4841875"/>
                        <a:ext cx="276542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5" name="Object 13"/>
          <p:cNvGraphicFramePr>
            <a:graphicFrameLocks noChangeAspect="1"/>
          </p:cNvGraphicFramePr>
          <p:nvPr/>
        </p:nvGraphicFramePr>
        <p:xfrm>
          <a:off x="4454525" y="6149975"/>
          <a:ext cx="25971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1" name="Equation" r:id="rId13" imgW="1180800" imgH="228600" progId="Equation.3">
                  <p:embed/>
                </p:oleObj>
              </mc:Choice>
              <mc:Fallback>
                <p:oleObj name="Equation" r:id="rId13" imgW="1180800" imgH="228600" progId="Equation.3">
                  <p:embed/>
                  <p:pic>
                    <p:nvPicPr>
                      <p:cNvPr id="389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525" y="6149975"/>
                        <a:ext cx="25971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073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模拟频率变换</a:t>
            </a: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1828800" y="1447801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4. </a:t>
            </a:r>
            <a:r>
              <a:rPr lang="zh-CN" altLang="en-US" sz="2800" b="1"/>
              <a:t>原型低通到带阻通的变换</a:t>
            </a:r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3319463" y="4946650"/>
            <a:ext cx="538480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0" name="Freeform 6"/>
          <p:cNvSpPr>
            <a:spLocks/>
          </p:cNvSpPr>
          <p:nvPr/>
        </p:nvSpPr>
        <p:spPr bwMode="auto">
          <a:xfrm>
            <a:off x="8683626" y="4875214"/>
            <a:ext cx="214313" cy="142875"/>
          </a:xfrm>
          <a:custGeom>
            <a:avLst/>
            <a:gdLst>
              <a:gd name="T0" fmla="*/ 0 w 135"/>
              <a:gd name="T1" fmla="*/ 0 h 90"/>
              <a:gd name="T2" fmla="*/ 135 w 135"/>
              <a:gd name="T3" fmla="*/ 45 h 90"/>
              <a:gd name="T4" fmla="*/ 0 w 135"/>
              <a:gd name="T5" fmla="*/ 90 h 90"/>
              <a:gd name="T6" fmla="*/ 0 w 135"/>
              <a:gd name="T7" fmla="*/ 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5" h="90">
                <a:moveTo>
                  <a:pt x="0" y="0"/>
                </a:moveTo>
                <a:lnTo>
                  <a:pt x="135" y="45"/>
                </a:lnTo>
                <a:lnTo>
                  <a:pt x="0" y="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 flipV="1">
            <a:off x="3675064" y="2292351"/>
            <a:ext cx="1587" cy="3122613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2" name="Freeform 8"/>
          <p:cNvSpPr>
            <a:spLocks/>
          </p:cNvSpPr>
          <p:nvPr/>
        </p:nvSpPr>
        <p:spPr bwMode="auto">
          <a:xfrm>
            <a:off x="3594101" y="2057400"/>
            <a:ext cx="161925" cy="255588"/>
          </a:xfrm>
          <a:custGeom>
            <a:avLst/>
            <a:gdLst>
              <a:gd name="T0" fmla="*/ 0 w 102"/>
              <a:gd name="T1" fmla="*/ 161 h 161"/>
              <a:gd name="T2" fmla="*/ 51 w 102"/>
              <a:gd name="T3" fmla="*/ 0 h 161"/>
              <a:gd name="T4" fmla="*/ 102 w 102"/>
              <a:gd name="T5" fmla="*/ 161 h 161"/>
              <a:gd name="T6" fmla="*/ 0 w 102"/>
              <a:gd name="T7" fmla="*/ 161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2" h="161">
                <a:moveTo>
                  <a:pt x="0" y="161"/>
                </a:moveTo>
                <a:lnTo>
                  <a:pt x="51" y="0"/>
                </a:lnTo>
                <a:lnTo>
                  <a:pt x="102" y="161"/>
                </a:lnTo>
                <a:lnTo>
                  <a:pt x="0" y="16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3" name="Line 9"/>
          <p:cNvSpPr>
            <a:spLocks noChangeShapeType="1"/>
          </p:cNvSpPr>
          <p:nvPr/>
        </p:nvSpPr>
        <p:spPr bwMode="auto">
          <a:xfrm>
            <a:off x="4395789" y="292258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4395789" y="2963863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4395789" y="300355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6" name="Line 12"/>
          <p:cNvSpPr>
            <a:spLocks noChangeShapeType="1"/>
          </p:cNvSpPr>
          <p:nvPr/>
        </p:nvSpPr>
        <p:spPr bwMode="auto">
          <a:xfrm>
            <a:off x="4395789" y="304482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7" name="Line 13"/>
          <p:cNvSpPr>
            <a:spLocks noChangeShapeType="1"/>
          </p:cNvSpPr>
          <p:nvPr/>
        </p:nvSpPr>
        <p:spPr bwMode="auto">
          <a:xfrm>
            <a:off x="4395789" y="3086100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8" name="Line 14"/>
          <p:cNvSpPr>
            <a:spLocks noChangeShapeType="1"/>
          </p:cNvSpPr>
          <p:nvPr/>
        </p:nvSpPr>
        <p:spPr bwMode="auto">
          <a:xfrm>
            <a:off x="4395789" y="312578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4395789" y="316706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>
            <a:off x="4395789" y="320675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1" name="Line 17"/>
          <p:cNvSpPr>
            <a:spLocks noChangeShapeType="1"/>
          </p:cNvSpPr>
          <p:nvPr/>
        </p:nvSpPr>
        <p:spPr bwMode="auto">
          <a:xfrm>
            <a:off x="4395789" y="324802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2" name="Line 18"/>
          <p:cNvSpPr>
            <a:spLocks noChangeShapeType="1"/>
          </p:cNvSpPr>
          <p:nvPr/>
        </p:nvSpPr>
        <p:spPr bwMode="auto">
          <a:xfrm>
            <a:off x="4395789" y="3289300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3" name="Line 19"/>
          <p:cNvSpPr>
            <a:spLocks noChangeShapeType="1"/>
          </p:cNvSpPr>
          <p:nvPr/>
        </p:nvSpPr>
        <p:spPr bwMode="auto">
          <a:xfrm>
            <a:off x="4395789" y="332898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4" name="Line 20"/>
          <p:cNvSpPr>
            <a:spLocks noChangeShapeType="1"/>
          </p:cNvSpPr>
          <p:nvPr/>
        </p:nvSpPr>
        <p:spPr bwMode="auto">
          <a:xfrm>
            <a:off x="4395789" y="337026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5" name="Line 21"/>
          <p:cNvSpPr>
            <a:spLocks noChangeShapeType="1"/>
          </p:cNvSpPr>
          <p:nvPr/>
        </p:nvSpPr>
        <p:spPr bwMode="auto">
          <a:xfrm>
            <a:off x="4395789" y="3411538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6" name="Line 22"/>
          <p:cNvSpPr>
            <a:spLocks noChangeShapeType="1"/>
          </p:cNvSpPr>
          <p:nvPr/>
        </p:nvSpPr>
        <p:spPr bwMode="auto">
          <a:xfrm>
            <a:off x="4395789" y="345122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7" name="Line 23"/>
          <p:cNvSpPr>
            <a:spLocks noChangeShapeType="1"/>
          </p:cNvSpPr>
          <p:nvPr/>
        </p:nvSpPr>
        <p:spPr bwMode="auto">
          <a:xfrm>
            <a:off x="4395789" y="349250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8" name="Line 24"/>
          <p:cNvSpPr>
            <a:spLocks noChangeShapeType="1"/>
          </p:cNvSpPr>
          <p:nvPr/>
        </p:nvSpPr>
        <p:spPr bwMode="auto">
          <a:xfrm>
            <a:off x="4395789" y="353218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9" name="Line 25"/>
          <p:cNvSpPr>
            <a:spLocks noChangeShapeType="1"/>
          </p:cNvSpPr>
          <p:nvPr/>
        </p:nvSpPr>
        <p:spPr bwMode="auto">
          <a:xfrm>
            <a:off x="4395789" y="357346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0" name="Line 26"/>
          <p:cNvSpPr>
            <a:spLocks noChangeShapeType="1"/>
          </p:cNvSpPr>
          <p:nvPr/>
        </p:nvSpPr>
        <p:spPr bwMode="auto">
          <a:xfrm>
            <a:off x="4395789" y="3614738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1" name="Line 27"/>
          <p:cNvSpPr>
            <a:spLocks noChangeShapeType="1"/>
          </p:cNvSpPr>
          <p:nvPr/>
        </p:nvSpPr>
        <p:spPr bwMode="auto">
          <a:xfrm>
            <a:off x="4395789" y="365442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2" name="Line 28"/>
          <p:cNvSpPr>
            <a:spLocks noChangeShapeType="1"/>
          </p:cNvSpPr>
          <p:nvPr/>
        </p:nvSpPr>
        <p:spPr bwMode="auto">
          <a:xfrm>
            <a:off x="4395789" y="369570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3" name="Line 29"/>
          <p:cNvSpPr>
            <a:spLocks noChangeShapeType="1"/>
          </p:cNvSpPr>
          <p:nvPr/>
        </p:nvSpPr>
        <p:spPr bwMode="auto">
          <a:xfrm>
            <a:off x="4395789" y="3736975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4" name="Line 30"/>
          <p:cNvSpPr>
            <a:spLocks noChangeShapeType="1"/>
          </p:cNvSpPr>
          <p:nvPr/>
        </p:nvSpPr>
        <p:spPr bwMode="auto">
          <a:xfrm>
            <a:off x="4395789" y="377666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5" name="Line 31"/>
          <p:cNvSpPr>
            <a:spLocks noChangeShapeType="1"/>
          </p:cNvSpPr>
          <p:nvPr/>
        </p:nvSpPr>
        <p:spPr bwMode="auto">
          <a:xfrm>
            <a:off x="4395789" y="381793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6" name="Line 32"/>
          <p:cNvSpPr>
            <a:spLocks noChangeShapeType="1"/>
          </p:cNvSpPr>
          <p:nvPr/>
        </p:nvSpPr>
        <p:spPr bwMode="auto">
          <a:xfrm>
            <a:off x="4395789" y="385762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7" name="Line 33"/>
          <p:cNvSpPr>
            <a:spLocks noChangeShapeType="1"/>
          </p:cNvSpPr>
          <p:nvPr/>
        </p:nvSpPr>
        <p:spPr bwMode="auto">
          <a:xfrm>
            <a:off x="4395789" y="389890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8" name="Line 34"/>
          <p:cNvSpPr>
            <a:spLocks noChangeShapeType="1"/>
          </p:cNvSpPr>
          <p:nvPr/>
        </p:nvSpPr>
        <p:spPr bwMode="auto">
          <a:xfrm>
            <a:off x="4395789" y="3940175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9" name="Line 35"/>
          <p:cNvSpPr>
            <a:spLocks noChangeShapeType="1"/>
          </p:cNvSpPr>
          <p:nvPr/>
        </p:nvSpPr>
        <p:spPr bwMode="auto">
          <a:xfrm>
            <a:off x="4395789" y="397986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0" name="Line 36"/>
          <p:cNvSpPr>
            <a:spLocks noChangeShapeType="1"/>
          </p:cNvSpPr>
          <p:nvPr/>
        </p:nvSpPr>
        <p:spPr bwMode="auto">
          <a:xfrm>
            <a:off x="4395789" y="402113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1" name="Line 37"/>
          <p:cNvSpPr>
            <a:spLocks noChangeShapeType="1"/>
          </p:cNvSpPr>
          <p:nvPr/>
        </p:nvSpPr>
        <p:spPr bwMode="auto">
          <a:xfrm>
            <a:off x="4395789" y="4062413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2" name="Line 38"/>
          <p:cNvSpPr>
            <a:spLocks noChangeShapeType="1"/>
          </p:cNvSpPr>
          <p:nvPr/>
        </p:nvSpPr>
        <p:spPr bwMode="auto">
          <a:xfrm>
            <a:off x="4395789" y="410210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3" name="Line 39"/>
          <p:cNvSpPr>
            <a:spLocks noChangeShapeType="1"/>
          </p:cNvSpPr>
          <p:nvPr/>
        </p:nvSpPr>
        <p:spPr bwMode="auto">
          <a:xfrm>
            <a:off x="4395789" y="414337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4" name="Line 40"/>
          <p:cNvSpPr>
            <a:spLocks noChangeShapeType="1"/>
          </p:cNvSpPr>
          <p:nvPr/>
        </p:nvSpPr>
        <p:spPr bwMode="auto">
          <a:xfrm>
            <a:off x="4395789" y="418306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5" name="Line 41"/>
          <p:cNvSpPr>
            <a:spLocks noChangeShapeType="1"/>
          </p:cNvSpPr>
          <p:nvPr/>
        </p:nvSpPr>
        <p:spPr bwMode="auto">
          <a:xfrm>
            <a:off x="4395789" y="422433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6" name="Line 42"/>
          <p:cNvSpPr>
            <a:spLocks noChangeShapeType="1"/>
          </p:cNvSpPr>
          <p:nvPr/>
        </p:nvSpPr>
        <p:spPr bwMode="auto">
          <a:xfrm>
            <a:off x="4395789" y="4265613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7" name="Line 43"/>
          <p:cNvSpPr>
            <a:spLocks noChangeShapeType="1"/>
          </p:cNvSpPr>
          <p:nvPr/>
        </p:nvSpPr>
        <p:spPr bwMode="auto">
          <a:xfrm>
            <a:off x="4395789" y="430530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8" name="Line 44"/>
          <p:cNvSpPr>
            <a:spLocks noChangeShapeType="1"/>
          </p:cNvSpPr>
          <p:nvPr/>
        </p:nvSpPr>
        <p:spPr bwMode="auto">
          <a:xfrm>
            <a:off x="4395789" y="434657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9" name="Line 45"/>
          <p:cNvSpPr>
            <a:spLocks noChangeShapeType="1"/>
          </p:cNvSpPr>
          <p:nvPr/>
        </p:nvSpPr>
        <p:spPr bwMode="auto">
          <a:xfrm>
            <a:off x="4395789" y="4387850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10" name="Line 46"/>
          <p:cNvSpPr>
            <a:spLocks noChangeShapeType="1"/>
          </p:cNvSpPr>
          <p:nvPr/>
        </p:nvSpPr>
        <p:spPr bwMode="auto">
          <a:xfrm>
            <a:off x="4395789" y="442753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11" name="Line 47"/>
          <p:cNvSpPr>
            <a:spLocks noChangeShapeType="1"/>
          </p:cNvSpPr>
          <p:nvPr/>
        </p:nvSpPr>
        <p:spPr bwMode="auto">
          <a:xfrm>
            <a:off x="4395789" y="446881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12" name="Line 48"/>
          <p:cNvSpPr>
            <a:spLocks noChangeShapeType="1"/>
          </p:cNvSpPr>
          <p:nvPr/>
        </p:nvSpPr>
        <p:spPr bwMode="auto">
          <a:xfrm>
            <a:off x="4395789" y="450850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13" name="Line 49"/>
          <p:cNvSpPr>
            <a:spLocks noChangeShapeType="1"/>
          </p:cNvSpPr>
          <p:nvPr/>
        </p:nvSpPr>
        <p:spPr bwMode="auto">
          <a:xfrm>
            <a:off x="4395789" y="454977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14" name="Line 50"/>
          <p:cNvSpPr>
            <a:spLocks noChangeShapeType="1"/>
          </p:cNvSpPr>
          <p:nvPr/>
        </p:nvSpPr>
        <p:spPr bwMode="auto">
          <a:xfrm>
            <a:off x="4395789" y="4591050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15" name="Line 51"/>
          <p:cNvSpPr>
            <a:spLocks noChangeShapeType="1"/>
          </p:cNvSpPr>
          <p:nvPr/>
        </p:nvSpPr>
        <p:spPr bwMode="auto">
          <a:xfrm>
            <a:off x="4395789" y="463073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16" name="Line 52"/>
          <p:cNvSpPr>
            <a:spLocks noChangeShapeType="1"/>
          </p:cNvSpPr>
          <p:nvPr/>
        </p:nvSpPr>
        <p:spPr bwMode="auto">
          <a:xfrm>
            <a:off x="4395789" y="467201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17" name="Line 53"/>
          <p:cNvSpPr>
            <a:spLocks noChangeShapeType="1"/>
          </p:cNvSpPr>
          <p:nvPr/>
        </p:nvSpPr>
        <p:spPr bwMode="auto">
          <a:xfrm>
            <a:off x="4395789" y="4713288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18" name="Line 54"/>
          <p:cNvSpPr>
            <a:spLocks noChangeShapeType="1"/>
          </p:cNvSpPr>
          <p:nvPr/>
        </p:nvSpPr>
        <p:spPr bwMode="auto">
          <a:xfrm>
            <a:off x="4395789" y="475297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19" name="Line 55"/>
          <p:cNvSpPr>
            <a:spLocks noChangeShapeType="1"/>
          </p:cNvSpPr>
          <p:nvPr/>
        </p:nvSpPr>
        <p:spPr bwMode="auto">
          <a:xfrm>
            <a:off x="4395789" y="479425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20" name="Line 56"/>
          <p:cNvSpPr>
            <a:spLocks noChangeShapeType="1"/>
          </p:cNvSpPr>
          <p:nvPr/>
        </p:nvSpPr>
        <p:spPr bwMode="auto">
          <a:xfrm>
            <a:off x="4395789" y="483393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21" name="Line 57"/>
          <p:cNvSpPr>
            <a:spLocks noChangeShapeType="1"/>
          </p:cNvSpPr>
          <p:nvPr/>
        </p:nvSpPr>
        <p:spPr bwMode="auto">
          <a:xfrm>
            <a:off x="4395789" y="487521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22" name="Line 58"/>
          <p:cNvSpPr>
            <a:spLocks noChangeShapeType="1"/>
          </p:cNvSpPr>
          <p:nvPr/>
        </p:nvSpPr>
        <p:spPr bwMode="auto">
          <a:xfrm>
            <a:off x="4395789" y="4916488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23" name="Line 59"/>
          <p:cNvSpPr>
            <a:spLocks noChangeShapeType="1"/>
          </p:cNvSpPr>
          <p:nvPr/>
        </p:nvSpPr>
        <p:spPr bwMode="auto">
          <a:xfrm>
            <a:off x="5838825" y="4041775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24" name="Line 60"/>
          <p:cNvSpPr>
            <a:spLocks noChangeShapeType="1"/>
          </p:cNvSpPr>
          <p:nvPr/>
        </p:nvSpPr>
        <p:spPr bwMode="auto">
          <a:xfrm>
            <a:off x="5838825" y="4081464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25" name="Line 61"/>
          <p:cNvSpPr>
            <a:spLocks noChangeShapeType="1"/>
          </p:cNvSpPr>
          <p:nvPr/>
        </p:nvSpPr>
        <p:spPr bwMode="auto">
          <a:xfrm>
            <a:off x="5838825" y="4122739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26" name="Line 62"/>
          <p:cNvSpPr>
            <a:spLocks noChangeShapeType="1"/>
          </p:cNvSpPr>
          <p:nvPr/>
        </p:nvSpPr>
        <p:spPr bwMode="auto">
          <a:xfrm>
            <a:off x="5838825" y="4164013"/>
            <a:ext cx="1588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27" name="Line 63"/>
          <p:cNvSpPr>
            <a:spLocks noChangeShapeType="1"/>
          </p:cNvSpPr>
          <p:nvPr/>
        </p:nvSpPr>
        <p:spPr bwMode="auto">
          <a:xfrm>
            <a:off x="5838825" y="4203700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28" name="Line 64"/>
          <p:cNvSpPr>
            <a:spLocks noChangeShapeType="1"/>
          </p:cNvSpPr>
          <p:nvPr/>
        </p:nvSpPr>
        <p:spPr bwMode="auto">
          <a:xfrm>
            <a:off x="5838825" y="4244975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29" name="Line 65"/>
          <p:cNvSpPr>
            <a:spLocks noChangeShapeType="1"/>
          </p:cNvSpPr>
          <p:nvPr/>
        </p:nvSpPr>
        <p:spPr bwMode="auto">
          <a:xfrm>
            <a:off x="5838825" y="4284664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30" name="Line 66"/>
          <p:cNvSpPr>
            <a:spLocks noChangeShapeType="1"/>
          </p:cNvSpPr>
          <p:nvPr/>
        </p:nvSpPr>
        <p:spPr bwMode="auto">
          <a:xfrm>
            <a:off x="5838825" y="4325939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31" name="Line 67"/>
          <p:cNvSpPr>
            <a:spLocks noChangeShapeType="1"/>
          </p:cNvSpPr>
          <p:nvPr/>
        </p:nvSpPr>
        <p:spPr bwMode="auto">
          <a:xfrm>
            <a:off x="5838825" y="4367214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32" name="Line 68"/>
          <p:cNvSpPr>
            <a:spLocks noChangeShapeType="1"/>
          </p:cNvSpPr>
          <p:nvPr/>
        </p:nvSpPr>
        <p:spPr bwMode="auto">
          <a:xfrm>
            <a:off x="5838825" y="4406900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33" name="Line 69"/>
          <p:cNvSpPr>
            <a:spLocks noChangeShapeType="1"/>
          </p:cNvSpPr>
          <p:nvPr/>
        </p:nvSpPr>
        <p:spPr bwMode="auto">
          <a:xfrm>
            <a:off x="5838825" y="4448175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34" name="Line 70"/>
          <p:cNvSpPr>
            <a:spLocks noChangeShapeType="1"/>
          </p:cNvSpPr>
          <p:nvPr/>
        </p:nvSpPr>
        <p:spPr bwMode="auto">
          <a:xfrm>
            <a:off x="5838825" y="4489450"/>
            <a:ext cx="1588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35" name="Line 71"/>
          <p:cNvSpPr>
            <a:spLocks noChangeShapeType="1"/>
          </p:cNvSpPr>
          <p:nvPr/>
        </p:nvSpPr>
        <p:spPr bwMode="auto">
          <a:xfrm>
            <a:off x="5838825" y="4529139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36" name="Line 72"/>
          <p:cNvSpPr>
            <a:spLocks noChangeShapeType="1"/>
          </p:cNvSpPr>
          <p:nvPr/>
        </p:nvSpPr>
        <p:spPr bwMode="auto">
          <a:xfrm>
            <a:off x="5838825" y="4570414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37" name="Line 73"/>
          <p:cNvSpPr>
            <a:spLocks noChangeShapeType="1"/>
          </p:cNvSpPr>
          <p:nvPr/>
        </p:nvSpPr>
        <p:spPr bwMode="auto">
          <a:xfrm>
            <a:off x="5838825" y="4610100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38" name="Line 74"/>
          <p:cNvSpPr>
            <a:spLocks noChangeShapeType="1"/>
          </p:cNvSpPr>
          <p:nvPr/>
        </p:nvSpPr>
        <p:spPr bwMode="auto">
          <a:xfrm>
            <a:off x="5838825" y="4651375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39" name="Line 75"/>
          <p:cNvSpPr>
            <a:spLocks noChangeShapeType="1"/>
          </p:cNvSpPr>
          <p:nvPr/>
        </p:nvSpPr>
        <p:spPr bwMode="auto">
          <a:xfrm>
            <a:off x="5838825" y="4692650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40" name="Line 76"/>
          <p:cNvSpPr>
            <a:spLocks noChangeShapeType="1"/>
          </p:cNvSpPr>
          <p:nvPr/>
        </p:nvSpPr>
        <p:spPr bwMode="auto">
          <a:xfrm>
            <a:off x="5838825" y="4732339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41" name="Line 77"/>
          <p:cNvSpPr>
            <a:spLocks noChangeShapeType="1"/>
          </p:cNvSpPr>
          <p:nvPr/>
        </p:nvSpPr>
        <p:spPr bwMode="auto">
          <a:xfrm>
            <a:off x="5838825" y="4773614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42" name="Line 78"/>
          <p:cNvSpPr>
            <a:spLocks noChangeShapeType="1"/>
          </p:cNvSpPr>
          <p:nvPr/>
        </p:nvSpPr>
        <p:spPr bwMode="auto">
          <a:xfrm>
            <a:off x="5838825" y="4814888"/>
            <a:ext cx="1588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43" name="Line 79"/>
          <p:cNvSpPr>
            <a:spLocks noChangeShapeType="1"/>
          </p:cNvSpPr>
          <p:nvPr/>
        </p:nvSpPr>
        <p:spPr bwMode="auto">
          <a:xfrm>
            <a:off x="5838825" y="4854575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44" name="Line 80"/>
          <p:cNvSpPr>
            <a:spLocks noChangeShapeType="1"/>
          </p:cNvSpPr>
          <p:nvPr/>
        </p:nvSpPr>
        <p:spPr bwMode="auto">
          <a:xfrm>
            <a:off x="5838825" y="4895850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45" name="Line 81"/>
          <p:cNvSpPr>
            <a:spLocks noChangeShapeType="1"/>
          </p:cNvSpPr>
          <p:nvPr/>
        </p:nvSpPr>
        <p:spPr bwMode="auto">
          <a:xfrm>
            <a:off x="5838825" y="4935538"/>
            <a:ext cx="1588" cy="111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46" name="Rectangle 82"/>
          <p:cNvSpPr>
            <a:spLocks noChangeArrowheads="1"/>
          </p:cNvSpPr>
          <p:nvPr/>
        </p:nvSpPr>
        <p:spPr bwMode="auto">
          <a:xfrm>
            <a:off x="8970963" y="4738689"/>
            <a:ext cx="219612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500" i="1">
                <a:solidFill>
                  <a:srgbClr val="000000"/>
                </a:solidFill>
                <a:latin typeface="Symbol" panose="05050102010706020507" pitchFamily="18" charset="2"/>
              </a:rPr>
              <a:t>w</a:t>
            </a:r>
            <a:endParaRPr lang="en-US" altLang="zh-CN"/>
          </a:p>
        </p:txBody>
      </p:sp>
      <p:grpSp>
        <p:nvGrpSpPr>
          <p:cNvPr id="36947" name="Group 83"/>
          <p:cNvGrpSpPr>
            <a:grpSpLocks/>
          </p:cNvGrpSpPr>
          <p:nvPr/>
        </p:nvGrpSpPr>
        <p:grpSpPr bwMode="auto">
          <a:xfrm>
            <a:off x="4113213" y="4945056"/>
            <a:ext cx="419100" cy="436561"/>
            <a:chOff x="1607" y="2345"/>
            <a:chExt cx="264" cy="275"/>
          </a:xfrm>
        </p:grpSpPr>
        <p:sp>
          <p:nvSpPr>
            <p:cNvPr id="36948" name="Rectangle 84"/>
            <p:cNvSpPr>
              <a:spLocks noChangeArrowheads="1"/>
            </p:cNvSpPr>
            <p:nvPr/>
          </p:nvSpPr>
          <p:spPr bwMode="auto">
            <a:xfrm>
              <a:off x="1821" y="2483"/>
              <a:ext cx="5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36949" name="Rectangle 85"/>
            <p:cNvSpPr>
              <a:spLocks noChangeArrowheads="1"/>
            </p:cNvSpPr>
            <p:nvPr/>
          </p:nvSpPr>
          <p:spPr bwMode="auto">
            <a:xfrm>
              <a:off x="1765" y="2484"/>
              <a:ext cx="6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i="1">
                  <a:solidFill>
                    <a:srgbClr val="000000"/>
                  </a:solidFill>
                </a:rPr>
                <a:t>p</a:t>
              </a:r>
              <a:endParaRPr lang="en-US" altLang="zh-CN"/>
            </a:p>
          </p:txBody>
        </p:sp>
        <p:sp>
          <p:nvSpPr>
            <p:cNvPr id="36950" name="Rectangle 86"/>
            <p:cNvSpPr>
              <a:spLocks noChangeArrowheads="1"/>
            </p:cNvSpPr>
            <p:nvPr/>
          </p:nvSpPr>
          <p:spPr bwMode="auto">
            <a:xfrm>
              <a:off x="1607" y="2345"/>
              <a:ext cx="1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Symbol" panose="05050102010706020507" pitchFamily="18" charset="2"/>
                </a:rPr>
                <a:t>w</a:t>
              </a:r>
              <a:endParaRPr lang="en-US" altLang="zh-CN"/>
            </a:p>
          </p:txBody>
        </p:sp>
      </p:grpSp>
      <p:grpSp>
        <p:nvGrpSpPr>
          <p:cNvPr id="36951" name="Group 87"/>
          <p:cNvGrpSpPr>
            <a:grpSpLocks/>
          </p:cNvGrpSpPr>
          <p:nvPr/>
        </p:nvGrpSpPr>
        <p:grpSpPr bwMode="auto">
          <a:xfrm>
            <a:off x="7121531" y="4945056"/>
            <a:ext cx="465138" cy="436561"/>
            <a:chOff x="3502" y="2345"/>
            <a:chExt cx="293" cy="275"/>
          </a:xfrm>
        </p:grpSpPr>
        <p:sp>
          <p:nvSpPr>
            <p:cNvPr id="36952" name="Rectangle 88"/>
            <p:cNvSpPr>
              <a:spLocks noChangeArrowheads="1"/>
            </p:cNvSpPr>
            <p:nvPr/>
          </p:nvSpPr>
          <p:spPr bwMode="auto">
            <a:xfrm>
              <a:off x="3726" y="2483"/>
              <a:ext cx="69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36953" name="Rectangle 89"/>
            <p:cNvSpPr>
              <a:spLocks noChangeArrowheads="1"/>
            </p:cNvSpPr>
            <p:nvPr/>
          </p:nvSpPr>
          <p:spPr bwMode="auto">
            <a:xfrm>
              <a:off x="3658" y="2484"/>
              <a:ext cx="6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i="1">
                  <a:solidFill>
                    <a:srgbClr val="000000"/>
                  </a:solidFill>
                </a:rPr>
                <a:t>p</a:t>
              </a:r>
              <a:endParaRPr lang="en-US" altLang="zh-CN"/>
            </a:p>
          </p:txBody>
        </p:sp>
        <p:sp>
          <p:nvSpPr>
            <p:cNvPr id="36954" name="Rectangle 90"/>
            <p:cNvSpPr>
              <a:spLocks noChangeArrowheads="1"/>
            </p:cNvSpPr>
            <p:nvPr/>
          </p:nvSpPr>
          <p:spPr bwMode="auto">
            <a:xfrm>
              <a:off x="3502" y="2345"/>
              <a:ext cx="1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Symbol" panose="05050102010706020507" pitchFamily="18" charset="2"/>
                </a:rPr>
                <a:t>w</a:t>
              </a:r>
              <a:endParaRPr lang="en-US" altLang="zh-CN"/>
            </a:p>
          </p:txBody>
        </p:sp>
      </p:grpSp>
      <p:sp>
        <p:nvSpPr>
          <p:cNvPr id="36955" name="Rectangle 91"/>
          <p:cNvSpPr>
            <a:spLocks noChangeArrowheads="1"/>
          </p:cNvSpPr>
          <p:nvPr/>
        </p:nvSpPr>
        <p:spPr bwMode="auto">
          <a:xfrm>
            <a:off x="4957763" y="4945064"/>
            <a:ext cx="30296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i="1">
                <a:solidFill>
                  <a:srgbClr val="000000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>
                <a:solidFill>
                  <a:srgbClr val="000000"/>
                </a:solidFill>
              </a:rPr>
              <a:t>s1</a:t>
            </a:r>
            <a:endParaRPr lang="en-US" altLang="zh-CN"/>
          </a:p>
        </p:txBody>
      </p:sp>
      <p:sp>
        <p:nvSpPr>
          <p:cNvPr id="36956" name="Rectangle 92"/>
          <p:cNvSpPr>
            <a:spLocks noChangeArrowheads="1"/>
          </p:cNvSpPr>
          <p:nvPr/>
        </p:nvSpPr>
        <p:spPr bwMode="auto">
          <a:xfrm>
            <a:off x="5597525" y="4945064"/>
            <a:ext cx="328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i="1">
                <a:solidFill>
                  <a:srgbClr val="000000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>
                <a:solidFill>
                  <a:srgbClr val="000000"/>
                </a:solidFill>
              </a:rPr>
              <a:t>s2</a:t>
            </a:r>
            <a:endParaRPr lang="en-US" altLang="zh-CN"/>
          </a:p>
        </p:txBody>
      </p:sp>
      <p:grpSp>
        <p:nvGrpSpPr>
          <p:cNvPr id="36957" name="Group 93"/>
          <p:cNvGrpSpPr>
            <a:grpSpLocks/>
          </p:cNvGrpSpPr>
          <p:nvPr/>
        </p:nvGrpSpPr>
        <p:grpSpPr bwMode="auto">
          <a:xfrm>
            <a:off x="3803651" y="2082800"/>
            <a:ext cx="981075" cy="439738"/>
            <a:chOff x="1412" y="542"/>
            <a:chExt cx="618" cy="277"/>
          </a:xfrm>
        </p:grpSpPr>
        <p:sp>
          <p:nvSpPr>
            <p:cNvPr id="36958" name="Line 94"/>
            <p:cNvSpPr>
              <a:spLocks noChangeShapeType="1"/>
            </p:cNvSpPr>
            <p:nvPr/>
          </p:nvSpPr>
          <p:spPr bwMode="auto">
            <a:xfrm>
              <a:off x="1412" y="572"/>
              <a:ext cx="1" cy="2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59" name="Line 95"/>
            <p:cNvSpPr>
              <a:spLocks noChangeShapeType="1"/>
            </p:cNvSpPr>
            <p:nvPr/>
          </p:nvSpPr>
          <p:spPr bwMode="auto">
            <a:xfrm>
              <a:off x="2029" y="572"/>
              <a:ext cx="1" cy="2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60" name="Rectangle 96"/>
            <p:cNvSpPr>
              <a:spLocks noChangeArrowheads="1"/>
            </p:cNvSpPr>
            <p:nvPr/>
          </p:nvSpPr>
          <p:spPr bwMode="auto">
            <a:xfrm>
              <a:off x="1953" y="564"/>
              <a:ext cx="5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6961" name="Rectangle 97"/>
            <p:cNvSpPr>
              <a:spLocks noChangeArrowheads="1"/>
            </p:cNvSpPr>
            <p:nvPr/>
          </p:nvSpPr>
          <p:spPr bwMode="auto">
            <a:xfrm>
              <a:off x="1749" y="564"/>
              <a:ext cx="5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6962" name="Rectangle 98"/>
            <p:cNvSpPr>
              <a:spLocks noChangeArrowheads="1"/>
            </p:cNvSpPr>
            <p:nvPr/>
          </p:nvSpPr>
          <p:spPr bwMode="auto">
            <a:xfrm>
              <a:off x="1803" y="542"/>
              <a:ext cx="1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Symbol" panose="05050102010706020507" pitchFamily="18" charset="2"/>
                </a:rPr>
                <a:t>w</a:t>
              </a:r>
              <a:endParaRPr lang="en-US" altLang="zh-CN"/>
            </a:p>
          </p:txBody>
        </p:sp>
        <p:sp>
          <p:nvSpPr>
            <p:cNvPr id="36963" name="Rectangle 99"/>
            <p:cNvSpPr>
              <a:spLocks noChangeArrowheads="1"/>
            </p:cNvSpPr>
            <p:nvPr/>
          </p:nvSpPr>
          <p:spPr bwMode="auto">
            <a:xfrm>
              <a:off x="1594" y="683"/>
              <a:ext cx="15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i="1">
                  <a:solidFill>
                    <a:srgbClr val="000000"/>
                  </a:solidFill>
                </a:rPr>
                <a:t>BS</a:t>
              </a:r>
              <a:endParaRPr lang="en-US" altLang="zh-CN"/>
            </a:p>
          </p:txBody>
        </p:sp>
        <p:sp>
          <p:nvSpPr>
            <p:cNvPr id="36964" name="Rectangle 100"/>
            <p:cNvSpPr>
              <a:spLocks noChangeArrowheads="1"/>
            </p:cNvSpPr>
            <p:nvPr/>
          </p:nvSpPr>
          <p:spPr bwMode="auto">
            <a:xfrm>
              <a:off x="1437" y="564"/>
              <a:ext cx="11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</a:rPr>
                <a:t>H</a:t>
              </a:r>
              <a:endParaRPr lang="en-US" altLang="zh-CN"/>
            </a:p>
          </p:txBody>
        </p:sp>
      </p:grpSp>
      <p:sp>
        <p:nvSpPr>
          <p:cNvPr id="36965" name="Rectangle 101"/>
          <p:cNvSpPr>
            <a:spLocks noChangeArrowheads="1"/>
          </p:cNvSpPr>
          <p:nvPr/>
        </p:nvSpPr>
        <p:spPr bwMode="auto">
          <a:xfrm>
            <a:off x="3462338" y="4954589"/>
            <a:ext cx="1410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0</a:t>
            </a:r>
            <a:endParaRPr lang="en-US" altLang="zh-CN"/>
          </a:p>
        </p:txBody>
      </p:sp>
      <p:sp>
        <p:nvSpPr>
          <p:cNvPr id="36966" name="Line 102"/>
          <p:cNvSpPr>
            <a:spLocks noChangeShapeType="1"/>
          </p:cNvSpPr>
          <p:nvPr/>
        </p:nvSpPr>
        <p:spPr bwMode="auto">
          <a:xfrm>
            <a:off x="3675064" y="2851150"/>
            <a:ext cx="71437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67" name="Rectangle 103"/>
          <p:cNvSpPr>
            <a:spLocks noChangeArrowheads="1"/>
          </p:cNvSpPr>
          <p:nvPr/>
        </p:nvSpPr>
        <p:spPr bwMode="auto">
          <a:xfrm>
            <a:off x="3505200" y="2706689"/>
            <a:ext cx="1041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1</a:t>
            </a:r>
            <a:endParaRPr lang="en-US" altLang="zh-CN"/>
          </a:p>
        </p:txBody>
      </p:sp>
      <p:sp>
        <p:nvSpPr>
          <p:cNvPr id="36968" name="Freeform 104"/>
          <p:cNvSpPr>
            <a:spLocks/>
          </p:cNvSpPr>
          <p:nvPr/>
        </p:nvSpPr>
        <p:spPr bwMode="auto">
          <a:xfrm>
            <a:off x="3684589" y="2851150"/>
            <a:ext cx="4491037" cy="2095500"/>
          </a:xfrm>
          <a:custGeom>
            <a:avLst/>
            <a:gdLst>
              <a:gd name="T0" fmla="*/ 45 w 2829"/>
              <a:gd name="T1" fmla="*/ 0 h 1320"/>
              <a:gd name="T2" fmla="*/ 96 w 2829"/>
              <a:gd name="T3" fmla="*/ 7 h 1320"/>
              <a:gd name="T4" fmla="*/ 141 w 2829"/>
              <a:gd name="T5" fmla="*/ 7 h 1320"/>
              <a:gd name="T6" fmla="*/ 192 w 2829"/>
              <a:gd name="T7" fmla="*/ 7 h 1320"/>
              <a:gd name="T8" fmla="*/ 244 w 2829"/>
              <a:gd name="T9" fmla="*/ 13 h 1320"/>
              <a:gd name="T10" fmla="*/ 295 w 2829"/>
              <a:gd name="T11" fmla="*/ 19 h 1320"/>
              <a:gd name="T12" fmla="*/ 340 w 2829"/>
              <a:gd name="T13" fmla="*/ 26 h 1320"/>
              <a:gd name="T14" fmla="*/ 397 w 2829"/>
              <a:gd name="T15" fmla="*/ 32 h 1320"/>
              <a:gd name="T16" fmla="*/ 442 w 2829"/>
              <a:gd name="T17" fmla="*/ 45 h 1320"/>
              <a:gd name="T18" fmla="*/ 493 w 2829"/>
              <a:gd name="T19" fmla="*/ 64 h 1320"/>
              <a:gd name="T20" fmla="*/ 544 w 2829"/>
              <a:gd name="T21" fmla="*/ 77 h 1320"/>
              <a:gd name="T22" fmla="*/ 596 w 2829"/>
              <a:gd name="T23" fmla="*/ 103 h 1320"/>
              <a:gd name="T24" fmla="*/ 640 w 2829"/>
              <a:gd name="T25" fmla="*/ 135 h 1320"/>
              <a:gd name="T26" fmla="*/ 692 w 2829"/>
              <a:gd name="T27" fmla="*/ 180 h 1320"/>
              <a:gd name="T28" fmla="*/ 743 w 2829"/>
              <a:gd name="T29" fmla="*/ 231 h 1320"/>
              <a:gd name="T30" fmla="*/ 794 w 2829"/>
              <a:gd name="T31" fmla="*/ 308 h 1320"/>
              <a:gd name="T32" fmla="*/ 839 w 2829"/>
              <a:gd name="T33" fmla="*/ 410 h 1320"/>
              <a:gd name="T34" fmla="*/ 890 w 2829"/>
              <a:gd name="T35" fmla="*/ 538 h 1320"/>
              <a:gd name="T36" fmla="*/ 941 w 2829"/>
              <a:gd name="T37" fmla="*/ 711 h 1320"/>
              <a:gd name="T38" fmla="*/ 992 w 2829"/>
              <a:gd name="T39" fmla="*/ 916 h 1320"/>
              <a:gd name="T40" fmla="*/ 1044 w 2829"/>
              <a:gd name="T41" fmla="*/ 1121 h 1320"/>
              <a:gd name="T42" fmla="*/ 1088 w 2829"/>
              <a:gd name="T43" fmla="*/ 1275 h 1320"/>
              <a:gd name="T44" fmla="*/ 1140 w 2829"/>
              <a:gd name="T45" fmla="*/ 1313 h 1320"/>
              <a:gd name="T46" fmla="*/ 1191 w 2829"/>
              <a:gd name="T47" fmla="*/ 1243 h 1320"/>
              <a:gd name="T48" fmla="*/ 1242 w 2829"/>
              <a:gd name="T49" fmla="*/ 1089 h 1320"/>
              <a:gd name="T50" fmla="*/ 1287 w 2829"/>
              <a:gd name="T51" fmla="*/ 923 h 1320"/>
              <a:gd name="T52" fmla="*/ 1344 w 2829"/>
              <a:gd name="T53" fmla="*/ 769 h 1320"/>
              <a:gd name="T54" fmla="*/ 1389 w 2829"/>
              <a:gd name="T55" fmla="*/ 641 h 1320"/>
              <a:gd name="T56" fmla="*/ 1440 w 2829"/>
              <a:gd name="T57" fmla="*/ 532 h 1320"/>
              <a:gd name="T58" fmla="*/ 1492 w 2829"/>
              <a:gd name="T59" fmla="*/ 455 h 1320"/>
              <a:gd name="T60" fmla="*/ 1543 w 2829"/>
              <a:gd name="T61" fmla="*/ 385 h 1320"/>
              <a:gd name="T62" fmla="*/ 1588 w 2829"/>
              <a:gd name="T63" fmla="*/ 333 h 1320"/>
              <a:gd name="T64" fmla="*/ 1639 w 2829"/>
              <a:gd name="T65" fmla="*/ 288 h 1320"/>
              <a:gd name="T66" fmla="*/ 1690 w 2829"/>
              <a:gd name="T67" fmla="*/ 256 h 1320"/>
              <a:gd name="T68" fmla="*/ 1741 w 2829"/>
              <a:gd name="T69" fmla="*/ 224 h 1320"/>
              <a:gd name="T70" fmla="*/ 1786 w 2829"/>
              <a:gd name="T71" fmla="*/ 205 h 1320"/>
              <a:gd name="T72" fmla="*/ 1844 w 2829"/>
              <a:gd name="T73" fmla="*/ 186 h 1320"/>
              <a:gd name="T74" fmla="*/ 1888 w 2829"/>
              <a:gd name="T75" fmla="*/ 160 h 1320"/>
              <a:gd name="T76" fmla="*/ 1940 w 2829"/>
              <a:gd name="T77" fmla="*/ 148 h 1320"/>
              <a:gd name="T78" fmla="*/ 1991 w 2829"/>
              <a:gd name="T79" fmla="*/ 135 h 1320"/>
              <a:gd name="T80" fmla="*/ 2036 w 2829"/>
              <a:gd name="T81" fmla="*/ 128 h 1320"/>
              <a:gd name="T82" fmla="*/ 2087 w 2829"/>
              <a:gd name="T83" fmla="*/ 115 h 1320"/>
              <a:gd name="T84" fmla="*/ 2138 w 2829"/>
              <a:gd name="T85" fmla="*/ 109 h 1320"/>
              <a:gd name="T86" fmla="*/ 2189 w 2829"/>
              <a:gd name="T87" fmla="*/ 103 h 1320"/>
              <a:gd name="T88" fmla="*/ 2234 w 2829"/>
              <a:gd name="T89" fmla="*/ 90 h 1320"/>
              <a:gd name="T90" fmla="*/ 2285 w 2829"/>
              <a:gd name="T91" fmla="*/ 90 h 1320"/>
              <a:gd name="T92" fmla="*/ 2336 w 2829"/>
              <a:gd name="T93" fmla="*/ 83 h 1320"/>
              <a:gd name="T94" fmla="*/ 2388 w 2829"/>
              <a:gd name="T95" fmla="*/ 77 h 1320"/>
              <a:gd name="T96" fmla="*/ 2432 w 2829"/>
              <a:gd name="T97" fmla="*/ 71 h 1320"/>
              <a:gd name="T98" fmla="*/ 2490 w 2829"/>
              <a:gd name="T99" fmla="*/ 71 h 1320"/>
              <a:gd name="T100" fmla="*/ 2535 w 2829"/>
              <a:gd name="T101" fmla="*/ 64 h 1320"/>
              <a:gd name="T102" fmla="*/ 2586 w 2829"/>
              <a:gd name="T103" fmla="*/ 64 h 1320"/>
              <a:gd name="T104" fmla="*/ 2637 w 2829"/>
              <a:gd name="T105" fmla="*/ 58 h 1320"/>
              <a:gd name="T106" fmla="*/ 2688 w 2829"/>
              <a:gd name="T107" fmla="*/ 58 h 1320"/>
              <a:gd name="T108" fmla="*/ 2733 w 2829"/>
              <a:gd name="T109" fmla="*/ 51 h 1320"/>
              <a:gd name="T110" fmla="*/ 2784 w 2829"/>
              <a:gd name="T111" fmla="*/ 51 h 1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829" h="1320">
                <a:moveTo>
                  <a:pt x="0" y="0"/>
                </a:moveTo>
                <a:lnTo>
                  <a:pt x="7" y="0"/>
                </a:lnTo>
                <a:lnTo>
                  <a:pt x="7" y="0"/>
                </a:lnTo>
                <a:lnTo>
                  <a:pt x="13" y="0"/>
                </a:lnTo>
                <a:lnTo>
                  <a:pt x="26" y="0"/>
                </a:lnTo>
                <a:lnTo>
                  <a:pt x="26" y="0"/>
                </a:lnTo>
                <a:lnTo>
                  <a:pt x="32" y="0"/>
                </a:lnTo>
                <a:lnTo>
                  <a:pt x="39" y="0"/>
                </a:lnTo>
                <a:lnTo>
                  <a:pt x="45" y="0"/>
                </a:lnTo>
                <a:lnTo>
                  <a:pt x="45" y="0"/>
                </a:lnTo>
                <a:lnTo>
                  <a:pt x="58" y="0"/>
                </a:lnTo>
                <a:lnTo>
                  <a:pt x="64" y="0"/>
                </a:lnTo>
                <a:lnTo>
                  <a:pt x="64" y="0"/>
                </a:lnTo>
                <a:lnTo>
                  <a:pt x="71" y="0"/>
                </a:lnTo>
                <a:lnTo>
                  <a:pt x="77" y="0"/>
                </a:lnTo>
                <a:lnTo>
                  <a:pt x="84" y="0"/>
                </a:lnTo>
                <a:lnTo>
                  <a:pt x="90" y="0"/>
                </a:lnTo>
                <a:lnTo>
                  <a:pt x="96" y="7"/>
                </a:lnTo>
                <a:lnTo>
                  <a:pt x="103" y="7"/>
                </a:lnTo>
                <a:lnTo>
                  <a:pt x="103" y="7"/>
                </a:lnTo>
                <a:lnTo>
                  <a:pt x="109" y="7"/>
                </a:lnTo>
                <a:lnTo>
                  <a:pt x="116" y="7"/>
                </a:lnTo>
                <a:lnTo>
                  <a:pt x="122" y="7"/>
                </a:lnTo>
                <a:lnTo>
                  <a:pt x="128" y="7"/>
                </a:lnTo>
                <a:lnTo>
                  <a:pt x="135" y="7"/>
                </a:lnTo>
                <a:lnTo>
                  <a:pt x="135" y="7"/>
                </a:lnTo>
                <a:lnTo>
                  <a:pt x="141" y="7"/>
                </a:lnTo>
                <a:lnTo>
                  <a:pt x="148" y="7"/>
                </a:lnTo>
                <a:lnTo>
                  <a:pt x="154" y="7"/>
                </a:lnTo>
                <a:lnTo>
                  <a:pt x="160" y="7"/>
                </a:lnTo>
                <a:lnTo>
                  <a:pt x="167" y="7"/>
                </a:lnTo>
                <a:lnTo>
                  <a:pt x="173" y="7"/>
                </a:lnTo>
                <a:lnTo>
                  <a:pt x="173" y="7"/>
                </a:lnTo>
                <a:lnTo>
                  <a:pt x="180" y="7"/>
                </a:lnTo>
                <a:lnTo>
                  <a:pt x="192" y="7"/>
                </a:lnTo>
                <a:lnTo>
                  <a:pt x="192" y="7"/>
                </a:lnTo>
                <a:lnTo>
                  <a:pt x="199" y="7"/>
                </a:lnTo>
                <a:lnTo>
                  <a:pt x="205" y="13"/>
                </a:lnTo>
                <a:lnTo>
                  <a:pt x="212" y="13"/>
                </a:lnTo>
                <a:lnTo>
                  <a:pt x="212" y="13"/>
                </a:lnTo>
                <a:lnTo>
                  <a:pt x="224" y="13"/>
                </a:lnTo>
                <a:lnTo>
                  <a:pt x="231" y="13"/>
                </a:lnTo>
                <a:lnTo>
                  <a:pt x="231" y="13"/>
                </a:lnTo>
                <a:lnTo>
                  <a:pt x="237" y="13"/>
                </a:lnTo>
                <a:lnTo>
                  <a:pt x="244" y="13"/>
                </a:lnTo>
                <a:lnTo>
                  <a:pt x="250" y="13"/>
                </a:lnTo>
                <a:lnTo>
                  <a:pt x="256" y="13"/>
                </a:lnTo>
                <a:lnTo>
                  <a:pt x="263" y="13"/>
                </a:lnTo>
                <a:lnTo>
                  <a:pt x="269" y="19"/>
                </a:lnTo>
                <a:lnTo>
                  <a:pt x="269" y="19"/>
                </a:lnTo>
                <a:lnTo>
                  <a:pt x="276" y="19"/>
                </a:lnTo>
                <a:lnTo>
                  <a:pt x="282" y="19"/>
                </a:lnTo>
                <a:lnTo>
                  <a:pt x="288" y="19"/>
                </a:lnTo>
                <a:lnTo>
                  <a:pt x="295" y="19"/>
                </a:lnTo>
                <a:lnTo>
                  <a:pt x="301" y="19"/>
                </a:lnTo>
                <a:lnTo>
                  <a:pt x="308" y="19"/>
                </a:lnTo>
                <a:lnTo>
                  <a:pt x="308" y="19"/>
                </a:lnTo>
                <a:lnTo>
                  <a:pt x="314" y="19"/>
                </a:lnTo>
                <a:lnTo>
                  <a:pt x="320" y="19"/>
                </a:lnTo>
                <a:lnTo>
                  <a:pt x="327" y="19"/>
                </a:lnTo>
                <a:lnTo>
                  <a:pt x="333" y="26"/>
                </a:lnTo>
                <a:lnTo>
                  <a:pt x="340" y="26"/>
                </a:lnTo>
                <a:lnTo>
                  <a:pt x="340" y="26"/>
                </a:lnTo>
                <a:lnTo>
                  <a:pt x="346" y="26"/>
                </a:lnTo>
                <a:lnTo>
                  <a:pt x="359" y="26"/>
                </a:lnTo>
                <a:lnTo>
                  <a:pt x="359" y="26"/>
                </a:lnTo>
                <a:lnTo>
                  <a:pt x="365" y="32"/>
                </a:lnTo>
                <a:lnTo>
                  <a:pt x="372" y="32"/>
                </a:lnTo>
                <a:lnTo>
                  <a:pt x="378" y="32"/>
                </a:lnTo>
                <a:lnTo>
                  <a:pt x="378" y="32"/>
                </a:lnTo>
                <a:lnTo>
                  <a:pt x="391" y="32"/>
                </a:lnTo>
                <a:lnTo>
                  <a:pt x="397" y="32"/>
                </a:lnTo>
                <a:lnTo>
                  <a:pt x="397" y="39"/>
                </a:lnTo>
                <a:lnTo>
                  <a:pt x="404" y="39"/>
                </a:lnTo>
                <a:lnTo>
                  <a:pt x="410" y="39"/>
                </a:lnTo>
                <a:lnTo>
                  <a:pt x="416" y="39"/>
                </a:lnTo>
                <a:lnTo>
                  <a:pt x="416" y="45"/>
                </a:lnTo>
                <a:lnTo>
                  <a:pt x="429" y="45"/>
                </a:lnTo>
                <a:lnTo>
                  <a:pt x="436" y="45"/>
                </a:lnTo>
                <a:lnTo>
                  <a:pt x="436" y="45"/>
                </a:lnTo>
                <a:lnTo>
                  <a:pt x="442" y="45"/>
                </a:lnTo>
                <a:lnTo>
                  <a:pt x="448" y="45"/>
                </a:lnTo>
                <a:lnTo>
                  <a:pt x="455" y="51"/>
                </a:lnTo>
                <a:lnTo>
                  <a:pt x="461" y="51"/>
                </a:lnTo>
                <a:lnTo>
                  <a:pt x="468" y="51"/>
                </a:lnTo>
                <a:lnTo>
                  <a:pt x="474" y="51"/>
                </a:lnTo>
                <a:lnTo>
                  <a:pt x="474" y="58"/>
                </a:lnTo>
                <a:lnTo>
                  <a:pt x="480" y="58"/>
                </a:lnTo>
                <a:lnTo>
                  <a:pt x="487" y="58"/>
                </a:lnTo>
                <a:lnTo>
                  <a:pt x="493" y="64"/>
                </a:lnTo>
                <a:lnTo>
                  <a:pt x="500" y="64"/>
                </a:lnTo>
                <a:lnTo>
                  <a:pt x="506" y="64"/>
                </a:lnTo>
                <a:lnTo>
                  <a:pt x="506" y="71"/>
                </a:lnTo>
                <a:lnTo>
                  <a:pt x="512" y="71"/>
                </a:lnTo>
                <a:lnTo>
                  <a:pt x="519" y="71"/>
                </a:lnTo>
                <a:lnTo>
                  <a:pt x="525" y="71"/>
                </a:lnTo>
                <a:lnTo>
                  <a:pt x="532" y="77"/>
                </a:lnTo>
                <a:lnTo>
                  <a:pt x="538" y="77"/>
                </a:lnTo>
                <a:lnTo>
                  <a:pt x="544" y="77"/>
                </a:lnTo>
                <a:lnTo>
                  <a:pt x="544" y="83"/>
                </a:lnTo>
                <a:lnTo>
                  <a:pt x="551" y="83"/>
                </a:lnTo>
                <a:lnTo>
                  <a:pt x="564" y="90"/>
                </a:lnTo>
                <a:lnTo>
                  <a:pt x="564" y="90"/>
                </a:lnTo>
                <a:lnTo>
                  <a:pt x="570" y="90"/>
                </a:lnTo>
                <a:lnTo>
                  <a:pt x="576" y="96"/>
                </a:lnTo>
                <a:lnTo>
                  <a:pt x="583" y="96"/>
                </a:lnTo>
                <a:lnTo>
                  <a:pt x="583" y="103"/>
                </a:lnTo>
                <a:lnTo>
                  <a:pt x="596" y="103"/>
                </a:lnTo>
                <a:lnTo>
                  <a:pt x="602" y="109"/>
                </a:lnTo>
                <a:lnTo>
                  <a:pt x="602" y="109"/>
                </a:lnTo>
                <a:lnTo>
                  <a:pt x="608" y="115"/>
                </a:lnTo>
                <a:lnTo>
                  <a:pt x="615" y="115"/>
                </a:lnTo>
                <a:lnTo>
                  <a:pt x="621" y="122"/>
                </a:lnTo>
                <a:lnTo>
                  <a:pt x="628" y="122"/>
                </a:lnTo>
                <a:lnTo>
                  <a:pt x="634" y="128"/>
                </a:lnTo>
                <a:lnTo>
                  <a:pt x="640" y="135"/>
                </a:lnTo>
                <a:lnTo>
                  <a:pt x="640" y="135"/>
                </a:lnTo>
                <a:lnTo>
                  <a:pt x="647" y="141"/>
                </a:lnTo>
                <a:lnTo>
                  <a:pt x="653" y="141"/>
                </a:lnTo>
                <a:lnTo>
                  <a:pt x="660" y="148"/>
                </a:lnTo>
                <a:lnTo>
                  <a:pt x="666" y="154"/>
                </a:lnTo>
                <a:lnTo>
                  <a:pt x="672" y="160"/>
                </a:lnTo>
                <a:lnTo>
                  <a:pt x="672" y="160"/>
                </a:lnTo>
                <a:lnTo>
                  <a:pt x="679" y="167"/>
                </a:lnTo>
                <a:lnTo>
                  <a:pt x="685" y="173"/>
                </a:lnTo>
                <a:lnTo>
                  <a:pt x="692" y="180"/>
                </a:lnTo>
                <a:lnTo>
                  <a:pt x="698" y="186"/>
                </a:lnTo>
                <a:lnTo>
                  <a:pt x="704" y="186"/>
                </a:lnTo>
                <a:lnTo>
                  <a:pt x="711" y="192"/>
                </a:lnTo>
                <a:lnTo>
                  <a:pt x="711" y="199"/>
                </a:lnTo>
                <a:lnTo>
                  <a:pt x="717" y="205"/>
                </a:lnTo>
                <a:lnTo>
                  <a:pt x="730" y="212"/>
                </a:lnTo>
                <a:lnTo>
                  <a:pt x="730" y="218"/>
                </a:lnTo>
                <a:lnTo>
                  <a:pt x="736" y="224"/>
                </a:lnTo>
                <a:lnTo>
                  <a:pt x="743" y="231"/>
                </a:lnTo>
                <a:lnTo>
                  <a:pt x="749" y="237"/>
                </a:lnTo>
                <a:lnTo>
                  <a:pt x="749" y="250"/>
                </a:lnTo>
                <a:lnTo>
                  <a:pt x="762" y="256"/>
                </a:lnTo>
                <a:lnTo>
                  <a:pt x="768" y="263"/>
                </a:lnTo>
                <a:lnTo>
                  <a:pt x="768" y="269"/>
                </a:lnTo>
                <a:lnTo>
                  <a:pt x="775" y="276"/>
                </a:lnTo>
                <a:lnTo>
                  <a:pt x="781" y="288"/>
                </a:lnTo>
                <a:lnTo>
                  <a:pt x="788" y="301"/>
                </a:lnTo>
                <a:lnTo>
                  <a:pt x="794" y="308"/>
                </a:lnTo>
                <a:lnTo>
                  <a:pt x="800" y="320"/>
                </a:lnTo>
                <a:lnTo>
                  <a:pt x="807" y="327"/>
                </a:lnTo>
                <a:lnTo>
                  <a:pt x="807" y="340"/>
                </a:lnTo>
                <a:lnTo>
                  <a:pt x="813" y="346"/>
                </a:lnTo>
                <a:lnTo>
                  <a:pt x="820" y="359"/>
                </a:lnTo>
                <a:lnTo>
                  <a:pt x="826" y="372"/>
                </a:lnTo>
                <a:lnTo>
                  <a:pt x="832" y="385"/>
                </a:lnTo>
                <a:lnTo>
                  <a:pt x="839" y="391"/>
                </a:lnTo>
                <a:lnTo>
                  <a:pt x="839" y="410"/>
                </a:lnTo>
                <a:lnTo>
                  <a:pt x="845" y="417"/>
                </a:lnTo>
                <a:lnTo>
                  <a:pt x="852" y="436"/>
                </a:lnTo>
                <a:lnTo>
                  <a:pt x="858" y="449"/>
                </a:lnTo>
                <a:lnTo>
                  <a:pt x="864" y="461"/>
                </a:lnTo>
                <a:lnTo>
                  <a:pt x="871" y="474"/>
                </a:lnTo>
                <a:lnTo>
                  <a:pt x="877" y="493"/>
                </a:lnTo>
                <a:lnTo>
                  <a:pt x="877" y="506"/>
                </a:lnTo>
                <a:lnTo>
                  <a:pt x="884" y="525"/>
                </a:lnTo>
                <a:lnTo>
                  <a:pt x="890" y="538"/>
                </a:lnTo>
                <a:lnTo>
                  <a:pt x="896" y="558"/>
                </a:lnTo>
                <a:lnTo>
                  <a:pt x="903" y="577"/>
                </a:lnTo>
                <a:lnTo>
                  <a:pt x="909" y="596"/>
                </a:lnTo>
                <a:lnTo>
                  <a:pt x="916" y="609"/>
                </a:lnTo>
                <a:lnTo>
                  <a:pt x="916" y="628"/>
                </a:lnTo>
                <a:lnTo>
                  <a:pt x="922" y="647"/>
                </a:lnTo>
                <a:lnTo>
                  <a:pt x="935" y="666"/>
                </a:lnTo>
                <a:lnTo>
                  <a:pt x="935" y="692"/>
                </a:lnTo>
                <a:lnTo>
                  <a:pt x="941" y="711"/>
                </a:lnTo>
                <a:lnTo>
                  <a:pt x="948" y="730"/>
                </a:lnTo>
                <a:lnTo>
                  <a:pt x="954" y="756"/>
                </a:lnTo>
                <a:lnTo>
                  <a:pt x="954" y="775"/>
                </a:lnTo>
                <a:lnTo>
                  <a:pt x="967" y="801"/>
                </a:lnTo>
                <a:lnTo>
                  <a:pt x="973" y="820"/>
                </a:lnTo>
                <a:lnTo>
                  <a:pt x="973" y="846"/>
                </a:lnTo>
                <a:lnTo>
                  <a:pt x="980" y="871"/>
                </a:lnTo>
                <a:lnTo>
                  <a:pt x="986" y="891"/>
                </a:lnTo>
                <a:lnTo>
                  <a:pt x="992" y="916"/>
                </a:lnTo>
                <a:lnTo>
                  <a:pt x="999" y="942"/>
                </a:lnTo>
                <a:lnTo>
                  <a:pt x="1005" y="961"/>
                </a:lnTo>
                <a:lnTo>
                  <a:pt x="1005" y="987"/>
                </a:lnTo>
                <a:lnTo>
                  <a:pt x="1012" y="1012"/>
                </a:lnTo>
                <a:lnTo>
                  <a:pt x="1018" y="1032"/>
                </a:lnTo>
                <a:lnTo>
                  <a:pt x="1024" y="1057"/>
                </a:lnTo>
                <a:lnTo>
                  <a:pt x="1031" y="1083"/>
                </a:lnTo>
                <a:lnTo>
                  <a:pt x="1037" y="1102"/>
                </a:lnTo>
                <a:lnTo>
                  <a:pt x="1044" y="1121"/>
                </a:lnTo>
                <a:lnTo>
                  <a:pt x="1044" y="1147"/>
                </a:lnTo>
                <a:lnTo>
                  <a:pt x="1050" y="1166"/>
                </a:lnTo>
                <a:lnTo>
                  <a:pt x="1056" y="1185"/>
                </a:lnTo>
                <a:lnTo>
                  <a:pt x="1063" y="1198"/>
                </a:lnTo>
                <a:lnTo>
                  <a:pt x="1069" y="1217"/>
                </a:lnTo>
                <a:lnTo>
                  <a:pt x="1076" y="1237"/>
                </a:lnTo>
                <a:lnTo>
                  <a:pt x="1082" y="1249"/>
                </a:lnTo>
                <a:lnTo>
                  <a:pt x="1082" y="1262"/>
                </a:lnTo>
                <a:lnTo>
                  <a:pt x="1088" y="1275"/>
                </a:lnTo>
                <a:lnTo>
                  <a:pt x="1101" y="1288"/>
                </a:lnTo>
                <a:lnTo>
                  <a:pt x="1101" y="1294"/>
                </a:lnTo>
                <a:lnTo>
                  <a:pt x="1108" y="1307"/>
                </a:lnTo>
                <a:lnTo>
                  <a:pt x="1114" y="1313"/>
                </a:lnTo>
                <a:lnTo>
                  <a:pt x="1120" y="1313"/>
                </a:lnTo>
                <a:lnTo>
                  <a:pt x="1120" y="1313"/>
                </a:lnTo>
                <a:lnTo>
                  <a:pt x="1133" y="1320"/>
                </a:lnTo>
                <a:lnTo>
                  <a:pt x="1140" y="1320"/>
                </a:lnTo>
                <a:lnTo>
                  <a:pt x="1140" y="1313"/>
                </a:lnTo>
                <a:lnTo>
                  <a:pt x="1146" y="1313"/>
                </a:lnTo>
                <a:lnTo>
                  <a:pt x="1152" y="1307"/>
                </a:lnTo>
                <a:lnTo>
                  <a:pt x="1159" y="1301"/>
                </a:lnTo>
                <a:lnTo>
                  <a:pt x="1165" y="1294"/>
                </a:lnTo>
                <a:lnTo>
                  <a:pt x="1172" y="1288"/>
                </a:lnTo>
                <a:lnTo>
                  <a:pt x="1172" y="1275"/>
                </a:lnTo>
                <a:lnTo>
                  <a:pt x="1178" y="1269"/>
                </a:lnTo>
                <a:lnTo>
                  <a:pt x="1184" y="1256"/>
                </a:lnTo>
                <a:lnTo>
                  <a:pt x="1191" y="1243"/>
                </a:lnTo>
                <a:lnTo>
                  <a:pt x="1197" y="1224"/>
                </a:lnTo>
                <a:lnTo>
                  <a:pt x="1204" y="1211"/>
                </a:lnTo>
                <a:lnTo>
                  <a:pt x="1210" y="1198"/>
                </a:lnTo>
                <a:lnTo>
                  <a:pt x="1210" y="1179"/>
                </a:lnTo>
                <a:lnTo>
                  <a:pt x="1216" y="1160"/>
                </a:lnTo>
                <a:lnTo>
                  <a:pt x="1223" y="1147"/>
                </a:lnTo>
                <a:lnTo>
                  <a:pt x="1229" y="1128"/>
                </a:lnTo>
                <a:lnTo>
                  <a:pt x="1236" y="1108"/>
                </a:lnTo>
                <a:lnTo>
                  <a:pt x="1242" y="1089"/>
                </a:lnTo>
                <a:lnTo>
                  <a:pt x="1248" y="1070"/>
                </a:lnTo>
                <a:lnTo>
                  <a:pt x="1248" y="1051"/>
                </a:lnTo>
                <a:lnTo>
                  <a:pt x="1255" y="1038"/>
                </a:lnTo>
                <a:lnTo>
                  <a:pt x="1261" y="1012"/>
                </a:lnTo>
                <a:lnTo>
                  <a:pt x="1268" y="993"/>
                </a:lnTo>
                <a:lnTo>
                  <a:pt x="1274" y="980"/>
                </a:lnTo>
                <a:lnTo>
                  <a:pt x="1280" y="961"/>
                </a:lnTo>
                <a:lnTo>
                  <a:pt x="1287" y="942"/>
                </a:lnTo>
                <a:lnTo>
                  <a:pt x="1287" y="923"/>
                </a:lnTo>
                <a:lnTo>
                  <a:pt x="1293" y="903"/>
                </a:lnTo>
                <a:lnTo>
                  <a:pt x="1306" y="884"/>
                </a:lnTo>
                <a:lnTo>
                  <a:pt x="1306" y="871"/>
                </a:lnTo>
                <a:lnTo>
                  <a:pt x="1312" y="852"/>
                </a:lnTo>
                <a:lnTo>
                  <a:pt x="1319" y="833"/>
                </a:lnTo>
                <a:lnTo>
                  <a:pt x="1325" y="820"/>
                </a:lnTo>
                <a:lnTo>
                  <a:pt x="1325" y="801"/>
                </a:lnTo>
                <a:lnTo>
                  <a:pt x="1338" y="782"/>
                </a:lnTo>
                <a:lnTo>
                  <a:pt x="1344" y="769"/>
                </a:lnTo>
                <a:lnTo>
                  <a:pt x="1344" y="756"/>
                </a:lnTo>
                <a:lnTo>
                  <a:pt x="1351" y="737"/>
                </a:lnTo>
                <a:lnTo>
                  <a:pt x="1357" y="724"/>
                </a:lnTo>
                <a:lnTo>
                  <a:pt x="1357" y="711"/>
                </a:lnTo>
                <a:lnTo>
                  <a:pt x="1370" y="692"/>
                </a:lnTo>
                <a:lnTo>
                  <a:pt x="1376" y="679"/>
                </a:lnTo>
                <a:lnTo>
                  <a:pt x="1376" y="666"/>
                </a:lnTo>
                <a:lnTo>
                  <a:pt x="1383" y="654"/>
                </a:lnTo>
                <a:lnTo>
                  <a:pt x="1389" y="641"/>
                </a:lnTo>
                <a:lnTo>
                  <a:pt x="1396" y="628"/>
                </a:lnTo>
                <a:lnTo>
                  <a:pt x="1402" y="615"/>
                </a:lnTo>
                <a:lnTo>
                  <a:pt x="1408" y="602"/>
                </a:lnTo>
                <a:lnTo>
                  <a:pt x="1415" y="590"/>
                </a:lnTo>
                <a:lnTo>
                  <a:pt x="1415" y="577"/>
                </a:lnTo>
                <a:lnTo>
                  <a:pt x="1421" y="570"/>
                </a:lnTo>
                <a:lnTo>
                  <a:pt x="1428" y="558"/>
                </a:lnTo>
                <a:lnTo>
                  <a:pt x="1434" y="545"/>
                </a:lnTo>
                <a:lnTo>
                  <a:pt x="1440" y="532"/>
                </a:lnTo>
                <a:lnTo>
                  <a:pt x="1447" y="525"/>
                </a:lnTo>
                <a:lnTo>
                  <a:pt x="1453" y="513"/>
                </a:lnTo>
                <a:lnTo>
                  <a:pt x="1453" y="506"/>
                </a:lnTo>
                <a:lnTo>
                  <a:pt x="1460" y="493"/>
                </a:lnTo>
                <a:lnTo>
                  <a:pt x="1472" y="487"/>
                </a:lnTo>
                <a:lnTo>
                  <a:pt x="1472" y="481"/>
                </a:lnTo>
                <a:lnTo>
                  <a:pt x="1479" y="468"/>
                </a:lnTo>
                <a:lnTo>
                  <a:pt x="1485" y="461"/>
                </a:lnTo>
                <a:lnTo>
                  <a:pt x="1492" y="455"/>
                </a:lnTo>
                <a:lnTo>
                  <a:pt x="1492" y="442"/>
                </a:lnTo>
                <a:lnTo>
                  <a:pt x="1504" y="436"/>
                </a:lnTo>
                <a:lnTo>
                  <a:pt x="1511" y="429"/>
                </a:lnTo>
                <a:lnTo>
                  <a:pt x="1511" y="417"/>
                </a:lnTo>
                <a:lnTo>
                  <a:pt x="1517" y="417"/>
                </a:lnTo>
                <a:lnTo>
                  <a:pt x="1524" y="404"/>
                </a:lnTo>
                <a:lnTo>
                  <a:pt x="1524" y="397"/>
                </a:lnTo>
                <a:lnTo>
                  <a:pt x="1536" y="391"/>
                </a:lnTo>
                <a:lnTo>
                  <a:pt x="1543" y="385"/>
                </a:lnTo>
                <a:lnTo>
                  <a:pt x="1543" y="378"/>
                </a:lnTo>
                <a:lnTo>
                  <a:pt x="1549" y="372"/>
                </a:lnTo>
                <a:lnTo>
                  <a:pt x="1556" y="365"/>
                </a:lnTo>
                <a:lnTo>
                  <a:pt x="1562" y="359"/>
                </a:lnTo>
                <a:lnTo>
                  <a:pt x="1568" y="353"/>
                </a:lnTo>
                <a:lnTo>
                  <a:pt x="1575" y="346"/>
                </a:lnTo>
                <a:lnTo>
                  <a:pt x="1581" y="346"/>
                </a:lnTo>
                <a:lnTo>
                  <a:pt x="1581" y="340"/>
                </a:lnTo>
                <a:lnTo>
                  <a:pt x="1588" y="333"/>
                </a:lnTo>
                <a:lnTo>
                  <a:pt x="1594" y="327"/>
                </a:lnTo>
                <a:lnTo>
                  <a:pt x="1600" y="320"/>
                </a:lnTo>
                <a:lnTo>
                  <a:pt x="1607" y="320"/>
                </a:lnTo>
                <a:lnTo>
                  <a:pt x="1613" y="314"/>
                </a:lnTo>
                <a:lnTo>
                  <a:pt x="1620" y="308"/>
                </a:lnTo>
                <a:lnTo>
                  <a:pt x="1620" y="301"/>
                </a:lnTo>
                <a:lnTo>
                  <a:pt x="1626" y="301"/>
                </a:lnTo>
                <a:lnTo>
                  <a:pt x="1632" y="295"/>
                </a:lnTo>
                <a:lnTo>
                  <a:pt x="1639" y="288"/>
                </a:lnTo>
                <a:lnTo>
                  <a:pt x="1645" y="288"/>
                </a:lnTo>
                <a:lnTo>
                  <a:pt x="1652" y="282"/>
                </a:lnTo>
                <a:lnTo>
                  <a:pt x="1658" y="276"/>
                </a:lnTo>
                <a:lnTo>
                  <a:pt x="1658" y="276"/>
                </a:lnTo>
                <a:lnTo>
                  <a:pt x="1664" y="269"/>
                </a:lnTo>
                <a:lnTo>
                  <a:pt x="1677" y="263"/>
                </a:lnTo>
                <a:lnTo>
                  <a:pt x="1677" y="263"/>
                </a:lnTo>
                <a:lnTo>
                  <a:pt x="1684" y="256"/>
                </a:lnTo>
                <a:lnTo>
                  <a:pt x="1690" y="256"/>
                </a:lnTo>
                <a:lnTo>
                  <a:pt x="1690" y="250"/>
                </a:lnTo>
                <a:lnTo>
                  <a:pt x="1696" y="250"/>
                </a:lnTo>
                <a:lnTo>
                  <a:pt x="1709" y="244"/>
                </a:lnTo>
                <a:lnTo>
                  <a:pt x="1709" y="244"/>
                </a:lnTo>
                <a:lnTo>
                  <a:pt x="1716" y="237"/>
                </a:lnTo>
                <a:lnTo>
                  <a:pt x="1722" y="237"/>
                </a:lnTo>
                <a:lnTo>
                  <a:pt x="1728" y="231"/>
                </a:lnTo>
                <a:lnTo>
                  <a:pt x="1728" y="231"/>
                </a:lnTo>
                <a:lnTo>
                  <a:pt x="1741" y="224"/>
                </a:lnTo>
                <a:lnTo>
                  <a:pt x="1748" y="224"/>
                </a:lnTo>
                <a:lnTo>
                  <a:pt x="1748" y="218"/>
                </a:lnTo>
                <a:lnTo>
                  <a:pt x="1754" y="218"/>
                </a:lnTo>
                <a:lnTo>
                  <a:pt x="1760" y="212"/>
                </a:lnTo>
                <a:lnTo>
                  <a:pt x="1767" y="212"/>
                </a:lnTo>
                <a:lnTo>
                  <a:pt x="1773" y="205"/>
                </a:lnTo>
                <a:lnTo>
                  <a:pt x="1780" y="205"/>
                </a:lnTo>
                <a:lnTo>
                  <a:pt x="1786" y="205"/>
                </a:lnTo>
                <a:lnTo>
                  <a:pt x="1786" y="205"/>
                </a:lnTo>
                <a:lnTo>
                  <a:pt x="1792" y="199"/>
                </a:lnTo>
                <a:lnTo>
                  <a:pt x="1799" y="199"/>
                </a:lnTo>
                <a:lnTo>
                  <a:pt x="1805" y="192"/>
                </a:lnTo>
                <a:lnTo>
                  <a:pt x="1812" y="192"/>
                </a:lnTo>
                <a:lnTo>
                  <a:pt x="1818" y="192"/>
                </a:lnTo>
                <a:lnTo>
                  <a:pt x="1824" y="186"/>
                </a:lnTo>
                <a:lnTo>
                  <a:pt x="1824" y="186"/>
                </a:lnTo>
                <a:lnTo>
                  <a:pt x="1831" y="186"/>
                </a:lnTo>
                <a:lnTo>
                  <a:pt x="1844" y="186"/>
                </a:lnTo>
                <a:lnTo>
                  <a:pt x="1844" y="180"/>
                </a:lnTo>
                <a:lnTo>
                  <a:pt x="1850" y="180"/>
                </a:lnTo>
                <a:lnTo>
                  <a:pt x="1856" y="173"/>
                </a:lnTo>
                <a:lnTo>
                  <a:pt x="1863" y="173"/>
                </a:lnTo>
                <a:lnTo>
                  <a:pt x="1863" y="173"/>
                </a:lnTo>
                <a:lnTo>
                  <a:pt x="1876" y="167"/>
                </a:lnTo>
                <a:lnTo>
                  <a:pt x="1876" y="167"/>
                </a:lnTo>
                <a:lnTo>
                  <a:pt x="1882" y="167"/>
                </a:lnTo>
                <a:lnTo>
                  <a:pt x="1888" y="160"/>
                </a:lnTo>
                <a:lnTo>
                  <a:pt x="1895" y="160"/>
                </a:lnTo>
                <a:lnTo>
                  <a:pt x="1895" y="160"/>
                </a:lnTo>
                <a:lnTo>
                  <a:pt x="1908" y="160"/>
                </a:lnTo>
                <a:lnTo>
                  <a:pt x="1914" y="160"/>
                </a:lnTo>
                <a:lnTo>
                  <a:pt x="1914" y="154"/>
                </a:lnTo>
                <a:lnTo>
                  <a:pt x="1920" y="154"/>
                </a:lnTo>
                <a:lnTo>
                  <a:pt x="1927" y="154"/>
                </a:lnTo>
                <a:lnTo>
                  <a:pt x="1933" y="154"/>
                </a:lnTo>
                <a:lnTo>
                  <a:pt x="1940" y="148"/>
                </a:lnTo>
                <a:lnTo>
                  <a:pt x="1946" y="148"/>
                </a:lnTo>
                <a:lnTo>
                  <a:pt x="1952" y="148"/>
                </a:lnTo>
                <a:lnTo>
                  <a:pt x="1952" y="148"/>
                </a:lnTo>
                <a:lnTo>
                  <a:pt x="1959" y="141"/>
                </a:lnTo>
                <a:lnTo>
                  <a:pt x="1965" y="141"/>
                </a:lnTo>
                <a:lnTo>
                  <a:pt x="1972" y="141"/>
                </a:lnTo>
                <a:lnTo>
                  <a:pt x="1978" y="141"/>
                </a:lnTo>
                <a:lnTo>
                  <a:pt x="1984" y="135"/>
                </a:lnTo>
                <a:lnTo>
                  <a:pt x="1991" y="135"/>
                </a:lnTo>
                <a:lnTo>
                  <a:pt x="1991" y="135"/>
                </a:lnTo>
                <a:lnTo>
                  <a:pt x="1997" y="135"/>
                </a:lnTo>
                <a:lnTo>
                  <a:pt x="2010" y="135"/>
                </a:lnTo>
                <a:lnTo>
                  <a:pt x="2010" y="135"/>
                </a:lnTo>
                <a:lnTo>
                  <a:pt x="2016" y="128"/>
                </a:lnTo>
                <a:lnTo>
                  <a:pt x="2023" y="128"/>
                </a:lnTo>
                <a:lnTo>
                  <a:pt x="2029" y="128"/>
                </a:lnTo>
                <a:lnTo>
                  <a:pt x="2029" y="128"/>
                </a:lnTo>
                <a:lnTo>
                  <a:pt x="2036" y="128"/>
                </a:lnTo>
                <a:lnTo>
                  <a:pt x="2042" y="122"/>
                </a:lnTo>
                <a:lnTo>
                  <a:pt x="2048" y="122"/>
                </a:lnTo>
                <a:lnTo>
                  <a:pt x="2055" y="122"/>
                </a:lnTo>
                <a:lnTo>
                  <a:pt x="2061" y="122"/>
                </a:lnTo>
                <a:lnTo>
                  <a:pt x="2061" y="122"/>
                </a:lnTo>
                <a:lnTo>
                  <a:pt x="2068" y="115"/>
                </a:lnTo>
                <a:lnTo>
                  <a:pt x="2080" y="115"/>
                </a:lnTo>
                <a:lnTo>
                  <a:pt x="2080" y="115"/>
                </a:lnTo>
                <a:lnTo>
                  <a:pt x="2087" y="115"/>
                </a:lnTo>
                <a:lnTo>
                  <a:pt x="2093" y="115"/>
                </a:lnTo>
                <a:lnTo>
                  <a:pt x="2100" y="115"/>
                </a:lnTo>
                <a:lnTo>
                  <a:pt x="2100" y="115"/>
                </a:lnTo>
                <a:lnTo>
                  <a:pt x="2112" y="115"/>
                </a:lnTo>
                <a:lnTo>
                  <a:pt x="2119" y="115"/>
                </a:lnTo>
                <a:lnTo>
                  <a:pt x="2119" y="109"/>
                </a:lnTo>
                <a:lnTo>
                  <a:pt x="2125" y="109"/>
                </a:lnTo>
                <a:lnTo>
                  <a:pt x="2132" y="109"/>
                </a:lnTo>
                <a:lnTo>
                  <a:pt x="2138" y="109"/>
                </a:lnTo>
                <a:lnTo>
                  <a:pt x="2144" y="109"/>
                </a:lnTo>
                <a:lnTo>
                  <a:pt x="2151" y="109"/>
                </a:lnTo>
                <a:lnTo>
                  <a:pt x="2157" y="103"/>
                </a:lnTo>
                <a:lnTo>
                  <a:pt x="2157" y="103"/>
                </a:lnTo>
                <a:lnTo>
                  <a:pt x="2164" y="103"/>
                </a:lnTo>
                <a:lnTo>
                  <a:pt x="2170" y="103"/>
                </a:lnTo>
                <a:lnTo>
                  <a:pt x="2176" y="103"/>
                </a:lnTo>
                <a:lnTo>
                  <a:pt x="2183" y="103"/>
                </a:lnTo>
                <a:lnTo>
                  <a:pt x="2189" y="103"/>
                </a:lnTo>
                <a:lnTo>
                  <a:pt x="2196" y="96"/>
                </a:lnTo>
                <a:lnTo>
                  <a:pt x="2196" y="96"/>
                </a:lnTo>
                <a:lnTo>
                  <a:pt x="2202" y="96"/>
                </a:lnTo>
                <a:lnTo>
                  <a:pt x="2208" y="96"/>
                </a:lnTo>
                <a:lnTo>
                  <a:pt x="2215" y="96"/>
                </a:lnTo>
                <a:lnTo>
                  <a:pt x="2221" y="96"/>
                </a:lnTo>
                <a:lnTo>
                  <a:pt x="2228" y="96"/>
                </a:lnTo>
                <a:lnTo>
                  <a:pt x="2228" y="90"/>
                </a:lnTo>
                <a:lnTo>
                  <a:pt x="2234" y="90"/>
                </a:lnTo>
                <a:lnTo>
                  <a:pt x="2247" y="90"/>
                </a:lnTo>
                <a:lnTo>
                  <a:pt x="2247" y="90"/>
                </a:lnTo>
                <a:lnTo>
                  <a:pt x="2253" y="90"/>
                </a:lnTo>
                <a:lnTo>
                  <a:pt x="2260" y="90"/>
                </a:lnTo>
                <a:lnTo>
                  <a:pt x="2266" y="90"/>
                </a:lnTo>
                <a:lnTo>
                  <a:pt x="2266" y="90"/>
                </a:lnTo>
                <a:lnTo>
                  <a:pt x="2279" y="90"/>
                </a:lnTo>
                <a:lnTo>
                  <a:pt x="2285" y="90"/>
                </a:lnTo>
                <a:lnTo>
                  <a:pt x="2285" y="90"/>
                </a:lnTo>
                <a:lnTo>
                  <a:pt x="2292" y="90"/>
                </a:lnTo>
                <a:lnTo>
                  <a:pt x="2298" y="90"/>
                </a:lnTo>
                <a:lnTo>
                  <a:pt x="2304" y="83"/>
                </a:lnTo>
                <a:lnTo>
                  <a:pt x="2311" y="83"/>
                </a:lnTo>
                <a:lnTo>
                  <a:pt x="2317" y="83"/>
                </a:lnTo>
                <a:lnTo>
                  <a:pt x="2324" y="83"/>
                </a:lnTo>
                <a:lnTo>
                  <a:pt x="2324" y="83"/>
                </a:lnTo>
                <a:lnTo>
                  <a:pt x="2330" y="83"/>
                </a:lnTo>
                <a:lnTo>
                  <a:pt x="2336" y="83"/>
                </a:lnTo>
                <a:lnTo>
                  <a:pt x="2343" y="83"/>
                </a:lnTo>
                <a:lnTo>
                  <a:pt x="2349" y="83"/>
                </a:lnTo>
                <a:lnTo>
                  <a:pt x="2356" y="83"/>
                </a:lnTo>
                <a:lnTo>
                  <a:pt x="2362" y="77"/>
                </a:lnTo>
                <a:lnTo>
                  <a:pt x="2362" y="77"/>
                </a:lnTo>
                <a:lnTo>
                  <a:pt x="2368" y="77"/>
                </a:lnTo>
                <a:lnTo>
                  <a:pt x="2381" y="77"/>
                </a:lnTo>
                <a:lnTo>
                  <a:pt x="2381" y="77"/>
                </a:lnTo>
                <a:lnTo>
                  <a:pt x="2388" y="77"/>
                </a:lnTo>
                <a:lnTo>
                  <a:pt x="2394" y="77"/>
                </a:lnTo>
                <a:lnTo>
                  <a:pt x="2394" y="77"/>
                </a:lnTo>
                <a:lnTo>
                  <a:pt x="2400" y="77"/>
                </a:lnTo>
                <a:lnTo>
                  <a:pt x="2413" y="77"/>
                </a:lnTo>
                <a:lnTo>
                  <a:pt x="2413" y="77"/>
                </a:lnTo>
                <a:lnTo>
                  <a:pt x="2420" y="71"/>
                </a:lnTo>
                <a:lnTo>
                  <a:pt x="2426" y="71"/>
                </a:lnTo>
                <a:lnTo>
                  <a:pt x="2432" y="71"/>
                </a:lnTo>
                <a:lnTo>
                  <a:pt x="2432" y="71"/>
                </a:lnTo>
                <a:lnTo>
                  <a:pt x="2439" y="71"/>
                </a:lnTo>
                <a:lnTo>
                  <a:pt x="2452" y="71"/>
                </a:lnTo>
                <a:lnTo>
                  <a:pt x="2452" y="71"/>
                </a:lnTo>
                <a:lnTo>
                  <a:pt x="2458" y="71"/>
                </a:lnTo>
                <a:lnTo>
                  <a:pt x="2464" y="71"/>
                </a:lnTo>
                <a:lnTo>
                  <a:pt x="2471" y="71"/>
                </a:lnTo>
                <a:lnTo>
                  <a:pt x="2471" y="71"/>
                </a:lnTo>
                <a:lnTo>
                  <a:pt x="2484" y="71"/>
                </a:lnTo>
                <a:lnTo>
                  <a:pt x="2490" y="71"/>
                </a:lnTo>
                <a:lnTo>
                  <a:pt x="2490" y="71"/>
                </a:lnTo>
                <a:lnTo>
                  <a:pt x="2496" y="71"/>
                </a:lnTo>
                <a:lnTo>
                  <a:pt x="2503" y="71"/>
                </a:lnTo>
                <a:lnTo>
                  <a:pt x="2509" y="71"/>
                </a:lnTo>
                <a:lnTo>
                  <a:pt x="2516" y="71"/>
                </a:lnTo>
                <a:lnTo>
                  <a:pt x="2522" y="71"/>
                </a:lnTo>
                <a:lnTo>
                  <a:pt x="2528" y="64"/>
                </a:lnTo>
                <a:lnTo>
                  <a:pt x="2528" y="64"/>
                </a:lnTo>
                <a:lnTo>
                  <a:pt x="2535" y="64"/>
                </a:lnTo>
                <a:lnTo>
                  <a:pt x="2541" y="64"/>
                </a:lnTo>
                <a:lnTo>
                  <a:pt x="2548" y="64"/>
                </a:lnTo>
                <a:lnTo>
                  <a:pt x="2554" y="64"/>
                </a:lnTo>
                <a:lnTo>
                  <a:pt x="2560" y="64"/>
                </a:lnTo>
                <a:lnTo>
                  <a:pt x="2560" y="64"/>
                </a:lnTo>
                <a:lnTo>
                  <a:pt x="2567" y="64"/>
                </a:lnTo>
                <a:lnTo>
                  <a:pt x="2573" y="64"/>
                </a:lnTo>
                <a:lnTo>
                  <a:pt x="2580" y="64"/>
                </a:lnTo>
                <a:lnTo>
                  <a:pt x="2586" y="64"/>
                </a:lnTo>
                <a:lnTo>
                  <a:pt x="2592" y="64"/>
                </a:lnTo>
                <a:lnTo>
                  <a:pt x="2599" y="64"/>
                </a:lnTo>
                <a:lnTo>
                  <a:pt x="2599" y="64"/>
                </a:lnTo>
                <a:lnTo>
                  <a:pt x="2605" y="58"/>
                </a:lnTo>
                <a:lnTo>
                  <a:pt x="2618" y="58"/>
                </a:lnTo>
                <a:lnTo>
                  <a:pt x="2618" y="58"/>
                </a:lnTo>
                <a:lnTo>
                  <a:pt x="2624" y="58"/>
                </a:lnTo>
                <a:lnTo>
                  <a:pt x="2631" y="58"/>
                </a:lnTo>
                <a:lnTo>
                  <a:pt x="2637" y="58"/>
                </a:lnTo>
                <a:lnTo>
                  <a:pt x="2637" y="58"/>
                </a:lnTo>
                <a:lnTo>
                  <a:pt x="2650" y="58"/>
                </a:lnTo>
                <a:lnTo>
                  <a:pt x="2656" y="58"/>
                </a:lnTo>
                <a:lnTo>
                  <a:pt x="2656" y="58"/>
                </a:lnTo>
                <a:lnTo>
                  <a:pt x="2663" y="58"/>
                </a:lnTo>
                <a:lnTo>
                  <a:pt x="2669" y="58"/>
                </a:lnTo>
                <a:lnTo>
                  <a:pt x="2676" y="58"/>
                </a:lnTo>
                <a:lnTo>
                  <a:pt x="2682" y="58"/>
                </a:lnTo>
                <a:lnTo>
                  <a:pt x="2688" y="58"/>
                </a:lnTo>
                <a:lnTo>
                  <a:pt x="2695" y="58"/>
                </a:lnTo>
                <a:lnTo>
                  <a:pt x="2695" y="58"/>
                </a:lnTo>
                <a:lnTo>
                  <a:pt x="2701" y="58"/>
                </a:lnTo>
                <a:lnTo>
                  <a:pt x="2708" y="51"/>
                </a:lnTo>
                <a:lnTo>
                  <a:pt x="2714" y="51"/>
                </a:lnTo>
                <a:lnTo>
                  <a:pt x="2720" y="51"/>
                </a:lnTo>
                <a:lnTo>
                  <a:pt x="2727" y="51"/>
                </a:lnTo>
                <a:lnTo>
                  <a:pt x="2727" y="51"/>
                </a:lnTo>
                <a:lnTo>
                  <a:pt x="2733" y="51"/>
                </a:lnTo>
                <a:lnTo>
                  <a:pt x="2740" y="51"/>
                </a:lnTo>
                <a:lnTo>
                  <a:pt x="2746" y="51"/>
                </a:lnTo>
                <a:lnTo>
                  <a:pt x="2752" y="51"/>
                </a:lnTo>
                <a:lnTo>
                  <a:pt x="2759" y="51"/>
                </a:lnTo>
                <a:lnTo>
                  <a:pt x="2765" y="51"/>
                </a:lnTo>
                <a:lnTo>
                  <a:pt x="2765" y="51"/>
                </a:lnTo>
                <a:lnTo>
                  <a:pt x="2772" y="51"/>
                </a:lnTo>
                <a:lnTo>
                  <a:pt x="2784" y="51"/>
                </a:lnTo>
                <a:lnTo>
                  <a:pt x="2784" y="51"/>
                </a:lnTo>
                <a:lnTo>
                  <a:pt x="2791" y="51"/>
                </a:lnTo>
                <a:lnTo>
                  <a:pt x="2797" y="51"/>
                </a:lnTo>
                <a:lnTo>
                  <a:pt x="2804" y="51"/>
                </a:lnTo>
                <a:lnTo>
                  <a:pt x="2804" y="51"/>
                </a:lnTo>
                <a:lnTo>
                  <a:pt x="2816" y="51"/>
                </a:lnTo>
                <a:lnTo>
                  <a:pt x="2823" y="51"/>
                </a:lnTo>
                <a:lnTo>
                  <a:pt x="2823" y="45"/>
                </a:lnTo>
                <a:lnTo>
                  <a:pt x="2829" y="45"/>
                </a:lnTo>
              </a:path>
            </a:pathLst>
          </a:custGeom>
          <a:noFill/>
          <a:ln w="2063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69" name="Line 105"/>
          <p:cNvSpPr>
            <a:spLocks noChangeShapeType="1"/>
          </p:cNvSpPr>
          <p:nvPr/>
        </p:nvSpPr>
        <p:spPr bwMode="auto">
          <a:xfrm>
            <a:off x="7281864" y="300355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70" name="Line 106"/>
          <p:cNvSpPr>
            <a:spLocks noChangeShapeType="1"/>
          </p:cNvSpPr>
          <p:nvPr/>
        </p:nvSpPr>
        <p:spPr bwMode="auto">
          <a:xfrm>
            <a:off x="7281864" y="304482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71" name="Line 107"/>
          <p:cNvSpPr>
            <a:spLocks noChangeShapeType="1"/>
          </p:cNvSpPr>
          <p:nvPr/>
        </p:nvSpPr>
        <p:spPr bwMode="auto">
          <a:xfrm>
            <a:off x="7281864" y="3086100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72" name="Line 108"/>
          <p:cNvSpPr>
            <a:spLocks noChangeShapeType="1"/>
          </p:cNvSpPr>
          <p:nvPr/>
        </p:nvSpPr>
        <p:spPr bwMode="auto">
          <a:xfrm>
            <a:off x="7281864" y="312578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73" name="Line 109"/>
          <p:cNvSpPr>
            <a:spLocks noChangeShapeType="1"/>
          </p:cNvSpPr>
          <p:nvPr/>
        </p:nvSpPr>
        <p:spPr bwMode="auto">
          <a:xfrm>
            <a:off x="7281864" y="316706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74" name="Line 110"/>
          <p:cNvSpPr>
            <a:spLocks noChangeShapeType="1"/>
          </p:cNvSpPr>
          <p:nvPr/>
        </p:nvSpPr>
        <p:spPr bwMode="auto">
          <a:xfrm>
            <a:off x="7281864" y="320675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75" name="Line 111"/>
          <p:cNvSpPr>
            <a:spLocks noChangeShapeType="1"/>
          </p:cNvSpPr>
          <p:nvPr/>
        </p:nvSpPr>
        <p:spPr bwMode="auto">
          <a:xfrm>
            <a:off x="7281864" y="324802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76" name="Line 112"/>
          <p:cNvSpPr>
            <a:spLocks noChangeShapeType="1"/>
          </p:cNvSpPr>
          <p:nvPr/>
        </p:nvSpPr>
        <p:spPr bwMode="auto">
          <a:xfrm>
            <a:off x="7281864" y="3289300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77" name="Line 113"/>
          <p:cNvSpPr>
            <a:spLocks noChangeShapeType="1"/>
          </p:cNvSpPr>
          <p:nvPr/>
        </p:nvSpPr>
        <p:spPr bwMode="auto">
          <a:xfrm>
            <a:off x="7281864" y="332898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78" name="Line 114"/>
          <p:cNvSpPr>
            <a:spLocks noChangeShapeType="1"/>
          </p:cNvSpPr>
          <p:nvPr/>
        </p:nvSpPr>
        <p:spPr bwMode="auto">
          <a:xfrm>
            <a:off x="7281864" y="337026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79" name="Line 115"/>
          <p:cNvSpPr>
            <a:spLocks noChangeShapeType="1"/>
          </p:cNvSpPr>
          <p:nvPr/>
        </p:nvSpPr>
        <p:spPr bwMode="auto">
          <a:xfrm>
            <a:off x="7281864" y="3411538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80" name="Line 116"/>
          <p:cNvSpPr>
            <a:spLocks noChangeShapeType="1"/>
          </p:cNvSpPr>
          <p:nvPr/>
        </p:nvSpPr>
        <p:spPr bwMode="auto">
          <a:xfrm>
            <a:off x="7281864" y="345122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81" name="Line 117"/>
          <p:cNvSpPr>
            <a:spLocks noChangeShapeType="1"/>
          </p:cNvSpPr>
          <p:nvPr/>
        </p:nvSpPr>
        <p:spPr bwMode="auto">
          <a:xfrm>
            <a:off x="7281864" y="349250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82" name="Line 118"/>
          <p:cNvSpPr>
            <a:spLocks noChangeShapeType="1"/>
          </p:cNvSpPr>
          <p:nvPr/>
        </p:nvSpPr>
        <p:spPr bwMode="auto">
          <a:xfrm>
            <a:off x="7281864" y="353218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83" name="Line 119"/>
          <p:cNvSpPr>
            <a:spLocks noChangeShapeType="1"/>
          </p:cNvSpPr>
          <p:nvPr/>
        </p:nvSpPr>
        <p:spPr bwMode="auto">
          <a:xfrm>
            <a:off x="7281864" y="357346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84" name="Line 120"/>
          <p:cNvSpPr>
            <a:spLocks noChangeShapeType="1"/>
          </p:cNvSpPr>
          <p:nvPr/>
        </p:nvSpPr>
        <p:spPr bwMode="auto">
          <a:xfrm>
            <a:off x="7281864" y="3614738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85" name="Line 121"/>
          <p:cNvSpPr>
            <a:spLocks noChangeShapeType="1"/>
          </p:cNvSpPr>
          <p:nvPr/>
        </p:nvSpPr>
        <p:spPr bwMode="auto">
          <a:xfrm>
            <a:off x="7281864" y="365442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86" name="Line 122"/>
          <p:cNvSpPr>
            <a:spLocks noChangeShapeType="1"/>
          </p:cNvSpPr>
          <p:nvPr/>
        </p:nvSpPr>
        <p:spPr bwMode="auto">
          <a:xfrm>
            <a:off x="7281864" y="369570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87" name="Line 123"/>
          <p:cNvSpPr>
            <a:spLocks noChangeShapeType="1"/>
          </p:cNvSpPr>
          <p:nvPr/>
        </p:nvSpPr>
        <p:spPr bwMode="auto">
          <a:xfrm>
            <a:off x="7281864" y="3736975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88" name="Line 124"/>
          <p:cNvSpPr>
            <a:spLocks noChangeShapeType="1"/>
          </p:cNvSpPr>
          <p:nvPr/>
        </p:nvSpPr>
        <p:spPr bwMode="auto">
          <a:xfrm>
            <a:off x="7281864" y="377666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89" name="Line 125"/>
          <p:cNvSpPr>
            <a:spLocks noChangeShapeType="1"/>
          </p:cNvSpPr>
          <p:nvPr/>
        </p:nvSpPr>
        <p:spPr bwMode="auto">
          <a:xfrm>
            <a:off x="7281864" y="381793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90" name="Line 126"/>
          <p:cNvSpPr>
            <a:spLocks noChangeShapeType="1"/>
          </p:cNvSpPr>
          <p:nvPr/>
        </p:nvSpPr>
        <p:spPr bwMode="auto">
          <a:xfrm>
            <a:off x="7281864" y="385762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91" name="Line 127"/>
          <p:cNvSpPr>
            <a:spLocks noChangeShapeType="1"/>
          </p:cNvSpPr>
          <p:nvPr/>
        </p:nvSpPr>
        <p:spPr bwMode="auto">
          <a:xfrm>
            <a:off x="7281864" y="389890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92" name="Line 128"/>
          <p:cNvSpPr>
            <a:spLocks noChangeShapeType="1"/>
          </p:cNvSpPr>
          <p:nvPr/>
        </p:nvSpPr>
        <p:spPr bwMode="auto">
          <a:xfrm>
            <a:off x="7281864" y="3940175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93" name="Line 129"/>
          <p:cNvSpPr>
            <a:spLocks noChangeShapeType="1"/>
          </p:cNvSpPr>
          <p:nvPr/>
        </p:nvSpPr>
        <p:spPr bwMode="auto">
          <a:xfrm>
            <a:off x="7281864" y="397986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94" name="Line 130"/>
          <p:cNvSpPr>
            <a:spLocks noChangeShapeType="1"/>
          </p:cNvSpPr>
          <p:nvPr/>
        </p:nvSpPr>
        <p:spPr bwMode="auto">
          <a:xfrm>
            <a:off x="7281864" y="402113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95" name="Line 131"/>
          <p:cNvSpPr>
            <a:spLocks noChangeShapeType="1"/>
          </p:cNvSpPr>
          <p:nvPr/>
        </p:nvSpPr>
        <p:spPr bwMode="auto">
          <a:xfrm>
            <a:off x="7281864" y="4062413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96" name="Line 132"/>
          <p:cNvSpPr>
            <a:spLocks noChangeShapeType="1"/>
          </p:cNvSpPr>
          <p:nvPr/>
        </p:nvSpPr>
        <p:spPr bwMode="auto">
          <a:xfrm>
            <a:off x="7281864" y="410210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97" name="Line 133"/>
          <p:cNvSpPr>
            <a:spLocks noChangeShapeType="1"/>
          </p:cNvSpPr>
          <p:nvPr/>
        </p:nvSpPr>
        <p:spPr bwMode="auto">
          <a:xfrm>
            <a:off x="7281864" y="414337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98" name="Line 134"/>
          <p:cNvSpPr>
            <a:spLocks noChangeShapeType="1"/>
          </p:cNvSpPr>
          <p:nvPr/>
        </p:nvSpPr>
        <p:spPr bwMode="auto">
          <a:xfrm>
            <a:off x="7281864" y="418306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99" name="Line 135"/>
          <p:cNvSpPr>
            <a:spLocks noChangeShapeType="1"/>
          </p:cNvSpPr>
          <p:nvPr/>
        </p:nvSpPr>
        <p:spPr bwMode="auto">
          <a:xfrm>
            <a:off x="7281864" y="422433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00" name="Line 136"/>
          <p:cNvSpPr>
            <a:spLocks noChangeShapeType="1"/>
          </p:cNvSpPr>
          <p:nvPr/>
        </p:nvSpPr>
        <p:spPr bwMode="auto">
          <a:xfrm>
            <a:off x="7281864" y="4265613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01" name="Line 137"/>
          <p:cNvSpPr>
            <a:spLocks noChangeShapeType="1"/>
          </p:cNvSpPr>
          <p:nvPr/>
        </p:nvSpPr>
        <p:spPr bwMode="auto">
          <a:xfrm>
            <a:off x="7281864" y="430530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02" name="Line 138"/>
          <p:cNvSpPr>
            <a:spLocks noChangeShapeType="1"/>
          </p:cNvSpPr>
          <p:nvPr/>
        </p:nvSpPr>
        <p:spPr bwMode="auto">
          <a:xfrm>
            <a:off x="7281864" y="434657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03" name="Line 139"/>
          <p:cNvSpPr>
            <a:spLocks noChangeShapeType="1"/>
          </p:cNvSpPr>
          <p:nvPr/>
        </p:nvSpPr>
        <p:spPr bwMode="auto">
          <a:xfrm>
            <a:off x="7281864" y="4387850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04" name="Line 140"/>
          <p:cNvSpPr>
            <a:spLocks noChangeShapeType="1"/>
          </p:cNvSpPr>
          <p:nvPr/>
        </p:nvSpPr>
        <p:spPr bwMode="auto">
          <a:xfrm>
            <a:off x="7281864" y="442753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05" name="Line 141"/>
          <p:cNvSpPr>
            <a:spLocks noChangeShapeType="1"/>
          </p:cNvSpPr>
          <p:nvPr/>
        </p:nvSpPr>
        <p:spPr bwMode="auto">
          <a:xfrm>
            <a:off x="7281864" y="446881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06" name="Line 142"/>
          <p:cNvSpPr>
            <a:spLocks noChangeShapeType="1"/>
          </p:cNvSpPr>
          <p:nvPr/>
        </p:nvSpPr>
        <p:spPr bwMode="auto">
          <a:xfrm>
            <a:off x="7281864" y="450850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07" name="Line 143"/>
          <p:cNvSpPr>
            <a:spLocks noChangeShapeType="1"/>
          </p:cNvSpPr>
          <p:nvPr/>
        </p:nvSpPr>
        <p:spPr bwMode="auto">
          <a:xfrm>
            <a:off x="7281864" y="454977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08" name="Line 144"/>
          <p:cNvSpPr>
            <a:spLocks noChangeShapeType="1"/>
          </p:cNvSpPr>
          <p:nvPr/>
        </p:nvSpPr>
        <p:spPr bwMode="auto">
          <a:xfrm>
            <a:off x="7281864" y="4591050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09" name="Line 145"/>
          <p:cNvSpPr>
            <a:spLocks noChangeShapeType="1"/>
          </p:cNvSpPr>
          <p:nvPr/>
        </p:nvSpPr>
        <p:spPr bwMode="auto">
          <a:xfrm>
            <a:off x="7281864" y="463073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10" name="Line 146"/>
          <p:cNvSpPr>
            <a:spLocks noChangeShapeType="1"/>
          </p:cNvSpPr>
          <p:nvPr/>
        </p:nvSpPr>
        <p:spPr bwMode="auto">
          <a:xfrm>
            <a:off x="7281864" y="467201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11" name="Line 147"/>
          <p:cNvSpPr>
            <a:spLocks noChangeShapeType="1"/>
          </p:cNvSpPr>
          <p:nvPr/>
        </p:nvSpPr>
        <p:spPr bwMode="auto">
          <a:xfrm>
            <a:off x="7281864" y="4713288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12" name="Line 148"/>
          <p:cNvSpPr>
            <a:spLocks noChangeShapeType="1"/>
          </p:cNvSpPr>
          <p:nvPr/>
        </p:nvSpPr>
        <p:spPr bwMode="auto">
          <a:xfrm>
            <a:off x="7281864" y="475297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13" name="Line 149"/>
          <p:cNvSpPr>
            <a:spLocks noChangeShapeType="1"/>
          </p:cNvSpPr>
          <p:nvPr/>
        </p:nvSpPr>
        <p:spPr bwMode="auto">
          <a:xfrm>
            <a:off x="7281864" y="4794250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14" name="Line 150"/>
          <p:cNvSpPr>
            <a:spLocks noChangeShapeType="1"/>
          </p:cNvSpPr>
          <p:nvPr/>
        </p:nvSpPr>
        <p:spPr bwMode="auto">
          <a:xfrm>
            <a:off x="7281864" y="4833939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15" name="Line 151"/>
          <p:cNvSpPr>
            <a:spLocks noChangeShapeType="1"/>
          </p:cNvSpPr>
          <p:nvPr/>
        </p:nvSpPr>
        <p:spPr bwMode="auto">
          <a:xfrm>
            <a:off x="7281864" y="4875214"/>
            <a:ext cx="1587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16" name="Line 152"/>
          <p:cNvSpPr>
            <a:spLocks noChangeShapeType="1"/>
          </p:cNvSpPr>
          <p:nvPr/>
        </p:nvSpPr>
        <p:spPr bwMode="auto">
          <a:xfrm>
            <a:off x="7281864" y="4916488"/>
            <a:ext cx="1587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17" name="Line 153"/>
          <p:cNvSpPr>
            <a:spLocks noChangeShapeType="1"/>
          </p:cNvSpPr>
          <p:nvPr/>
        </p:nvSpPr>
        <p:spPr bwMode="auto">
          <a:xfrm>
            <a:off x="7281864" y="4956175"/>
            <a:ext cx="1587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18" name="Line 154"/>
          <p:cNvSpPr>
            <a:spLocks noChangeShapeType="1"/>
          </p:cNvSpPr>
          <p:nvPr/>
        </p:nvSpPr>
        <p:spPr bwMode="auto">
          <a:xfrm>
            <a:off x="5178425" y="4041775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19" name="Line 155"/>
          <p:cNvSpPr>
            <a:spLocks noChangeShapeType="1"/>
          </p:cNvSpPr>
          <p:nvPr/>
        </p:nvSpPr>
        <p:spPr bwMode="auto">
          <a:xfrm>
            <a:off x="5178425" y="4081464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20" name="Line 156"/>
          <p:cNvSpPr>
            <a:spLocks noChangeShapeType="1"/>
          </p:cNvSpPr>
          <p:nvPr/>
        </p:nvSpPr>
        <p:spPr bwMode="auto">
          <a:xfrm>
            <a:off x="5178425" y="4122739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21" name="Line 157"/>
          <p:cNvSpPr>
            <a:spLocks noChangeShapeType="1"/>
          </p:cNvSpPr>
          <p:nvPr/>
        </p:nvSpPr>
        <p:spPr bwMode="auto">
          <a:xfrm>
            <a:off x="5178425" y="4164013"/>
            <a:ext cx="1588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22" name="Line 158"/>
          <p:cNvSpPr>
            <a:spLocks noChangeShapeType="1"/>
          </p:cNvSpPr>
          <p:nvPr/>
        </p:nvSpPr>
        <p:spPr bwMode="auto">
          <a:xfrm>
            <a:off x="5178425" y="4203700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23" name="Line 159"/>
          <p:cNvSpPr>
            <a:spLocks noChangeShapeType="1"/>
          </p:cNvSpPr>
          <p:nvPr/>
        </p:nvSpPr>
        <p:spPr bwMode="auto">
          <a:xfrm>
            <a:off x="5178425" y="4244975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24" name="Line 160"/>
          <p:cNvSpPr>
            <a:spLocks noChangeShapeType="1"/>
          </p:cNvSpPr>
          <p:nvPr/>
        </p:nvSpPr>
        <p:spPr bwMode="auto">
          <a:xfrm>
            <a:off x="5178425" y="4284664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25" name="Line 161"/>
          <p:cNvSpPr>
            <a:spLocks noChangeShapeType="1"/>
          </p:cNvSpPr>
          <p:nvPr/>
        </p:nvSpPr>
        <p:spPr bwMode="auto">
          <a:xfrm>
            <a:off x="5178425" y="4325939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26" name="Line 162"/>
          <p:cNvSpPr>
            <a:spLocks noChangeShapeType="1"/>
          </p:cNvSpPr>
          <p:nvPr/>
        </p:nvSpPr>
        <p:spPr bwMode="auto">
          <a:xfrm>
            <a:off x="5178425" y="4367214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27" name="Line 163"/>
          <p:cNvSpPr>
            <a:spLocks noChangeShapeType="1"/>
          </p:cNvSpPr>
          <p:nvPr/>
        </p:nvSpPr>
        <p:spPr bwMode="auto">
          <a:xfrm>
            <a:off x="5178425" y="4406900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28" name="Line 164"/>
          <p:cNvSpPr>
            <a:spLocks noChangeShapeType="1"/>
          </p:cNvSpPr>
          <p:nvPr/>
        </p:nvSpPr>
        <p:spPr bwMode="auto">
          <a:xfrm>
            <a:off x="5178425" y="4448175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29" name="Line 165"/>
          <p:cNvSpPr>
            <a:spLocks noChangeShapeType="1"/>
          </p:cNvSpPr>
          <p:nvPr/>
        </p:nvSpPr>
        <p:spPr bwMode="auto">
          <a:xfrm>
            <a:off x="5178425" y="4489450"/>
            <a:ext cx="1588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30" name="Line 166"/>
          <p:cNvSpPr>
            <a:spLocks noChangeShapeType="1"/>
          </p:cNvSpPr>
          <p:nvPr/>
        </p:nvSpPr>
        <p:spPr bwMode="auto">
          <a:xfrm>
            <a:off x="5178425" y="4529139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31" name="Line 167"/>
          <p:cNvSpPr>
            <a:spLocks noChangeShapeType="1"/>
          </p:cNvSpPr>
          <p:nvPr/>
        </p:nvSpPr>
        <p:spPr bwMode="auto">
          <a:xfrm>
            <a:off x="5178425" y="4570414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32" name="Line 168"/>
          <p:cNvSpPr>
            <a:spLocks noChangeShapeType="1"/>
          </p:cNvSpPr>
          <p:nvPr/>
        </p:nvSpPr>
        <p:spPr bwMode="auto">
          <a:xfrm>
            <a:off x="5178425" y="4610100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33" name="Line 169"/>
          <p:cNvSpPr>
            <a:spLocks noChangeShapeType="1"/>
          </p:cNvSpPr>
          <p:nvPr/>
        </p:nvSpPr>
        <p:spPr bwMode="auto">
          <a:xfrm>
            <a:off x="5178425" y="4651375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34" name="Line 170"/>
          <p:cNvSpPr>
            <a:spLocks noChangeShapeType="1"/>
          </p:cNvSpPr>
          <p:nvPr/>
        </p:nvSpPr>
        <p:spPr bwMode="auto">
          <a:xfrm>
            <a:off x="5178425" y="4692650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35" name="Line 171"/>
          <p:cNvSpPr>
            <a:spLocks noChangeShapeType="1"/>
          </p:cNvSpPr>
          <p:nvPr/>
        </p:nvSpPr>
        <p:spPr bwMode="auto">
          <a:xfrm>
            <a:off x="5178425" y="4732339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36" name="Line 172"/>
          <p:cNvSpPr>
            <a:spLocks noChangeShapeType="1"/>
          </p:cNvSpPr>
          <p:nvPr/>
        </p:nvSpPr>
        <p:spPr bwMode="auto">
          <a:xfrm>
            <a:off x="5178425" y="4773614"/>
            <a:ext cx="1588" cy="20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37" name="Line 173"/>
          <p:cNvSpPr>
            <a:spLocks noChangeShapeType="1"/>
          </p:cNvSpPr>
          <p:nvPr/>
        </p:nvSpPr>
        <p:spPr bwMode="auto">
          <a:xfrm>
            <a:off x="5178425" y="4814888"/>
            <a:ext cx="1588" cy="19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38" name="Line 174"/>
          <p:cNvSpPr>
            <a:spLocks noChangeShapeType="1"/>
          </p:cNvSpPr>
          <p:nvPr/>
        </p:nvSpPr>
        <p:spPr bwMode="auto">
          <a:xfrm>
            <a:off x="5178425" y="4854575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39" name="Line 175"/>
          <p:cNvSpPr>
            <a:spLocks noChangeShapeType="1"/>
          </p:cNvSpPr>
          <p:nvPr/>
        </p:nvSpPr>
        <p:spPr bwMode="auto">
          <a:xfrm>
            <a:off x="5178425" y="4895850"/>
            <a:ext cx="1588" cy="20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40" name="Line 176"/>
          <p:cNvSpPr>
            <a:spLocks noChangeShapeType="1"/>
          </p:cNvSpPr>
          <p:nvPr/>
        </p:nvSpPr>
        <p:spPr bwMode="auto">
          <a:xfrm>
            <a:off x="5178425" y="4935538"/>
            <a:ext cx="1588" cy="111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41" name="Text Box 177"/>
          <p:cNvSpPr txBox="1">
            <a:spLocks noChangeArrowheads="1"/>
          </p:cNvSpPr>
          <p:nvPr/>
        </p:nvSpPr>
        <p:spPr bwMode="auto">
          <a:xfrm>
            <a:off x="3581400" y="5718175"/>
            <a:ext cx="41719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模拟带阻</a:t>
            </a:r>
            <a:r>
              <a:rPr lang="zh-CN" altLang="en-US">
                <a:solidFill>
                  <a:srgbClr val="000000"/>
                </a:solidFill>
              </a:rPr>
              <a:t>滤波器的幅度响应</a:t>
            </a:r>
          </a:p>
        </p:txBody>
      </p:sp>
    </p:spTree>
    <p:extLst>
      <p:ext uri="{BB962C8B-B14F-4D97-AF65-F5344CB8AC3E}">
        <p14:creationId xmlns:p14="http://schemas.microsoft.com/office/powerpoint/2010/main" val="203694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模拟频率变换</a:t>
            </a: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828800" y="1447801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4. </a:t>
            </a:r>
            <a:r>
              <a:rPr lang="zh-CN" altLang="en-US" sz="2800" b="1"/>
              <a:t>原型低通到带阻通的变换</a:t>
            </a:r>
          </a:p>
        </p:txBody>
      </p:sp>
      <p:graphicFrame>
        <p:nvGraphicFramePr>
          <p:cNvPr id="39941" name="Object 5"/>
          <p:cNvGraphicFramePr>
            <a:graphicFrameLocks noChangeAspect="1"/>
          </p:cNvGraphicFramePr>
          <p:nvPr/>
        </p:nvGraphicFramePr>
        <p:xfrm>
          <a:off x="4384675" y="2041525"/>
          <a:ext cx="3144838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73" name="公式" r:id="rId3" imgW="1257120" imgH="495000" progId="Equation.3">
                  <p:embed/>
                </p:oleObj>
              </mc:Choice>
              <mc:Fallback>
                <p:oleObj name="公式" r:id="rId3" imgW="1257120" imgH="495000" progId="Equation.3">
                  <p:embed/>
                  <p:pic>
                    <p:nvPicPr>
                      <p:cNvPr id="399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4675" y="2041525"/>
                        <a:ext cx="3144838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/>
          <p:cNvGraphicFramePr>
            <a:graphicFrameLocks noChangeAspect="1"/>
          </p:cNvGraphicFramePr>
          <p:nvPr/>
        </p:nvGraphicFramePr>
        <p:xfrm>
          <a:off x="4343401" y="5334000"/>
          <a:ext cx="4094163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74" name="公式" r:id="rId5" imgW="1638000" imgH="507960" progId="Equation.3">
                  <p:embed/>
                </p:oleObj>
              </mc:Choice>
              <mc:Fallback>
                <p:oleObj name="公式" r:id="rId5" imgW="1638000" imgH="507960" progId="Equation.3">
                  <p:embed/>
                  <p:pic>
                    <p:nvPicPr>
                      <p:cNvPr id="399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1" y="5334000"/>
                        <a:ext cx="4094163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8" name="Object 12"/>
          <p:cNvGraphicFramePr>
            <a:graphicFrameLocks noChangeAspect="1"/>
          </p:cNvGraphicFramePr>
          <p:nvPr/>
        </p:nvGraphicFramePr>
        <p:xfrm>
          <a:off x="2286000" y="3505201"/>
          <a:ext cx="29797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75" name="Equation" r:id="rId7" imgW="1193760" imgH="203040" progId="Equation.3">
                  <p:embed/>
                </p:oleObj>
              </mc:Choice>
              <mc:Fallback>
                <p:oleObj name="Equation" r:id="rId7" imgW="1193760" imgH="203040" progId="Equation.3">
                  <p:embed/>
                  <p:pic>
                    <p:nvPicPr>
                      <p:cNvPr id="3994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505201"/>
                        <a:ext cx="297973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9" name="Object 13"/>
          <p:cNvGraphicFramePr>
            <a:graphicFrameLocks noChangeAspect="1"/>
          </p:cNvGraphicFramePr>
          <p:nvPr/>
        </p:nvGraphicFramePr>
        <p:xfrm>
          <a:off x="6172201" y="3429001"/>
          <a:ext cx="17811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76" name="Equation" r:id="rId9" imgW="711000" imgH="228600" progId="Equation.3">
                  <p:embed/>
                </p:oleObj>
              </mc:Choice>
              <mc:Fallback>
                <p:oleObj name="Equation" r:id="rId9" imgW="711000" imgH="228600" progId="Equation.3">
                  <p:embed/>
                  <p:pic>
                    <p:nvPicPr>
                      <p:cNvPr id="3994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3429001"/>
                        <a:ext cx="178117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0" name="Object 14"/>
          <p:cNvGraphicFramePr>
            <a:graphicFrameLocks noChangeAspect="1"/>
          </p:cNvGraphicFramePr>
          <p:nvPr/>
        </p:nvGraphicFramePr>
        <p:xfrm>
          <a:off x="1812925" y="4221163"/>
          <a:ext cx="564515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77" name="公式" r:id="rId11" imgW="2349360" imgH="431640" progId="Equation.3">
                  <p:embed/>
                </p:oleObj>
              </mc:Choice>
              <mc:Fallback>
                <p:oleObj name="公式" r:id="rId11" imgW="2349360" imgH="431640" progId="Equation.3">
                  <p:embed/>
                  <p:pic>
                    <p:nvPicPr>
                      <p:cNvPr id="3995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5" y="4221163"/>
                        <a:ext cx="5645150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755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模拟频率变换</a:t>
            </a:r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1828800" y="1447801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4. </a:t>
            </a:r>
            <a:r>
              <a:rPr lang="zh-CN" altLang="en-US" sz="2800" b="1"/>
              <a:t>原型低通到带阻通的变换</a:t>
            </a:r>
          </a:p>
        </p:txBody>
      </p:sp>
      <p:graphicFrame>
        <p:nvGraphicFramePr>
          <p:cNvPr id="409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207684"/>
              </p:ext>
            </p:extLst>
          </p:nvPr>
        </p:nvGraphicFramePr>
        <p:xfrm>
          <a:off x="5051680" y="855664"/>
          <a:ext cx="5661025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1" name="Visio" r:id="rId3" imgW="2835554" imgH="2175358" progId="Visio.Drawing.6">
                  <p:embed/>
                </p:oleObj>
              </mc:Choice>
              <mc:Fallback>
                <p:oleObj name="Visio" r:id="rId3" imgW="2835554" imgH="2175358" progId="Visio.Drawing.6">
                  <p:embed/>
                  <p:pic>
                    <p:nvPicPr>
                      <p:cNvPr id="409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1680" y="855664"/>
                        <a:ext cx="5661025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05668"/>
              </p:ext>
            </p:extLst>
          </p:nvPr>
        </p:nvGraphicFramePr>
        <p:xfrm>
          <a:off x="7801864" y="1447801"/>
          <a:ext cx="24574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2" name="公式" r:id="rId5" imgW="1638000" imgH="507960" progId="Equation.3">
                  <p:embed/>
                </p:oleObj>
              </mc:Choice>
              <mc:Fallback>
                <p:oleObj name="公式" r:id="rId5" imgW="1638000" imgH="507960" progId="Equation.3">
                  <p:embed/>
                  <p:pic>
                    <p:nvPicPr>
                      <p:cNvPr id="409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1864" y="1447801"/>
                        <a:ext cx="245745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7"/>
          <p:cNvGraphicFramePr>
            <a:graphicFrameLocks noChangeAspect="1"/>
          </p:cNvGraphicFramePr>
          <p:nvPr/>
        </p:nvGraphicFramePr>
        <p:xfrm>
          <a:off x="2057400" y="2209801"/>
          <a:ext cx="3100388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3" name="公式" r:id="rId7" imgW="1409400" imgH="431640" progId="Equation.3">
                  <p:embed/>
                </p:oleObj>
              </mc:Choice>
              <mc:Fallback>
                <p:oleObj name="公式" r:id="rId7" imgW="1409400" imgH="431640" progId="Equation.3">
                  <p:embed/>
                  <p:pic>
                    <p:nvPicPr>
                      <p:cNvPr id="409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209801"/>
                        <a:ext cx="3100388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8"/>
          <p:cNvGraphicFramePr>
            <a:graphicFrameLocks noChangeAspect="1"/>
          </p:cNvGraphicFramePr>
          <p:nvPr/>
        </p:nvGraphicFramePr>
        <p:xfrm>
          <a:off x="2133601" y="3352801"/>
          <a:ext cx="335121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4" name="公式" r:id="rId9" imgW="1523880" imgH="431640" progId="Equation.3">
                  <p:embed/>
                </p:oleObj>
              </mc:Choice>
              <mc:Fallback>
                <p:oleObj name="公式" r:id="rId9" imgW="1523880" imgH="431640" progId="Equation.3">
                  <p:embed/>
                  <p:pic>
                    <p:nvPicPr>
                      <p:cNvPr id="409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3352801"/>
                        <a:ext cx="3351213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9"/>
          <p:cNvGraphicFramePr>
            <a:graphicFrameLocks noChangeAspect="1"/>
          </p:cNvGraphicFramePr>
          <p:nvPr/>
        </p:nvGraphicFramePr>
        <p:xfrm>
          <a:off x="2286000" y="5105401"/>
          <a:ext cx="273685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5" name="公式" r:id="rId11" imgW="1244520" imgH="469800" progId="Equation.3">
                  <p:embed/>
                </p:oleObj>
              </mc:Choice>
              <mc:Fallback>
                <p:oleObj name="公式" r:id="rId11" imgW="1244520" imgH="469800" progId="Equation.3">
                  <p:embed/>
                  <p:pic>
                    <p:nvPicPr>
                      <p:cNvPr id="4096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105401"/>
                        <a:ext cx="2736850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Object 10"/>
          <p:cNvGraphicFramePr>
            <a:graphicFrameLocks noChangeAspect="1"/>
          </p:cNvGraphicFramePr>
          <p:nvPr/>
        </p:nvGraphicFramePr>
        <p:xfrm>
          <a:off x="6172201" y="5105401"/>
          <a:ext cx="276542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6" name="公式" r:id="rId13" imgW="1257120" imgH="469800" progId="Equation.3">
                  <p:embed/>
                </p:oleObj>
              </mc:Choice>
              <mc:Fallback>
                <p:oleObj name="公式" r:id="rId13" imgW="1257120" imgH="469800" progId="Equation.3">
                  <p:embed/>
                  <p:pic>
                    <p:nvPicPr>
                      <p:cNvPr id="4097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5105401"/>
                        <a:ext cx="2765425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Object 11"/>
          <p:cNvGraphicFramePr>
            <a:graphicFrameLocks noChangeAspect="1"/>
          </p:cNvGraphicFramePr>
          <p:nvPr/>
        </p:nvGraphicFramePr>
        <p:xfrm>
          <a:off x="4343400" y="6096001"/>
          <a:ext cx="2820988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7" name="公式" r:id="rId15" imgW="1282680" imgH="279360" progId="Equation.3">
                  <p:embed/>
                </p:oleObj>
              </mc:Choice>
              <mc:Fallback>
                <p:oleObj name="公式" r:id="rId15" imgW="1282680" imgH="279360" progId="Equation.3">
                  <p:embed/>
                  <p:pic>
                    <p:nvPicPr>
                      <p:cNvPr id="4097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6096001"/>
                        <a:ext cx="2820988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345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模拟频率变换</a:t>
            </a:r>
          </a:p>
        </p:txBody>
      </p:sp>
      <p:graphicFrame>
        <p:nvGraphicFramePr>
          <p:cNvPr id="32829" name="Group 61"/>
          <p:cNvGraphicFramePr>
            <a:graphicFrameLocks noGrp="1"/>
          </p:cNvGraphicFramePr>
          <p:nvPr/>
        </p:nvGraphicFramePr>
        <p:xfrm>
          <a:off x="1981200" y="1397001"/>
          <a:ext cx="8458200" cy="5003801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1858998298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145524637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3300278811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234939322"/>
                    </a:ext>
                  </a:extLst>
                </a:gridCol>
              </a:tblGrid>
              <a:tr h="1000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变换类型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频率变换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复频率变换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注释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002314"/>
                  </a:ext>
                </a:extLst>
              </a:tr>
              <a:tr h="1001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原型低通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低通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489406"/>
                  </a:ext>
                </a:extLst>
              </a:tr>
              <a:tr h="1000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原型低通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高通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806096"/>
                  </a:ext>
                </a:extLst>
              </a:tr>
              <a:tr h="1001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原型低通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带通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endParaRPr kumimoji="1" lang="en-US" altLang="zh-CN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486564"/>
                  </a:ext>
                </a:extLst>
              </a:tr>
              <a:tr h="1000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原型低通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带阻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endParaRPr kumimoji="1" lang="en-US" altLang="zh-CN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608666"/>
                  </a:ext>
                </a:extLst>
              </a:tr>
            </a:tbl>
          </a:graphicData>
        </a:graphic>
      </p:graphicFrame>
      <p:graphicFrame>
        <p:nvGraphicFramePr>
          <p:cNvPr id="32812" name="Object 44"/>
          <p:cNvGraphicFramePr>
            <a:graphicFrameLocks noChangeAspect="1"/>
          </p:cNvGraphicFramePr>
          <p:nvPr/>
        </p:nvGraphicFramePr>
        <p:xfrm>
          <a:off x="4813300" y="2743200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4" name="Equation" r:id="rId3" imgW="622080" imgH="203040" progId="Equation.3">
                  <p:embed/>
                </p:oleObj>
              </mc:Choice>
              <mc:Fallback>
                <p:oleObj name="Equation" r:id="rId3" imgW="622080" imgH="203040" progId="Equation.3">
                  <p:embed/>
                  <p:pic>
                    <p:nvPicPr>
                      <p:cNvPr id="32812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300" y="2743200"/>
                        <a:ext cx="1244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3" name="Object 45"/>
          <p:cNvGraphicFramePr>
            <a:graphicFrameLocks noChangeAspect="1"/>
          </p:cNvGraphicFramePr>
          <p:nvPr/>
        </p:nvGraphicFramePr>
        <p:xfrm>
          <a:off x="6705600" y="2743200"/>
          <a:ext cx="109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5" name="Equation" r:id="rId5" imgW="545760" imgH="203040" progId="Equation.3">
                  <p:embed/>
                </p:oleObj>
              </mc:Choice>
              <mc:Fallback>
                <p:oleObj name="Equation" r:id="rId5" imgW="545760" imgH="203040" progId="Equation.3">
                  <p:embed/>
                  <p:pic>
                    <p:nvPicPr>
                      <p:cNvPr id="32813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743200"/>
                        <a:ext cx="1092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4" name="Object 46"/>
          <p:cNvGraphicFramePr>
            <a:graphicFrameLocks noChangeAspect="1"/>
          </p:cNvGraphicFramePr>
          <p:nvPr/>
        </p:nvGraphicFramePr>
        <p:xfrm>
          <a:off x="4724400" y="3733800"/>
          <a:ext cx="1270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6" name="Equation" r:id="rId7" imgW="634680" imgH="203040" progId="Equation.3">
                  <p:embed/>
                </p:oleObj>
              </mc:Choice>
              <mc:Fallback>
                <p:oleObj name="Equation" r:id="rId7" imgW="634680" imgH="203040" progId="Equation.3">
                  <p:embed/>
                  <p:pic>
                    <p:nvPicPr>
                      <p:cNvPr id="32814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733800"/>
                        <a:ext cx="1270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7" name="Object 49"/>
          <p:cNvGraphicFramePr>
            <a:graphicFrameLocks noChangeAspect="1"/>
          </p:cNvGraphicFramePr>
          <p:nvPr/>
        </p:nvGraphicFramePr>
        <p:xfrm>
          <a:off x="6680200" y="3657600"/>
          <a:ext cx="1143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7" name="Equation" r:id="rId9" imgW="571320" imgH="203040" progId="Equation.3">
                  <p:embed/>
                </p:oleObj>
              </mc:Choice>
              <mc:Fallback>
                <p:oleObj name="Equation" r:id="rId9" imgW="571320" imgH="203040" progId="Equation.3">
                  <p:embed/>
                  <p:pic>
                    <p:nvPicPr>
                      <p:cNvPr id="32817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200" y="3657600"/>
                        <a:ext cx="1143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8" name="Object 50"/>
          <p:cNvGraphicFramePr>
            <a:graphicFrameLocks noChangeAspect="1"/>
          </p:cNvGraphicFramePr>
          <p:nvPr/>
        </p:nvGraphicFramePr>
        <p:xfrm>
          <a:off x="4572000" y="4533900"/>
          <a:ext cx="1600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8" name="Equation" r:id="rId11" imgW="799920" imgH="393480" progId="Equation.3">
                  <p:embed/>
                </p:oleObj>
              </mc:Choice>
              <mc:Fallback>
                <p:oleObj name="Equation" r:id="rId11" imgW="799920" imgH="393480" progId="Equation.3">
                  <p:embed/>
                  <p:pic>
                    <p:nvPicPr>
                      <p:cNvPr id="32818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533900"/>
                        <a:ext cx="1600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9" name="Object 51"/>
          <p:cNvGraphicFramePr>
            <a:graphicFrameLocks noChangeAspect="1"/>
          </p:cNvGraphicFramePr>
          <p:nvPr/>
        </p:nvGraphicFramePr>
        <p:xfrm>
          <a:off x="6629400" y="4495800"/>
          <a:ext cx="1447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9" name="Equation" r:id="rId13" imgW="723600" imgH="393480" progId="Equation.3">
                  <p:embed/>
                </p:oleObj>
              </mc:Choice>
              <mc:Fallback>
                <p:oleObj name="Equation" r:id="rId13" imgW="723600" imgH="393480" progId="Equation.3">
                  <p:embed/>
                  <p:pic>
                    <p:nvPicPr>
                      <p:cNvPr id="32819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495800"/>
                        <a:ext cx="1447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20" name="Object 52"/>
          <p:cNvGraphicFramePr>
            <a:graphicFrameLocks noChangeAspect="1"/>
          </p:cNvGraphicFramePr>
          <p:nvPr/>
        </p:nvGraphicFramePr>
        <p:xfrm>
          <a:off x="4572000" y="5461000"/>
          <a:ext cx="1600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0" name="Equation" r:id="rId15" imgW="799920" imgH="419040" progId="Equation.3">
                  <p:embed/>
                </p:oleObj>
              </mc:Choice>
              <mc:Fallback>
                <p:oleObj name="Equation" r:id="rId15" imgW="799920" imgH="419040" progId="Equation.3">
                  <p:embed/>
                  <p:pic>
                    <p:nvPicPr>
                      <p:cNvPr id="3282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461000"/>
                        <a:ext cx="1600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21" name="Object 53"/>
          <p:cNvGraphicFramePr>
            <a:graphicFrameLocks noChangeAspect="1"/>
          </p:cNvGraphicFramePr>
          <p:nvPr/>
        </p:nvGraphicFramePr>
        <p:xfrm>
          <a:off x="6705600" y="5486400"/>
          <a:ext cx="1447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1" name="Equation" r:id="rId17" imgW="723600" imgH="419040" progId="Equation.3">
                  <p:embed/>
                </p:oleObj>
              </mc:Choice>
              <mc:Fallback>
                <p:oleObj name="Equation" r:id="rId17" imgW="723600" imgH="419040" progId="Equation.3">
                  <p:embed/>
                  <p:pic>
                    <p:nvPicPr>
                      <p:cNvPr id="32821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5486400"/>
                        <a:ext cx="1447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22" name="Object 54"/>
          <p:cNvGraphicFramePr>
            <a:graphicFrameLocks noChangeAspect="1"/>
          </p:cNvGraphicFramePr>
          <p:nvPr/>
        </p:nvGraphicFramePr>
        <p:xfrm>
          <a:off x="8610600" y="4876800"/>
          <a:ext cx="1473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2" name="Equation" r:id="rId19" imgW="736560" imgH="253800" progId="Equation.3">
                  <p:embed/>
                </p:oleObj>
              </mc:Choice>
              <mc:Fallback>
                <p:oleObj name="Equation" r:id="rId19" imgW="736560" imgH="253800" progId="Equation.3">
                  <p:embed/>
                  <p:pic>
                    <p:nvPicPr>
                      <p:cNvPr id="32822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4876800"/>
                        <a:ext cx="1473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23" name="Object 55"/>
          <p:cNvGraphicFramePr>
            <a:graphicFrameLocks noChangeAspect="1"/>
          </p:cNvGraphicFramePr>
          <p:nvPr/>
        </p:nvGraphicFramePr>
        <p:xfrm>
          <a:off x="8636000" y="5892800"/>
          <a:ext cx="1422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3" name="Equation" r:id="rId21" imgW="711000" imgH="228600" progId="Equation.3">
                  <p:embed/>
                </p:oleObj>
              </mc:Choice>
              <mc:Fallback>
                <p:oleObj name="Equation" r:id="rId21" imgW="711000" imgH="228600" progId="Equation.3">
                  <p:embed/>
                  <p:pic>
                    <p:nvPicPr>
                      <p:cNvPr id="32823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0" y="5892800"/>
                        <a:ext cx="1422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30" name="Object 62"/>
          <p:cNvGraphicFramePr>
            <a:graphicFrameLocks noChangeAspect="1"/>
          </p:cNvGraphicFramePr>
          <p:nvPr/>
        </p:nvGraphicFramePr>
        <p:xfrm>
          <a:off x="8509000" y="2692400"/>
          <a:ext cx="177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4" name="Equation" r:id="rId23" imgW="888840" imgH="215640" progId="Equation.3">
                  <p:embed/>
                </p:oleObj>
              </mc:Choice>
              <mc:Fallback>
                <p:oleObj name="Equation" r:id="rId23" imgW="888840" imgH="215640" progId="Equation.3">
                  <p:embed/>
                  <p:pic>
                    <p:nvPicPr>
                      <p:cNvPr id="3283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0" y="2692400"/>
                        <a:ext cx="1778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31" name="Object 63"/>
          <p:cNvGraphicFramePr>
            <a:graphicFrameLocks noChangeAspect="1"/>
          </p:cNvGraphicFramePr>
          <p:nvPr/>
        </p:nvGraphicFramePr>
        <p:xfrm>
          <a:off x="8509000" y="3657600"/>
          <a:ext cx="177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5" name="Equation" r:id="rId25" imgW="888840" imgH="215640" progId="Equation.3">
                  <p:embed/>
                </p:oleObj>
              </mc:Choice>
              <mc:Fallback>
                <p:oleObj name="Equation" r:id="rId25" imgW="888840" imgH="215640" progId="Equation.3">
                  <p:embed/>
                  <p:pic>
                    <p:nvPicPr>
                      <p:cNvPr id="32831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0" y="3657600"/>
                        <a:ext cx="1778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32" name="Object 64"/>
          <p:cNvGraphicFramePr>
            <a:graphicFrameLocks noChangeAspect="1"/>
          </p:cNvGraphicFramePr>
          <p:nvPr/>
        </p:nvGraphicFramePr>
        <p:xfrm>
          <a:off x="8547100" y="44831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6" name="Equation" r:id="rId27" imgW="799920" imgH="228600" progId="Equation.3">
                  <p:embed/>
                </p:oleObj>
              </mc:Choice>
              <mc:Fallback>
                <p:oleObj name="Equation" r:id="rId27" imgW="799920" imgH="228600" progId="Equation.3">
                  <p:embed/>
                  <p:pic>
                    <p:nvPicPr>
                      <p:cNvPr id="32832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100" y="4483100"/>
                        <a:ext cx="160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33" name="Object 65"/>
          <p:cNvGraphicFramePr>
            <a:graphicFrameLocks noChangeAspect="1"/>
          </p:cNvGraphicFramePr>
          <p:nvPr/>
        </p:nvGraphicFramePr>
        <p:xfrm>
          <a:off x="8559800" y="5537200"/>
          <a:ext cx="154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7" name="Equation" r:id="rId29" imgW="774360" imgH="203040" progId="Equation.3">
                  <p:embed/>
                </p:oleObj>
              </mc:Choice>
              <mc:Fallback>
                <p:oleObj name="Equation" r:id="rId29" imgW="774360" imgH="203040" progId="Equation.3">
                  <p:embed/>
                  <p:pic>
                    <p:nvPicPr>
                      <p:cNvPr id="32833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00" y="5537200"/>
                        <a:ext cx="1549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34" name="Rectangle 66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356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2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3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3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3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3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3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3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3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2" dur="500"/>
                                        <p:tgtEl>
                                          <p:spTgt spid="32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7" dur="500"/>
                                        <p:tgtEl>
                                          <p:spTgt spid="3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762000"/>
          </a:xfrm>
        </p:spPr>
        <p:txBody>
          <a:bodyPr/>
          <a:lstStyle/>
          <a:p>
            <a:r>
              <a:rPr lang="zh-CN" altLang="en-US" sz="3600">
                <a:ea typeface="黑体" panose="02010609060101010101" pitchFamily="49" charset="-122"/>
              </a:rPr>
              <a:t>模拟高通滤波器的设计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2133600" y="1828801"/>
            <a:ext cx="8020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/>
              <a:t>(1)</a:t>
            </a:r>
            <a:r>
              <a:rPr lang="zh-CN" altLang="en-US" sz="2800"/>
              <a:t>由高通滤波器的频率指标确定低通的频率指标</a:t>
            </a:r>
          </a:p>
        </p:txBody>
      </p:sp>
      <p:grpSp>
        <p:nvGrpSpPr>
          <p:cNvPr id="31748" name="Group 4"/>
          <p:cNvGrpSpPr>
            <a:grpSpLocks/>
          </p:cNvGrpSpPr>
          <p:nvPr/>
        </p:nvGrpSpPr>
        <p:grpSpPr bwMode="auto">
          <a:xfrm>
            <a:off x="3810000" y="2438401"/>
            <a:ext cx="4013200" cy="614363"/>
            <a:chOff x="1480" y="720"/>
            <a:chExt cx="2528" cy="387"/>
          </a:xfrm>
        </p:grpSpPr>
        <p:graphicFrame>
          <p:nvGraphicFramePr>
            <p:cNvPr id="31749" name="Object 5"/>
            <p:cNvGraphicFramePr>
              <a:graphicFrameLocks noChangeAspect="1"/>
            </p:cNvGraphicFramePr>
            <p:nvPr/>
          </p:nvGraphicFramePr>
          <p:xfrm>
            <a:off x="1480" y="728"/>
            <a:ext cx="1061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8" name="公式" r:id="rId3" imgW="672840" imgH="241200" progId="Equation.3">
                    <p:embed/>
                  </p:oleObj>
                </mc:Choice>
                <mc:Fallback>
                  <p:oleObj name="公式" r:id="rId3" imgW="672840" imgH="241200" progId="Equation.3">
                    <p:embed/>
                    <p:pic>
                      <p:nvPicPr>
                        <p:cNvPr id="3174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" y="728"/>
                          <a:ext cx="1061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0" name="Object 6"/>
            <p:cNvGraphicFramePr>
              <a:graphicFrameLocks noChangeAspect="1"/>
            </p:cNvGraphicFramePr>
            <p:nvPr/>
          </p:nvGraphicFramePr>
          <p:xfrm>
            <a:off x="3011" y="720"/>
            <a:ext cx="997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9" name="公式" r:id="rId5" imgW="634680" imgH="228600" progId="Equation.3">
                    <p:embed/>
                  </p:oleObj>
                </mc:Choice>
                <mc:Fallback>
                  <p:oleObj name="公式" r:id="rId5" imgW="634680" imgH="228600" progId="Equation.3">
                    <p:embed/>
                    <p:pic>
                      <p:nvPicPr>
                        <p:cNvPr id="3175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1" y="720"/>
                          <a:ext cx="997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2133600" y="3721101"/>
            <a:ext cx="7570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/>
              <a:t>(3)</a:t>
            </a:r>
            <a:r>
              <a:rPr lang="zh-CN" altLang="en-US" sz="2800"/>
              <a:t>由复频率变换</a:t>
            </a:r>
            <a:r>
              <a:rPr lang="zh-CN" altLang="en-US" sz="2800">
                <a:latin typeface="宋体" panose="02010600030101010101" pitchFamily="2" charset="-122"/>
              </a:rPr>
              <a:t>将原型低通转换为高通</a:t>
            </a:r>
            <a:r>
              <a:rPr lang="en-US" altLang="zh-CN" sz="2800" i="1"/>
              <a:t>H</a:t>
            </a:r>
            <a:r>
              <a:rPr lang="en-US" altLang="zh-CN" sz="2800" baseline="-30000"/>
              <a:t>HP</a:t>
            </a:r>
            <a:r>
              <a:rPr lang="en-US" altLang="zh-CN" sz="2800"/>
              <a:t>(</a:t>
            </a:r>
            <a:r>
              <a:rPr lang="en-US" altLang="zh-CN" sz="2800" i="1"/>
              <a:t>s</a:t>
            </a:r>
            <a:r>
              <a:rPr lang="en-US" altLang="zh-CN" sz="2800"/>
              <a:t>)</a:t>
            </a:r>
          </a:p>
        </p:txBody>
      </p:sp>
      <p:graphicFrame>
        <p:nvGraphicFramePr>
          <p:cNvPr id="31753" name="Object 9"/>
          <p:cNvGraphicFramePr>
            <a:graphicFrameLocks noChangeAspect="1"/>
          </p:cNvGraphicFramePr>
          <p:nvPr/>
        </p:nvGraphicFramePr>
        <p:xfrm>
          <a:off x="4648200" y="4267200"/>
          <a:ext cx="2986088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0" name="Equation" r:id="rId7" imgW="1193760" imgH="495000" progId="Equation.3">
                  <p:embed/>
                </p:oleObj>
              </mc:Choice>
              <mc:Fallback>
                <p:oleObj name="Equation" r:id="rId7" imgW="1193760" imgH="495000" progId="Equation.3">
                  <p:embed/>
                  <p:pic>
                    <p:nvPicPr>
                      <p:cNvPr id="317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267200"/>
                        <a:ext cx="2986088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1828801" y="1219201"/>
            <a:ext cx="585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模拟高通滤波器的设计步骤：</a:t>
            </a:r>
          </a:p>
        </p:txBody>
      </p:sp>
      <p:graphicFrame>
        <p:nvGraphicFramePr>
          <p:cNvPr id="31756" name="Object 12"/>
          <p:cNvGraphicFramePr>
            <a:graphicFrameLocks noChangeAspect="1"/>
          </p:cNvGraphicFramePr>
          <p:nvPr/>
        </p:nvGraphicFramePr>
        <p:xfrm>
          <a:off x="2208213" y="3141663"/>
          <a:ext cx="71374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1" name="公式" r:id="rId9" imgW="2971800" imgH="203040" progId="Equation.3">
                  <p:embed/>
                </p:oleObj>
              </mc:Choice>
              <mc:Fallback>
                <p:oleObj name="公式" r:id="rId9" imgW="2971800" imgH="203040" progId="Equation.3">
                  <p:embed/>
                  <p:pic>
                    <p:nvPicPr>
                      <p:cNvPr id="3175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3141663"/>
                        <a:ext cx="71374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2057400" y="5257801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</a:rPr>
              <a:t>MATLAB</a:t>
            </a:r>
            <a:r>
              <a:rPr lang="zh-CN" altLang="en-US" sz="2800" b="1">
                <a:solidFill>
                  <a:schemeClr val="accent2"/>
                </a:solidFill>
              </a:rPr>
              <a:t>实现</a:t>
            </a:r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2209800" y="5867401"/>
            <a:ext cx="78486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/>
              <a:t>[numt,dent] = lp2hp(num,den,W0)</a:t>
            </a:r>
          </a:p>
        </p:txBody>
      </p:sp>
    </p:spTree>
    <p:extLst>
      <p:ext uri="{BB962C8B-B14F-4D97-AF65-F5344CB8AC3E}">
        <p14:creationId xmlns:p14="http://schemas.microsoft.com/office/powerpoint/2010/main" val="69009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autoUpdateAnimBg="0"/>
      <p:bldP spid="31752" grpId="0" autoUpdateAnimBg="0"/>
      <p:bldP spid="31757" grpId="0" autoUpdateAnimBg="0"/>
      <p:bldP spid="31758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8153400" cy="1143000"/>
          </a:xfrm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例</a:t>
            </a:r>
            <a:r>
              <a:rPr lang="en-US" altLang="zh-CN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：  设计满足下列条件的模拟</a:t>
            </a:r>
            <a:r>
              <a:rPr lang="en-US" altLang="zh-CN">
                <a:solidFill>
                  <a:srgbClr val="000000"/>
                </a:solidFill>
              </a:rPr>
              <a:t>BW</a:t>
            </a:r>
            <a:r>
              <a:rPr lang="zh-CN" altLang="en-US">
                <a:solidFill>
                  <a:srgbClr val="000000"/>
                </a:solidFill>
              </a:rPr>
              <a:t>型高通滤波器</a:t>
            </a:r>
            <a:br>
              <a:rPr lang="zh-CN" altLang="en-US">
                <a:solidFill>
                  <a:srgbClr val="000000"/>
                </a:solidFill>
              </a:rPr>
            </a:b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p</a:t>
            </a:r>
            <a:r>
              <a:rPr lang="en-US" altLang="zh-CN">
                <a:solidFill>
                  <a:srgbClr val="000000"/>
                </a:solidFill>
              </a:rPr>
              <a:t>=5KHz,   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s</a:t>
            </a:r>
            <a:r>
              <a:rPr lang="en-US" altLang="zh-CN">
                <a:solidFill>
                  <a:srgbClr val="000000"/>
                </a:solidFill>
              </a:rPr>
              <a:t>=1kHz,  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 baseline="-25000">
                <a:solidFill>
                  <a:srgbClr val="000000"/>
                </a:solidFill>
              </a:rPr>
              <a:t>p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</a:t>
            </a:r>
            <a:r>
              <a:rPr lang="en-US" altLang="zh-CN">
                <a:solidFill>
                  <a:srgbClr val="000000"/>
                </a:solidFill>
              </a:rPr>
              <a:t>1dB,   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 baseline="-25000">
                <a:solidFill>
                  <a:srgbClr val="000000"/>
                </a:solidFill>
              </a:rPr>
              <a:t>s 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</a:t>
            </a:r>
            <a:r>
              <a:rPr lang="en-US" altLang="zh-CN" baseline="-25000">
                <a:solidFill>
                  <a:srgbClr val="000000"/>
                </a:solidFill>
              </a:rPr>
              <a:t> </a:t>
            </a:r>
            <a:r>
              <a:rPr lang="en-US" altLang="zh-CN">
                <a:solidFill>
                  <a:srgbClr val="000000"/>
                </a:solidFill>
              </a:rPr>
              <a:t>40dB</a:t>
            </a: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1676400" y="12954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1905000" y="1600201"/>
            <a:ext cx="838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解：</a:t>
            </a:r>
            <a:r>
              <a:rPr lang="en-US" altLang="zh-CN" sz="2800" b="1"/>
              <a:t>(1)</a:t>
            </a:r>
            <a:r>
              <a:rPr lang="zh-CN" altLang="en-US" sz="2800" b="1"/>
              <a:t>将高通指标转换为原型低通滤波器技术指标</a:t>
            </a:r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7162800" y="2147889"/>
            <a:ext cx="370267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chemeClr val="accent2"/>
                </a:solidFill>
              </a:rPr>
              <a:t>, </a:t>
            </a:r>
            <a:r>
              <a:rPr lang="en-US" altLang="zh-CN" sz="2800" i="1" dirty="0">
                <a:solidFill>
                  <a:schemeClr val="accent2"/>
                </a:solidFill>
              </a:rPr>
              <a:t>A</a:t>
            </a:r>
            <a:r>
              <a:rPr lang="en-US" altLang="zh-CN" sz="2800" baseline="-25000" dirty="0">
                <a:solidFill>
                  <a:schemeClr val="accent2"/>
                </a:solidFill>
              </a:rPr>
              <a:t>p</a:t>
            </a:r>
            <a:r>
              <a:rPr lang="en-US" altLang="zh-CN" sz="2800" dirty="0">
                <a:solidFill>
                  <a:schemeClr val="accent2"/>
                </a:solidFill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solidFill>
                  <a:schemeClr val="accent2"/>
                </a:solidFill>
              </a:rPr>
              <a:t>1dB,   </a:t>
            </a:r>
            <a:r>
              <a:rPr lang="en-US" altLang="zh-CN" sz="2800" i="1" dirty="0">
                <a:solidFill>
                  <a:schemeClr val="accent2"/>
                </a:solidFill>
              </a:rPr>
              <a:t>A</a:t>
            </a:r>
            <a:r>
              <a:rPr lang="en-US" altLang="zh-CN" sz="2800" baseline="-25000" dirty="0">
                <a:solidFill>
                  <a:schemeClr val="accent2"/>
                </a:solidFill>
              </a:rPr>
              <a:t>s </a:t>
            </a:r>
            <a:r>
              <a:rPr lang="en-US" altLang="zh-CN" sz="2800" dirty="0">
                <a:solidFill>
                  <a:schemeClr val="accent2"/>
                </a:solidFill>
                <a:sym typeface="Symbol" panose="05050102010706020507" pitchFamily="18" charset="2"/>
              </a:rPr>
              <a:t></a:t>
            </a:r>
            <a:r>
              <a:rPr lang="en-US" altLang="zh-CN" sz="2800" baseline="-25000" dirty="0">
                <a:solidFill>
                  <a:schemeClr val="accent2"/>
                </a:solidFill>
              </a:rPr>
              <a:t> </a:t>
            </a:r>
            <a:r>
              <a:rPr lang="en-US" altLang="zh-CN" sz="2800" dirty="0">
                <a:solidFill>
                  <a:schemeClr val="accent2"/>
                </a:solidFill>
              </a:rPr>
              <a:t>40dB</a:t>
            </a:r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2209801" y="2819401"/>
            <a:ext cx="5999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(2) </a:t>
            </a:r>
            <a:r>
              <a:rPr lang="zh-CN" altLang="en-US" sz="2800" b="1"/>
              <a:t>设计</a:t>
            </a:r>
            <a:r>
              <a:rPr lang="en-US" altLang="zh-CN" sz="2800" b="1"/>
              <a:t>BW</a:t>
            </a:r>
            <a:r>
              <a:rPr lang="zh-CN" altLang="en-US" sz="2800" b="1"/>
              <a:t>型原型低通滤波器</a:t>
            </a:r>
          </a:p>
        </p:txBody>
      </p:sp>
      <p:graphicFrame>
        <p:nvGraphicFramePr>
          <p:cNvPr id="41991" name="Object 7"/>
          <p:cNvGraphicFramePr>
            <a:graphicFrameLocks noChangeAspect="1"/>
          </p:cNvGraphicFramePr>
          <p:nvPr/>
        </p:nvGraphicFramePr>
        <p:xfrm>
          <a:off x="3048000" y="3505200"/>
          <a:ext cx="399415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15" name="Equation" r:id="rId3" imgW="1663560" imgH="634680" progId="Equation.3">
                  <p:embed/>
                </p:oleObj>
              </mc:Choice>
              <mc:Fallback>
                <p:oleObj name="Equation" r:id="rId3" imgW="1663560" imgH="634680" progId="Equation.3">
                  <p:embed/>
                  <p:pic>
                    <p:nvPicPr>
                      <p:cNvPr id="419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505200"/>
                        <a:ext cx="399415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2" name="Text Box 8"/>
          <p:cNvSpPr txBox="1">
            <a:spLocks noChangeArrowheads="1"/>
          </p:cNvSpPr>
          <p:nvPr/>
        </p:nvSpPr>
        <p:spPr bwMode="auto">
          <a:xfrm>
            <a:off x="8001000" y="41910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取</a:t>
            </a:r>
            <a:r>
              <a:rPr lang="en-US" altLang="zh-CN" sz="2800" i="1"/>
              <a:t>N</a:t>
            </a:r>
            <a:r>
              <a:rPr lang="en-US" altLang="zh-CN" sz="2800"/>
              <a:t>=4</a:t>
            </a:r>
          </a:p>
        </p:txBody>
      </p:sp>
      <p:graphicFrame>
        <p:nvGraphicFramePr>
          <p:cNvPr id="41993" name="Object 9"/>
          <p:cNvGraphicFramePr>
            <a:graphicFrameLocks noChangeAspect="1"/>
          </p:cNvGraphicFramePr>
          <p:nvPr/>
        </p:nvGraphicFramePr>
        <p:xfrm>
          <a:off x="3143250" y="5300663"/>
          <a:ext cx="4908550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16" name="Equation" r:id="rId5" imgW="2044440" imgH="406080" progId="Equation.3">
                  <p:embed/>
                </p:oleObj>
              </mc:Choice>
              <mc:Fallback>
                <p:oleObj name="Equation" r:id="rId5" imgW="2044440" imgH="406080" progId="Equation.3">
                  <p:embed/>
                  <p:pic>
                    <p:nvPicPr>
                      <p:cNvPr id="419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5300663"/>
                        <a:ext cx="4908550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4" name="Object 10"/>
          <p:cNvGraphicFramePr>
            <a:graphicFrameLocks noChangeAspect="1"/>
          </p:cNvGraphicFramePr>
          <p:nvPr/>
        </p:nvGraphicFramePr>
        <p:xfrm>
          <a:off x="1905000" y="2209800"/>
          <a:ext cx="522605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17" name="Equation" r:id="rId7" imgW="2184120" imgH="228600" progId="Equation.3">
                  <p:embed/>
                </p:oleObj>
              </mc:Choice>
              <mc:Fallback>
                <p:oleObj name="Equation" r:id="rId7" imgW="2184120" imgH="228600" progId="Equation.3">
                  <p:embed/>
                  <p:pic>
                    <p:nvPicPr>
                      <p:cNvPr id="419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209800"/>
                        <a:ext cx="522605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265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autoUpdateAnimBg="0"/>
      <p:bldP spid="41989" grpId="0" autoUpdateAnimBg="0"/>
      <p:bldP spid="41990" grpId="0" autoUpdateAnimBg="0"/>
      <p:bldP spid="4199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4999" y="304800"/>
            <a:ext cx="9879169" cy="990600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rgbClr val="000000"/>
                </a:solidFill>
              </a:rPr>
              <a:t>例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</a:rPr>
              <a:t>：设计满足下列条件的模拟</a:t>
            </a:r>
            <a:r>
              <a:rPr lang="en-US" altLang="zh-CN" dirty="0">
                <a:solidFill>
                  <a:srgbClr val="000000"/>
                </a:solidFill>
              </a:rPr>
              <a:t>BW</a:t>
            </a:r>
            <a:r>
              <a:rPr lang="zh-CN" altLang="en-US" dirty="0">
                <a:solidFill>
                  <a:srgbClr val="000000"/>
                </a:solidFill>
              </a:rPr>
              <a:t>型高通滤波器</a:t>
            </a:r>
            <a:br>
              <a:rPr lang="zh-CN" altLang="en-US" dirty="0">
                <a:solidFill>
                  <a:srgbClr val="000000"/>
                </a:solidFill>
              </a:rPr>
            </a:br>
            <a:r>
              <a:rPr lang="zh-CN" altLang="en-US" dirty="0">
                <a:solidFill>
                  <a:srgbClr val="000000"/>
                </a:solidFill>
              </a:rPr>
              <a:t>            </a:t>
            </a:r>
            <a:r>
              <a:rPr lang="en-US" altLang="zh-CN" i="1" dirty="0" err="1">
                <a:solidFill>
                  <a:srgbClr val="000000"/>
                </a:solidFill>
              </a:rPr>
              <a:t>f</a:t>
            </a:r>
            <a:r>
              <a:rPr lang="en-US" altLang="zh-CN" baseline="-25000" dirty="0" err="1">
                <a:solidFill>
                  <a:srgbClr val="000000"/>
                </a:solidFill>
              </a:rPr>
              <a:t>p</a:t>
            </a:r>
            <a:r>
              <a:rPr lang="en-US" altLang="zh-CN" dirty="0">
                <a:solidFill>
                  <a:srgbClr val="000000"/>
                </a:solidFill>
              </a:rPr>
              <a:t>=5KHz,   </a:t>
            </a:r>
            <a:r>
              <a:rPr lang="en-US" altLang="zh-CN" i="1" dirty="0">
                <a:solidFill>
                  <a:srgbClr val="000000"/>
                </a:solidFill>
              </a:rPr>
              <a:t>f</a:t>
            </a:r>
            <a:r>
              <a:rPr lang="en-US" altLang="zh-CN" baseline="-25000" dirty="0">
                <a:solidFill>
                  <a:srgbClr val="000000"/>
                </a:solidFill>
              </a:rPr>
              <a:t>s</a:t>
            </a:r>
            <a:r>
              <a:rPr lang="en-US" altLang="zh-CN" dirty="0">
                <a:solidFill>
                  <a:srgbClr val="000000"/>
                </a:solidFill>
              </a:rPr>
              <a:t>=1kHz,  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</a:rPr>
              <a:t>p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</a:t>
            </a:r>
            <a:r>
              <a:rPr lang="en-US" altLang="zh-CN" dirty="0">
                <a:solidFill>
                  <a:srgbClr val="000000"/>
                </a:solidFill>
              </a:rPr>
              <a:t>1dB,   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</a:rPr>
              <a:t>s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</a:t>
            </a:r>
            <a:r>
              <a:rPr lang="en-US" altLang="zh-CN" baseline="-25000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40dB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1847850" y="1628776"/>
            <a:ext cx="6605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(2) </a:t>
            </a:r>
            <a:r>
              <a:rPr lang="zh-CN" altLang="en-US" sz="2800" b="1"/>
              <a:t>设计</a:t>
            </a:r>
            <a:r>
              <a:rPr lang="en-US" altLang="zh-CN" sz="2800" b="1"/>
              <a:t>BW</a:t>
            </a:r>
            <a:r>
              <a:rPr lang="zh-CN" altLang="en-US" sz="2800" b="1"/>
              <a:t>型原型低通滤波器</a:t>
            </a: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4114800" y="2071688"/>
            <a:ext cx="39684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 i="1" dirty="0">
                <a:solidFill>
                  <a:schemeClr val="accent2"/>
                </a:solidFill>
              </a:rPr>
              <a:t>N</a:t>
            </a:r>
            <a:r>
              <a:rPr lang="en-US" altLang="zh-CN" sz="2800" b="1" dirty="0">
                <a:solidFill>
                  <a:schemeClr val="accent2"/>
                </a:solidFill>
              </a:rPr>
              <a:t>=4</a:t>
            </a:r>
            <a:r>
              <a:rPr lang="zh-CN" altLang="en-US" sz="2800" b="1" dirty="0">
                <a:solidFill>
                  <a:schemeClr val="accent2"/>
                </a:solidFill>
              </a:rPr>
              <a:t>，</a:t>
            </a:r>
            <a:r>
              <a:rPr lang="en-US" altLang="zh-CN" sz="2800" b="1" i="1" dirty="0" err="1">
                <a:solidFill>
                  <a:schemeClr val="accent2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2800" b="1" baseline="-25000" dirty="0" err="1">
                <a:solidFill>
                  <a:schemeClr val="accent2"/>
                </a:solidFill>
              </a:rPr>
              <a:t>c</a:t>
            </a:r>
            <a:r>
              <a:rPr lang="en-US" altLang="zh-CN" sz="2800" b="1" dirty="0">
                <a:solidFill>
                  <a:schemeClr val="accent2"/>
                </a:solidFill>
              </a:rPr>
              <a:t>=5.033</a:t>
            </a: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</a:t>
            </a:r>
            <a:r>
              <a:rPr lang="en-US" altLang="zh-CN" sz="2800" b="1" dirty="0">
                <a:solidFill>
                  <a:schemeClr val="accent2"/>
                </a:solidFill>
              </a:rPr>
              <a:t>10</a:t>
            </a:r>
            <a:r>
              <a:rPr lang="en-US" altLang="zh-CN" sz="2800" b="1" baseline="30000" dirty="0">
                <a:solidFill>
                  <a:schemeClr val="accent2"/>
                </a:solidFill>
                <a:latin typeface="Symbol" panose="05050102010706020507" pitchFamily="18" charset="2"/>
              </a:rPr>
              <a:t>-</a:t>
            </a:r>
            <a:r>
              <a:rPr lang="en-US" altLang="zh-CN" sz="2800" b="1" baseline="30000" dirty="0">
                <a:solidFill>
                  <a:schemeClr val="accent2"/>
                </a:solidFill>
              </a:rPr>
              <a:t>5</a:t>
            </a:r>
          </a:p>
        </p:txBody>
      </p:sp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2514600" y="2590801"/>
            <a:ext cx="617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BW</a:t>
            </a:r>
            <a:r>
              <a:rPr lang="zh-CN" altLang="en-US" sz="2800"/>
              <a:t>型原型低通滤波器的系统函数为</a:t>
            </a:r>
            <a:endParaRPr lang="zh-CN" altLang="en-US"/>
          </a:p>
        </p:txBody>
      </p:sp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2279650" y="3213101"/>
          <a:ext cx="714375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9" name="Equation" r:id="rId3" imgW="3759120" imgH="419040" progId="Equation.3">
                  <p:embed/>
                </p:oleObj>
              </mc:Choice>
              <mc:Fallback>
                <p:oleObj name="Equation" r:id="rId3" imgW="3759120" imgH="419040" progId="Equation.3">
                  <p:embed/>
                  <p:pic>
                    <p:nvPicPr>
                      <p:cNvPr id="430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3213101"/>
                        <a:ext cx="7143750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2038350" y="5105401"/>
            <a:ext cx="7639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(3) </a:t>
            </a:r>
            <a:r>
              <a:rPr lang="zh-CN" altLang="en-US" sz="2800" b="1"/>
              <a:t>由变换</a:t>
            </a:r>
            <a:r>
              <a:rPr lang="en-US" altLang="zh-CN" sz="2800" b="1" i="1"/>
              <a:t>H</a:t>
            </a:r>
            <a:r>
              <a:rPr lang="en-US" altLang="zh-CN" sz="2800" b="1" baseline="-25000"/>
              <a:t>HP</a:t>
            </a:r>
            <a:r>
              <a:rPr lang="en-US" altLang="zh-CN" sz="2800" b="1"/>
              <a:t>(</a:t>
            </a:r>
            <a:r>
              <a:rPr lang="en-US" altLang="zh-CN" sz="2800" b="1" i="1"/>
              <a:t>s</a:t>
            </a:r>
            <a:r>
              <a:rPr lang="en-US" altLang="zh-CN" sz="2800" b="1"/>
              <a:t>)=</a:t>
            </a:r>
            <a:r>
              <a:rPr lang="en-US" altLang="zh-CN" sz="2800" b="1" i="1"/>
              <a:t>H</a:t>
            </a:r>
            <a:r>
              <a:rPr lang="en-US" altLang="zh-CN" sz="2800" b="1" baseline="-25000"/>
              <a:t>L</a:t>
            </a:r>
            <a:r>
              <a:rPr lang="en-US" altLang="zh-CN" sz="2800" b="1" i="1" baseline="-25000"/>
              <a:t> </a:t>
            </a:r>
            <a:r>
              <a:rPr lang="en-US" altLang="zh-CN" sz="2800" b="1"/>
              <a:t>(1/s)</a:t>
            </a:r>
            <a:r>
              <a:rPr lang="zh-CN" altLang="en-US" sz="2800" b="1"/>
              <a:t>获得高通滤波器</a:t>
            </a:r>
            <a:endParaRPr lang="zh-CN" altLang="en-US" sz="2800"/>
          </a:p>
        </p:txBody>
      </p:sp>
      <p:graphicFrame>
        <p:nvGraphicFramePr>
          <p:cNvPr id="43018" name="Object 10"/>
          <p:cNvGraphicFramePr>
            <a:graphicFrameLocks noChangeAspect="1"/>
          </p:cNvGraphicFramePr>
          <p:nvPr/>
        </p:nvGraphicFramePr>
        <p:xfrm>
          <a:off x="1687514" y="5551488"/>
          <a:ext cx="890428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0" name="Equation" r:id="rId5" imgW="4457520" imgH="406080" progId="Equation.3">
                  <p:embed/>
                </p:oleObj>
              </mc:Choice>
              <mc:Fallback>
                <p:oleObj name="Equation" r:id="rId5" imgW="4457520" imgH="406080" progId="Equation.3">
                  <p:embed/>
                  <p:pic>
                    <p:nvPicPr>
                      <p:cNvPr id="430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4" y="5551488"/>
                        <a:ext cx="890428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9" name="Object 11"/>
          <p:cNvGraphicFramePr>
            <a:graphicFrameLocks noChangeAspect="1"/>
          </p:cNvGraphicFramePr>
          <p:nvPr/>
        </p:nvGraphicFramePr>
        <p:xfrm>
          <a:off x="2339976" y="4191001"/>
          <a:ext cx="8251825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1" name="Equation" r:id="rId7" imgW="4343400" imgH="406080" progId="Equation.3">
                  <p:embed/>
                </p:oleObj>
              </mc:Choice>
              <mc:Fallback>
                <p:oleObj name="Equation" r:id="rId7" imgW="4343400" imgH="406080" progId="Equation.3">
                  <p:embed/>
                  <p:pic>
                    <p:nvPicPr>
                      <p:cNvPr id="430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6" y="4191001"/>
                        <a:ext cx="8251825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024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autoUpdateAnimBg="0"/>
      <p:bldP spid="43014" grpId="0" autoUpdateAnimBg="0"/>
      <p:bldP spid="43015" grpId="0" autoUpdateAnimBg="0"/>
      <p:bldP spid="4301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743200" y="304800"/>
            <a:ext cx="58483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885950" y="1676401"/>
            <a:ext cx="84582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r>
              <a:rPr lang="zh-CN" alt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高通滤波器的设计</a:t>
            </a:r>
            <a:endParaRPr lang="zh-CN" altLang="en-US" dirty="0">
              <a:latin typeface="Courier New" panose="02070309020205020404" pitchFamily="49" charset="0"/>
            </a:endParaRPr>
          </a:p>
          <a:p>
            <a:r>
              <a:rPr lang="en-US" altLang="zh-CN" dirty="0" err="1">
                <a:latin typeface="Courier New" panose="02070309020205020404" pitchFamily="49" charset="0"/>
              </a:rPr>
              <a:t>wp</a:t>
            </a:r>
            <a:r>
              <a:rPr lang="en-US" altLang="zh-CN" dirty="0">
                <a:latin typeface="Courier New" panose="02070309020205020404" pitchFamily="49" charset="0"/>
              </a:rPr>
              <a:t>=1/(2*pi*5000);</a:t>
            </a:r>
            <a:r>
              <a:rPr lang="en-US" altLang="zh-CN" dirty="0" err="1">
                <a:latin typeface="Courier New" panose="02070309020205020404" pitchFamily="49" charset="0"/>
              </a:rPr>
              <a:t>ws</a:t>
            </a:r>
            <a:r>
              <a:rPr lang="en-US" altLang="zh-CN" dirty="0">
                <a:latin typeface="Courier New" panose="02070309020205020404" pitchFamily="49" charset="0"/>
              </a:rPr>
              <a:t>=1/(2*pi*1000);</a:t>
            </a:r>
            <a:r>
              <a:rPr lang="en-US" altLang="zh-CN" dirty="0" err="1">
                <a:latin typeface="Courier New" panose="02070309020205020404" pitchFamily="49" charset="0"/>
              </a:rPr>
              <a:t>Ap</a:t>
            </a:r>
            <a:r>
              <a:rPr lang="en-US" altLang="zh-CN" dirty="0">
                <a:latin typeface="Courier New" panose="02070309020205020404" pitchFamily="49" charset="0"/>
              </a:rPr>
              <a:t>=1;As=40;</a:t>
            </a:r>
          </a:p>
          <a:p>
            <a:r>
              <a:rPr lang="en-US" altLang="zh-CN" dirty="0">
                <a:latin typeface="Courier New" panose="02070309020205020404" pitchFamily="49" charset="0"/>
              </a:rPr>
              <a:t>[</a:t>
            </a:r>
            <a:r>
              <a:rPr lang="en-US" altLang="zh-CN" dirty="0" err="1">
                <a:latin typeface="Courier New" panose="02070309020205020404" pitchFamily="49" charset="0"/>
              </a:rPr>
              <a:t>N,Wc</a:t>
            </a:r>
            <a:r>
              <a:rPr lang="en-US" altLang="zh-CN" dirty="0">
                <a:latin typeface="Courier New" panose="02070309020205020404" pitchFamily="49" charset="0"/>
              </a:rPr>
              <a:t>]=</a:t>
            </a:r>
            <a:r>
              <a:rPr lang="en-US" altLang="zh-CN" dirty="0" err="1">
                <a:latin typeface="Courier New" panose="02070309020205020404" pitchFamily="49" charset="0"/>
              </a:rPr>
              <a:t>buttord</a:t>
            </a:r>
            <a:r>
              <a:rPr lang="en-US" altLang="zh-CN" dirty="0">
                <a:latin typeface="Courier New" panose="02070309020205020404" pitchFamily="49" charset="0"/>
              </a:rPr>
              <a:t>(</a:t>
            </a:r>
            <a:r>
              <a:rPr lang="en-US" altLang="zh-CN" dirty="0" err="1">
                <a:latin typeface="Courier New" panose="02070309020205020404" pitchFamily="49" charset="0"/>
              </a:rPr>
              <a:t>wp,ws,Ap,As,</a:t>
            </a:r>
            <a:r>
              <a:rPr lang="en-US" altLang="zh-CN" dirty="0" err="1">
                <a:solidFill>
                  <a:srgbClr val="B22222"/>
                </a:solidFill>
                <a:latin typeface="Courier New" panose="02070309020205020404" pitchFamily="49" charset="0"/>
              </a:rPr>
              <a:t>'s</a:t>
            </a:r>
            <a:r>
              <a:rPr lang="en-US" altLang="zh-CN" dirty="0">
                <a:solidFill>
                  <a:srgbClr val="B22222"/>
                </a:solidFill>
                <a:latin typeface="Courier New" panose="02070309020205020404" pitchFamily="49" charset="0"/>
              </a:rPr>
              <a:t>'</a:t>
            </a:r>
            <a:r>
              <a:rPr lang="en-US" altLang="zh-CN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dirty="0">
                <a:latin typeface="Courier New" panose="02070309020205020404" pitchFamily="49" charset="0"/>
              </a:rPr>
              <a:t>[</a:t>
            </a:r>
            <a:r>
              <a:rPr lang="en-US" altLang="zh-CN" dirty="0" err="1">
                <a:latin typeface="Courier New" panose="02070309020205020404" pitchFamily="49" charset="0"/>
              </a:rPr>
              <a:t>num,den</a:t>
            </a:r>
            <a:r>
              <a:rPr lang="en-US" altLang="zh-CN" dirty="0">
                <a:latin typeface="Courier New" panose="02070309020205020404" pitchFamily="49" charset="0"/>
              </a:rPr>
              <a:t>] = butter(N,</a:t>
            </a:r>
            <a:r>
              <a:rPr lang="en-US" altLang="zh-CN" dirty="0" err="1">
                <a:latin typeface="Courier New" panose="02070309020205020404" pitchFamily="49" charset="0"/>
              </a:rPr>
              <a:t>Wc</a:t>
            </a:r>
            <a:r>
              <a:rPr lang="en-US" altLang="zh-CN" dirty="0">
                <a:latin typeface="Courier New" panose="02070309020205020404" pitchFamily="49" charset="0"/>
              </a:rPr>
              <a:t>,</a:t>
            </a:r>
            <a:r>
              <a:rPr lang="en-US" altLang="zh-CN" dirty="0">
                <a:solidFill>
                  <a:srgbClr val="B22222"/>
                </a:solidFill>
                <a:latin typeface="Courier New" panose="02070309020205020404" pitchFamily="49" charset="0"/>
              </a:rPr>
              <a:t>'s'</a:t>
            </a:r>
            <a:r>
              <a:rPr lang="en-US" altLang="zh-CN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dirty="0" err="1">
                <a:latin typeface="Courier New" panose="02070309020205020404" pitchFamily="49" charset="0"/>
              </a:rPr>
              <a:t>disp</a:t>
            </a:r>
            <a:r>
              <a:rPr lang="en-US" altLang="zh-CN" dirty="0"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B22222"/>
                </a:solidFill>
                <a:latin typeface="Courier New" panose="02070309020205020404" pitchFamily="49" charset="0"/>
              </a:rPr>
              <a:t>'LP </a:t>
            </a:r>
            <a:r>
              <a:rPr lang="zh-CN" altLang="en-US" dirty="0">
                <a:solidFill>
                  <a:srgbClr val="B22222"/>
                </a:solidFill>
                <a:latin typeface="Courier New" panose="02070309020205020404" pitchFamily="49" charset="0"/>
              </a:rPr>
              <a:t>分子多项式</a:t>
            </a:r>
            <a:r>
              <a:rPr lang="en-US" altLang="zh-CN" dirty="0">
                <a:solidFill>
                  <a:srgbClr val="B22222"/>
                </a:solidFill>
                <a:latin typeface="Courier New" panose="02070309020205020404" pitchFamily="49" charset="0"/>
              </a:rPr>
              <a:t>'</a:t>
            </a:r>
            <a:r>
              <a:rPr lang="en-US" altLang="zh-CN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dirty="0" err="1">
                <a:latin typeface="Courier New" panose="02070309020205020404" pitchFamily="49" charset="0"/>
              </a:rPr>
              <a:t>fprintf</a:t>
            </a:r>
            <a:r>
              <a:rPr lang="en-US" altLang="zh-CN" dirty="0"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B22222"/>
                </a:solidFill>
                <a:latin typeface="Courier New" panose="02070309020205020404" pitchFamily="49" charset="0"/>
              </a:rPr>
              <a:t>'%.4e\n'</a:t>
            </a:r>
            <a:r>
              <a:rPr lang="en-US" altLang="zh-CN" dirty="0">
                <a:latin typeface="Courier New" panose="02070309020205020404" pitchFamily="49" charset="0"/>
              </a:rPr>
              <a:t>,</a:t>
            </a:r>
            <a:r>
              <a:rPr lang="en-US" altLang="zh-CN" dirty="0" err="1">
                <a:latin typeface="Courier New" panose="02070309020205020404" pitchFamily="49" charset="0"/>
              </a:rPr>
              <a:t>num</a:t>
            </a:r>
            <a:r>
              <a:rPr lang="en-US" altLang="zh-CN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dirty="0" err="1">
                <a:latin typeface="Courier New" panose="02070309020205020404" pitchFamily="49" charset="0"/>
              </a:rPr>
              <a:t>disp</a:t>
            </a:r>
            <a:r>
              <a:rPr lang="en-US" altLang="zh-CN" dirty="0"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B22222"/>
                </a:solidFill>
                <a:latin typeface="Courier New" panose="02070309020205020404" pitchFamily="49" charset="0"/>
              </a:rPr>
              <a:t>'LP </a:t>
            </a:r>
            <a:r>
              <a:rPr lang="zh-CN" altLang="en-US" dirty="0">
                <a:solidFill>
                  <a:srgbClr val="B22222"/>
                </a:solidFill>
                <a:latin typeface="Courier New" panose="02070309020205020404" pitchFamily="49" charset="0"/>
              </a:rPr>
              <a:t>分母多项式</a:t>
            </a:r>
            <a:r>
              <a:rPr lang="en-US" altLang="zh-CN" dirty="0">
                <a:solidFill>
                  <a:srgbClr val="B22222"/>
                </a:solidFill>
                <a:latin typeface="Courier New" panose="02070309020205020404" pitchFamily="49" charset="0"/>
              </a:rPr>
              <a:t>'</a:t>
            </a:r>
            <a:r>
              <a:rPr lang="en-US" altLang="zh-CN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dirty="0" err="1">
                <a:latin typeface="Courier New" panose="02070309020205020404" pitchFamily="49" charset="0"/>
              </a:rPr>
              <a:t>fprintf</a:t>
            </a:r>
            <a:r>
              <a:rPr lang="en-US" altLang="zh-CN" dirty="0"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B22222"/>
                </a:solidFill>
                <a:latin typeface="Courier New" panose="02070309020205020404" pitchFamily="49" charset="0"/>
              </a:rPr>
              <a:t>'%.4e\</a:t>
            </a:r>
            <a:r>
              <a:rPr lang="en-US" altLang="zh-CN" dirty="0" err="1">
                <a:solidFill>
                  <a:srgbClr val="B22222"/>
                </a:solidFill>
                <a:latin typeface="Courier New" panose="02070309020205020404" pitchFamily="49" charset="0"/>
              </a:rPr>
              <a:t>n'</a:t>
            </a:r>
            <a:r>
              <a:rPr lang="en-US" altLang="zh-CN" dirty="0" err="1">
                <a:latin typeface="Courier New" panose="02070309020205020404" pitchFamily="49" charset="0"/>
              </a:rPr>
              <a:t>,den</a:t>
            </a:r>
            <a:r>
              <a:rPr lang="en-US" altLang="zh-CN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dirty="0">
                <a:latin typeface="Courier New" panose="02070309020205020404" pitchFamily="49" charset="0"/>
              </a:rPr>
              <a:t>[</a:t>
            </a:r>
            <a:r>
              <a:rPr lang="en-US" altLang="zh-CN" dirty="0" err="1">
                <a:latin typeface="Courier New" panose="02070309020205020404" pitchFamily="49" charset="0"/>
              </a:rPr>
              <a:t>numt,dent</a:t>
            </a:r>
            <a:r>
              <a:rPr lang="en-US" altLang="zh-CN" dirty="0">
                <a:latin typeface="Courier New" panose="02070309020205020404" pitchFamily="49" charset="0"/>
              </a:rPr>
              <a:t>] = lp2hp(num,den,1);</a:t>
            </a:r>
          </a:p>
          <a:p>
            <a:r>
              <a:rPr lang="en-US" altLang="zh-CN" dirty="0" err="1">
                <a:latin typeface="Courier New" panose="02070309020205020404" pitchFamily="49" charset="0"/>
              </a:rPr>
              <a:t>disp</a:t>
            </a:r>
            <a:r>
              <a:rPr lang="en-US" altLang="zh-CN" dirty="0"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B22222"/>
                </a:solidFill>
                <a:latin typeface="Courier New" panose="02070309020205020404" pitchFamily="49" charset="0"/>
              </a:rPr>
              <a:t>'HP </a:t>
            </a:r>
            <a:r>
              <a:rPr lang="zh-CN" altLang="en-US" dirty="0">
                <a:solidFill>
                  <a:srgbClr val="B22222"/>
                </a:solidFill>
                <a:latin typeface="Courier New" panose="02070309020205020404" pitchFamily="49" charset="0"/>
              </a:rPr>
              <a:t>分子多项式</a:t>
            </a:r>
            <a:r>
              <a:rPr lang="en-US" altLang="zh-CN" dirty="0">
                <a:solidFill>
                  <a:srgbClr val="B22222"/>
                </a:solidFill>
                <a:latin typeface="Courier New" panose="02070309020205020404" pitchFamily="49" charset="0"/>
              </a:rPr>
              <a:t>'</a:t>
            </a:r>
            <a:r>
              <a:rPr lang="en-US" altLang="zh-CN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dirty="0" err="1">
                <a:latin typeface="Courier New" panose="02070309020205020404" pitchFamily="49" charset="0"/>
              </a:rPr>
              <a:t>fprintf</a:t>
            </a:r>
            <a:r>
              <a:rPr lang="en-US" altLang="zh-CN" dirty="0"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B22222"/>
                </a:solidFill>
                <a:latin typeface="Courier New" panose="02070309020205020404" pitchFamily="49" charset="0"/>
              </a:rPr>
              <a:t>'%.4e\n'</a:t>
            </a:r>
            <a:r>
              <a:rPr lang="en-US" altLang="zh-CN" dirty="0">
                <a:latin typeface="Courier New" panose="02070309020205020404" pitchFamily="49" charset="0"/>
              </a:rPr>
              <a:t>,</a:t>
            </a:r>
            <a:r>
              <a:rPr lang="en-US" altLang="zh-CN" dirty="0" err="1">
                <a:latin typeface="Courier New" panose="02070309020205020404" pitchFamily="49" charset="0"/>
              </a:rPr>
              <a:t>numt</a:t>
            </a:r>
            <a:r>
              <a:rPr lang="en-US" altLang="zh-CN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dirty="0" err="1">
                <a:latin typeface="Courier New" panose="02070309020205020404" pitchFamily="49" charset="0"/>
              </a:rPr>
              <a:t>disp</a:t>
            </a:r>
            <a:r>
              <a:rPr lang="en-US" altLang="zh-CN" dirty="0"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B22222"/>
                </a:solidFill>
                <a:latin typeface="Courier New" panose="02070309020205020404" pitchFamily="49" charset="0"/>
              </a:rPr>
              <a:t>'HP </a:t>
            </a:r>
            <a:r>
              <a:rPr lang="zh-CN" altLang="en-US" dirty="0">
                <a:solidFill>
                  <a:srgbClr val="B22222"/>
                </a:solidFill>
                <a:latin typeface="Courier New" panose="02070309020205020404" pitchFamily="49" charset="0"/>
              </a:rPr>
              <a:t>分母多项式</a:t>
            </a:r>
            <a:r>
              <a:rPr lang="en-US" altLang="zh-CN" dirty="0">
                <a:solidFill>
                  <a:srgbClr val="B22222"/>
                </a:solidFill>
                <a:latin typeface="Courier New" panose="02070309020205020404" pitchFamily="49" charset="0"/>
              </a:rPr>
              <a:t>'</a:t>
            </a:r>
            <a:r>
              <a:rPr lang="en-US" altLang="zh-CN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dirty="0" err="1">
                <a:latin typeface="Courier New" panose="02070309020205020404" pitchFamily="49" charset="0"/>
              </a:rPr>
              <a:t>fprintf</a:t>
            </a:r>
            <a:r>
              <a:rPr lang="en-US" altLang="zh-CN" dirty="0"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B22222"/>
                </a:solidFill>
                <a:latin typeface="Courier New" panose="02070309020205020404" pitchFamily="49" charset="0"/>
              </a:rPr>
              <a:t>‘%.4e\</a:t>
            </a:r>
            <a:r>
              <a:rPr lang="en-US" altLang="zh-CN" dirty="0" err="1">
                <a:solidFill>
                  <a:srgbClr val="B22222"/>
                </a:solidFill>
                <a:latin typeface="Courier New" panose="02070309020205020404" pitchFamily="49" charset="0"/>
              </a:rPr>
              <a:t>n’</a:t>
            </a:r>
            <a:r>
              <a:rPr lang="en-US" altLang="zh-CN" dirty="0" err="1">
                <a:latin typeface="Courier New" panose="02070309020205020404" pitchFamily="49" charset="0"/>
              </a:rPr>
              <a:t>,dent</a:t>
            </a:r>
            <a:r>
              <a:rPr lang="en-US" altLang="zh-CN" dirty="0">
                <a:latin typeface="Courier New" panose="02070309020205020404" pitchFamily="49" charset="0"/>
              </a:rPr>
              <a:t>);</a:t>
            </a:r>
            <a:endParaRPr lang="en-US" altLang="zh-CN" dirty="0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2209800" y="304800"/>
            <a:ext cx="8001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000000"/>
                </a:solidFill>
              </a:rPr>
              <a:t>例</a:t>
            </a:r>
            <a:r>
              <a:rPr lang="en-US" altLang="zh-CN" sz="2800" b="1">
                <a:solidFill>
                  <a:srgbClr val="000000"/>
                </a:solidFill>
              </a:rPr>
              <a:t>1</a:t>
            </a:r>
            <a:r>
              <a:rPr lang="zh-CN" altLang="en-US" sz="2800" b="1">
                <a:solidFill>
                  <a:srgbClr val="000000"/>
                </a:solidFill>
              </a:rPr>
              <a:t>：</a:t>
            </a:r>
            <a:r>
              <a:rPr lang="zh-CN" altLang="en-US" sz="2800">
                <a:solidFill>
                  <a:srgbClr val="000000"/>
                </a:solidFill>
              </a:rPr>
              <a:t>设计满足下列条件的模拟</a:t>
            </a:r>
            <a:r>
              <a:rPr lang="en-US" altLang="zh-CN" sz="2800">
                <a:solidFill>
                  <a:srgbClr val="000000"/>
                </a:solidFill>
              </a:rPr>
              <a:t>BW</a:t>
            </a:r>
            <a:r>
              <a:rPr lang="zh-CN" altLang="en-US" sz="2800">
                <a:solidFill>
                  <a:srgbClr val="000000"/>
                </a:solidFill>
              </a:rPr>
              <a:t>型高通滤波器</a:t>
            </a:r>
            <a:br>
              <a:rPr lang="zh-CN" altLang="en-US" sz="2800">
                <a:solidFill>
                  <a:srgbClr val="000000"/>
                </a:solidFill>
              </a:rPr>
            </a:br>
            <a:r>
              <a:rPr lang="zh-CN" altLang="en-US" sz="2800">
                <a:solidFill>
                  <a:srgbClr val="000000"/>
                </a:solidFill>
              </a:rPr>
              <a:t>           </a:t>
            </a:r>
            <a:r>
              <a:rPr lang="en-US" altLang="zh-CN" sz="2800" i="1">
                <a:solidFill>
                  <a:srgbClr val="000000"/>
                </a:solidFill>
              </a:rPr>
              <a:t>f</a:t>
            </a:r>
            <a:r>
              <a:rPr lang="en-US" altLang="zh-CN" sz="2800" baseline="-25000">
                <a:solidFill>
                  <a:srgbClr val="000000"/>
                </a:solidFill>
              </a:rPr>
              <a:t>p</a:t>
            </a:r>
            <a:r>
              <a:rPr lang="en-US" altLang="zh-CN" sz="2800">
                <a:solidFill>
                  <a:srgbClr val="000000"/>
                </a:solidFill>
              </a:rPr>
              <a:t>=5KHz,   </a:t>
            </a:r>
            <a:r>
              <a:rPr lang="en-US" altLang="zh-CN" sz="2800" i="1">
                <a:solidFill>
                  <a:srgbClr val="000000"/>
                </a:solidFill>
              </a:rPr>
              <a:t>f</a:t>
            </a:r>
            <a:r>
              <a:rPr lang="en-US" altLang="zh-CN" sz="2800" baseline="-25000">
                <a:solidFill>
                  <a:srgbClr val="000000"/>
                </a:solidFill>
              </a:rPr>
              <a:t>s</a:t>
            </a:r>
            <a:r>
              <a:rPr lang="en-US" altLang="zh-CN" sz="2800">
                <a:solidFill>
                  <a:srgbClr val="000000"/>
                </a:solidFill>
              </a:rPr>
              <a:t>=1kHz,  </a:t>
            </a:r>
            <a:r>
              <a:rPr lang="en-US" altLang="zh-CN" sz="2800" i="1">
                <a:solidFill>
                  <a:srgbClr val="000000"/>
                </a:solidFill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</a:rPr>
              <a:t>p</a:t>
            </a:r>
            <a:r>
              <a:rPr lang="en-US" altLang="zh-CN" sz="2800">
                <a:solidFill>
                  <a:srgbClr val="000000"/>
                </a:solidFill>
                <a:sym typeface="Symbol" panose="05050102010706020507" pitchFamily="18" charset="2"/>
              </a:rPr>
              <a:t></a:t>
            </a:r>
            <a:r>
              <a:rPr lang="en-US" altLang="zh-CN" sz="2800">
                <a:solidFill>
                  <a:srgbClr val="000000"/>
                </a:solidFill>
              </a:rPr>
              <a:t>1dB,   </a:t>
            </a:r>
            <a:r>
              <a:rPr lang="en-US" altLang="zh-CN" sz="2800" i="1">
                <a:solidFill>
                  <a:srgbClr val="000000"/>
                </a:solidFill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</a:rPr>
              <a:t>s </a:t>
            </a:r>
            <a:r>
              <a:rPr lang="en-US" altLang="zh-CN" sz="2800">
                <a:solidFill>
                  <a:srgbClr val="000000"/>
                </a:solidFill>
                <a:sym typeface="Symbol" panose="05050102010706020507" pitchFamily="18" charset="2"/>
              </a:rPr>
              <a:t></a:t>
            </a:r>
            <a:r>
              <a:rPr lang="en-US" altLang="zh-CN" sz="2800" baseline="-25000">
                <a:solidFill>
                  <a:srgbClr val="000000"/>
                </a:solidFill>
              </a:rPr>
              <a:t> </a:t>
            </a:r>
            <a:r>
              <a:rPr lang="en-US" altLang="zh-CN" sz="2800">
                <a:solidFill>
                  <a:srgbClr val="000000"/>
                </a:solidFill>
              </a:rPr>
              <a:t>40dB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676400" y="12954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82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3023896" y="1706563"/>
            <a:ext cx="6222961" cy="4377094"/>
            <a:chOff x="993" y="1278"/>
            <a:chExt cx="3310" cy="2274"/>
          </a:xfrm>
        </p:grpSpPr>
        <p:sp>
          <p:nvSpPr>
            <p:cNvPr id="13315" name="Text Box 3"/>
            <p:cNvSpPr txBox="1">
              <a:spLocks noChangeArrowheads="1"/>
            </p:cNvSpPr>
            <p:nvPr/>
          </p:nvSpPr>
          <p:spPr bwMode="auto">
            <a:xfrm>
              <a:off x="1560" y="3360"/>
              <a:ext cx="229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en-US" altLang="zh-CN" b="1"/>
                <a:t>Ap= 40.0000   As= 0.1098</a:t>
              </a:r>
            </a:p>
          </p:txBody>
        </p:sp>
        <p:grpSp>
          <p:nvGrpSpPr>
            <p:cNvPr id="13316" name="Group 4"/>
            <p:cNvGrpSpPr>
              <a:grpSpLocks/>
            </p:cNvGrpSpPr>
            <p:nvPr/>
          </p:nvGrpSpPr>
          <p:grpSpPr bwMode="auto">
            <a:xfrm>
              <a:off x="993" y="1278"/>
              <a:ext cx="3310" cy="1882"/>
              <a:chOff x="1269" y="1266"/>
              <a:chExt cx="3310" cy="1882"/>
            </a:xfrm>
          </p:grpSpPr>
          <p:sp>
            <p:nvSpPr>
              <p:cNvPr id="13317" name="Rectangle 5"/>
              <p:cNvSpPr>
                <a:spLocks noChangeArrowheads="1"/>
              </p:cNvSpPr>
              <p:nvPr/>
            </p:nvSpPr>
            <p:spPr bwMode="auto">
              <a:xfrm>
                <a:off x="1701" y="1310"/>
                <a:ext cx="2758" cy="154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18" name="Rectangle 6"/>
              <p:cNvSpPr>
                <a:spLocks noChangeArrowheads="1"/>
              </p:cNvSpPr>
              <p:nvPr/>
            </p:nvSpPr>
            <p:spPr bwMode="auto">
              <a:xfrm>
                <a:off x="1701" y="1310"/>
                <a:ext cx="2758" cy="1544"/>
              </a:xfrm>
              <a:prstGeom prst="rect">
                <a:avLst/>
              </a:prstGeom>
              <a:noFill/>
              <a:ln w="19050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19" name="Line 7"/>
              <p:cNvSpPr>
                <a:spLocks noChangeShapeType="1"/>
              </p:cNvSpPr>
              <p:nvPr/>
            </p:nvSpPr>
            <p:spPr bwMode="auto">
              <a:xfrm flipV="1">
                <a:off x="1701" y="1310"/>
                <a:ext cx="1" cy="15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0" name="Line 8"/>
              <p:cNvSpPr>
                <a:spLocks noChangeShapeType="1"/>
              </p:cNvSpPr>
              <p:nvPr/>
            </p:nvSpPr>
            <p:spPr bwMode="auto">
              <a:xfrm flipV="1">
                <a:off x="2164" y="1310"/>
                <a:ext cx="1" cy="1544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1" name="Line 9"/>
              <p:cNvSpPr>
                <a:spLocks noChangeShapeType="1"/>
              </p:cNvSpPr>
              <p:nvPr/>
            </p:nvSpPr>
            <p:spPr bwMode="auto">
              <a:xfrm flipV="1">
                <a:off x="2616" y="1310"/>
                <a:ext cx="1" cy="1544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2" name="Line 10"/>
              <p:cNvSpPr>
                <a:spLocks noChangeShapeType="1"/>
              </p:cNvSpPr>
              <p:nvPr/>
            </p:nvSpPr>
            <p:spPr bwMode="auto">
              <a:xfrm flipV="1">
                <a:off x="3080" y="1310"/>
                <a:ext cx="1" cy="1544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3" name="Line 11"/>
              <p:cNvSpPr>
                <a:spLocks noChangeShapeType="1"/>
              </p:cNvSpPr>
              <p:nvPr/>
            </p:nvSpPr>
            <p:spPr bwMode="auto">
              <a:xfrm flipV="1">
                <a:off x="3544" y="1310"/>
                <a:ext cx="1" cy="1544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4" name="Line 12"/>
              <p:cNvSpPr>
                <a:spLocks noChangeShapeType="1"/>
              </p:cNvSpPr>
              <p:nvPr/>
            </p:nvSpPr>
            <p:spPr bwMode="auto">
              <a:xfrm flipV="1">
                <a:off x="4008" y="1310"/>
                <a:ext cx="1" cy="1544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5" name="Line 13"/>
              <p:cNvSpPr>
                <a:spLocks noChangeShapeType="1"/>
              </p:cNvSpPr>
              <p:nvPr/>
            </p:nvSpPr>
            <p:spPr bwMode="auto">
              <a:xfrm flipV="1">
                <a:off x="4459" y="1310"/>
                <a:ext cx="1" cy="15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6" name="Line 14"/>
              <p:cNvSpPr>
                <a:spLocks noChangeShapeType="1"/>
              </p:cNvSpPr>
              <p:nvPr/>
            </p:nvSpPr>
            <p:spPr bwMode="auto">
              <a:xfrm>
                <a:off x="1701" y="2854"/>
                <a:ext cx="275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7" name="Line 15"/>
              <p:cNvSpPr>
                <a:spLocks noChangeShapeType="1"/>
              </p:cNvSpPr>
              <p:nvPr/>
            </p:nvSpPr>
            <p:spPr bwMode="auto">
              <a:xfrm>
                <a:off x="1701" y="2632"/>
                <a:ext cx="2758" cy="1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8" name="Line 16"/>
              <p:cNvSpPr>
                <a:spLocks noChangeShapeType="1"/>
              </p:cNvSpPr>
              <p:nvPr/>
            </p:nvSpPr>
            <p:spPr bwMode="auto">
              <a:xfrm>
                <a:off x="1701" y="2410"/>
                <a:ext cx="2758" cy="1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9" name="Line 17"/>
              <p:cNvSpPr>
                <a:spLocks noChangeShapeType="1"/>
              </p:cNvSpPr>
              <p:nvPr/>
            </p:nvSpPr>
            <p:spPr bwMode="auto">
              <a:xfrm>
                <a:off x="1701" y="2188"/>
                <a:ext cx="2758" cy="1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0" name="Line 18"/>
              <p:cNvSpPr>
                <a:spLocks noChangeShapeType="1"/>
              </p:cNvSpPr>
              <p:nvPr/>
            </p:nvSpPr>
            <p:spPr bwMode="auto">
              <a:xfrm>
                <a:off x="1701" y="1975"/>
                <a:ext cx="2758" cy="1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1" name="Line 19"/>
              <p:cNvSpPr>
                <a:spLocks noChangeShapeType="1"/>
              </p:cNvSpPr>
              <p:nvPr/>
            </p:nvSpPr>
            <p:spPr bwMode="auto">
              <a:xfrm>
                <a:off x="1701" y="1754"/>
                <a:ext cx="2758" cy="1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2" name="Line 20"/>
              <p:cNvSpPr>
                <a:spLocks noChangeShapeType="1"/>
              </p:cNvSpPr>
              <p:nvPr/>
            </p:nvSpPr>
            <p:spPr bwMode="auto">
              <a:xfrm>
                <a:off x="1701" y="1532"/>
                <a:ext cx="2758" cy="1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3" name="Line 21"/>
              <p:cNvSpPr>
                <a:spLocks noChangeShapeType="1"/>
              </p:cNvSpPr>
              <p:nvPr/>
            </p:nvSpPr>
            <p:spPr bwMode="auto">
              <a:xfrm>
                <a:off x="1701" y="1310"/>
                <a:ext cx="275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" name="Line 22"/>
              <p:cNvSpPr>
                <a:spLocks noChangeShapeType="1"/>
              </p:cNvSpPr>
              <p:nvPr/>
            </p:nvSpPr>
            <p:spPr bwMode="auto">
              <a:xfrm>
                <a:off x="1701" y="2854"/>
                <a:ext cx="275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5" name="Line 23"/>
              <p:cNvSpPr>
                <a:spLocks noChangeShapeType="1"/>
              </p:cNvSpPr>
              <p:nvPr/>
            </p:nvSpPr>
            <p:spPr bwMode="auto">
              <a:xfrm>
                <a:off x="1701" y="1310"/>
                <a:ext cx="275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6" name="Line 24"/>
              <p:cNvSpPr>
                <a:spLocks noChangeShapeType="1"/>
              </p:cNvSpPr>
              <p:nvPr/>
            </p:nvSpPr>
            <p:spPr bwMode="auto">
              <a:xfrm flipV="1">
                <a:off x="1701" y="1310"/>
                <a:ext cx="1" cy="15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7" name="Line 25"/>
              <p:cNvSpPr>
                <a:spLocks noChangeShapeType="1"/>
              </p:cNvSpPr>
              <p:nvPr/>
            </p:nvSpPr>
            <p:spPr bwMode="auto">
              <a:xfrm flipV="1">
                <a:off x="4459" y="1310"/>
                <a:ext cx="1" cy="15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8" name="Line 26"/>
              <p:cNvSpPr>
                <a:spLocks noChangeShapeType="1"/>
              </p:cNvSpPr>
              <p:nvPr/>
            </p:nvSpPr>
            <p:spPr bwMode="auto">
              <a:xfrm>
                <a:off x="1701" y="2854"/>
                <a:ext cx="275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9" name="Line 27"/>
              <p:cNvSpPr>
                <a:spLocks noChangeShapeType="1"/>
              </p:cNvSpPr>
              <p:nvPr/>
            </p:nvSpPr>
            <p:spPr bwMode="auto">
              <a:xfrm flipV="1">
                <a:off x="1701" y="1310"/>
                <a:ext cx="1" cy="15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0" name="Line 28"/>
              <p:cNvSpPr>
                <a:spLocks noChangeShapeType="1"/>
              </p:cNvSpPr>
              <p:nvPr/>
            </p:nvSpPr>
            <p:spPr bwMode="auto">
              <a:xfrm flipV="1">
                <a:off x="1701" y="2836"/>
                <a:ext cx="1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1" name="Line 29"/>
              <p:cNvSpPr>
                <a:spLocks noChangeShapeType="1"/>
              </p:cNvSpPr>
              <p:nvPr/>
            </p:nvSpPr>
            <p:spPr bwMode="auto">
              <a:xfrm>
                <a:off x="1701" y="1310"/>
                <a:ext cx="1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2" name="Rectangle 30"/>
              <p:cNvSpPr>
                <a:spLocks noChangeArrowheads="1"/>
              </p:cNvSpPr>
              <p:nvPr/>
            </p:nvSpPr>
            <p:spPr bwMode="auto">
              <a:xfrm>
                <a:off x="1676" y="2889"/>
                <a:ext cx="6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</a:t>
                </a:r>
                <a:endParaRPr lang="en-US" altLang="zh-CN" sz="1600" b="1"/>
              </a:p>
            </p:txBody>
          </p:sp>
          <p:sp>
            <p:nvSpPr>
              <p:cNvPr id="13343" name="Line 31"/>
              <p:cNvSpPr>
                <a:spLocks noChangeShapeType="1"/>
              </p:cNvSpPr>
              <p:nvPr/>
            </p:nvSpPr>
            <p:spPr bwMode="auto">
              <a:xfrm flipV="1">
                <a:off x="2164" y="2836"/>
                <a:ext cx="1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" name="Line 32"/>
              <p:cNvSpPr>
                <a:spLocks noChangeShapeType="1"/>
              </p:cNvSpPr>
              <p:nvPr/>
            </p:nvSpPr>
            <p:spPr bwMode="auto">
              <a:xfrm>
                <a:off x="2164" y="1310"/>
                <a:ext cx="1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5" name="Rectangle 33"/>
              <p:cNvSpPr>
                <a:spLocks noChangeArrowheads="1"/>
              </p:cNvSpPr>
              <p:nvPr/>
            </p:nvSpPr>
            <p:spPr bwMode="auto">
              <a:xfrm>
                <a:off x="2042" y="2889"/>
                <a:ext cx="24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1000</a:t>
                </a:r>
                <a:endParaRPr lang="en-US" altLang="zh-CN" sz="1600" b="1"/>
              </a:p>
            </p:txBody>
          </p:sp>
          <p:sp>
            <p:nvSpPr>
              <p:cNvPr id="13346" name="Line 34"/>
              <p:cNvSpPr>
                <a:spLocks noChangeShapeType="1"/>
              </p:cNvSpPr>
              <p:nvPr/>
            </p:nvSpPr>
            <p:spPr bwMode="auto">
              <a:xfrm flipV="1">
                <a:off x="2616" y="2836"/>
                <a:ext cx="1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" name="Line 35"/>
              <p:cNvSpPr>
                <a:spLocks noChangeShapeType="1"/>
              </p:cNvSpPr>
              <p:nvPr/>
            </p:nvSpPr>
            <p:spPr bwMode="auto">
              <a:xfrm>
                <a:off x="2616" y="1310"/>
                <a:ext cx="1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8" name="Rectangle 36"/>
              <p:cNvSpPr>
                <a:spLocks noChangeArrowheads="1"/>
              </p:cNvSpPr>
              <p:nvPr/>
            </p:nvSpPr>
            <p:spPr bwMode="auto">
              <a:xfrm>
                <a:off x="2494" y="2889"/>
                <a:ext cx="24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2000</a:t>
                </a:r>
                <a:endParaRPr lang="en-US" altLang="zh-CN" sz="1600" b="1"/>
              </a:p>
            </p:txBody>
          </p:sp>
          <p:sp>
            <p:nvSpPr>
              <p:cNvPr id="13349" name="Line 37"/>
              <p:cNvSpPr>
                <a:spLocks noChangeShapeType="1"/>
              </p:cNvSpPr>
              <p:nvPr/>
            </p:nvSpPr>
            <p:spPr bwMode="auto">
              <a:xfrm flipV="1">
                <a:off x="3080" y="2836"/>
                <a:ext cx="1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0" name="Line 38"/>
              <p:cNvSpPr>
                <a:spLocks noChangeShapeType="1"/>
              </p:cNvSpPr>
              <p:nvPr/>
            </p:nvSpPr>
            <p:spPr bwMode="auto">
              <a:xfrm>
                <a:off x="3080" y="1310"/>
                <a:ext cx="1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1" name="Rectangle 39"/>
              <p:cNvSpPr>
                <a:spLocks noChangeArrowheads="1"/>
              </p:cNvSpPr>
              <p:nvPr/>
            </p:nvSpPr>
            <p:spPr bwMode="auto">
              <a:xfrm>
                <a:off x="2958" y="2889"/>
                <a:ext cx="24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3000</a:t>
                </a:r>
                <a:endParaRPr lang="en-US" altLang="zh-CN" sz="1600" b="1"/>
              </a:p>
            </p:txBody>
          </p:sp>
          <p:sp>
            <p:nvSpPr>
              <p:cNvPr id="13352" name="Line 40"/>
              <p:cNvSpPr>
                <a:spLocks noChangeShapeType="1"/>
              </p:cNvSpPr>
              <p:nvPr/>
            </p:nvSpPr>
            <p:spPr bwMode="auto">
              <a:xfrm flipV="1">
                <a:off x="3544" y="2836"/>
                <a:ext cx="1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" name="Line 41"/>
              <p:cNvSpPr>
                <a:spLocks noChangeShapeType="1"/>
              </p:cNvSpPr>
              <p:nvPr/>
            </p:nvSpPr>
            <p:spPr bwMode="auto">
              <a:xfrm>
                <a:off x="3544" y="1310"/>
                <a:ext cx="1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4" name="Rectangle 42"/>
              <p:cNvSpPr>
                <a:spLocks noChangeArrowheads="1"/>
              </p:cNvSpPr>
              <p:nvPr/>
            </p:nvSpPr>
            <p:spPr bwMode="auto">
              <a:xfrm>
                <a:off x="3422" y="2889"/>
                <a:ext cx="24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4000</a:t>
                </a:r>
                <a:endParaRPr lang="en-US" altLang="zh-CN" sz="1600" b="1"/>
              </a:p>
            </p:txBody>
          </p:sp>
          <p:sp>
            <p:nvSpPr>
              <p:cNvPr id="13355" name="Line 43"/>
              <p:cNvSpPr>
                <a:spLocks noChangeShapeType="1"/>
              </p:cNvSpPr>
              <p:nvPr/>
            </p:nvSpPr>
            <p:spPr bwMode="auto">
              <a:xfrm flipV="1">
                <a:off x="4008" y="2836"/>
                <a:ext cx="1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6" name="Line 44"/>
              <p:cNvSpPr>
                <a:spLocks noChangeShapeType="1"/>
              </p:cNvSpPr>
              <p:nvPr/>
            </p:nvSpPr>
            <p:spPr bwMode="auto">
              <a:xfrm>
                <a:off x="4008" y="1310"/>
                <a:ext cx="1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7" name="Rectangle 45"/>
              <p:cNvSpPr>
                <a:spLocks noChangeArrowheads="1"/>
              </p:cNvSpPr>
              <p:nvPr/>
            </p:nvSpPr>
            <p:spPr bwMode="auto">
              <a:xfrm>
                <a:off x="3886" y="2889"/>
                <a:ext cx="24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5000</a:t>
                </a:r>
                <a:endParaRPr lang="en-US" altLang="zh-CN" sz="1600" b="1"/>
              </a:p>
            </p:txBody>
          </p:sp>
          <p:sp>
            <p:nvSpPr>
              <p:cNvPr id="13358" name="Line 46"/>
              <p:cNvSpPr>
                <a:spLocks noChangeShapeType="1"/>
              </p:cNvSpPr>
              <p:nvPr/>
            </p:nvSpPr>
            <p:spPr bwMode="auto">
              <a:xfrm flipV="1">
                <a:off x="4459" y="2836"/>
                <a:ext cx="1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9" name="Line 47"/>
              <p:cNvSpPr>
                <a:spLocks noChangeShapeType="1"/>
              </p:cNvSpPr>
              <p:nvPr/>
            </p:nvSpPr>
            <p:spPr bwMode="auto">
              <a:xfrm>
                <a:off x="4459" y="1310"/>
                <a:ext cx="1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" name="Rectangle 48"/>
              <p:cNvSpPr>
                <a:spLocks noChangeArrowheads="1"/>
              </p:cNvSpPr>
              <p:nvPr/>
            </p:nvSpPr>
            <p:spPr bwMode="auto">
              <a:xfrm>
                <a:off x="4337" y="2889"/>
                <a:ext cx="24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6000</a:t>
                </a:r>
                <a:endParaRPr lang="en-US" altLang="zh-CN" sz="1600" b="1"/>
              </a:p>
            </p:txBody>
          </p:sp>
          <p:sp>
            <p:nvSpPr>
              <p:cNvPr id="13361" name="Line 49"/>
              <p:cNvSpPr>
                <a:spLocks noChangeShapeType="1"/>
              </p:cNvSpPr>
              <p:nvPr/>
            </p:nvSpPr>
            <p:spPr bwMode="auto">
              <a:xfrm>
                <a:off x="1701" y="2854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2" name="Line 50"/>
              <p:cNvSpPr>
                <a:spLocks noChangeShapeType="1"/>
              </p:cNvSpPr>
              <p:nvPr/>
            </p:nvSpPr>
            <p:spPr bwMode="auto">
              <a:xfrm flipH="1">
                <a:off x="4423" y="2854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3" name="Rectangle 51"/>
              <p:cNvSpPr>
                <a:spLocks noChangeArrowheads="1"/>
              </p:cNvSpPr>
              <p:nvPr/>
            </p:nvSpPr>
            <p:spPr bwMode="auto">
              <a:xfrm>
                <a:off x="1481" y="2809"/>
                <a:ext cx="15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-70</a:t>
                </a:r>
                <a:endParaRPr lang="en-US" altLang="zh-CN" sz="1600" b="1"/>
              </a:p>
            </p:txBody>
          </p:sp>
          <p:sp>
            <p:nvSpPr>
              <p:cNvPr id="13364" name="Line 52"/>
              <p:cNvSpPr>
                <a:spLocks noChangeShapeType="1"/>
              </p:cNvSpPr>
              <p:nvPr/>
            </p:nvSpPr>
            <p:spPr bwMode="auto">
              <a:xfrm>
                <a:off x="1701" y="2632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5" name="Line 53"/>
              <p:cNvSpPr>
                <a:spLocks noChangeShapeType="1"/>
              </p:cNvSpPr>
              <p:nvPr/>
            </p:nvSpPr>
            <p:spPr bwMode="auto">
              <a:xfrm flipH="1">
                <a:off x="4423" y="2632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" name="Rectangle 54"/>
              <p:cNvSpPr>
                <a:spLocks noChangeArrowheads="1"/>
              </p:cNvSpPr>
              <p:nvPr/>
            </p:nvSpPr>
            <p:spPr bwMode="auto">
              <a:xfrm>
                <a:off x="1481" y="2588"/>
                <a:ext cx="15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-60</a:t>
                </a:r>
                <a:endParaRPr lang="en-US" altLang="zh-CN" sz="1600" b="1"/>
              </a:p>
            </p:txBody>
          </p:sp>
          <p:sp>
            <p:nvSpPr>
              <p:cNvPr id="13367" name="Line 55"/>
              <p:cNvSpPr>
                <a:spLocks noChangeShapeType="1"/>
              </p:cNvSpPr>
              <p:nvPr/>
            </p:nvSpPr>
            <p:spPr bwMode="auto">
              <a:xfrm>
                <a:off x="1701" y="2410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" name="Line 56"/>
              <p:cNvSpPr>
                <a:spLocks noChangeShapeType="1"/>
              </p:cNvSpPr>
              <p:nvPr/>
            </p:nvSpPr>
            <p:spPr bwMode="auto">
              <a:xfrm flipH="1">
                <a:off x="4423" y="2410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" name="Rectangle 57"/>
              <p:cNvSpPr>
                <a:spLocks noChangeArrowheads="1"/>
              </p:cNvSpPr>
              <p:nvPr/>
            </p:nvSpPr>
            <p:spPr bwMode="auto">
              <a:xfrm>
                <a:off x="1481" y="2366"/>
                <a:ext cx="15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-50</a:t>
                </a:r>
                <a:endParaRPr lang="en-US" altLang="zh-CN" sz="1600" b="1"/>
              </a:p>
            </p:txBody>
          </p:sp>
          <p:sp>
            <p:nvSpPr>
              <p:cNvPr id="13370" name="Line 58"/>
              <p:cNvSpPr>
                <a:spLocks noChangeShapeType="1"/>
              </p:cNvSpPr>
              <p:nvPr/>
            </p:nvSpPr>
            <p:spPr bwMode="auto">
              <a:xfrm>
                <a:off x="1701" y="2188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1" name="Line 59"/>
              <p:cNvSpPr>
                <a:spLocks noChangeShapeType="1"/>
              </p:cNvSpPr>
              <p:nvPr/>
            </p:nvSpPr>
            <p:spPr bwMode="auto">
              <a:xfrm flipH="1">
                <a:off x="4423" y="2188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2" name="Rectangle 60"/>
              <p:cNvSpPr>
                <a:spLocks noChangeArrowheads="1"/>
              </p:cNvSpPr>
              <p:nvPr/>
            </p:nvSpPr>
            <p:spPr bwMode="auto">
              <a:xfrm>
                <a:off x="1481" y="2144"/>
                <a:ext cx="15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-40</a:t>
                </a:r>
                <a:endParaRPr lang="en-US" altLang="zh-CN" sz="1600" b="1"/>
              </a:p>
            </p:txBody>
          </p:sp>
          <p:sp>
            <p:nvSpPr>
              <p:cNvPr id="13373" name="Line 61"/>
              <p:cNvSpPr>
                <a:spLocks noChangeShapeType="1"/>
              </p:cNvSpPr>
              <p:nvPr/>
            </p:nvSpPr>
            <p:spPr bwMode="auto">
              <a:xfrm>
                <a:off x="1701" y="1975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4" name="Line 62"/>
              <p:cNvSpPr>
                <a:spLocks noChangeShapeType="1"/>
              </p:cNvSpPr>
              <p:nvPr/>
            </p:nvSpPr>
            <p:spPr bwMode="auto">
              <a:xfrm flipH="1">
                <a:off x="4423" y="1975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5" name="Rectangle 63"/>
              <p:cNvSpPr>
                <a:spLocks noChangeArrowheads="1"/>
              </p:cNvSpPr>
              <p:nvPr/>
            </p:nvSpPr>
            <p:spPr bwMode="auto">
              <a:xfrm>
                <a:off x="1481" y="1931"/>
                <a:ext cx="15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-30</a:t>
                </a:r>
                <a:endParaRPr lang="en-US" altLang="zh-CN" sz="1600" b="1"/>
              </a:p>
            </p:txBody>
          </p:sp>
          <p:sp>
            <p:nvSpPr>
              <p:cNvPr id="13376" name="Line 64"/>
              <p:cNvSpPr>
                <a:spLocks noChangeShapeType="1"/>
              </p:cNvSpPr>
              <p:nvPr/>
            </p:nvSpPr>
            <p:spPr bwMode="auto">
              <a:xfrm>
                <a:off x="1701" y="1754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7" name="Line 65"/>
              <p:cNvSpPr>
                <a:spLocks noChangeShapeType="1"/>
              </p:cNvSpPr>
              <p:nvPr/>
            </p:nvSpPr>
            <p:spPr bwMode="auto">
              <a:xfrm flipH="1">
                <a:off x="4423" y="1754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8" name="Rectangle 66"/>
              <p:cNvSpPr>
                <a:spLocks noChangeArrowheads="1"/>
              </p:cNvSpPr>
              <p:nvPr/>
            </p:nvSpPr>
            <p:spPr bwMode="auto">
              <a:xfrm>
                <a:off x="1481" y="1709"/>
                <a:ext cx="15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-20</a:t>
                </a:r>
                <a:endParaRPr lang="en-US" altLang="zh-CN" sz="1600" b="1"/>
              </a:p>
            </p:txBody>
          </p:sp>
          <p:sp>
            <p:nvSpPr>
              <p:cNvPr id="13379" name="Line 67"/>
              <p:cNvSpPr>
                <a:spLocks noChangeShapeType="1"/>
              </p:cNvSpPr>
              <p:nvPr/>
            </p:nvSpPr>
            <p:spPr bwMode="auto">
              <a:xfrm>
                <a:off x="1701" y="1532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0" name="Line 68"/>
              <p:cNvSpPr>
                <a:spLocks noChangeShapeType="1"/>
              </p:cNvSpPr>
              <p:nvPr/>
            </p:nvSpPr>
            <p:spPr bwMode="auto">
              <a:xfrm flipH="1">
                <a:off x="4423" y="1532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1" name="Rectangle 69"/>
              <p:cNvSpPr>
                <a:spLocks noChangeArrowheads="1"/>
              </p:cNvSpPr>
              <p:nvPr/>
            </p:nvSpPr>
            <p:spPr bwMode="auto">
              <a:xfrm>
                <a:off x="1481" y="1488"/>
                <a:ext cx="15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-10</a:t>
                </a:r>
                <a:endParaRPr lang="en-US" altLang="zh-CN" sz="1600" b="1"/>
              </a:p>
            </p:txBody>
          </p:sp>
          <p:sp>
            <p:nvSpPr>
              <p:cNvPr id="13382" name="Line 70"/>
              <p:cNvSpPr>
                <a:spLocks noChangeShapeType="1"/>
              </p:cNvSpPr>
              <p:nvPr/>
            </p:nvSpPr>
            <p:spPr bwMode="auto">
              <a:xfrm>
                <a:off x="1701" y="1310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" name="Line 71"/>
              <p:cNvSpPr>
                <a:spLocks noChangeShapeType="1"/>
              </p:cNvSpPr>
              <p:nvPr/>
            </p:nvSpPr>
            <p:spPr bwMode="auto">
              <a:xfrm flipH="1">
                <a:off x="4423" y="1310"/>
                <a:ext cx="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4" name="Rectangle 72"/>
              <p:cNvSpPr>
                <a:spLocks noChangeArrowheads="1"/>
              </p:cNvSpPr>
              <p:nvPr/>
            </p:nvSpPr>
            <p:spPr bwMode="auto">
              <a:xfrm>
                <a:off x="1591" y="1266"/>
                <a:ext cx="6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</a:t>
                </a:r>
                <a:endParaRPr lang="en-US" altLang="zh-CN" sz="1600" b="1"/>
              </a:p>
            </p:txBody>
          </p:sp>
          <p:sp>
            <p:nvSpPr>
              <p:cNvPr id="13385" name="Line 73"/>
              <p:cNvSpPr>
                <a:spLocks noChangeShapeType="1"/>
              </p:cNvSpPr>
              <p:nvPr/>
            </p:nvSpPr>
            <p:spPr bwMode="auto">
              <a:xfrm>
                <a:off x="1701" y="2854"/>
                <a:ext cx="275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6" name="Line 74"/>
              <p:cNvSpPr>
                <a:spLocks noChangeShapeType="1"/>
              </p:cNvSpPr>
              <p:nvPr/>
            </p:nvSpPr>
            <p:spPr bwMode="auto">
              <a:xfrm>
                <a:off x="1701" y="1310"/>
                <a:ext cx="275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7" name="Line 75"/>
              <p:cNvSpPr>
                <a:spLocks noChangeShapeType="1"/>
              </p:cNvSpPr>
              <p:nvPr/>
            </p:nvSpPr>
            <p:spPr bwMode="auto">
              <a:xfrm flipV="1">
                <a:off x="1701" y="1310"/>
                <a:ext cx="1" cy="15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8" name="Line 76"/>
              <p:cNvSpPr>
                <a:spLocks noChangeShapeType="1"/>
              </p:cNvSpPr>
              <p:nvPr/>
            </p:nvSpPr>
            <p:spPr bwMode="auto">
              <a:xfrm flipV="1">
                <a:off x="4459" y="1310"/>
                <a:ext cx="1" cy="15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" name="Freeform 77"/>
              <p:cNvSpPr>
                <a:spLocks/>
              </p:cNvSpPr>
              <p:nvPr/>
            </p:nvSpPr>
            <p:spPr bwMode="auto">
              <a:xfrm>
                <a:off x="1933" y="1310"/>
                <a:ext cx="2526" cy="1410"/>
              </a:xfrm>
              <a:custGeom>
                <a:avLst/>
                <a:gdLst>
                  <a:gd name="T0" fmla="*/ 36 w 2526"/>
                  <a:gd name="T1" fmla="*/ 1322 h 1410"/>
                  <a:gd name="T2" fmla="*/ 61 w 2526"/>
                  <a:gd name="T3" fmla="*/ 1206 h 1410"/>
                  <a:gd name="T4" fmla="*/ 109 w 2526"/>
                  <a:gd name="T5" fmla="*/ 1109 h 1410"/>
                  <a:gd name="T6" fmla="*/ 146 w 2526"/>
                  <a:gd name="T7" fmla="*/ 1029 h 1410"/>
                  <a:gd name="T8" fmla="*/ 195 w 2526"/>
                  <a:gd name="T9" fmla="*/ 958 h 1410"/>
                  <a:gd name="T10" fmla="*/ 219 w 2526"/>
                  <a:gd name="T11" fmla="*/ 887 h 1410"/>
                  <a:gd name="T12" fmla="*/ 268 w 2526"/>
                  <a:gd name="T13" fmla="*/ 825 h 1410"/>
                  <a:gd name="T14" fmla="*/ 305 w 2526"/>
                  <a:gd name="T15" fmla="*/ 763 h 1410"/>
                  <a:gd name="T16" fmla="*/ 354 w 2526"/>
                  <a:gd name="T17" fmla="*/ 710 h 1410"/>
                  <a:gd name="T18" fmla="*/ 378 w 2526"/>
                  <a:gd name="T19" fmla="*/ 657 h 1410"/>
                  <a:gd name="T20" fmla="*/ 427 w 2526"/>
                  <a:gd name="T21" fmla="*/ 603 h 1410"/>
                  <a:gd name="T22" fmla="*/ 463 w 2526"/>
                  <a:gd name="T23" fmla="*/ 559 h 1410"/>
                  <a:gd name="T24" fmla="*/ 512 w 2526"/>
                  <a:gd name="T25" fmla="*/ 524 h 1410"/>
                  <a:gd name="T26" fmla="*/ 537 w 2526"/>
                  <a:gd name="T27" fmla="*/ 479 h 1410"/>
                  <a:gd name="T28" fmla="*/ 585 w 2526"/>
                  <a:gd name="T29" fmla="*/ 444 h 1410"/>
                  <a:gd name="T30" fmla="*/ 622 w 2526"/>
                  <a:gd name="T31" fmla="*/ 408 h 1410"/>
                  <a:gd name="T32" fmla="*/ 671 w 2526"/>
                  <a:gd name="T33" fmla="*/ 373 h 1410"/>
                  <a:gd name="T34" fmla="*/ 695 w 2526"/>
                  <a:gd name="T35" fmla="*/ 337 h 1410"/>
                  <a:gd name="T36" fmla="*/ 744 w 2526"/>
                  <a:gd name="T37" fmla="*/ 311 h 1410"/>
                  <a:gd name="T38" fmla="*/ 781 w 2526"/>
                  <a:gd name="T39" fmla="*/ 284 h 1410"/>
                  <a:gd name="T40" fmla="*/ 830 w 2526"/>
                  <a:gd name="T41" fmla="*/ 249 h 1410"/>
                  <a:gd name="T42" fmla="*/ 854 w 2526"/>
                  <a:gd name="T43" fmla="*/ 222 h 1410"/>
                  <a:gd name="T44" fmla="*/ 903 w 2526"/>
                  <a:gd name="T45" fmla="*/ 204 h 1410"/>
                  <a:gd name="T46" fmla="*/ 939 w 2526"/>
                  <a:gd name="T47" fmla="*/ 178 h 1410"/>
                  <a:gd name="T48" fmla="*/ 988 w 2526"/>
                  <a:gd name="T49" fmla="*/ 160 h 1410"/>
                  <a:gd name="T50" fmla="*/ 1025 w 2526"/>
                  <a:gd name="T51" fmla="*/ 133 h 1410"/>
                  <a:gd name="T52" fmla="*/ 1074 w 2526"/>
                  <a:gd name="T53" fmla="*/ 116 h 1410"/>
                  <a:gd name="T54" fmla="*/ 1110 w 2526"/>
                  <a:gd name="T55" fmla="*/ 98 h 1410"/>
                  <a:gd name="T56" fmla="*/ 1147 w 2526"/>
                  <a:gd name="T57" fmla="*/ 89 h 1410"/>
                  <a:gd name="T58" fmla="*/ 1196 w 2526"/>
                  <a:gd name="T59" fmla="*/ 71 h 1410"/>
                  <a:gd name="T60" fmla="*/ 1232 w 2526"/>
                  <a:gd name="T61" fmla="*/ 62 h 1410"/>
                  <a:gd name="T62" fmla="*/ 1281 w 2526"/>
                  <a:gd name="T63" fmla="*/ 45 h 1410"/>
                  <a:gd name="T64" fmla="*/ 1318 w 2526"/>
                  <a:gd name="T65" fmla="*/ 45 h 1410"/>
                  <a:gd name="T66" fmla="*/ 1367 w 2526"/>
                  <a:gd name="T67" fmla="*/ 36 h 1410"/>
                  <a:gd name="T68" fmla="*/ 1403 w 2526"/>
                  <a:gd name="T69" fmla="*/ 27 h 1410"/>
                  <a:gd name="T70" fmla="*/ 1452 w 2526"/>
                  <a:gd name="T71" fmla="*/ 27 h 1410"/>
                  <a:gd name="T72" fmla="*/ 1489 w 2526"/>
                  <a:gd name="T73" fmla="*/ 18 h 1410"/>
                  <a:gd name="T74" fmla="*/ 1538 w 2526"/>
                  <a:gd name="T75" fmla="*/ 18 h 1410"/>
                  <a:gd name="T76" fmla="*/ 1574 w 2526"/>
                  <a:gd name="T77" fmla="*/ 9 h 1410"/>
                  <a:gd name="T78" fmla="*/ 1623 w 2526"/>
                  <a:gd name="T79" fmla="*/ 9 h 1410"/>
                  <a:gd name="T80" fmla="*/ 1660 w 2526"/>
                  <a:gd name="T81" fmla="*/ 9 h 1410"/>
                  <a:gd name="T82" fmla="*/ 1696 w 2526"/>
                  <a:gd name="T83" fmla="*/ 0 h 1410"/>
                  <a:gd name="T84" fmla="*/ 1745 w 2526"/>
                  <a:gd name="T85" fmla="*/ 0 h 1410"/>
                  <a:gd name="T86" fmla="*/ 1782 w 2526"/>
                  <a:gd name="T87" fmla="*/ 0 h 1410"/>
                  <a:gd name="T88" fmla="*/ 1831 w 2526"/>
                  <a:gd name="T89" fmla="*/ 0 h 1410"/>
                  <a:gd name="T90" fmla="*/ 1867 w 2526"/>
                  <a:gd name="T91" fmla="*/ 0 h 1410"/>
                  <a:gd name="T92" fmla="*/ 1916 w 2526"/>
                  <a:gd name="T93" fmla="*/ 0 h 1410"/>
                  <a:gd name="T94" fmla="*/ 1953 w 2526"/>
                  <a:gd name="T95" fmla="*/ 0 h 1410"/>
                  <a:gd name="T96" fmla="*/ 2001 w 2526"/>
                  <a:gd name="T97" fmla="*/ 0 h 1410"/>
                  <a:gd name="T98" fmla="*/ 2038 w 2526"/>
                  <a:gd name="T99" fmla="*/ 0 h 1410"/>
                  <a:gd name="T100" fmla="*/ 2087 w 2526"/>
                  <a:gd name="T101" fmla="*/ 0 h 1410"/>
                  <a:gd name="T102" fmla="*/ 2124 w 2526"/>
                  <a:gd name="T103" fmla="*/ 0 h 1410"/>
                  <a:gd name="T104" fmla="*/ 2172 w 2526"/>
                  <a:gd name="T105" fmla="*/ 0 h 1410"/>
                  <a:gd name="T106" fmla="*/ 2209 w 2526"/>
                  <a:gd name="T107" fmla="*/ 0 h 1410"/>
                  <a:gd name="T108" fmla="*/ 2246 w 2526"/>
                  <a:gd name="T109" fmla="*/ 0 h 1410"/>
                  <a:gd name="T110" fmla="*/ 2294 w 2526"/>
                  <a:gd name="T111" fmla="*/ 0 h 1410"/>
                  <a:gd name="T112" fmla="*/ 2331 w 2526"/>
                  <a:gd name="T113" fmla="*/ 0 h 1410"/>
                  <a:gd name="T114" fmla="*/ 2380 w 2526"/>
                  <a:gd name="T115" fmla="*/ 0 h 1410"/>
                  <a:gd name="T116" fmla="*/ 2416 w 2526"/>
                  <a:gd name="T117" fmla="*/ 0 h 1410"/>
                  <a:gd name="T118" fmla="*/ 2465 w 2526"/>
                  <a:gd name="T119" fmla="*/ 0 h 1410"/>
                  <a:gd name="T120" fmla="*/ 2502 w 2526"/>
                  <a:gd name="T121" fmla="*/ 0 h 1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526" h="1410">
                    <a:moveTo>
                      <a:pt x="0" y="1410"/>
                    </a:moveTo>
                    <a:lnTo>
                      <a:pt x="12" y="1375"/>
                    </a:lnTo>
                    <a:lnTo>
                      <a:pt x="24" y="1348"/>
                    </a:lnTo>
                    <a:lnTo>
                      <a:pt x="36" y="1322"/>
                    </a:lnTo>
                    <a:lnTo>
                      <a:pt x="48" y="1286"/>
                    </a:lnTo>
                    <a:lnTo>
                      <a:pt x="48" y="1260"/>
                    </a:lnTo>
                    <a:lnTo>
                      <a:pt x="61" y="1233"/>
                    </a:lnTo>
                    <a:lnTo>
                      <a:pt x="61" y="1206"/>
                    </a:lnTo>
                    <a:lnTo>
                      <a:pt x="73" y="1180"/>
                    </a:lnTo>
                    <a:lnTo>
                      <a:pt x="85" y="1162"/>
                    </a:lnTo>
                    <a:lnTo>
                      <a:pt x="97" y="1136"/>
                    </a:lnTo>
                    <a:lnTo>
                      <a:pt x="109" y="1109"/>
                    </a:lnTo>
                    <a:lnTo>
                      <a:pt x="122" y="1091"/>
                    </a:lnTo>
                    <a:lnTo>
                      <a:pt x="134" y="1065"/>
                    </a:lnTo>
                    <a:lnTo>
                      <a:pt x="134" y="1047"/>
                    </a:lnTo>
                    <a:lnTo>
                      <a:pt x="146" y="1029"/>
                    </a:lnTo>
                    <a:lnTo>
                      <a:pt x="158" y="1011"/>
                    </a:lnTo>
                    <a:lnTo>
                      <a:pt x="170" y="994"/>
                    </a:lnTo>
                    <a:lnTo>
                      <a:pt x="183" y="976"/>
                    </a:lnTo>
                    <a:lnTo>
                      <a:pt x="195" y="958"/>
                    </a:lnTo>
                    <a:lnTo>
                      <a:pt x="207" y="932"/>
                    </a:lnTo>
                    <a:lnTo>
                      <a:pt x="207" y="914"/>
                    </a:lnTo>
                    <a:lnTo>
                      <a:pt x="219" y="905"/>
                    </a:lnTo>
                    <a:lnTo>
                      <a:pt x="219" y="887"/>
                    </a:lnTo>
                    <a:lnTo>
                      <a:pt x="231" y="869"/>
                    </a:lnTo>
                    <a:lnTo>
                      <a:pt x="244" y="852"/>
                    </a:lnTo>
                    <a:lnTo>
                      <a:pt x="256" y="834"/>
                    </a:lnTo>
                    <a:lnTo>
                      <a:pt x="268" y="825"/>
                    </a:lnTo>
                    <a:lnTo>
                      <a:pt x="280" y="798"/>
                    </a:lnTo>
                    <a:lnTo>
                      <a:pt x="293" y="790"/>
                    </a:lnTo>
                    <a:lnTo>
                      <a:pt x="293" y="781"/>
                    </a:lnTo>
                    <a:lnTo>
                      <a:pt x="305" y="763"/>
                    </a:lnTo>
                    <a:lnTo>
                      <a:pt x="317" y="745"/>
                    </a:lnTo>
                    <a:lnTo>
                      <a:pt x="329" y="736"/>
                    </a:lnTo>
                    <a:lnTo>
                      <a:pt x="341" y="719"/>
                    </a:lnTo>
                    <a:lnTo>
                      <a:pt x="354" y="710"/>
                    </a:lnTo>
                    <a:lnTo>
                      <a:pt x="366" y="692"/>
                    </a:lnTo>
                    <a:lnTo>
                      <a:pt x="366" y="683"/>
                    </a:lnTo>
                    <a:lnTo>
                      <a:pt x="366" y="665"/>
                    </a:lnTo>
                    <a:lnTo>
                      <a:pt x="378" y="657"/>
                    </a:lnTo>
                    <a:lnTo>
                      <a:pt x="390" y="648"/>
                    </a:lnTo>
                    <a:lnTo>
                      <a:pt x="402" y="630"/>
                    </a:lnTo>
                    <a:lnTo>
                      <a:pt x="415" y="621"/>
                    </a:lnTo>
                    <a:lnTo>
                      <a:pt x="427" y="603"/>
                    </a:lnTo>
                    <a:lnTo>
                      <a:pt x="439" y="603"/>
                    </a:lnTo>
                    <a:lnTo>
                      <a:pt x="451" y="586"/>
                    </a:lnTo>
                    <a:lnTo>
                      <a:pt x="451" y="577"/>
                    </a:lnTo>
                    <a:lnTo>
                      <a:pt x="463" y="559"/>
                    </a:lnTo>
                    <a:lnTo>
                      <a:pt x="476" y="559"/>
                    </a:lnTo>
                    <a:lnTo>
                      <a:pt x="488" y="541"/>
                    </a:lnTo>
                    <a:lnTo>
                      <a:pt x="500" y="532"/>
                    </a:lnTo>
                    <a:lnTo>
                      <a:pt x="512" y="524"/>
                    </a:lnTo>
                    <a:lnTo>
                      <a:pt x="524" y="515"/>
                    </a:lnTo>
                    <a:lnTo>
                      <a:pt x="524" y="497"/>
                    </a:lnTo>
                    <a:lnTo>
                      <a:pt x="524" y="488"/>
                    </a:lnTo>
                    <a:lnTo>
                      <a:pt x="537" y="479"/>
                    </a:lnTo>
                    <a:lnTo>
                      <a:pt x="549" y="470"/>
                    </a:lnTo>
                    <a:lnTo>
                      <a:pt x="561" y="461"/>
                    </a:lnTo>
                    <a:lnTo>
                      <a:pt x="573" y="453"/>
                    </a:lnTo>
                    <a:lnTo>
                      <a:pt x="585" y="444"/>
                    </a:lnTo>
                    <a:lnTo>
                      <a:pt x="598" y="435"/>
                    </a:lnTo>
                    <a:lnTo>
                      <a:pt x="610" y="426"/>
                    </a:lnTo>
                    <a:lnTo>
                      <a:pt x="610" y="417"/>
                    </a:lnTo>
                    <a:lnTo>
                      <a:pt x="622" y="408"/>
                    </a:lnTo>
                    <a:lnTo>
                      <a:pt x="634" y="399"/>
                    </a:lnTo>
                    <a:lnTo>
                      <a:pt x="647" y="390"/>
                    </a:lnTo>
                    <a:lnTo>
                      <a:pt x="659" y="382"/>
                    </a:lnTo>
                    <a:lnTo>
                      <a:pt x="671" y="373"/>
                    </a:lnTo>
                    <a:lnTo>
                      <a:pt x="683" y="364"/>
                    </a:lnTo>
                    <a:lnTo>
                      <a:pt x="683" y="355"/>
                    </a:lnTo>
                    <a:lnTo>
                      <a:pt x="683" y="346"/>
                    </a:lnTo>
                    <a:lnTo>
                      <a:pt x="695" y="337"/>
                    </a:lnTo>
                    <a:lnTo>
                      <a:pt x="708" y="337"/>
                    </a:lnTo>
                    <a:lnTo>
                      <a:pt x="720" y="328"/>
                    </a:lnTo>
                    <a:lnTo>
                      <a:pt x="732" y="311"/>
                    </a:lnTo>
                    <a:lnTo>
                      <a:pt x="744" y="311"/>
                    </a:lnTo>
                    <a:lnTo>
                      <a:pt x="756" y="302"/>
                    </a:lnTo>
                    <a:lnTo>
                      <a:pt x="756" y="293"/>
                    </a:lnTo>
                    <a:lnTo>
                      <a:pt x="769" y="293"/>
                    </a:lnTo>
                    <a:lnTo>
                      <a:pt x="781" y="284"/>
                    </a:lnTo>
                    <a:lnTo>
                      <a:pt x="793" y="266"/>
                    </a:lnTo>
                    <a:lnTo>
                      <a:pt x="805" y="266"/>
                    </a:lnTo>
                    <a:lnTo>
                      <a:pt x="817" y="257"/>
                    </a:lnTo>
                    <a:lnTo>
                      <a:pt x="830" y="249"/>
                    </a:lnTo>
                    <a:lnTo>
                      <a:pt x="842" y="249"/>
                    </a:lnTo>
                    <a:lnTo>
                      <a:pt x="842" y="240"/>
                    </a:lnTo>
                    <a:lnTo>
                      <a:pt x="842" y="231"/>
                    </a:lnTo>
                    <a:lnTo>
                      <a:pt x="854" y="222"/>
                    </a:lnTo>
                    <a:lnTo>
                      <a:pt x="866" y="222"/>
                    </a:lnTo>
                    <a:lnTo>
                      <a:pt x="878" y="213"/>
                    </a:lnTo>
                    <a:lnTo>
                      <a:pt x="891" y="204"/>
                    </a:lnTo>
                    <a:lnTo>
                      <a:pt x="903" y="204"/>
                    </a:lnTo>
                    <a:lnTo>
                      <a:pt x="915" y="195"/>
                    </a:lnTo>
                    <a:lnTo>
                      <a:pt x="915" y="186"/>
                    </a:lnTo>
                    <a:lnTo>
                      <a:pt x="927" y="178"/>
                    </a:lnTo>
                    <a:lnTo>
                      <a:pt x="939" y="178"/>
                    </a:lnTo>
                    <a:lnTo>
                      <a:pt x="952" y="178"/>
                    </a:lnTo>
                    <a:lnTo>
                      <a:pt x="964" y="169"/>
                    </a:lnTo>
                    <a:lnTo>
                      <a:pt x="976" y="160"/>
                    </a:lnTo>
                    <a:lnTo>
                      <a:pt x="988" y="160"/>
                    </a:lnTo>
                    <a:lnTo>
                      <a:pt x="1001" y="151"/>
                    </a:lnTo>
                    <a:lnTo>
                      <a:pt x="1001" y="142"/>
                    </a:lnTo>
                    <a:lnTo>
                      <a:pt x="1013" y="133"/>
                    </a:lnTo>
                    <a:lnTo>
                      <a:pt x="1025" y="133"/>
                    </a:lnTo>
                    <a:lnTo>
                      <a:pt x="1037" y="133"/>
                    </a:lnTo>
                    <a:lnTo>
                      <a:pt x="1049" y="124"/>
                    </a:lnTo>
                    <a:lnTo>
                      <a:pt x="1062" y="116"/>
                    </a:lnTo>
                    <a:lnTo>
                      <a:pt x="1074" y="116"/>
                    </a:lnTo>
                    <a:lnTo>
                      <a:pt x="1074" y="116"/>
                    </a:lnTo>
                    <a:lnTo>
                      <a:pt x="1086" y="107"/>
                    </a:lnTo>
                    <a:lnTo>
                      <a:pt x="1098" y="107"/>
                    </a:lnTo>
                    <a:lnTo>
                      <a:pt x="1110" y="98"/>
                    </a:lnTo>
                    <a:lnTo>
                      <a:pt x="1123" y="98"/>
                    </a:lnTo>
                    <a:lnTo>
                      <a:pt x="1135" y="89"/>
                    </a:lnTo>
                    <a:lnTo>
                      <a:pt x="1147" y="89"/>
                    </a:lnTo>
                    <a:lnTo>
                      <a:pt x="1147" y="89"/>
                    </a:lnTo>
                    <a:lnTo>
                      <a:pt x="1159" y="80"/>
                    </a:lnTo>
                    <a:lnTo>
                      <a:pt x="1171" y="71"/>
                    </a:lnTo>
                    <a:lnTo>
                      <a:pt x="1184" y="71"/>
                    </a:lnTo>
                    <a:lnTo>
                      <a:pt x="1196" y="71"/>
                    </a:lnTo>
                    <a:lnTo>
                      <a:pt x="1208" y="71"/>
                    </a:lnTo>
                    <a:lnTo>
                      <a:pt x="1220" y="71"/>
                    </a:lnTo>
                    <a:lnTo>
                      <a:pt x="1232" y="62"/>
                    </a:lnTo>
                    <a:lnTo>
                      <a:pt x="1232" y="62"/>
                    </a:lnTo>
                    <a:lnTo>
                      <a:pt x="1245" y="53"/>
                    </a:lnTo>
                    <a:lnTo>
                      <a:pt x="1257" y="53"/>
                    </a:lnTo>
                    <a:lnTo>
                      <a:pt x="1269" y="53"/>
                    </a:lnTo>
                    <a:lnTo>
                      <a:pt x="1281" y="45"/>
                    </a:lnTo>
                    <a:lnTo>
                      <a:pt x="1293" y="45"/>
                    </a:lnTo>
                    <a:lnTo>
                      <a:pt x="1306" y="45"/>
                    </a:lnTo>
                    <a:lnTo>
                      <a:pt x="1306" y="45"/>
                    </a:lnTo>
                    <a:lnTo>
                      <a:pt x="1318" y="45"/>
                    </a:lnTo>
                    <a:lnTo>
                      <a:pt x="1330" y="45"/>
                    </a:lnTo>
                    <a:lnTo>
                      <a:pt x="1342" y="36"/>
                    </a:lnTo>
                    <a:lnTo>
                      <a:pt x="1355" y="36"/>
                    </a:lnTo>
                    <a:lnTo>
                      <a:pt x="1367" y="36"/>
                    </a:lnTo>
                    <a:lnTo>
                      <a:pt x="1379" y="36"/>
                    </a:lnTo>
                    <a:lnTo>
                      <a:pt x="1391" y="27"/>
                    </a:lnTo>
                    <a:lnTo>
                      <a:pt x="1391" y="27"/>
                    </a:lnTo>
                    <a:lnTo>
                      <a:pt x="1403" y="27"/>
                    </a:lnTo>
                    <a:lnTo>
                      <a:pt x="1416" y="27"/>
                    </a:lnTo>
                    <a:lnTo>
                      <a:pt x="1428" y="27"/>
                    </a:lnTo>
                    <a:lnTo>
                      <a:pt x="1440" y="27"/>
                    </a:lnTo>
                    <a:lnTo>
                      <a:pt x="1452" y="27"/>
                    </a:lnTo>
                    <a:lnTo>
                      <a:pt x="1464" y="27"/>
                    </a:lnTo>
                    <a:lnTo>
                      <a:pt x="1464" y="27"/>
                    </a:lnTo>
                    <a:lnTo>
                      <a:pt x="1477" y="27"/>
                    </a:lnTo>
                    <a:lnTo>
                      <a:pt x="1489" y="18"/>
                    </a:lnTo>
                    <a:lnTo>
                      <a:pt x="1501" y="18"/>
                    </a:lnTo>
                    <a:lnTo>
                      <a:pt x="1513" y="18"/>
                    </a:lnTo>
                    <a:lnTo>
                      <a:pt x="1525" y="18"/>
                    </a:lnTo>
                    <a:lnTo>
                      <a:pt x="1538" y="18"/>
                    </a:lnTo>
                    <a:lnTo>
                      <a:pt x="1538" y="18"/>
                    </a:lnTo>
                    <a:lnTo>
                      <a:pt x="1550" y="18"/>
                    </a:lnTo>
                    <a:lnTo>
                      <a:pt x="1562" y="18"/>
                    </a:lnTo>
                    <a:lnTo>
                      <a:pt x="1574" y="9"/>
                    </a:lnTo>
                    <a:lnTo>
                      <a:pt x="1586" y="9"/>
                    </a:lnTo>
                    <a:lnTo>
                      <a:pt x="1599" y="9"/>
                    </a:lnTo>
                    <a:lnTo>
                      <a:pt x="1611" y="9"/>
                    </a:lnTo>
                    <a:lnTo>
                      <a:pt x="1623" y="9"/>
                    </a:lnTo>
                    <a:lnTo>
                      <a:pt x="1623" y="9"/>
                    </a:lnTo>
                    <a:lnTo>
                      <a:pt x="1635" y="9"/>
                    </a:lnTo>
                    <a:lnTo>
                      <a:pt x="1647" y="9"/>
                    </a:lnTo>
                    <a:lnTo>
                      <a:pt x="1660" y="9"/>
                    </a:lnTo>
                    <a:lnTo>
                      <a:pt x="1672" y="9"/>
                    </a:lnTo>
                    <a:lnTo>
                      <a:pt x="1684" y="9"/>
                    </a:lnTo>
                    <a:lnTo>
                      <a:pt x="1696" y="9"/>
                    </a:lnTo>
                    <a:lnTo>
                      <a:pt x="1696" y="0"/>
                    </a:lnTo>
                    <a:lnTo>
                      <a:pt x="1709" y="0"/>
                    </a:lnTo>
                    <a:lnTo>
                      <a:pt x="1721" y="0"/>
                    </a:lnTo>
                    <a:lnTo>
                      <a:pt x="1733" y="0"/>
                    </a:lnTo>
                    <a:lnTo>
                      <a:pt x="1745" y="0"/>
                    </a:lnTo>
                    <a:lnTo>
                      <a:pt x="1757" y="0"/>
                    </a:lnTo>
                    <a:lnTo>
                      <a:pt x="1770" y="0"/>
                    </a:lnTo>
                    <a:lnTo>
                      <a:pt x="1782" y="0"/>
                    </a:lnTo>
                    <a:lnTo>
                      <a:pt x="1782" y="0"/>
                    </a:lnTo>
                    <a:lnTo>
                      <a:pt x="1794" y="0"/>
                    </a:lnTo>
                    <a:lnTo>
                      <a:pt x="1806" y="0"/>
                    </a:lnTo>
                    <a:lnTo>
                      <a:pt x="1818" y="0"/>
                    </a:lnTo>
                    <a:lnTo>
                      <a:pt x="1831" y="0"/>
                    </a:lnTo>
                    <a:lnTo>
                      <a:pt x="1843" y="0"/>
                    </a:lnTo>
                    <a:lnTo>
                      <a:pt x="1855" y="0"/>
                    </a:lnTo>
                    <a:lnTo>
                      <a:pt x="1855" y="0"/>
                    </a:lnTo>
                    <a:lnTo>
                      <a:pt x="1867" y="0"/>
                    </a:lnTo>
                    <a:lnTo>
                      <a:pt x="1879" y="0"/>
                    </a:lnTo>
                    <a:lnTo>
                      <a:pt x="1892" y="0"/>
                    </a:lnTo>
                    <a:lnTo>
                      <a:pt x="1904" y="0"/>
                    </a:lnTo>
                    <a:lnTo>
                      <a:pt x="1916" y="0"/>
                    </a:lnTo>
                    <a:lnTo>
                      <a:pt x="1928" y="0"/>
                    </a:lnTo>
                    <a:lnTo>
                      <a:pt x="1928" y="0"/>
                    </a:lnTo>
                    <a:lnTo>
                      <a:pt x="1940" y="0"/>
                    </a:lnTo>
                    <a:lnTo>
                      <a:pt x="1953" y="0"/>
                    </a:lnTo>
                    <a:lnTo>
                      <a:pt x="1965" y="0"/>
                    </a:lnTo>
                    <a:lnTo>
                      <a:pt x="1977" y="0"/>
                    </a:lnTo>
                    <a:lnTo>
                      <a:pt x="1989" y="0"/>
                    </a:lnTo>
                    <a:lnTo>
                      <a:pt x="2001" y="0"/>
                    </a:lnTo>
                    <a:lnTo>
                      <a:pt x="2014" y="0"/>
                    </a:lnTo>
                    <a:lnTo>
                      <a:pt x="2014" y="0"/>
                    </a:lnTo>
                    <a:lnTo>
                      <a:pt x="2026" y="0"/>
                    </a:lnTo>
                    <a:lnTo>
                      <a:pt x="2038" y="0"/>
                    </a:lnTo>
                    <a:lnTo>
                      <a:pt x="2050" y="0"/>
                    </a:lnTo>
                    <a:lnTo>
                      <a:pt x="2062" y="0"/>
                    </a:lnTo>
                    <a:lnTo>
                      <a:pt x="2075" y="0"/>
                    </a:lnTo>
                    <a:lnTo>
                      <a:pt x="2087" y="0"/>
                    </a:lnTo>
                    <a:lnTo>
                      <a:pt x="2087" y="0"/>
                    </a:lnTo>
                    <a:lnTo>
                      <a:pt x="2099" y="0"/>
                    </a:lnTo>
                    <a:lnTo>
                      <a:pt x="2111" y="0"/>
                    </a:lnTo>
                    <a:lnTo>
                      <a:pt x="2124" y="0"/>
                    </a:lnTo>
                    <a:lnTo>
                      <a:pt x="2136" y="0"/>
                    </a:lnTo>
                    <a:lnTo>
                      <a:pt x="2148" y="0"/>
                    </a:lnTo>
                    <a:lnTo>
                      <a:pt x="2160" y="0"/>
                    </a:lnTo>
                    <a:lnTo>
                      <a:pt x="2172" y="0"/>
                    </a:lnTo>
                    <a:lnTo>
                      <a:pt x="2172" y="0"/>
                    </a:lnTo>
                    <a:lnTo>
                      <a:pt x="2185" y="0"/>
                    </a:lnTo>
                    <a:lnTo>
                      <a:pt x="2197" y="0"/>
                    </a:lnTo>
                    <a:lnTo>
                      <a:pt x="2209" y="0"/>
                    </a:lnTo>
                    <a:lnTo>
                      <a:pt x="2221" y="0"/>
                    </a:lnTo>
                    <a:lnTo>
                      <a:pt x="2233" y="0"/>
                    </a:lnTo>
                    <a:lnTo>
                      <a:pt x="2246" y="0"/>
                    </a:lnTo>
                    <a:lnTo>
                      <a:pt x="2246" y="0"/>
                    </a:lnTo>
                    <a:lnTo>
                      <a:pt x="2258" y="0"/>
                    </a:lnTo>
                    <a:lnTo>
                      <a:pt x="2270" y="0"/>
                    </a:lnTo>
                    <a:lnTo>
                      <a:pt x="2282" y="0"/>
                    </a:lnTo>
                    <a:lnTo>
                      <a:pt x="2294" y="0"/>
                    </a:lnTo>
                    <a:lnTo>
                      <a:pt x="2307" y="0"/>
                    </a:lnTo>
                    <a:lnTo>
                      <a:pt x="2319" y="0"/>
                    </a:lnTo>
                    <a:lnTo>
                      <a:pt x="2319" y="0"/>
                    </a:lnTo>
                    <a:lnTo>
                      <a:pt x="2331" y="0"/>
                    </a:lnTo>
                    <a:lnTo>
                      <a:pt x="2343" y="0"/>
                    </a:lnTo>
                    <a:lnTo>
                      <a:pt x="2355" y="0"/>
                    </a:lnTo>
                    <a:lnTo>
                      <a:pt x="2368" y="0"/>
                    </a:lnTo>
                    <a:lnTo>
                      <a:pt x="2380" y="0"/>
                    </a:lnTo>
                    <a:lnTo>
                      <a:pt x="2392" y="0"/>
                    </a:lnTo>
                    <a:lnTo>
                      <a:pt x="2404" y="0"/>
                    </a:lnTo>
                    <a:lnTo>
                      <a:pt x="2404" y="0"/>
                    </a:lnTo>
                    <a:lnTo>
                      <a:pt x="2416" y="0"/>
                    </a:lnTo>
                    <a:lnTo>
                      <a:pt x="2429" y="0"/>
                    </a:lnTo>
                    <a:lnTo>
                      <a:pt x="2441" y="0"/>
                    </a:lnTo>
                    <a:lnTo>
                      <a:pt x="2453" y="0"/>
                    </a:lnTo>
                    <a:lnTo>
                      <a:pt x="2465" y="0"/>
                    </a:lnTo>
                    <a:lnTo>
                      <a:pt x="2478" y="0"/>
                    </a:lnTo>
                    <a:lnTo>
                      <a:pt x="2478" y="0"/>
                    </a:lnTo>
                    <a:lnTo>
                      <a:pt x="2490" y="0"/>
                    </a:lnTo>
                    <a:lnTo>
                      <a:pt x="2502" y="0"/>
                    </a:lnTo>
                    <a:lnTo>
                      <a:pt x="2514" y="0"/>
                    </a:lnTo>
                    <a:lnTo>
                      <a:pt x="2526" y="0"/>
                    </a:lnTo>
                  </a:path>
                </a:pathLst>
              </a:custGeom>
              <a:noFill/>
              <a:ln w="28575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0" name="Rectangle 78"/>
              <p:cNvSpPr>
                <a:spLocks noChangeArrowheads="1"/>
              </p:cNvSpPr>
              <p:nvPr/>
            </p:nvSpPr>
            <p:spPr bwMode="auto">
              <a:xfrm>
                <a:off x="2653" y="3020"/>
                <a:ext cx="84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Frequency in Hz</a:t>
                </a:r>
                <a:endParaRPr lang="en-US" altLang="zh-CN" sz="1600" b="1"/>
              </a:p>
            </p:txBody>
          </p:sp>
          <p:sp>
            <p:nvSpPr>
              <p:cNvPr id="13391" name="Rectangle 79"/>
              <p:cNvSpPr>
                <a:spLocks noChangeArrowheads="1"/>
              </p:cNvSpPr>
              <p:nvPr/>
            </p:nvSpPr>
            <p:spPr bwMode="auto">
              <a:xfrm rot="16200000">
                <a:off x="1068" y="2008"/>
                <a:ext cx="534" cy="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Gain in dB</a:t>
                </a:r>
                <a:endParaRPr lang="en-US" altLang="zh-CN" sz="1600" b="1"/>
              </a:p>
            </p:txBody>
          </p:sp>
        </p:grpSp>
      </p:grpSp>
      <p:sp>
        <p:nvSpPr>
          <p:cNvPr id="13392" name="Rectangle 80"/>
          <p:cNvSpPr>
            <a:spLocks noChangeArrowheads="1"/>
          </p:cNvSpPr>
          <p:nvPr/>
        </p:nvSpPr>
        <p:spPr bwMode="auto">
          <a:xfrm>
            <a:off x="2209800" y="304800"/>
            <a:ext cx="8077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000000"/>
                </a:solidFill>
              </a:rPr>
              <a:t>例</a:t>
            </a:r>
            <a:r>
              <a:rPr lang="en-US" altLang="zh-CN" sz="2800" b="1">
                <a:solidFill>
                  <a:srgbClr val="000000"/>
                </a:solidFill>
              </a:rPr>
              <a:t>1</a:t>
            </a:r>
            <a:r>
              <a:rPr lang="zh-CN" altLang="en-US" sz="2800" b="1">
                <a:solidFill>
                  <a:srgbClr val="000000"/>
                </a:solidFill>
              </a:rPr>
              <a:t>：</a:t>
            </a:r>
            <a:r>
              <a:rPr lang="zh-CN" altLang="en-US" sz="2800">
                <a:solidFill>
                  <a:srgbClr val="000000"/>
                </a:solidFill>
              </a:rPr>
              <a:t>  设计满足下列条件的模拟</a:t>
            </a:r>
            <a:r>
              <a:rPr lang="en-US" altLang="zh-CN" sz="2800">
                <a:solidFill>
                  <a:srgbClr val="000000"/>
                </a:solidFill>
              </a:rPr>
              <a:t>BW</a:t>
            </a:r>
            <a:r>
              <a:rPr lang="zh-CN" altLang="en-US" sz="2800">
                <a:solidFill>
                  <a:srgbClr val="000000"/>
                </a:solidFill>
              </a:rPr>
              <a:t>型高通滤波器</a:t>
            </a:r>
            <a:br>
              <a:rPr lang="zh-CN" altLang="en-US" sz="2800">
                <a:solidFill>
                  <a:srgbClr val="000000"/>
                </a:solidFill>
              </a:rPr>
            </a:br>
            <a:r>
              <a:rPr lang="zh-CN" altLang="en-US" sz="2800">
                <a:solidFill>
                  <a:srgbClr val="000000"/>
                </a:solidFill>
              </a:rPr>
              <a:t>             </a:t>
            </a:r>
            <a:r>
              <a:rPr lang="en-US" altLang="zh-CN" sz="2800" i="1">
                <a:solidFill>
                  <a:srgbClr val="000000"/>
                </a:solidFill>
              </a:rPr>
              <a:t>f</a:t>
            </a:r>
            <a:r>
              <a:rPr lang="en-US" altLang="zh-CN" sz="2800" baseline="-25000">
                <a:solidFill>
                  <a:srgbClr val="000000"/>
                </a:solidFill>
              </a:rPr>
              <a:t>p</a:t>
            </a:r>
            <a:r>
              <a:rPr lang="en-US" altLang="zh-CN" sz="2800">
                <a:solidFill>
                  <a:srgbClr val="000000"/>
                </a:solidFill>
              </a:rPr>
              <a:t>=5KHz,   </a:t>
            </a:r>
            <a:r>
              <a:rPr lang="en-US" altLang="zh-CN" sz="2800" i="1">
                <a:solidFill>
                  <a:srgbClr val="000000"/>
                </a:solidFill>
              </a:rPr>
              <a:t>f</a:t>
            </a:r>
            <a:r>
              <a:rPr lang="en-US" altLang="zh-CN" sz="2800" baseline="-25000">
                <a:solidFill>
                  <a:srgbClr val="000000"/>
                </a:solidFill>
              </a:rPr>
              <a:t>s</a:t>
            </a:r>
            <a:r>
              <a:rPr lang="en-US" altLang="zh-CN" sz="2800">
                <a:solidFill>
                  <a:srgbClr val="000000"/>
                </a:solidFill>
              </a:rPr>
              <a:t>=1kHz,  </a:t>
            </a:r>
            <a:r>
              <a:rPr lang="en-US" altLang="zh-CN" sz="2800" i="1">
                <a:solidFill>
                  <a:srgbClr val="000000"/>
                </a:solidFill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</a:rPr>
              <a:t>p</a:t>
            </a:r>
            <a:r>
              <a:rPr lang="en-US" altLang="zh-CN" sz="2800">
                <a:solidFill>
                  <a:srgbClr val="000000"/>
                </a:solidFill>
                <a:sym typeface="Symbol" panose="05050102010706020507" pitchFamily="18" charset="2"/>
              </a:rPr>
              <a:t></a:t>
            </a:r>
            <a:r>
              <a:rPr lang="en-US" altLang="zh-CN" sz="2800">
                <a:solidFill>
                  <a:srgbClr val="000000"/>
                </a:solidFill>
              </a:rPr>
              <a:t>1dB,   </a:t>
            </a:r>
            <a:r>
              <a:rPr lang="en-US" altLang="zh-CN" sz="2800" i="1">
                <a:solidFill>
                  <a:srgbClr val="000000"/>
                </a:solidFill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</a:rPr>
              <a:t>s </a:t>
            </a:r>
            <a:r>
              <a:rPr lang="en-US" altLang="zh-CN" sz="2800">
                <a:solidFill>
                  <a:srgbClr val="000000"/>
                </a:solidFill>
                <a:sym typeface="Symbol" panose="05050102010706020507" pitchFamily="18" charset="2"/>
              </a:rPr>
              <a:t></a:t>
            </a:r>
            <a:r>
              <a:rPr lang="en-US" altLang="zh-CN" sz="2800" baseline="-25000">
                <a:solidFill>
                  <a:srgbClr val="000000"/>
                </a:solidFill>
              </a:rPr>
              <a:t> </a:t>
            </a:r>
            <a:r>
              <a:rPr lang="en-US" altLang="zh-CN" sz="2800">
                <a:solidFill>
                  <a:srgbClr val="000000"/>
                </a:solidFill>
              </a:rPr>
              <a:t>40dB</a:t>
            </a:r>
          </a:p>
        </p:txBody>
      </p:sp>
    </p:spTree>
    <p:extLst>
      <p:ext uri="{BB962C8B-B14F-4D97-AF65-F5344CB8AC3E}">
        <p14:creationId xmlns:p14="http://schemas.microsoft.com/office/powerpoint/2010/main" val="390982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762000"/>
          </a:xfrm>
        </p:spPr>
        <p:txBody>
          <a:bodyPr/>
          <a:lstStyle/>
          <a:p>
            <a:r>
              <a:rPr lang="zh-CN" altLang="en-US" sz="3600">
                <a:ea typeface="黑体" panose="02010609060101010101" pitchFamily="49" charset="-122"/>
              </a:rPr>
              <a:t>模拟带通滤波器的设计</a:t>
            </a:r>
          </a:p>
        </p:txBody>
      </p:sp>
      <p:sp>
        <p:nvSpPr>
          <p:cNvPr id="44042" name="Text Box 10"/>
          <p:cNvSpPr txBox="1">
            <a:spLocks noChangeArrowheads="1"/>
          </p:cNvSpPr>
          <p:nvPr/>
        </p:nvSpPr>
        <p:spPr bwMode="auto">
          <a:xfrm>
            <a:off x="1863144" y="1389856"/>
            <a:ext cx="5995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</a:rPr>
              <a:t>模拟带通滤波器的设计步骤：</a:t>
            </a:r>
          </a:p>
        </p:txBody>
      </p:sp>
      <p:sp>
        <p:nvSpPr>
          <p:cNvPr id="44046" name="Text Box 14"/>
          <p:cNvSpPr txBox="1">
            <a:spLocks noChangeArrowheads="1"/>
          </p:cNvSpPr>
          <p:nvPr/>
        </p:nvSpPr>
        <p:spPr bwMode="auto">
          <a:xfrm>
            <a:off x="1995488" y="1903413"/>
            <a:ext cx="7986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(1)</a:t>
            </a:r>
            <a:r>
              <a:rPr lang="zh-CN" altLang="en-US" sz="2800"/>
              <a:t>由带通滤波器的上下截频确定变换式中的参数</a:t>
            </a:r>
          </a:p>
        </p:txBody>
      </p:sp>
      <p:graphicFrame>
        <p:nvGraphicFramePr>
          <p:cNvPr id="44047" name="Object 15"/>
          <p:cNvGraphicFramePr>
            <a:graphicFrameLocks noChangeAspect="1"/>
          </p:cNvGraphicFramePr>
          <p:nvPr/>
        </p:nvGraphicFramePr>
        <p:xfrm>
          <a:off x="3249613" y="2478088"/>
          <a:ext cx="20383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4" name="Equation" r:id="rId3" imgW="812520" imgH="228600" progId="Equation.3">
                  <p:embed/>
                </p:oleObj>
              </mc:Choice>
              <mc:Fallback>
                <p:oleObj name="Equation" r:id="rId3" imgW="812520" imgH="228600" progId="Equation.3">
                  <p:embed/>
                  <p:pic>
                    <p:nvPicPr>
                      <p:cNvPr id="4404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613" y="2478088"/>
                        <a:ext cx="20383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8" name="Object 16"/>
          <p:cNvGraphicFramePr>
            <a:graphicFrameLocks noChangeAspect="1"/>
          </p:cNvGraphicFramePr>
          <p:nvPr/>
        </p:nvGraphicFramePr>
        <p:xfrm>
          <a:off x="6278563" y="2417764"/>
          <a:ext cx="1839912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5" name="Equation" r:id="rId5" imgW="736560" imgH="253800" progId="Equation.3">
                  <p:embed/>
                </p:oleObj>
              </mc:Choice>
              <mc:Fallback>
                <p:oleObj name="Equation" r:id="rId5" imgW="736560" imgH="253800" progId="Equation.3">
                  <p:embed/>
                  <p:pic>
                    <p:nvPicPr>
                      <p:cNvPr id="4404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8563" y="2417764"/>
                        <a:ext cx="1839912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9" name="Text Box 17"/>
          <p:cNvSpPr txBox="1">
            <a:spLocks noChangeArrowheads="1"/>
          </p:cNvSpPr>
          <p:nvPr/>
        </p:nvSpPr>
        <p:spPr bwMode="auto">
          <a:xfrm>
            <a:off x="1954214" y="3041651"/>
            <a:ext cx="7113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(2) </a:t>
            </a:r>
            <a:r>
              <a:rPr lang="zh-CN" altLang="en-US" sz="2800"/>
              <a:t>确定原型低通滤波器的阻带截频</a:t>
            </a:r>
          </a:p>
        </p:txBody>
      </p:sp>
      <p:graphicFrame>
        <p:nvGraphicFramePr>
          <p:cNvPr id="44050" name="Object 18"/>
          <p:cNvGraphicFramePr>
            <a:graphicFrameLocks noChangeAspect="1"/>
          </p:cNvGraphicFramePr>
          <p:nvPr/>
        </p:nvGraphicFramePr>
        <p:xfrm>
          <a:off x="3352800" y="4371976"/>
          <a:ext cx="2490788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6" name="公式" r:id="rId7" imgW="1244520" imgH="482400" progId="Equation.3">
                  <p:embed/>
                </p:oleObj>
              </mc:Choice>
              <mc:Fallback>
                <p:oleObj name="公式" r:id="rId7" imgW="1244520" imgH="482400" progId="Equation.3">
                  <p:embed/>
                  <p:pic>
                    <p:nvPicPr>
                      <p:cNvPr id="4405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371976"/>
                        <a:ext cx="2490788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1" name="Object 19"/>
          <p:cNvGraphicFramePr>
            <a:graphicFrameLocks noChangeAspect="1"/>
          </p:cNvGraphicFramePr>
          <p:nvPr/>
        </p:nvGraphicFramePr>
        <p:xfrm>
          <a:off x="6383339" y="4365625"/>
          <a:ext cx="2511425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7" name="公式" r:id="rId9" imgW="1257120" imgH="482400" progId="Equation.3">
                  <p:embed/>
                </p:oleObj>
              </mc:Choice>
              <mc:Fallback>
                <p:oleObj name="公式" r:id="rId9" imgW="1257120" imgH="482400" progId="Equation.3">
                  <p:embed/>
                  <p:pic>
                    <p:nvPicPr>
                      <p:cNvPr id="4405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4365625"/>
                        <a:ext cx="2511425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2" name="Object 20"/>
          <p:cNvGraphicFramePr>
            <a:graphicFrameLocks noChangeAspect="1"/>
          </p:cNvGraphicFramePr>
          <p:nvPr/>
        </p:nvGraphicFramePr>
        <p:xfrm>
          <a:off x="4418014" y="3657600"/>
          <a:ext cx="29733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8" name="公式" r:id="rId11" imgW="1231560" imgH="253800" progId="Equation.3">
                  <p:embed/>
                </p:oleObj>
              </mc:Choice>
              <mc:Fallback>
                <p:oleObj name="公式" r:id="rId11" imgW="1231560" imgH="253800" progId="Equation.3">
                  <p:embed/>
                  <p:pic>
                    <p:nvPicPr>
                      <p:cNvPr id="4405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014" y="3657600"/>
                        <a:ext cx="297338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4" name="Text Box 22"/>
          <p:cNvSpPr txBox="1">
            <a:spLocks noChangeArrowheads="1"/>
          </p:cNvSpPr>
          <p:nvPr/>
        </p:nvSpPr>
        <p:spPr bwMode="auto">
          <a:xfrm>
            <a:off x="2089150" y="5300663"/>
            <a:ext cx="857885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/>
              <a:t>(3)</a:t>
            </a:r>
            <a:r>
              <a:rPr lang="zh-CN" altLang="en-US" sz="2800"/>
              <a:t>设计通带截频为</a:t>
            </a:r>
            <a:r>
              <a:rPr lang="en-US" altLang="zh-CN" sz="2800"/>
              <a:t>1 (rad/s)</a:t>
            </a:r>
            <a:r>
              <a:rPr lang="zh-CN" altLang="en-US" sz="2800"/>
              <a:t>、阻带截频为      、通带衰减为</a:t>
            </a:r>
            <a:r>
              <a:rPr lang="en-US" altLang="zh-CN" sz="2800" i="1"/>
              <a:t>A</a:t>
            </a:r>
            <a:r>
              <a:rPr lang="en-US" altLang="zh-CN" sz="2800" baseline="-25000"/>
              <a:t>p</a:t>
            </a:r>
            <a:r>
              <a:rPr lang="en-US" altLang="zh-CN" sz="2800"/>
              <a:t> dB</a:t>
            </a:r>
            <a:r>
              <a:rPr lang="zh-CN" altLang="en-US" sz="2800"/>
              <a:t>、阻带衰减为</a:t>
            </a:r>
            <a:r>
              <a:rPr lang="en-US" altLang="zh-CN" sz="2800" i="1"/>
              <a:t>A</a:t>
            </a:r>
            <a:r>
              <a:rPr lang="en-US" altLang="zh-CN" sz="2800" baseline="-25000"/>
              <a:t>s</a:t>
            </a:r>
            <a:r>
              <a:rPr lang="en-US" altLang="zh-CN" sz="2800"/>
              <a:t>dB</a:t>
            </a:r>
            <a:r>
              <a:rPr lang="zh-CN" altLang="en-US" sz="2800"/>
              <a:t>的原型低通滤波器</a:t>
            </a:r>
          </a:p>
        </p:txBody>
      </p:sp>
      <p:graphicFrame>
        <p:nvGraphicFramePr>
          <p:cNvPr id="4405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104059"/>
              </p:ext>
            </p:extLst>
          </p:nvPr>
        </p:nvGraphicFramePr>
        <p:xfrm>
          <a:off x="8856218" y="5392293"/>
          <a:ext cx="4254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9" name="Equation" r:id="rId13" imgW="177480" imgH="203040" progId="Equation.3">
                  <p:embed/>
                </p:oleObj>
              </mc:Choice>
              <mc:Fallback>
                <p:oleObj name="Equation" r:id="rId13" imgW="177480" imgH="203040" progId="Equation.3">
                  <p:embed/>
                  <p:pic>
                    <p:nvPicPr>
                      <p:cNvPr id="4405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6218" y="5392293"/>
                        <a:ext cx="4254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6" name="Text Box 24"/>
          <p:cNvSpPr txBox="1">
            <a:spLocks noChangeArrowheads="1"/>
          </p:cNvSpPr>
          <p:nvPr/>
        </p:nvSpPr>
        <p:spPr bwMode="auto">
          <a:xfrm>
            <a:off x="2057400" y="4538663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其中</a:t>
            </a:r>
          </a:p>
        </p:txBody>
      </p:sp>
    </p:spTree>
    <p:extLst>
      <p:ext uri="{BB962C8B-B14F-4D97-AF65-F5344CB8AC3E}">
        <p14:creationId xmlns:p14="http://schemas.microsoft.com/office/powerpoint/2010/main" val="118743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6" grpId="0" autoUpdateAnimBg="0"/>
      <p:bldP spid="44049" grpId="0" autoUpdateAnimBg="0"/>
      <p:bldP spid="4405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762000"/>
          </a:xfrm>
        </p:spPr>
        <p:txBody>
          <a:bodyPr/>
          <a:lstStyle/>
          <a:p>
            <a:r>
              <a:rPr lang="zh-CN" altLang="en-US" sz="3600">
                <a:ea typeface="黑体" panose="02010609060101010101" pitchFamily="49" charset="-122"/>
              </a:rPr>
              <a:t>模拟带通滤波器的设计</a:t>
            </a: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1815306" y="1397793"/>
            <a:ext cx="6427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</a:rPr>
              <a:t>模拟带通滤波器的设计步骤：</a:t>
            </a:r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1981200" y="1905001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(4) </a:t>
            </a:r>
            <a:r>
              <a:rPr lang="zh-CN" altLang="en-US" sz="2800">
                <a:latin typeface="宋体" panose="02010600030101010101" pitchFamily="2" charset="-122"/>
              </a:rPr>
              <a:t>将原型低通滤波器转换为带通滤波器</a:t>
            </a:r>
            <a:r>
              <a:rPr lang="en-US" altLang="zh-CN" sz="2800" i="1"/>
              <a:t>H</a:t>
            </a:r>
            <a:r>
              <a:rPr lang="en-US" altLang="zh-CN" sz="2800" baseline="-30000"/>
              <a:t>BP</a:t>
            </a:r>
            <a:r>
              <a:rPr lang="en-US" altLang="zh-CN" sz="2800"/>
              <a:t>(</a:t>
            </a:r>
            <a:r>
              <a:rPr lang="en-US" altLang="zh-CN" sz="2800" i="1"/>
              <a:t>s</a:t>
            </a:r>
            <a:r>
              <a:rPr lang="en-US" altLang="zh-CN" sz="2800"/>
              <a:t>) </a:t>
            </a:r>
          </a:p>
        </p:txBody>
      </p:sp>
      <p:graphicFrame>
        <p:nvGraphicFramePr>
          <p:cNvPr id="45062" name="Object 6"/>
          <p:cNvGraphicFramePr>
            <a:graphicFrameLocks noChangeAspect="1"/>
          </p:cNvGraphicFramePr>
          <p:nvPr/>
        </p:nvGraphicFramePr>
        <p:xfrm>
          <a:off x="4206876" y="2590800"/>
          <a:ext cx="3522663" cy="132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3" name="Equation" r:id="rId3" imgW="1409400" imgH="533160" progId="Equation.3">
                  <p:embed/>
                </p:oleObj>
              </mc:Choice>
              <mc:Fallback>
                <p:oleObj name="Equation" r:id="rId3" imgW="1409400" imgH="533160" progId="Equation.3">
                  <p:embed/>
                  <p:pic>
                    <p:nvPicPr>
                      <p:cNvPr id="450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876" y="2590800"/>
                        <a:ext cx="3522663" cy="1328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Text Box 7"/>
          <p:cNvSpPr txBox="1">
            <a:spLocks noChangeArrowheads="1"/>
          </p:cNvSpPr>
          <p:nvPr/>
        </p:nvSpPr>
        <p:spPr bwMode="auto">
          <a:xfrm>
            <a:off x="2057400" y="4510088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</a:rPr>
              <a:t>MATLAB</a:t>
            </a:r>
            <a:r>
              <a:rPr lang="zh-CN" altLang="en-US" sz="2800" b="1">
                <a:solidFill>
                  <a:schemeClr val="accent2"/>
                </a:solidFill>
              </a:rPr>
              <a:t>实现</a:t>
            </a:r>
          </a:p>
        </p:txBody>
      </p:sp>
      <p:sp>
        <p:nvSpPr>
          <p:cNvPr id="45064" name="Text Box 8"/>
          <p:cNvSpPr txBox="1">
            <a:spLocks noChangeArrowheads="1"/>
          </p:cNvSpPr>
          <p:nvPr/>
        </p:nvSpPr>
        <p:spPr bwMode="auto">
          <a:xfrm>
            <a:off x="2209800" y="5119688"/>
            <a:ext cx="7848600" cy="5191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/>
              <a:t>[numt,dent] = lp2bp(num,den,W0,B)</a:t>
            </a:r>
          </a:p>
        </p:txBody>
      </p:sp>
    </p:spTree>
    <p:extLst>
      <p:ext uri="{BB962C8B-B14F-4D97-AF65-F5344CB8AC3E}">
        <p14:creationId xmlns:p14="http://schemas.microsoft.com/office/powerpoint/2010/main" val="256801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 autoUpdateAnimBg="0"/>
      <p:bldP spid="45063" grpId="0" autoUpdateAnimBg="0"/>
      <p:bldP spid="45064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-142866"/>
            <a:ext cx="8458200" cy="1676400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2: </a:t>
            </a:r>
            <a:r>
              <a:rPr lang="zh-CN" altLang="en-US" dirty="0">
                <a:solidFill>
                  <a:schemeClr val="tx1"/>
                </a:solidFill>
              </a:rPr>
              <a:t>试设计一个满足下列指标的</a:t>
            </a:r>
            <a:r>
              <a:rPr lang="en-US" altLang="zh-CN" dirty="0">
                <a:solidFill>
                  <a:schemeClr val="tx1"/>
                </a:solidFill>
              </a:rPr>
              <a:t>BW</a:t>
            </a:r>
            <a:r>
              <a:rPr lang="zh-CN" altLang="en-US" dirty="0">
                <a:solidFill>
                  <a:schemeClr val="tx1"/>
                </a:solidFill>
              </a:rPr>
              <a:t>型带通滤波器</a:t>
            </a:r>
            <a:br>
              <a:rPr lang="zh-CN" altLang="en-US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      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p1</a:t>
            </a:r>
            <a:r>
              <a:rPr lang="en-US" altLang="zh-CN" dirty="0">
                <a:solidFill>
                  <a:schemeClr val="tx1"/>
                </a:solidFill>
              </a:rPr>
              <a:t>=6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 rad/s, 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p2</a:t>
            </a:r>
            <a:r>
              <a:rPr lang="en-US" altLang="zh-CN" dirty="0">
                <a:solidFill>
                  <a:schemeClr val="tx1"/>
                </a:solidFill>
              </a:rPr>
              <a:t>=8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 rad/s, 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s1</a:t>
            </a:r>
            <a:r>
              <a:rPr lang="en-US" altLang="zh-CN" dirty="0">
                <a:solidFill>
                  <a:schemeClr val="tx1"/>
                </a:solidFill>
              </a:rPr>
              <a:t>=4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 rad/s, 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s2</a:t>
            </a:r>
            <a:r>
              <a:rPr lang="en-US" altLang="zh-CN" dirty="0">
                <a:solidFill>
                  <a:schemeClr val="tx1"/>
                </a:solidFill>
              </a:rPr>
              <a:t>=11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 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 pitchFamily="18" charset="2"/>
              </a:rPr>
              <a:t>rad/s,</a:t>
            </a:r>
            <a:r>
              <a:rPr lang="en-US" altLang="zh-CN" i="1" dirty="0" smtClean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-25000" dirty="0" smtClean="0">
                <a:solidFill>
                  <a:schemeClr val="tx1"/>
                </a:solidFill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1 dB, </a:t>
            </a:r>
            <a:r>
              <a:rPr lang="en-US" altLang="zh-CN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  <a:sym typeface="Symbol" panose="05050102010706020507" pitchFamily="18" charset="2"/>
              </a:rPr>
              <a:t>s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</a:t>
            </a:r>
            <a:r>
              <a:rPr lang="en-US" altLang="zh-CN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32dB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1905000" y="1828801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解：</a:t>
            </a:r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1995488" y="2360613"/>
            <a:ext cx="7986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(1)</a:t>
            </a:r>
            <a:r>
              <a:rPr lang="zh-CN" altLang="en-US" sz="2800"/>
              <a:t>由带通滤波器的上下截频确定变换式中的参数</a:t>
            </a:r>
          </a:p>
        </p:txBody>
      </p:sp>
      <p:graphicFrame>
        <p:nvGraphicFramePr>
          <p:cNvPr id="49158" name="Object 6"/>
          <p:cNvGraphicFramePr>
            <a:graphicFrameLocks noChangeAspect="1"/>
          </p:cNvGraphicFramePr>
          <p:nvPr/>
        </p:nvGraphicFramePr>
        <p:xfrm>
          <a:off x="2979739" y="2935288"/>
          <a:ext cx="2579687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5" name="Equation" r:id="rId3" imgW="1028520" imgH="228600" progId="Equation.3">
                  <p:embed/>
                </p:oleObj>
              </mc:Choice>
              <mc:Fallback>
                <p:oleObj name="Equation" r:id="rId3" imgW="1028520" imgH="228600" progId="Equation.3">
                  <p:embed/>
                  <p:pic>
                    <p:nvPicPr>
                      <p:cNvPr id="491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739" y="2935288"/>
                        <a:ext cx="2579687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7"/>
          <p:cNvGraphicFramePr>
            <a:graphicFrameLocks noChangeAspect="1"/>
          </p:cNvGraphicFramePr>
          <p:nvPr/>
        </p:nvGraphicFramePr>
        <p:xfrm>
          <a:off x="5897563" y="2874964"/>
          <a:ext cx="2601912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6" name="Equation" r:id="rId5" imgW="1041120" imgH="253800" progId="Equation.3">
                  <p:embed/>
                </p:oleObj>
              </mc:Choice>
              <mc:Fallback>
                <p:oleObj name="Equation" r:id="rId5" imgW="1041120" imgH="253800" progId="Equation.3">
                  <p:embed/>
                  <p:pic>
                    <p:nvPicPr>
                      <p:cNvPr id="491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7563" y="2874964"/>
                        <a:ext cx="2601912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Text Box 8"/>
          <p:cNvSpPr txBox="1">
            <a:spLocks noChangeArrowheads="1"/>
          </p:cNvSpPr>
          <p:nvPr/>
        </p:nvSpPr>
        <p:spPr bwMode="auto">
          <a:xfrm>
            <a:off x="1954214" y="3498851"/>
            <a:ext cx="7113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(2) </a:t>
            </a:r>
            <a:r>
              <a:rPr lang="zh-CN" altLang="en-US" sz="2800"/>
              <a:t>确定原型低通滤波器的阻带截频</a:t>
            </a:r>
          </a:p>
        </p:txBody>
      </p:sp>
      <p:graphicFrame>
        <p:nvGraphicFramePr>
          <p:cNvPr id="49161" name="Object 9"/>
          <p:cNvGraphicFramePr>
            <a:graphicFrameLocks noChangeAspect="1"/>
          </p:cNvGraphicFramePr>
          <p:nvPr/>
        </p:nvGraphicFramePr>
        <p:xfrm>
          <a:off x="2476500" y="4127501"/>
          <a:ext cx="30241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7" name="Equation" r:id="rId7" imgW="1511280" imgH="469800" progId="Equation.3">
                  <p:embed/>
                </p:oleObj>
              </mc:Choice>
              <mc:Fallback>
                <p:oleObj name="Equation" r:id="rId7" imgW="1511280" imgH="469800" progId="Equation.3">
                  <p:embed/>
                  <p:pic>
                    <p:nvPicPr>
                      <p:cNvPr id="491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4127501"/>
                        <a:ext cx="3024188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2" name="Object 10"/>
          <p:cNvGraphicFramePr>
            <a:graphicFrameLocks noChangeAspect="1"/>
          </p:cNvGraphicFramePr>
          <p:nvPr/>
        </p:nvGraphicFramePr>
        <p:xfrm>
          <a:off x="6172200" y="4114800"/>
          <a:ext cx="3525838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8" name="Equation" r:id="rId9" imgW="1765080" imgH="469800" progId="Equation.3">
                  <p:embed/>
                </p:oleObj>
              </mc:Choice>
              <mc:Fallback>
                <p:oleObj name="Equation" r:id="rId9" imgW="1765080" imgH="469800" progId="Equation.3">
                  <p:embed/>
                  <p:pic>
                    <p:nvPicPr>
                      <p:cNvPr id="491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114800"/>
                        <a:ext cx="3525838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3" name="Object 11"/>
          <p:cNvGraphicFramePr>
            <a:graphicFrameLocks noChangeAspect="1"/>
          </p:cNvGraphicFramePr>
          <p:nvPr/>
        </p:nvGraphicFramePr>
        <p:xfrm>
          <a:off x="3886200" y="5257800"/>
          <a:ext cx="410845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9" name="Equation" r:id="rId11" imgW="1701720" imgH="228600" progId="Equation.3">
                  <p:embed/>
                </p:oleObj>
              </mc:Choice>
              <mc:Fallback>
                <p:oleObj name="Equation" r:id="rId11" imgW="1701720" imgH="228600" progId="Equation.3">
                  <p:embed/>
                  <p:pic>
                    <p:nvPicPr>
                      <p:cNvPr id="491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257800"/>
                        <a:ext cx="410845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4" name="Text Box 12"/>
          <p:cNvSpPr txBox="1">
            <a:spLocks noChangeArrowheads="1"/>
          </p:cNvSpPr>
          <p:nvPr/>
        </p:nvSpPr>
        <p:spPr bwMode="auto">
          <a:xfrm>
            <a:off x="2362200" y="5195888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故</a:t>
            </a:r>
          </a:p>
        </p:txBody>
      </p:sp>
    </p:spTree>
    <p:extLst>
      <p:ext uri="{BB962C8B-B14F-4D97-AF65-F5344CB8AC3E}">
        <p14:creationId xmlns:p14="http://schemas.microsoft.com/office/powerpoint/2010/main" val="41921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7" grpId="0" autoUpdateAnimBg="0"/>
      <p:bldP spid="49160" grpId="0" autoUpdateAnimBg="0"/>
      <p:bldP spid="49164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-159915"/>
            <a:ext cx="8458200" cy="1676400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2: </a:t>
            </a:r>
            <a:r>
              <a:rPr lang="zh-CN" altLang="en-US" dirty="0">
                <a:solidFill>
                  <a:schemeClr val="tx1"/>
                </a:solidFill>
              </a:rPr>
              <a:t>试设计一个满足下列指标的</a:t>
            </a:r>
            <a:r>
              <a:rPr lang="en-US" altLang="zh-CN" dirty="0">
                <a:solidFill>
                  <a:schemeClr val="tx1"/>
                </a:solidFill>
              </a:rPr>
              <a:t>BW</a:t>
            </a:r>
            <a:r>
              <a:rPr lang="zh-CN" altLang="en-US" dirty="0">
                <a:solidFill>
                  <a:schemeClr val="tx1"/>
                </a:solidFill>
              </a:rPr>
              <a:t>型带通滤波器</a:t>
            </a:r>
            <a:br>
              <a:rPr lang="zh-CN" altLang="en-US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      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p1</a:t>
            </a:r>
            <a:r>
              <a:rPr lang="en-US" altLang="zh-CN" dirty="0">
                <a:solidFill>
                  <a:schemeClr val="tx1"/>
                </a:solidFill>
              </a:rPr>
              <a:t>=6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 rad/s, 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p2</a:t>
            </a:r>
            <a:r>
              <a:rPr lang="en-US" altLang="zh-CN" dirty="0">
                <a:solidFill>
                  <a:schemeClr val="tx1"/>
                </a:solidFill>
              </a:rPr>
              <a:t>=8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 rad/s, 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s1</a:t>
            </a:r>
            <a:r>
              <a:rPr lang="en-US" altLang="zh-CN" dirty="0">
                <a:solidFill>
                  <a:schemeClr val="tx1"/>
                </a:solidFill>
              </a:rPr>
              <a:t>=4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 rad/s, 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s2</a:t>
            </a:r>
            <a:r>
              <a:rPr lang="en-US" altLang="zh-CN" dirty="0">
                <a:solidFill>
                  <a:schemeClr val="tx1"/>
                </a:solidFill>
              </a:rPr>
              <a:t>=11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 rad/s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  <a:r>
              <a:rPr lang="en-US" altLang="zh-CN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1 dB, </a:t>
            </a:r>
            <a:r>
              <a:rPr lang="en-US" altLang="zh-CN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  <a:sym typeface="Symbol" panose="05050102010706020507" pitchFamily="18" charset="2"/>
              </a:rPr>
              <a:t>s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</a:t>
            </a:r>
            <a:r>
              <a:rPr lang="en-US" altLang="zh-CN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32dB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1905000" y="1828801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解：</a:t>
            </a: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2590800" y="1828801"/>
            <a:ext cx="7113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(3) </a:t>
            </a:r>
            <a:r>
              <a:rPr lang="zh-CN" altLang="en-US" sz="2800"/>
              <a:t>设计满足下列指标的原型低通滤波器</a:t>
            </a:r>
          </a:p>
        </p:txBody>
      </p:sp>
      <p:graphicFrame>
        <p:nvGraphicFramePr>
          <p:cNvPr id="50182" name="Object 6"/>
          <p:cNvGraphicFramePr>
            <a:graphicFrameLocks noChangeAspect="1"/>
          </p:cNvGraphicFramePr>
          <p:nvPr/>
        </p:nvGraphicFramePr>
        <p:xfrm>
          <a:off x="3044826" y="2500314"/>
          <a:ext cx="564197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5" name="Equation" r:id="rId3" imgW="2336760" imgH="228600" progId="Equation.3">
                  <p:embed/>
                </p:oleObj>
              </mc:Choice>
              <mc:Fallback>
                <p:oleObj name="Equation" r:id="rId3" imgW="2336760" imgH="228600" progId="Equation.3">
                  <p:embed/>
                  <p:pic>
                    <p:nvPicPr>
                      <p:cNvPr id="501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6" y="2500314"/>
                        <a:ext cx="5641975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7"/>
          <p:cNvGraphicFramePr>
            <a:graphicFrameLocks noChangeAspect="1"/>
          </p:cNvGraphicFramePr>
          <p:nvPr/>
        </p:nvGraphicFramePr>
        <p:xfrm>
          <a:off x="2881313" y="3276600"/>
          <a:ext cx="4329112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6" name="Equation" r:id="rId5" imgW="1803240" imgH="634680" progId="Equation.3">
                  <p:embed/>
                </p:oleObj>
              </mc:Choice>
              <mc:Fallback>
                <p:oleObj name="Equation" r:id="rId5" imgW="1803240" imgH="634680" progId="Equation.3">
                  <p:embed/>
                  <p:pic>
                    <p:nvPicPr>
                      <p:cNvPr id="501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3" y="3276600"/>
                        <a:ext cx="4329112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4" name="Text Box 8"/>
          <p:cNvSpPr txBox="1">
            <a:spLocks noChangeArrowheads="1"/>
          </p:cNvSpPr>
          <p:nvPr/>
        </p:nvSpPr>
        <p:spPr bwMode="auto">
          <a:xfrm>
            <a:off x="8001000" y="39624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取</a:t>
            </a:r>
            <a:r>
              <a:rPr lang="en-US" altLang="zh-CN" sz="2800" i="1"/>
              <a:t>N</a:t>
            </a:r>
            <a:r>
              <a:rPr lang="en-US" altLang="zh-CN" sz="2800"/>
              <a:t>=4</a:t>
            </a:r>
          </a:p>
        </p:txBody>
      </p:sp>
      <p:graphicFrame>
        <p:nvGraphicFramePr>
          <p:cNvPr id="50185" name="Object 9"/>
          <p:cNvGraphicFramePr>
            <a:graphicFrameLocks noChangeAspect="1"/>
          </p:cNvGraphicFramePr>
          <p:nvPr/>
        </p:nvGraphicFramePr>
        <p:xfrm>
          <a:off x="4175126" y="4967288"/>
          <a:ext cx="4176713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7" name="Equation" r:id="rId7" imgW="1739880" imgH="406080" progId="Equation.3">
                  <p:embed/>
                </p:oleObj>
              </mc:Choice>
              <mc:Fallback>
                <p:oleObj name="Equation" r:id="rId7" imgW="1739880" imgH="406080" progId="Equation.3">
                  <p:embed/>
                  <p:pic>
                    <p:nvPicPr>
                      <p:cNvPr id="501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26" y="4967288"/>
                        <a:ext cx="4176713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962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 autoUpdateAnimBg="0"/>
      <p:bldP spid="50184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76200"/>
            <a:ext cx="8458200" cy="1676400"/>
          </a:xfrm>
        </p:spPr>
        <p:txBody>
          <a:bodyPr/>
          <a:lstStyle/>
          <a:p>
            <a:pPr algn="l"/>
            <a:r>
              <a:rPr lang="zh-CN" altLang="en-US">
                <a:solidFill>
                  <a:schemeClr val="tx1"/>
                </a:solidFill>
              </a:rPr>
              <a:t>例</a:t>
            </a:r>
            <a:r>
              <a:rPr lang="en-US" altLang="zh-CN">
                <a:solidFill>
                  <a:schemeClr val="tx1"/>
                </a:solidFill>
              </a:rPr>
              <a:t>2: </a:t>
            </a:r>
            <a:r>
              <a:rPr lang="zh-CN" altLang="en-US">
                <a:solidFill>
                  <a:schemeClr val="tx1"/>
                </a:solidFill>
              </a:rPr>
              <a:t>试设计一个满足下列指标的</a:t>
            </a:r>
            <a:r>
              <a:rPr lang="en-US" altLang="zh-CN">
                <a:solidFill>
                  <a:schemeClr val="tx1"/>
                </a:solidFill>
              </a:rPr>
              <a:t>BW</a:t>
            </a:r>
            <a:r>
              <a:rPr lang="zh-CN" altLang="en-US">
                <a:solidFill>
                  <a:schemeClr val="tx1"/>
                </a:solidFill>
              </a:rPr>
              <a:t>型带通滤波器</a:t>
            </a:r>
            <a:br>
              <a:rPr lang="zh-CN" altLang="en-US">
                <a:solidFill>
                  <a:schemeClr val="tx1"/>
                </a:solidFill>
              </a:rPr>
            </a:br>
            <a:r>
              <a:rPr lang="zh-CN" altLang="en-US">
                <a:solidFill>
                  <a:schemeClr val="tx1"/>
                </a:solidFill>
              </a:rPr>
              <a:t>      </a:t>
            </a:r>
            <a:r>
              <a:rPr lang="en-US" altLang="zh-CN" i="1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>
                <a:solidFill>
                  <a:schemeClr val="tx1"/>
                </a:solidFill>
              </a:rPr>
              <a:t>p1</a:t>
            </a:r>
            <a:r>
              <a:rPr lang="en-US" altLang="zh-CN">
                <a:solidFill>
                  <a:schemeClr val="tx1"/>
                </a:solidFill>
              </a:rPr>
              <a:t>=6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  rad/s, </a:t>
            </a:r>
            <a:r>
              <a:rPr lang="en-US" altLang="zh-CN" i="1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>
                <a:solidFill>
                  <a:schemeClr val="tx1"/>
                </a:solidFill>
              </a:rPr>
              <a:t>p2</a:t>
            </a:r>
            <a:r>
              <a:rPr lang="en-US" altLang="zh-CN">
                <a:solidFill>
                  <a:schemeClr val="tx1"/>
                </a:solidFill>
              </a:rPr>
              <a:t>=8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  rad/s, </a:t>
            </a:r>
            <a:r>
              <a:rPr lang="en-US" altLang="zh-CN" i="1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>
                <a:solidFill>
                  <a:schemeClr val="tx1"/>
                </a:solidFill>
              </a:rPr>
              <a:t>s1</a:t>
            </a:r>
            <a:r>
              <a:rPr lang="en-US" altLang="zh-CN">
                <a:solidFill>
                  <a:schemeClr val="tx1"/>
                </a:solidFill>
              </a:rPr>
              <a:t>=4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  rad/s, </a:t>
            </a:r>
            <a:r>
              <a:rPr lang="en-US" altLang="zh-CN" i="1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>
                <a:solidFill>
                  <a:schemeClr val="tx1"/>
                </a:solidFill>
              </a:rPr>
              <a:t>s2</a:t>
            </a:r>
            <a:r>
              <a:rPr lang="en-US" altLang="zh-CN">
                <a:solidFill>
                  <a:schemeClr val="tx1"/>
                </a:solidFill>
              </a:rPr>
              <a:t>=11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  rad/s,</a:t>
            </a:r>
            <a:b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</a:b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       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-25000">
                <a:solidFill>
                  <a:schemeClr val="tx1"/>
                </a:solidFill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1 dB, 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-25000">
                <a:solidFill>
                  <a:schemeClr val="tx1"/>
                </a:solidFill>
                <a:sym typeface="Symbol" panose="05050102010706020507" pitchFamily="18" charset="2"/>
              </a:rPr>
              <a:t>s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</a:t>
            </a:r>
            <a:r>
              <a:rPr lang="en-US" altLang="zh-CN" baseline="-2500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32dB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1905000" y="1828801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解：</a:t>
            </a: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2514601" y="1870076"/>
            <a:ext cx="5999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(3) </a:t>
            </a:r>
            <a:r>
              <a:rPr lang="zh-CN" altLang="en-US" sz="2800" b="1"/>
              <a:t>设计</a:t>
            </a:r>
            <a:r>
              <a:rPr lang="en-US" altLang="zh-CN" sz="2800" b="1"/>
              <a:t>BW</a:t>
            </a:r>
            <a:r>
              <a:rPr lang="zh-CN" altLang="en-US" sz="2800" b="1"/>
              <a:t>型原型低通滤波器</a:t>
            </a:r>
          </a:p>
        </p:txBody>
      </p:sp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7239000" y="1870076"/>
            <a:ext cx="35184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solidFill>
                  <a:schemeClr val="accent2"/>
                </a:solidFill>
              </a:rPr>
              <a:t>N</a:t>
            </a:r>
            <a:r>
              <a:rPr lang="en-US" altLang="zh-CN" sz="2800" b="1">
                <a:solidFill>
                  <a:schemeClr val="accent2"/>
                </a:solidFill>
              </a:rPr>
              <a:t>=4</a:t>
            </a:r>
            <a:r>
              <a:rPr lang="zh-CN" altLang="en-US" sz="2800" b="1">
                <a:solidFill>
                  <a:schemeClr val="accent2"/>
                </a:solidFill>
              </a:rPr>
              <a:t>，</a:t>
            </a:r>
            <a:r>
              <a:rPr lang="en-US" altLang="zh-CN" sz="2800" b="1" i="1">
                <a:solidFill>
                  <a:schemeClr val="accent2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2800" b="1" baseline="-25000">
                <a:solidFill>
                  <a:schemeClr val="accent2"/>
                </a:solidFill>
              </a:rPr>
              <a:t>c</a:t>
            </a:r>
            <a:r>
              <a:rPr lang="en-US" altLang="zh-CN" sz="2800" b="1">
                <a:solidFill>
                  <a:schemeClr val="accent2"/>
                </a:solidFill>
              </a:rPr>
              <a:t>=1.3211</a:t>
            </a:r>
            <a:endParaRPr lang="en-US" altLang="zh-CN" sz="2800" b="1" baseline="30000">
              <a:solidFill>
                <a:schemeClr val="accent2"/>
              </a:solidFill>
            </a:endParaRPr>
          </a:p>
        </p:txBody>
      </p:sp>
      <p:graphicFrame>
        <p:nvGraphicFramePr>
          <p:cNvPr id="51208" name="Object 8"/>
          <p:cNvGraphicFramePr>
            <a:graphicFrameLocks noChangeAspect="1"/>
          </p:cNvGraphicFramePr>
          <p:nvPr/>
        </p:nvGraphicFramePr>
        <p:xfrm>
          <a:off x="2590800" y="2590801"/>
          <a:ext cx="714375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6" name="Equation" r:id="rId3" imgW="3759120" imgH="419040" progId="Equation.3">
                  <p:embed/>
                </p:oleObj>
              </mc:Choice>
              <mc:Fallback>
                <p:oleObj name="Equation" r:id="rId3" imgW="3759120" imgH="419040" progId="Equation.3">
                  <p:embed/>
                  <p:pic>
                    <p:nvPicPr>
                      <p:cNvPr id="512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590801"/>
                        <a:ext cx="7143750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2057400" y="3581401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4) </a:t>
            </a:r>
            <a:r>
              <a:rPr lang="zh-CN" altLang="en-US" sz="2800">
                <a:latin typeface="宋体" panose="02010600030101010101" pitchFamily="2" charset="-122"/>
              </a:rPr>
              <a:t>将原型低通滤波器转换为带通滤波器</a:t>
            </a:r>
            <a:r>
              <a:rPr lang="en-US" altLang="zh-CN" sz="2800" i="1"/>
              <a:t>H</a:t>
            </a:r>
            <a:r>
              <a:rPr lang="en-US" altLang="zh-CN" sz="2800" baseline="-30000"/>
              <a:t>BP</a:t>
            </a:r>
            <a:r>
              <a:rPr lang="en-US" altLang="zh-CN" sz="2800"/>
              <a:t>(</a:t>
            </a:r>
            <a:r>
              <a:rPr lang="en-US" altLang="zh-CN" sz="2800" i="1"/>
              <a:t>s</a:t>
            </a:r>
            <a:r>
              <a:rPr lang="en-US" altLang="zh-CN" sz="2800"/>
              <a:t>) </a:t>
            </a:r>
          </a:p>
        </p:txBody>
      </p:sp>
      <p:graphicFrame>
        <p:nvGraphicFramePr>
          <p:cNvPr id="51210" name="Object 10"/>
          <p:cNvGraphicFramePr>
            <a:graphicFrameLocks noChangeAspect="1"/>
          </p:cNvGraphicFramePr>
          <p:nvPr/>
        </p:nvGraphicFramePr>
        <p:xfrm>
          <a:off x="2057400" y="4038601"/>
          <a:ext cx="3105150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7" name="Equation" r:id="rId5" imgW="1409400" imgH="533160" progId="Equation.3">
                  <p:embed/>
                </p:oleObj>
              </mc:Choice>
              <mc:Fallback>
                <p:oleObj name="Equation" r:id="rId5" imgW="1409400" imgH="533160" progId="Equation.3">
                  <p:embed/>
                  <p:pic>
                    <p:nvPicPr>
                      <p:cNvPr id="512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038601"/>
                        <a:ext cx="3105150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1" name="Object 11"/>
          <p:cNvGraphicFramePr>
            <a:graphicFrameLocks noChangeAspect="1"/>
          </p:cNvGraphicFramePr>
          <p:nvPr/>
        </p:nvGraphicFramePr>
        <p:xfrm>
          <a:off x="3117850" y="4902200"/>
          <a:ext cx="68643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8" name="Equation" r:id="rId7" imgW="3429000" imgH="431640" progId="Equation.3">
                  <p:embed/>
                </p:oleObj>
              </mc:Choice>
              <mc:Fallback>
                <p:oleObj name="Equation" r:id="rId7" imgW="3429000" imgH="431640" progId="Equation.3">
                  <p:embed/>
                  <p:pic>
                    <p:nvPicPr>
                      <p:cNvPr id="512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4902200"/>
                        <a:ext cx="686435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3" name="Object 13"/>
          <p:cNvGraphicFramePr>
            <a:graphicFrameLocks noChangeAspect="1"/>
          </p:cNvGraphicFramePr>
          <p:nvPr/>
        </p:nvGraphicFramePr>
        <p:xfrm>
          <a:off x="2921000" y="5740400"/>
          <a:ext cx="772953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9" name="Equation" r:id="rId9" imgW="3860640" imgH="406080" progId="Equation.3">
                  <p:embed/>
                </p:oleObj>
              </mc:Choice>
              <mc:Fallback>
                <p:oleObj name="Equation" r:id="rId9" imgW="3860640" imgH="406080" progId="Equation.3">
                  <p:embed/>
                  <p:pic>
                    <p:nvPicPr>
                      <p:cNvPr id="512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0" y="5740400"/>
                        <a:ext cx="7729538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729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5" grpId="0" autoUpdateAnimBg="0"/>
      <p:bldP spid="51206" grpId="0" autoUpdateAnimBg="0"/>
      <p:bldP spid="51209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8686800" cy="1371600"/>
          </a:xfrm>
        </p:spPr>
        <p:txBody>
          <a:bodyPr/>
          <a:lstStyle/>
          <a:p>
            <a:pPr algn="l"/>
            <a:r>
              <a:rPr lang="zh-CN" altLang="en-US">
                <a:solidFill>
                  <a:schemeClr val="tx1"/>
                </a:solidFill>
              </a:rPr>
              <a:t>例</a:t>
            </a:r>
            <a:r>
              <a:rPr lang="en-US" altLang="zh-CN">
                <a:solidFill>
                  <a:schemeClr val="tx1"/>
                </a:solidFill>
              </a:rPr>
              <a:t>2: </a:t>
            </a:r>
            <a:r>
              <a:rPr lang="zh-CN" altLang="en-US">
                <a:solidFill>
                  <a:schemeClr val="tx1"/>
                </a:solidFill>
              </a:rPr>
              <a:t>试设计一个满足下列指标的</a:t>
            </a:r>
            <a:r>
              <a:rPr lang="en-US" altLang="zh-CN">
                <a:solidFill>
                  <a:schemeClr val="tx1"/>
                </a:solidFill>
              </a:rPr>
              <a:t>BW</a:t>
            </a:r>
            <a:r>
              <a:rPr lang="zh-CN" altLang="en-US">
                <a:solidFill>
                  <a:schemeClr val="tx1"/>
                </a:solidFill>
              </a:rPr>
              <a:t>型带通滤波器</a:t>
            </a:r>
            <a:br>
              <a:rPr lang="zh-CN" altLang="en-US">
                <a:solidFill>
                  <a:schemeClr val="tx1"/>
                </a:solidFill>
              </a:rPr>
            </a:br>
            <a:r>
              <a:rPr lang="zh-CN" altLang="en-US">
                <a:solidFill>
                  <a:schemeClr val="tx1"/>
                </a:solidFill>
              </a:rPr>
              <a:t>      </a:t>
            </a:r>
            <a:r>
              <a:rPr lang="en-US" altLang="zh-CN" i="1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>
                <a:solidFill>
                  <a:schemeClr val="tx1"/>
                </a:solidFill>
              </a:rPr>
              <a:t>p1</a:t>
            </a:r>
            <a:r>
              <a:rPr lang="en-US" altLang="zh-CN">
                <a:solidFill>
                  <a:schemeClr val="tx1"/>
                </a:solidFill>
              </a:rPr>
              <a:t>=6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  rad/s, </a:t>
            </a:r>
            <a:r>
              <a:rPr lang="en-US" altLang="zh-CN" i="1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>
                <a:solidFill>
                  <a:schemeClr val="tx1"/>
                </a:solidFill>
              </a:rPr>
              <a:t>p2</a:t>
            </a:r>
            <a:r>
              <a:rPr lang="en-US" altLang="zh-CN">
                <a:solidFill>
                  <a:schemeClr val="tx1"/>
                </a:solidFill>
              </a:rPr>
              <a:t>=8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  rad/s, </a:t>
            </a:r>
            <a:r>
              <a:rPr lang="en-US" altLang="zh-CN" i="1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>
                <a:solidFill>
                  <a:schemeClr val="tx1"/>
                </a:solidFill>
              </a:rPr>
              <a:t>s1</a:t>
            </a:r>
            <a:r>
              <a:rPr lang="en-US" altLang="zh-CN">
                <a:solidFill>
                  <a:schemeClr val="tx1"/>
                </a:solidFill>
              </a:rPr>
              <a:t>=4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  rad/s, </a:t>
            </a:r>
            <a:r>
              <a:rPr lang="en-US" altLang="zh-CN" i="1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>
                <a:solidFill>
                  <a:schemeClr val="tx1"/>
                </a:solidFill>
              </a:rPr>
              <a:t>s2</a:t>
            </a:r>
            <a:r>
              <a:rPr lang="en-US" altLang="zh-CN">
                <a:solidFill>
                  <a:schemeClr val="tx1"/>
                </a:solidFill>
              </a:rPr>
              <a:t>=11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  rad/s,</a:t>
            </a:r>
            <a:b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</a:b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       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-25000">
                <a:solidFill>
                  <a:schemeClr val="tx1"/>
                </a:solidFill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1 dB, 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-25000">
                <a:solidFill>
                  <a:schemeClr val="tx1"/>
                </a:solidFill>
                <a:sym typeface="Symbol" panose="05050102010706020507" pitchFamily="18" charset="2"/>
              </a:rPr>
              <a:t>s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</a:t>
            </a:r>
            <a:r>
              <a:rPr lang="en-US" altLang="zh-CN" baseline="-2500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32dB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828800"/>
            <a:ext cx="7772400" cy="48006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r>
              <a:rPr lang="zh-CN" altLang="en-US">
                <a:solidFill>
                  <a:srgbClr val="228B22"/>
                </a:solidFill>
                <a:latin typeface="Courier New" panose="02070309020205020404" pitchFamily="49" charset="0"/>
              </a:rPr>
              <a:t>带通滤波器的设计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228B22"/>
                </a:solidFill>
                <a:latin typeface="Courier New" panose="02070309020205020404" pitchFamily="49" charset="0"/>
              </a:rPr>
              <a:t>wp=1;ws=3.3182;Ap=1;As=32;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228B22"/>
                </a:solidFill>
                <a:latin typeface="Courier New" panose="02070309020205020404" pitchFamily="49" charset="0"/>
              </a:rPr>
              <a:t>w0=sqrt(48);B=2;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228B22"/>
                </a:solidFill>
                <a:latin typeface="Courier New" panose="02070309020205020404" pitchFamily="49" charset="0"/>
              </a:rPr>
              <a:t>[N,Wc]=buttord(wp,ws,Ap,As,</a:t>
            </a:r>
            <a:r>
              <a:rPr lang="en-US" altLang="zh-CN">
                <a:solidFill>
                  <a:srgbClr val="B22222"/>
                </a:solidFill>
                <a:latin typeface="Courier New" panose="02070309020205020404" pitchFamily="49" charset="0"/>
              </a:rPr>
              <a:t>'s');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B22222"/>
                </a:solidFill>
                <a:latin typeface="Courier New" panose="02070309020205020404" pitchFamily="49" charset="0"/>
              </a:rPr>
              <a:t>[num,den] = butter(N,Wc,'s');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B22222"/>
                </a:solidFill>
                <a:latin typeface="Courier New" panose="02070309020205020404" pitchFamily="49" charset="0"/>
              </a:rPr>
              <a:t>[numt,dent] = lp2bp(num,den,w0,B);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B22222"/>
                </a:solidFill>
                <a:latin typeface="Courier New" panose="02070309020205020404" pitchFamily="49" charset="0"/>
              </a:rPr>
              <a:t>w=linspace(2,12,1000);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B22222"/>
                </a:solidFill>
                <a:latin typeface="Courier New" panose="02070309020205020404" pitchFamily="49" charset="0"/>
              </a:rPr>
              <a:t>h=freqs(numt,dent,w);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B22222"/>
                </a:solidFill>
                <a:latin typeface="Courier New" panose="02070309020205020404" pitchFamily="49" charset="0"/>
              </a:rPr>
              <a:t>plot(w,20*log10(abs(h))) ; grid 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B22222"/>
                </a:solidFill>
                <a:latin typeface="Courier New" panose="02070309020205020404" pitchFamily="49" charset="0"/>
              </a:rPr>
              <a:t>xlabel('Frequency in rad/s');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B22222"/>
                </a:solidFill>
                <a:latin typeface="Courier New" panose="02070309020205020404" pitchFamily="49" charset="0"/>
              </a:rPr>
              <a:t>ylabel('Gain in dB')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236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3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4999" y="76200"/>
            <a:ext cx="8758707" cy="1676400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2: </a:t>
            </a:r>
            <a:r>
              <a:rPr lang="zh-CN" altLang="en-US" dirty="0">
                <a:solidFill>
                  <a:schemeClr val="tx1"/>
                </a:solidFill>
              </a:rPr>
              <a:t>试设计一个满足下列指标的</a:t>
            </a:r>
            <a:r>
              <a:rPr lang="en-US" altLang="zh-CN" dirty="0">
                <a:solidFill>
                  <a:schemeClr val="tx1"/>
                </a:solidFill>
              </a:rPr>
              <a:t>BW</a:t>
            </a:r>
            <a:r>
              <a:rPr lang="zh-CN" altLang="en-US" dirty="0">
                <a:solidFill>
                  <a:schemeClr val="tx1"/>
                </a:solidFill>
              </a:rPr>
              <a:t>型带通滤波器</a:t>
            </a:r>
            <a:br>
              <a:rPr lang="zh-CN" altLang="en-US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      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p1</a:t>
            </a:r>
            <a:r>
              <a:rPr lang="en-US" altLang="zh-CN" dirty="0">
                <a:solidFill>
                  <a:schemeClr val="tx1"/>
                </a:solidFill>
              </a:rPr>
              <a:t>=6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 rad/s, 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p2</a:t>
            </a:r>
            <a:r>
              <a:rPr lang="en-US" altLang="zh-CN" dirty="0">
                <a:solidFill>
                  <a:schemeClr val="tx1"/>
                </a:solidFill>
              </a:rPr>
              <a:t>=8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 rad/s, 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s1</a:t>
            </a:r>
            <a:r>
              <a:rPr lang="en-US" altLang="zh-CN" dirty="0">
                <a:solidFill>
                  <a:schemeClr val="tx1"/>
                </a:solidFill>
              </a:rPr>
              <a:t>=4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 rad/s, 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s2</a:t>
            </a:r>
            <a:r>
              <a:rPr lang="en-US" altLang="zh-CN" dirty="0">
                <a:solidFill>
                  <a:schemeClr val="tx1"/>
                </a:solidFill>
              </a:rPr>
              <a:t>=11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 rad/s,</a:t>
            </a:r>
            <a:b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</a:b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      </a:t>
            </a:r>
            <a:r>
              <a:rPr lang="en-US" altLang="zh-CN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1 dB, </a:t>
            </a:r>
            <a:r>
              <a:rPr lang="en-US" altLang="zh-CN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  <a:sym typeface="Symbol" panose="05050102010706020507" pitchFamily="18" charset="2"/>
              </a:rPr>
              <a:t>s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</a:t>
            </a:r>
            <a:r>
              <a:rPr lang="en-US" altLang="zh-CN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32dB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。</a:t>
            </a:r>
          </a:p>
        </p:txBody>
      </p:sp>
      <p:pic>
        <p:nvPicPr>
          <p:cNvPr id="522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1" y="1905000"/>
            <a:ext cx="6251575" cy="4687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839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762000"/>
          </a:xfrm>
        </p:spPr>
        <p:txBody>
          <a:bodyPr/>
          <a:lstStyle/>
          <a:p>
            <a:r>
              <a:rPr lang="zh-CN" altLang="en-US" sz="3600">
                <a:ea typeface="黑体" panose="02010609060101010101" pitchFamily="49" charset="-122"/>
              </a:rPr>
              <a:t>模拟带阻滤波器的设计</a:t>
            </a: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1828800" y="1370806"/>
            <a:ext cx="6788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</a:rPr>
              <a:t>模拟带阻滤波器的设计步骤：</a:t>
            </a:r>
          </a:p>
        </p:txBody>
      </p:sp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1828800" y="1801813"/>
            <a:ext cx="861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(1)</a:t>
            </a:r>
            <a:r>
              <a:rPr lang="zh-CN" altLang="en-US" sz="2800"/>
              <a:t>由带阻滤波器通带的上下截频确定变换式中的参数</a:t>
            </a:r>
          </a:p>
        </p:txBody>
      </p:sp>
      <p:graphicFrame>
        <p:nvGraphicFramePr>
          <p:cNvPr id="46086" name="Object 6"/>
          <p:cNvGraphicFramePr>
            <a:graphicFrameLocks noChangeAspect="1"/>
          </p:cNvGraphicFramePr>
          <p:nvPr/>
        </p:nvGraphicFramePr>
        <p:xfrm>
          <a:off x="3633789" y="2435226"/>
          <a:ext cx="20986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4" name="Equation" r:id="rId3" imgW="787320" imgH="203040" progId="Equation.3">
                  <p:embed/>
                </p:oleObj>
              </mc:Choice>
              <mc:Fallback>
                <p:oleObj name="Equation" r:id="rId3" imgW="787320" imgH="203040" progId="Equation.3">
                  <p:embed/>
                  <p:pic>
                    <p:nvPicPr>
                      <p:cNvPr id="460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9" y="2435226"/>
                        <a:ext cx="20986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7"/>
          <p:cNvGraphicFramePr>
            <a:graphicFrameLocks noChangeAspect="1"/>
          </p:cNvGraphicFramePr>
          <p:nvPr/>
        </p:nvGraphicFramePr>
        <p:xfrm>
          <a:off x="6286501" y="2352675"/>
          <a:ext cx="19081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5" name="Equation" r:id="rId5" imgW="711000" imgH="228600" progId="Equation.3">
                  <p:embed/>
                </p:oleObj>
              </mc:Choice>
              <mc:Fallback>
                <p:oleObj name="Equation" r:id="rId5" imgW="711000" imgH="228600" progId="Equation.3">
                  <p:embed/>
                  <p:pic>
                    <p:nvPicPr>
                      <p:cNvPr id="460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1" y="2352675"/>
                        <a:ext cx="19081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1830388" y="3082926"/>
            <a:ext cx="61706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(2)</a:t>
            </a:r>
            <a:r>
              <a:rPr lang="zh-CN" altLang="en-US" sz="2800"/>
              <a:t>确定原型低通滤波器的通带截频</a:t>
            </a:r>
          </a:p>
        </p:txBody>
      </p:sp>
      <p:graphicFrame>
        <p:nvGraphicFramePr>
          <p:cNvPr id="46089" name="Object 9"/>
          <p:cNvGraphicFramePr>
            <a:graphicFrameLocks noChangeAspect="1"/>
          </p:cNvGraphicFramePr>
          <p:nvPr/>
        </p:nvGraphicFramePr>
        <p:xfrm>
          <a:off x="3505201" y="4343400"/>
          <a:ext cx="277336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6" name="公式" r:id="rId7" imgW="1244520" imgH="469800" progId="Equation.3">
                  <p:embed/>
                </p:oleObj>
              </mc:Choice>
              <mc:Fallback>
                <p:oleObj name="公式" r:id="rId7" imgW="1244520" imgH="469800" progId="Equation.3">
                  <p:embed/>
                  <p:pic>
                    <p:nvPicPr>
                      <p:cNvPr id="460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4343400"/>
                        <a:ext cx="277336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0" name="Object 10"/>
          <p:cNvGraphicFramePr>
            <a:graphicFrameLocks noChangeAspect="1"/>
          </p:cNvGraphicFramePr>
          <p:nvPr/>
        </p:nvGraphicFramePr>
        <p:xfrm>
          <a:off x="6553200" y="4343401"/>
          <a:ext cx="2795588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7" name="公式" r:id="rId9" imgW="1257120" imgH="469800" progId="Equation.3">
                  <p:embed/>
                </p:oleObj>
              </mc:Choice>
              <mc:Fallback>
                <p:oleObj name="公式" r:id="rId9" imgW="1257120" imgH="469800" progId="Equation.3">
                  <p:embed/>
                  <p:pic>
                    <p:nvPicPr>
                      <p:cNvPr id="460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343401"/>
                        <a:ext cx="2795588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1" name="Object 11"/>
          <p:cNvGraphicFramePr>
            <a:graphicFrameLocks noChangeAspect="1"/>
          </p:cNvGraphicFramePr>
          <p:nvPr/>
        </p:nvGraphicFramePr>
        <p:xfrm>
          <a:off x="4343401" y="3657601"/>
          <a:ext cx="342582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8" name="公式" r:id="rId11" imgW="1282680" imgH="279360" progId="Equation.3">
                  <p:embed/>
                </p:oleObj>
              </mc:Choice>
              <mc:Fallback>
                <p:oleObj name="公式" r:id="rId11" imgW="1282680" imgH="279360" progId="Equation.3">
                  <p:embed/>
                  <p:pic>
                    <p:nvPicPr>
                      <p:cNvPr id="4609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1" y="3657601"/>
                        <a:ext cx="3425825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096" name="Group 16"/>
          <p:cNvGrpSpPr>
            <a:grpSpLocks/>
          </p:cNvGrpSpPr>
          <p:nvPr/>
        </p:nvGrpSpPr>
        <p:grpSpPr bwMode="auto">
          <a:xfrm>
            <a:off x="1847850" y="5300663"/>
            <a:ext cx="8763000" cy="1117600"/>
            <a:chOff x="240" y="3274"/>
            <a:chExt cx="5520" cy="704"/>
          </a:xfrm>
        </p:grpSpPr>
        <p:sp>
          <p:nvSpPr>
            <p:cNvPr id="46093" name="Text Box 13"/>
            <p:cNvSpPr txBox="1">
              <a:spLocks noChangeArrowheads="1"/>
            </p:cNvSpPr>
            <p:nvPr/>
          </p:nvSpPr>
          <p:spPr bwMode="auto">
            <a:xfrm>
              <a:off x="240" y="3274"/>
              <a:ext cx="5520" cy="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/>
                <a:t>(3)</a:t>
              </a:r>
              <a:r>
                <a:rPr lang="zh-CN" altLang="en-US" sz="2800"/>
                <a:t>设计通带截频为     、阻带截频为</a:t>
              </a:r>
              <a:r>
                <a:rPr lang="en-US" altLang="zh-CN" sz="2800"/>
                <a:t>1 (rad/s)</a:t>
              </a:r>
              <a:r>
                <a:rPr lang="zh-CN" altLang="en-US" sz="2800"/>
                <a:t>、通带衰减为</a:t>
              </a:r>
              <a:r>
                <a:rPr lang="en-US" altLang="zh-CN" sz="2800" i="1"/>
                <a:t>A</a:t>
              </a:r>
              <a:r>
                <a:rPr lang="en-US" altLang="zh-CN" sz="2800" baseline="-25000"/>
                <a:t>p </a:t>
              </a:r>
              <a:r>
                <a:rPr lang="en-US" altLang="zh-CN" sz="2800"/>
                <a:t>dB</a:t>
              </a:r>
              <a:r>
                <a:rPr lang="zh-CN" altLang="en-US" sz="2800"/>
                <a:t>、通带衰减为</a:t>
              </a:r>
              <a:r>
                <a:rPr lang="en-US" altLang="zh-CN" sz="2800" i="1"/>
                <a:t>A</a:t>
              </a:r>
              <a:r>
                <a:rPr lang="en-US" altLang="zh-CN" sz="2800" baseline="-25000"/>
                <a:t>s</a:t>
              </a:r>
              <a:r>
                <a:rPr lang="en-US" altLang="zh-CN" sz="2800"/>
                <a:t> dB</a:t>
              </a:r>
              <a:r>
                <a:rPr lang="zh-CN" altLang="en-US" sz="2800"/>
                <a:t>的低通滤波器</a:t>
              </a:r>
            </a:p>
          </p:txBody>
        </p:sp>
        <p:graphicFrame>
          <p:nvGraphicFramePr>
            <p:cNvPr id="46094" name="Object 14"/>
            <p:cNvGraphicFramePr>
              <a:graphicFrameLocks noChangeAspect="1"/>
            </p:cNvGraphicFramePr>
            <p:nvPr/>
          </p:nvGraphicFramePr>
          <p:xfrm>
            <a:off x="2059" y="3332"/>
            <a:ext cx="295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9" name="公式" r:id="rId13" imgW="190440" imgH="241200" progId="Equation.3">
                    <p:embed/>
                  </p:oleObj>
                </mc:Choice>
                <mc:Fallback>
                  <p:oleObj name="公式" r:id="rId13" imgW="190440" imgH="241200" progId="Equation.3">
                    <p:embed/>
                    <p:pic>
                      <p:nvPicPr>
                        <p:cNvPr id="4609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9" y="3332"/>
                          <a:ext cx="295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095" name="Text Box 15"/>
          <p:cNvSpPr txBox="1">
            <a:spLocks noChangeArrowheads="1"/>
          </p:cNvSpPr>
          <p:nvPr/>
        </p:nvSpPr>
        <p:spPr bwMode="auto">
          <a:xfrm>
            <a:off x="2057400" y="4572001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其中</a:t>
            </a:r>
          </a:p>
        </p:txBody>
      </p:sp>
    </p:spTree>
    <p:extLst>
      <p:ext uri="{BB962C8B-B14F-4D97-AF65-F5344CB8AC3E}">
        <p14:creationId xmlns:p14="http://schemas.microsoft.com/office/powerpoint/2010/main" val="342629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 autoUpdateAnimBg="0"/>
      <p:bldP spid="46088" grpId="0" autoUpdateAnimBg="0"/>
      <p:bldP spid="46095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762000"/>
          </a:xfrm>
        </p:spPr>
        <p:txBody>
          <a:bodyPr/>
          <a:lstStyle/>
          <a:p>
            <a:r>
              <a:rPr lang="zh-CN" altLang="en-US" sz="3600">
                <a:ea typeface="黑体" panose="02010609060101010101" pitchFamily="49" charset="-122"/>
              </a:rPr>
              <a:t>模拟带阻滤波器的设计</a:t>
            </a:r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1828801" y="1445123"/>
            <a:ext cx="6067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</a:rPr>
              <a:t>模拟带阻滤波器的设计步骤：</a:t>
            </a: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2019836" y="2040732"/>
            <a:ext cx="693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(4) </a:t>
            </a:r>
            <a:r>
              <a:rPr lang="zh-CN" altLang="en-US" sz="2800">
                <a:latin typeface="宋体" panose="02010600030101010101" pitchFamily="2" charset="-122"/>
              </a:rPr>
              <a:t>将低通滤波器转换为带阻滤波器</a:t>
            </a:r>
            <a:r>
              <a:rPr lang="en-US" altLang="zh-CN" sz="2800" i="1"/>
              <a:t>H</a:t>
            </a:r>
            <a:r>
              <a:rPr lang="en-US" altLang="zh-CN" sz="2800" baseline="-30000"/>
              <a:t>BS</a:t>
            </a:r>
            <a:r>
              <a:rPr lang="en-US" altLang="zh-CN" sz="2800"/>
              <a:t>(</a:t>
            </a:r>
            <a:r>
              <a:rPr lang="en-US" altLang="zh-CN" sz="2800" i="1"/>
              <a:t>s</a:t>
            </a:r>
            <a:r>
              <a:rPr lang="en-US" altLang="zh-CN" sz="2800"/>
              <a:t>) </a:t>
            </a:r>
          </a:p>
        </p:txBody>
      </p:sp>
      <p:graphicFrame>
        <p:nvGraphicFramePr>
          <p:cNvPr id="48134" name="Object 6"/>
          <p:cNvGraphicFramePr>
            <a:graphicFrameLocks noChangeAspect="1"/>
          </p:cNvGraphicFramePr>
          <p:nvPr/>
        </p:nvGraphicFramePr>
        <p:xfrm>
          <a:off x="4295775" y="2708275"/>
          <a:ext cx="3360738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3" name="Equation" r:id="rId3" imgW="1396800" imgH="545760" progId="Equation.3">
                  <p:embed/>
                </p:oleObj>
              </mc:Choice>
              <mc:Fallback>
                <p:oleObj name="Equation" r:id="rId3" imgW="1396800" imgH="545760" progId="Equation.3">
                  <p:embed/>
                  <p:pic>
                    <p:nvPicPr>
                      <p:cNvPr id="481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2708275"/>
                        <a:ext cx="3360738" cy="130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2057400" y="4510088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</a:rPr>
              <a:t>MATLAB</a:t>
            </a:r>
            <a:r>
              <a:rPr lang="zh-CN" altLang="en-US" sz="2800" b="1">
                <a:solidFill>
                  <a:schemeClr val="accent2"/>
                </a:solidFill>
              </a:rPr>
              <a:t>实现</a:t>
            </a:r>
          </a:p>
        </p:txBody>
      </p:sp>
      <p:sp>
        <p:nvSpPr>
          <p:cNvPr id="48136" name="Text Box 8"/>
          <p:cNvSpPr txBox="1">
            <a:spLocks noChangeArrowheads="1"/>
          </p:cNvSpPr>
          <p:nvPr/>
        </p:nvSpPr>
        <p:spPr bwMode="auto">
          <a:xfrm>
            <a:off x="2209800" y="5119688"/>
            <a:ext cx="7848600" cy="5191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/>
              <a:t>[numt,dent] = lp2bs(num,den,W0,B)</a:t>
            </a:r>
          </a:p>
        </p:txBody>
      </p:sp>
    </p:spTree>
    <p:extLst>
      <p:ext uri="{BB962C8B-B14F-4D97-AF65-F5344CB8AC3E}">
        <p14:creationId xmlns:p14="http://schemas.microsoft.com/office/powerpoint/2010/main" val="138012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 autoUpdateAnimBg="0"/>
      <p:bldP spid="48135" grpId="0" autoUpdateAnimBg="0"/>
      <p:bldP spid="48136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34433"/>
            <a:ext cx="8382000" cy="1295400"/>
          </a:xfrm>
        </p:spPr>
        <p:txBody>
          <a:bodyPr/>
          <a:lstStyle/>
          <a:p>
            <a:pPr algn="l">
              <a:lnSpc>
                <a:spcPts val="2700"/>
              </a:lnSpc>
            </a:pP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：试设计一个满足下列指标的</a:t>
            </a:r>
            <a:r>
              <a:rPr lang="en-US" altLang="zh-CN" dirty="0">
                <a:solidFill>
                  <a:schemeClr val="tx1"/>
                </a:solidFill>
              </a:rPr>
              <a:t>BW</a:t>
            </a:r>
            <a:r>
              <a:rPr lang="zh-CN" altLang="en-US" dirty="0">
                <a:solidFill>
                  <a:schemeClr val="tx1"/>
                </a:solidFill>
              </a:rPr>
              <a:t>型带阻滤波器</a:t>
            </a:r>
            <a:br>
              <a:rPr lang="zh-CN" altLang="en-US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       </a:t>
            </a:r>
            <a:r>
              <a:rPr lang="en-US" altLang="zh-CN" i="1" dirty="0" err="1" smtClean="0">
                <a:solidFill>
                  <a:schemeClr val="tx1"/>
                </a:solidFill>
              </a:rPr>
              <a:t>A</a:t>
            </a:r>
            <a:r>
              <a:rPr lang="en-US" altLang="zh-CN" baseline="-25000" dirty="0" err="1" smtClean="0">
                <a:solidFill>
                  <a:schemeClr val="tx1"/>
                </a:solidFill>
              </a:rPr>
              <a:t>p</a:t>
            </a:r>
            <a:r>
              <a:rPr lang="en-US" altLang="zh-CN" dirty="0" smtClean="0">
                <a:solidFill>
                  <a:schemeClr val="tx1"/>
                </a:solidFill>
              </a:rPr>
              <a:t>=1dB;</a:t>
            </a:r>
            <a:r>
              <a:rPr lang="en-US" altLang="zh-CN" i="1" dirty="0" smtClean="0">
                <a:solidFill>
                  <a:schemeClr val="tx1"/>
                </a:solidFill>
              </a:rPr>
              <a:t>A</a:t>
            </a:r>
            <a:r>
              <a:rPr lang="en-US" altLang="zh-CN" baseline="-25000" dirty="0" smtClean="0">
                <a:solidFill>
                  <a:schemeClr val="tx1"/>
                </a:solidFill>
              </a:rPr>
              <a:t>s</a:t>
            </a:r>
            <a:r>
              <a:rPr lang="en-US" altLang="zh-CN" dirty="0" smtClean="0">
                <a:solidFill>
                  <a:schemeClr val="tx1"/>
                </a:solidFill>
              </a:rPr>
              <a:t>=20dB;</a:t>
            </a:r>
            <a:r>
              <a:rPr lang="en-US" altLang="zh-CN" i="1" dirty="0" smtClean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 smtClean="0">
                <a:solidFill>
                  <a:schemeClr val="tx1"/>
                </a:solidFill>
              </a:rPr>
              <a:t>p1</a:t>
            </a:r>
            <a:r>
              <a:rPr lang="en-US" altLang="zh-CN" dirty="0" smtClean="0">
                <a:solidFill>
                  <a:schemeClr val="tx1"/>
                </a:solidFill>
              </a:rPr>
              <a:t>=10;</a:t>
            </a:r>
            <a:r>
              <a:rPr lang="en-US" altLang="zh-CN" i="1" dirty="0" smtClean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 smtClean="0">
                <a:solidFill>
                  <a:schemeClr val="tx1"/>
                </a:solidFill>
              </a:rPr>
              <a:t>p2</a:t>
            </a:r>
            <a:r>
              <a:rPr lang="en-US" altLang="zh-CN" dirty="0" smtClean="0">
                <a:solidFill>
                  <a:schemeClr val="tx1"/>
                </a:solidFill>
              </a:rPr>
              <a:t>=30;</a:t>
            </a:r>
            <a:r>
              <a:rPr lang="en-US" altLang="zh-CN" i="1" dirty="0" smtClean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 smtClean="0">
                <a:solidFill>
                  <a:schemeClr val="tx1"/>
                </a:solidFill>
              </a:rPr>
              <a:t>s1</a:t>
            </a:r>
            <a:r>
              <a:rPr lang="en-US" altLang="zh-CN" dirty="0" smtClean="0">
                <a:solidFill>
                  <a:schemeClr val="tx1"/>
                </a:solidFill>
              </a:rPr>
              <a:t>=19;</a:t>
            </a:r>
            <a:r>
              <a:rPr lang="en-US" altLang="zh-CN" i="1" dirty="0" smtClean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 smtClean="0">
                <a:solidFill>
                  <a:schemeClr val="tx1"/>
                </a:solidFill>
              </a:rPr>
              <a:t>s2</a:t>
            </a:r>
            <a:r>
              <a:rPr lang="en-US" altLang="zh-CN" dirty="0" smtClean="0">
                <a:solidFill>
                  <a:schemeClr val="tx1"/>
                </a:solidFill>
              </a:rPr>
              <a:t>=21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1752600" y="1600201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解：</a:t>
            </a:r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1905000" y="2224088"/>
            <a:ext cx="861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(1)</a:t>
            </a:r>
            <a:r>
              <a:rPr lang="zh-CN" altLang="en-US" sz="2800"/>
              <a:t>由带阻滤波器通带的上下截频确定变换式中的参数</a:t>
            </a:r>
          </a:p>
        </p:txBody>
      </p:sp>
      <p:graphicFrame>
        <p:nvGraphicFramePr>
          <p:cNvPr id="54278" name="Object 6"/>
          <p:cNvGraphicFramePr>
            <a:graphicFrameLocks noChangeAspect="1"/>
          </p:cNvGraphicFramePr>
          <p:nvPr/>
        </p:nvGraphicFramePr>
        <p:xfrm>
          <a:off x="2819400" y="2895601"/>
          <a:ext cx="267493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85" name="Equation" r:id="rId3" imgW="1002960" imgH="203040" progId="Equation.3">
                  <p:embed/>
                </p:oleObj>
              </mc:Choice>
              <mc:Fallback>
                <p:oleObj name="Equation" r:id="rId3" imgW="1002960" imgH="203040" progId="Equation.3">
                  <p:embed/>
                  <p:pic>
                    <p:nvPicPr>
                      <p:cNvPr id="542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895601"/>
                        <a:ext cx="267493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7"/>
          <p:cNvGraphicFramePr>
            <a:graphicFrameLocks noChangeAspect="1"/>
          </p:cNvGraphicFramePr>
          <p:nvPr/>
        </p:nvGraphicFramePr>
        <p:xfrm>
          <a:off x="6094414" y="2813050"/>
          <a:ext cx="289718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86" name="Equation" r:id="rId5" imgW="1079280" imgH="228600" progId="Equation.3">
                  <p:embed/>
                </p:oleObj>
              </mc:Choice>
              <mc:Fallback>
                <p:oleObj name="Equation" r:id="rId5" imgW="1079280" imgH="228600" progId="Equation.3">
                  <p:embed/>
                  <p:pic>
                    <p:nvPicPr>
                      <p:cNvPr id="542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414" y="2813050"/>
                        <a:ext cx="2897187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0" name="Text Box 8"/>
          <p:cNvSpPr txBox="1">
            <a:spLocks noChangeArrowheads="1"/>
          </p:cNvSpPr>
          <p:nvPr/>
        </p:nvSpPr>
        <p:spPr bwMode="auto">
          <a:xfrm>
            <a:off x="1930401" y="3443288"/>
            <a:ext cx="61706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(2)</a:t>
            </a:r>
            <a:r>
              <a:rPr lang="zh-CN" altLang="en-US" sz="2800"/>
              <a:t>确定原型低通滤波器的通带截频</a:t>
            </a:r>
          </a:p>
        </p:txBody>
      </p:sp>
      <p:graphicFrame>
        <p:nvGraphicFramePr>
          <p:cNvPr id="54281" name="Object 9"/>
          <p:cNvGraphicFramePr>
            <a:graphicFrameLocks noChangeAspect="1"/>
          </p:cNvGraphicFramePr>
          <p:nvPr/>
        </p:nvGraphicFramePr>
        <p:xfrm>
          <a:off x="2057400" y="4203700"/>
          <a:ext cx="39052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87" name="Equation" r:id="rId7" imgW="1752480" imgH="457200" progId="Equation.3">
                  <p:embed/>
                </p:oleObj>
              </mc:Choice>
              <mc:Fallback>
                <p:oleObj name="Equation" r:id="rId7" imgW="1752480" imgH="457200" progId="Equation.3">
                  <p:embed/>
                  <p:pic>
                    <p:nvPicPr>
                      <p:cNvPr id="542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203700"/>
                        <a:ext cx="39052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2" name="Object 10"/>
          <p:cNvGraphicFramePr>
            <a:graphicFrameLocks noChangeAspect="1"/>
          </p:cNvGraphicFramePr>
          <p:nvPr/>
        </p:nvGraphicFramePr>
        <p:xfrm>
          <a:off x="6116638" y="4191001"/>
          <a:ext cx="4094162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88" name="Equation" r:id="rId9" imgW="1841400" imgH="457200" progId="Equation.3">
                  <p:embed/>
                </p:oleObj>
              </mc:Choice>
              <mc:Fallback>
                <p:oleObj name="Equation" r:id="rId9" imgW="1841400" imgH="457200" progId="Equation.3">
                  <p:embed/>
                  <p:pic>
                    <p:nvPicPr>
                      <p:cNvPr id="5428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6638" y="4191001"/>
                        <a:ext cx="4094162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2133600" y="5364163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故</a:t>
            </a:r>
          </a:p>
        </p:txBody>
      </p:sp>
      <p:graphicFrame>
        <p:nvGraphicFramePr>
          <p:cNvPr id="54284" name="Object 12"/>
          <p:cNvGraphicFramePr>
            <a:graphicFrameLocks noChangeAspect="1"/>
          </p:cNvGraphicFramePr>
          <p:nvPr/>
        </p:nvGraphicFramePr>
        <p:xfrm>
          <a:off x="3546476" y="5303838"/>
          <a:ext cx="471487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89" name="Equation" r:id="rId11" imgW="1765080" imgH="266400" progId="Equation.3">
                  <p:embed/>
                </p:oleObj>
              </mc:Choice>
              <mc:Fallback>
                <p:oleObj name="Equation" r:id="rId11" imgW="1765080" imgH="266400" progId="Equation.3">
                  <p:embed/>
                  <p:pic>
                    <p:nvPicPr>
                      <p:cNvPr id="5428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476" y="5303838"/>
                        <a:ext cx="4714875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987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7" grpId="0" autoUpdateAnimBg="0"/>
      <p:bldP spid="54280" grpId="0" autoUpdateAnimBg="0"/>
      <p:bldP spid="5428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6768" y="271463"/>
            <a:ext cx="8382000" cy="1295400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： 试设计一个满足下列指标的</a:t>
            </a:r>
            <a:r>
              <a:rPr lang="en-US" altLang="zh-CN" dirty="0">
                <a:solidFill>
                  <a:schemeClr val="tx1"/>
                </a:solidFill>
              </a:rPr>
              <a:t>BW</a:t>
            </a:r>
            <a:r>
              <a:rPr lang="zh-CN" altLang="en-US" dirty="0">
                <a:solidFill>
                  <a:schemeClr val="tx1"/>
                </a:solidFill>
              </a:rPr>
              <a:t>型带阻滤波器</a:t>
            </a:r>
            <a:br>
              <a:rPr lang="zh-CN" altLang="en-US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        </a:t>
            </a:r>
            <a:r>
              <a:rPr lang="en-US" altLang="zh-CN" i="1" dirty="0" err="1">
                <a:solidFill>
                  <a:schemeClr val="tx1"/>
                </a:solidFill>
              </a:rPr>
              <a:t>A</a:t>
            </a:r>
            <a:r>
              <a:rPr lang="en-US" altLang="zh-CN" baseline="-25000" dirty="0" err="1">
                <a:solidFill>
                  <a:schemeClr val="tx1"/>
                </a:solidFill>
              </a:rPr>
              <a:t>p</a:t>
            </a:r>
            <a:r>
              <a:rPr lang="en-US" altLang="zh-CN" dirty="0">
                <a:solidFill>
                  <a:schemeClr val="tx1"/>
                </a:solidFill>
              </a:rPr>
              <a:t>=1dB;</a:t>
            </a:r>
            <a:r>
              <a:rPr lang="en-US" altLang="zh-CN" i="1" dirty="0">
                <a:solidFill>
                  <a:schemeClr val="tx1"/>
                </a:solidFill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</a:rPr>
              <a:t>s</a:t>
            </a:r>
            <a:r>
              <a:rPr lang="en-US" altLang="zh-CN" dirty="0">
                <a:solidFill>
                  <a:schemeClr val="tx1"/>
                </a:solidFill>
              </a:rPr>
              <a:t>=20dB;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p1</a:t>
            </a:r>
            <a:r>
              <a:rPr lang="en-US" altLang="zh-CN" dirty="0">
                <a:solidFill>
                  <a:schemeClr val="tx1"/>
                </a:solidFill>
              </a:rPr>
              <a:t>=10;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p2</a:t>
            </a:r>
            <a:r>
              <a:rPr lang="en-US" altLang="zh-CN" dirty="0">
                <a:solidFill>
                  <a:schemeClr val="tx1"/>
                </a:solidFill>
              </a:rPr>
              <a:t>=30;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s1</a:t>
            </a:r>
            <a:r>
              <a:rPr lang="en-US" altLang="zh-CN" dirty="0">
                <a:solidFill>
                  <a:schemeClr val="tx1"/>
                </a:solidFill>
              </a:rPr>
              <a:t>=19;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s2</a:t>
            </a:r>
            <a:r>
              <a:rPr lang="en-US" altLang="zh-CN" dirty="0">
                <a:solidFill>
                  <a:schemeClr val="tx1"/>
                </a:solidFill>
              </a:rPr>
              <a:t>=21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1774826" y="1600201"/>
            <a:ext cx="968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解：</a:t>
            </a:r>
          </a:p>
        </p:txBody>
      </p:sp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2819400" y="1600201"/>
            <a:ext cx="731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(3)</a:t>
            </a:r>
            <a:r>
              <a:rPr lang="zh-CN" altLang="en-US" sz="2800"/>
              <a:t>设计满足下列指标的</a:t>
            </a:r>
            <a:r>
              <a:rPr lang="en-US" altLang="zh-CN" sz="2800"/>
              <a:t>BW</a:t>
            </a:r>
            <a:r>
              <a:rPr lang="zh-CN" altLang="en-US" sz="2800"/>
              <a:t>原型低通滤波器</a:t>
            </a:r>
          </a:p>
        </p:txBody>
      </p:sp>
      <p:graphicFrame>
        <p:nvGraphicFramePr>
          <p:cNvPr id="55302" name="Object 6"/>
          <p:cNvGraphicFramePr>
            <a:graphicFrameLocks noChangeAspect="1"/>
          </p:cNvGraphicFramePr>
          <p:nvPr/>
        </p:nvGraphicFramePr>
        <p:xfrm>
          <a:off x="3044826" y="2438400"/>
          <a:ext cx="564197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5" name="Equation" r:id="rId3" imgW="2336760" imgH="228600" progId="Equation.3">
                  <p:embed/>
                </p:oleObj>
              </mc:Choice>
              <mc:Fallback>
                <p:oleObj name="Equation" r:id="rId3" imgW="2336760" imgH="228600" progId="Equation.3">
                  <p:embed/>
                  <p:pic>
                    <p:nvPicPr>
                      <p:cNvPr id="553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6" y="2438400"/>
                        <a:ext cx="564197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/>
        </p:nvGraphicFramePr>
        <p:xfrm>
          <a:off x="2881313" y="3246439"/>
          <a:ext cx="4329112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6" name="Equation" r:id="rId5" imgW="1803240" imgH="660240" progId="Equation.3">
                  <p:embed/>
                </p:oleObj>
              </mc:Choice>
              <mc:Fallback>
                <p:oleObj name="Equation" r:id="rId5" imgW="1803240" imgH="660240" progId="Equation.3">
                  <p:embed/>
                  <p:pic>
                    <p:nvPicPr>
                      <p:cNvPr id="553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3" y="3246439"/>
                        <a:ext cx="4329112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8001000" y="39624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取</a:t>
            </a:r>
            <a:r>
              <a:rPr lang="en-US" altLang="zh-CN" sz="2800" i="1"/>
              <a:t>N</a:t>
            </a:r>
            <a:r>
              <a:rPr lang="en-US" altLang="zh-CN" sz="2800"/>
              <a:t>=2</a:t>
            </a:r>
          </a:p>
        </p:txBody>
      </p:sp>
      <p:graphicFrame>
        <p:nvGraphicFramePr>
          <p:cNvPr id="55305" name="Object 9"/>
          <p:cNvGraphicFramePr>
            <a:graphicFrameLocks noChangeAspect="1"/>
          </p:cNvGraphicFramePr>
          <p:nvPr/>
        </p:nvGraphicFramePr>
        <p:xfrm>
          <a:off x="2855914" y="5157788"/>
          <a:ext cx="4238625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7" name="Equation" r:id="rId7" imgW="1765080" imgH="406080" progId="Equation.3">
                  <p:embed/>
                </p:oleObj>
              </mc:Choice>
              <mc:Fallback>
                <p:oleObj name="Equation" r:id="rId7" imgW="1765080" imgH="406080" progId="Equation.3">
                  <p:embed/>
                  <p:pic>
                    <p:nvPicPr>
                      <p:cNvPr id="553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5157788"/>
                        <a:ext cx="4238625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357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1" grpId="0" autoUpdateAnimBg="0"/>
      <p:bldP spid="55304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18592"/>
            <a:ext cx="8382000" cy="953008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：试设计一个满足下列指标的</a:t>
            </a:r>
            <a:r>
              <a:rPr lang="en-US" altLang="zh-CN" dirty="0">
                <a:solidFill>
                  <a:schemeClr val="tx1"/>
                </a:solidFill>
              </a:rPr>
              <a:t>BW</a:t>
            </a:r>
            <a:r>
              <a:rPr lang="zh-CN" altLang="en-US" dirty="0">
                <a:solidFill>
                  <a:schemeClr val="tx1"/>
                </a:solidFill>
              </a:rPr>
              <a:t>型带阻滤波器</a:t>
            </a:r>
            <a:br>
              <a:rPr lang="zh-CN" altLang="en-US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        </a:t>
            </a:r>
            <a:r>
              <a:rPr lang="en-US" altLang="zh-CN" i="1" dirty="0" err="1">
                <a:solidFill>
                  <a:schemeClr val="tx1"/>
                </a:solidFill>
              </a:rPr>
              <a:t>A</a:t>
            </a:r>
            <a:r>
              <a:rPr lang="en-US" altLang="zh-CN" baseline="-25000" dirty="0" err="1">
                <a:solidFill>
                  <a:schemeClr val="tx1"/>
                </a:solidFill>
              </a:rPr>
              <a:t>p</a:t>
            </a:r>
            <a:r>
              <a:rPr lang="en-US" altLang="zh-CN" dirty="0">
                <a:solidFill>
                  <a:schemeClr val="tx1"/>
                </a:solidFill>
              </a:rPr>
              <a:t>=1dB;</a:t>
            </a:r>
            <a:r>
              <a:rPr lang="en-US" altLang="zh-CN" i="1" dirty="0">
                <a:solidFill>
                  <a:schemeClr val="tx1"/>
                </a:solidFill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</a:rPr>
              <a:t>s</a:t>
            </a:r>
            <a:r>
              <a:rPr lang="en-US" altLang="zh-CN" dirty="0">
                <a:solidFill>
                  <a:schemeClr val="tx1"/>
                </a:solidFill>
              </a:rPr>
              <a:t>=20dB;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p1</a:t>
            </a:r>
            <a:r>
              <a:rPr lang="en-US" altLang="zh-CN" dirty="0">
                <a:solidFill>
                  <a:schemeClr val="tx1"/>
                </a:solidFill>
              </a:rPr>
              <a:t>=10;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p2</a:t>
            </a:r>
            <a:r>
              <a:rPr lang="en-US" altLang="zh-CN" dirty="0">
                <a:solidFill>
                  <a:schemeClr val="tx1"/>
                </a:solidFill>
              </a:rPr>
              <a:t>=30;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s1</a:t>
            </a:r>
            <a:r>
              <a:rPr lang="en-US" altLang="zh-CN" dirty="0">
                <a:solidFill>
                  <a:schemeClr val="tx1"/>
                </a:solidFill>
              </a:rPr>
              <a:t>=19;</a:t>
            </a: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</a:rPr>
              <a:t>s2</a:t>
            </a:r>
            <a:r>
              <a:rPr lang="en-US" altLang="zh-CN" dirty="0">
                <a:solidFill>
                  <a:schemeClr val="tx1"/>
                </a:solidFill>
              </a:rPr>
              <a:t>=21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1703389" y="1600201"/>
            <a:ext cx="1152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解：</a:t>
            </a:r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2743201" y="1627188"/>
            <a:ext cx="5999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(3) </a:t>
            </a:r>
            <a:r>
              <a:rPr lang="zh-CN" altLang="en-US" sz="2800" b="1"/>
              <a:t>设计</a:t>
            </a:r>
            <a:r>
              <a:rPr lang="en-US" altLang="zh-CN" sz="2800" b="1"/>
              <a:t>BW</a:t>
            </a:r>
            <a:r>
              <a:rPr lang="zh-CN" altLang="en-US" sz="2800" b="1"/>
              <a:t>型原型低通滤波器</a:t>
            </a:r>
          </a:p>
        </p:txBody>
      </p:sp>
      <p:sp>
        <p:nvSpPr>
          <p:cNvPr id="56331" name="Text Box 11"/>
          <p:cNvSpPr txBox="1">
            <a:spLocks noChangeArrowheads="1"/>
          </p:cNvSpPr>
          <p:nvPr/>
        </p:nvSpPr>
        <p:spPr bwMode="auto">
          <a:xfrm>
            <a:off x="7467600" y="1600201"/>
            <a:ext cx="32938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solidFill>
                  <a:schemeClr val="accent2"/>
                </a:solidFill>
              </a:rPr>
              <a:t>N</a:t>
            </a:r>
            <a:r>
              <a:rPr lang="en-US" altLang="zh-CN" sz="2800" b="1" dirty="0">
                <a:solidFill>
                  <a:schemeClr val="accent2"/>
                </a:solidFill>
              </a:rPr>
              <a:t>=2</a:t>
            </a:r>
            <a:r>
              <a:rPr lang="zh-CN" altLang="en-US" sz="2800" b="1" dirty="0">
                <a:solidFill>
                  <a:schemeClr val="accent2"/>
                </a:solidFill>
              </a:rPr>
              <a:t>，</a:t>
            </a:r>
            <a:r>
              <a:rPr lang="en-US" altLang="zh-CN" sz="2800" b="1" i="1" dirty="0" err="1">
                <a:solidFill>
                  <a:schemeClr val="accent2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2800" b="1" baseline="-25000" dirty="0" err="1">
                <a:solidFill>
                  <a:schemeClr val="accent2"/>
                </a:solidFill>
              </a:rPr>
              <a:t>c</a:t>
            </a:r>
            <a:r>
              <a:rPr lang="en-US" altLang="zh-CN" sz="2800" b="1" dirty="0">
                <a:solidFill>
                  <a:schemeClr val="accent2"/>
                </a:solidFill>
              </a:rPr>
              <a:t>=0.3170</a:t>
            </a:r>
            <a:endParaRPr lang="en-US" altLang="zh-CN" sz="2800" b="1" baseline="30000" dirty="0">
              <a:solidFill>
                <a:schemeClr val="accent2"/>
              </a:solidFill>
            </a:endParaRPr>
          </a:p>
        </p:txBody>
      </p:sp>
      <p:graphicFrame>
        <p:nvGraphicFramePr>
          <p:cNvPr id="56332" name="Object 12"/>
          <p:cNvGraphicFramePr>
            <a:graphicFrameLocks noChangeAspect="1"/>
          </p:cNvGraphicFramePr>
          <p:nvPr/>
        </p:nvGraphicFramePr>
        <p:xfrm>
          <a:off x="2667001" y="2438401"/>
          <a:ext cx="357187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06" name="Equation" r:id="rId3" imgW="1879560" imgH="419040" progId="Equation.3">
                  <p:embed/>
                </p:oleObj>
              </mc:Choice>
              <mc:Fallback>
                <p:oleObj name="Equation" r:id="rId3" imgW="1879560" imgH="419040" progId="Equation.3">
                  <p:embed/>
                  <p:pic>
                    <p:nvPicPr>
                      <p:cNvPr id="563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2438401"/>
                        <a:ext cx="3571875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3" name="Text Box 13"/>
          <p:cNvSpPr txBox="1">
            <a:spLocks noChangeArrowheads="1"/>
          </p:cNvSpPr>
          <p:nvPr/>
        </p:nvSpPr>
        <p:spPr bwMode="auto">
          <a:xfrm>
            <a:off x="1905000" y="3429001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4) </a:t>
            </a:r>
            <a:r>
              <a:rPr lang="zh-CN" altLang="en-US" sz="2800">
                <a:latin typeface="宋体" panose="02010600030101010101" pitchFamily="2" charset="-122"/>
              </a:rPr>
              <a:t>将原型低通滤波器转换为带阻滤波器</a:t>
            </a:r>
            <a:r>
              <a:rPr lang="en-US" altLang="zh-CN" sz="2800" i="1"/>
              <a:t>H</a:t>
            </a:r>
            <a:r>
              <a:rPr lang="en-US" altLang="zh-CN" sz="2800" baseline="-30000"/>
              <a:t>BS</a:t>
            </a:r>
            <a:r>
              <a:rPr lang="en-US" altLang="zh-CN" sz="2800"/>
              <a:t>(</a:t>
            </a:r>
            <a:r>
              <a:rPr lang="en-US" altLang="zh-CN" sz="2800" i="1"/>
              <a:t>s</a:t>
            </a:r>
            <a:r>
              <a:rPr lang="en-US" altLang="zh-CN" sz="2800"/>
              <a:t>) </a:t>
            </a:r>
          </a:p>
        </p:txBody>
      </p:sp>
      <p:graphicFrame>
        <p:nvGraphicFramePr>
          <p:cNvPr id="56335" name="Object 15"/>
          <p:cNvGraphicFramePr>
            <a:graphicFrameLocks noChangeAspect="1"/>
          </p:cNvGraphicFramePr>
          <p:nvPr/>
        </p:nvGraphicFramePr>
        <p:xfrm>
          <a:off x="6248401" y="2438400"/>
          <a:ext cx="272732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07" name="Equation" r:id="rId5" imgW="1434960" imgH="380880" progId="Equation.3">
                  <p:embed/>
                </p:oleObj>
              </mc:Choice>
              <mc:Fallback>
                <p:oleObj name="Equation" r:id="rId5" imgW="1434960" imgH="380880" progId="Equation.3">
                  <p:embed/>
                  <p:pic>
                    <p:nvPicPr>
                      <p:cNvPr id="5633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2438400"/>
                        <a:ext cx="2727325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6" name="Object 16"/>
          <p:cNvGraphicFramePr>
            <a:graphicFrameLocks noChangeAspect="1"/>
          </p:cNvGraphicFramePr>
          <p:nvPr/>
        </p:nvGraphicFramePr>
        <p:xfrm>
          <a:off x="1981201" y="3962400"/>
          <a:ext cx="3084513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08" name="Equation" r:id="rId7" imgW="1396800" imgH="545760" progId="Equation.3">
                  <p:embed/>
                </p:oleObj>
              </mc:Choice>
              <mc:Fallback>
                <p:oleObj name="Equation" r:id="rId7" imgW="1396800" imgH="545760" progId="Equation.3">
                  <p:embed/>
                  <p:pic>
                    <p:nvPicPr>
                      <p:cNvPr id="5633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1" y="3962400"/>
                        <a:ext cx="3084513" cy="120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7" name="Object 17"/>
          <p:cNvGraphicFramePr>
            <a:graphicFrameLocks noChangeAspect="1"/>
          </p:cNvGraphicFramePr>
          <p:nvPr/>
        </p:nvGraphicFramePr>
        <p:xfrm>
          <a:off x="2990850" y="5283200"/>
          <a:ext cx="73723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09" name="Equation" r:id="rId9" imgW="3682800" imgH="406080" progId="Equation.3">
                  <p:embed/>
                </p:oleObj>
              </mc:Choice>
              <mc:Fallback>
                <p:oleObj name="Equation" r:id="rId9" imgW="3682800" imgH="406080" progId="Equation.3">
                  <p:embed/>
                  <p:pic>
                    <p:nvPicPr>
                      <p:cNvPr id="5633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850" y="5283200"/>
                        <a:ext cx="737235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320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30" grpId="0" autoUpdateAnimBg="0"/>
      <p:bldP spid="56331" grpId="0" autoUpdateAnimBg="0"/>
      <p:bldP spid="56333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2133600" y="1501775"/>
            <a:ext cx="79248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>
                <a:latin typeface="Courier New" panose="02070309020205020404" pitchFamily="49" charset="0"/>
              </a:rPr>
              <a:t>Ap=1;As=20;wp1=10;wp2=30;ws1=19;ws2=21;</a:t>
            </a:r>
          </a:p>
          <a:p>
            <a:r>
              <a:rPr lang="en-US" altLang="zh-CN" b="1">
                <a:latin typeface="Courier New" panose="02070309020205020404" pitchFamily="49" charset="0"/>
              </a:rPr>
              <a:t>B=ws2-ws1;w0=sqrt(ws1*ws2);</a:t>
            </a:r>
          </a:p>
          <a:p>
            <a:r>
              <a:rPr lang="en-US" altLang="zh-CN" b="1">
                <a:latin typeface="Courier New" panose="02070309020205020404" pitchFamily="49" charset="0"/>
              </a:rPr>
              <a:t>wLp1=B*wp1/(w0*w0-wp1*wp1);</a:t>
            </a:r>
          </a:p>
          <a:p>
            <a:r>
              <a:rPr lang="en-US" altLang="zh-CN" b="1">
                <a:latin typeface="Courier New" panose="02070309020205020404" pitchFamily="49" charset="0"/>
              </a:rPr>
              <a:t>wLp2=B*wp2/(w0*w0-wp2*wp2);</a:t>
            </a:r>
          </a:p>
          <a:p>
            <a:r>
              <a:rPr lang="en-US" altLang="zh-CN" b="1">
                <a:latin typeface="Courier New" panose="02070309020205020404" pitchFamily="49" charset="0"/>
              </a:rPr>
              <a:t>wLp=max(abs(wLp1),abs(wLp2));</a:t>
            </a:r>
          </a:p>
          <a:p>
            <a:r>
              <a:rPr lang="en-US" altLang="zh-CN" b="1">
                <a:latin typeface="Courier New" panose="02070309020205020404" pitchFamily="49" charset="0"/>
              </a:rPr>
              <a:t>[N,Wc]=buttord(wLp,1,Ap,As,</a:t>
            </a:r>
            <a:r>
              <a:rPr lang="en-US" altLang="zh-CN" b="1">
                <a:solidFill>
                  <a:srgbClr val="B22222"/>
                </a:solidFill>
                <a:latin typeface="Courier New" panose="02070309020205020404" pitchFamily="49" charset="0"/>
              </a:rPr>
              <a:t>'s'</a:t>
            </a:r>
            <a:r>
              <a:rPr lang="en-US" altLang="zh-CN" b="1"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b="1">
                <a:latin typeface="Courier New" panose="02070309020205020404" pitchFamily="49" charset="0"/>
              </a:rPr>
              <a:t>[num,den] = butter(N,Wc,</a:t>
            </a:r>
            <a:r>
              <a:rPr lang="en-US" altLang="zh-CN" b="1">
                <a:solidFill>
                  <a:srgbClr val="B22222"/>
                </a:solidFill>
                <a:latin typeface="Courier New" panose="02070309020205020404" pitchFamily="49" charset="0"/>
              </a:rPr>
              <a:t>'s' </a:t>
            </a:r>
            <a:r>
              <a:rPr lang="en-US" altLang="zh-CN" b="1">
                <a:latin typeface="Courier New" panose="02070309020205020404" pitchFamily="49" charset="0"/>
              </a:rPr>
              <a:t>); [numt,dent]=lp2bs(num,den,w0,B); </a:t>
            </a:r>
          </a:p>
          <a:p>
            <a:r>
              <a:rPr lang="en-US" altLang="zh-CN" b="1">
                <a:latin typeface="Courier New" panose="02070309020205020404" pitchFamily="49" charset="0"/>
              </a:rPr>
              <a:t>w=linspace(5,35,1000);</a:t>
            </a:r>
          </a:p>
          <a:p>
            <a:r>
              <a:rPr lang="en-US" altLang="zh-CN" b="1">
                <a:latin typeface="Courier New" panose="02070309020205020404" pitchFamily="49" charset="0"/>
              </a:rPr>
              <a:t>h=freqs(numt,dent,w);</a:t>
            </a:r>
          </a:p>
          <a:p>
            <a:r>
              <a:rPr lang="en-US" altLang="zh-CN" b="1">
                <a:latin typeface="Courier New" panose="02070309020205020404" pitchFamily="49" charset="0"/>
              </a:rPr>
              <a:t>plot(w,20*log10(abs(h)));</a:t>
            </a:r>
          </a:p>
          <a:p>
            <a:r>
              <a:rPr lang="en-US" altLang="zh-CN" b="1">
                <a:latin typeface="Courier New" panose="02070309020205020404" pitchFamily="49" charset="0"/>
              </a:rPr>
              <a:t>w=[wp1 ws1 ws2 wp2];</a:t>
            </a:r>
          </a:p>
          <a:p>
            <a:r>
              <a:rPr lang="en-US" altLang="zh-CN" b="1">
                <a:latin typeface="Courier New" panose="02070309020205020404" pitchFamily="49" charset="0"/>
              </a:rPr>
              <a:t>set(gca,</a:t>
            </a:r>
            <a:r>
              <a:rPr lang="en-US" altLang="zh-CN" b="1">
                <a:solidFill>
                  <a:srgbClr val="B22222"/>
                </a:solidFill>
                <a:latin typeface="Courier New" panose="02070309020205020404" pitchFamily="49" charset="0"/>
              </a:rPr>
              <a:t>'xtick'</a:t>
            </a:r>
            <a:r>
              <a:rPr lang="en-US" altLang="zh-CN" b="1">
                <a:latin typeface="Courier New" panose="02070309020205020404" pitchFamily="49" charset="0"/>
              </a:rPr>
              <a:t>,w);grid;</a:t>
            </a:r>
          </a:p>
          <a:p>
            <a:r>
              <a:rPr lang="en-US" altLang="zh-CN" b="1">
                <a:latin typeface="Courier New" panose="02070309020205020404" pitchFamily="49" charset="0"/>
              </a:rPr>
              <a:t>h=freqs(numt,dent,w);A=-20*log10(abs(h))</a:t>
            </a: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1981200" y="76200"/>
            <a:ext cx="8382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例</a:t>
            </a:r>
            <a:r>
              <a:rPr lang="en-US" altLang="zh-CN" sz="2800" b="1"/>
              <a:t>3</a:t>
            </a:r>
            <a:r>
              <a:rPr lang="zh-CN" altLang="en-US" sz="2800" b="1"/>
              <a:t>：</a:t>
            </a:r>
            <a:r>
              <a:rPr lang="zh-CN" altLang="en-US" sz="2800"/>
              <a:t>试设计一个满足下列指标的</a:t>
            </a:r>
            <a:r>
              <a:rPr lang="en-US" altLang="zh-CN" sz="2800"/>
              <a:t>BW</a:t>
            </a:r>
            <a:r>
              <a:rPr lang="zh-CN" altLang="en-US" sz="2800"/>
              <a:t>型带阻滤波器</a:t>
            </a:r>
            <a:br>
              <a:rPr lang="zh-CN" altLang="en-US" sz="2800"/>
            </a:br>
            <a:r>
              <a:rPr lang="zh-CN" altLang="en-US" sz="2800"/>
              <a:t>        </a:t>
            </a:r>
            <a:r>
              <a:rPr lang="en-US" altLang="zh-CN" sz="2800" i="1"/>
              <a:t>A</a:t>
            </a:r>
            <a:r>
              <a:rPr lang="en-US" altLang="zh-CN" sz="2800" baseline="-25000"/>
              <a:t>p</a:t>
            </a:r>
            <a:r>
              <a:rPr lang="en-US" altLang="zh-CN" sz="2800"/>
              <a:t>=1dB;</a:t>
            </a:r>
            <a:r>
              <a:rPr lang="en-US" altLang="zh-CN" sz="2800" i="1"/>
              <a:t>A</a:t>
            </a:r>
            <a:r>
              <a:rPr lang="en-US" altLang="zh-CN" sz="2800" baseline="-25000"/>
              <a:t>s</a:t>
            </a:r>
            <a:r>
              <a:rPr lang="en-US" altLang="zh-CN" sz="2800"/>
              <a:t>=20dB;</a:t>
            </a:r>
            <a:r>
              <a:rPr lang="en-US" altLang="zh-CN" sz="2800" i="1">
                <a:latin typeface="Symbol" panose="05050102010706020507" pitchFamily="18" charset="2"/>
              </a:rPr>
              <a:t>w</a:t>
            </a:r>
            <a:r>
              <a:rPr lang="en-US" altLang="zh-CN" sz="2800" baseline="-25000"/>
              <a:t>p1</a:t>
            </a:r>
            <a:r>
              <a:rPr lang="en-US" altLang="zh-CN" sz="2800"/>
              <a:t>=10;</a:t>
            </a:r>
            <a:r>
              <a:rPr lang="en-US" altLang="zh-CN" sz="2800" i="1">
                <a:latin typeface="Symbol" panose="05050102010706020507" pitchFamily="18" charset="2"/>
              </a:rPr>
              <a:t>w</a:t>
            </a:r>
            <a:r>
              <a:rPr lang="en-US" altLang="zh-CN" sz="2800" baseline="-25000"/>
              <a:t>p2</a:t>
            </a:r>
            <a:r>
              <a:rPr lang="en-US" altLang="zh-CN" sz="2800"/>
              <a:t>=30;</a:t>
            </a:r>
            <a:r>
              <a:rPr lang="en-US" altLang="zh-CN" sz="2800" i="1">
                <a:latin typeface="Symbol" panose="05050102010706020507" pitchFamily="18" charset="2"/>
              </a:rPr>
              <a:t>w</a:t>
            </a:r>
            <a:r>
              <a:rPr lang="en-US" altLang="zh-CN" sz="2800" baseline="-25000"/>
              <a:t>s1</a:t>
            </a:r>
            <a:r>
              <a:rPr lang="en-US" altLang="zh-CN" sz="2800"/>
              <a:t>=19;</a:t>
            </a:r>
            <a:r>
              <a:rPr lang="en-US" altLang="zh-CN" sz="2800" i="1">
                <a:latin typeface="Symbol" panose="05050102010706020507" pitchFamily="18" charset="2"/>
              </a:rPr>
              <a:t>w</a:t>
            </a:r>
            <a:r>
              <a:rPr lang="en-US" altLang="zh-CN" sz="2800" baseline="-25000"/>
              <a:t>s2</a:t>
            </a:r>
            <a:r>
              <a:rPr lang="en-US" altLang="zh-CN" sz="2800"/>
              <a:t>=21</a:t>
            </a:r>
            <a:r>
              <a:rPr lang="zh-CN" altLang="en-US" sz="280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6382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6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96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96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96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2"/>
          <p:cNvGrpSpPr>
            <a:grpSpLocks/>
          </p:cNvGrpSpPr>
          <p:nvPr/>
        </p:nvGrpSpPr>
        <p:grpSpPr bwMode="auto">
          <a:xfrm>
            <a:off x="1933576" y="1514475"/>
            <a:ext cx="8310563" cy="4965700"/>
            <a:chOff x="258" y="262"/>
            <a:chExt cx="5235" cy="3128"/>
          </a:xfrm>
        </p:grpSpPr>
        <p:sp>
          <p:nvSpPr>
            <p:cNvPr id="30723" name="Rectangle 3"/>
            <p:cNvSpPr>
              <a:spLocks noChangeArrowheads="1"/>
            </p:cNvSpPr>
            <p:nvPr/>
          </p:nvSpPr>
          <p:spPr bwMode="auto">
            <a:xfrm>
              <a:off x="662" y="397"/>
              <a:ext cx="4830" cy="27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24" name="Rectangle 4"/>
            <p:cNvSpPr>
              <a:spLocks noChangeArrowheads="1"/>
            </p:cNvSpPr>
            <p:nvPr/>
          </p:nvSpPr>
          <p:spPr bwMode="auto">
            <a:xfrm>
              <a:off x="662" y="397"/>
              <a:ext cx="4830" cy="2731"/>
            </a:xfrm>
            <a:prstGeom prst="rect">
              <a:avLst/>
            </a:prstGeom>
            <a:noFill/>
            <a:ln w="1905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25" name="Freeform 5"/>
            <p:cNvSpPr>
              <a:spLocks/>
            </p:cNvSpPr>
            <p:nvPr/>
          </p:nvSpPr>
          <p:spPr bwMode="auto">
            <a:xfrm>
              <a:off x="1470" y="397"/>
              <a:ext cx="1" cy="2731"/>
            </a:xfrm>
            <a:custGeom>
              <a:avLst/>
              <a:gdLst>
                <a:gd name="T0" fmla="*/ 162 h 162"/>
                <a:gd name="T1" fmla="*/ 0 h 162"/>
                <a:gd name="T2" fmla="*/ 0 h 16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62">
                  <a:moveTo>
                    <a:pt x="0" y="1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26" name="Freeform 6"/>
            <p:cNvSpPr>
              <a:spLocks/>
            </p:cNvSpPr>
            <p:nvPr/>
          </p:nvSpPr>
          <p:spPr bwMode="auto">
            <a:xfrm>
              <a:off x="2917" y="397"/>
              <a:ext cx="1" cy="2731"/>
            </a:xfrm>
            <a:custGeom>
              <a:avLst/>
              <a:gdLst>
                <a:gd name="T0" fmla="*/ 162 h 162"/>
                <a:gd name="T1" fmla="*/ 0 h 162"/>
                <a:gd name="T2" fmla="*/ 0 h 16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62">
                  <a:moveTo>
                    <a:pt x="0" y="1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27" name="Freeform 7"/>
            <p:cNvSpPr>
              <a:spLocks/>
            </p:cNvSpPr>
            <p:nvPr/>
          </p:nvSpPr>
          <p:spPr bwMode="auto">
            <a:xfrm>
              <a:off x="3238" y="397"/>
              <a:ext cx="1" cy="2731"/>
            </a:xfrm>
            <a:custGeom>
              <a:avLst/>
              <a:gdLst>
                <a:gd name="T0" fmla="*/ 162 h 162"/>
                <a:gd name="T1" fmla="*/ 0 h 162"/>
                <a:gd name="T2" fmla="*/ 0 h 16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62">
                  <a:moveTo>
                    <a:pt x="0" y="1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28" name="Freeform 8"/>
            <p:cNvSpPr>
              <a:spLocks/>
            </p:cNvSpPr>
            <p:nvPr/>
          </p:nvSpPr>
          <p:spPr bwMode="auto">
            <a:xfrm>
              <a:off x="4685" y="397"/>
              <a:ext cx="1" cy="2731"/>
            </a:xfrm>
            <a:custGeom>
              <a:avLst/>
              <a:gdLst>
                <a:gd name="T0" fmla="*/ 162 h 162"/>
                <a:gd name="T1" fmla="*/ 0 h 162"/>
                <a:gd name="T2" fmla="*/ 0 h 16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62">
                  <a:moveTo>
                    <a:pt x="0" y="1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29" name="Freeform 9"/>
            <p:cNvSpPr>
              <a:spLocks/>
            </p:cNvSpPr>
            <p:nvPr/>
          </p:nvSpPr>
          <p:spPr bwMode="auto">
            <a:xfrm>
              <a:off x="662" y="3128"/>
              <a:ext cx="4830" cy="1"/>
            </a:xfrm>
            <a:custGeom>
              <a:avLst/>
              <a:gdLst>
                <a:gd name="T0" fmla="*/ 0 w 347"/>
                <a:gd name="T1" fmla="*/ 347 w 347"/>
                <a:gd name="T2" fmla="*/ 347 w 34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47">
                  <a:moveTo>
                    <a:pt x="0" y="0"/>
                  </a:moveTo>
                  <a:lnTo>
                    <a:pt x="347" y="0"/>
                  </a:lnTo>
                  <a:lnTo>
                    <a:pt x="34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0" name="Freeform 10"/>
            <p:cNvSpPr>
              <a:spLocks/>
            </p:cNvSpPr>
            <p:nvPr/>
          </p:nvSpPr>
          <p:spPr bwMode="auto">
            <a:xfrm>
              <a:off x="662" y="2589"/>
              <a:ext cx="4830" cy="2"/>
            </a:xfrm>
            <a:custGeom>
              <a:avLst/>
              <a:gdLst>
                <a:gd name="T0" fmla="*/ 0 w 347"/>
                <a:gd name="T1" fmla="*/ 347 w 347"/>
                <a:gd name="T2" fmla="*/ 347 w 34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47">
                  <a:moveTo>
                    <a:pt x="0" y="0"/>
                  </a:moveTo>
                  <a:lnTo>
                    <a:pt x="347" y="0"/>
                  </a:lnTo>
                  <a:lnTo>
                    <a:pt x="34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1" name="Freeform 11"/>
            <p:cNvSpPr>
              <a:spLocks/>
            </p:cNvSpPr>
            <p:nvPr/>
          </p:nvSpPr>
          <p:spPr bwMode="auto">
            <a:xfrm>
              <a:off x="662" y="2033"/>
              <a:ext cx="4830" cy="1"/>
            </a:xfrm>
            <a:custGeom>
              <a:avLst/>
              <a:gdLst>
                <a:gd name="T0" fmla="*/ 0 w 347"/>
                <a:gd name="T1" fmla="*/ 347 w 347"/>
                <a:gd name="T2" fmla="*/ 347 w 34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47">
                  <a:moveTo>
                    <a:pt x="0" y="0"/>
                  </a:moveTo>
                  <a:lnTo>
                    <a:pt x="347" y="0"/>
                  </a:lnTo>
                  <a:lnTo>
                    <a:pt x="34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2" name="Freeform 12"/>
            <p:cNvSpPr>
              <a:spLocks/>
            </p:cNvSpPr>
            <p:nvPr/>
          </p:nvSpPr>
          <p:spPr bwMode="auto">
            <a:xfrm>
              <a:off x="662" y="1492"/>
              <a:ext cx="4830" cy="2"/>
            </a:xfrm>
            <a:custGeom>
              <a:avLst/>
              <a:gdLst>
                <a:gd name="T0" fmla="*/ 0 w 347"/>
                <a:gd name="T1" fmla="*/ 347 w 347"/>
                <a:gd name="T2" fmla="*/ 347 w 34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47">
                  <a:moveTo>
                    <a:pt x="0" y="0"/>
                  </a:moveTo>
                  <a:lnTo>
                    <a:pt x="347" y="0"/>
                  </a:lnTo>
                  <a:lnTo>
                    <a:pt x="34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3" name="Freeform 13"/>
            <p:cNvSpPr>
              <a:spLocks/>
            </p:cNvSpPr>
            <p:nvPr/>
          </p:nvSpPr>
          <p:spPr bwMode="auto">
            <a:xfrm>
              <a:off x="662" y="936"/>
              <a:ext cx="4830" cy="1"/>
            </a:xfrm>
            <a:custGeom>
              <a:avLst/>
              <a:gdLst>
                <a:gd name="T0" fmla="*/ 0 w 347"/>
                <a:gd name="T1" fmla="*/ 347 w 347"/>
                <a:gd name="T2" fmla="*/ 347 w 34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47">
                  <a:moveTo>
                    <a:pt x="0" y="0"/>
                  </a:moveTo>
                  <a:lnTo>
                    <a:pt x="347" y="0"/>
                  </a:lnTo>
                  <a:lnTo>
                    <a:pt x="34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4" name="Freeform 14"/>
            <p:cNvSpPr>
              <a:spLocks/>
            </p:cNvSpPr>
            <p:nvPr/>
          </p:nvSpPr>
          <p:spPr bwMode="auto">
            <a:xfrm>
              <a:off x="662" y="397"/>
              <a:ext cx="4830" cy="2"/>
            </a:xfrm>
            <a:custGeom>
              <a:avLst/>
              <a:gdLst>
                <a:gd name="T0" fmla="*/ 0 w 347"/>
                <a:gd name="T1" fmla="*/ 347 w 347"/>
                <a:gd name="T2" fmla="*/ 347 w 34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47">
                  <a:moveTo>
                    <a:pt x="0" y="0"/>
                  </a:moveTo>
                  <a:lnTo>
                    <a:pt x="347" y="0"/>
                  </a:lnTo>
                  <a:lnTo>
                    <a:pt x="34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5" name="Line 15"/>
            <p:cNvSpPr>
              <a:spLocks noChangeShapeType="1"/>
            </p:cNvSpPr>
            <p:nvPr/>
          </p:nvSpPr>
          <p:spPr bwMode="auto">
            <a:xfrm>
              <a:off x="662" y="3128"/>
              <a:ext cx="483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6" name="Line 16"/>
            <p:cNvSpPr>
              <a:spLocks noChangeShapeType="1"/>
            </p:cNvSpPr>
            <p:nvPr/>
          </p:nvSpPr>
          <p:spPr bwMode="auto">
            <a:xfrm>
              <a:off x="662" y="397"/>
              <a:ext cx="4830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7" name="Line 17"/>
            <p:cNvSpPr>
              <a:spLocks noChangeShapeType="1"/>
            </p:cNvSpPr>
            <p:nvPr/>
          </p:nvSpPr>
          <p:spPr bwMode="auto">
            <a:xfrm flipV="1">
              <a:off x="662" y="397"/>
              <a:ext cx="1" cy="27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8" name="Line 18"/>
            <p:cNvSpPr>
              <a:spLocks noChangeShapeType="1"/>
            </p:cNvSpPr>
            <p:nvPr/>
          </p:nvSpPr>
          <p:spPr bwMode="auto">
            <a:xfrm flipV="1">
              <a:off x="5492" y="397"/>
              <a:ext cx="1" cy="27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9" name="Line 19"/>
            <p:cNvSpPr>
              <a:spLocks noChangeShapeType="1"/>
            </p:cNvSpPr>
            <p:nvPr/>
          </p:nvSpPr>
          <p:spPr bwMode="auto">
            <a:xfrm>
              <a:off x="662" y="3128"/>
              <a:ext cx="483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0" name="Line 20"/>
            <p:cNvSpPr>
              <a:spLocks noChangeShapeType="1"/>
            </p:cNvSpPr>
            <p:nvPr/>
          </p:nvSpPr>
          <p:spPr bwMode="auto">
            <a:xfrm flipV="1">
              <a:off x="662" y="397"/>
              <a:ext cx="1" cy="27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1" name="Line 21"/>
            <p:cNvSpPr>
              <a:spLocks noChangeShapeType="1"/>
            </p:cNvSpPr>
            <p:nvPr/>
          </p:nvSpPr>
          <p:spPr bwMode="auto">
            <a:xfrm flipV="1">
              <a:off x="1470" y="3077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2" name="Line 22"/>
            <p:cNvSpPr>
              <a:spLocks noChangeShapeType="1"/>
            </p:cNvSpPr>
            <p:nvPr/>
          </p:nvSpPr>
          <p:spPr bwMode="auto">
            <a:xfrm>
              <a:off x="1470" y="397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3" name="Rectangle 23"/>
            <p:cNvSpPr>
              <a:spLocks noChangeArrowheads="1"/>
            </p:cNvSpPr>
            <p:nvPr/>
          </p:nvSpPr>
          <p:spPr bwMode="auto">
            <a:xfrm>
              <a:off x="1371" y="3196"/>
              <a:ext cx="17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</a:rPr>
                <a:t>10</a:t>
              </a:r>
              <a:endParaRPr lang="en-US" altLang="zh-CN" sz="2000"/>
            </a:p>
          </p:txBody>
        </p:sp>
        <p:sp>
          <p:nvSpPr>
            <p:cNvPr id="30744" name="Line 24"/>
            <p:cNvSpPr>
              <a:spLocks noChangeShapeType="1"/>
            </p:cNvSpPr>
            <p:nvPr/>
          </p:nvSpPr>
          <p:spPr bwMode="auto">
            <a:xfrm flipV="1">
              <a:off x="2917" y="3077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5" name="Line 25"/>
            <p:cNvSpPr>
              <a:spLocks noChangeShapeType="1"/>
            </p:cNvSpPr>
            <p:nvPr/>
          </p:nvSpPr>
          <p:spPr bwMode="auto">
            <a:xfrm>
              <a:off x="2917" y="397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6" name="Rectangle 26"/>
            <p:cNvSpPr>
              <a:spLocks noChangeArrowheads="1"/>
            </p:cNvSpPr>
            <p:nvPr/>
          </p:nvSpPr>
          <p:spPr bwMode="auto">
            <a:xfrm>
              <a:off x="2820" y="3196"/>
              <a:ext cx="17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</a:rPr>
                <a:t>19</a:t>
              </a:r>
              <a:endParaRPr lang="en-US" altLang="zh-CN" sz="2000"/>
            </a:p>
          </p:txBody>
        </p:sp>
        <p:sp>
          <p:nvSpPr>
            <p:cNvPr id="30747" name="Line 27"/>
            <p:cNvSpPr>
              <a:spLocks noChangeShapeType="1"/>
            </p:cNvSpPr>
            <p:nvPr/>
          </p:nvSpPr>
          <p:spPr bwMode="auto">
            <a:xfrm flipV="1">
              <a:off x="3238" y="3077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8" name="Line 28"/>
            <p:cNvSpPr>
              <a:spLocks noChangeShapeType="1"/>
            </p:cNvSpPr>
            <p:nvPr/>
          </p:nvSpPr>
          <p:spPr bwMode="auto">
            <a:xfrm>
              <a:off x="3238" y="397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9" name="Rectangle 29"/>
            <p:cNvSpPr>
              <a:spLocks noChangeArrowheads="1"/>
            </p:cNvSpPr>
            <p:nvPr/>
          </p:nvSpPr>
          <p:spPr bwMode="auto">
            <a:xfrm>
              <a:off x="3139" y="3196"/>
              <a:ext cx="17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</a:rPr>
                <a:t>21</a:t>
              </a:r>
              <a:endParaRPr lang="en-US" altLang="zh-CN" sz="2000"/>
            </a:p>
          </p:txBody>
        </p:sp>
        <p:sp>
          <p:nvSpPr>
            <p:cNvPr id="30750" name="Line 30"/>
            <p:cNvSpPr>
              <a:spLocks noChangeShapeType="1"/>
            </p:cNvSpPr>
            <p:nvPr/>
          </p:nvSpPr>
          <p:spPr bwMode="auto">
            <a:xfrm flipV="1">
              <a:off x="4685" y="3077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1" name="Line 31"/>
            <p:cNvSpPr>
              <a:spLocks noChangeShapeType="1"/>
            </p:cNvSpPr>
            <p:nvPr/>
          </p:nvSpPr>
          <p:spPr bwMode="auto">
            <a:xfrm>
              <a:off x="4685" y="397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2" name="Rectangle 32"/>
            <p:cNvSpPr>
              <a:spLocks noChangeArrowheads="1"/>
            </p:cNvSpPr>
            <p:nvPr/>
          </p:nvSpPr>
          <p:spPr bwMode="auto">
            <a:xfrm>
              <a:off x="4587" y="3196"/>
              <a:ext cx="19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</a:rPr>
                <a:t>30</a:t>
              </a:r>
              <a:endParaRPr lang="en-US" altLang="zh-CN" sz="2000"/>
            </a:p>
          </p:txBody>
        </p:sp>
        <p:sp>
          <p:nvSpPr>
            <p:cNvPr id="30753" name="Line 33"/>
            <p:cNvSpPr>
              <a:spLocks noChangeShapeType="1"/>
            </p:cNvSpPr>
            <p:nvPr/>
          </p:nvSpPr>
          <p:spPr bwMode="auto">
            <a:xfrm>
              <a:off x="662" y="3128"/>
              <a:ext cx="4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4" name="Line 34"/>
            <p:cNvSpPr>
              <a:spLocks noChangeShapeType="1"/>
            </p:cNvSpPr>
            <p:nvPr/>
          </p:nvSpPr>
          <p:spPr bwMode="auto">
            <a:xfrm flipH="1">
              <a:off x="5451" y="3128"/>
              <a:ext cx="4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5" name="Rectangle 35"/>
            <p:cNvSpPr>
              <a:spLocks noChangeArrowheads="1"/>
            </p:cNvSpPr>
            <p:nvPr/>
          </p:nvSpPr>
          <p:spPr bwMode="auto">
            <a:xfrm>
              <a:off x="258" y="2991"/>
              <a:ext cx="33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</a:rPr>
                <a:t>-100</a:t>
              </a:r>
              <a:endParaRPr lang="en-US" altLang="zh-CN" sz="2000"/>
            </a:p>
          </p:txBody>
        </p:sp>
        <p:sp>
          <p:nvSpPr>
            <p:cNvPr id="30756" name="Line 36"/>
            <p:cNvSpPr>
              <a:spLocks noChangeShapeType="1"/>
            </p:cNvSpPr>
            <p:nvPr/>
          </p:nvSpPr>
          <p:spPr bwMode="auto">
            <a:xfrm>
              <a:off x="662" y="2589"/>
              <a:ext cx="42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7" name="Line 37"/>
            <p:cNvSpPr>
              <a:spLocks noChangeShapeType="1"/>
            </p:cNvSpPr>
            <p:nvPr/>
          </p:nvSpPr>
          <p:spPr bwMode="auto">
            <a:xfrm flipH="1">
              <a:off x="5451" y="2589"/>
              <a:ext cx="41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8" name="Rectangle 38"/>
            <p:cNvSpPr>
              <a:spLocks noChangeArrowheads="1"/>
            </p:cNvSpPr>
            <p:nvPr/>
          </p:nvSpPr>
          <p:spPr bwMode="auto">
            <a:xfrm>
              <a:off x="355" y="2454"/>
              <a:ext cx="26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</a:rPr>
                <a:t>-80</a:t>
              </a:r>
              <a:endParaRPr lang="en-US" altLang="zh-CN" sz="2000"/>
            </a:p>
          </p:txBody>
        </p:sp>
        <p:sp>
          <p:nvSpPr>
            <p:cNvPr id="30759" name="Line 39"/>
            <p:cNvSpPr>
              <a:spLocks noChangeShapeType="1"/>
            </p:cNvSpPr>
            <p:nvPr/>
          </p:nvSpPr>
          <p:spPr bwMode="auto">
            <a:xfrm>
              <a:off x="662" y="2033"/>
              <a:ext cx="4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0" name="Line 40"/>
            <p:cNvSpPr>
              <a:spLocks noChangeShapeType="1"/>
            </p:cNvSpPr>
            <p:nvPr/>
          </p:nvSpPr>
          <p:spPr bwMode="auto">
            <a:xfrm flipH="1">
              <a:off x="5451" y="2033"/>
              <a:ext cx="4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1" name="Rectangle 41"/>
            <p:cNvSpPr>
              <a:spLocks noChangeArrowheads="1"/>
            </p:cNvSpPr>
            <p:nvPr/>
          </p:nvSpPr>
          <p:spPr bwMode="auto">
            <a:xfrm>
              <a:off x="355" y="1898"/>
              <a:ext cx="26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</a:rPr>
                <a:t>-60</a:t>
              </a:r>
              <a:endParaRPr lang="en-US" altLang="zh-CN" sz="2000"/>
            </a:p>
          </p:txBody>
        </p:sp>
        <p:sp>
          <p:nvSpPr>
            <p:cNvPr id="30762" name="Line 42"/>
            <p:cNvSpPr>
              <a:spLocks noChangeShapeType="1"/>
            </p:cNvSpPr>
            <p:nvPr/>
          </p:nvSpPr>
          <p:spPr bwMode="auto">
            <a:xfrm>
              <a:off x="662" y="1492"/>
              <a:ext cx="42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3" name="Line 43"/>
            <p:cNvSpPr>
              <a:spLocks noChangeShapeType="1"/>
            </p:cNvSpPr>
            <p:nvPr/>
          </p:nvSpPr>
          <p:spPr bwMode="auto">
            <a:xfrm flipH="1">
              <a:off x="5451" y="1492"/>
              <a:ext cx="41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4" name="Rectangle 44"/>
            <p:cNvSpPr>
              <a:spLocks noChangeArrowheads="1"/>
            </p:cNvSpPr>
            <p:nvPr/>
          </p:nvSpPr>
          <p:spPr bwMode="auto">
            <a:xfrm>
              <a:off x="355" y="1359"/>
              <a:ext cx="26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</a:rPr>
                <a:t>-40</a:t>
              </a:r>
              <a:endParaRPr lang="en-US" altLang="zh-CN" sz="2000"/>
            </a:p>
          </p:txBody>
        </p:sp>
        <p:sp>
          <p:nvSpPr>
            <p:cNvPr id="30765" name="Line 45"/>
            <p:cNvSpPr>
              <a:spLocks noChangeShapeType="1"/>
            </p:cNvSpPr>
            <p:nvPr/>
          </p:nvSpPr>
          <p:spPr bwMode="auto">
            <a:xfrm>
              <a:off x="662" y="936"/>
              <a:ext cx="4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6" name="Line 46"/>
            <p:cNvSpPr>
              <a:spLocks noChangeShapeType="1"/>
            </p:cNvSpPr>
            <p:nvPr/>
          </p:nvSpPr>
          <p:spPr bwMode="auto">
            <a:xfrm flipH="1">
              <a:off x="5451" y="936"/>
              <a:ext cx="4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7" name="Rectangle 47"/>
            <p:cNvSpPr>
              <a:spLocks noChangeArrowheads="1"/>
            </p:cNvSpPr>
            <p:nvPr/>
          </p:nvSpPr>
          <p:spPr bwMode="auto">
            <a:xfrm>
              <a:off x="355" y="802"/>
              <a:ext cx="26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</a:rPr>
                <a:t>-20</a:t>
              </a:r>
              <a:endParaRPr lang="en-US" altLang="zh-CN" sz="2000"/>
            </a:p>
          </p:txBody>
        </p:sp>
        <p:sp>
          <p:nvSpPr>
            <p:cNvPr id="30768" name="Line 48"/>
            <p:cNvSpPr>
              <a:spLocks noChangeShapeType="1"/>
            </p:cNvSpPr>
            <p:nvPr/>
          </p:nvSpPr>
          <p:spPr bwMode="auto">
            <a:xfrm>
              <a:off x="662" y="397"/>
              <a:ext cx="42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9" name="Line 49"/>
            <p:cNvSpPr>
              <a:spLocks noChangeShapeType="1"/>
            </p:cNvSpPr>
            <p:nvPr/>
          </p:nvSpPr>
          <p:spPr bwMode="auto">
            <a:xfrm flipH="1">
              <a:off x="5451" y="397"/>
              <a:ext cx="41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0" name="Rectangle 50"/>
            <p:cNvSpPr>
              <a:spLocks noChangeArrowheads="1"/>
            </p:cNvSpPr>
            <p:nvPr/>
          </p:nvSpPr>
          <p:spPr bwMode="auto">
            <a:xfrm>
              <a:off x="509" y="262"/>
              <a:ext cx="9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</a:rPr>
                <a:t>0</a:t>
              </a:r>
              <a:endParaRPr lang="en-US" altLang="zh-CN" sz="2000"/>
            </a:p>
          </p:txBody>
        </p:sp>
        <p:sp>
          <p:nvSpPr>
            <p:cNvPr id="30771" name="Line 51"/>
            <p:cNvSpPr>
              <a:spLocks noChangeShapeType="1"/>
            </p:cNvSpPr>
            <p:nvPr/>
          </p:nvSpPr>
          <p:spPr bwMode="auto">
            <a:xfrm>
              <a:off x="662" y="3128"/>
              <a:ext cx="483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2" name="Line 52"/>
            <p:cNvSpPr>
              <a:spLocks noChangeShapeType="1"/>
            </p:cNvSpPr>
            <p:nvPr/>
          </p:nvSpPr>
          <p:spPr bwMode="auto">
            <a:xfrm>
              <a:off x="662" y="397"/>
              <a:ext cx="4830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3" name="Line 53"/>
            <p:cNvSpPr>
              <a:spLocks noChangeShapeType="1"/>
            </p:cNvSpPr>
            <p:nvPr/>
          </p:nvSpPr>
          <p:spPr bwMode="auto">
            <a:xfrm flipV="1">
              <a:off x="662" y="397"/>
              <a:ext cx="1" cy="27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4" name="Line 54"/>
            <p:cNvSpPr>
              <a:spLocks noChangeShapeType="1"/>
            </p:cNvSpPr>
            <p:nvPr/>
          </p:nvSpPr>
          <p:spPr bwMode="auto">
            <a:xfrm flipV="1">
              <a:off x="5492" y="397"/>
              <a:ext cx="1" cy="27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5" name="Freeform 55"/>
            <p:cNvSpPr>
              <a:spLocks/>
            </p:cNvSpPr>
            <p:nvPr/>
          </p:nvSpPr>
          <p:spPr bwMode="auto">
            <a:xfrm>
              <a:off x="662" y="397"/>
              <a:ext cx="4830" cy="2731"/>
            </a:xfrm>
            <a:custGeom>
              <a:avLst/>
              <a:gdLst>
                <a:gd name="T0" fmla="*/ 70 w 4022"/>
                <a:gd name="T1" fmla="*/ 0 h 1880"/>
                <a:gd name="T2" fmla="*/ 151 w 4022"/>
                <a:gd name="T3" fmla="*/ 0 h 1880"/>
                <a:gd name="T4" fmla="*/ 232 w 4022"/>
                <a:gd name="T5" fmla="*/ 0 h 1880"/>
                <a:gd name="T6" fmla="*/ 313 w 4022"/>
                <a:gd name="T7" fmla="*/ 0 h 1880"/>
                <a:gd name="T8" fmla="*/ 394 w 4022"/>
                <a:gd name="T9" fmla="*/ 0 h 1880"/>
                <a:gd name="T10" fmla="*/ 476 w 4022"/>
                <a:gd name="T11" fmla="*/ 0 h 1880"/>
                <a:gd name="T12" fmla="*/ 557 w 4022"/>
                <a:gd name="T13" fmla="*/ 0 h 1880"/>
                <a:gd name="T14" fmla="*/ 638 w 4022"/>
                <a:gd name="T15" fmla="*/ 0 h 1880"/>
                <a:gd name="T16" fmla="*/ 719 w 4022"/>
                <a:gd name="T17" fmla="*/ 0 h 1880"/>
                <a:gd name="T18" fmla="*/ 800 w 4022"/>
                <a:gd name="T19" fmla="*/ 0 h 1880"/>
                <a:gd name="T20" fmla="*/ 881 w 4022"/>
                <a:gd name="T21" fmla="*/ 0 h 1880"/>
                <a:gd name="T22" fmla="*/ 962 w 4022"/>
                <a:gd name="T23" fmla="*/ 0 h 1880"/>
                <a:gd name="T24" fmla="*/ 1043 w 4022"/>
                <a:gd name="T25" fmla="*/ 0 h 1880"/>
                <a:gd name="T26" fmla="*/ 1125 w 4022"/>
                <a:gd name="T27" fmla="*/ 0 h 1880"/>
                <a:gd name="T28" fmla="*/ 1206 w 4022"/>
                <a:gd name="T29" fmla="*/ 0 h 1880"/>
                <a:gd name="T30" fmla="*/ 1287 w 4022"/>
                <a:gd name="T31" fmla="*/ 0 h 1880"/>
                <a:gd name="T32" fmla="*/ 1368 w 4022"/>
                <a:gd name="T33" fmla="*/ 12 h 1880"/>
                <a:gd name="T34" fmla="*/ 1449 w 4022"/>
                <a:gd name="T35" fmla="*/ 12 h 1880"/>
                <a:gd name="T36" fmla="*/ 1530 w 4022"/>
                <a:gd name="T37" fmla="*/ 23 h 1880"/>
                <a:gd name="T38" fmla="*/ 1611 w 4022"/>
                <a:gd name="T39" fmla="*/ 58 h 1880"/>
                <a:gd name="T40" fmla="*/ 1693 w 4022"/>
                <a:gd name="T41" fmla="*/ 105 h 1880"/>
                <a:gd name="T42" fmla="*/ 1774 w 4022"/>
                <a:gd name="T43" fmla="*/ 186 h 1880"/>
                <a:gd name="T44" fmla="*/ 1832 w 4022"/>
                <a:gd name="T45" fmla="*/ 267 h 1880"/>
                <a:gd name="T46" fmla="*/ 1866 w 4022"/>
                <a:gd name="T47" fmla="*/ 348 h 1880"/>
                <a:gd name="T48" fmla="*/ 1901 w 4022"/>
                <a:gd name="T49" fmla="*/ 430 h 1880"/>
                <a:gd name="T50" fmla="*/ 1924 w 4022"/>
                <a:gd name="T51" fmla="*/ 522 h 1880"/>
                <a:gd name="T52" fmla="*/ 1948 w 4022"/>
                <a:gd name="T53" fmla="*/ 662 h 1880"/>
                <a:gd name="T54" fmla="*/ 1982 w 4022"/>
                <a:gd name="T55" fmla="*/ 894 h 1880"/>
                <a:gd name="T56" fmla="*/ 2006 w 4022"/>
                <a:gd name="T57" fmla="*/ 1880 h 1880"/>
                <a:gd name="T58" fmla="*/ 2040 w 4022"/>
                <a:gd name="T59" fmla="*/ 871 h 1880"/>
                <a:gd name="T60" fmla="*/ 2063 w 4022"/>
                <a:gd name="T61" fmla="*/ 650 h 1880"/>
                <a:gd name="T62" fmla="*/ 2098 w 4022"/>
                <a:gd name="T63" fmla="*/ 522 h 1880"/>
                <a:gd name="T64" fmla="*/ 2121 w 4022"/>
                <a:gd name="T65" fmla="*/ 430 h 1880"/>
                <a:gd name="T66" fmla="*/ 2156 w 4022"/>
                <a:gd name="T67" fmla="*/ 348 h 1880"/>
                <a:gd name="T68" fmla="*/ 2203 w 4022"/>
                <a:gd name="T69" fmla="*/ 267 h 1880"/>
                <a:gd name="T70" fmla="*/ 2272 w 4022"/>
                <a:gd name="T71" fmla="*/ 186 h 1880"/>
                <a:gd name="T72" fmla="*/ 2353 w 4022"/>
                <a:gd name="T73" fmla="*/ 105 h 1880"/>
                <a:gd name="T74" fmla="*/ 2434 w 4022"/>
                <a:gd name="T75" fmla="*/ 70 h 1880"/>
                <a:gd name="T76" fmla="*/ 2516 w 4022"/>
                <a:gd name="T77" fmla="*/ 47 h 1880"/>
                <a:gd name="T78" fmla="*/ 2597 w 4022"/>
                <a:gd name="T79" fmla="*/ 23 h 1880"/>
                <a:gd name="T80" fmla="*/ 2678 w 4022"/>
                <a:gd name="T81" fmla="*/ 12 h 1880"/>
                <a:gd name="T82" fmla="*/ 2759 w 4022"/>
                <a:gd name="T83" fmla="*/ 12 h 1880"/>
                <a:gd name="T84" fmla="*/ 2840 w 4022"/>
                <a:gd name="T85" fmla="*/ 12 h 1880"/>
                <a:gd name="T86" fmla="*/ 2921 w 4022"/>
                <a:gd name="T87" fmla="*/ 12 h 1880"/>
                <a:gd name="T88" fmla="*/ 3002 w 4022"/>
                <a:gd name="T89" fmla="*/ 0 h 1880"/>
                <a:gd name="T90" fmla="*/ 3083 w 4022"/>
                <a:gd name="T91" fmla="*/ 0 h 1880"/>
                <a:gd name="T92" fmla="*/ 3165 w 4022"/>
                <a:gd name="T93" fmla="*/ 0 h 1880"/>
                <a:gd name="T94" fmla="*/ 3246 w 4022"/>
                <a:gd name="T95" fmla="*/ 0 h 1880"/>
                <a:gd name="T96" fmla="*/ 3327 w 4022"/>
                <a:gd name="T97" fmla="*/ 0 h 1880"/>
                <a:gd name="T98" fmla="*/ 3408 w 4022"/>
                <a:gd name="T99" fmla="*/ 0 h 1880"/>
                <a:gd name="T100" fmla="*/ 3489 w 4022"/>
                <a:gd name="T101" fmla="*/ 0 h 1880"/>
                <a:gd name="T102" fmla="*/ 3570 w 4022"/>
                <a:gd name="T103" fmla="*/ 0 h 1880"/>
                <a:gd name="T104" fmla="*/ 3651 w 4022"/>
                <a:gd name="T105" fmla="*/ 0 h 1880"/>
                <a:gd name="T106" fmla="*/ 3733 w 4022"/>
                <a:gd name="T107" fmla="*/ 0 h 1880"/>
                <a:gd name="T108" fmla="*/ 3814 w 4022"/>
                <a:gd name="T109" fmla="*/ 0 h 1880"/>
                <a:gd name="T110" fmla="*/ 3895 w 4022"/>
                <a:gd name="T111" fmla="*/ 0 h 1880"/>
                <a:gd name="T112" fmla="*/ 3976 w 4022"/>
                <a:gd name="T113" fmla="*/ 0 h 1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022" h="1880">
                  <a:moveTo>
                    <a:pt x="0" y="0"/>
                  </a:moveTo>
                  <a:lnTo>
                    <a:pt x="12" y="0"/>
                  </a:lnTo>
                  <a:lnTo>
                    <a:pt x="23" y="0"/>
                  </a:lnTo>
                  <a:lnTo>
                    <a:pt x="35" y="0"/>
                  </a:lnTo>
                  <a:lnTo>
                    <a:pt x="47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81" y="0"/>
                  </a:lnTo>
                  <a:lnTo>
                    <a:pt x="93" y="0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28" y="0"/>
                  </a:lnTo>
                  <a:lnTo>
                    <a:pt x="139" y="0"/>
                  </a:lnTo>
                  <a:lnTo>
                    <a:pt x="151" y="0"/>
                  </a:lnTo>
                  <a:lnTo>
                    <a:pt x="163" y="0"/>
                  </a:lnTo>
                  <a:lnTo>
                    <a:pt x="174" y="0"/>
                  </a:lnTo>
                  <a:lnTo>
                    <a:pt x="186" y="0"/>
                  </a:lnTo>
                  <a:lnTo>
                    <a:pt x="197" y="0"/>
                  </a:lnTo>
                  <a:lnTo>
                    <a:pt x="209" y="0"/>
                  </a:lnTo>
                  <a:lnTo>
                    <a:pt x="221" y="0"/>
                  </a:lnTo>
                  <a:lnTo>
                    <a:pt x="232" y="0"/>
                  </a:lnTo>
                  <a:lnTo>
                    <a:pt x="244" y="0"/>
                  </a:lnTo>
                  <a:lnTo>
                    <a:pt x="255" y="0"/>
                  </a:lnTo>
                  <a:lnTo>
                    <a:pt x="267" y="0"/>
                  </a:lnTo>
                  <a:lnTo>
                    <a:pt x="278" y="0"/>
                  </a:lnTo>
                  <a:lnTo>
                    <a:pt x="290" y="0"/>
                  </a:lnTo>
                  <a:lnTo>
                    <a:pt x="302" y="0"/>
                  </a:lnTo>
                  <a:lnTo>
                    <a:pt x="313" y="0"/>
                  </a:lnTo>
                  <a:lnTo>
                    <a:pt x="325" y="0"/>
                  </a:lnTo>
                  <a:lnTo>
                    <a:pt x="336" y="0"/>
                  </a:lnTo>
                  <a:lnTo>
                    <a:pt x="348" y="0"/>
                  </a:lnTo>
                  <a:lnTo>
                    <a:pt x="360" y="0"/>
                  </a:lnTo>
                  <a:lnTo>
                    <a:pt x="371" y="0"/>
                  </a:lnTo>
                  <a:lnTo>
                    <a:pt x="383" y="0"/>
                  </a:lnTo>
                  <a:lnTo>
                    <a:pt x="394" y="0"/>
                  </a:lnTo>
                  <a:lnTo>
                    <a:pt x="406" y="0"/>
                  </a:lnTo>
                  <a:lnTo>
                    <a:pt x="418" y="0"/>
                  </a:lnTo>
                  <a:lnTo>
                    <a:pt x="429" y="0"/>
                  </a:lnTo>
                  <a:lnTo>
                    <a:pt x="441" y="0"/>
                  </a:lnTo>
                  <a:lnTo>
                    <a:pt x="452" y="0"/>
                  </a:lnTo>
                  <a:lnTo>
                    <a:pt x="464" y="0"/>
                  </a:lnTo>
                  <a:lnTo>
                    <a:pt x="476" y="0"/>
                  </a:lnTo>
                  <a:lnTo>
                    <a:pt x="487" y="0"/>
                  </a:lnTo>
                  <a:lnTo>
                    <a:pt x="499" y="0"/>
                  </a:lnTo>
                  <a:lnTo>
                    <a:pt x="510" y="0"/>
                  </a:lnTo>
                  <a:lnTo>
                    <a:pt x="522" y="0"/>
                  </a:lnTo>
                  <a:lnTo>
                    <a:pt x="533" y="0"/>
                  </a:lnTo>
                  <a:lnTo>
                    <a:pt x="545" y="0"/>
                  </a:lnTo>
                  <a:lnTo>
                    <a:pt x="557" y="0"/>
                  </a:lnTo>
                  <a:lnTo>
                    <a:pt x="568" y="0"/>
                  </a:lnTo>
                  <a:lnTo>
                    <a:pt x="580" y="0"/>
                  </a:lnTo>
                  <a:lnTo>
                    <a:pt x="591" y="0"/>
                  </a:lnTo>
                  <a:lnTo>
                    <a:pt x="603" y="0"/>
                  </a:lnTo>
                  <a:lnTo>
                    <a:pt x="615" y="0"/>
                  </a:lnTo>
                  <a:lnTo>
                    <a:pt x="626" y="0"/>
                  </a:lnTo>
                  <a:lnTo>
                    <a:pt x="638" y="0"/>
                  </a:lnTo>
                  <a:lnTo>
                    <a:pt x="649" y="0"/>
                  </a:lnTo>
                  <a:lnTo>
                    <a:pt x="661" y="0"/>
                  </a:lnTo>
                  <a:lnTo>
                    <a:pt x="673" y="0"/>
                  </a:lnTo>
                  <a:lnTo>
                    <a:pt x="684" y="0"/>
                  </a:lnTo>
                  <a:lnTo>
                    <a:pt x="696" y="0"/>
                  </a:lnTo>
                  <a:lnTo>
                    <a:pt x="707" y="0"/>
                  </a:lnTo>
                  <a:lnTo>
                    <a:pt x="719" y="0"/>
                  </a:lnTo>
                  <a:lnTo>
                    <a:pt x="731" y="0"/>
                  </a:lnTo>
                  <a:lnTo>
                    <a:pt x="742" y="0"/>
                  </a:lnTo>
                  <a:lnTo>
                    <a:pt x="754" y="0"/>
                  </a:lnTo>
                  <a:lnTo>
                    <a:pt x="765" y="0"/>
                  </a:lnTo>
                  <a:lnTo>
                    <a:pt x="777" y="0"/>
                  </a:lnTo>
                  <a:lnTo>
                    <a:pt x="788" y="0"/>
                  </a:lnTo>
                  <a:lnTo>
                    <a:pt x="800" y="0"/>
                  </a:lnTo>
                  <a:lnTo>
                    <a:pt x="812" y="0"/>
                  </a:lnTo>
                  <a:lnTo>
                    <a:pt x="823" y="0"/>
                  </a:lnTo>
                  <a:lnTo>
                    <a:pt x="835" y="0"/>
                  </a:lnTo>
                  <a:lnTo>
                    <a:pt x="846" y="0"/>
                  </a:lnTo>
                  <a:lnTo>
                    <a:pt x="858" y="0"/>
                  </a:lnTo>
                  <a:lnTo>
                    <a:pt x="870" y="0"/>
                  </a:lnTo>
                  <a:lnTo>
                    <a:pt x="881" y="0"/>
                  </a:lnTo>
                  <a:lnTo>
                    <a:pt x="893" y="0"/>
                  </a:lnTo>
                  <a:lnTo>
                    <a:pt x="904" y="0"/>
                  </a:lnTo>
                  <a:lnTo>
                    <a:pt x="916" y="0"/>
                  </a:lnTo>
                  <a:lnTo>
                    <a:pt x="928" y="0"/>
                  </a:lnTo>
                  <a:lnTo>
                    <a:pt x="939" y="0"/>
                  </a:lnTo>
                  <a:lnTo>
                    <a:pt x="951" y="0"/>
                  </a:lnTo>
                  <a:lnTo>
                    <a:pt x="962" y="0"/>
                  </a:lnTo>
                  <a:lnTo>
                    <a:pt x="974" y="0"/>
                  </a:lnTo>
                  <a:lnTo>
                    <a:pt x="986" y="0"/>
                  </a:lnTo>
                  <a:lnTo>
                    <a:pt x="997" y="0"/>
                  </a:lnTo>
                  <a:lnTo>
                    <a:pt x="1009" y="0"/>
                  </a:lnTo>
                  <a:lnTo>
                    <a:pt x="1020" y="0"/>
                  </a:lnTo>
                  <a:lnTo>
                    <a:pt x="1032" y="0"/>
                  </a:lnTo>
                  <a:lnTo>
                    <a:pt x="1043" y="0"/>
                  </a:lnTo>
                  <a:lnTo>
                    <a:pt x="1055" y="0"/>
                  </a:lnTo>
                  <a:lnTo>
                    <a:pt x="1067" y="0"/>
                  </a:lnTo>
                  <a:lnTo>
                    <a:pt x="1078" y="0"/>
                  </a:lnTo>
                  <a:lnTo>
                    <a:pt x="1090" y="0"/>
                  </a:lnTo>
                  <a:lnTo>
                    <a:pt x="1101" y="0"/>
                  </a:lnTo>
                  <a:lnTo>
                    <a:pt x="1113" y="0"/>
                  </a:lnTo>
                  <a:lnTo>
                    <a:pt x="1125" y="0"/>
                  </a:lnTo>
                  <a:lnTo>
                    <a:pt x="1136" y="0"/>
                  </a:lnTo>
                  <a:lnTo>
                    <a:pt x="1148" y="0"/>
                  </a:lnTo>
                  <a:lnTo>
                    <a:pt x="1159" y="0"/>
                  </a:lnTo>
                  <a:lnTo>
                    <a:pt x="1171" y="0"/>
                  </a:lnTo>
                  <a:lnTo>
                    <a:pt x="1183" y="0"/>
                  </a:lnTo>
                  <a:lnTo>
                    <a:pt x="1194" y="0"/>
                  </a:lnTo>
                  <a:lnTo>
                    <a:pt x="1206" y="0"/>
                  </a:lnTo>
                  <a:lnTo>
                    <a:pt x="1217" y="0"/>
                  </a:lnTo>
                  <a:lnTo>
                    <a:pt x="1229" y="0"/>
                  </a:lnTo>
                  <a:lnTo>
                    <a:pt x="1241" y="0"/>
                  </a:lnTo>
                  <a:lnTo>
                    <a:pt x="1252" y="0"/>
                  </a:lnTo>
                  <a:lnTo>
                    <a:pt x="1264" y="0"/>
                  </a:lnTo>
                  <a:lnTo>
                    <a:pt x="1275" y="0"/>
                  </a:lnTo>
                  <a:lnTo>
                    <a:pt x="1287" y="0"/>
                  </a:lnTo>
                  <a:lnTo>
                    <a:pt x="1298" y="0"/>
                  </a:lnTo>
                  <a:lnTo>
                    <a:pt x="1310" y="0"/>
                  </a:lnTo>
                  <a:lnTo>
                    <a:pt x="1322" y="12"/>
                  </a:lnTo>
                  <a:lnTo>
                    <a:pt x="1333" y="12"/>
                  </a:lnTo>
                  <a:lnTo>
                    <a:pt x="1345" y="12"/>
                  </a:lnTo>
                  <a:lnTo>
                    <a:pt x="1356" y="12"/>
                  </a:lnTo>
                  <a:lnTo>
                    <a:pt x="1368" y="12"/>
                  </a:lnTo>
                  <a:lnTo>
                    <a:pt x="1380" y="12"/>
                  </a:lnTo>
                  <a:lnTo>
                    <a:pt x="1391" y="12"/>
                  </a:lnTo>
                  <a:lnTo>
                    <a:pt x="1403" y="12"/>
                  </a:lnTo>
                  <a:lnTo>
                    <a:pt x="1414" y="12"/>
                  </a:lnTo>
                  <a:lnTo>
                    <a:pt x="1426" y="12"/>
                  </a:lnTo>
                  <a:lnTo>
                    <a:pt x="1438" y="12"/>
                  </a:lnTo>
                  <a:lnTo>
                    <a:pt x="1449" y="12"/>
                  </a:lnTo>
                  <a:lnTo>
                    <a:pt x="1461" y="12"/>
                  </a:lnTo>
                  <a:lnTo>
                    <a:pt x="1472" y="23"/>
                  </a:lnTo>
                  <a:lnTo>
                    <a:pt x="1484" y="23"/>
                  </a:lnTo>
                  <a:lnTo>
                    <a:pt x="1496" y="23"/>
                  </a:lnTo>
                  <a:lnTo>
                    <a:pt x="1507" y="23"/>
                  </a:lnTo>
                  <a:lnTo>
                    <a:pt x="1519" y="23"/>
                  </a:lnTo>
                  <a:lnTo>
                    <a:pt x="1530" y="23"/>
                  </a:lnTo>
                  <a:lnTo>
                    <a:pt x="1542" y="35"/>
                  </a:lnTo>
                  <a:lnTo>
                    <a:pt x="1553" y="35"/>
                  </a:lnTo>
                  <a:lnTo>
                    <a:pt x="1565" y="35"/>
                  </a:lnTo>
                  <a:lnTo>
                    <a:pt x="1577" y="47"/>
                  </a:lnTo>
                  <a:lnTo>
                    <a:pt x="1588" y="47"/>
                  </a:lnTo>
                  <a:lnTo>
                    <a:pt x="1600" y="47"/>
                  </a:lnTo>
                  <a:lnTo>
                    <a:pt x="1611" y="58"/>
                  </a:lnTo>
                  <a:lnTo>
                    <a:pt x="1623" y="58"/>
                  </a:lnTo>
                  <a:lnTo>
                    <a:pt x="1635" y="70"/>
                  </a:lnTo>
                  <a:lnTo>
                    <a:pt x="1646" y="70"/>
                  </a:lnTo>
                  <a:lnTo>
                    <a:pt x="1658" y="81"/>
                  </a:lnTo>
                  <a:lnTo>
                    <a:pt x="1669" y="93"/>
                  </a:lnTo>
                  <a:lnTo>
                    <a:pt x="1681" y="93"/>
                  </a:lnTo>
                  <a:lnTo>
                    <a:pt x="1693" y="105"/>
                  </a:lnTo>
                  <a:lnTo>
                    <a:pt x="1704" y="116"/>
                  </a:lnTo>
                  <a:lnTo>
                    <a:pt x="1716" y="128"/>
                  </a:lnTo>
                  <a:lnTo>
                    <a:pt x="1727" y="139"/>
                  </a:lnTo>
                  <a:lnTo>
                    <a:pt x="1739" y="151"/>
                  </a:lnTo>
                  <a:lnTo>
                    <a:pt x="1751" y="163"/>
                  </a:lnTo>
                  <a:lnTo>
                    <a:pt x="1762" y="174"/>
                  </a:lnTo>
                  <a:lnTo>
                    <a:pt x="1774" y="186"/>
                  </a:lnTo>
                  <a:lnTo>
                    <a:pt x="1785" y="197"/>
                  </a:lnTo>
                  <a:lnTo>
                    <a:pt x="1797" y="209"/>
                  </a:lnTo>
                  <a:lnTo>
                    <a:pt x="1797" y="221"/>
                  </a:lnTo>
                  <a:lnTo>
                    <a:pt x="1808" y="232"/>
                  </a:lnTo>
                  <a:lnTo>
                    <a:pt x="1808" y="244"/>
                  </a:lnTo>
                  <a:lnTo>
                    <a:pt x="1820" y="255"/>
                  </a:lnTo>
                  <a:lnTo>
                    <a:pt x="1832" y="267"/>
                  </a:lnTo>
                  <a:lnTo>
                    <a:pt x="1832" y="279"/>
                  </a:lnTo>
                  <a:lnTo>
                    <a:pt x="1843" y="290"/>
                  </a:lnTo>
                  <a:lnTo>
                    <a:pt x="1843" y="302"/>
                  </a:lnTo>
                  <a:lnTo>
                    <a:pt x="1855" y="313"/>
                  </a:lnTo>
                  <a:lnTo>
                    <a:pt x="1855" y="325"/>
                  </a:lnTo>
                  <a:lnTo>
                    <a:pt x="1855" y="337"/>
                  </a:lnTo>
                  <a:lnTo>
                    <a:pt x="1866" y="348"/>
                  </a:lnTo>
                  <a:lnTo>
                    <a:pt x="1878" y="360"/>
                  </a:lnTo>
                  <a:lnTo>
                    <a:pt x="1878" y="371"/>
                  </a:lnTo>
                  <a:lnTo>
                    <a:pt x="1878" y="383"/>
                  </a:lnTo>
                  <a:lnTo>
                    <a:pt x="1890" y="395"/>
                  </a:lnTo>
                  <a:lnTo>
                    <a:pt x="1890" y="406"/>
                  </a:lnTo>
                  <a:lnTo>
                    <a:pt x="1890" y="418"/>
                  </a:lnTo>
                  <a:lnTo>
                    <a:pt x="1901" y="430"/>
                  </a:lnTo>
                  <a:lnTo>
                    <a:pt x="1901" y="441"/>
                  </a:lnTo>
                  <a:lnTo>
                    <a:pt x="1901" y="453"/>
                  </a:lnTo>
                  <a:lnTo>
                    <a:pt x="1913" y="464"/>
                  </a:lnTo>
                  <a:lnTo>
                    <a:pt x="1913" y="476"/>
                  </a:lnTo>
                  <a:lnTo>
                    <a:pt x="1913" y="499"/>
                  </a:lnTo>
                  <a:lnTo>
                    <a:pt x="1924" y="511"/>
                  </a:lnTo>
                  <a:lnTo>
                    <a:pt x="1924" y="522"/>
                  </a:lnTo>
                  <a:lnTo>
                    <a:pt x="1924" y="546"/>
                  </a:lnTo>
                  <a:lnTo>
                    <a:pt x="1936" y="557"/>
                  </a:lnTo>
                  <a:lnTo>
                    <a:pt x="1936" y="580"/>
                  </a:lnTo>
                  <a:lnTo>
                    <a:pt x="1936" y="592"/>
                  </a:lnTo>
                  <a:lnTo>
                    <a:pt x="1948" y="615"/>
                  </a:lnTo>
                  <a:lnTo>
                    <a:pt x="1948" y="638"/>
                  </a:lnTo>
                  <a:lnTo>
                    <a:pt x="1948" y="662"/>
                  </a:lnTo>
                  <a:lnTo>
                    <a:pt x="1959" y="685"/>
                  </a:lnTo>
                  <a:lnTo>
                    <a:pt x="1959" y="720"/>
                  </a:lnTo>
                  <a:lnTo>
                    <a:pt x="1971" y="743"/>
                  </a:lnTo>
                  <a:lnTo>
                    <a:pt x="1971" y="778"/>
                  </a:lnTo>
                  <a:lnTo>
                    <a:pt x="1971" y="813"/>
                  </a:lnTo>
                  <a:lnTo>
                    <a:pt x="1982" y="847"/>
                  </a:lnTo>
                  <a:lnTo>
                    <a:pt x="1982" y="894"/>
                  </a:lnTo>
                  <a:lnTo>
                    <a:pt x="1982" y="952"/>
                  </a:lnTo>
                  <a:lnTo>
                    <a:pt x="1994" y="1021"/>
                  </a:lnTo>
                  <a:lnTo>
                    <a:pt x="1994" y="1091"/>
                  </a:lnTo>
                  <a:lnTo>
                    <a:pt x="1994" y="1196"/>
                  </a:lnTo>
                  <a:lnTo>
                    <a:pt x="2006" y="1358"/>
                  </a:lnTo>
                  <a:lnTo>
                    <a:pt x="2006" y="1648"/>
                  </a:lnTo>
                  <a:lnTo>
                    <a:pt x="2006" y="1880"/>
                  </a:lnTo>
                  <a:lnTo>
                    <a:pt x="2017" y="1428"/>
                  </a:lnTo>
                  <a:lnTo>
                    <a:pt x="2017" y="1242"/>
                  </a:lnTo>
                  <a:lnTo>
                    <a:pt x="2017" y="1126"/>
                  </a:lnTo>
                  <a:lnTo>
                    <a:pt x="2029" y="1045"/>
                  </a:lnTo>
                  <a:lnTo>
                    <a:pt x="2029" y="975"/>
                  </a:lnTo>
                  <a:lnTo>
                    <a:pt x="2029" y="917"/>
                  </a:lnTo>
                  <a:lnTo>
                    <a:pt x="2040" y="871"/>
                  </a:lnTo>
                  <a:lnTo>
                    <a:pt x="2040" y="824"/>
                  </a:lnTo>
                  <a:lnTo>
                    <a:pt x="2040" y="789"/>
                  </a:lnTo>
                  <a:lnTo>
                    <a:pt x="2052" y="754"/>
                  </a:lnTo>
                  <a:lnTo>
                    <a:pt x="2052" y="731"/>
                  </a:lnTo>
                  <a:lnTo>
                    <a:pt x="2052" y="708"/>
                  </a:lnTo>
                  <a:lnTo>
                    <a:pt x="2063" y="673"/>
                  </a:lnTo>
                  <a:lnTo>
                    <a:pt x="2063" y="650"/>
                  </a:lnTo>
                  <a:lnTo>
                    <a:pt x="2075" y="627"/>
                  </a:lnTo>
                  <a:lnTo>
                    <a:pt x="2075" y="615"/>
                  </a:lnTo>
                  <a:lnTo>
                    <a:pt x="2075" y="592"/>
                  </a:lnTo>
                  <a:lnTo>
                    <a:pt x="2087" y="580"/>
                  </a:lnTo>
                  <a:lnTo>
                    <a:pt x="2087" y="557"/>
                  </a:lnTo>
                  <a:lnTo>
                    <a:pt x="2087" y="546"/>
                  </a:lnTo>
                  <a:lnTo>
                    <a:pt x="2098" y="522"/>
                  </a:lnTo>
                  <a:lnTo>
                    <a:pt x="2098" y="511"/>
                  </a:lnTo>
                  <a:lnTo>
                    <a:pt x="2098" y="499"/>
                  </a:lnTo>
                  <a:lnTo>
                    <a:pt x="2110" y="488"/>
                  </a:lnTo>
                  <a:lnTo>
                    <a:pt x="2110" y="476"/>
                  </a:lnTo>
                  <a:lnTo>
                    <a:pt x="2110" y="464"/>
                  </a:lnTo>
                  <a:lnTo>
                    <a:pt x="2121" y="441"/>
                  </a:lnTo>
                  <a:lnTo>
                    <a:pt x="2121" y="430"/>
                  </a:lnTo>
                  <a:lnTo>
                    <a:pt x="2133" y="418"/>
                  </a:lnTo>
                  <a:lnTo>
                    <a:pt x="2133" y="406"/>
                  </a:lnTo>
                  <a:lnTo>
                    <a:pt x="2133" y="395"/>
                  </a:lnTo>
                  <a:lnTo>
                    <a:pt x="2145" y="383"/>
                  </a:lnTo>
                  <a:lnTo>
                    <a:pt x="2145" y="371"/>
                  </a:lnTo>
                  <a:lnTo>
                    <a:pt x="2156" y="360"/>
                  </a:lnTo>
                  <a:lnTo>
                    <a:pt x="2156" y="348"/>
                  </a:lnTo>
                  <a:lnTo>
                    <a:pt x="2168" y="337"/>
                  </a:lnTo>
                  <a:lnTo>
                    <a:pt x="2168" y="325"/>
                  </a:lnTo>
                  <a:lnTo>
                    <a:pt x="2179" y="313"/>
                  </a:lnTo>
                  <a:lnTo>
                    <a:pt x="2179" y="302"/>
                  </a:lnTo>
                  <a:lnTo>
                    <a:pt x="2191" y="290"/>
                  </a:lnTo>
                  <a:lnTo>
                    <a:pt x="2203" y="279"/>
                  </a:lnTo>
                  <a:lnTo>
                    <a:pt x="2203" y="267"/>
                  </a:lnTo>
                  <a:lnTo>
                    <a:pt x="2214" y="255"/>
                  </a:lnTo>
                  <a:lnTo>
                    <a:pt x="2226" y="244"/>
                  </a:lnTo>
                  <a:lnTo>
                    <a:pt x="2226" y="232"/>
                  </a:lnTo>
                  <a:lnTo>
                    <a:pt x="2237" y="221"/>
                  </a:lnTo>
                  <a:lnTo>
                    <a:pt x="2249" y="209"/>
                  </a:lnTo>
                  <a:lnTo>
                    <a:pt x="2261" y="197"/>
                  </a:lnTo>
                  <a:lnTo>
                    <a:pt x="2272" y="186"/>
                  </a:lnTo>
                  <a:lnTo>
                    <a:pt x="2284" y="174"/>
                  </a:lnTo>
                  <a:lnTo>
                    <a:pt x="2295" y="163"/>
                  </a:lnTo>
                  <a:lnTo>
                    <a:pt x="2307" y="151"/>
                  </a:lnTo>
                  <a:lnTo>
                    <a:pt x="2318" y="139"/>
                  </a:lnTo>
                  <a:lnTo>
                    <a:pt x="2330" y="128"/>
                  </a:lnTo>
                  <a:lnTo>
                    <a:pt x="2342" y="116"/>
                  </a:lnTo>
                  <a:lnTo>
                    <a:pt x="2353" y="105"/>
                  </a:lnTo>
                  <a:lnTo>
                    <a:pt x="2365" y="105"/>
                  </a:lnTo>
                  <a:lnTo>
                    <a:pt x="2376" y="93"/>
                  </a:lnTo>
                  <a:lnTo>
                    <a:pt x="2388" y="93"/>
                  </a:lnTo>
                  <a:lnTo>
                    <a:pt x="2400" y="81"/>
                  </a:lnTo>
                  <a:lnTo>
                    <a:pt x="2411" y="70"/>
                  </a:lnTo>
                  <a:lnTo>
                    <a:pt x="2423" y="70"/>
                  </a:lnTo>
                  <a:lnTo>
                    <a:pt x="2434" y="70"/>
                  </a:lnTo>
                  <a:lnTo>
                    <a:pt x="2446" y="58"/>
                  </a:lnTo>
                  <a:lnTo>
                    <a:pt x="2458" y="58"/>
                  </a:lnTo>
                  <a:lnTo>
                    <a:pt x="2469" y="58"/>
                  </a:lnTo>
                  <a:lnTo>
                    <a:pt x="2481" y="47"/>
                  </a:lnTo>
                  <a:lnTo>
                    <a:pt x="2492" y="47"/>
                  </a:lnTo>
                  <a:lnTo>
                    <a:pt x="2504" y="47"/>
                  </a:lnTo>
                  <a:lnTo>
                    <a:pt x="2516" y="47"/>
                  </a:lnTo>
                  <a:lnTo>
                    <a:pt x="2527" y="35"/>
                  </a:lnTo>
                  <a:lnTo>
                    <a:pt x="2539" y="35"/>
                  </a:lnTo>
                  <a:lnTo>
                    <a:pt x="2550" y="35"/>
                  </a:lnTo>
                  <a:lnTo>
                    <a:pt x="2562" y="35"/>
                  </a:lnTo>
                  <a:lnTo>
                    <a:pt x="2573" y="35"/>
                  </a:lnTo>
                  <a:lnTo>
                    <a:pt x="2585" y="23"/>
                  </a:lnTo>
                  <a:lnTo>
                    <a:pt x="2597" y="23"/>
                  </a:lnTo>
                  <a:lnTo>
                    <a:pt x="2608" y="23"/>
                  </a:lnTo>
                  <a:lnTo>
                    <a:pt x="2620" y="23"/>
                  </a:lnTo>
                  <a:lnTo>
                    <a:pt x="2631" y="23"/>
                  </a:lnTo>
                  <a:lnTo>
                    <a:pt x="2643" y="23"/>
                  </a:lnTo>
                  <a:lnTo>
                    <a:pt x="2655" y="23"/>
                  </a:lnTo>
                  <a:lnTo>
                    <a:pt x="2666" y="23"/>
                  </a:lnTo>
                  <a:lnTo>
                    <a:pt x="2678" y="12"/>
                  </a:lnTo>
                  <a:lnTo>
                    <a:pt x="2689" y="12"/>
                  </a:lnTo>
                  <a:lnTo>
                    <a:pt x="2701" y="12"/>
                  </a:lnTo>
                  <a:lnTo>
                    <a:pt x="2713" y="12"/>
                  </a:lnTo>
                  <a:lnTo>
                    <a:pt x="2724" y="12"/>
                  </a:lnTo>
                  <a:lnTo>
                    <a:pt x="2736" y="12"/>
                  </a:lnTo>
                  <a:lnTo>
                    <a:pt x="2747" y="12"/>
                  </a:lnTo>
                  <a:lnTo>
                    <a:pt x="2759" y="12"/>
                  </a:lnTo>
                  <a:lnTo>
                    <a:pt x="2771" y="12"/>
                  </a:lnTo>
                  <a:lnTo>
                    <a:pt x="2782" y="12"/>
                  </a:lnTo>
                  <a:lnTo>
                    <a:pt x="2794" y="12"/>
                  </a:lnTo>
                  <a:lnTo>
                    <a:pt x="2805" y="12"/>
                  </a:lnTo>
                  <a:lnTo>
                    <a:pt x="2817" y="12"/>
                  </a:lnTo>
                  <a:lnTo>
                    <a:pt x="2828" y="12"/>
                  </a:lnTo>
                  <a:lnTo>
                    <a:pt x="2840" y="12"/>
                  </a:lnTo>
                  <a:lnTo>
                    <a:pt x="2852" y="12"/>
                  </a:lnTo>
                  <a:lnTo>
                    <a:pt x="2863" y="12"/>
                  </a:lnTo>
                  <a:lnTo>
                    <a:pt x="2875" y="12"/>
                  </a:lnTo>
                  <a:lnTo>
                    <a:pt x="2886" y="12"/>
                  </a:lnTo>
                  <a:lnTo>
                    <a:pt x="2898" y="12"/>
                  </a:lnTo>
                  <a:lnTo>
                    <a:pt x="2910" y="12"/>
                  </a:lnTo>
                  <a:lnTo>
                    <a:pt x="2921" y="12"/>
                  </a:lnTo>
                  <a:lnTo>
                    <a:pt x="2933" y="12"/>
                  </a:lnTo>
                  <a:lnTo>
                    <a:pt x="2944" y="0"/>
                  </a:lnTo>
                  <a:lnTo>
                    <a:pt x="2956" y="0"/>
                  </a:lnTo>
                  <a:lnTo>
                    <a:pt x="2968" y="0"/>
                  </a:lnTo>
                  <a:lnTo>
                    <a:pt x="2979" y="0"/>
                  </a:lnTo>
                  <a:lnTo>
                    <a:pt x="2991" y="0"/>
                  </a:lnTo>
                  <a:lnTo>
                    <a:pt x="3002" y="0"/>
                  </a:lnTo>
                  <a:lnTo>
                    <a:pt x="3014" y="0"/>
                  </a:lnTo>
                  <a:lnTo>
                    <a:pt x="3026" y="0"/>
                  </a:lnTo>
                  <a:lnTo>
                    <a:pt x="3037" y="0"/>
                  </a:lnTo>
                  <a:lnTo>
                    <a:pt x="3049" y="0"/>
                  </a:lnTo>
                  <a:lnTo>
                    <a:pt x="3060" y="0"/>
                  </a:lnTo>
                  <a:lnTo>
                    <a:pt x="3072" y="0"/>
                  </a:lnTo>
                  <a:lnTo>
                    <a:pt x="3083" y="0"/>
                  </a:lnTo>
                  <a:lnTo>
                    <a:pt x="3095" y="0"/>
                  </a:lnTo>
                  <a:lnTo>
                    <a:pt x="3107" y="0"/>
                  </a:lnTo>
                  <a:lnTo>
                    <a:pt x="3118" y="0"/>
                  </a:lnTo>
                  <a:lnTo>
                    <a:pt x="3130" y="0"/>
                  </a:lnTo>
                  <a:lnTo>
                    <a:pt x="3141" y="0"/>
                  </a:lnTo>
                  <a:lnTo>
                    <a:pt x="3153" y="0"/>
                  </a:lnTo>
                  <a:lnTo>
                    <a:pt x="3165" y="0"/>
                  </a:lnTo>
                  <a:lnTo>
                    <a:pt x="3176" y="0"/>
                  </a:lnTo>
                  <a:lnTo>
                    <a:pt x="3188" y="0"/>
                  </a:lnTo>
                  <a:lnTo>
                    <a:pt x="3199" y="0"/>
                  </a:lnTo>
                  <a:lnTo>
                    <a:pt x="3211" y="0"/>
                  </a:lnTo>
                  <a:lnTo>
                    <a:pt x="3223" y="0"/>
                  </a:lnTo>
                  <a:lnTo>
                    <a:pt x="3234" y="0"/>
                  </a:lnTo>
                  <a:lnTo>
                    <a:pt x="3246" y="0"/>
                  </a:lnTo>
                  <a:lnTo>
                    <a:pt x="3257" y="0"/>
                  </a:lnTo>
                  <a:lnTo>
                    <a:pt x="3269" y="0"/>
                  </a:lnTo>
                  <a:lnTo>
                    <a:pt x="3281" y="0"/>
                  </a:lnTo>
                  <a:lnTo>
                    <a:pt x="3292" y="0"/>
                  </a:lnTo>
                  <a:lnTo>
                    <a:pt x="3304" y="0"/>
                  </a:lnTo>
                  <a:lnTo>
                    <a:pt x="3315" y="0"/>
                  </a:lnTo>
                  <a:lnTo>
                    <a:pt x="3327" y="0"/>
                  </a:lnTo>
                  <a:lnTo>
                    <a:pt x="3338" y="0"/>
                  </a:lnTo>
                  <a:lnTo>
                    <a:pt x="3350" y="0"/>
                  </a:lnTo>
                  <a:lnTo>
                    <a:pt x="3362" y="0"/>
                  </a:lnTo>
                  <a:lnTo>
                    <a:pt x="3373" y="0"/>
                  </a:lnTo>
                  <a:lnTo>
                    <a:pt x="3385" y="0"/>
                  </a:lnTo>
                  <a:lnTo>
                    <a:pt x="3396" y="0"/>
                  </a:lnTo>
                  <a:lnTo>
                    <a:pt x="3408" y="0"/>
                  </a:lnTo>
                  <a:lnTo>
                    <a:pt x="3420" y="0"/>
                  </a:lnTo>
                  <a:lnTo>
                    <a:pt x="3431" y="0"/>
                  </a:lnTo>
                  <a:lnTo>
                    <a:pt x="3443" y="0"/>
                  </a:lnTo>
                  <a:lnTo>
                    <a:pt x="3454" y="0"/>
                  </a:lnTo>
                  <a:lnTo>
                    <a:pt x="3466" y="0"/>
                  </a:lnTo>
                  <a:lnTo>
                    <a:pt x="3478" y="0"/>
                  </a:lnTo>
                  <a:lnTo>
                    <a:pt x="3489" y="0"/>
                  </a:lnTo>
                  <a:lnTo>
                    <a:pt x="3501" y="0"/>
                  </a:lnTo>
                  <a:lnTo>
                    <a:pt x="3512" y="0"/>
                  </a:lnTo>
                  <a:lnTo>
                    <a:pt x="3524" y="0"/>
                  </a:lnTo>
                  <a:lnTo>
                    <a:pt x="3536" y="0"/>
                  </a:lnTo>
                  <a:lnTo>
                    <a:pt x="3547" y="0"/>
                  </a:lnTo>
                  <a:lnTo>
                    <a:pt x="3559" y="0"/>
                  </a:lnTo>
                  <a:lnTo>
                    <a:pt x="3570" y="0"/>
                  </a:lnTo>
                  <a:lnTo>
                    <a:pt x="3582" y="0"/>
                  </a:lnTo>
                  <a:lnTo>
                    <a:pt x="3593" y="0"/>
                  </a:lnTo>
                  <a:lnTo>
                    <a:pt x="3605" y="0"/>
                  </a:lnTo>
                  <a:lnTo>
                    <a:pt x="3617" y="0"/>
                  </a:lnTo>
                  <a:lnTo>
                    <a:pt x="3628" y="0"/>
                  </a:lnTo>
                  <a:lnTo>
                    <a:pt x="3640" y="0"/>
                  </a:lnTo>
                  <a:lnTo>
                    <a:pt x="3651" y="0"/>
                  </a:lnTo>
                  <a:lnTo>
                    <a:pt x="3663" y="0"/>
                  </a:lnTo>
                  <a:lnTo>
                    <a:pt x="3675" y="0"/>
                  </a:lnTo>
                  <a:lnTo>
                    <a:pt x="3686" y="0"/>
                  </a:lnTo>
                  <a:lnTo>
                    <a:pt x="3698" y="0"/>
                  </a:lnTo>
                  <a:lnTo>
                    <a:pt x="3709" y="0"/>
                  </a:lnTo>
                  <a:lnTo>
                    <a:pt x="3721" y="0"/>
                  </a:lnTo>
                  <a:lnTo>
                    <a:pt x="3733" y="0"/>
                  </a:lnTo>
                  <a:lnTo>
                    <a:pt x="3744" y="0"/>
                  </a:lnTo>
                  <a:lnTo>
                    <a:pt x="3756" y="0"/>
                  </a:lnTo>
                  <a:lnTo>
                    <a:pt x="3767" y="0"/>
                  </a:lnTo>
                  <a:lnTo>
                    <a:pt x="3779" y="0"/>
                  </a:lnTo>
                  <a:lnTo>
                    <a:pt x="3791" y="0"/>
                  </a:lnTo>
                  <a:lnTo>
                    <a:pt x="3802" y="0"/>
                  </a:lnTo>
                  <a:lnTo>
                    <a:pt x="3814" y="0"/>
                  </a:lnTo>
                  <a:lnTo>
                    <a:pt x="3825" y="0"/>
                  </a:lnTo>
                  <a:lnTo>
                    <a:pt x="3837" y="0"/>
                  </a:lnTo>
                  <a:lnTo>
                    <a:pt x="3848" y="0"/>
                  </a:lnTo>
                  <a:lnTo>
                    <a:pt x="3860" y="0"/>
                  </a:lnTo>
                  <a:lnTo>
                    <a:pt x="3872" y="0"/>
                  </a:lnTo>
                  <a:lnTo>
                    <a:pt x="3883" y="0"/>
                  </a:lnTo>
                  <a:lnTo>
                    <a:pt x="3895" y="0"/>
                  </a:lnTo>
                  <a:lnTo>
                    <a:pt x="3906" y="0"/>
                  </a:lnTo>
                  <a:lnTo>
                    <a:pt x="3918" y="0"/>
                  </a:lnTo>
                  <a:lnTo>
                    <a:pt x="3930" y="0"/>
                  </a:lnTo>
                  <a:lnTo>
                    <a:pt x="3941" y="0"/>
                  </a:lnTo>
                  <a:lnTo>
                    <a:pt x="3953" y="0"/>
                  </a:lnTo>
                  <a:lnTo>
                    <a:pt x="3964" y="0"/>
                  </a:lnTo>
                  <a:lnTo>
                    <a:pt x="3976" y="0"/>
                  </a:lnTo>
                  <a:lnTo>
                    <a:pt x="3988" y="0"/>
                  </a:lnTo>
                  <a:lnTo>
                    <a:pt x="3999" y="0"/>
                  </a:lnTo>
                  <a:lnTo>
                    <a:pt x="4011" y="0"/>
                  </a:lnTo>
                  <a:lnTo>
                    <a:pt x="4022" y="0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76" name="Rectangle 56"/>
          <p:cNvSpPr>
            <a:spLocks noChangeArrowheads="1"/>
          </p:cNvSpPr>
          <p:nvPr/>
        </p:nvSpPr>
        <p:spPr bwMode="auto">
          <a:xfrm>
            <a:off x="1981200" y="76200"/>
            <a:ext cx="8382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例</a:t>
            </a:r>
            <a:r>
              <a:rPr lang="en-US" altLang="zh-CN" sz="2800" b="1"/>
              <a:t>3</a:t>
            </a:r>
            <a:r>
              <a:rPr lang="zh-CN" altLang="en-US" sz="2800" b="1"/>
              <a:t>：</a:t>
            </a:r>
            <a:r>
              <a:rPr lang="zh-CN" altLang="en-US" sz="2800"/>
              <a:t>试设计一个满足下列指标的</a:t>
            </a:r>
            <a:r>
              <a:rPr lang="en-US" altLang="zh-CN" sz="2800"/>
              <a:t>BW</a:t>
            </a:r>
            <a:r>
              <a:rPr lang="zh-CN" altLang="en-US" sz="2800"/>
              <a:t>型带阻滤波器</a:t>
            </a:r>
            <a:br>
              <a:rPr lang="zh-CN" altLang="en-US" sz="2800"/>
            </a:br>
            <a:r>
              <a:rPr lang="zh-CN" altLang="en-US" sz="2800"/>
              <a:t>        </a:t>
            </a:r>
            <a:r>
              <a:rPr lang="en-US" altLang="zh-CN" sz="2800" i="1"/>
              <a:t>A</a:t>
            </a:r>
            <a:r>
              <a:rPr lang="en-US" altLang="zh-CN" sz="2800" baseline="-25000"/>
              <a:t>p</a:t>
            </a:r>
            <a:r>
              <a:rPr lang="en-US" altLang="zh-CN" sz="2800"/>
              <a:t>=1dB;</a:t>
            </a:r>
            <a:r>
              <a:rPr lang="en-US" altLang="zh-CN" sz="2800" i="1"/>
              <a:t>A</a:t>
            </a:r>
            <a:r>
              <a:rPr lang="en-US" altLang="zh-CN" sz="2800" baseline="-25000"/>
              <a:t>s</a:t>
            </a:r>
            <a:r>
              <a:rPr lang="en-US" altLang="zh-CN" sz="2800"/>
              <a:t>=20dB;</a:t>
            </a:r>
            <a:r>
              <a:rPr lang="en-US" altLang="zh-CN" sz="2800" i="1">
                <a:latin typeface="Symbol" panose="05050102010706020507" pitchFamily="18" charset="2"/>
              </a:rPr>
              <a:t>w</a:t>
            </a:r>
            <a:r>
              <a:rPr lang="en-US" altLang="zh-CN" sz="2800" baseline="-25000"/>
              <a:t>p1</a:t>
            </a:r>
            <a:r>
              <a:rPr lang="en-US" altLang="zh-CN" sz="2800"/>
              <a:t>=10;</a:t>
            </a:r>
            <a:r>
              <a:rPr lang="en-US" altLang="zh-CN" sz="2800" i="1">
                <a:latin typeface="Symbol" panose="05050102010706020507" pitchFamily="18" charset="2"/>
              </a:rPr>
              <a:t>w</a:t>
            </a:r>
            <a:r>
              <a:rPr lang="en-US" altLang="zh-CN" sz="2800" baseline="-25000"/>
              <a:t>p2</a:t>
            </a:r>
            <a:r>
              <a:rPr lang="en-US" altLang="zh-CN" sz="2800"/>
              <a:t>=30;</a:t>
            </a:r>
            <a:r>
              <a:rPr lang="en-US" altLang="zh-CN" sz="2800" i="1">
                <a:latin typeface="Symbol" panose="05050102010706020507" pitchFamily="18" charset="2"/>
              </a:rPr>
              <a:t>w</a:t>
            </a:r>
            <a:r>
              <a:rPr lang="en-US" altLang="zh-CN" sz="2800" baseline="-25000"/>
              <a:t>s1</a:t>
            </a:r>
            <a:r>
              <a:rPr lang="en-US" altLang="zh-CN" sz="2800"/>
              <a:t>=19;</a:t>
            </a:r>
            <a:r>
              <a:rPr lang="en-US" altLang="zh-CN" sz="2800" i="1">
                <a:latin typeface="Symbol" panose="05050102010706020507" pitchFamily="18" charset="2"/>
              </a:rPr>
              <a:t>w</a:t>
            </a:r>
            <a:r>
              <a:rPr lang="en-US" altLang="zh-CN" sz="2800" baseline="-25000"/>
              <a:t>s2</a:t>
            </a:r>
            <a:r>
              <a:rPr lang="en-US" altLang="zh-CN" sz="2800"/>
              <a:t>=21</a:t>
            </a:r>
            <a:r>
              <a:rPr lang="zh-CN" altLang="en-US" sz="2800"/>
              <a:t>。</a:t>
            </a:r>
          </a:p>
        </p:txBody>
      </p:sp>
      <p:sp>
        <p:nvSpPr>
          <p:cNvPr id="30777" name="Rectangle 57"/>
          <p:cNvSpPr>
            <a:spLocks noChangeArrowheads="1"/>
          </p:cNvSpPr>
          <p:nvPr/>
        </p:nvSpPr>
        <p:spPr bwMode="auto">
          <a:xfrm>
            <a:off x="1676400" y="12954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24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6.4  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</a:rPr>
              <a:t>脉冲响应不变法设计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IIR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</a:rPr>
              <a:t>数字滤波器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4029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75F12D3-8256-40B8-A765-17BA49D19320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0292" name="Text Box 5"/>
          <p:cNvSpPr txBox="1">
            <a:spLocks noChangeArrowheads="1"/>
          </p:cNvSpPr>
          <p:nvPr/>
        </p:nvSpPr>
        <p:spPr bwMode="auto">
          <a:xfrm>
            <a:off x="1752600" y="1524000"/>
            <a:ext cx="8686800" cy="13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ts val="2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变换原理</a:t>
            </a:r>
          </a:p>
          <a:p>
            <a:pPr algn="just"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模拟滤波器的冲激响应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进行等间隔采样，使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正好等于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的采样值，满足 </a:t>
            </a:r>
          </a:p>
        </p:txBody>
      </p:sp>
      <p:sp>
        <p:nvSpPr>
          <p:cNvPr id="140293" name="Text Box 6"/>
          <p:cNvSpPr txBox="1">
            <a:spLocks noChangeArrowheads="1"/>
          </p:cNvSpPr>
          <p:nvPr/>
        </p:nvSpPr>
        <p:spPr bwMode="auto">
          <a:xfrm>
            <a:off x="4953000" y="2895601"/>
            <a:ext cx="18224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)=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nT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</p:txBody>
      </p:sp>
      <p:sp>
        <p:nvSpPr>
          <p:cNvPr id="140294" name="Text Box 8"/>
          <p:cNvSpPr txBox="1">
            <a:spLocks noChangeArrowheads="1"/>
          </p:cNvSpPr>
          <p:nvPr/>
        </p:nvSpPr>
        <p:spPr bwMode="auto">
          <a:xfrm>
            <a:off x="1820864" y="3352800"/>
            <a:ext cx="259873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式中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是采样周期。 </a:t>
            </a:r>
          </a:p>
        </p:txBody>
      </p:sp>
      <p:pic>
        <p:nvPicPr>
          <p:cNvPr id="140295" name="Picture 7" descr="5-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24250"/>
            <a:ext cx="5715000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296" name="矩形 1"/>
          <p:cNvSpPr>
            <a:spLocks noChangeArrowheads="1"/>
          </p:cNvSpPr>
          <p:nvPr/>
        </p:nvSpPr>
        <p:spPr bwMode="auto">
          <a:xfrm>
            <a:off x="2895600" y="5029201"/>
            <a:ext cx="820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=e</a:t>
            </a:r>
            <a:r>
              <a:rPr lang="en-US" altLang="zh-CN" sz="24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34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混叠失真</a:t>
            </a:r>
          </a:p>
        </p:txBody>
      </p:sp>
      <p:sp>
        <p:nvSpPr>
          <p:cNvPr id="14131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C29E9C98-CF3F-40C5-B449-75AD9E1EF783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41316" name="对象 1"/>
          <p:cNvGraphicFramePr>
            <a:graphicFrameLocks noChangeAspect="1"/>
          </p:cNvGraphicFramePr>
          <p:nvPr/>
        </p:nvGraphicFramePr>
        <p:xfrm>
          <a:off x="4137025" y="1676400"/>
          <a:ext cx="384175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5" name="Equation" r:id="rId4" imgW="1943100" imgH="431800" progId="Equation.3">
                  <p:embed/>
                </p:oleObj>
              </mc:Choice>
              <mc:Fallback>
                <p:oleObj name="Equation" r:id="rId4" imgW="1943100" imgH="431800" progId="Equation.3">
                  <p:embed/>
                  <p:pic>
                    <p:nvPicPr>
                      <p:cNvPr id="141316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7025" y="1676400"/>
                        <a:ext cx="3841750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1317" name="Picture 7" descr="5-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828926"/>
            <a:ext cx="4724400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175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标题 1"/>
          <p:cNvSpPr>
            <a:spLocks noGrp="1"/>
          </p:cNvSpPr>
          <p:nvPr>
            <p:ph type="title"/>
          </p:nvPr>
        </p:nvSpPr>
        <p:spPr>
          <a:xfrm>
            <a:off x="2819400" y="304800"/>
            <a:ext cx="7239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模拟滤波器的数字化方法</a:t>
            </a:r>
          </a:p>
        </p:txBody>
      </p:sp>
      <p:sp>
        <p:nvSpPr>
          <p:cNvPr id="14233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0FAE950-CAD8-4FF0-A186-8968BD5F297D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1968500" y="1068388"/>
            <a:ext cx="8231188" cy="223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endParaRPr kumimoji="1" lang="en-US" altLang="zh-CN" sz="2400" i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        H</a:t>
            </a:r>
            <a:r>
              <a:rPr kumimoji="1"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      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       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)=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nT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    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 设模拟滤波器的系统函数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只有单阶极点，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因此可将 </a:t>
            </a:r>
          </a:p>
        </p:txBody>
      </p:sp>
      <p:graphicFrame>
        <p:nvGraphicFramePr>
          <p:cNvPr id="142341" name="Object 5"/>
          <p:cNvGraphicFramePr>
            <a:graphicFrameLocks noChangeAspect="1"/>
          </p:cNvGraphicFramePr>
          <p:nvPr/>
        </p:nvGraphicFramePr>
        <p:xfrm>
          <a:off x="3124200" y="3124200"/>
          <a:ext cx="179863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0" name="Equation" r:id="rId3" imgW="1104900" imgH="444500" progId="Equation.3">
                  <p:embed/>
                </p:oleObj>
              </mc:Choice>
              <mc:Fallback>
                <p:oleObj name="Equation" r:id="rId3" imgW="1104900" imgH="444500" progId="Equation.3">
                  <p:embed/>
                  <p:pic>
                    <p:nvPicPr>
                      <p:cNvPr id="1423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124200"/>
                        <a:ext cx="1798638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2" name="右箭头 3"/>
          <p:cNvSpPr>
            <a:spLocks noChangeArrowheads="1"/>
          </p:cNvSpPr>
          <p:nvPr/>
        </p:nvSpPr>
        <p:spPr bwMode="auto">
          <a:xfrm>
            <a:off x="3157538" y="1905001"/>
            <a:ext cx="349250" cy="144463"/>
          </a:xfrm>
          <a:prstGeom prst="rightArrow">
            <a:avLst>
              <a:gd name="adj1" fmla="val 50000"/>
              <a:gd name="adj2" fmla="val 4995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</a:rPr>
              <a:t> 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2343" name="右箭头 4"/>
          <p:cNvSpPr>
            <a:spLocks noChangeArrowheads="1"/>
          </p:cNvSpPr>
          <p:nvPr/>
        </p:nvSpPr>
        <p:spPr bwMode="auto">
          <a:xfrm>
            <a:off x="4132264" y="1917701"/>
            <a:ext cx="287337" cy="130175"/>
          </a:xfrm>
          <a:prstGeom prst="rightArrow">
            <a:avLst>
              <a:gd name="adj1" fmla="val 50000"/>
              <a:gd name="adj2" fmla="val 49981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2344" name="右箭头 8"/>
          <p:cNvSpPr>
            <a:spLocks noChangeArrowheads="1"/>
          </p:cNvSpPr>
          <p:nvPr/>
        </p:nvSpPr>
        <p:spPr bwMode="auto">
          <a:xfrm>
            <a:off x="5894389" y="1912939"/>
            <a:ext cx="288925" cy="130175"/>
          </a:xfrm>
          <a:prstGeom prst="rightArrow">
            <a:avLst>
              <a:gd name="adj1" fmla="val 50000"/>
              <a:gd name="adj2" fmla="val 5025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142345" name="对象 5"/>
          <p:cNvGraphicFramePr>
            <a:graphicFrameLocks noChangeAspect="1"/>
          </p:cNvGraphicFramePr>
          <p:nvPr/>
        </p:nvGraphicFramePr>
        <p:xfrm>
          <a:off x="5562600" y="3106738"/>
          <a:ext cx="371475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1" name="Equation" r:id="rId5" imgW="2057400" imgH="431800" progId="Equation.3">
                  <p:embed/>
                </p:oleObj>
              </mc:Choice>
              <mc:Fallback>
                <p:oleObj name="Equation" r:id="rId5" imgW="2057400" imgH="431800" progId="Equation.3">
                  <p:embed/>
                  <p:pic>
                    <p:nvPicPr>
                      <p:cNvPr id="142345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106738"/>
                        <a:ext cx="371475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6" name="对象 10"/>
          <p:cNvGraphicFramePr>
            <a:graphicFrameLocks noChangeAspect="1"/>
          </p:cNvGraphicFramePr>
          <p:nvPr/>
        </p:nvGraphicFramePr>
        <p:xfrm>
          <a:off x="3073400" y="4041776"/>
          <a:ext cx="53086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2" name="Equation" r:id="rId7" imgW="3022600" imgH="431800" progId="Equation.3">
                  <p:embed/>
                </p:oleObj>
              </mc:Choice>
              <mc:Fallback>
                <p:oleObj name="Equation" r:id="rId7" imgW="3022600" imgH="431800" progId="Equation.3">
                  <p:embed/>
                  <p:pic>
                    <p:nvPicPr>
                      <p:cNvPr id="142346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4041776"/>
                        <a:ext cx="53086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7" name="右箭头 3"/>
          <p:cNvSpPr>
            <a:spLocks noChangeArrowheads="1"/>
          </p:cNvSpPr>
          <p:nvPr/>
        </p:nvSpPr>
        <p:spPr bwMode="auto">
          <a:xfrm>
            <a:off x="5105400" y="3429001"/>
            <a:ext cx="349250" cy="144463"/>
          </a:xfrm>
          <a:prstGeom prst="rightArrow">
            <a:avLst>
              <a:gd name="adj1" fmla="val 50000"/>
              <a:gd name="adj2" fmla="val 4995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</a:rPr>
              <a:t> 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142348" name="对象 12"/>
          <p:cNvGraphicFramePr>
            <a:graphicFrameLocks noChangeAspect="1"/>
          </p:cNvGraphicFramePr>
          <p:nvPr/>
        </p:nvGraphicFramePr>
        <p:xfrm>
          <a:off x="3124201" y="4984750"/>
          <a:ext cx="6005513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3" name="Equation" r:id="rId9" imgW="3695700" imgH="965200" progId="Equation.3">
                  <p:embed/>
                </p:oleObj>
              </mc:Choice>
              <mc:Fallback>
                <p:oleObj name="Equation" r:id="rId9" imgW="3695700" imgH="965200" progId="Equation.3">
                  <p:embed/>
                  <p:pic>
                    <p:nvPicPr>
                      <p:cNvPr id="142348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4984750"/>
                        <a:ext cx="6005513" cy="156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544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模拟滤波器的数字化方法</a:t>
            </a:r>
          </a:p>
        </p:txBody>
      </p:sp>
      <p:sp>
        <p:nvSpPr>
          <p:cNvPr id="14336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0F18FEC-7E91-4B5B-BE9D-75F36AC86078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64" name="Text Box 4"/>
          <p:cNvSpPr txBox="1">
            <a:spLocks noChangeArrowheads="1"/>
          </p:cNvSpPr>
          <p:nvPr/>
        </p:nvSpPr>
        <p:spPr bwMode="auto">
          <a:xfrm>
            <a:off x="1889126" y="1350964"/>
            <a:ext cx="8778875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从前式看，数字滤波器频率响应还与采样间隔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成反比： </a:t>
            </a:r>
          </a:p>
        </p:txBody>
      </p:sp>
      <p:graphicFrame>
        <p:nvGraphicFramePr>
          <p:cNvPr id="143365" name="Object 5"/>
          <p:cNvGraphicFramePr>
            <a:graphicFrameLocks noChangeAspect="1"/>
          </p:cNvGraphicFramePr>
          <p:nvPr/>
        </p:nvGraphicFramePr>
        <p:xfrm>
          <a:off x="3886200" y="1981200"/>
          <a:ext cx="258445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7" name="Equation" r:id="rId3" imgW="1358310" imgH="431613" progId="Equation.3">
                  <p:embed/>
                </p:oleObj>
              </mc:Choice>
              <mc:Fallback>
                <p:oleObj name="Equation" r:id="rId3" imgW="1358310" imgH="431613" progId="Equation.3">
                  <p:embed/>
                  <p:pic>
                    <p:nvPicPr>
                      <p:cNvPr id="1433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981200"/>
                        <a:ext cx="2584450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6" name="Text Box 6"/>
          <p:cNvSpPr txBox="1">
            <a:spLocks noChangeArrowheads="1"/>
          </p:cNvSpPr>
          <p:nvPr/>
        </p:nvSpPr>
        <p:spPr bwMode="auto">
          <a:xfrm>
            <a:off x="7391401" y="2133601"/>
            <a:ext cx="9621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|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|&lt;π </a:t>
            </a:r>
          </a:p>
        </p:txBody>
      </p:sp>
      <p:sp>
        <p:nvSpPr>
          <p:cNvPr id="143367" name="Text Box 7"/>
          <p:cNvSpPr txBox="1">
            <a:spLocks noChangeArrowheads="1"/>
          </p:cNvSpPr>
          <p:nvPr/>
        </p:nvSpPr>
        <p:spPr bwMode="auto">
          <a:xfrm>
            <a:off x="1844676" y="2667001"/>
            <a:ext cx="8442325" cy="147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如果采样频率很高，即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很小，数字滤波器可能具有太高的增益，这是不希望的。为了使数字滤波器增益不随采样频率而变化，可以作以下简单的修正，令 </a:t>
            </a:r>
          </a:p>
        </p:txBody>
      </p:sp>
      <p:sp>
        <p:nvSpPr>
          <p:cNvPr id="143368" name="Text Box 9"/>
          <p:cNvSpPr txBox="1">
            <a:spLocks noChangeArrowheads="1"/>
          </p:cNvSpPr>
          <p:nvPr/>
        </p:nvSpPr>
        <p:spPr bwMode="auto">
          <a:xfrm>
            <a:off x="5029201" y="3962401"/>
            <a:ext cx="20104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)=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Th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nT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</p:txBody>
      </p:sp>
      <p:sp>
        <p:nvSpPr>
          <p:cNvPr id="143369" name="Text Box 11"/>
          <p:cNvSpPr txBox="1">
            <a:spLocks noChangeArrowheads="1"/>
          </p:cNvSpPr>
          <p:nvPr/>
        </p:nvSpPr>
        <p:spPr bwMode="auto">
          <a:xfrm>
            <a:off x="1970088" y="4572000"/>
            <a:ext cx="8493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则有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</a:p>
        </p:txBody>
      </p:sp>
      <p:graphicFrame>
        <p:nvGraphicFramePr>
          <p:cNvPr id="143370" name="Object 12"/>
          <p:cNvGraphicFramePr>
            <a:graphicFrameLocks noChangeAspect="1"/>
          </p:cNvGraphicFramePr>
          <p:nvPr/>
        </p:nvGraphicFramePr>
        <p:xfrm>
          <a:off x="3043238" y="4646614"/>
          <a:ext cx="2519362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8" name="Equation" r:id="rId5" imgW="1295400" imgH="431800" progId="Equation.3">
                  <p:embed/>
                </p:oleObj>
              </mc:Choice>
              <mc:Fallback>
                <p:oleObj name="Equation" r:id="rId5" imgW="1295400" imgH="431800" progId="Equation.3">
                  <p:embed/>
                  <p:pic>
                    <p:nvPicPr>
                      <p:cNvPr id="14337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238" y="4646614"/>
                        <a:ext cx="2519362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1" name="Object 13"/>
          <p:cNvGraphicFramePr>
            <a:graphicFrameLocks noChangeAspect="1"/>
          </p:cNvGraphicFramePr>
          <p:nvPr/>
        </p:nvGraphicFramePr>
        <p:xfrm>
          <a:off x="2930526" y="5684838"/>
          <a:ext cx="49180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9" name="Equation" r:id="rId7" imgW="2679700" imgH="431800" progId="Equation.3">
                  <p:embed/>
                </p:oleObj>
              </mc:Choice>
              <mc:Fallback>
                <p:oleObj name="Equation" r:id="rId7" imgW="2679700" imgH="431800" progId="Equation.3">
                  <p:embed/>
                  <p:pic>
                    <p:nvPicPr>
                      <p:cNvPr id="14337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526" y="5684838"/>
                        <a:ext cx="491807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4407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1566</Words>
  <Application>Microsoft Office PowerPoint</Application>
  <PresentationFormat>宽屏</PresentationFormat>
  <Paragraphs>306</Paragraphs>
  <Slides>38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38</vt:i4>
      </vt:variant>
    </vt:vector>
  </HeadingPairs>
  <TitlesOfParts>
    <vt:vector size="52" baseType="lpstr">
      <vt:lpstr>等线</vt:lpstr>
      <vt:lpstr>黑体</vt:lpstr>
      <vt:lpstr>宋体</vt:lpstr>
      <vt:lpstr>Arial</vt:lpstr>
      <vt:lpstr>Comic Sans MS</vt:lpstr>
      <vt:lpstr>Courier New</vt:lpstr>
      <vt:lpstr>Helvetica</vt:lpstr>
      <vt:lpstr>Symbol</vt:lpstr>
      <vt:lpstr>Times New Roman</vt:lpstr>
      <vt:lpstr>icfp99</vt:lpstr>
      <vt:lpstr>Equation</vt:lpstr>
      <vt:lpstr>MathType 7.0 Equation</vt:lpstr>
      <vt:lpstr>公式</vt:lpstr>
      <vt:lpstr>Visio</vt:lpstr>
      <vt:lpstr>6.3.2 巴特沃思低通逼近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模拟频率变换</vt:lpstr>
      <vt:lpstr>模拟频率变换</vt:lpstr>
      <vt:lpstr>模拟频率变换</vt:lpstr>
      <vt:lpstr>模拟频率变换</vt:lpstr>
      <vt:lpstr>模拟频率变换</vt:lpstr>
      <vt:lpstr>模拟频率变换</vt:lpstr>
      <vt:lpstr>模拟频率变换</vt:lpstr>
      <vt:lpstr>模拟频率变换</vt:lpstr>
      <vt:lpstr>模拟频率变换</vt:lpstr>
      <vt:lpstr>模拟高通滤波器的设计</vt:lpstr>
      <vt:lpstr>例1：  设计满足下列条件的模拟BW型高通滤波器 fp=5KHz,   fs=1kHz,  Ap1dB,   As  40dB</vt:lpstr>
      <vt:lpstr>例1：设计满足下列条件的模拟BW型高通滤波器             fp=5KHz,   fs=1kHz,  Ap1dB,   As  40dB</vt:lpstr>
      <vt:lpstr>PowerPoint 演示文稿</vt:lpstr>
      <vt:lpstr>PowerPoint 演示文稿</vt:lpstr>
      <vt:lpstr>模拟带通滤波器的设计</vt:lpstr>
      <vt:lpstr>模拟带通滤波器的设计</vt:lpstr>
      <vt:lpstr>例2: 试设计一个满足下列指标的BW型带通滤波器       wp1=6  rad/s, wp2=8  rad/s, ws1=4  rad/s, ws2=11  rad/s,Ap1 dB, As  32dB。</vt:lpstr>
      <vt:lpstr>例2: 试设计一个满足下列指标的BW型带通滤波器       wp1=6  rad/s, wp2=8  rad/s, ws1=4  rad/s, ws2=11  rad/s, Ap1 dB, As  32dB。</vt:lpstr>
      <vt:lpstr>例2: 试设计一个满足下列指标的BW型带通滤波器       wp1=6  rad/s, wp2=8  rad/s, ws1=4  rad/s, ws2=11  rad/s,        Ap1 dB, As  32dB。</vt:lpstr>
      <vt:lpstr>例2: 试设计一个满足下列指标的BW型带通滤波器       wp1=6  rad/s, wp2=8  rad/s, ws1=4  rad/s, ws2=11  rad/s,        Ap1 dB, As  32dB。</vt:lpstr>
      <vt:lpstr>例2: 试设计一个满足下列指标的BW型带通滤波器       wp1=6  rad/s, wp2=8  rad/s, ws1=4  rad/s, ws2=11  rad/s,        Ap1 dB, As  32dB。</vt:lpstr>
      <vt:lpstr>模拟带阻滤波器的设计</vt:lpstr>
      <vt:lpstr>模拟带阻滤波器的设计</vt:lpstr>
      <vt:lpstr>例3：试设计一个满足下列指标的BW型带阻滤波器        Ap=1dB;As=20dB;wp1=10;wp2=30;ws1=19;ws2=21。</vt:lpstr>
      <vt:lpstr>例3： 试设计一个满足下列指标的BW型带阻滤波器         Ap=1dB;As=20dB;wp1=10;wp2=30;ws1=19;ws2=21。</vt:lpstr>
      <vt:lpstr>例3：试设计一个满足下列指标的BW型带阻滤波器         Ap=1dB;As=20dB;wp1=10;wp2=30;ws1=19;ws2=21。</vt:lpstr>
      <vt:lpstr>PowerPoint 演示文稿</vt:lpstr>
      <vt:lpstr>PowerPoint 演示文稿</vt:lpstr>
      <vt:lpstr>6.4  脉冲响应不变法设计IIR数字滤波器</vt:lpstr>
      <vt:lpstr>混叠失真</vt:lpstr>
      <vt:lpstr>模拟滤波器的数字化方法</vt:lpstr>
      <vt:lpstr>模拟滤波器的数字化方法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IIR数字滤波器的设计方法 </dc:title>
  <dc:creator>Administrator</dc:creator>
  <cp:lastModifiedBy>CHAO WU</cp:lastModifiedBy>
  <cp:revision>39</cp:revision>
  <dcterms:created xsi:type="dcterms:W3CDTF">2020-08-06T07:37:53Z</dcterms:created>
  <dcterms:modified xsi:type="dcterms:W3CDTF">2022-11-14T12:05:48Z</dcterms:modified>
</cp:coreProperties>
</file>