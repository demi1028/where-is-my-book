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689" r:id="rId3"/>
  </p:sldMasterIdLst>
  <p:notesMasterIdLst>
    <p:notesMasterId r:id="rId15"/>
  </p:notesMasterIdLst>
  <p:sldIdLst>
    <p:sldId id="282" r:id="rId4"/>
    <p:sldId id="288" r:id="rId5"/>
    <p:sldId id="289" r:id="rId6"/>
    <p:sldId id="290" r:id="rId7"/>
    <p:sldId id="283" r:id="rId8"/>
    <p:sldId id="284" r:id="rId9"/>
    <p:sldId id="285" r:id="rId10"/>
    <p:sldId id="286" r:id="rId11"/>
    <p:sldId id="287" r:id="rId12"/>
    <p:sldId id="272" r:id="rId13"/>
    <p:sldId id="27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>
      <p:cViewPr varScale="1">
        <p:scale>
          <a:sx n="75" d="100"/>
          <a:sy n="75" d="100"/>
        </p:scale>
        <p:origin x="31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B99D7-9870-43E7-878E-5BB0F9D871EE}" type="datetimeFigureOut">
              <a:rPr lang="zh-CN" altLang="en-US" smtClean="0"/>
              <a:t>2023/10/19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E04442-28C1-41EF-8780-A19FF98965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5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>
                <a:solidFill>
                  <a:prstClr val="black"/>
                </a:solidFill>
                <a:latin typeface="等线"/>
                <a:ea typeface="等线" panose="02010600030101010101" pitchFamily="2" charset="-122"/>
              </a:rPr>
              <a:pPr/>
              <a:t>1</a:t>
            </a:fld>
            <a:endParaRPr lang="zh-CN" altLang="en-US" dirty="0">
              <a:solidFill>
                <a:prstClr val="black"/>
              </a:solidFill>
              <a:latin typeface="等线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2100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650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 smtClean="0"/>
              <a:t>实验中，可通过改变寄存器初始状态，改变</a:t>
            </a:r>
            <a:r>
              <a:rPr lang="en-US" altLang="zh-CN" sz="1200" dirty="0" smtClean="0"/>
              <a:t>m</a:t>
            </a:r>
            <a:r>
              <a:rPr lang="zh-CN" altLang="en-US" sz="1200" dirty="0" smtClean="0"/>
              <a:t>序列，以比较不同</a:t>
            </a:r>
            <a:r>
              <a:rPr lang="en-US" altLang="zh-CN" sz="1200" dirty="0" smtClean="0"/>
              <a:t>m</a:t>
            </a:r>
            <a:r>
              <a:rPr lang="zh-CN" altLang="en-US" sz="1200" dirty="0" smtClean="0"/>
              <a:t>序列下多用户系统的性能。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461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3C29F5-5CAD-45E2-8601-ADB508C2F6A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632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DE6B6D-57CE-4EC8-8F2E-A7DECFA1027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7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19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0947C2C-FE1D-4F26-B073-B18ECFF4B58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8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561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6A73FA-5BA9-48A8-B054-48D3363CD66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0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0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213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EB89419-C344-40C6-B4AF-B64360F5EC6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AD0EC15D-9C77-4188-80FD-534CB4D62597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4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009DD4-B744-4A5A-9BCF-2BE1219C878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672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DB5375B-8E09-4DD8-A950-D279B55D1AF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684607E7-4DB9-45E5-BF73-16A5A03CEE1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441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EA3D01B-CED5-4F8A-B6C8-7E3E79320ED9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D40AEE6-7319-4B5B-93D0-3548900E185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82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440ECF-C06C-4365-A82F-7FCF58AB175D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E1916CC5-3ED3-4E00-85B5-005DC67C0A92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AF378D-529B-499C-888D-96616A7FD7B3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47B3999-57F6-416E-A1A2-5253D300C464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682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9C2F7E0-74B7-4DF6-835D-211E54381D8A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688483-54E8-444F-A583-0A553B1CE94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523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221B5CF-6445-489A-A45C-4EC7F4623F90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1114EFF-8E6F-4E42-8213-F37E8D3AB8C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9852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34BE24FC-2A45-4A55-B139-5F9494B1CB54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8908285-CA4E-423B-8642-8726C1B3382C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56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1BEAA45-778A-4741-845A-F018261E7A96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413AA134-3FB7-4864-BDD9-113D7FC3B5CA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22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BDC5DBC-5A12-4956-B0A7-3CBFEBC2F06C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FF6064C9-616C-418B-B0ED-83E8E1DAAE91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5624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03FB61-C213-45FB-A763-B77CDEFEA231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CD01B68-6309-4BDA-8324-A2F95C8B9363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5287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894"/>
            <a:ext cx="12192000" cy="6879894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 hasCustomPrompt="1"/>
          </p:nvPr>
        </p:nvSpPr>
        <p:spPr>
          <a:xfrm>
            <a:off x="840432" y="4221088"/>
            <a:ext cx="9144000" cy="1147027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840432" y="5460191"/>
            <a:ext cx="9144000" cy="777121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524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/>
          <p:cNvSpPr>
            <a:spLocks noGrp="1"/>
          </p:cNvSpPr>
          <p:nvPr>
            <p:ph type="ctrTitle" hasCustomPrompt="1"/>
          </p:nvPr>
        </p:nvSpPr>
        <p:spPr>
          <a:xfrm>
            <a:off x="840432" y="4221088"/>
            <a:ext cx="9144000" cy="1147027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97B5FA-0921-464F-AAE1-844C04324D75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65CE74E-AB26-4998-AD42-012C4C1AD07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5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316488" y="1903442"/>
            <a:ext cx="5336158" cy="1254095"/>
          </a:xfrm>
        </p:spPr>
        <p:txBody>
          <a:bodyPr anchor="b">
            <a:normAutofit/>
          </a:bodyPr>
          <a:lstStyle>
            <a:lvl1pPr algn="l">
              <a:defRPr sz="4800" b="1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16488" y="3202109"/>
            <a:ext cx="5336158" cy="747715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0FBDFE-C587-4B4C-A407-44438C67B59E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AE70B2-8BF9-45C0-BB95-33D1B9D3A854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073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 userDrawn="1"/>
        </p:nvSpPr>
        <p:spPr>
          <a:xfrm>
            <a:off x="1468146" y="1773907"/>
            <a:ext cx="3038428" cy="3038428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2413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1"/>
          </p:nvPr>
        </p:nvSpPr>
        <p:spPr>
          <a:xfrm>
            <a:off x="1357700" y="1808196"/>
            <a:ext cx="3036276" cy="3036274"/>
          </a:xfrm>
          <a:custGeom>
            <a:avLst/>
            <a:gdLst>
              <a:gd name="connsiteX0" fmla="*/ 1518138 w 3036276"/>
              <a:gd name="connsiteY0" fmla="*/ 0 h 3036274"/>
              <a:gd name="connsiteX1" fmla="*/ 3036276 w 3036276"/>
              <a:gd name="connsiteY1" fmla="*/ 1518137 h 3036274"/>
              <a:gd name="connsiteX2" fmla="*/ 1518138 w 3036276"/>
              <a:gd name="connsiteY2" fmla="*/ 3036274 h 3036274"/>
              <a:gd name="connsiteX3" fmla="*/ 0 w 3036276"/>
              <a:gd name="connsiteY3" fmla="*/ 1518137 h 3036274"/>
              <a:gd name="connsiteX4" fmla="*/ 1518138 w 3036276"/>
              <a:gd name="connsiteY4" fmla="*/ 0 h 3036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6276" h="3036274">
                <a:moveTo>
                  <a:pt x="1518138" y="0"/>
                </a:moveTo>
                <a:cubicBezTo>
                  <a:pt x="2356582" y="0"/>
                  <a:pt x="3036276" y="679693"/>
                  <a:pt x="3036276" y="1518137"/>
                </a:cubicBezTo>
                <a:cubicBezTo>
                  <a:pt x="3036276" y="2356581"/>
                  <a:pt x="2356582" y="3036274"/>
                  <a:pt x="1518138" y="3036274"/>
                </a:cubicBezTo>
                <a:cubicBezTo>
                  <a:pt x="679694" y="3036274"/>
                  <a:pt x="0" y="2356581"/>
                  <a:pt x="0" y="1518137"/>
                </a:cubicBezTo>
                <a:cubicBezTo>
                  <a:pt x="0" y="679693"/>
                  <a:pt x="679694" y="0"/>
                  <a:pt x="151813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0"/>
          </p:nvPr>
        </p:nvSpPr>
        <p:spPr>
          <a:xfrm>
            <a:off x="7086600" y="0"/>
            <a:ext cx="5105400" cy="6858000"/>
          </a:xfrm>
          <a:custGeom>
            <a:avLst/>
            <a:gdLst>
              <a:gd name="connsiteX0" fmla="*/ 5105400 w 5105400"/>
              <a:gd name="connsiteY0" fmla="*/ 0 h 6858000"/>
              <a:gd name="connsiteX1" fmla="*/ 5105400 w 5105400"/>
              <a:gd name="connsiteY1" fmla="*/ 6858000 h 6858000"/>
              <a:gd name="connsiteX2" fmla="*/ 0 w 5105400"/>
              <a:gd name="connsiteY2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05400" h="6858000">
                <a:moveTo>
                  <a:pt x="5105400" y="0"/>
                </a:moveTo>
                <a:lnTo>
                  <a:pt x="5105400" y="6858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菱形 17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9" name="菱形 18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0" name="菱形 19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3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1758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  <p:bldP spid="11" grpId="0"/>
      <p:bldP spid="18" grpId="0" animBg="1"/>
      <p:bldP spid="19" grpId="0" animBg="1"/>
      <p:bldP spid="20" grpId="0" animBg="1"/>
      <p:bldP spid="23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/>
          <p:cNvSpPr>
            <a:spLocks noGrp="1"/>
          </p:cNvSpPr>
          <p:nvPr>
            <p:ph type="pic" sz="quarter" idx="13"/>
          </p:nvPr>
        </p:nvSpPr>
        <p:spPr>
          <a:xfrm>
            <a:off x="9372018" y="0"/>
            <a:ext cx="2819983" cy="6858000"/>
          </a:xfrm>
          <a:custGeom>
            <a:avLst/>
            <a:gdLst>
              <a:gd name="connsiteX0" fmla="*/ 0 w 2819983"/>
              <a:gd name="connsiteY0" fmla="*/ 0 h 6858000"/>
              <a:gd name="connsiteX1" fmla="*/ 2819983 w 2819983"/>
              <a:gd name="connsiteY1" fmla="*/ 0 h 6858000"/>
              <a:gd name="connsiteX2" fmla="*/ 2819983 w 2819983"/>
              <a:gd name="connsiteY2" fmla="*/ 6858000 h 6858000"/>
              <a:gd name="connsiteX3" fmla="*/ 0 w 281998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19983" h="6858000">
                <a:moveTo>
                  <a:pt x="0" y="0"/>
                </a:moveTo>
                <a:lnTo>
                  <a:pt x="2819983" y="0"/>
                </a:lnTo>
                <a:lnTo>
                  <a:pt x="281998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菱形 7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341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4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 animBg="1"/>
      <p:bldP spid="8" grpId="0" animBg="1"/>
      <p:bldP spid="9" grpId="0" animBg="1"/>
      <p:bldP spid="10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菱形 6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菱形 7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427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3"/>
          </p:nvPr>
        </p:nvSpPr>
        <p:spPr>
          <a:xfrm>
            <a:off x="3477063" y="2071468"/>
            <a:ext cx="5254281" cy="3502854"/>
          </a:xfrm>
          <a:custGeom>
            <a:avLst/>
            <a:gdLst>
              <a:gd name="connsiteX0" fmla="*/ 0 w 5254281"/>
              <a:gd name="connsiteY0" fmla="*/ 0 h 3502854"/>
              <a:gd name="connsiteX1" fmla="*/ 5254281 w 5254281"/>
              <a:gd name="connsiteY1" fmla="*/ 0 h 3502854"/>
              <a:gd name="connsiteX2" fmla="*/ 5254281 w 5254281"/>
              <a:gd name="connsiteY2" fmla="*/ 3502854 h 3502854"/>
              <a:gd name="connsiteX3" fmla="*/ 0 w 5254281"/>
              <a:gd name="connsiteY3" fmla="*/ 3502854 h 3502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54281" h="3502854">
                <a:moveTo>
                  <a:pt x="0" y="0"/>
                </a:moveTo>
                <a:lnTo>
                  <a:pt x="5254281" y="0"/>
                </a:lnTo>
                <a:lnTo>
                  <a:pt x="5254281" y="3502854"/>
                </a:lnTo>
                <a:lnTo>
                  <a:pt x="0" y="35028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菱形 6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菱形 7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463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7" grpId="0" animBg="1"/>
      <p:bldP spid="8" grpId="0" animBg="1"/>
      <p:bldP spid="9" grpId="0" animBg="1"/>
      <p:bldP spid="10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菱形 7"/>
          <p:cNvSpPr/>
          <p:nvPr userDrawn="1"/>
        </p:nvSpPr>
        <p:spPr>
          <a:xfrm>
            <a:off x="2009052" y="-23079"/>
            <a:ext cx="486175" cy="486175"/>
          </a:xfrm>
          <a:prstGeom prst="diamond">
            <a:avLst/>
          </a:prstGeom>
          <a:solidFill>
            <a:srgbClr val="CBCB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菱形 8"/>
          <p:cNvSpPr/>
          <p:nvPr userDrawn="1"/>
        </p:nvSpPr>
        <p:spPr>
          <a:xfrm>
            <a:off x="180715" y="48787"/>
            <a:ext cx="828618" cy="828618"/>
          </a:xfrm>
          <a:prstGeom prst="diamond">
            <a:avLst/>
          </a:prstGeom>
          <a:solidFill>
            <a:srgbClr val="234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菱形 9"/>
          <p:cNvSpPr/>
          <p:nvPr userDrawn="1"/>
        </p:nvSpPr>
        <p:spPr>
          <a:xfrm>
            <a:off x="1256834" y="337237"/>
            <a:ext cx="257216" cy="257216"/>
          </a:xfrm>
          <a:prstGeom prst="diamond">
            <a:avLst/>
          </a:prstGeom>
          <a:solidFill>
            <a:srgbClr val="091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1" name="竖排文字占位符 22"/>
          <p:cNvSpPr>
            <a:spLocks noGrp="1"/>
          </p:cNvSpPr>
          <p:nvPr>
            <p:ph type="body" orient="vert" sz="quarter" idx="12"/>
          </p:nvPr>
        </p:nvSpPr>
        <p:spPr>
          <a:xfrm>
            <a:off x="907733" y="590363"/>
            <a:ext cx="4514850" cy="516749"/>
          </a:xfrm>
          <a:prstGeom prst="rect">
            <a:avLst/>
          </a:prstGeom>
        </p:spPr>
        <p:txBody>
          <a:bodyPr vert="horz"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lvl5pPr>
          </a:lstStyle>
          <a:p>
            <a:pPr marL="1828800" marR="0" lvl="4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66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3" presetClass="entr" presetSubtype="16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53" presetClass="entr" presetSubtype="16" fill="hold" nodeType="after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F05E5E-85EA-435A-95DE-F1E84AB93A66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6D0A05-7C6A-43E4-9193-449C034EC6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589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F05E5E-85EA-435A-95DE-F1E84AB93A66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6D0A05-7C6A-43E4-9193-449C034EC6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7451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1B7B3F-A56B-4310-A966-BD55D80449F1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127340-2293-49D2-96F1-6E7BF0C8FD9C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644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EA7536-D96F-400A-84FA-EE0431868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80802C-D1E2-4C80-BE8C-D027A1D80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BE6F8-219E-413C-B399-2A6399D6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2CC75-8280-4D50-8556-C2874ADEF926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9AEE5-26EE-4C85-8E5E-E86011772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C8C42C-BCED-4376-A8E1-FBA47CCFA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190E77-D57C-49F8-ADC2-FB99C50EBC2E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8CD92C1-49CC-4A26-AA0A-6CACEDCFC082}"/>
              </a:ext>
            </a:extLst>
          </p:cNvPr>
          <p:cNvSpPr/>
          <p:nvPr userDrawn="1"/>
        </p:nvSpPr>
        <p:spPr>
          <a:xfrm>
            <a:off x="1383102" y="3271044"/>
            <a:ext cx="6096000" cy="26609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感谢您下载平台上提供的</a:t>
            </a:r>
            <a:r>
              <a:rPr kumimoji="0" lang="en-US" altLang="zh-CN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endParaRPr kumimoji="0" lang="en-US" altLang="zh-CN" sz="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www.tukuppt.com</a:t>
            </a:r>
          </a:p>
        </p:txBody>
      </p:sp>
    </p:spTree>
    <p:extLst>
      <p:ext uri="{BB962C8B-B14F-4D97-AF65-F5344CB8AC3E}">
        <p14:creationId xmlns:p14="http://schemas.microsoft.com/office/powerpoint/2010/main" val="1019136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223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E5758D-A3C3-4E88-8AC0-22500507BD7E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4E786F-588D-4932-A7B2-AE3451FA4ACA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8885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688" y="345530"/>
            <a:ext cx="4419600" cy="58705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90688" y="1332516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n"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 smtClean="0"/>
              <a:t> 单击此处编辑母版文本样式</a:t>
            </a:r>
          </a:p>
        </p:txBody>
      </p:sp>
      <p:pic>
        <p:nvPicPr>
          <p:cNvPr id="12" name="Picture 2" descr="C:\Users\LuZhang\Pictures\图片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6177" y="923963"/>
            <a:ext cx="3384000" cy="43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1B0D89E9-F11F-4A86-B229-F9B851AA4416}"/>
              </a:ext>
            </a:extLst>
          </p:cNvPr>
          <p:cNvGrpSpPr/>
          <p:nvPr userDrawn="1"/>
        </p:nvGrpSpPr>
        <p:grpSpPr>
          <a:xfrm>
            <a:off x="0" y="427635"/>
            <a:ext cx="431811" cy="383458"/>
            <a:chOff x="0" y="255639"/>
            <a:chExt cx="431811" cy="383458"/>
          </a:xfrm>
          <a:solidFill>
            <a:srgbClr val="093488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373B3D6-B168-4751-A0AF-DD2F4B7D3629}"/>
                </a:ext>
              </a:extLst>
            </p:cNvPr>
            <p:cNvSpPr/>
            <p:nvPr/>
          </p:nvSpPr>
          <p:spPr>
            <a:xfrm>
              <a:off x="0" y="255639"/>
              <a:ext cx="206477" cy="3834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C2923E4C-D95A-41CE-84D9-E281CA9C0C07}"/>
                </a:ext>
              </a:extLst>
            </p:cNvPr>
            <p:cNvSpPr/>
            <p:nvPr/>
          </p:nvSpPr>
          <p:spPr>
            <a:xfrm>
              <a:off x="242629" y="255639"/>
              <a:ext cx="76515" cy="3834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0D80089-57D8-45D1-A4DC-1E177B0B3C55}"/>
                </a:ext>
              </a:extLst>
            </p:cNvPr>
            <p:cNvSpPr/>
            <p:nvPr/>
          </p:nvSpPr>
          <p:spPr>
            <a:xfrm>
              <a:off x="355296" y="255639"/>
              <a:ext cx="76515" cy="38345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33235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711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446AFA-501A-4B78-B2FC-F714BA760D71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54864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9408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2773D7-AFAF-4E2B-91AC-32DED0D9C13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9250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67" y="165100"/>
            <a:ext cx="1405467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2CDA4-6F58-4ACF-8CD6-F820ECA915B2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94DD5CF-B948-4E29-8129-3FB065B3CD99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02828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A8B10B-9DF8-4ACD-9CE2-C8C4C047F48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C8FFD1-B03B-4686-92F5-A843F70395F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42039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AE3BCD-F401-4341-A43D-90486CD92C0D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5E79CB-47B2-49D5-920B-E4002C9E73A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9220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83EF0E-C0CC-4686-8921-296AAA5169FF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F56CF7-08A8-4802-B422-FB190E2E03C4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64117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BDF4DD-9BBB-46ED-B504-B6D326B6825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BA3744-67E8-46BE-9DB9-864C2AAC026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325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C8FA01-F91C-40EA-881B-A40E46E0AE78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7446A9-ABC2-456A-A16C-ADC6592EFDE0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2781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5E061C-8864-4A6A-8C75-739AFE49CF64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C920C6-ED61-4862-AA6D-7B87A422253C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8758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EA98E3-29D4-40AD-A07C-98402E2A8C8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7CB9DC-0823-4166-999D-83521687F148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061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C0C912B-BF68-4CBC-8F90-7C7DFE76B25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1799F1-39B1-4F62-9613-F99D8D5A08B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9365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15400" y="457200"/>
            <a:ext cx="2768600" cy="55626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102600" cy="55626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D084DF-D0CF-450A-8E69-21E061C0AE77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CB1091-F72D-4350-AAC8-571D8ADE8C27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617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769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48400" y="1600200"/>
            <a:ext cx="5435600" cy="44196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D7462E-6F50-469B-912C-41A133E31A4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5430A7-853B-4818-8152-EB15BEBED213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533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5F930D0-305E-4488-9A18-18976C29D3CE}" type="datetime1">
              <a:rPr lang="zh-CN" altLang="en-US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2023/10/19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mtClean="0">
                <a:solidFill>
                  <a:srgbClr val="000000"/>
                </a:solidFill>
              </a:rPr>
              <a:t>Compilers Autumn 2002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4FF258E-67CD-4D95-B960-4634DDA92658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10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5625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</p:sldLayoutIdLst>
  <mc:AlternateContent xmlns:mc="http://schemas.openxmlformats.org/markup-compatibility/2006" xmlns:p14="http://schemas.microsoft.com/office/powerpoint/2010/main">
    <mc:Choice Requires="p14">
      <p:transition spd="slow" p14:dur="1500" advTm="0">
        <p:random/>
      </p:transition>
    </mc:Choice>
    <mc:Fallback xmlns="">
      <p:transition spd="slow" advTm="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76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07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17600" y="6172200"/>
            <a:ext cx="2032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44597E-6F09-422F-91C8-9D74F562398A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2023/10/19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1722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charset="0"/>
                <a:ea typeface="宋体" panose="02010600030101010101" pitchFamily="2" charset="-122"/>
                <a:cs typeface="+mn-cs"/>
              </a:rPr>
              <a:t>Compilers Autumn 2002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172200"/>
            <a:ext cx="1727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4CCB26-590A-452B-A7B8-980E9C93581F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609600" y="1371600"/>
            <a:ext cx="10769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1955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6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2.wmf"/><Relationship Id="rId18" Type="http://schemas.openxmlformats.org/officeDocument/2006/relationships/oleObject" Target="../embeddings/oleObject9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16.wmf"/><Relationship Id="rId7" Type="http://schemas.openxmlformats.org/officeDocument/2006/relationships/image" Target="../media/image9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4.wmf"/><Relationship Id="rId25" Type="http://schemas.openxmlformats.org/officeDocument/2006/relationships/image" Target="../media/image18.wmf"/><Relationship Id="rId2" Type="http://schemas.openxmlformats.org/officeDocument/2006/relationships/slideLayout" Target="../slideLayouts/slideLayout27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1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0.png"/><Relationship Id="rId15" Type="http://schemas.openxmlformats.org/officeDocument/2006/relationships/image" Target="../media/image13.wmf"/><Relationship Id="rId23" Type="http://schemas.openxmlformats.org/officeDocument/2006/relationships/image" Target="../media/image17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5.wmf"/><Relationship Id="rId4" Type="http://schemas.openxmlformats.org/officeDocument/2006/relationships/image" Target="../media/image19.png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17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4.e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23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png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9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3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3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59185" y="2074630"/>
            <a:ext cx="6339151" cy="1854200"/>
          </a:xfrm>
        </p:spPr>
        <p:txBody>
          <a:bodyPr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4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4000" dirty="0" smtClean="0">
                <a:solidFill>
                  <a:srgbClr val="2347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endParaRPr lang="zh-CN" altLang="en-US" sz="4000" dirty="0">
              <a:solidFill>
                <a:srgbClr val="2347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013" y="399944"/>
            <a:ext cx="1912647" cy="463382"/>
          </a:xfrm>
          <a:prstGeom prst="rect">
            <a:avLst/>
          </a:prstGeom>
        </p:spPr>
      </p:pic>
      <p:grpSp>
        <p:nvGrpSpPr>
          <p:cNvPr id="10" name="组合 9"/>
          <p:cNvGrpSpPr>
            <a:grpSpLocks noChangeAspect="1"/>
          </p:cNvGrpSpPr>
          <p:nvPr/>
        </p:nvGrpSpPr>
        <p:grpSpPr>
          <a:xfrm>
            <a:off x="787180" y="2192687"/>
            <a:ext cx="2863589" cy="1617313"/>
            <a:chOff x="3367821" y="2336603"/>
            <a:chExt cx="3846124" cy="2172237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000"/>
            <a:stretch/>
          </p:blipFill>
          <p:spPr>
            <a:xfrm>
              <a:off x="3367821" y="2337641"/>
              <a:ext cx="3846124" cy="2171199"/>
            </a:xfrm>
            <a:prstGeom prst="rect">
              <a:avLst/>
            </a:prstGeom>
          </p:spPr>
        </p:pic>
        <p:pic>
          <p:nvPicPr>
            <p:cNvPr id="16" name="图片 15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7588" t="-273" r="15178" b="91664"/>
            <a:stretch/>
          </p:blipFill>
          <p:spPr>
            <a:xfrm>
              <a:off x="4279348" y="2336603"/>
              <a:ext cx="712760" cy="176959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28F5323-CD48-4559-805E-B472C5FB008E}"/>
              </a:ext>
            </a:extLst>
          </p:cNvPr>
          <p:cNvGrpSpPr/>
          <p:nvPr/>
        </p:nvGrpSpPr>
        <p:grpSpPr>
          <a:xfrm>
            <a:off x="3003583" y="3103060"/>
            <a:ext cx="928337" cy="905057"/>
            <a:chOff x="4480943" y="4021832"/>
            <a:chExt cx="980406" cy="1038683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9202CC45-2CC5-4C2F-A9D1-3ED274598467}"/>
                </a:ext>
              </a:extLst>
            </p:cNvPr>
            <p:cNvSpPr/>
            <p:nvPr/>
          </p:nvSpPr>
          <p:spPr>
            <a:xfrm>
              <a:off x="4480943" y="4021832"/>
              <a:ext cx="980406" cy="1038683"/>
            </a:xfrm>
            <a:prstGeom prst="rect">
              <a:avLst/>
            </a:prstGeom>
            <a:solidFill>
              <a:srgbClr val="2347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4511092" y="4218008"/>
              <a:ext cx="950257" cy="600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altLang="zh-CN" sz="2800" b="1" baseline="-25000" dirty="0" smtClean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</a:t>
              </a:r>
              <a:endParaRPr lang="en-US" altLang="zh-CN" sz="3600" b="1" baseline="-25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副标题 2"/>
          <p:cNvSpPr txBox="1">
            <a:spLocks/>
          </p:cNvSpPr>
          <p:nvPr/>
        </p:nvSpPr>
        <p:spPr>
          <a:xfrm>
            <a:off x="6397067" y="4149608"/>
            <a:ext cx="2941320" cy="990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吴超</a:t>
            </a:r>
            <a:endParaRPr lang="en-US" altLang="zh-CN" sz="2800" smtClean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 </a:t>
            </a:r>
            <a:r>
              <a:rPr lang="zh-CN" altLang="en-US" sz="20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 工 程 学 院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668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9398000" cy="914400"/>
          </a:xfrm>
        </p:spPr>
        <p:txBody>
          <a:bodyPr/>
          <a:lstStyle/>
          <a:p>
            <a:r>
              <a:rPr lang="zh-CN" altLang="en-US" dirty="0" smtClean="0"/>
              <a:t>第一章 习题讲解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1074400" cy="641195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1-3 </a:t>
            </a:r>
            <a:r>
              <a:rPr lang="zh-CN" altLang="en-US" dirty="0" smtClean="0">
                <a:ea typeface="宋体" panose="02010600030101010101" pitchFamily="2" charset="-122"/>
              </a:rPr>
              <a:t>求是否是周期，并求出周期 （题目是（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3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4</a:t>
            </a:r>
            <a:r>
              <a:rPr lang="zh-CN" altLang="en-US" dirty="0" smtClean="0">
                <a:ea typeface="宋体" panose="02010600030101010101" pitchFamily="2" charset="-122"/>
              </a:rPr>
              <a:t>、</a:t>
            </a:r>
            <a:r>
              <a:rPr lang="en-US" altLang="zh-CN" dirty="0" smtClean="0">
                <a:ea typeface="宋体" panose="02010600030101010101" pitchFamily="2" charset="-122"/>
              </a:rPr>
              <a:t>6</a:t>
            </a:r>
            <a:r>
              <a:rPr lang="zh-CN" altLang="en-US" dirty="0" smtClean="0">
                <a:ea typeface="宋体" panose="02010600030101010101" pitchFamily="2" charset="-122"/>
              </a:rPr>
              <a:t>））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318160" y="2469995"/>
                <a:ext cx="200693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S</m:t>
                    </m:r>
                    <m:r>
                      <m:rPr>
                        <m:sty m:val="p"/>
                      </m:rPr>
                      <a:rPr kumimoji="0" lang="en-US" altLang="zh-CN" sz="2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in</m:t>
                    </m:r>
                  </m:oMath>
                </a14:m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(9.7</a:t>
                </a:r>
                <a:r>
                  <a:rPr kumimoji="0" lang="el-GR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π</a:t>
                </a:r>
                <a:r>
                  <a:rPr kumimoji="0" lang="en-US" altLang="zh-CN" sz="2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mic Sans MS"/>
                    <a:ea typeface="+mn-ea"/>
                    <a:cs typeface="+mn-cs"/>
                  </a:rPr>
                  <a:t>n)</a:t>
                </a:r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60" y="2469995"/>
                <a:ext cx="2006931" cy="430887"/>
              </a:xfrm>
              <a:prstGeom prst="rect">
                <a:avLst/>
              </a:prstGeom>
              <a:blipFill>
                <a:blip r:embed="rId2"/>
                <a:stretch>
                  <a:fillRect t="-25352" b="-492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609600" y="3001163"/>
            <a:ext cx="11074400" cy="853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20/97,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周期注意两点：第一必须是有理数，第二必须是整数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周期写出来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omic Sans MS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内容占位符 2"/>
          <p:cNvSpPr txBox="1">
            <a:spLocks/>
          </p:cNvSpPr>
          <p:nvPr/>
        </p:nvSpPr>
        <p:spPr bwMode="auto">
          <a:xfrm>
            <a:off x="609600" y="3982854"/>
            <a:ext cx="11074400" cy="11354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1-9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求系统线性时不变特性，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T[x(n)]=x(n)sin(n</a:t>
            </a:r>
            <a:r>
              <a:rPr kumimoji="0" lang="el-GR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 </a:t>
            </a:r>
            <a:r>
              <a:rPr kumimoji="0" lang="el-GR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π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/2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),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T[x(n-n0)]=x(n-n0)sin(n</a:t>
            </a:r>
            <a:r>
              <a:rPr kumimoji="0" lang="el-GR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 </a:t>
            </a:r>
            <a:r>
              <a:rPr kumimoji="0" lang="el-GR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π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/2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55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1074400" cy="1131125"/>
          </a:xfrm>
        </p:spPr>
        <p:txBody>
          <a:bodyPr/>
          <a:lstStyle/>
          <a:p>
            <a:r>
              <a:rPr lang="en-US" altLang="zh-CN" dirty="0" smtClean="0"/>
              <a:t>1-10 </a:t>
            </a:r>
            <a:r>
              <a:rPr lang="zh-CN" altLang="en-US" dirty="0" smtClean="0"/>
              <a:t>因果稳定性  （</a:t>
            </a:r>
            <a:r>
              <a:rPr lang="en-US" altLang="zh-CN" dirty="0" smtClean="0"/>
              <a:t>5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1/n^(2)u(n) </a:t>
            </a:r>
            <a:r>
              <a:rPr lang="zh-CN" altLang="en-US" dirty="0" smtClean="0"/>
              <a:t>级数和为无穷（</a:t>
            </a:r>
            <a:r>
              <a:rPr lang="en-US" altLang="zh-CN" dirty="0" smtClean="0"/>
              <a:t>8</a:t>
            </a:r>
            <a:r>
              <a:rPr lang="zh-CN" altLang="en-US" dirty="0" smtClean="0"/>
              <a:t>）</a:t>
            </a:r>
            <a:r>
              <a:rPr lang="en-US" altLang="zh-CN" dirty="0" smtClean="0"/>
              <a:t>3^(n)u(-n)  </a:t>
            </a:r>
            <a:r>
              <a:rPr lang="zh-CN" altLang="en-US" dirty="0" smtClean="0"/>
              <a:t>是绝对可和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855476" y="400969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例：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已知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*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，试求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 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*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x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r>
              <a:rPr kumimoji="1" lang="zh-CN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609600" y="3033545"/>
            <a:ext cx="11074400" cy="113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1-12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R</a:t>
            </a:r>
            <a:r>
              <a:rPr kumimoji="0" lang="en-US" altLang="zh-CN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4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(n)*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R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4</a:t>
            </a: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(n)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907925" y="4597975"/>
            <a:ext cx="3962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解：</a:t>
            </a:r>
            <a:r>
              <a:rPr kumimoji="1" lang="zh-CN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</a:t>
            </a:r>
            <a:r>
              <a:rPr kumimoji="1" lang="en-US" altLang="zh-CN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]=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y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[</a:t>
            </a:r>
            <a:r>
              <a:rPr kumimoji="1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k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-(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143434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1074400" cy="691738"/>
          </a:xfrm>
        </p:spPr>
        <p:txBody>
          <a:bodyPr/>
          <a:lstStyle/>
          <a:p>
            <a:r>
              <a:rPr lang="en-US" altLang="zh-CN" dirty="0" smtClean="0"/>
              <a:t>1-18 y(n)=0.5y(n-1)+x(n)+0.5x(n-1),</a:t>
            </a:r>
            <a:r>
              <a:rPr lang="zh-CN" altLang="en-US" dirty="0" smtClean="0"/>
              <a:t>因果系统，求单位冲激响应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25163F-56F0-4728-A241-57C30AA276FE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609600" y="3540331"/>
            <a:ext cx="11074400" cy="69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1-29 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）写出抽样信号</a:t>
            </a:r>
            <a:r>
              <a:rPr kumimoji="0" lang="en-US" altLang="zh-CN" sz="28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xa</a:t>
            </a:r>
            <a:r>
              <a:rPr kumimoji="0" lang="en-US" altLang="zh-C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(t)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信号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graphicFrame>
        <p:nvGraphicFramePr>
          <p:cNvPr id="6" name="Object 7"/>
          <p:cNvGraphicFramePr>
            <a:graphicFrameLocks noChangeAspect="1"/>
          </p:cNvGraphicFramePr>
          <p:nvPr>
            <p:extLst/>
          </p:nvPr>
        </p:nvGraphicFramePr>
        <p:xfrm>
          <a:off x="1013486" y="4353668"/>
          <a:ext cx="3554413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3" imgW="990748" imgH="177916" progId="Equation.DSMT4">
                  <p:embed/>
                </p:oleObj>
              </mc:Choice>
              <mc:Fallback>
                <p:oleObj name="Equation" r:id="rId3" imgW="990748" imgH="177916" progId="Equation.DSMT4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486" y="4353668"/>
                        <a:ext cx="3554413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/>
          </p:nvPr>
        </p:nvGraphicFramePr>
        <p:xfrm>
          <a:off x="5239019" y="4227461"/>
          <a:ext cx="314642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Equation" r:id="rId5" imgW="1257300" imgH="368300" progId="Equation.DSMT4">
                  <p:embed/>
                </p:oleObj>
              </mc:Choice>
              <mc:Fallback>
                <p:oleObj name="Equation" r:id="rId5" imgW="1257300" imgH="368300" progId="Equation.DSMT4">
                  <p:embed/>
                  <p:pic>
                    <p:nvPicPr>
                      <p:cNvPr id="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9019" y="4227461"/>
                        <a:ext cx="314642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904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729205" y="1585122"/>
            <a:ext cx="10741306" cy="3035005"/>
          </a:xfrm>
          <a:prstGeom prst="round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1748577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 smtClean="0"/>
              <a:t>复习</a:t>
            </a:r>
            <a:endParaRPr lang="zh-CN" altLang="en-US" sz="2800" dirty="0"/>
          </a:p>
        </p:txBody>
      </p:sp>
      <p:sp>
        <p:nvSpPr>
          <p:cNvPr id="9" name="Oval 1"/>
          <p:cNvSpPr txBox="1"/>
          <p:nvPr/>
        </p:nvSpPr>
        <p:spPr>
          <a:xfrm>
            <a:off x="1180055" y="1917684"/>
            <a:ext cx="10042200" cy="244682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双边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变换定义与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ROC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Z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反变换（部分分式法和留数法）；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因果稳定系统函数满足条件；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lang="en-US" altLang="zh-CN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2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变换性质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125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9636" y="1094142"/>
            <a:ext cx="16206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l"/>
              <a:defRPr sz="32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539750" indent="-3429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Ø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双边</a:t>
            </a:r>
            <a:r>
              <a:rPr kumimoji="1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z</a:t>
            </a:r>
            <a:r>
              <a:rPr kumimoji="1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变换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4340245" cy="587059"/>
          </a:xfrm>
        </p:spPr>
        <p:txBody>
          <a:bodyPr anchor="ctr">
            <a:noAutofit/>
          </a:bodyPr>
          <a:lstStyle/>
          <a:p>
            <a:r>
              <a:rPr lang="zh-CN" altLang="en-US" sz="2800" dirty="0"/>
              <a:t>双边</a:t>
            </a:r>
            <a:r>
              <a:rPr lang="en-US" altLang="zh-CN" sz="2800" dirty="0"/>
              <a:t>Z</a:t>
            </a:r>
            <a:r>
              <a:rPr lang="zh-CN" altLang="en-US" sz="2800" dirty="0"/>
              <a:t>变换定义与</a:t>
            </a:r>
            <a:r>
              <a:rPr lang="en-US" altLang="zh-CN" sz="2800" dirty="0"/>
              <a:t>ROC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  <p:pic>
        <p:nvPicPr>
          <p:cNvPr id="1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04" y="1894116"/>
            <a:ext cx="2600180" cy="873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0" y="3675748"/>
            <a:ext cx="3388003" cy="1073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3"/>
          <p:cNvSpPr txBox="1">
            <a:spLocks noChangeArrowheads="1"/>
          </p:cNvSpPr>
          <p:nvPr/>
        </p:nvSpPr>
        <p:spPr bwMode="auto">
          <a:xfrm>
            <a:off x="89636" y="2921537"/>
            <a:ext cx="20429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收敛域</a:t>
            </a:r>
            <a:r>
              <a:rPr kumimoji="1"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ROC</a:t>
            </a:r>
            <a:r>
              <a:rPr kumimoji="1" lang="zh-CN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</a:p>
        </p:txBody>
      </p:sp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147587"/>
              </p:ext>
            </p:extLst>
          </p:nvPr>
        </p:nvGraphicFramePr>
        <p:xfrm>
          <a:off x="3330270" y="1167385"/>
          <a:ext cx="28273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8" name="Equation" r:id="rId6" imgW="1130040" imgH="228600" progId="Equation.DSMT4">
                  <p:embed/>
                </p:oleObj>
              </mc:Choice>
              <mc:Fallback>
                <p:oleObj name="Equation" r:id="rId6" imgW="1130040" imgH="22860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270" y="1167385"/>
                        <a:ext cx="2827337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876002"/>
              </p:ext>
            </p:extLst>
          </p:nvPr>
        </p:nvGraphicFramePr>
        <p:xfrm>
          <a:off x="6565483" y="1001043"/>
          <a:ext cx="422592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69" name="Equation" r:id="rId8" imgW="1688760" imgH="406080" progId="Equation.DSMT4">
                  <p:embed/>
                </p:oleObj>
              </mc:Choice>
              <mc:Fallback>
                <p:oleObj name="Equation" r:id="rId8" imgW="1688760" imgH="40608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483" y="1001043"/>
                        <a:ext cx="422592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7306406"/>
              </p:ext>
            </p:extLst>
          </p:nvPr>
        </p:nvGraphicFramePr>
        <p:xfrm>
          <a:off x="10941107" y="1191542"/>
          <a:ext cx="11080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Equation" r:id="rId10" imgW="444240" imgH="253800" progId="Equation.DSMT4">
                  <p:embed/>
                </p:oleObj>
              </mc:Choice>
              <mc:Fallback>
                <p:oleObj name="Equation" r:id="rId10" imgW="444240" imgH="2538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41107" y="1191542"/>
                        <a:ext cx="11080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907384"/>
              </p:ext>
            </p:extLst>
          </p:nvPr>
        </p:nvGraphicFramePr>
        <p:xfrm>
          <a:off x="2887357" y="2482144"/>
          <a:ext cx="371316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name="Equation" r:id="rId12" imgW="1485720" imgH="228600" progId="Equation.DSMT4">
                  <p:embed/>
                </p:oleObj>
              </mc:Choice>
              <mc:Fallback>
                <p:oleObj name="Equation" r:id="rId12" imgW="1485720" imgH="228600" progId="Equation.DSMT4">
                  <p:embed/>
                  <p:pic>
                    <p:nvPicPr>
                      <p:cNvPr id="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357" y="2482144"/>
                        <a:ext cx="371316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551236"/>
              </p:ext>
            </p:extLst>
          </p:nvPr>
        </p:nvGraphicFramePr>
        <p:xfrm>
          <a:off x="6911502" y="2261481"/>
          <a:ext cx="5019675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Equation" r:id="rId14" imgW="2006280" imgH="406080" progId="Equation.DSMT4">
                  <p:embed/>
                </p:oleObj>
              </mc:Choice>
              <mc:Fallback>
                <p:oleObj name="Equation" r:id="rId14" imgW="2006280" imgH="40608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1502" y="2261481"/>
                        <a:ext cx="5019675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3424042"/>
              </p:ext>
            </p:extLst>
          </p:nvPr>
        </p:nvGraphicFramePr>
        <p:xfrm>
          <a:off x="7937556" y="3333006"/>
          <a:ext cx="16192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Equation" r:id="rId16" imgW="647640" imgH="406080" progId="Equation.DSMT4">
                  <p:embed/>
                </p:oleObj>
              </mc:Choice>
              <mc:Fallback>
                <p:oleObj name="Equation" r:id="rId16" imgW="647640" imgH="406080" progId="Equation.DSMT4">
                  <p:embed/>
                  <p:pic>
                    <p:nvPicPr>
                      <p:cNvPr id="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7556" y="3333006"/>
                        <a:ext cx="161925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123118"/>
              </p:ext>
            </p:extLst>
          </p:nvPr>
        </p:nvGraphicFramePr>
        <p:xfrm>
          <a:off x="10489282" y="3613171"/>
          <a:ext cx="11080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4" name="Equation" r:id="rId18" imgW="444240" imgH="253800" progId="Equation.DSMT4">
                  <p:embed/>
                </p:oleObj>
              </mc:Choice>
              <mc:Fallback>
                <p:oleObj name="Equation" r:id="rId18" imgW="444240" imgH="253800" progId="Equation.DSMT4">
                  <p:embed/>
                  <p:pic>
                    <p:nvPicPr>
                      <p:cNvPr id="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9282" y="3613171"/>
                        <a:ext cx="11080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67645"/>
              </p:ext>
            </p:extLst>
          </p:nvPr>
        </p:nvGraphicFramePr>
        <p:xfrm>
          <a:off x="3476733" y="4638081"/>
          <a:ext cx="47910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5" name="Equation" r:id="rId20" imgW="1917360" imgH="228600" progId="Equation.DSMT4">
                  <p:embed/>
                </p:oleObj>
              </mc:Choice>
              <mc:Fallback>
                <p:oleObj name="Equation" r:id="rId20" imgW="1917360" imgH="228600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733" y="4638081"/>
                        <a:ext cx="47910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328463"/>
              </p:ext>
            </p:extLst>
          </p:nvPr>
        </p:nvGraphicFramePr>
        <p:xfrm>
          <a:off x="4277255" y="5440524"/>
          <a:ext cx="3871912" cy="97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6" name="Equation" r:id="rId22" imgW="1549080" imgH="393480" progId="Equation.DSMT4">
                  <p:embed/>
                </p:oleObj>
              </mc:Choice>
              <mc:Fallback>
                <p:oleObj name="Equation" r:id="rId22" imgW="1549080" imgH="393480" progId="Equation.DSMT4">
                  <p:embed/>
                  <p:pic>
                    <p:nvPicPr>
                      <p:cNvPr id="1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255" y="5440524"/>
                        <a:ext cx="3871912" cy="979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829538"/>
              </p:ext>
            </p:extLst>
          </p:nvPr>
        </p:nvGraphicFramePr>
        <p:xfrm>
          <a:off x="8836158" y="5284432"/>
          <a:ext cx="180975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7" name="Equation" r:id="rId24" imgW="723600" imgH="253800" progId="Equation.DSMT4">
                  <p:embed/>
                </p:oleObj>
              </mc:Choice>
              <mc:Fallback>
                <p:oleObj name="Equation" r:id="rId24" imgW="723600" imgH="253800" progId="Equation.DSMT4">
                  <p:embed/>
                  <p:pic>
                    <p:nvPicPr>
                      <p:cNvPr id="1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6158" y="5284432"/>
                        <a:ext cx="180975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09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3977" y="353440"/>
            <a:ext cx="5662456" cy="587059"/>
          </a:xfrm>
        </p:spPr>
        <p:txBody>
          <a:bodyPr anchor="ctr">
            <a:noAutofit/>
          </a:bodyPr>
          <a:lstStyle/>
          <a:p>
            <a:r>
              <a:rPr lang="en-US" altLang="zh-CN" sz="2800" dirty="0"/>
              <a:t>Z</a:t>
            </a:r>
            <a:r>
              <a:rPr lang="zh-CN" altLang="en-US" sz="2800" dirty="0"/>
              <a:t>反变换（部分分式法和留数法）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272836"/>
              </p:ext>
            </p:extLst>
          </p:nvPr>
        </p:nvGraphicFramePr>
        <p:xfrm>
          <a:off x="777347" y="1104900"/>
          <a:ext cx="7572375" cy="206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" name="Equation" r:id="rId4" imgW="2654300" imgH="723900" progId="Equation.DSMT4">
                  <p:embed/>
                </p:oleObj>
              </mc:Choice>
              <mc:Fallback>
                <p:oleObj name="Equation" r:id="rId4" imgW="2654300" imgH="723900" progId="Equation.DSMT4">
                  <p:embed/>
                  <p:pic>
                    <p:nvPicPr>
                      <p:cNvPr id="31748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347" y="1104900"/>
                        <a:ext cx="7572375" cy="206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414421"/>
              </p:ext>
            </p:extLst>
          </p:nvPr>
        </p:nvGraphicFramePr>
        <p:xfrm>
          <a:off x="914930" y="3450167"/>
          <a:ext cx="65944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6" imgW="2311400" imgH="342900" progId="Equation.DSMT4">
                  <p:embed/>
                </p:oleObj>
              </mc:Choice>
              <mc:Fallback>
                <p:oleObj name="Equation" r:id="rId6" imgW="2311400" imgH="342900" progId="Equation.DSMT4">
                  <p:embed/>
                  <p:pic>
                    <p:nvPicPr>
                      <p:cNvPr id="31749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930" y="3450167"/>
                        <a:ext cx="65944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730202"/>
              </p:ext>
            </p:extLst>
          </p:nvPr>
        </p:nvGraphicFramePr>
        <p:xfrm>
          <a:off x="921290" y="4620676"/>
          <a:ext cx="3444875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2" name="公式" r:id="rId8" imgW="1434960" imgH="431640" progId="Equation.3">
                  <p:embed/>
                </p:oleObj>
              </mc:Choice>
              <mc:Fallback>
                <p:oleObj name="公式" r:id="rId8" imgW="1434960" imgH="431640" progId="Equation.3">
                  <p:embed/>
                  <p:pic>
                    <p:nvPicPr>
                      <p:cNvPr id="92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290" y="4620676"/>
                        <a:ext cx="3444875" cy="103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629282"/>
              </p:ext>
            </p:extLst>
          </p:nvPr>
        </p:nvGraphicFramePr>
        <p:xfrm>
          <a:off x="4418022" y="4830226"/>
          <a:ext cx="31670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3" name="公式" r:id="rId10" imgW="1320480" imgH="317160" progId="Equation.3">
                  <p:embed/>
                </p:oleObj>
              </mc:Choice>
              <mc:Fallback>
                <p:oleObj name="公式" r:id="rId10" imgW="1320480" imgH="317160" progId="Equation.3">
                  <p:embed/>
                  <p:pic>
                    <p:nvPicPr>
                      <p:cNvPr id="92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8022" y="4830226"/>
                        <a:ext cx="31670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915713"/>
              </p:ext>
            </p:extLst>
          </p:nvPr>
        </p:nvGraphicFramePr>
        <p:xfrm>
          <a:off x="7666761" y="4830226"/>
          <a:ext cx="4732337" cy="143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4" name="Equation" r:id="rId12" imgW="2209680" imgH="672840" progId="Equation.DSMT4">
                  <p:embed/>
                </p:oleObj>
              </mc:Choice>
              <mc:Fallback>
                <p:oleObj name="Equation" r:id="rId12" imgW="2209680" imgH="672840" progId="Equation.DSMT4">
                  <p:embed/>
                  <p:pic>
                    <p:nvPicPr>
                      <p:cNvPr id="6" name="对象 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7666761" y="4830226"/>
                        <a:ext cx="4732337" cy="1438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8554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19ABD00-6FB2-4398-94F8-4D411D9F5F9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533400"/>
            <a:ext cx="55626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5844" name="TextBox 2"/>
          <p:cNvSpPr txBox="1">
            <a:spLocks noChangeArrowheads="1"/>
          </p:cNvSpPr>
          <p:nvPr/>
        </p:nvSpPr>
        <p:spPr bwMode="auto">
          <a:xfrm>
            <a:off x="2362201" y="1676400"/>
            <a:ext cx="1116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、线性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1" y="2124076"/>
            <a:ext cx="4576763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6" name="TextBox 3"/>
          <p:cNvSpPr txBox="1">
            <a:spLocks noChangeArrowheads="1"/>
          </p:cNvSpPr>
          <p:nvPr/>
        </p:nvSpPr>
        <p:spPr bwMode="auto">
          <a:xfrm>
            <a:off x="2667000" y="3592514"/>
            <a:ext cx="599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注：在叠加的过程中，零极点有可能抵消，收敛域会扩大</a:t>
            </a:r>
          </a:p>
        </p:txBody>
      </p:sp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2362199" y="4089384"/>
            <a:ext cx="1116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、移位</a:t>
            </a:r>
          </a:p>
        </p:txBody>
      </p:sp>
      <p:graphicFrame>
        <p:nvGraphicFramePr>
          <p:cNvPr id="9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722654"/>
              </p:ext>
            </p:extLst>
          </p:nvPr>
        </p:nvGraphicFramePr>
        <p:xfrm>
          <a:off x="3505199" y="4668822"/>
          <a:ext cx="4691063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0" name="Equation" r:id="rId5" imgW="2451100" imgH="254000" progId="Equation.3">
                  <p:embed/>
                </p:oleObj>
              </mc:Choice>
              <mc:Fallback>
                <p:oleObj name="Equation" r:id="rId5" imgW="2451100" imgH="254000" progId="Equation.3">
                  <p:embed/>
                  <p:pic>
                    <p:nvPicPr>
                      <p:cNvPr id="36873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199" y="4668822"/>
                        <a:ext cx="4691063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1335" y="5391170"/>
            <a:ext cx="6681795" cy="112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02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4F867D-0151-42DF-98E2-4E36287B4186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2819400" y="304800"/>
            <a:ext cx="66294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870" name="Text Box 4"/>
          <p:cNvSpPr txBox="1">
            <a:spLocks noChangeArrowheads="1"/>
          </p:cNvSpPr>
          <p:nvPr/>
        </p:nvSpPr>
        <p:spPr bwMode="auto">
          <a:xfrm>
            <a:off x="2428876" y="1540952"/>
            <a:ext cx="1914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的微分 </a:t>
            </a:r>
          </a:p>
        </p:txBody>
      </p:sp>
      <p:graphicFrame>
        <p:nvGraphicFramePr>
          <p:cNvPr id="36871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3435960"/>
              </p:ext>
            </p:extLst>
          </p:nvPr>
        </p:nvGraphicFramePr>
        <p:xfrm>
          <a:off x="3733800" y="1947352"/>
          <a:ext cx="417988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Equation" r:id="rId4" imgW="2362200" imgH="431800" progId="Equation.3">
                  <p:embed/>
                </p:oleObj>
              </mc:Choice>
              <mc:Fallback>
                <p:oleObj name="Equation" r:id="rId4" imgW="2362200" imgH="431800" progId="Equation.3">
                  <p:embed/>
                  <p:pic>
                    <p:nvPicPr>
                      <p:cNvPr id="36871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47352"/>
                        <a:ext cx="417988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8490" y="2889457"/>
            <a:ext cx="5572227" cy="107908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5256" y="4375677"/>
            <a:ext cx="5151566" cy="129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41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AF45D6E-BEBB-460F-AD4F-3B07B28887B1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2895600" y="381000"/>
            <a:ext cx="6019800" cy="914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Z</a:t>
            </a:r>
            <a:r>
              <a:rPr lang="zh-CN" altLang="en-US" smtClean="0">
                <a:ea typeface="宋体" panose="02010600030101010101" pitchFamily="2" charset="-122"/>
              </a:rPr>
              <a:t>变换的性质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8916" name="Text Box 1028"/>
          <p:cNvSpPr txBox="1">
            <a:spLocks noChangeArrowheads="1"/>
          </p:cNvSpPr>
          <p:nvPr/>
        </p:nvSpPr>
        <p:spPr bwMode="auto">
          <a:xfrm>
            <a:off x="1905000" y="3964501"/>
            <a:ext cx="8458200" cy="180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8.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终值定理</a:t>
            </a:r>
          </a:p>
          <a:p>
            <a:pPr marL="0" marR="0" lvl="0" indent="0" algn="just" defTabSz="914400" rtl="0" eaLnBrk="1" fontAlgn="base" latinLnBrk="0" hangingPunct="1">
              <a:lnSpc>
                <a:spcPct val="138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设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为因果序列，且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［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］的全部极点，除有一个一阶极点可以在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z=1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处外，其余都在单位圆内，则 </a:t>
            </a:r>
          </a:p>
        </p:txBody>
      </p:sp>
      <p:graphicFrame>
        <p:nvGraphicFramePr>
          <p:cNvPr id="3891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14847"/>
              </p:ext>
            </p:extLst>
          </p:nvPr>
        </p:nvGraphicFramePr>
        <p:xfrm>
          <a:off x="4159250" y="5748850"/>
          <a:ext cx="40259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Equation" r:id="rId4" imgW="1651000" imgH="279400" progId="Equation.3">
                  <p:embed/>
                </p:oleObj>
              </mc:Choice>
              <mc:Fallback>
                <p:oleObj name="Equation" r:id="rId4" imgW="1651000" imgH="279400" progId="Equation.3">
                  <p:embed/>
                  <p:pic>
                    <p:nvPicPr>
                      <p:cNvPr id="38917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9250" y="5748850"/>
                        <a:ext cx="4025900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939926" y="1651015"/>
            <a:ext cx="5551488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初值定理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对于因果序列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，即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x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)=0,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&lt;0,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有 </a:t>
            </a:r>
          </a:p>
        </p:txBody>
      </p:sp>
      <p:graphicFrame>
        <p:nvGraphicFramePr>
          <p:cNvPr id="1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075791"/>
              </p:ext>
            </p:extLst>
          </p:nvPr>
        </p:nvGraphicFramePr>
        <p:xfrm>
          <a:off x="3784601" y="2803540"/>
          <a:ext cx="240030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7" name="Equation" r:id="rId6" imgW="990170" imgH="279279" progId="Equation.3">
                  <p:embed/>
                </p:oleObj>
              </mc:Choice>
              <mc:Fallback>
                <p:oleObj name="Equation" r:id="rId6" imgW="990170" imgH="279279" progId="Equation.3">
                  <p:embed/>
                  <p:pic>
                    <p:nvPicPr>
                      <p:cNvPr id="37897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4601" y="2803540"/>
                        <a:ext cx="2400300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8892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8E25163F-56F0-4728-A241-57C30AA276FE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8354580"/>
              </p:ext>
            </p:extLst>
          </p:nvPr>
        </p:nvGraphicFramePr>
        <p:xfrm>
          <a:off x="1611313" y="1736725"/>
          <a:ext cx="8869362" cy="407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Equation" r:id="rId3" imgW="2628720" imgH="1206360" progId="Equation.DSMT4">
                  <p:embed/>
                </p:oleObj>
              </mc:Choice>
              <mc:Fallback>
                <p:oleObj name="Equation" r:id="rId3" imgW="262872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1313" y="1736725"/>
                        <a:ext cx="8869362" cy="4071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174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TAG_VERSION" val="1.0"/>
  <p:tag name="KSO_WM_SLIDE_ID" val="custom20182766_12"/>
  <p:tag name="KSO_WM_SLIDE_INDEX" val="12"/>
  <p:tag name="KSO_WM_SLIDE_ITEM_CNT" val="2"/>
  <p:tag name="KSO_WM_SLIDE_LAYOUT" val="a_b"/>
  <p:tag name="KSO_WM_SLIDE_LAYOUT_CNT" val="1_1"/>
  <p:tag name="KSO_WM_SLIDE_TYPE" val="sectionTitle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766"/>
  <p:tag name="KSO_WM_UNIT_TYPE" val="a"/>
  <p:tag name="KSO_WM_UNIT_INDEX" val="1"/>
  <p:tag name="KSO_WM_UNIT_ID" val="custom20182766_12*a*1"/>
  <p:tag name="KSO_WM_UNIT_LAYERLEVEL" val="1"/>
  <p:tag name="KSO_WM_UNIT_VALUE" val="9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SECTION TITLE"/>
</p:tagLst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">
  <a:themeElements>
    <a:clrScheme name="99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BCBCD"/>
      </a:accent1>
      <a:accent2>
        <a:srgbClr val="234777"/>
      </a:accent2>
      <a:accent3>
        <a:srgbClr val="091A36"/>
      </a:accent3>
      <a:accent4>
        <a:srgbClr val="CBCBCD"/>
      </a:accent4>
      <a:accent5>
        <a:srgbClr val="44546A"/>
      </a:accent5>
      <a:accent6>
        <a:srgbClr val="23477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365</Words>
  <Application>Microsoft Office PowerPoint</Application>
  <PresentationFormat>宽屏</PresentationFormat>
  <Paragraphs>50</Paragraphs>
  <Slides>11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8" baseType="lpstr">
      <vt:lpstr>等线</vt:lpstr>
      <vt:lpstr>等线 Light</vt:lpstr>
      <vt:lpstr>微软雅黑</vt:lpstr>
      <vt:lpstr>宋体</vt:lpstr>
      <vt:lpstr>Arial</vt:lpstr>
      <vt:lpstr>Calibri</vt:lpstr>
      <vt:lpstr>Cambria Math</vt:lpstr>
      <vt:lpstr>Comic Sans MS</vt:lpstr>
      <vt:lpstr>Symbol</vt:lpstr>
      <vt:lpstr>Times New Roman</vt:lpstr>
      <vt:lpstr>Wingdings</vt:lpstr>
      <vt:lpstr>icfp99</vt:lpstr>
      <vt:lpstr>1_office 主题</vt:lpstr>
      <vt:lpstr>1_icfp99</vt:lpstr>
      <vt:lpstr>Equation</vt:lpstr>
      <vt:lpstr>公式</vt:lpstr>
      <vt:lpstr>MathType 7.0 Equation</vt:lpstr>
      <vt:lpstr>z变换</vt:lpstr>
      <vt:lpstr>第一章 习题讲解</vt:lpstr>
      <vt:lpstr>PowerPoint 演示文稿</vt:lpstr>
      <vt:lpstr>PowerPoint 演示文稿</vt:lpstr>
      <vt:lpstr>复习</vt:lpstr>
      <vt:lpstr>双边Z变换定义与ROC</vt:lpstr>
      <vt:lpstr>Z反变换（部分分式法和留数法）</vt:lpstr>
      <vt:lpstr>Z变换的性质 </vt:lpstr>
      <vt:lpstr>Z变换的性质 </vt:lpstr>
      <vt:lpstr>Z变换的性质 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离散时间系统的变换域分析——Z变换</dc:title>
  <dc:creator>Administrator</dc:creator>
  <cp:lastModifiedBy>CHAO WU</cp:lastModifiedBy>
  <cp:revision>86</cp:revision>
  <dcterms:created xsi:type="dcterms:W3CDTF">2020-08-06T07:26:29Z</dcterms:created>
  <dcterms:modified xsi:type="dcterms:W3CDTF">2023-10-19T06:40:27Z</dcterms:modified>
</cp:coreProperties>
</file>