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697" r:id="rId2"/>
  </p:sldMasterIdLst>
  <p:notesMasterIdLst>
    <p:notesMasterId r:id="rId15"/>
  </p:notesMasterIdLst>
  <p:sldIdLst>
    <p:sldId id="306" r:id="rId3"/>
    <p:sldId id="307" r:id="rId4"/>
    <p:sldId id="332" r:id="rId5"/>
    <p:sldId id="333" r:id="rId6"/>
    <p:sldId id="298" r:id="rId7"/>
    <p:sldId id="299" r:id="rId8"/>
    <p:sldId id="300" r:id="rId9"/>
    <p:sldId id="301" r:id="rId10"/>
    <p:sldId id="334" r:id="rId11"/>
    <p:sldId id="335" r:id="rId12"/>
    <p:sldId id="336" r:id="rId13"/>
    <p:sldId id="33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e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emf"/><Relationship Id="rId1" Type="http://schemas.openxmlformats.org/officeDocument/2006/relationships/image" Target="../media/image16.wmf"/><Relationship Id="rId6" Type="http://schemas.openxmlformats.org/officeDocument/2006/relationships/image" Target="../media/image21.e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D4694-0E45-4BC0-B015-0BBD0D220DE6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083B1-1128-4C87-AA51-BAED7875A2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2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05AA59-BB3F-40EC-90CD-7E967FA2DDE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02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BA316B-5AF9-453A-BB6C-B3A66DCAF6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92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88828E-D16D-4500-8352-7D636249452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89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03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940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527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69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62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04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364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33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30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74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86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E82A54-22DA-410F-ABEF-A148282DD685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63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4B616D-F430-45A3-B2FD-A074B147F3DA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02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F25EBD-7889-4D06-A5FA-7ABE535C7BE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217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9B0306-37BD-4B50-B81E-190F57FEE726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711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55E9E8-05E8-42F4-8AED-2183AE192781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5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A4AB3D-7713-4529-927E-9521FA68C7A3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214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AB772E0-243E-4D7B-BB9A-06DCA235BC98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047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BAD808-F593-4881-A275-3766FD759F40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163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59A1DF-E25B-4194-BB58-DDFBB64338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808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D9BBDC-2BCC-48D5-9527-AE1DC8D57224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874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0B9C86-C698-4C2D-A9F9-CB9444561DCE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9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81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mtClean="0">
                <a:solidFill>
                  <a:srgbClr val="3333CC"/>
                </a:solidFill>
              </a:rPr>
              <a:t>DFS</a:t>
            </a: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mtClean="0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03A3D8-4374-46BE-BE2B-F1E8B64D146B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5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9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7.bin"/><Relationship Id="rId7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9.wmf"/><Relationship Id="rId10" Type="http://schemas.openxmlformats.org/officeDocument/2006/relationships/image" Target="../media/image42.jpeg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1847850" y="1412875"/>
            <a:ext cx="3887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时域周期卷积定理：</a:t>
            </a:r>
          </a:p>
        </p:txBody>
      </p:sp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55188"/>
              </p:ext>
            </p:extLst>
          </p:nvPr>
        </p:nvGraphicFramePr>
        <p:xfrm>
          <a:off x="2905125" y="2214563"/>
          <a:ext cx="67627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2" name="Equation" r:id="rId3" imgW="2705040" imgH="253800" progId="Equation.DSMT4">
                  <p:embed/>
                </p:oleObj>
              </mc:Choice>
              <mc:Fallback>
                <p:oleObj name="Equation" r:id="rId3" imgW="2705040" imgH="253800" progId="Equation.DSMT4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2214563"/>
                        <a:ext cx="6762750" cy="62865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的基本性质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109044"/>
              </p:ext>
            </p:extLst>
          </p:nvPr>
        </p:nvGraphicFramePr>
        <p:xfrm>
          <a:off x="2927350" y="3860800"/>
          <a:ext cx="70580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3" name="Equation" r:id="rId5" imgW="2971800" imgH="393480" progId="Equation.DSMT4">
                  <p:embed/>
                </p:oleObj>
              </mc:Choice>
              <mc:Fallback>
                <p:oleObj name="Equation" r:id="rId5" imgW="2971800" imgH="393480" progId="Equation.DSMT4">
                  <p:embed/>
                  <p:pic>
                    <p:nvPicPr>
                      <p:cNvPr id="153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3860800"/>
                        <a:ext cx="7058025" cy="93027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1992314" y="3284538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频域周期卷积定理：</a:t>
            </a:r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2566988" y="5373689"/>
            <a:ext cx="6553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时域的周期卷积对应频域的乘积；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时域的乘积对应频域的周期卷积。</a:t>
            </a:r>
          </a:p>
        </p:txBody>
      </p:sp>
    </p:spTree>
    <p:extLst>
      <p:ext uri="{BB962C8B-B14F-4D97-AF65-F5344CB8AC3E}">
        <p14:creationId xmlns:p14="http://schemas.microsoft.com/office/powerpoint/2010/main" val="160965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847850" y="1412875"/>
            <a:ext cx="3887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Parseval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定理：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088662"/>
              </p:ext>
            </p:extLst>
          </p:nvPr>
        </p:nvGraphicFramePr>
        <p:xfrm>
          <a:off x="3919538" y="2235200"/>
          <a:ext cx="3968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5" name="Equation" r:id="rId3" imgW="1587240" imgH="368280" progId="Equation.DSMT4">
                  <p:embed/>
                </p:oleObj>
              </mc:Choice>
              <mc:Fallback>
                <p:oleObj name="Equation" r:id="rId3" imgW="1587240" imgH="368280" progId="Equation.DSMT4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538" y="2235200"/>
                        <a:ext cx="3968750" cy="9144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3935413" y="260351"/>
            <a:ext cx="4114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的基本性质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1752600" y="8366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2711451" y="3933825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时域周期序列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的能量等于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频域周期序列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的能量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77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DFS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421763" y="1268413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周期为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的任意序列</a:t>
            </a:r>
          </a:p>
        </p:txBody>
      </p:sp>
      <p:graphicFrame>
        <p:nvGraphicFramePr>
          <p:cNvPr id="821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033485"/>
              </p:ext>
            </p:extLst>
          </p:nvPr>
        </p:nvGraphicFramePr>
        <p:xfrm>
          <a:off x="421763" y="3848100"/>
          <a:ext cx="557265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3" name="Equation" r:id="rId3" imgW="2234880" imgH="444240" progId="Equation.DSMT4">
                  <p:embed/>
                </p:oleObj>
              </mc:Choice>
              <mc:Fallback>
                <p:oleObj name="Equation" r:id="rId3" imgW="2234880" imgH="444240" progId="Equation.DSMT4">
                  <p:embed/>
                  <p:pic>
                    <p:nvPicPr>
                      <p:cNvPr id="82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63" y="3848100"/>
                        <a:ext cx="5572655" cy="11064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792237"/>
              </p:ext>
            </p:extLst>
          </p:nvPr>
        </p:nvGraphicFramePr>
        <p:xfrm>
          <a:off x="421763" y="2132806"/>
          <a:ext cx="557265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4" name="Equation" r:id="rId5" imgW="2489040" imgH="444240" progId="Equation.DSMT4">
                  <p:embed/>
                </p:oleObj>
              </mc:Choice>
              <mc:Fallback>
                <p:oleObj name="Equation" r:id="rId5" imgW="2489040" imgH="444240" progId="Equation.DSMT4">
                  <p:embed/>
                  <p:pic>
                    <p:nvPicPr>
                      <p:cNvPr id="82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63" y="2132806"/>
                        <a:ext cx="5572655" cy="1108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/>
          <p:cNvGraphicFramePr>
            <a:graphicFrameLocks noChangeAspect="1"/>
          </p:cNvGraphicFramePr>
          <p:nvPr>
            <p:extLst/>
          </p:nvPr>
        </p:nvGraphicFramePr>
        <p:xfrm>
          <a:off x="3187700" y="1236663"/>
          <a:ext cx="730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5" name="Equation" r:id="rId7" imgW="291960" imgH="203040" progId="Equation.DSMT4">
                  <p:embed/>
                </p:oleObj>
              </mc:Choice>
              <mc:Fallback>
                <p:oleObj name="Equation" r:id="rId7" imgW="291960" imgH="203040" progId="Equation.DSMT4">
                  <p:embed/>
                  <p:pic>
                    <p:nvPicPr>
                      <p:cNvPr id="822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1236663"/>
                        <a:ext cx="730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3886200" y="319088"/>
            <a:ext cx="42672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22" name="Rectangle 30"/>
          <p:cNvSpPr>
            <a:spLocks noChangeArrowheads="1"/>
          </p:cNvSpPr>
          <p:nvPr/>
        </p:nvSpPr>
        <p:spPr bwMode="auto">
          <a:xfrm>
            <a:off x="1562100" y="106389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615080"/>
              </p:ext>
            </p:extLst>
          </p:nvPr>
        </p:nvGraphicFramePr>
        <p:xfrm>
          <a:off x="6243638" y="3798888"/>
          <a:ext cx="36210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6" name="Equation" r:id="rId9" imgW="1447560" imgH="431640" progId="Equation.DSMT4">
                  <p:embed/>
                </p:oleObj>
              </mc:Choice>
              <mc:Fallback>
                <p:oleObj name="Equation" r:id="rId9" imgW="1447560" imgH="43164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3798888"/>
                        <a:ext cx="3621087" cy="10795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6243638" y="2100263"/>
          <a:ext cx="47085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7" name="Equation" r:id="rId11" imgW="1879560" imgH="393480" progId="Equation.DSMT4">
                  <p:embed/>
                </p:oleObj>
              </mc:Choice>
              <mc:Fallback>
                <p:oleObj name="Equation" r:id="rId11" imgW="1879560" imgH="39348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2100263"/>
                        <a:ext cx="4708525" cy="9826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9463" y="91926"/>
            <a:ext cx="7773074" cy="908383"/>
          </a:xfrm>
          <a:prstGeom prst="rect">
            <a:avLst/>
          </a:prstGeom>
        </p:spPr>
      </p:pic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6243638" y="1211212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非周期任意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</a:t>
            </a:r>
          </a:p>
        </p:txBody>
      </p:sp>
    </p:spTree>
    <p:extLst>
      <p:ext uri="{BB962C8B-B14F-4D97-AF65-F5344CB8AC3E}">
        <p14:creationId xmlns:p14="http://schemas.microsoft.com/office/powerpoint/2010/main" val="259085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657601" y="152400"/>
            <a:ext cx="5091113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频域采样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Picture 7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592264"/>
            <a:ext cx="5845175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81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7400" y="762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anchor="ctr"/>
          <a:lstStyle/>
          <a:p>
            <a:r>
              <a:rPr lang="en-US" altLang="zh-CN" sz="3200" dirty="0">
                <a:solidFill>
                  <a:schemeClr val="tx1"/>
                </a:solidFill>
              </a:rPr>
              <a:t>DTFT</a:t>
            </a:r>
            <a:r>
              <a:rPr lang="zh-CN" altLang="en-US" sz="3200" dirty="0">
                <a:solidFill>
                  <a:schemeClr val="tx1"/>
                </a:solidFill>
              </a:rPr>
              <a:t>的频域抽样</a:t>
            </a:r>
          </a:p>
        </p:txBody>
      </p:sp>
      <p:grpSp>
        <p:nvGrpSpPr>
          <p:cNvPr id="53252" name="Group 4"/>
          <p:cNvGrpSpPr>
            <a:grpSpLocks/>
          </p:cNvGrpSpPr>
          <p:nvPr/>
        </p:nvGrpSpPr>
        <p:grpSpPr bwMode="auto">
          <a:xfrm>
            <a:off x="2654301" y="3209925"/>
            <a:ext cx="6245225" cy="1074738"/>
            <a:chOff x="674" y="2448"/>
            <a:chExt cx="3934" cy="677"/>
          </a:xfrm>
        </p:grpSpPr>
        <p:graphicFrame>
          <p:nvGraphicFramePr>
            <p:cNvPr id="5325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442552"/>
                </p:ext>
              </p:extLst>
            </p:nvPr>
          </p:nvGraphicFramePr>
          <p:xfrm>
            <a:off x="674" y="2448"/>
            <a:ext cx="2278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6" name="Equation" r:id="rId3" imgW="1447560" imgH="431640" progId="Equation.DSMT4">
                    <p:embed/>
                  </p:oleObj>
                </mc:Choice>
                <mc:Fallback>
                  <p:oleObj name="Equation" r:id="rId3" imgW="1447560" imgH="431640" progId="Equation.DSMT4">
                    <p:embed/>
                    <p:pic>
                      <p:nvPicPr>
                        <p:cNvPr id="5325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" y="2448"/>
                          <a:ext cx="2278" cy="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4" name="Text Box 6"/>
            <p:cNvSpPr txBox="1">
              <a:spLocks noChangeArrowheads="1"/>
            </p:cNvSpPr>
            <p:nvPr/>
          </p:nvSpPr>
          <p:spPr bwMode="auto">
            <a:xfrm>
              <a:off x="2928" y="2640"/>
              <a:ext cx="1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是周期为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的序列</a:t>
              </a:r>
            </a:p>
          </p:txBody>
        </p:sp>
      </p:grpSp>
      <p:graphicFrame>
        <p:nvGraphicFramePr>
          <p:cNvPr id="5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763187"/>
              </p:ext>
            </p:extLst>
          </p:nvPr>
        </p:nvGraphicFramePr>
        <p:xfrm>
          <a:off x="2692400" y="4257675"/>
          <a:ext cx="51117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7" name="Equation" r:id="rId5" imgW="2044440" imgH="431640" progId="Equation.DSMT4">
                  <p:embed/>
                </p:oleObj>
              </mc:Choice>
              <mc:Fallback>
                <p:oleObj name="Equation" r:id="rId5" imgW="2044440" imgH="431640" progId="Equation.DSMT4">
                  <p:embed/>
                  <p:pic>
                    <p:nvPicPr>
                      <p:cNvPr id="532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4257675"/>
                        <a:ext cx="51117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923001"/>
              </p:ext>
            </p:extLst>
          </p:nvPr>
        </p:nvGraphicFramePr>
        <p:xfrm>
          <a:off x="3111500" y="5267325"/>
          <a:ext cx="33337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8" name="Equation" r:id="rId7" imgW="1333440" imgH="431640" progId="Equation.DSMT4">
                  <p:embed/>
                </p:oleObj>
              </mc:Choice>
              <mc:Fallback>
                <p:oleObj name="Equation" r:id="rId7" imgW="1333440" imgH="431640" progId="Equation.DSMT4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5267325"/>
                        <a:ext cx="33337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858655"/>
              </p:ext>
            </p:extLst>
          </p:nvPr>
        </p:nvGraphicFramePr>
        <p:xfrm>
          <a:off x="6543675" y="5513388"/>
          <a:ext cx="1241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9" name="Equation" r:id="rId9" imgW="495000" imgH="228600" progId="Equation.DSMT4">
                  <p:embed/>
                </p:oleObj>
              </mc:Choice>
              <mc:Fallback>
                <p:oleObj name="Equation" r:id="rId9" imgW="495000" imgH="228600" progId="Equation.DSMT4">
                  <p:embed/>
                  <p:pic>
                    <p:nvPicPr>
                      <p:cNvPr id="53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5513388"/>
                        <a:ext cx="1241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2336800" y="1412876"/>
          <a:ext cx="69151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0" name="公式" r:id="rId11" imgW="2882880" imgH="215640" progId="Equation.3">
                  <p:embed/>
                </p:oleObj>
              </mc:Choice>
              <mc:Fallback>
                <p:oleObj name="公式" r:id="rId11" imgW="2882880" imgH="215640" progId="Equation.3">
                  <p:embed/>
                  <p:pic>
                    <p:nvPicPr>
                      <p:cNvPr id="532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412876"/>
                        <a:ext cx="69151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Rectangle 11"/>
          <p:cNvSpPr>
            <a:spLocks noChangeArrowheads="1"/>
          </p:cNvSpPr>
          <p:nvPr/>
        </p:nvSpPr>
        <p:spPr bwMode="auto">
          <a:xfrm>
            <a:off x="1676400" y="9080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143251" y="2060576"/>
            <a:ext cx="6119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可否利用其样点序列表达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(e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800" b="0" i="1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246433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271159"/>
              </p:ext>
            </p:extLst>
          </p:nvPr>
        </p:nvGraphicFramePr>
        <p:xfrm>
          <a:off x="1524001" y="1"/>
          <a:ext cx="4340225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2" name="Picture" r:id="rId3" imgW="2169000" imgH="714960" progId="Word.Picture.8">
                  <p:embed/>
                </p:oleObj>
              </mc:Choice>
              <mc:Fallback>
                <p:oleObj name="Picture" r:id="rId3" imgW="2169000" imgH="714960" progId="Word.Picture.8">
                  <p:embed/>
                  <p:pic>
                    <p:nvPicPr>
                      <p:cNvPr id="542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"/>
                        <a:ext cx="4340225" cy="1433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6403976" y="1"/>
          <a:ext cx="4340225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3" name="图片" r:id="rId5" imgW="2169000" imgH="714960" progId="Word.Picture.8">
                  <p:embed/>
                </p:oleObj>
              </mc:Choice>
              <mc:Fallback>
                <p:oleObj name="图片" r:id="rId5" imgW="2169000" imgH="714960" progId="Word.Picture.8">
                  <p:embed/>
                  <p:pic>
                    <p:nvPicPr>
                      <p:cNvPr id="542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976" y="1"/>
                        <a:ext cx="4340225" cy="143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113395"/>
              </p:ext>
            </p:extLst>
          </p:nvPr>
        </p:nvGraphicFramePr>
        <p:xfrm>
          <a:off x="6113463" y="177800"/>
          <a:ext cx="8858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4" name="Equation" r:id="rId7" imgW="355320" imgH="228600" progId="Equation.DSMT4">
                  <p:embed/>
                </p:oleObj>
              </mc:Choice>
              <mc:Fallback>
                <p:oleObj name="Equation" r:id="rId7" imgW="355320" imgH="228600" progId="Equation.DSMT4">
                  <p:embed/>
                  <p:pic>
                    <p:nvPicPr>
                      <p:cNvPr id="54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177800"/>
                        <a:ext cx="8858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965062"/>
              </p:ext>
            </p:extLst>
          </p:nvPr>
        </p:nvGraphicFramePr>
        <p:xfrm>
          <a:off x="1527176" y="1462088"/>
          <a:ext cx="4340225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5" name="Picture" r:id="rId9" imgW="2169000" imgH="714960" progId="Word.Picture.8">
                  <p:embed/>
                </p:oleObj>
              </mc:Choice>
              <mc:Fallback>
                <p:oleObj name="Picture" r:id="rId9" imgW="2169000" imgH="714960" progId="Word.Picture.8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6" y="1462088"/>
                        <a:ext cx="4340225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697587"/>
              </p:ext>
            </p:extLst>
          </p:nvPr>
        </p:nvGraphicFramePr>
        <p:xfrm>
          <a:off x="1524001" y="2833688"/>
          <a:ext cx="4340225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6" name="Picture" r:id="rId11" imgW="2169000" imgH="714960" progId="Word.Picture.8">
                  <p:embed/>
                </p:oleObj>
              </mc:Choice>
              <mc:Fallback>
                <p:oleObj name="Picture" r:id="rId11" imgW="2169000" imgH="714960" progId="Word.Picture.8">
                  <p:embed/>
                  <p:pic>
                    <p:nvPicPr>
                      <p:cNvPr id="542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2833688"/>
                        <a:ext cx="4340225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1524000" y="5148264"/>
          <a:ext cx="4440238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7" name="图片" r:id="rId13" imgW="2219400" imgH="952560" progId="Word.Picture.8">
                  <p:embed/>
                </p:oleObj>
              </mc:Choice>
              <mc:Fallback>
                <p:oleObj name="图片" r:id="rId13" imgW="2219400" imgH="952560" progId="Word.Picture.8">
                  <p:embed/>
                  <p:pic>
                    <p:nvPicPr>
                      <p:cNvPr id="542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0234"/>
                      <a:stretch>
                        <a:fillRect/>
                      </a:stretch>
                    </p:blipFill>
                    <p:spPr bwMode="auto">
                      <a:xfrm>
                        <a:off x="1524000" y="5148264"/>
                        <a:ext cx="4440238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16859"/>
              </p:ext>
            </p:extLst>
          </p:nvPr>
        </p:nvGraphicFramePr>
        <p:xfrm>
          <a:off x="2998788" y="4579938"/>
          <a:ext cx="8524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8" name="Equation" r:id="rId15" imgW="342720" imgH="228600" progId="Equation.DSMT4">
                  <p:embed/>
                </p:oleObj>
              </mc:Choice>
              <mc:Fallback>
                <p:oleObj name="Equation" r:id="rId15" imgW="342720" imgH="228600" progId="Equation.DSMT4">
                  <p:embed/>
                  <p:pic>
                    <p:nvPicPr>
                      <p:cNvPr id="542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4579938"/>
                        <a:ext cx="8524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6096000" y="2590800"/>
            <a:ext cx="4572000" cy="160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结论：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当序列长度不超过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周期化后的序列和原序列一个周期内的值相同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6096000" y="4664076"/>
            <a:ext cx="457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当序列长度超过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时，周期化后的序列会出现混叠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(aliasing)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722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3" grpId="0" autoUpdateAnimBg="0"/>
      <p:bldP spid="5428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674149"/>
              </p:ext>
            </p:extLst>
          </p:nvPr>
        </p:nvGraphicFramePr>
        <p:xfrm>
          <a:off x="3262313" y="142875"/>
          <a:ext cx="5667375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0" name="Equation" r:id="rId3" imgW="2361960" imgH="482400" progId="Equation.DSMT4">
                  <p:embed/>
                </p:oleObj>
              </mc:Choice>
              <mc:Fallback>
                <p:oleObj name="Equation" r:id="rId3" imgW="2361960" imgH="482400" progId="Equation.DSMT4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2875"/>
                        <a:ext cx="5667375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548178"/>
              </p:ext>
            </p:extLst>
          </p:nvPr>
        </p:nvGraphicFramePr>
        <p:xfrm>
          <a:off x="1995488" y="1550988"/>
          <a:ext cx="5807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" name="Equation" r:id="rId5" imgW="2323800" imgH="203040" progId="Equation.DSMT4">
                  <p:embed/>
                </p:oleObj>
              </mc:Choice>
              <mc:Fallback>
                <p:oleObj name="Equation" r:id="rId5" imgW="2323800" imgH="203040" progId="Equation.DSMT4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1550988"/>
                        <a:ext cx="5807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495560"/>
              </p:ext>
            </p:extLst>
          </p:nvPr>
        </p:nvGraphicFramePr>
        <p:xfrm>
          <a:off x="2043113" y="2159000"/>
          <a:ext cx="51498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2" name="Equation" r:id="rId7" imgW="2145960" imgH="431640" progId="Equation.DSMT4">
                  <p:embed/>
                </p:oleObj>
              </mc:Choice>
              <mc:Fallback>
                <p:oleObj name="Equation" r:id="rId7" imgW="2145960" imgH="431640" progId="Equation.DSMT4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2159000"/>
                        <a:ext cx="514985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416878"/>
              </p:ext>
            </p:extLst>
          </p:nvPr>
        </p:nvGraphicFramePr>
        <p:xfrm>
          <a:off x="6918854" y="2265363"/>
          <a:ext cx="24669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3" name="Equation" r:id="rId9" imgW="1028520" imgH="431640" progId="Equation.DSMT4">
                  <p:embed/>
                </p:oleObj>
              </mc:Choice>
              <mc:Fallback>
                <p:oleObj name="Equation" r:id="rId9" imgW="1028520" imgH="431640" progId="Equation.DSMT4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854" y="2265363"/>
                        <a:ext cx="246697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060488"/>
              </p:ext>
            </p:extLst>
          </p:nvPr>
        </p:nvGraphicFramePr>
        <p:xfrm>
          <a:off x="2322513" y="3381375"/>
          <a:ext cx="54975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4" name="Equation" r:id="rId11" imgW="2197080" imgH="482400" progId="Equation.DSMT4">
                  <p:embed/>
                </p:oleObj>
              </mc:Choice>
              <mc:Fallback>
                <p:oleObj name="Equation" r:id="rId11" imgW="2197080" imgH="482400" progId="Equation.DSMT4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3381375"/>
                        <a:ext cx="54975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169052"/>
              </p:ext>
            </p:extLst>
          </p:nvPr>
        </p:nvGraphicFramePr>
        <p:xfrm>
          <a:off x="4000500" y="4781550"/>
          <a:ext cx="4351338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5" name="Equation" r:id="rId13" imgW="1739880" imgH="482400" progId="Equation.DSMT4">
                  <p:embed/>
                </p:oleObj>
              </mc:Choice>
              <mc:Fallback>
                <p:oleObj name="Equation" r:id="rId13" imgW="1739880" imgH="482400" progId="Equation.DSMT4">
                  <p:embed/>
                  <p:pic>
                    <p:nvPicPr>
                      <p:cNvPr id="55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4781550"/>
                        <a:ext cx="4351338" cy="1204913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1752600" y="12684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3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6" name="Text Box 8"/>
          <p:cNvSpPr txBox="1">
            <a:spLocks noChangeArrowheads="1"/>
          </p:cNvSpPr>
          <p:nvPr/>
        </p:nvSpPr>
        <p:spPr bwMode="auto">
          <a:xfrm>
            <a:off x="6240463" y="3429001"/>
            <a:ext cx="4068762" cy="100647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X(e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在频域的离散化导致对应的时域序列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的周期化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graphicFrame>
        <p:nvGraphicFramePr>
          <p:cNvPr id="737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970513"/>
              </p:ext>
            </p:extLst>
          </p:nvPr>
        </p:nvGraphicFramePr>
        <p:xfrm>
          <a:off x="2751139" y="1125538"/>
          <a:ext cx="26368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0" name="Equation" r:id="rId3" imgW="1054080" imgH="215640" progId="Equation.DSMT4">
                  <p:embed/>
                </p:oleObj>
              </mc:Choice>
              <mc:Fallback>
                <p:oleObj name="Equation" r:id="rId3" imgW="1054080" imgH="215640" progId="Equation.DSMT4">
                  <p:embed/>
                  <p:pic>
                    <p:nvPicPr>
                      <p:cNvPr id="737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9" y="1125538"/>
                        <a:ext cx="2636837" cy="53975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5"/>
          <p:cNvGraphicFramePr>
            <a:graphicFrameLocks noChangeAspect="1"/>
          </p:cNvGraphicFramePr>
          <p:nvPr/>
        </p:nvGraphicFramePr>
        <p:xfrm>
          <a:off x="1919288" y="2349500"/>
          <a:ext cx="43926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1" name="公式" r:id="rId5" imgW="2044440" imgH="393480" progId="Equation.3">
                  <p:embed/>
                </p:oleObj>
              </mc:Choice>
              <mc:Fallback>
                <p:oleObj name="公式" r:id="rId5" imgW="2044440" imgH="393480" progId="Equation.3">
                  <p:embed/>
                  <p:pic>
                    <p:nvPicPr>
                      <p:cNvPr id="737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2349500"/>
                        <a:ext cx="4392612" cy="846138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4" name="AutoShape 16"/>
          <p:cNvSpPr>
            <a:spLocks noChangeArrowheads="1"/>
          </p:cNvSpPr>
          <p:nvPr/>
        </p:nvSpPr>
        <p:spPr bwMode="auto">
          <a:xfrm>
            <a:off x="9048751" y="1628775"/>
            <a:ext cx="288925" cy="647700"/>
          </a:xfrm>
          <a:prstGeom prst="upDownArrow">
            <a:avLst>
              <a:gd name="adj1" fmla="val 50000"/>
              <a:gd name="adj2" fmla="val 44835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45" name="AutoShape 17"/>
          <p:cNvSpPr>
            <a:spLocks noChangeArrowheads="1"/>
          </p:cNvSpPr>
          <p:nvPr/>
        </p:nvSpPr>
        <p:spPr bwMode="auto">
          <a:xfrm>
            <a:off x="7104064" y="1628775"/>
            <a:ext cx="288925" cy="647700"/>
          </a:xfrm>
          <a:prstGeom prst="upDownArrow">
            <a:avLst>
              <a:gd name="adj1" fmla="val 50000"/>
              <a:gd name="adj2" fmla="val 44835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46" name="AutoShape 18"/>
          <p:cNvSpPr>
            <a:spLocks noChangeArrowheads="1"/>
          </p:cNvSpPr>
          <p:nvPr/>
        </p:nvSpPr>
        <p:spPr bwMode="auto">
          <a:xfrm>
            <a:off x="4800601" y="1700213"/>
            <a:ext cx="288925" cy="647700"/>
          </a:xfrm>
          <a:prstGeom prst="upDownArrow">
            <a:avLst>
              <a:gd name="adj1" fmla="val 50000"/>
              <a:gd name="adj2" fmla="val 44835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47" name="AutoShape 19"/>
          <p:cNvSpPr>
            <a:spLocks noChangeArrowheads="1"/>
          </p:cNvSpPr>
          <p:nvPr/>
        </p:nvSpPr>
        <p:spPr bwMode="auto">
          <a:xfrm>
            <a:off x="2927351" y="1700213"/>
            <a:ext cx="288925" cy="647700"/>
          </a:xfrm>
          <a:prstGeom prst="upDownArrow">
            <a:avLst>
              <a:gd name="adj1" fmla="val 50000"/>
              <a:gd name="adj2" fmla="val 44835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1919288" y="3429001"/>
            <a:ext cx="4032250" cy="100647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在时域的离散化导致对应的频谱函数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(j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的周期化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2208214" y="5229226"/>
            <a:ext cx="7991475" cy="1006475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时域抽样定理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频域抽样定理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为利用数字化方式处理信号奠定了理论基础。</a:t>
            </a:r>
          </a:p>
        </p:txBody>
      </p:sp>
      <p:sp>
        <p:nvSpPr>
          <p:cNvPr id="73750" name="Rectangle 22"/>
          <p:cNvSpPr>
            <a:spLocks noChangeArrowheads="1"/>
          </p:cNvSpPr>
          <p:nvPr/>
        </p:nvSpPr>
        <p:spPr bwMode="auto">
          <a:xfrm>
            <a:off x="1676400" y="76517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时域抽样和频域抽样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52" name="Text Box 24"/>
          <p:cNvSpPr txBox="1">
            <a:spLocks noChangeArrowheads="1"/>
          </p:cNvSpPr>
          <p:nvPr/>
        </p:nvSpPr>
        <p:spPr bwMode="auto">
          <a:xfrm>
            <a:off x="2135189" y="1844675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CTFT</a:t>
            </a:r>
          </a:p>
        </p:txBody>
      </p:sp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4079876" y="1844675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6311901" y="1773238"/>
            <a:ext cx="792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IDTFT</a:t>
            </a:r>
          </a:p>
        </p:txBody>
      </p:sp>
      <p:sp>
        <p:nvSpPr>
          <p:cNvPr id="73755" name="Text Box 27"/>
          <p:cNvSpPr txBox="1">
            <a:spLocks noChangeArrowheads="1"/>
          </p:cNvSpPr>
          <p:nvPr/>
        </p:nvSpPr>
        <p:spPr bwMode="auto">
          <a:xfrm>
            <a:off x="8328025" y="1773238"/>
            <a:ext cx="649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IDFS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9414" y="996422"/>
            <a:ext cx="2897665" cy="6381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0063" y="2291299"/>
            <a:ext cx="3258589" cy="89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4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37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374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3.3</a:t>
            </a:r>
            <a:r>
              <a:rPr lang="zh-CN" altLang="en-US" dirty="0">
                <a:ea typeface="宋体" panose="02010600030101010101" pitchFamily="2" charset="-122"/>
              </a:rPr>
              <a:t>有限长序列离散傅里叶变换（</a:t>
            </a:r>
            <a:r>
              <a:rPr lang="en-US" altLang="zh-CN" dirty="0">
                <a:ea typeface="宋体" panose="02010600030101010101" pitchFamily="2" charset="-122"/>
              </a:rPr>
              <a:t>DFT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A56291-5A7C-4D3F-A888-AD2AE5DC83D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9396" name="Picture 7" descr="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592264"/>
            <a:ext cx="5845175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42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6CCD1E-ED66-47C4-8793-FAD141627E15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228600"/>
            <a:ext cx="7162800" cy="9144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3.3</a:t>
            </a:r>
            <a:r>
              <a:rPr lang="zh-CN" altLang="en-US" dirty="0" smtClean="0">
                <a:ea typeface="宋体" panose="02010600030101010101" pitchFamily="2" charset="-122"/>
              </a:rPr>
              <a:t>有限长序列离散傅里叶变换（</a:t>
            </a:r>
            <a:r>
              <a:rPr lang="en-US" altLang="zh-CN" dirty="0" smtClean="0">
                <a:ea typeface="宋体" panose="02010600030101010101" pitchFamily="2" charset="-122"/>
              </a:rPr>
              <a:t>DFT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64516" name="Picture 5" descr="2-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2114550"/>
            <a:ext cx="517207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TextBox 2"/>
          <p:cNvSpPr txBox="1">
            <a:spLocks noChangeArrowheads="1"/>
          </p:cNvSpPr>
          <p:nvPr/>
        </p:nvSpPr>
        <p:spPr bwMode="auto">
          <a:xfrm>
            <a:off x="2057401" y="15049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有限长序列和周期序列的关系</a:t>
            </a:r>
          </a:p>
        </p:txBody>
      </p:sp>
      <p:graphicFrame>
        <p:nvGraphicFramePr>
          <p:cNvPr id="64518" name="对象 3"/>
          <p:cNvGraphicFramePr>
            <a:graphicFrameLocks noChangeAspect="1"/>
          </p:cNvGraphicFramePr>
          <p:nvPr/>
        </p:nvGraphicFramePr>
        <p:xfrm>
          <a:off x="7602539" y="2679701"/>
          <a:ext cx="1895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4" name="Equation" r:id="rId5" imgW="1130300" imgH="228600" progId="Equation.3">
                  <p:embed/>
                </p:oleObj>
              </mc:Choice>
              <mc:Fallback>
                <p:oleObj name="Equation" r:id="rId5" imgW="1130300" imgH="228600" progId="Equation.3">
                  <p:embed/>
                  <p:pic>
                    <p:nvPicPr>
                      <p:cNvPr id="64518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539" y="2679701"/>
                        <a:ext cx="1895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9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950" y="4495801"/>
            <a:ext cx="2178050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0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088" y="5257800"/>
            <a:ext cx="9763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445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65FA7C-502F-44B9-BA64-6DD907990F8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6705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的定义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65540" name="对象 2"/>
          <p:cNvGraphicFramePr>
            <a:graphicFrameLocks noChangeAspect="1"/>
          </p:cNvGraphicFramePr>
          <p:nvPr/>
        </p:nvGraphicFramePr>
        <p:xfrm>
          <a:off x="4437063" y="1535114"/>
          <a:ext cx="46609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2" name="Equation" r:id="rId4" imgW="2374900" imgH="965200" progId="Equation.3">
                  <p:embed/>
                </p:oleObj>
              </mc:Choice>
              <mc:Fallback>
                <p:oleObj name="Equation" r:id="rId4" imgW="2374900" imgH="965200" progId="Equation.3">
                  <p:embed/>
                  <p:pic>
                    <p:nvPicPr>
                      <p:cNvPr id="6554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1535114"/>
                        <a:ext cx="46609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对象 3"/>
          <p:cNvGraphicFramePr>
            <a:graphicFrameLocks noChangeAspect="1"/>
          </p:cNvGraphicFramePr>
          <p:nvPr/>
        </p:nvGraphicFramePr>
        <p:xfrm>
          <a:off x="4484688" y="3859214"/>
          <a:ext cx="4735512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3" name="Equation" r:id="rId6" imgW="1993900" imgH="749300" progId="Equation.DSMT4">
                  <p:embed/>
                </p:oleObj>
              </mc:Choice>
              <mc:Fallback>
                <p:oleObj name="Equation" r:id="rId6" imgW="1993900" imgH="749300" progId="Equation.DSMT4">
                  <p:embed/>
                  <p:pic>
                    <p:nvPicPr>
                      <p:cNvPr id="65541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3859214"/>
                        <a:ext cx="4735512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Box 4"/>
          <p:cNvSpPr txBox="1">
            <a:spLocks noChangeArrowheads="1"/>
          </p:cNvSpPr>
          <p:nvPr/>
        </p:nvSpPr>
        <p:spPr bwMode="auto">
          <a:xfrm>
            <a:off x="2819401" y="228600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DFS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3" name="TextBox 5"/>
          <p:cNvSpPr txBox="1">
            <a:spLocks noChangeArrowheads="1"/>
          </p:cNvSpPr>
          <p:nvPr/>
        </p:nvSpPr>
        <p:spPr bwMode="auto">
          <a:xfrm>
            <a:off x="2895601" y="457200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DFT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35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33A9B6-3E71-4237-A4D0-28CF5B18FF0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04800"/>
            <a:ext cx="6781800" cy="914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与序列傅里叶变换、</a:t>
            </a:r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变换的关系</a:t>
            </a:r>
          </a:p>
        </p:txBody>
      </p:sp>
      <p:graphicFrame>
        <p:nvGraphicFramePr>
          <p:cNvPr id="67588" name="对象 2"/>
          <p:cNvGraphicFramePr>
            <a:graphicFrameLocks noChangeAspect="1"/>
          </p:cNvGraphicFramePr>
          <p:nvPr/>
        </p:nvGraphicFramePr>
        <p:xfrm>
          <a:off x="2209800" y="1447801"/>
          <a:ext cx="27432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0" name="Equation" r:id="rId4" imgW="1167893" imgH="431613" progId="Equation.3">
                  <p:embed/>
                </p:oleObj>
              </mc:Choice>
              <mc:Fallback>
                <p:oleObj name="Equation" r:id="rId4" imgW="1167893" imgH="431613" progId="Equation.3">
                  <p:embed/>
                  <p:pic>
                    <p:nvPicPr>
                      <p:cNvPr id="67588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47801"/>
                        <a:ext cx="27432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对象 3"/>
          <p:cNvGraphicFramePr>
            <a:graphicFrameLocks noChangeAspect="1"/>
          </p:cNvGraphicFramePr>
          <p:nvPr/>
        </p:nvGraphicFramePr>
        <p:xfrm>
          <a:off x="2209801" y="2743200"/>
          <a:ext cx="40624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1" name="Equation" r:id="rId6" imgW="1675673" imgH="304668" progId="Equation.DSMT4">
                  <p:embed/>
                </p:oleObj>
              </mc:Choice>
              <mc:Fallback>
                <p:oleObj name="Equation" r:id="rId6" imgW="1675673" imgH="304668" progId="Equation.DSMT4">
                  <p:embed/>
                  <p:pic>
                    <p:nvPicPr>
                      <p:cNvPr id="67589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743200"/>
                        <a:ext cx="406241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对象 4"/>
          <p:cNvGraphicFramePr>
            <a:graphicFrameLocks noChangeAspect="1"/>
          </p:cNvGraphicFramePr>
          <p:nvPr/>
        </p:nvGraphicFramePr>
        <p:xfrm>
          <a:off x="7297738" y="2743201"/>
          <a:ext cx="24558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Equation" r:id="rId8" imgW="1130300" imgH="279400" progId="Equation.3">
                  <p:embed/>
                </p:oleObj>
              </mc:Choice>
              <mc:Fallback>
                <p:oleObj name="Equation" r:id="rId8" imgW="1130300" imgH="279400" progId="Equation.3">
                  <p:embed/>
                  <p:pic>
                    <p:nvPicPr>
                      <p:cNvPr id="6759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743201"/>
                        <a:ext cx="245586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91" name="Picture 7" descr="2-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3657600"/>
            <a:ext cx="777716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100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230</Words>
  <Application>Microsoft Office PowerPoint</Application>
  <PresentationFormat>宽屏</PresentationFormat>
  <Paragraphs>47</Paragraphs>
  <Slides>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等线</vt:lpstr>
      <vt:lpstr>宋体</vt:lpstr>
      <vt:lpstr>华文仿宋</vt:lpstr>
      <vt:lpstr>Arial</vt:lpstr>
      <vt:lpstr>Comic Sans MS</vt:lpstr>
      <vt:lpstr>Symbol</vt:lpstr>
      <vt:lpstr>Times New Roman</vt:lpstr>
      <vt:lpstr>Wingdings</vt:lpstr>
      <vt:lpstr>1_DSP</vt:lpstr>
      <vt:lpstr>DSP</vt:lpstr>
      <vt:lpstr>Equation</vt:lpstr>
      <vt:lpstr>公式</vt:lpstr>
      <vt:lpstr>Picture</vt:lpstr>
      <vt:lpstr>图片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DTFT的频域抽样</vt:lpstr>
      <vt:lpstr>PowerPoint 演示文稿</vt:lpstr>
      <vt:lpstr>PowerPoint 演示文稿</vt:lpstr>
      <vt:lpstr>PowerPoint 演示文稿</vt:lpstr>
      <vt:lpstr>3.3有限长序列离散傅里叶变换（DFT）</vt:lpstr>
      <vt:lpstr>3.3有限长序列离散傅里叶变换（DFT）</vt:lpstr>
      <vt:lpstr>DFT的定义</vt:lpstr>
      <vt:lpstr>DFT与序列傅里叶变换、Z变换的关系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3.2周期序列的离散傅立叶级数及性质</dc:title>
  <dc:creator>CHAO WU</dc:creator>
  <cp:lastModifiedBy>CHAO WU</cp:lastModifiedBy>
  <cp:revision>43</cp:revision>
  <dcterms:created xsi:type="dcterms:W3CDTF">2020-11-10T01:04:39Z</dcterms:created>
  <dcterms:modified xsi:type="dcterms:W3CDTF">2023-11-15T14:57:02Z</dcterms:modified>
</cp:coreProperties>
</file>