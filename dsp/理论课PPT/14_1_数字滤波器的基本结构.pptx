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63" r:id="rId3"/>
    <p:sldId id="275" r:id="rId4"/>
    <p:sldId id="276" r:id="rId5"/>
    <p:sldId id="277" r:id="rId6"/>
    <p:sldId id="290" r:id="rId7"/>
    <p:sldId id="264" r:id="rId8"/>
    <p:sldId id="287" r:id="rId9"/>
    <p:sldId id="265" r:id="rId10"/>
    <p:sldId id="282" r:id="rId11"/>
    <p:sldId id="283" r:id="rId12"/>
    <p:sldId id="284" r:id="rId13"/>
    <p:sldId id="288" r:id="rId14"/>
    <p:sldId id="266" r:id="rId15"/>
    <p:sldId id="289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48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0C483-3BE6-488D-A407-E3A5D2246CF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BF8DE-8FDB-4484-AB27-2A7899343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42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009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2601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D67B97-45E8-48CB-A474-66B2ACC63D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22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74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0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14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71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32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81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0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90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6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8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0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154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345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2453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85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014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82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2942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005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1412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750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794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650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70B91-9D64-45C7-9C74-1C87E30F8CE2}" type="datetimeFigureOut">
              <a:rPr lang="zh-CN" altLang="en-US" smtClean="0"/>
              <a:t>2022/12/3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517A2-40DD-4C29-AE75-8576FE4D1E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9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73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10" Type="http://schemas.openxmlformats.org/officeDocument/2006/relationships/image" Target="../media/image5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2.jpeg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5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4.2  IIR</a:t>
            </a:r>
            <a:r>
              <a:rPr lang="zh-CN" altLang="en-US" dirty="0" smtClean="0">
                <a:ea typeface="宋体" panose="02010600030101010101" pitchFamily="2" charset="-122"/>
              </a:rPr>
              <a:t>滤波器的结构</a:t>
            </a:r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0CBB642-E96C-42D6-8E8D-402992E5EC8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4" name="TextBox 4"/>
          <p:cNvSpPr txBox="1">
            <a:spLocks noChangeArrowheads="1"/>
          </p:cNvSpPr>
          <p:nvPr/>
        </p:nvSpPr>
        <p:spPr bwMode="auto">
          <a:xfrm>
            <a:off x="2209800" y="1504950"/>
            <a:ext cx="1227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3 </a:t>
            </a:r>
            <a:r>
              <a:rPr lang="zh-CN" altLang="en-US">
                <a:solidFill>
                  <a:srgbClr val="000000"/>
                </a:solidFill>
              </a:rPr>
              <a:t>级联型</a:t>
            </a:r>
          </a:p>
        </p:txBody>
      </p:sp>
      <p:graphicFrame>
        <p:nvGraphicFramePr>
          <p:cNvPr id="112645" name="对象 5"/>
          <p:cNvGraphicFramePr>
            <a:graphicFrameLocks noChangeAspect="1"/>
          </p:cNvGraphicFramePr>
          <p:nvPr/>
        </p:nvGraphicFramePr>
        <p:xfrm>
          <a:off x="3276600" y="2057401"/>
          <a:ext cx="349250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" name="Equation" r:id="rId4" imgW="2286000" imgH="838200" progId="Equation.3">
                  <p:embed/>
                </p:oleObj>
              </mc:Choice>
              <mc:Fallback>
                <p:oleObj name="Equation" r:id="rId4" imgW="2286000" imgH="838200" progId="Equation.3">
                  <p:embed/>
                  <p:pic>
                    <p:nvPicPr>
                      <p:cNvPr id="11264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57401"/>
                        <a:ext cx="349250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对象 6"/>
          <p:cNvGraphicFramePr>
            <a:graphicFrameLocks noChangeAspect="1"/>
          </p:cNvGraphicFramePr>
          <p:nvPr/>
        </p:nvGraphicFramePr>
        <p:xfrm>
          <a:off x="3276601" y="3575050"/>
          <a:ext cx="20812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" name="Equation" r:id="rId6" imgW="1205977" imgH="444307" progId="Equation.3">
                  <p:embed/>
                </p:oleObj>
              </mc:Choice>
              <mc:Fallback>
                <p:oleObj name="Equation" r:id="rId6" imgW="1205977" imgH="444307" progId="Equation.3">
                  <p:embed/>
                  <p:pic>
                    <p:nvPicPr>
                      <p:cNvPr id="112646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575050"/>
                        <a:ext cx="2081213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对象 7"/>
          <p:cNvGraphicFramePr>
            <a:graphicFrameLocks noChangeAspect="1"/>
          </p:cNvGraphicFramePr>
          <p:nvPr/>
        </p:nvGraphicFramePr>
        <p:xfrm>
          <a:off x="6524625" y="3509964"/>
          <a:ext cx="315595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" name="Equation" r:id="rId8" imgW="1828800" imgH="482600" progId="Equation.3">
                  <p:embed/>
                </p:oleObj>
              </mc:Choice>
              <mc:Fallback>
                <p:oleObj name="Equation" r:id="rId8" imgW="1828800" imgH="482600" progId="Equation.3">
                  <p:embed/>
                  <p:pic>
                    <p:nvPicPr>
                      <p:cNvPr id="112647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509964"/>
                        <a:ext cx="315595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8" name="TextBox 8"/>
          <p:cNvSpPr txBox="1">
            <a:spLocks noChangeArrowheads="1"/>
          </p:cNvSpPr>
          <p:nvPr/>
        </p:nvSpPr>
        <p:spPr bwMode="auto">
          <a:xfrm>
            <a:off x="5895975" y="3714750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其中</a:t>
            </a:r>
          </a:p>
        </p:txBody>
      </p:sp>
      <p:pic>
        <p:nvPicPr>
          <p:cNvPr id="112649" name="Picture 7" descr="4-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4638676"/>
            <a:ext cx="5715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99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7" name="AutoShape 9"/>
          <p:cNvSpPr>
            <a:spLocks noChangeArrowheads="1"/>
          </p:cNvSpPr>
          <p:nvPr/>
        </p:nvSpPr>
        <p:spPr bwMode="auto">
          <a:xfrm>
            <a:off x="4572000" y="4800600"/>
            <a:ext cx="2438400" cy="990600"/>
          </a:xfrm>
          <a:prstGeom prst="wedgeRoundRectCallout">
            <a:avLst>
              <a:gd name="adj1" fmla="val 79690"/>
              <a:gd name="adj2" fmla="val -68111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72400" cy="6858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4.2  IIR</a:t>
            </a:r>
            <a:r>
              <a:rPr lang="zh-CN" altLang="en-US" dirty="0">
                <a:ea typeface="宋体" panose="02010600030101010101" pitchFamily="2" charset="-122"/>
              </a:rPr>
              <a:t>滤波器的结构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057400" y="1367369"/>
            <a:ext cx="79248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2800" dirty="0"/>
              <a:t>	</a:t>
            </a:r>
            <a:r>
              <a:rPr lang="zh-CN" altLang="en-US" sz="2800" dirty="0"/>
              <a:t>将滤波器系统函数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z</a:t>
            </a:r>
            <a:r>
              <a:rPr lang="en-US" altLang="zh-CN" sz="2800" dirty="0"/>
              <a:t>)</a:t>
            </a:r>
            <a:r>
              <a:rPr lang="zh-CN" altLang="en-US" sz="2800" dirty="0"/>
              <a:t>的分子和分母分解为一阶和二阶实系数因子之积的形式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2641600" y="2235200"/>
          <a:ext cx="61976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公式" r:id="rId3" imgW="3098520" imgH="939600" progId="Equation.3">
                  <p:embed/>
                </p:oleObj>
              </mc:Choice>
              <mc:Fallback>
                <p:oleObj name="公式" r:id="rId3" imgW="3098520" imgH="939600" progId="Equation.3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2235200"/>
                        <a:ext cx="61976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3101976" y="4851400"/>
          <a:ext cx="55848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" name="公式" r:id="rId5" imgW="2793960" imgH="507960" progId="Equation.3">
                  <p:embed/>
                </p:oleObj>
              </mc:Choice>
              <mc:Fallback>
                <p:oleObj name="公式" r:id="rId5" imgW="2793960" imgH="507960" progId="Equation.3">
                  <p:embed/>
                  <p:pic>
                    <p:nvPicPr>
                      <p:cNvPr id="32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6" y="4851400"/>
                        <a:ext cx="558482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1981200" y="58816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画出各二阶基本节的直接型结构，再将它们级联。</a:t>
            </a:r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5791200" y="4114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7239000" y="41290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二阶基本节</a:t>
            </a:r>
          </a:p>
        </p:txBody>
      </p:sp>
    </p:spTree>
    <p:extLst>
      <p:ext uri="{BB962C8B-B14F-4D97-AF65-F5344CB8AC3E}">
        <p14:creationId xmlns:p14="http://schemas.microsoft.com/office/powerpoint/2010/main" val="82732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 animBg="1" autoUpdateAnimBg="0"/>
      <p:bldP spid="32771" grpId="0" autoUpdateAnimBg="0"/>
      <p:bldP spid="32774" grpId="0" autoUpdateAnimBg="0"/>
      <p:bldP spid="3277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4572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级联型结构信号流图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286000" y="5867401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基于转置直接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II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型的</a:t>
            </a:r>
            <a:r>
              <a:rPr lang="zh-CN" altLang="en-US" sz="2800"/>
              <a:t>级联型结构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667000" y="3290888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基于直接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II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型的</a:t>
            </a:r>
            <a:r>
              <a:rPr lang="zh-CN" altLang="en-US" sz="2800"/>
              <a:t>级联型结构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55766"/>
            <a:ext cx="8709660" cy="17351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15" y="3776119"/>
            <a:ext cx="9081770" cy="198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8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  <p:bldP spid="3379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72400" cy="685800"/>
          </a:xfrm>
        </p:spPr>
        <p:txBody>
          <a:bodyPr/>
          <a:lstStyle/>
          <a:p>
            <a:r>
              <a:rPr lang="en-US" altLang="zh-CN">
                <a:latin typeface="宋体" panose="02010600030101010101" pitchFamily="2" charset="-122"/>
              </a:rPr>
              <a:t>IIR</a:t>
            </a:r>
            <a:r>
              <a:rPr lang="zh-CN" altLang="en-US">
                <a:latin typeface="宋体" panose="02010600030101010101" pitchFamily="2" charset="-122"/>
              </a:rPr>
              <a:t>数字滤波器的级联型结构优点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077200" cy="41910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dirty="0"/>
              <a:t>优点：</a:t>
            </a:r>
          </a:p>
          <a:p>
            <a:pPr algn="just">
              <a:buFontTx/>
              <a:buNone/>
            </a:pPr>
            <a:r>
              <a:rPr lang="en-US" altLang="zh-CN" dirty="0"/>
              <a:t>1. </a:t>
            </a:r>
            <a:r>
              <a:rPr lang="zh-CN" altLang="en-US" dirty="0"/>
              <a:t>硬件实现时，可以用一个二阶节进行</a:t>
            </a:r>
            <a:r>
              <a:rPr lang="zh-CN" altLang="en-US" dirty="0" smtClean="0"/>
              <a:t>时分复用</a:t>
            </a:r>
            <a:r>
              <a:rPr lang="en-US" altLang="zh-CN" dirty="0" smtClean="0"/>
              <a:t>[</a:t>
            </a:r>
            <a:r>
              <a:rPr lang="zh-CN" altLang="en-US" dirty="0" smtClean="0"/>
              <a:t>减少同一时段处理的计算负担</a:t>
            </a:r>
            <a:r>
              <a:rPr lang="en-US" altLang="zh-CN" dirty="0" smtClean="0"/>
              <a:t>]</a:t>
            </a:r>
            <a:endParaRPr lang="zh-CN" altLang="en-US" dirty="0"/>
          </a:p>
          <a:p>
            <a:pPr algn="just">
              <a:buFontTx/>
              <a:buNone/>
            </a:pPr>
            <a:r>
              <a:rPr lang="en-US" altLang="zh-CN" dirty="0"/>
              <a:t>2. </a:t>
            </a:r>
            <a:r>
              <a:rPr lang="zh-CN" altLang="en-US" dirty="0"/>
              <a:t>每一个基本节系数变化只影响该子系统的零极点</a:t>
            </a:r>
          </a:p>
          <a:p>
            <a:pPr algn="just">
              <a:buFontTx/>
              <a:buNone/>
            </a:pPr>
            <a:r>
              <a:rPr lang="en-US" altLang="zh-CN" dirty="0"/>
              <a:t>3. </a:t>
            </a:r>
            <a:r>
              <a:rPr lang="zh-CN" altLang="en-US" dirty="0"/>
              <a:t>对系数变化的敏感度小，受有限字长的影响比直接型低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04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E157BA2-C7D1-463A-9E72-B5A8C9CE21F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2133601" y="1504950"/>
            <a:ext cx="41104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[</a:t>
            </a: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4 ] </a:t>
            </a:r>
            <a:r>
              <a:rPr lang="zh-CN" altLang="en-US" dirty="0">
                <a:solidFill>
                  <a:srgbClr val="000000"/>
                </a:solidFill>
              </a:rPr>
              <a:t>用级联型结构实现系统</a:t>
            </a:r>
            <a:r>
              <a:rPr lang="zh-CN" altLang="en-US" dirty="0" smtClean="0">
                <a:solidFill>
                  <a:srgbClr val="000000"/>
                </a:solidFill>
              </a:rPr>
              <a:t>函数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3276600" y="1905000"/>
          <a:ext cx="36782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36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36782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800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E157BA2-C7D1-463A-9E72-B5A8C9CE21FE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2133601" y="1504950"/>
            <a:ext cx="52020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[</a:t>
            </a: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4 ] </a:t>
            </a:r>
            <a:r>
              <a:rPr lang="zh-CN" altLang="en-US" dirty="0">
                <a:solidFill>
                  <a:srgbClr val="000000"/>
                </a:solidFill>
              </a:rPr>
              <a:t>用级联型结构实现系统</a:t>
            </a:r>
            <a:r>
              <a:rPr lang="zh-CN" altLang="en-US" dirty="0" smtClean="0">
                <a:solidFill>
                  <a:srgbClr val="000000"/>
                </a:solidFill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</a:rPr>
              <a:t>(tf2sos)</a:t>
            </a:r>
            <a:r>
              <a:rPr lang="zh-CN" altLang="en-US" dirty="0" smtClean="0">
                <a:solidFill>
                  <a:srgbClr val="000000"/>
                </a:solidFill>
              </a:rPr>
              <a:t>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3276600" y="1905000"/>
          <a:ext cx="36782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36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36782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0" name="Text Box 7"/>
          <p:cNvSpPr txBox="1">
            <a:spLocks noChangeArrowheads="1"/>
          </p:cNvSpPr>
          <p:nvPr/>
        </p:nvSpPr>
        <p:spPr bwMode="auto">
          <a:xfrm>
            <a:off x="2057401" y="2928938"/>
            <a:ext cx="7794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解： </a:t>
            </a:r>
          </a:p>
        </p:txBody>
      </p:sp>
      <p:graphicFrame>
        <p:nvGraphicFramePr>
          <p:cNvPr id="113671" name="Object 8"/>
          <p:cNvGraphicFramePr>
            <a:graphicFrameLocks noChangeAspect="1"/>
          </p:cNvGraphicFramePr>
          <p:nvPr/>
        </p:nvGraphicFramePr>
        <p:xfrm>
          <a:off x="2667001" y="2817814"/>
          <a:ext cx="6037263" cy="251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Equation" r:id="rId5" imgW="3746500" imgH="1562100" progId="Equation.DSMT4">
                  <p:embed/>
                </p:oleObj>
              </mc:Choice>
              <mc:Fallback>
                <p:oleObj name="Equation" r:id="rId5" imgW="3746500" imgH="1562100" progId="Equation.DSMT4">
                  <p:embed/>
                  <p:pic>
                    <p:nvPicPr>
                      <p:cNvPr id="1136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817814"/>
                        <a:ext cx="6037263" cy="251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355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33601" y="1504950"/>
            <a:ext cx="43783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[</a:t>
            </a:r>
            <a:r>
              <a:rPr lang="zh-CN" altLang="en-US">
                <a:solidFill>
                  <a:srgbClr val="000000"/>
                </a:solidFill>
              </a:rPr>
              <a:t>例</a:t>
            </a:r>
            <a:r>
              <a:rPr lang="en-US" altLang="zh-CN">
                <a:solidFill>
                  <a:srgbClr val="000000"/>
                </a:solidFill>
              </a:rPr>
              <a:t>4 ] </a:t>
            </a:r>
            <a:r>
              <a:rPr lang="zh-CN" altLang="en-US">
                <a:solidFill>
                  <a:srgbClr val="000000"/>
                </a:solidFill>
              </a:rPr>
              <a:t>用级联型结构实现系统函数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276600" y="1905000"/>
          <a:ext cx="36782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36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05000"/>
                        <a:ext cx="36782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7" descr="4-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763" y="4809831"/>
            <a:ext cx="571500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535831"/>
              </p:ext>
            </p:extLst>
          </p:nvPr>
        </p:nvGraphicFramePr>
        <p:xfrm>
          <a:off x="785038" y="2785916"/>
          <a:ext cx="6037263" cy="251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6" imgW="3746500" imgH="1562100" progId="Equation.DSMT4">
                  <p:embed/>
                </p:oleObj>
              </mc:Choice>
              <mc:Fallback>
                <p:oleObj name="Equation" r:id="rId6" imgW="3746500" imgH="1562100" progId="Equation.DSMT4">
                  <p:embed/>
                  <p:pic>
                    <p:nvPicPr>
                      <p:cNvPr id="1136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038" y="2785916"/>
                        <a:ext cx="6037263" cy="251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39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4.2  IIR</a:t>
            </a:r>
            <a:r>
              <a:rPr lang="zh-CN" altLang="en-US" smtClean="0">
                <a:ea typeface="宋体" panose="02010600030101010101" pitchFamily="2" charset="-122"/>
              </a:rPr>
              <a:t>滤波器的结构</a:t>
            </a:r>
          </a:p>
        </p:txBody>
      </p:sp>
      <p:sp>
        <p:nvSpPr>
          <p:cNvPr id="1146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1CEB6DB-F8AC-4CD5-8F48-66E9F5975E6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2" name="矩形 4"/>
          <p:cNvSpPr>
            <a:spLocks noChangeArrowheads="1"/>
          </p:cNvSpPr>
          <p:nvPr/>
        </p:nvSpPr>
        <p:spPr bwMode="auto">
          <a:xfrm>
            <a:off x="1981200" y="1447801"/>
            <a:ext cx="12271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eaLnBrk="0" fontAlgn="base" hangingPunct="0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4 </a:t>
            </a:r>
            <a:r>
              <a:rPr lang="zh-CN" altLang="en-US">
                <a:solidFill>
                  <a:srgbClr val="000000"/>
                </a:solidFill>
              </a:rPr>
              <a:t>并联型</a:t>
            </a:r>
          </a:p>
        </p:txBody>
      </p:sp>
      <p:graphicFrame>
        <p:nvGraphicFramePr>
          <p:cNvPr id="114693" name="对象 5"/>
          <p:cNvGraphicFramePr>
            <a:graphicFrameLocks noChangeAspect="1"/>
          </p:cNvGraphicFramePr>
          <p:nvPr/>
        </p:nvGraphicFramePr>
        <p:xfrm>
          <a:off x="2133600" y="2112964"/>
          <a:ext cx="3798888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Equation" r:id="rId3" imgW="2489200" imgH="762000" progId="Equation.3">
                  <p:embed/>
                </p:oleObj>
              </mc:Choice>
              <mc:Fallback>
                <p:oleObj name="Equation" r:id="rId3" imgW="2489200" imgH="762000" progId="Equation.3">
                  <p:embed/>
                  <p:pic>
                    <p:nvPicPr>
                      <p:cNvPr id="114693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12964"/>
                        <a:ext cx="3798888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对象 6"/>
          <p:cNvGraphicFramePr>
            <a:graphicFrameLocks noChangeAspect="1"/>
          </p:cNvGraphicFramePr>
          <p:nvPr/>
        </p:nvGraphicFramePr>
        <p:xfrm>
          <a:off x="1981201" y="3683000"/>
          <a:ext cx="40290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5" imgW="2400300" imgH="393700" progId="Equation.DSMT4">
                  <p:embed/>
                </p:oleObj>
              </mc:Choice>
              <mc:Fallback>
                <p:oleObj name="Equation" r:id="rId5" imgW="2400300" imgH="393700" progId="Equation.DSMT4">
                  <p:embed/>
                  <p:pic>
                    <p:nvPicPr>
                      <p:cNvPr id="114694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3683000"/>
                        <a:ext cx="40290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4695" name="Picture 8" descr="4-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988" y="1728788"/>
            <a:ext cx="4468812" cy="451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61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72400" cy="609600"/>
          </a:xfrm>
        </p:spPr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</a:rPr>
              <a:t>IIR</a:t>
            </a:r>
            <a:r>
              <a:rPr lang="zh-CN" altLang="en-US" dirty="0">
                <a:latin typeface="宋体" panose="02010600030101010101" pitchFamily="2" charset="-122"/>
              </a:rPr>
              <a:t>数字滤波器的并联型结构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057400" y="217805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/>
              <a:t>    </a:t>
            </a:r>
            <a:r>
              <a:rPr lang="zh-CN" altLang="en-US" sz="2800"/>
              <a:t>将滤波器系统函数</a:t>
            </a:r>
            <a:r>
              <a:rPr lang="en-US" altLang="zh-CN" sz="2800" i="1"/>
              <a:t>H</a:t>
            </a:r>
            <a:r>
              <a:rPr lang="en-US" altLang="zh-CN" sz="2800"/>
              <a:t>(</a:t>
            </a:r>
            <a:r>
              <a:rPr lang="en-US" altLang="zh-CN" sz="2800" i="1"/>
              <a:t>z</a:t>
            </a:r>
            <a:r>
              <a:rPr lang="en-US" altLang="zh-CN" sz="2800"/>
              <a:t>)</a:t>
            </a:r>
            <a:r>
              <a:rPr lang="zh-CN" altLang="en-US" sz="2800"/>
              <a:t>展开成部分分式之和，并将一阶系统仍采用二阶基本节表示</a:t>
            </a: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2794001" y="3810000"/>
          <a:ext cx="584676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公式" r:id="rId3" imgW="2336760" imgH="507960" progId="Equation.3">
                  <p:embed/>
                </p:oleObj>
              </mc:Choice>
              <mc:Fallback>
                <p:oleObj name="公式" r:id="rId3" imgW="2336760" imgH="507960" progId="Equation.3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1" y="3810000"/>
                        <a:ext cx="5846763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2209801" y="5715001"/>
            <a:ext cx="8062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画出各二阶基本节的直接型结构，再将它们并联。</a:t>
            </a:r>
          </a:p>
        </p:txBody>
      </p:sp>
    </p:spTree>
    <p:extLst>
      <p:ext uri="{BB962C8B-B14F-4D97-AF65-F5344CB8AC3E}">
        <p14:creationId xmlns:p14="http://schemas.microsoft.com/office/powerpoint/2010/main" val="2393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4114800" y="304801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并连型结构信号流图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676400" y="5943600"/>
            <a:ext cx="419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基于直接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II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型的</a:t>
            </a:r>
            <a:r>
              <a:rPr lang="zh-CN" altLang="en-US"/>
              <a:t>并联型结构 </a:t>
            </a:r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1676401" y="1330326"/>
          <a:ext cx="4443413" cy="430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6" name="Visio" r:id="rId3" imgW="2469185" imgH="2394204" progId="Visio.Drawing.6">
                  <p:embed/>
                </p:oleObj>
              </mc:Choice>
              <mc:Fallback>
                <p:oleObj name="Visio" r:id="rId3" imgW="2469185" imgH="2394204" progId="Visio.Drawing.6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1330326"/>
                        <a:ext cx="4443413" cy="430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6148388" y="1371600"/>
          <a:ext cx="4443412" cy="426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Visio" r:id="rId5" imgW="2469185" imgH="2368906" progId="Visio.Drawing.6">
                  <p:embed/>
                </p:oleObj>
              </mc:Choice>
              <mc:Fallback>
                <p:oleObj name="Visio" r:id="rId5" imgW="2469185" imgH="2368906" progId="Visio.Drawing.6">
                  <p:embed/>
                  <p:pic>
                    <p:nvPicPr>
                      <p:cNvPr id="5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1371600"/>
                        <a:ext cx="4443412" cy="426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5943600" y="5943600"/>
            <a:ext cx="449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基于转置直接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II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型的</a:t>
            </a:r>
            <a:r>
              <a:rPr lang="zh-CN" altLang="en-US"/>
              <a:t>并联型结构 </a:t>
            </a:r>
          </a:p>
        </p:txBody>
      </p:sp>
    </p:spTree>
    <p:extLst>
      <p:ext uri="{BB962C8B-B14F-4D97-AF65-F5344CB8AC3E}">
        <p14:creationId xmlns:p14="http://schemas.microsoft.com/office/powerpoint/2010/main" val="386374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utoUpdateAnimBg="0"/>
      <p:bldP spid="512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72400" cy="685800"/>
          </a:xfrm>
        </p:spPr>
        <p:txBody>
          <a:bodyPr/>
          <a:lstStyle/>
          <a:p>
            <a:r>
              <a:rPr lang="en-US" altLang="zh-CN">
                <a:latin typeface="宋体" panose="02010600030101010101" pitchFamily="2" charset="-122"/>
              </a:rPr>
              <a:t>IIR</a:t>
            </a:r>
            <a:r>
              <a:rPr lang="zh-CN" altLang="en-US">
                <a:latin typeface="宋体" panose="02010600030101010101" pitchFamily="2" charset="-122"/>
              </a:rPr>
              <a:t>数字滤波器的并联型结构优缺点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24200" y="1752600"/>
            <a:ext cx="6705600" cy="41910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/>
              <a:t>优点：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    </a:t>
            </a:r>
            <a:r>
              <a:rPr lang="en-US" altLang="zh-CN"/>
              <a:t>1.</a:t>
            </a:r>
            <a:r>
              <a:rPr lang="zh-CN" altLang="en-US"/>
              <a:t>运算速度快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    </a:t>
            </a:r>
            <a:r>
              <a:rPr lang="en-US" altLang="zh-CN"/>
              <a:t>2. </a:t>
            </a:r>
            <a:r>
              <a:rPr lang="zh-CN" altLang="en-US"/>
              <a:t>各基本节的误差互不影响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/>
              <a:t>    </a:t>
            </a:r>
            <a:r>
              <a:rPr lang="en-US" altLang="zh-CN"/>
              <a:t>3. </a:t>
            </a:r>
            <a:r>
              <a:rPr lang="zh-CN" altLang="en-US"/>
              <a:t>可以单独调整极点的位置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/>
              <a:t>缺点</a:t>
            </a:r>
            <a:r>
              <a:rPr lang="en-US" altLang="zh-CN"/>
              <a:t>: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/>
              <a:t>    </a:t>
            </a:r>
            <a:r>
              <a:rPr lang="zh-CN" altLang="en-US"/>
              <a:t>不能向级联型那样直接调整零点</a:t>
            </a:r>
          </a:p>
        </p:txBody>
      </p:sp>
    </p:spTree>
    <p:extLst>
      <p:ext uri="{BB962C8B-B14F-4D97-AF65-F5344CB8AC3E}">
        <p14:creationId xmlns:p14="http://schemas.microsoft.com/office/powerpoint/2010/main" val="1544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57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84E415F-AAAB-4160-B38E-787AB648671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241550" y="1744663"/>
            <a:ext cx="40639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[</a:t>
            </a: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]  </a:t>
            </a:r>
            <a:r>
              <a:rPr lang="zh-CN" altLang="en-US" dirty="0">
                <a:solidFill>
                  <a:srgbClr val="000000"/>
                </a:solidFill>
              </a:rPr>
              <a:t>用并联型结构实现系统</a:t>
            </a:r>
            <a:r>
              <a:rPr lang="zh-CN" altLang="en-US" dirty="0" smtClean="0">
                <a:solidFill>
                  <a:srgbClr val="000000"/>
                </a:solidFill>
              </a:rPr>
              <a:t>函数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15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739787"/>
              </p:ext>
            </p:extLst>
          </p:nvPr>
        </p:nvGraphicFramePr>
        <p:xfrm>
          <a:off x="6096000" y="1568450"/>
          <a:ext cx="3443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5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568450"/>
                        <a:ext cx="3443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342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157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84E415F-AAAB-4160-B38E-787AB648671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241550" y="1744663"/>
            <a:ext cx="52806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[</a:t>
            </a: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]  </a:t>
            </a:r>
            <a:r>
              <a:rPr lang="zh-CN" altLang="en-US" dirty="0">
                <a:solidFill>
                  <a:srgbClr val="000000"/>
                </a:solidFill>
              </a:rPr>
              <a:t>用并联型结构实现系统</a:t>
            </a:r>
            <a:r>
              <a:rPr lang="zh-CN" altLang="en-US" dirty="0" smtClean="0">
                <a:solidFill>
                  <a:srgbClr val="000000"/>
                </a:solidFill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</a:rPr>
              <a:t>residuez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15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65502"/>
              </p:ext>
            </p:extLst>
          </p:nvPr>
        </p:nvGraphicFramePr>
        <p:xfrm>
          <a:off x="7862777" y="1650206"/>
          <a:ext cx="3443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5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2777" y="1650206"/>
                        <a:ext cx="3443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8" name="Text Box 7"/>
          <p:cNvSpPr txBox="1">
            <a:spLocks noChangeArrowheads="1"/>
          </p:cNvSpPr>
          <p:nvPr/>
        </p:nvSpPr>
        <p:spPr bwMode="auto">
          <a:xfrm>
            <a:off x="2327276" y="2590800"/>
            <a:ext cx="8114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解： </a:t>
            </a:r>
          </a:p>
        </p:txBody>
      </p:sp>
      <p:graphicFrame>
        <p:nvGraphicFramePr>
          <p:cNvPr id="115719" name="Object 10"/>
          <p:cNvGraphicFramePr>
            <a:graphicFrameLocks noChangeAspect="1"/>
          </p:cNvGraphicFramePr>
          <p:nvPr/>
        </p:nvGraphicFramePr>
        <p:xfrm>
          <a:off x="2968626" y="2471739"/>
          <a:ext cx="378936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Equation" r:id="rId5" imgW="2387600" imgH="419100" progId="Equation.DSMT4">
                  <p:embed/>
                </p:oleObj>
              </mc:Choice>
              <mc:Fallback>
                <p:oleObj name="Equation" r:id="rId5" imgW="2387600" imgH="419100" progId="Equation.DSMT4">
                  <p:embed/>
                  <p:pic>
                    <p:nvPicPr>
                      <p:cNvPr id="11571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6" y="2471739"/>
                        <a:ext cx="3789363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87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41550" y="1744663"/>
            <a:ext cx="52806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[</a:t>
            </a: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]  </a:t>
            </a:r>
            <a:r>
              <a:rPr lang="zh-CN" altLang="en-US" dirty="0">
                <a:solidFill>
                  <a:srgbClr val="000000"/>
                </a:solidFill>
              </a:rPr>
              <a:t>用并联型结构实现系统</a:t>
            </a:r>
            <a:r>
              <a:rPr lang="zh-CN" altLang="en-US" dirty="0" smtClean="0">
                <a:solidFill>
                  <a:srgbClr val="000000"/>
                </a:solidFill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</a:rPr>
              <a:t>residuez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 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363716"/>
              </p:ext>
            </p:extLst>
          </p:nvPr>
        </p:nvGraphicFramePr>
        <p:xfrm>
          <a:off x="7862777" y="1650206"/>
          <a:ext cx="3443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Equation" r:id="rId3" imgW="2057400" imgH="419100" progId="Equation.DSMT4">
                  <p:embed/>
                </p:oleObj>
              </mc:Choice>
              <mc:Fallback>
                <p:oleObj name="Equation" r:id="rId3" imgW="2057400" imgH="419100" progId="Equation.DSMT4">
                  <p:embed/>
                  <p:pic>
                    <p:nvPicPr>
                      <p:cNvPr id="1157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2777" y="1650206"/>
                        <a:ext cx="3443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2968626" y="2471739"/>
          <a:ext cx="378936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Equation" r:id="rId5" imgW="2387600" imgH="419100" progId="Equation.DSMT4">
                  <p:embed/>
                </p:oleObj>
              </mc:Choice>
              <mc:Fallback>
                <p:oleObj name="Equation" r:id="rId5" imgW="2387600" imgH="419100" progId="Equation.DSMT4">
                  <p:embed/>
                  <p:pic>
                    <p:nvPicPr>
                      <p:cNvPr id="11571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6" y="2471739"/>
                        <a:ext cx="3789363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4-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825" y="3332164"/>
            <a:ext cx="4070350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51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609600"/>
          </a:xfrm>
        </p:spPr>
        <p:txBody>
          <a:bodyPr/>
          <a:lstStyle/>
          <a:p>
            <a:r>
              <a:rPr lang="en-US" altLang="zh-CN" sz="3200" dirty="0" smtClean="0"/>
              <a:t>[</a:t>
            </a:r>
            <a:r>
              <a:rPr lang="zh-CN" altLang="en-US" sz="3200" dirty="0"/>
              <a:t>习题</a:t>
            </a:r>
            <a:r>
              <a:rPr lang="en-US" altLang="zh-CN" sz="3200" dirty="0" smtClean="0"/>
              <a:t>]</a:t>
            </a:r>
            <a:endParaRPr lang="en-US" altLang="zh-CN" sz="3200" dirty="0"/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1676400" y="1295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1981200" y="1600201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已知某三阶数字滤波器的系统函数为</a:t>
            </a:r>
          </a:p>
        </p:txBody>
      </p:sp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3505201" y="2303464"/>
          <a:ext cx="4951413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公式" r:id="rId3" imgW="2247840" imgH="787320" progId="Equation.3">
                  <p:embed/>
                </p:oleObj>
              </mc:Choice>
              <mc:Fallback>
                <p:oleObj name="公式" r:id="rId3" imgW="2247840" imgH="787320" progId="Equation.3">
                  <p:embed/>
                  <p:pic>
                    <p:nvPicPr>
                      <p:cNvPr id="1075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2303464"/>
                        <a:ext cx="4951413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2057400" y="451008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试画出其直接型、级联型和并联型结构。</a:t>
            </a:r>
          </a:p>
        </p:txBody>
      </p:sp>
    </p:spTree>
    <p:extLst>
      <p:ext uri="{BB962C8B-B14F-4D97-AF65-F5344CB8AC3E}">
        <p14:creationId xmlns:p14="http://schemas.microsoft.com/office/powerpoint/2010/main" val="413578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381000"/>
            <a:ext cx="7772400" cy="762000"/>
          </a:xfrm>
        </p:spPr>
        <p:txBody>
          <a:bodyPr/>
          <a:lstStyle/>
          <a:p>
            <a:pPr algn="l"/>
            <a:r>
              <a:rPr lang="en-US" altLang="zh-CN" dirty="0"/>
              <a:t> </a:t>
            </a:r>
            <a:r>
              <a:rPr lang="zh-CN" altLang="en-US" dirty="0"/>
              <a:t>解：             </a:t>
            </a:r>
            <a:r>
              <a:rPr lang="zh-CN" altLang="en-US" dirty="0" smtClean="0"/>
              <a:t>直接</a:t>
            </a:r>
            <a:r>
              <a:rPr lang="zh-CN" altLang="en-US" dirty="0"/>
              <a:t>型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889375" y="1752601"/>
          <a:ext cx="4186238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4" name="公式" r:id="rId3" imgW="1904760" imgH="761760" progId="Equation.3">
                  <p:embed/>
                </p:oleObj>
              </mc:Choice>
              <mc:Fallback>
                <p:oleObj name="公式" r:id="rId3" imgW="1904760" imgH="76176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1752601"/>
                        <a:ext cx="4186238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866901" y="1413934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将系统函数</a:t>
            </a:r>
            <a:r>
              <a:rPr lang="en-US" altLang="zh-CN" sz="2800" i="1"/>
              <a:t>H</a:t>
            </a:r>
            <a:r>
              <a:rPr lang="en-US" altLang="zh-CN" sz="2800"/>
              <a:t>(</a:t>
            </a:r>
            <a:r>
              <a:rPr lang="en-US" altLang="zh-CN" sz="2800" i="1"/>
              <a:t>z</a:t>
            </a:r>
            <a:r>
              <a:rPr lang="en-US" altLang="zh-CN" sz="2800"/>
              <a:t>)</a:t>
            </a:r>
            <a:r>
              <a:rPr lang="zh-CN" altLang="en-US" sz="2800"/>
              <a:t>表达为</a:t>
            </a:r>
          </a:p>
        </p:txBody>
      </p:sp>
      <p:graphicFrame>
        <p:nvGraphicFramePr>
          <p:cNvPr id="13318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3657601" y="3429000"/>
          <a:ext cx="5059363" cy="290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5" name="Visio" r:id="rId5" imgW="2027225" imgH="1164031" progId="Visio.Drawing.6">
                  <p:embed/>
                </p:oleObj>
              </mc:Choice>
              <mc:Fallback>
                <p:oleObj name="Visio" r:id="rId5" imgW="2027225" imgH="1164031" progId="Visio.Drawing.6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429000"/>
                        <a:ext cx="5059363" cy="290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863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7772400" cy="914400"/>
          </a:xfrm>
        </p:spPr>
        <p:txBody>
          <a:bodyPr/>
          <a:lstStyle/>
          <a:p>
            <a:pPr algn="l"/>
            <a:r>
              <a:rPr lang="en-US" altLang="zh-CN" dirty="0"/>
              <a:t>       </a:t>
            </a:r>
            <a:r>
              <a:rPr lang="zh-CN" altLang="en-US" dirty="0"/>
              <a:t>解：          </a:t>
            </a:r>
            <a:r>
              <a:rPr lang="zh-CN" altLang="en-US" dirty="0" smtClean="0"/>
              <a:t>级</a:t>
            </a:r>
            <a:r>
              <a:rPr lang="zh-CN" altLang="en-US" dirty="0"/>
              <a:t>联型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772126"/>
              </p:ext>
            </p:extLst>
          </p:nvPr>
        </p:nvGraphicFramePr>
        <p:xfrm>
          <a:off x="3810000" y="2125133"/>
          <a:ext cx="45275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公式" r:id="rId3" imgW="2057400" imgH="761760" progId="Equation.3">
                  <p:embed/>
                </p:oleObj>
              </mc:Choice>
              <mc:Fallback>
                <p:oleObj name="公式" r:id="rId3" imgW="2057400" imgH="761760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125133"/>
                        <a:ext cx="45275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828800" y="3948114"/>
          <a:ext cx="8413750" cy="222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Visio" r:id="rId5" imgW="3364078" imgH="889711" progId="Visio.Drawing.6">
                  <p:embed/>
                </p:oleObj>
              </mc:Choice>
              <mc:Fallback>
                <p:oleObj name="Visio" r:id="rId5" imgW="3364078" imgH="889711" progId="Visio.Drawing.6">
                  <p:embed/>
                  <p:pic>
                    <p:nvPicPr>
                      <p:cNvPr id="143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948114"/>
                        <a:ext cx="8413750" cy="222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1981200" y="1365781"/>
            <a:ext cx="8001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/>
              <a:t>将系统函数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z</a:t>
            </a:r>
            <a:r>
              <a:rPr lang="en-US" altLang="zh-CN" sz="2800" dirty="0"/>
              <a:t>)</a:t>
            </a:r>
            <a:r>
              <a:rPr lang="zh-CN" altLang="en-US" sz="2800" dirty="0"/>
              <a:t>表达为一阶、二阶实系数分式之积</a:t>
            </a:r>
          </a:p>
        </p:txBody>
      </p:sp>
    </p:spTree>
    <p:extLst>
      <p:ext uri="{BB962C8B-B14F-4D97-AF65-F5344CB8AC3E}">
        <p14:creationId xmlns:p14="http://schemas.microsoft.com/office/powerpoint/2010/main" val="292404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09600"/>
          </a:xfrm>
        </p:spPr>
        <p:txBody>
          <a:bodyPr/>
          <a:lstStyle/>
          <a:p>
            <a:pPr algn="l"/>
            <a:r>
              <a:rPr lang="en-US" altLang="zh-CN" dirty="0"/>
              <a:t>    </a:t>
            </a:r>
            <a:r>
              <a:rPr lang="zh-CN" altLang="en-US" dirty="0"/>
              <a:t>解：           </a:t>
            </a:r>
            <a:r>
              <a:rPr lang="zh-CN" altLang="en-US" dirty="0" smtClean="0"/>
              <a:t> </a:t>
            </a:r>
            <a:r>
              <a:rPr lang="zh-CN" altLang="en-US" dirty="0"/>
              <a:t>并联型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985433" y="1340644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/>
              <a:t>将系统函数</a:t>
            </a:r>
            <a:r>
              <a:rPr lang="en-US" altLang="zh-CN" sz="2800" i="1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z</a:t>
            </a:r>
            <a:r>
              <a:rPr lang="en-US" altLang="zh-CN" sz="2800" dirty="0"/>
              <a:t>)</a:t>
            </a:r>
            <a:r>
              <a:rPr lang="zh-CN" altLang="en-US" sz="2800" dirty="0"/>
              <a:t>表达为部分分式之和的形式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165556"/>
              </p:ext>
            </p:extLst>
          </p:nvPr>
        </p:nvGraphicFramePr>
        <p:xfrm>
          <a:off x="3471333" y="1859757"/>
          <a:ext cx="485775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公式" r:id="rId3" imgW="2209680" imgH="634680" progId="Equation.3">
                  <p:embed/>
                </p:oleObj>
              </mc:Choice>
              <mc:Fallback>
                <p:oleObj name="公式" r:id="rId3" imgW="2209680" imgH="634680" progId="Equation.3">
                  <p:embed/>
                  <p:pic>
                    <p:nvPicPr>
                      <p:cNvPr id="38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333" y="1859757"/>
                        <a:ext cx="4857750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956886"/>
              </p:ext>
            </p:extLst>
          </p:nvPr>
        </p:nvGraphicFramePr>
        <p:xfrm>
          <a:off x="3090334" y="3253583"/>
          <a:ext cx="5834063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Visio" r:id="rId5" imgW="2650541" imgH="1636471" progId="Visio.Drawing.6">
                  <p:embed/>
                </p:oleObj>
              </mc:Choice>
              <mc:Fallback>
                <p:oleObj name="Visio" r:id="rId5" imgW="2650541" imgH="1636471" progId="Visio.Drawing.6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334" y="3253583"/>
                        <a:ext cx="5834063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403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424</Words>
  <Application>Microsoft Office PowerPoint</Application>
  <PresentationFormat>宽屏</PresentationFormat>
  <Paragraphs>60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等线 Light</vt:lpstr>
      <vt:lpstr>宋体</vt:lpstr>
      <vt:lpstr>Arial</vt:lpstr>
      <vt:lpstr>Comic Sans MS</vt:lpstr>
      <vt:lpstr>Times New Roman</vt:lpstr>
      <vt:lpstr>Office 主题​​</vt:lpstr>
      <vt:lpstr>icfp99</vt:lpstr>
      <vt:lpstr>Equation</vt:lpstr>
      <vt:lpstr>公式</vt:lpstr>
      <vt:lpstr>Visio</vt:lpstr>
      <vt:lpstr>4.2  IIR滤波器的结构</vt:lpstr>
      <vt:lpstr>4.2  IIR滤波器的结构</vt:lpstr>
      <vt:lpstr>级联型结构信号流图</vt:lpstr>
      <vt:lpstr>IIR数字滤波器的级联型结构优点</vt:lpstr>
      <vt:lpstr>例题</vt:lpstr>
      <vt:lpstr>例题</vt:lpstr>
      <vt:lpstr>PowerPoint 演示文稿</vt:lpstr>
      <vt:lpstr>4.2  IIR滤波器的结构</vt:lpstr>
      <vt:lpstr>IIR数字滤波器的并联型结构</vt:lpstr>
      <vt:lpstr>PowerPoint 演示文稿</vt:lpstr>
      <vt:lpstr>IIR数字滤波器的并联型结构优缺点</vt:lpstr>
      <vt:lpstr>例题</vt:lpstr>
      <vt:lpstr>例题</vt:lpstr>
      <vt:lpstr>PowerPoint 演示文稿</vt:lpstr>
      <vt:lpstr>[习题]</vt:lpstr>
      <vt:lpstr> 解：             直接型</vt:lpstr>
      <vt:lpstr>       解：          级联型</vt:lpstr>
      <vt:lpstr>    解：            并联型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数字滤波器的基本结构</dc:title>
  <dc:creator>Administrator</dc:creator>
  <cp:lastModifiedBy>Administrator</cp:lastModifiedBy>
  <cp:revision>35</cp:revision>
  <dcterms:created xsi:type="dcterms:W3CDTF">2020-08-06T07:36:31Z</dcterms:created>
  <dcterms:modified xsi:type="dcterms:W3CDTF">2022-12-03T10:30:19Z</dcterms:modified>
</cp:coreProperties>
</file>