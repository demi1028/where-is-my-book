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722" r:id="rId2"/>
  </p:sldMasterIdLst>
  <p:notesMasterIdLst>
    <p:notesMasterId r:id="rId8"/>
  </p:notesMasterIdLst>
  <p:sldIdLst>
    <p:sldId id="376" r:id="rId3"/>
    <p:sldId id="377" r:id="rId4"/>
    <p:sldId id="378" r:id="rId5"/>
    <p:sldId id="391" r:id="rId6"/>
    <p:sldId id="39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2022/10/15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B89419-C344-40C6-B4AF-B64360F5EC6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0EC15D-9C77-4188-80FD-534CB4D625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60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009DD4-B744-4A5A-9BCF-2BE1219C878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5375B-8E09-4DD8-A950-D279B55D1AF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4607E7-4DB9-45E5-BF73-16A5A03CEE1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32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A3D01B-CED5-4F8A-B6C8-7E3E79320ED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40AEE6-7319-4B5B-93D0-3548900E185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98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40ECF-C06C-4365-A82F-7FCF58AB175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916CC5-3ED3-4E00-85B5-005DC67C0A9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50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F378D-529B-499C-888D-96616A7FD7B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7B3999-57F6-416E-A1A2-5253D300C46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17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C2F7E0-74B7-4DF6-835D-211E54381D8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88483-54E8-444F-A583-0A553B1CE94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1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21B5CF-6445-489A-A45C-4EC7F4623F9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114EFF-8E6F-4E42-8213-F37E8D3AB8C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4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BE24FC-2A45-4A55-B139-5F9494B1CB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908285-CA4E-423B-8642-8726C1B3382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73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EAA45-778A-4741-845A-F018261E7A9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3AA134-3FB7-4864-BDD9-113D7FC3B5C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4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DC5DBC-5A12-4956-B0A7-3CBFEBC2F06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6064C9-616C-418B-B0ED-83E8E1DAAE9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701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03FB61-C213-45FB-A763-B77CDEFEA23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D01B68-6309-4BDA-8324-A2F95C8B936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583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F7221-778F-4F51-B63F-4316D5967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498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1C2C2-583A-4F9A-AEDA-164BE3CA97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764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E29DD-9DE7-4D3C-8718-DCA41574F3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3222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8E294-19B6-42B3-8876-7787FE83DC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027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58D9A-FC59-482C-B6CD-56F888AAE7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8497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19543-8D69-4398-A2B0-15915C5D06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8928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5B735-57F0-4BCE-8437-619F9B9B6D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488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8AB07-C7A8-428C-ADD3-F89C09881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0650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751CF-7F85-4190-BB44-B7AE4C8D67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5019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A8189-163A-465C-B3E0-39C64080F9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64882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49A8F-BF93-4118-83E0-FE6C3419E8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3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F930D0-305E-4488-9A18-18976C29D3C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FF258E-67CD-4D95-B960-4634DDA9265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74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B70EED5-5C51-44C5-B9A5-8F8621D132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21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wmf"/><Relationship Id="rId17" Type="http://schemas.openxmlformats.org/officeDocument/2006/relationships/image" Target="../media/image23.e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457201"/>
            <a:ext cx="8001000" cy="1154113"/>
          </a:xfrm>
        </p:spPr>
        <p:txBody>
          <a:bodyPr/>
          <a:lstStyle/>
          <a:p>
            <a:pPr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zh-CN" altLang="en-US"/>
              <a:t>例：设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(n)</a:t>
            </a:r>
            <a:r>
              <a:rPr lang="zh-CN" altLang="en-US"/>
              <a:t>和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(n)</a:t>
            </a:r>
            <a:r>
              <a:rPr lang="zh-CN" altLang="en-US"/>
              <a:t>都是</a:t>
            </a:r>
            <a:r>
              <a:rPr lang="en-US" altLang="zh-CN"/>
              <a:t>N</a:t>
            </a:r>
            <a:r>
              <a:rPr lang="zh-CN" altLang="en-US"/>
              <a:t>点的实数序列，试用一次</a:t>
            </a:r>
            <a:r>
              <a:rPr lang="en-US" altLang="zh-CN"/>
              <a:t>N</a:t>
            </a:r>
            <a:r>
              <a:rPr lang="zh-CN" altLang="en-US"/>
              <a:t>点</a:t>
            </a:r>
            <a:r>
              <a:rPr lang="en-US" altLang="zh-CN"/>
              <a:t>DFT</a:t>
            </a:r>
            <a:r>
              <a:rPr lang="zh-CN" altLang="en-US"/>
              <a:t>运算来计算它们各自的</a:t>
            </a:r>
            <a:r>
              <a:rPr lang="en-US" altLang="zh-CN"/>
              <a:t>DFT:  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/>
        </p:nvGraphicFramePr>
        <p:xfrm>
          <a:off x="3200400" y="1709739"/>
          <a:ext cx="30480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6" name="Equation" r:id="rId3" imgW="2857320" imgH="431640" progId="Equation.DSMT4">
                  <p:embed/>
                </p:oleObj>
              </mc:Choice>
              <mc:Fallback>
                <p:oleObj name="Equation" r:id="rId3" imgW="2857320" imgH="431640" progId="Equation.DSMT4">
                  <p:embed/>
                  <p:pic>
                    <p:nvPicPr>
                      <p:cNvPr id="192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709739"/>
                        <a:ext cx="30480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7" name="Object 5"/>
          <p:cNvGraphicFramePr>
            <a:graphicFrameLocks noChangeAspect="1"/>
          </p:cNvGraphicFramePr>
          <p:nvPr/>
        </p:nvGraphicFramePr>
        <p:xfrm>
          <a:off x="6400800" y="1709738"/>
          <a:ext cx="3048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7" name="Equation" r:id="rId5" imgW="2933640" imgH="431640" progId="Equation.DSMT4">
                  <p:embed/>
                </p:oleObj>
              </mc:Choice>
              <mc:Fallback>
                <p:oleObj name="Equation" r:id="rId5" imgW="2933640" imgH="431640" progId="Equation.DSMT4">
                  <p:embed/>
                  <p:pic>
                    <p:nvPicPr>
                      <p:cNvPr id="1925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709738"/>
                        <a:ext cx="30480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2362200" y="2395538"/>
          <a:ext cx="579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8" name="Equation" r:id="rId7" imgW="4991040" imgH="393480" progId="Equation.DSMT4">
                  <p:embed/>
                </p:oleObj>
              </mc:Choice>
              <mc:Fallback>
                <p:oleObj name="Equation" r:id="rId7" imgW="4991040" imgH="393480" progId="Equation.DSMT4">
                  <p:embed/>
                  <p:pic>
                    <p:nvPicPr>
                      <p:cNvPr id="1925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95538"/>
                        <a:ext cx="5791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/>
        </p:nvGraphicFramePr>
        <p:xfrm>
          <a:off x="4267200" y="3157539"/>
          <a:ext cx="3581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9" name="Equation" r:id="rId9" imgW="3047760" imgH="419040" progId="Equation.DSMT4">
                  <p:embed/>
                </p:oleObj>
              </mc:Choice>
              <mc:Fallback>
                <p:oleObj name="Equation" r:id="rId9" imgW="3047760" imgH="419040" progId="Equation.DSMT4">
                  <p:embed/>
                  <p:pic>
                    <p:nvPicPr>
                      <p:cNvPr id="1925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157539"/>
                        <a:ext cx="35814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2" name="Object 10"/>
          <p:cNvGraphicFramePr>
            <a:graphicFrameLocks noChangeAspect="1"/>
          </p:cNvGraphicFramePr>
          <p:nvPr/>
        </p:nvGraphicFramePr>
        <p:xfrm>
          <a:off x="3276600" y="4278314"/>
          <a:ext cx="64008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50" name="Equation" r:id="rId11" imgW="6070320" imgH="419040" progId="Equation.DSMT4">
                  <p:embed/>
                </p:oleObj>
              </mc:Choice>
              <mc:Fallback>
                <p:oleObj name="Equation" r:id="rId11" imgW="6070320" imgH="419040" progId="Equation.DSMT4">
                  <p:embed/>
                  <p:pic>
                    <p:nvPicPr>
                      <p:cNvPr id="1925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78314"/>
                        <a:ext cx="64008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3" name="Object 11"/>
          <p:cNvGraphicFramePr>
            <a:graphicFrameLocks noChangeAspect="1"/>
          </p:cNvGraphicFramePr>
          <p:nvPr/>
        </p:nvGraphicFramePr>
        <p:xfrm>
          <a:off x="2667001" y="3767138"/>
          <a:ext cx="4429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51" name="Equation" r:id="rId13" imgW="368280" imgH="380880" progId="Equation.DSMT4">
                  <p:embed/>
                </p:oleObj>
              </mc:Choice>
              <mc:Fallback>
                <p:oleObj name="Equation" r:id="rId13" imgW="368280" imgH="380880" progId="Equation.DSMT4">
                  <p:embed/>
                  <p:pic>
                    <p:nvPicPr>
                      <p:cNvPr id="1925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3767138"/>
                        <a:ext cx="4429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4" name="Object 12"/>
          <p:cNvGraphicFramePr>
            <a:graphicFrameLocks noChangeAspect="1"/>
          </p:cNvGraphicFramePr>
          <p:nvPr/>
        </p:nvGraphicFramePr>
        <p:xfrm>
          <a:off x="4114800" y="4986338"/>
          <a:ext cx="4572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52" name="Equation" r:id="rId15" imgW="4190760" imgH="419040" progId="Equation.DSMT4">
                  <p:embed/>
                </p:oleObj>
              </mc:Choice>
              <mc:Fallback>
                <p:oleObj name="Equation" r:id="rId15" imgW="4190760" imgH="419040" progId="Equation.DSMT4">
                  <p:embed/>
                  <p:pic>
                    <p:nvPicPr>
                      <p:cNvPr id="1925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86338"/>
                        <a:ext cx="4572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5" name="Object 13"/>
          <p:cNvGraphicFramePr>
            <a:graphicFrameLocks noChangeAspect="1"/>
          </p:cNvGraphicFramePr>
          <p:nvPr/>
        </p:nvGraphicFramePr>
        <p:xfrm>
          <a:off x="4114800" y="5672138"/>
          <a:ext cx="29718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53" name="Equation" r:id="rId17" imgW="2489040" imgH="419040" progId="Equation.DSMT4">
                  <p:embed/>
                </p:oleObj>
              </mc:Choice>
              <mc:Fallback>
                <p:oleObj name="Equation" r:id="rId17" imgW="2489040" imgH="419040" progId="Equation.DSMT4">
                  <p:embed/>
                  <p:pic>
                    <p:nvPicPr>
                      <p:cNvPr id="1925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672138"/>
                        <a:ext cx="29718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57961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4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538" name="Object 2"/>
          <p:cNvGraphicFramePr>
            <a:graphicFrameLocks noChangeAspect="1"/>
          </p:cNvGraphicFramePr>
          <p:nvPr/>
        </p:nvGraphicFramePr>
        <p:xfrm>
          <a:off x="2819400" y="1003300"/>
          <a:ext cx="308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8" name="Equation" r:id="rId3" imgW="3085920" imgH="431640" progId="Equation.DSMT4">
                  <p:embed/>
                </p:oleObj>
              </mc:Choice>
              <mc:Fallback>
                <p:oleObj name="Equation" r:id="rId3" imgW="3085920" imgH="431640" progId="Equation.DSMT4">
                  <p:embed/>
                  <p:pic>
                    <p:nvPicPr>
                      <p:cNvPr id="193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003300"/>
                        <a:ext cx="308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39" name="Object 3"/>
          <p:cNvGraphicFramePr>
            <a:graphicFrameLocks noChangeAspect="1"/>
          </p:cNvGraphicFramePr>
          <p:nvPr/>
        </p:nvGraphicFramePr>
        <p:xfrm>
          <a:off x="2832100" y="1676400"/>
          <a:ext cx="692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9" name="Equation" r:id="rId5" imgW="6921360" imgH="469800" progId="Equation.DSMT4">
                  <p:embed/>
                </p:oleObj>
              </mc:Choice>
              <mc:Fallback>
                <p:oleObj name="Equation" r:id="rId5" imgW="6921360" imgH="469800" progId="Equation.DSMT4">
                  <p:embed/>
                  <p:pic>
                    <p:nvPicPr>
                      <p:cNvPr id="193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1676400"/>
                        <a:ext cx="6921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0" name="Object 4"/>
          <p:cNvGraphicFramePr>
            <a:graphicFrameLocks noChangeAspect="1"/>
          </p:cNvGraphicFramePr>
          <p:nvPr/>
        </p:nvGraphicFramePr>
        <p:xfrm>
          <a:off x="3797300" y="2146300"/>
          <a:ext cx="519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0" name="Equation" r:id="rId7" imgW="5194080" imgH="825480" progId="Equation.DSMT4">
                  <p:embed/>
                </p:oleObj>
              </mc:Choice>
              <mc:Fallback>
                <p:oleObj name="Equation" r:id="rId7" imgW="5194080" imgH="825480" progId="Equation.DSMT4">
                  <p:embed/>
                  <p:pic>
                    <p:nvPicPr>
                      <p:cNvPr id="193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2146300"/>
                        <a:ext cx="5194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1" name="Object 5"/>
          <p:cNvGraphicFramePr>
            <a:graphicFrameLocks noChangeAspect="1"/>
          </p:cNvGraphicFramePr>
          <p:nvPr/>
        </p:nvGraphicFramePr>
        <p:xfrm>
          <a:off x="2813050" y="3587750"/>
          <a:ext cx="309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1" name="Equation" r:id="rId9" imgW="3098520" imgH="431640" progId="Equation.DSMT4">
                  <p:embed/>
                </p:oleObj>
              </mc:Choice>
              <mc:Fallback>
                <p:oleObj name="Equation" r:id="rId9" imgW="3098520" imgH="431640" progId="Equation.DSMT4">
                  <p:embed/>
                  <p:pic>
                    <p:nvPicPr>
                      <p:cNvPr id="193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3587750"/>
                        <a:ext cx="3098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2" name="Object 6"/>
          <p:cNvGraphicFramePr>
            <a:graphicFrameLocks noChangeAspect="1"/>
          </p:cNvGraphicFramePr>
          <p:nvPr/>
        </p:nvGraphicFramePr>
        <p:xfrm>
          <a:off x="2794000" y="4044950"/>
          <a:ext cx="7264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2" name="Equation" r:id="rId11" imgW="7264080" imgH="901440" progId="Equation.DSMT4">
                  <p:embed/>
                </p:oleObj>
              </mc:Choice>
              <mc:Fallback>
                <p:oleObj name="Equation" r:id="rId11" imgW="7264080" imgH="901440" progId="Equation.DSMT4">
                  <p:embed/>
                  <p:pic>
                    <p:nvPicPr>
                      <p:cNvPr id="1935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4044950"/>
                        <a:ext cx="7264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3" name="Object 7"/>
          <p:cNvGraphicFramePr>
            <a:graphicFrameLocks noChangeAspect="1"/>
          </p:cNvGraphicFramePr>
          <p:nvPr/>
        </p:nvGraphicFramePr>
        <p:xfrm>
          <a:off x="3733800" y="5041900"/>
          <a:ext cx="5384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3" name="Equation" r:id="rId13" imgW="5384520" imgH="901440" progId="Equation.DSMT4">
                  <p:embed/>
                </p:oleObj>
              </mc:Choice>
              <mc:Fallback>
                <p:oleObj name="Equation" r:id="rId13" imgW="5384520" imgH="901440" progId="Equation.DSMT4">
                  <p:embed/>
                  <p:pic>
                    <p:nvPicPr>
                      <p:cNvPr id="1935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041900"/>
                        <a:ext cx="5384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80773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4367214" y="101601"/>
            <a:ext cx="3889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4.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序列的循环卷积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8198" name="Group 6"/>
          <p:cNvGrpSpPr>
            <a:grpSpLocks/>
          </p:cNvGrpSpPr>
          <p:nvPr/>
        </p:nvGrpSpPr>
        <p:grpSpPr bwMode="auto">
          <a:xfrm>
            <a:off x="2063751" y="1916113"/>
            <a:ext cx="3413245" cy="2642890"/>
            <a:chOff x="0" y="616"/>
            <a:chExt cx="2325" cy="2048"/>
          </a:xfrm>
        </p:grpSpPr>
        <p:graphicFrame>
          <p:nvGraphicFramePr>
            <p:cNvPr id="819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542659"/>
                </p:ext>
              </p:extLst>
            </p:nvPr>
          </p:nvGraphicFramePr>
          <p:xfrm>
            <a:off x="0" y="616"/>
            <a:ext cx="2272" cy="1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93" name="Picture" r:id="rId3" imgW="1803240" imgH="1072440" progId="Word.Picture.8">
                    <p:embed/>
                  </p:oleObj>
                </mc:Choice>
                <mc:Fallback>
                  <p:oleObj name="Picture" r:id="rId3" imgW="1803240" imgH="1072440" progId="Word.Picture.8">
                    <p:embed/>
                    <p:pic>
                      <p:nvPicPr>
                        <p:cNvPr id="819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16"/>
                          <a:ext cx="2272" cy="1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3264369"/>
                </p:ext>
              </p:extLst>
            </p:nvPr>
          </p:nvGraphicFramePr>
          <p:xfrm>
            <a:off x="1" y="1919"/>
            <a:ext cx="2324" cy="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94" name="Picture" r:id="rId5" imgW="1847880" imgH="590400" progId="Word.Picture.8">
                    <p:embed/>
                  </p:oleObj>
                </mc:Choice>
                <mc:Fallback>
                  <p:oleObj name="Picture" r:id="rId5" imgW="1847880" imgH="590400" progId="Word.Picture.8">
                    <p:embed/>
                    <p:pic>
                      <p:nvPicPr>
                        <p:cNvPr id="820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" y="1919"/>
                          <a:ext cx="2324" cy="7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6024563" y="1700213"/>
          <a:ext cx="3668712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5" name="图片" r:id="rId7" imgW="1849120" imgH="574040" progId="Word.Picture.8">
                  <p:embed/>
                </p:oleObj>
              </mc:Choice>
              <mc:Fallback>
                <p:oleObj name="图片" r:id="rId7" imgW="1849120" imgH="574040" progId="Word.Picture.8">
                  <p:embed/>
                  <p:pic>
                    <p:nvPicPr>
                      <p:cNvPr id="8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1700213"/>
                        <a:ext cx="3668712" cy="1198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6096001" y="2997201"/>
          <a:ext cx="36226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6" name="图片" r:id="rId9" imgW="1849120" imgH="675640" progId="Word.Picture.8">
                  <p:embed/>
                </p:oleObj>
              </mc:Choice>
              <mc:Fallback>
                <p:oleObj name="图片" r:id="rId9" imgW="1849120" imgH="675640" progId="Word.Picture.8">
                  <p:embed/>
                  <p:pic>
                    <p:nvPicPr>
                      <p:cNvPr id="82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6610"/>
                      <a:stretch>
                        <a:fillRect/>
                      </a:stretch>
                    </p:blipFill>
                    <p:spPr bwMode="auto">
                      <a:xfrm>
                        <a:off x="6096001" y="2997201"/>
                        <a:ext cx="3622675" cy="1101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6167439" y="3933825"/>
          <a:ext cx="3546475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7" name="图片" r:id="rId11" imgW="1849120" imgH="655320" progId="Word.Picture.8">
                  <p:embed/>
                </p:oleObj>
              </mc:Choice>
              <mc:Fallback>
                <p:oleObj name="图片" r:id="rId11" imgW="1849120" imgH="655320" progId="Word.Picture.8">
                  <p:embed/>
                  <p:pic>
                    <p:nvPicPr>
                      <p:cNvPr id="8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3933825"/>
                        <a:ext cx="3546475" cy="141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/>
        </p:nvGraphicFramePr>
        <p:xfrm>
          <a:off x="6096001" y="5229225"/>
          <a:ext cx="3800475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8" name="图片" r:id="rId13" imgW="1849120" imgH="655320" progId="Word.Picture.8">
                  <p:embed/>
                </p:oleObj>
              </mc:Choice>
              <mc:Fallback>
                <p:oleObj name="图片" r:id="rId13" imgW="1849120" imgH="655320" progId="Word.Picture.8">
                  <p:embed/>
                  <p:pic>
                    <p:nvPicPr>
                      <p:cNvPr id="82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5229225"/>
                        <a:ext cx="3800475" cy="1423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639670"/>
              </p:ext>
            </p:extLst>
          </p:nvPr>
        </p:nvGraphicFramePr>
        <p:xfrm>
          <a:off x="2057400" y="4806950"/>
          <a:ext cx="3335338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9" name="Picture" r:id="rId15" imgW="1803240" imgH="1072440" progId="Word.Picture.8">
                  <p:embed/>
                </p:oleObj>
              </mc:Choice>
              <mc:Fallback>
                <p:oleObj name="Picture" r:id="rId15" imgW="1803240" imgH="1072440" progId="Word.Picture.8">
                  <p:embed/>
                  <p:pic>
                    <p:nvPicPr>
                      <p:cNvPr id="82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06950"/>
                        <a:ext cx="3335338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8990014" y="1633539"/>
            <a:ext cx="1455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[(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-</a:t>
            </a: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1" lang="en-US" altLang="zh-CN" sz="20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</a:t>
            </a: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8990014" y="2881314"/>
            <a:ext cx="1455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[(1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-</a:t>
            </a: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1" lang="en-US" altLang="zh-CN" sz="20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</a:t>
            </a: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8990014" y="4175126"/>
            <a:ext cx="1455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[(2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-</a:t>
            </a: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1" lang="en-US" altLang="zh-CN" sz="20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8990014" y="5448301"/>
            <a:ext cx="1455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[(3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-</a:t>
            </a: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1" lang="en-US" altLang="zh-CN" sz="20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</a:t>
            </a:r>
          </a:p>
        </p:txBody>
      </p:sp>
      <p:sp>
        <p:nvSpPr>
          <p:cNvPr id="8212" name="Rectangle 20"/>
          <p:cNvSpPr>
            <a:spLocks noChangeArrowheads="1"/>
          </p:cNvSpPr>
          <p:nvPr/>
        </p:nvSpPr>
        <p:spPr bwMode="auto">
          <a:xfrm>
            <a:off x="16764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77671" y="844029"/>
            <a:ext cx="6176336" cy="9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6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utoUpdateAnimBg="0"/>
      <p:bldP spid="8207" grpId="0" autoUpdateAnimBg="0"/>
      <p:bldP spid="8208" grpId="0" autoUpdateAnimBg="0"/>
      <p:bldP spid="820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457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200" b="1"/>
              <a:t>利用</a:t>
            </a:r>
            <a:r>
              <a:rPr lang="en-US" altLang="zh-CN" sz="3200" b="1"/>
              <a:t>DFT</a:t>
            </a:r>
            <a:r>
              <a:rPr lang="zh-CN" altLang="en-US" sz="3200" b="1"/>
              <a:t>计算序列线性卷积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992314" y="2420938"/>
            <a:ext cx="1863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问题提出</a:t>
            </a:r>
            <a:r>
              <a:rPr lang="en-US" altLang="zh-CN" sz="280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1992313" y="3500438"/>
            <a:ext cx="800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  <a:ea typeface="华文中宋" panose="02010600040101010101" pitchFamily="2" charset="-122"/>
              </a:rPr>
              <a:t>实际需要：</a:t>
            </a:r>
            <a:r>
              <a:rPr lang="zh-CN" altLang="en-US" sz="2800" dirty="0">
                <a:solidFill>
                  <a:prstClr val="black"/>
                </a:solidFill>
              </a:rPr>
              <a:t>    </a:t>
            </a:r>
            <a:r>
              <a:rPr lang="en-US" altLang="zh-CN" sz="2800" dirty="0">
                <a:solidFill>
                  <a:prstClr val="black"/>
                </a:solidFill>
              </a:rPr>
              <a:t>LTI</a:t>
            </a:r>
            <a:r>
              <a:rPr lang="zh-CN" altLang="en-US" sz="2800" dirty="0">
                <a:solidFill>
                  <a:prstClr val="black"/>
                </a:solidFill>
              </a:rPr>
              <a:t>系统响应     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</a:t>
            </a:r>
            <a:r>
              <a:rPr lang="en-US" altLang="zh-CN" sz="2800" i="1" dirty="0">
                <a:solidFill>
                  <a:prstClr val="black"/>
                </a:solidFill>
              </a:rPr>
              <a:t>x 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en-US" altLang="zh-CN" sz="2800" dirty="0">
                <a:solidFill>
                  <a:prstClr val="black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h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2424113" y="4941888"/>
            <a:ext cx="632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可否利用</a:t>
            </a:r>
            <a:r>
              <a:rPr lang="en-US" altLang="zh-CN" sz="280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DFT</a:t>
            </a:r>
            <a:r>
              <a:rPr lang="zh-CN" altLang="en-US" sz="280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计算线性卷积？</a:t>
            </a:r>
          </a:p>
        </p:txBody>
      </p:sp>
      <p:sp>
        <p:nvSpPr>
          <p:cNvPr id="4103" name="Text Box 16"/>
          <p:cNvSpPr txBox="1">
            <a:spLocks noChangeArrowheads="1"/>
          </p:cNvSpPr>
          <p:nvPr/>
        </p:nvSpPr>
        <p:spPr bwMode="auto">
          <a:xfrm>
            <a:off x="1752600" y="13208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prstClr val="black"/>
                </a:solidFill>
              </a:rPr>
              <a:t>一、两个有限长序列的线性卷积</a:t>
            </a:r>
          </a:p>
        </p:txBody>
      </p:sp>
      <p:sp>
        <p:nvSpPr>
          <p:cNvPr id="4104" name="Rectangle 17"/>
          <p:cNvSpPr>
            <a:spLocks noChangeArrowheads="1"/>
          </p:cNvSpPr>
          <p:nvPr/>
        </p:nvSpPr>
        <p:spPr bwMode="auto">
          <a:xfrm>
            <a:off x="1676400" y="1139825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670" y="2517775"/>
            <a:ext cx="4098925" cy="4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7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utoUpdateAnimBg="0"/>
      <p:bldP spid="56329" grpId="0" autoUpdateAnimBg="0"/>
      <p:bldP spid="5633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2640013" y="188913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</a:rPr>
              <a:t>例：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1,1,1},  </a:t>
            </a:r>
            <a:r>
              <a:rPr lang="en-US" altLang="zh-CN" sz="2800" i="1" dirty="0">
                <a:solidFill>
                  <a:prstClr val="black"/>
                </a:solidFill>
              </a:rPr>
              <a:t>x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[n]={</a:t>
            </a:r>
            <a:r>
              <a:rPr lang="en-US" altLang="zh-CN" sz="2800" dirty="0">
                <a:solidFill>
                  <a:prstClr val="black"/>
                </a:solidFill>
              </a:rPr>
              <a:t>1,1,0,1} , </a:t>
            </a:r>
            <a:r>
              <a:rPr lang="zh-CN" altLang="en-US" sz="2800" dirty="0">
                <a:solidFill>
                  <a:prstClr val="black"/>
                </a:solidFill>
              </a:rPr>
              <a:t>计算</a:t>
            </a:r>
          </a:p>
        </p:txBody>
      </p:sp>
      <p:sp>
        <p:nvSpPr>
          <p:cNvPr id="5123" name="Rectangle 28"/>
          <p:cNvSpPr>
            <a:spLocks noChangeArrowheads="1"/>
          </p:cNvSpPr>
          <p:nvPr/>
        </p:nvSpPr>
        <p:spPr bwMode="auto">
          <a:xfrm>
            <a:off x="3143251" y="765176"/>
            <a:ext cx="4321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(1)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[n]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的线性卷积</a:t>
            </a:r>
          </a:p>
        </p:txBody>
      </p:sp>
      <p:sp>
        <p:nvSpPr>
          <p:cNvPr id="5124" name="Text Box 29"/>
          <p:cNvSpPr txBox="1">
            <a:spLocks noChangeArrowheads="1"/>
          </p:cNvSpPr>
          <p:nvPr/>
        </p:nvSpPr>
        <p:spPr bwMode="auto">
          <a:xfrm>
            <a:off x="3143251" y="1412876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(2)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4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5125" name="Text Box 30"/>
          <p:cNvSpPr txBox="1">
            <a:spLocks noChangeArrowheads="1"/>
          </p:cNvSpPr>
          <p:nvPr/>
        </p:nvSpPr>
        <p:spPr bwMode="auto">
          <a:xfrm>
            <a:off x="3143250" y="198913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(3)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5</a:t>
            </a:r>
            <a:r>
              <a:rPr lang="zh-CN" altLang="en-US" sz="2800" dirty="0">
                <a:solidFill>
                  <a:prstClr val="black"/>
                </a:solidFill>
              </a:rPr>
              <a:t>点、</a:t>
            </a:r>
            <a:r>
              <a:rPr lang="en-US" altLang="zh-CN" sz="2800" dirty="0">
                <a:solidFill>
                  <a:prstClr val="black"/>
                </a:solidFill>
              </a:rPr>
              <a:t>6</a:t>
            </a:r>
            <a:r>
              <a:rPr lang="zh-CN" altLang="en-US" sz="2800" dirty="0">
                <a:solidFill>
                  <a:prstClr val="black"/>
                </a:solidFill>
              </a:rPr>
              <a:t>点和</a:t>
            </a:r>
            <a:r>
              <a:rPr lang="en-US" altLang="zh-CN" sz="2800" dirty="0">
                <a:solidFill>
                  <a:prstClr val="black"/>
                </a:solidFill>
              </a:rPr>
              <a:t>7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</p:spTree>
    <p:extLst>
      <p:ext uri="{BB962C8B-B14F-4D97-AF65-F5344CB8AC3E}">
        <p14:creationId xmlns:p14="http://schemas.microsoft.com/office/powerpoint/2010/main" val="334081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143</Words>
  <Application>Microsoft Office PowerPoint</Application>
  <PresentationFormat>宽屏</PresentationFormat>
  <Paragraphs>15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等线</vt:lpstr>
      <vt:lpstr>等线 Light</vt:lpstr>
      <vt:lpstr>宋体</vt:lpstr>
      <vt:lpstr>华文中宋</vt:lpstr>
      <vt:lpstr>Arial</vt:lpstr>
      <vt:lpstr>Comic Sans MS</vt:lpstr>
      <vt:lpstr>Symbol</vt:lpstr>
      <vt:lpstr>Times New Roman</vt:lpstr>
      <vt:lpstr>Wingdings</vt:lpstr>
      <vt:lpstr>icfp99</vt:lpstr>
      <vt:lpstr>Office 主题​​</vt:lpstr>
      <vt:lpstr>Equation</vt:lpstr>
      <vt:lpstr>Picture</vt:lpstr>
      <vt:lpstr>图片</vt:lpstr>
      <vt:lpstr>PowerPoint 演示文稿</vt:lpstr>
      <vt:lpstr>PowerPoint 演示文稿</vt:lpstr>
      <vt:lpstr>PowerPoint 演示文稿</vt:lpstr>
      <vt:lpstr>利用DFT计算序列线性卷积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33</cp:revision>
  <dcterms:created xsi:type="dcterms:W3CDTF">2020-08-06T07:31:11Z</dcterms:created>
  <dcterms:modified xsi:type="dcterms:W3CDTF">2022-10-15T06:25:24Z</dcterms:modified>
</cp:coreProperties>
</file>