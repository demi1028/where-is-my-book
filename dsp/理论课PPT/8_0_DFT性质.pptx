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698" r:id="rId2"/>
    <p:sldMasterId id="2147483710" r:id="rId3"/>
  </p:sldMasterIdLst>
  <p:notesMasterIdLst>
    <p:notesMasterId r:id="rId22"/>
  </p:notesMasterIdLst>
  <p:sldIdLst>
    <p:sldId id="384" r:id="rId4"/>
    <p:sldId id="385" r:id="rId5"/>
    <p:sldId id="386" r:id="rId6"/>
    <p:sldId id="387" r:id="rId7"/>
    <p:sldId id="388" r:id="rId8"/>
    <p:sldId id="382" r:id="rId9"/>
    <p:sldId id="383" r:id="rId10"/>
    <p:sldId id="389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76" r:id="rId19"/>
    <p:sldId id="377" r:id="rId20"/>
    <p:sldId id="37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emf"/><Relationship Id="rId1" Type="http://schemas.openxmlformats.org/officeDocument/2006/relationships/image" Target="../media/image11.wmf"/><Relationship Id="rId6" Type="http://schemas.openxmlformats.org/officeDocument/2006/relationships/image" Target="../media/image16.e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emf"/><Relationship Id="rId9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Relationship Id="rId6" Type="http://schemas.openxmlformats.org/officeDocument/2006/relationships/image" Target="../media/image72.emf"/><Relationship Id="rId5" Type="http://schemas.openxmlformats.org/officeDocument/2006/relationships/image" Target="../media/image71.emf"/><Relationship Id="rId4" Type="http://schemas.openxmlformats.org/officeDocument/2006/relationships/image" Target="../media/image7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pPr/>
              <a:t>1</a:t>
            </a:fld>
            <a:endParaRPr lang="zh-CN" altLang="en-US" dirty="0">
              <a:solidFill>
                <a:prstClr val="black"/>
              </a:solidFill>
              <a:latin typeface="等线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1704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C29F5-5CAD-45E2-8601-ADB508C2F6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021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BA316B-5AF9-453A-BB6C-B3A66DCAF6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581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88828E-D16D-4500-8352-7D636249452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8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640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B89419-C344-40C6-B4AF-B64360F5EC6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0EC15D-9C77-4188-80FD-534CB4D625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60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009DD4-B744-4A5A-9BCF-2BE1219C878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5375B-8E09-4DD8-A950-D279B55D1AF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4607E7-4DB9-45E5-BF73-16A5A03CEE1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32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A3D01B-CED5-4F8A-B6C8-7E3E79320ED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40AEE6-7319-4B5B-93D0-3548900E185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98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40ECF-C06C-4365-A82F-7FCF58AB175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916CC5-3ED3-4E00-85B5-005DC67C0A9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50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F378D-529B-499C-888D-96616A7FD7B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7B3999-57F6-416E-A1A2-5253D300C46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17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C2F7E0-74B7-4DF6-835D-211E54381D8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88483-54E8-444F-A583-0A553B1CE94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1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21B5CF-6445-489A-A45C-4EC7F4623F9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114EFF-8E6F-4E42-8213-F37E8D3AB8C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4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BE24FC-2A45-4A55-B139-5F9494B1CB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908285-CA4E-423B-8642-8726C1B3382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73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EAA45-778A-4741-845A-F018261E7A9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3AA134-3FB7-4864-BDD9-113D7FC3B5C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4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DC5DBC-5A12-4956-B0A7-3CBFEBC2F06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6064C9-616C-418B-B0ED-83E8E1DAAE9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701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03FB61-C213-45FB-A763-B77CDEFEA23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D01B68-6309-4BDA-8324-A2F95C8B936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583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82A54-22DA-410F-ABEF-A148282DD685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591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4B616D-F430-45A3-B2FD-A074B147F3D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3567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F25EBD-7889-4D06-A5FA-7ABE535C7BEE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911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9B0306-37BD-4B50-B81E-190F57FEE726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459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55E9E8-05E8-42F4-8AED-2183AE192781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273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A4AB3D-7713-4529-927E-9521FA68C7A3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254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72E0-243E-4D7B-BB9A-06DCA235BC98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283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BAD808-F593-4881-A275-3766FD759F4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7337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9A1DF-E25B-4194-BB58-DDFBB6433824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930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D9BBDC-2BCC-48D5-9527-AE1DC8D57224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2394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0B9C86-C698-4C2D-A9F9-CB9444561DCE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0623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B69D0-3BF3-4C26-83B8-3A780F644DD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4225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3D262B-07AE-4E3F-B480-0A3FB646DDE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4297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C77BC-BB16-4754-AEF2-51D427CD299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3216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2AC54-5E15-4CA5-9D13-83B0D8568AC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0214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A5FB2D-7BB9-42E8-AFCD-36341F1AB2F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4304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F6534-B473-4017-9024-713DD814830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611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ED0861-1349-410C-8B12-9EF63F476E5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983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495936-99AE-47A2-A696-4BD073E35E9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6671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0931A-B180-4FC2-B1F1-B0DB9EA168D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6083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8C0315-42CF-421E-BD1F-92D471BBD07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3790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609BC5-EC44-4F48-A539-2FB2C36F354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78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F930D0-305E-4488-9A18-18976C29D3C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FF258E-67CD-4D95-B960-4634DDA9265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74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03A3D8-4374-46BE-BE2B-F1E8B64D146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78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4F0BF5-7760-4DED-9C8C-1EB1FB50492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88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8.emf"/><Relationship Id="rId3" Type="http://schemas.openxmlformats.org/officeDocument/2006/relationships/oleObject" Target="../embeddings/oleObject3.bin"/><Relationship Id="rId21" Type="http://schemas.openxmlformats.org/officeDocument/2006/relationships/oleObject" Target="../embeddings/oleObject12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3.bin"/><Relationship Id="rId10" Type="http://schemas.openxmlformats.org/officeDocument/2006/relationships/image" Target="../media/image14.e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6.emf"/><Relationship Id="rId22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6.wmf"/><Relationship Id="rId10" Type="http://schemas.openxmlformats.org/officeDocument/2006/relationships/image" Target="../media/image29.jpe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3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wmf"/><Relationship Id="rId11" Type="http://schemas.openxmlformats.org/officeDocument/2006/relationships/image" Target="../media/image44.emf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8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60.e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5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5.emf"/><Relationship Id="rId4" Type="http://schemas.openxmlformats.org/officeDocument/2006/relationships/image" Target="../media/image62.emf"/><Relationship Id="rId9" Type="http://schemas.openxmlformats.org/officeDocument/2006/relationships/oleObject" Target="../embeddings/oleObject5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74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71.e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3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8.e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70.emf"/><Relationship Id="rId4" Type="http://schemas.openxmlformats.org/officeDocument/2006/relationships/image" Target="../media/image67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7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59185" y="2074630"/>
            <a:ext cx="6339151" cy="185420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endParaRPr lang="zh-CN" altLang="en-US" sz="4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13" y="399944"/>
            <a:ext cx="1912647" cy="463382"/>
          </a:xfrm>
          <a:prstGeom prst="rect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787180" y="2192687"/>
            <a:ext cx="2863589" cy="1617313"/>
            <a:chOff x="3367821" y="2336603"/>
            <a:chExt cx="3846124" cy="217223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0"/>
            <a:stretch/>
          </p:blipFill>
          <p:spPr>
            <a:xfrm>
              <a:off x="3367821" y="2337641"/>
              <a:ext cx="3846124" cy="217119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8" t="-273" r="15178" b="91664"/>
            <a:stretch/>
          </p:blipFill>
          <p:spPr>
            <a:xfrm>
              <a:off x="4279348" y="2336603"/>
              <a:ext cx="712760" cy="176959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8F5323-CD48-4559-805E-B472C5FB008E}"/>
              </a:ext>
            </a:extLst>
          </p:cNvPr>
          <p:cNvGrpSpPr/>
          <p:nvPr/>
        </p:nvGrpSpPr>
        <p:grpSpPr>
          <a:xfrm>
            <a:off x="3003583" y="3103060"/>
            <a:ext cx="928337" cy="905057"/>
            <a:chOff x="4480943" y="4021832"/>
            <a:chExt cx="980406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0406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511092" y="4218008"/>
              <a:ext cx="950257" cy="600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en-US" altLang="zh-CN" sz="2800" b="1" baseline="-25000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</a:t>
              </a:r>
              <a:endParaRPr lang="en-US" altLang="zh-CN" sz="3600" b="1" baseline="-25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97067" y="4149608"/>
            <a:ext cx="2941320" cy="990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吴超</a:t>
            </a:r>
            <a:endParaRPr lang="en-US" altLang="zh-CN" sz="280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 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 工 程 学 院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73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729205" y="1585122"/>
            <a:ext cx="10741306" cy="5272878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977" y="353440"/>
            <a:ext cx="1748577" cy="587059"/>
          </a:xfrm>
        </p:spPr>
        <p:txBody>
          <a:bodyPr anchor="ctr">
            <a:noAutofit/>
          </a:bodyPr>
          <a:lstStyle/>
          <a:p>
            <a:r>
              <a:rPr lang="zh-CN" altLang="en-US" sz="2800" dirty="0" smtClean="0"/>
              <a:t>复习</a:t>
            </a:r>
            <a:endParaRPr lang="zh-CN" altLang="en-US" sz="2800" dirty="0"/>
          </a:p>
        </p:txBody>
      </p:sp>
      <p:sp>
        <p:nvSpPr>
          <p:cNvPr id="9" name="Oval 1"/>
          <p:cNvSpPr txBox="1"/>
          <p:nvPr/>
        </p:nvSpPr>
        <p:spPr>
          <a:xfrm>
            <a:off x="1209689" y="1667917"/>
            <a:ext cx="10042200" cy="49705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对称性、周期卷积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周期卷积定理、</a:t>
            </a:r>
            <a:r>
              <a:rPr kumimoji="1" lang="en-US" altLang="zh-CN" sz="2400" b="1" dirty="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Parseval</a:t>
            </a:r>
            <a:r>
              <a:rPr kumimoji="1" lang="zh-CN" altLang="en-US" sz="2400" b="1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例如若         为偶对称的实序列，则有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/>
              <a:t>cos</a:t>
            </a:r>
            <a:r>
              <a:rPr lang="zh-CN" altLang="en-US" sz="2400" dirty="0"/>
              <a:t>（</a:t>
            </a:r>
            <a:r>
              <a:rPr lang="en-US" altLang="zh-CN" sz="2400" dirty="0"/>
              <a:t>pi/5n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频域抽样（频域与时域关系）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时域抽样等于频域的周期延拓，频域抽样等于时域的周期延拓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时域序列为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,2,3,4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频谱为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X(</a:t>
            </a:r>
            <a:r>
              <a:rPr lang="en-US" altLang="zh-CN" sz="2400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jw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)), 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至少频谱采样多少点可以恢复？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定义与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788" y="2294886"/>
            <a:ext cx="3803968" cy="5810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2575775" y="2400769"/>
                <a:ext cx="6819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775" y="2400769"/>
                <a:ext cx="681982" cy="369332"/>
              </a:xfrm>
              <a:prstGeom prst="rect">
                <a:avLst/>
              </a:prstGeom>
              <a:blipFill>
                <a:blip r:embed="rId5"/>
                <a:stretch>
                  <a:fillRect t="-126667" r="-63964" b="-19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8514" y="2808917"/>
            <a:ext cx="2353119" cy="12731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1633" y="2875983"/>
            <a:ext cx="2802533" cy="1138997"/>
          </a:xfrm>
          <a:prstGeom prst="rect">
            <a:avLst/>
          </a:prstGeom>
        </p:spPr>
      </p:pic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467509"/>
              </p:ext>
            </p:extLst>
          </p:nvPr>
        </p:nvGraphicFramePr>
        <p:xfrm>
          <a:off x="4769379" y="5781920"/>
          <a:ext cx="3108325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7" name="Equation" r:id="rId8" imgW="1295280" imgH="482400" progId="Equation.DSMT4">
                  <p:embed/>
                </p:oleObj>
              </mc:Choice>
              <mc:Fallback>
                <p:oleObj name="Equation" r:id="rId8" imgW="1295280" imgH="482400" progId="Equation.DSMT4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9379" y="5781920"/>
                        <a:ext cx="3108325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814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992313" y="1412875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周期卷积定理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495550" y="2205038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周期卷积定义：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>
            <p:extLst/>
          </p:nvPr>
        </p:nvGraphicFramePr>
        <p:xfrm>
          <a:off x="3503613" y="2751138"/>
          <a:ext cx="495617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4" name="Equation" r:id="rId3" imgW="1981080" imgH="431640" progId="Equation.DSMT4">
                  <p:embed/>
                </p:oleObj>
              </mc:Choice>
              <mc:Fallback>
                <p:oleObj name="Equation" r:id="rId3" imgW="1981080" imgH="431640" progId="Equation.DSMT4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2751138"/>
                        <a:ext cx="4956175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Text Box 24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的基本性质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7" name="Rectangle 25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2566988" y="4221164"/>
            <a:ext cx="6985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周期卷积是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两个等周期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的周期序列的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卷积运算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周期卷积的结果仍为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相同周期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的周期序列。</a:t>
            </a:r>
          </a:p>
        </p:txBody>
      </p:sp>
    </p:spTree>
    <p:extLst>
      <p:ext uri="{BB962C8B-B14F-4D97-AF65-F5344CB8AC3E}">
        <p14:creationId xmlns:p14="http://schemas.microsoft.com/office/powerpoint/2010/main" val="201669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>
            <p:extLst/>
          </p:nvPr>
        </p:nvGraphicFramePr>
        <p:xfrm>
          <a:off x="2798763" y="1757363"/>
          <a:ext cx="727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7" name="Equation" r:id="rId3" imgW="291960" imgH="203040" progId="Equation.DSMT4">
                  <p:embed/>
                </p:oleObj>
              </mc:Choice>
              <mc:Fallback>
                <p:oleObj name="Equation" r:id="rId3" imgW="291960" imgH="203040" progId="Equation.DSMT4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1757363"/>
                        <a:ext cx="727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2135189" y="2205038"/>
          <a:ext cx="2763837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8" name="Visio" r:id="rId5" imgW="1189939" imgH="644347" progId="Visio.Drawing.6">
                  <p:embed/>
                </p:oleObj>
              </mc:Choice>
              <mc:Fallback>
                <p:oleObj name="Visio" r:id="rId5" imgW="1189939" imgH="644347" progId="Visio.Drawing.6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205038"/>
                        <a:ext cx="2763837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6089650" y="1384300"/>
          <a:ext cx="1136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9" name="公式" r:id="rId7" imgW="457200" imgH="177480" progId="Equation.3">
                  <p:embed/>
                </p:oleObj>
              </mc:Choice>
              <mc:Fallback>
                <p:oleObj name="公式" r:id="rId7" imgW="457200" imgH="177480" progId="Equation.3">
                  <p:embed/>
                  <p:pic>
                    <p:nvPicPr>
                      <p:cNvPr id="14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9650" y="1384300"/>
                        <a:ext cx="1136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7032625" y="1501776"/>
          <a:ext cx="2763838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0" name="Visio" r:id="rId9" imgW="1189939" imgH="655015" progId="Visio.Drawing.6">
                  <p:embed/>
                </p:oleObj>
              </mc:Choice>
              <mc:Fallback>
                <p:oleObj name="Visio" r:id="rId9" imgW="1189939" imgH="655015" progId="Visio.Drawing.6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1501776"/>
                        <a:ext cx="2763838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6096001" y="2997201"/>
          <a:ext cx="1235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1" name="公式" r:id="rId11" imgW="495000" imgH="203040" progId="Equation.3">
                  <p:embed/>
                </p:oleObj>
              </mc:Choice>
              <mc:Fallback>
                <p:oleObj name="公式" r:id="rId11" imgW="495000" imgH="203040" progId="Equation.3">
                  <p:embed/>
                  <p:pic>
                    <p:nvPicPr>
                      <p:cNvPr id="143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997201"/>
                        <a:ext cx="12350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6989764" y="3357564"/>
          <a:ext cx="2763837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2" name="Visio" r:id="rId13" imgW="1189939" imgH="655625" progId="Visio.Drawing.6">
                  <p:embed/>
                </p:oleObj>
              </mc:Choice>
              <mc:Fallback>
                <p:oleObj name="Visio" r:id="rId13" imgW="1189939" imgH="655625" progId="Visio.Drawing.6">
                  <p:embed/>
                  <p:pic>
                    <p:nvPicPr>
                      <p:cNvPr id="143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9764" y="3357564"/>
                        <a:ext cx="2763837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6324601" y="4918076"/>
          <a:ext cx="1330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3" name="公式" r:id="rId15" imgW="533160" imgH="203040" progId="Equation.3">
                  <p:embed/>
                </p:oleObj>
              </mc:Choice>
              <mc:Fallback>
                <p:oleObj name="公式" r:id="rId15" imgW="533160" imgH="203040" progId="Equation.3">
                  <p:embed/>
                  <p:pic>
                    <p:nvPicPr>
                      <p:cNvPr id="143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4918076"/>
                        <a:ext cx="13303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6907214" y="5313364"/>
          <a:ext cx="2770187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4" name="Visio" r:id="rId17" imgW="1189939" imgH="651053" progId="Visio.Drawing.6">
                  <p:embed/>
                </p:oleObj>
              </mc:Choice>
              <mc:Fallback>
                <p:oleObj name="Visio" r:id="rId17" imgW="1189939" imgH="651053" progId="Visio.Drawing.6">
                  <p:embed/>
                  <p:pic>
                    <p:nvPicPr>
                      <p:cNvPr id="143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14" y="5313364"/>
                        <a:ext cx="2770187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73" name="Group 37"/>
          <p:cNvGrpSpPr>
            <a:grpSpLocks/>
          </p:cNvGrpSpPr>
          <p:nvPr/>
        </p:nvGrpSpPr>
        <p:grpSpPr bwMode="auto">
          <a:xfrm>
            <a:off x="2279650" y="4652962"/>
            <a:ext cx="2255838" cy="1628774"/>
            <a:chOff x="331" y="2906"/>
            <a:chExt cx="1421" cy="1026"/>
          </a:xfrm>
        </p:grpSpPr>
        <p:grpSp>
          <p:nvGrpSpPr>
            <p:cNvPr id="14368" name="Group 32"/>
            <p:cNvGrpSpPr>
              <a:grpSpLocks/>
            </p:cNvGrpSpPr>
            <p:nvPr/>
          </p:nvGrpSpPr>
          <p:grpSpPr bwMode="auto">
            <a:xfrm>
              <a:off x="331" y="3146"/>
              <a:ext cx="1421" cy="786"/>
              <a:chOff x="331" y="2928"/>
              <a:chExt cx="1421" cy="786"/>
            </a:xfrm>
          </p:grpSpPr>
          <p:sp>
            <p:nvSpPr>
              <p:cNvPr id="14352" name="Line 16"/>
              <p:cNvSpPr>
                <a:spLocks noChangeShapeType="1"/>
              </p:cNvSpPr>
              <p:nvPr/>
            </p:nvSpPr>
            <p:spPr bwMode="auto">
              <a:xfrm>
                <a:off x="331" y="3445"/>
                <a:ext cx="1421" cy="1"/>
              </a:xfrm>
              <a:prstGeom prst="line">
                <a:avLst/>
              </a:prstGeom>
              <a:noFill/>
              <a:ln w="17463" cap="rnd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4" name="Line 18"/>
              <p:cNvSpPr>
                <a:spLocks noChangeShapeType="1"/>
              </p:cNvSpPr>
              <p:nvPr/>
            </p:nvSpPr>
            <p:spPr bwMode="auto">
              <a:xfrm flipV="1">
                <a:off x="554" y="3224"/>
                <a:ext cx="1" cy="221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6" name="Rectangle 20"/>
              <p:cNvSpPr>
                <a:spLocks noChangeArrowheads="1"/>
              </p:cNvSpPr>
              <p:nvPr/>
            </p:nvSpPr>
            <p:spPr bwMode="auto">
              <a:xfrm>
                <a:off x="491" y="3481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0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7" name="Rectangle 21"/>
              <p:cNvSpPr>
                <a:spLocks noChangeArrowheads="1"/>
              </p:cNvSpPr>
              <p:nvPr/>
            </p:nvSpPr>
            <p:spPr bwMode="auto">
              <a:xfrm>
                <a:off x="728" y="346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8" name="Rectangle 22"/>
              <p:cNvSpPr>
                <a:spLocks noChangeArrowheads="1"/>
              </p:cNvSpPr>
              <p:nvPr/>
            </p:nvSpPr>
            <p:spPr bwMode="auto">
              <a:xfrm>
                <a:off x="937" y="3481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9" name="Rectangle 23"/>
              <p:cNvSpPr>
                <a:spLocks noChangeArrowheads="1"/>
              </p:cNvSpPr>
              <p:nvPr/>
            </p:nvSpPr>
            <p:spPr bwMode="auto">
              <a:xfrm>
                <a:off x="1620" y="3205"/>
                <a:ext cx="8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4" name="Rectangle 28"/>
              <p:cNvSpPr>
                <a:spLocks noChangeArrowheads="1"/>
              </p:cNvSpPr>
              <p:nvPr/>
            </p:nvSpPr>
            <p:spPr bwMode="auto">
              <a:xfrm>
                <a:off x="480" y="292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369" name="Group 33"/>
            <p:cNvGrpSpPr>
              <a:grpSpLocks/>
            </p:cNvGrpSpPr>
            <p:nvPr/>
          </p:nvGrpSpPr>
          <p:grpSpPr bwMode="auto">
            <a:xfrm>
              <a:off x="728" y="2906"/>
              <a:ext cx="97" cy="751"/>
              <a:chOff x="728" y="2688"/>
              <a:chExt cx="97" cy="751"/>
            </a:xfrm>
          </p:grpSpPr>
          <p:sp>
            <p:nvSpPr>
              <p:cNvPr id="14360" name="Line 24"/>
              <p:cNvSpPr>
                <a:spLocks noChangeShapeType="1"/>
              </p:cNvSpPr>
              <p:nvPr/>
            </p:nvSpPr>
            <p:spPr bwMode="auto">
              <a:xfrm flipV="1">
                <a:off x="775" y="2989"/>
                <a:ext cx="1" cy="450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5" name="Rectangle 29"/>
              <p:cNvSpPr>
                <a:spLocks noChangeArrowheads="1"/>
              </p:cNvSpPr>
              <p:nvPr/>
            </p:nvSpPr>
            <p:spPr bwMode="auto">
              <a:xfrm>
                <a:off x="728" y="268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370" name="Group 34"/>
            <p:cNvGrpSpPr>
              <a:grpSpLocks/>
            </p:cNvGrpSpPr>
            <p:nvPr/>
          </p:nvGrpSpPr>
          <p:grpSpPr bwMode="auto">
            <a:xfrm>
              <a:off x="937" y="3108"/>
              <a:ext cx="97" cy="549"/>
              <a:chOff x="937" y="2890"/>
              <a:chExt cx="97" cy="549"/>
            </a:xfrm>
          </p:grpSpPr>
          <p:sp>
            <p:nvSpPr>
              <p:cNvPr id="14362" name="Line 26"/>
              <p:cNvSpPr>
                <a:spLocks noChangeShapeType="1"/>
              </p:cNvSpPr>
              <p:nvPr/>
            </p:nvSpPr>
            <p:spPr bwMode="auto">
              <a:xfrm flipV="1">
                <a:off x="994" y="3218"/>
                <a:ext cx="1" cy="221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6" name="Rectangle 30"/>
              <p:cNvSpPr>
                <a:spLocks noChangeArrowheads="1"/>
              </p:cNvSpPr>
              <p:nvPr/>
            </p:nvSpPr>
            <p:spPr bwMode="auto">
              <a:xfrm>
                <a:off x="937" y="2890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14348" name="Object 12"/>
          <p:cNvGraphicFramePr>
            <a:graphicFrameLocks noChangeAspect="1"/>
          </p:cNvGraphicFramePr>
          <p:nvPr>
            <p:extLst/>
          </p:nvPr>
        </p:nvGraphicFramePr>
        <p:xfrm>
          <a:off x="2398713" y="4149725"/>
          <a:ext cx="16510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5" name="Equation" r:id="rId19" imgW="660240" imgH="203040" progId="Equation.DSMT4">
                  <p:embed/>
                </p:oleObj>
              </mc:Choice>
              <mc:Fallback>
                <p:oleObj name="Equation" r:id="rId19" imgW="660240" imgH="203040" progId="Equation.DSMT4">
                  <p:embed/>
                  <p:pic>
                    <p:nvPicPr>
                      <p:cNvPr id="143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4149725"/>
                        <a:ext cx="16510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1524000" y="-90488"/>
            <a:ext cx="79248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例：周期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的序列         如图所示，试计算</a:t>
            </a:r>
          </a:p>
        </p:txBody>
      </p:sp>
      <p:graphicFrame>
        <p:nvGraphicFramePr>
          <p:cNvPr id="14350" name="Object 14"/>
          <p:cNvGraphicFramePr>
            <a:graphicFrameLocks noChangeAspect="1"/>
          </p:cNvGraphicFramePr>
          <p:nvPr>
            <p:extLst/>
          </p:nvPr>
        </p:nvGraphicFramePr>
        <p:xfrm>
          <a:off x="4237038" y="246063"/>
          <a:ext cx="6429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6" name="Equation" r:id="rId21" imgW="291960" imgH="203040" progId="Equation.DSMT4">
                  <p:embed/>
                </p:oleObj>
              </mc:Choice>
              <mc:Fallback>
                <p:oleObj name="Equation" r:id="rId21" imgW="291960" imgH="203040" progId="Equation.DSMT4">
                  <p:embed/>
                  <p:pic>
                    <p:nvPicPr>
                      <p:cNvPr id="143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246063"/>
                        <a:ext cx="64293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Object 15"/>
          <p:cNvGraphicFramePr>
            <a:graphicFrameLocks noChangeAspect="1"/>
          </p:cNvGraphicFramePr>
          <p:nvPr>
            <p:extLst/>
          </p:nvPr>
        </p:nvGraphicFramePr>
        <p:xfrm>
          <a:off x="7493000" y="188913"/>
          <a:ext cx="23558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7" name="Equation" r:id="rId23" imgW="1066680" imgH="203040" progId="Equation.DSMT4">
                  <p:embed/>
                </p:oleObj>
              </mc:Choice>
              <mc:Fallback>
                <p:oleObj name="Equation" r:id="rId23" imgW="1066680" imgH="203040" progId="Equation.DSMT4">
                  <p:embed/>
                  <p:pic>
                    <p:nvPicPr>
                      <p:cNvPr id="1435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188913"/>
                        <a:ext cx="23558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2" name="Rectangle 36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23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1847850" y="1412875"/>
            <a:ext cx="3887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时域周期卷积定理：</a:t>
            </a:r>
          </a:p>
        </p:txBody>
      </p:sp>
      <p:graphicFrame>
        <p:nvGraphicFramePr>
          <p:cNvPr id="15375" name="Object 15"/>
          <p:cNvGraphicFramePr>
            <a:graphicFrameLocks noChangeAspect="1"/>
          </p:cNvGraphicFramePr>
          <p:nvPr>
            <p:extLst/>
          </p:nvPr>
        </p:nvGraphicFramePr>
        <p:xfrm>
          <a:off x="2905125" y="2214563"/>
          <a:ext cx="67627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4" name="Equation" r:id="rId3" imgW="2705040" imgH="253800" progId="Equation.DSMT4">
                  <p:embed/>
                </p:oleObj>
              </mc:Choice>
              <mc:Fallback>
                <p:oleObj name="Equation" r:id="rId3" imgW="2705040" imgH="253800" progId="Equation.DSMT4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2214563"/>
                        <a:ext cx="6762750" cy="62865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的基本性质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382" name="Object 22"/>
          <p:cNvGraphicFramePr>
            <a:graphicFrameLocks noChangeAspect="1"/>
          </p:cNvGraphicFramePr>
          <p:nvPr>
            <p:extLst/>
          </p:nvPr>
        </p:nvGraphicFramePr>
        <p:xfrm>
          <a:off x="2927350" y="3860800"/>
          <a:ext cx="70580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5" name="Equation" r:id="rId5" imgW="2971800" imgH="393480" progId="Equation.DSMT4">
                  <p:embed/>
                </p:oleObj>
              </mc:Choice>
              <mc:Fallback>
                <p:oleObj name="Equation" r:id="rId5" imgW="2971800" imgH="393480" progId="Equation.DSMT4">
                  <p:embed/>
                  <p:pic>
                    <p:nvPicPr>
                      <p:cNvPr id="1538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3860800"/>
                        <a:ext cx="7058025" cy="93027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1992314" y="3284538"/>
            <a:ext cx="3887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频域周期卷积定理：</a:t>
            </a:r>
          </a:p>
        </p:txBody>
      </p:sp>
      <p:sp>
        <p:nvSpPr>
          <p:cNvPr id="15384" name="Text Box 24"/>
          <p:cNvSpPr txBox="1">
            <a:spLocks noChangeArrowheads="1"/>
          </p:cNvSpPr>
          <p:nvPr/>
        </p:nvSpPr>
        <p:spPr bwMode="auto">
          <a:xfrm>
            <a:off x="2566988" y="5373689"/>
            <a:ext cx="6553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时域的周期卷积对应频域的乘积；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时域的乘积对应频域的周期卷积。</a:t>
            </a:r>
          </a:p>
        </p:txBody>
      </p:sp>
    </p:spTree>
    <p:extLst>
      <p:ext uri="{BB962C8B-B14F-4D97-AF65-F5344CB8AC3E}">
        <p14:creationId xmlns:p14="http://schemas.microsoft.com/office/powerpoint/2010/main" val="34477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65FA7C-502F-44B9-BA64-6DD907990F8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04800"/>
            <a:ext cx="6705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DFT</a:t>
            </a:r>
            <a:r>
              <a:rPr lang="zh-CN" altLang="en-US" smtClean="0">
                <a:ea typeface="宋体" panose="02010600030101010101" pitchFamily="2" charset="-122"/>
              </a:rPr>
              <a:t>的定义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65540" name="对象 2"/>
          <p:cNvGraphicFramePr>
            <a:graphicFrameLocks noChangeAspect="1"/>
          </p:cNvGraphicFramePr>
          <p:nvPr/>
        </p:nvGraphicFramePr>
        <p:xfrm>
          <a:off x="4437063" y="1535114"/>
          <a:ext cx="46609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32" name="Equation" r:id="rId4" imgW="2374900" imgH="965200" progId="Equation.3">
                  <p:embed/>
                </p:oleObj>
              </mc:Choice>
              <mc:Fallback>
                <p:oleObj name="Equation" r:id="rId4" imgW="2374900" imgH="965200" progId="Equation.3">
                  <p:embed/>
                  <p:pic>
                    <p:nvPicPr>
                      <p:cNvPr id="6554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1535114"/>
                        <a:ext cx="46609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433455"/>
              </p:ext>
            </p:extLst>
          </p:nvPr>
        </p:nvGraphicFramePr>
        <p:xfrm>
          <a:off x="4484688" y="3859214"/>
          <a:ext cx="4735512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33" name="Equation" r:id="rId6" imgW="1993900" imgH="749300" progId="Equation.DSMT4">
                  <p:embed/>
                </p:oleObj>
              </mc:Choice>
              <mc:Fallback>
                <p:oleObj name="Equation" r:id="rId6" imgW="1993900" imgH="749300" progId="Equation.DSMT4">
                  <p:embed/>
                  <p:pic>
                    <p:nvPicPr>
                      <p:cNvPr id="65541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688" y="3859214"/>
                        <a:ext cx="4735512" cy="177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TextBox 4"/>
          <p:cNvSpPr txBox="1">
            <a:spLocks noChangeArrowheads="1"/>
          </p:cNvSpPr>
          <p:nvPr/>
        </p:nvSpPr>
        <p:spPr bwMode="auto">
          <a:xfrm>
            <a:off x="2819401" y="2286000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DFS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3" name="TextBox 5"/>
          <p:cNvSpPr txBox="1">
            <a:spLocks noChangeArrowheads="1"/>
          </p:cNvSpPr>
          <p:nvPr/>
        </p:nvSpPr>
        <p:spPr bwMode="auto">
          <a:xfrm>
            <a:off x="2895601" y="4572000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DFT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68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33A9B6-3E71-4237-A4D0-28CF5B18FF0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304800"/>
            <a:ext cx="6781800" cy="914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ea typeface="宋体" panose="02010600030101010101" pitchFamily="2" charset="-122"/>
              </a:rPr>
              <a:t>DFT</a:t>
            </a:r>
            <a:r>
              <a:rPr lang="zh-CN" altLang="en-US" smtClean="0">
                <a:ea typeface="宋体" panose="02010600030101010101" pitchFamily="2" charset="-122"/>
              </a:rPr>
              <a:t>与序列傅里叶变换、</a:t>
            </a:r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变换的关系</a:t>
            </a:r>
          </a:p>
        </p:txBody>
      </p:sp>
      <p:graphicFrame>
        <p:nvGraphicFramePr>
          <p:cNvPr id="67588" name="对象 2"/>
          <p:cNvGraphicFramePr>
            <a:graphicFrameLocks noChangeAspect="1"/>
          </p:cNvGraphicFramePr>
          <p:nvPr/>
        </p:nvGraphicFramePr>
        <p:xfrm>
          <a:off x="2209800" y="1447801"/>
          <a:ext cx="27432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3" name="Equation" r:id="rId4" imgW="1167893" imgH="431613" progId="Equation.3">
                  <p:embed/>
                </p:oleObj>
              </mc:Choice>
              <mc:Fallback>
                <p:oleObj name="Equation" r:id="rId4" imgW="1167893" imgH="431613" progId="Equation.3">
                  <p:embed/>
                  <p:pic>
                    <p:nvPicPr>
                      <p:cNvPr id="67588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447801"/>
                        <a:ext cx="27432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对象 3"/>
          <p:cNvGraphicFramePr>
            <a:graphicFrameLocks noChangeAspect="1"/>
          </p:cNvGraphicFramePr>
          <p:nvPr/>
        </p:nvGraphicFramePr>
        <p:xfrm>
          <a:off x="2209801" y="2743200"/>
          <a:ext cx="406241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4" name="Equation" r:id="rId6" imgW="1675673" imgH="304668" progId="Equation.DSMT4">
                  <p:embed/>
                </p:oleObj>
              </mc:Choice>
              <mc:Fallback>
                <p:oleObj name="Equation" r:id="rId6" imgW="1675673" imgH="304668" progId="Equation.DSMT4">
                  <p:embed/>
                  <p:pic>
                    <p:nvPicPr>
                      <p:cNvPr id="67589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2743200"/>
                        <a:ext cx="4062413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对象 4"/>
          <p:cNvGraphicFramePr>
            <a:graphicFrameLocks noChangeAspect="1"/>
          </p:cNvGraphicFramePr>
          <p:nvPr/>
        </p:nvGraphicFramePr>
        <p:xfrm>
          <a:off x="7297738" y="2743201"/>
          <a:ext cx="245586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5" name="Equation" r:id="rId8" imgW="1130300" imgH="279400" progId="Equation.3">
                  <p:embed/>
                </p:oleObj>
              </mc:Choice>
              <mc:Fallback>
                <p:oleObj name="Equation" r:id="rId8" imgW="1130300" imgH="279400" progId="Equation.3">
                  <p:embed/>
                  <p:pic>
                    <p:nvPicPr>
                      <p:cNvPr id="6759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2743201"/>
                        <a:ext cx="245586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591" name="Picture 7" descr="2-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3657600"/>
            <a:ext cx="7777163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963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DTFT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序列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的性质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448732" y="944564"/>
            <a:ext cx="112860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任何一个序列可以看成是共轭对称序列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【e】</a:t>
            </a: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和共轭反对称序列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【o】</a:t>
            </a: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/>
          </p:nvPr>
        </p:nvGraphicFramePr>
        <p:xfrm>
          <a:off x="655638" y="1720197"/>
          <a:ext cx="365601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0" name="Equation" r:id="rId3" imgW="1460160" imgH="431640" progId="Equation.DSMT4">
                  <p:embed/>
                </p:oleObj>
              </mc:Choice>
              <mc:Fallback>
                <p:oleObj name="Equation" r:id="rId3" imgW="1460160" imgH="43164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1720197"/>
                        <a:ext cx="365601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671249" y="2969031"/>
          <a:ext cx="365601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1" name="Equation" r:id="rId5" imgW="1460160" imgH="431640" progId="Equation.DSMT4">
                  <p:embed/>
                </p:oleObj>
              </mc:Choice>
              <mc:Fallback>
                <p:oleObj name="Equation" r:id="rId5" imgW="1460160" imgH="43164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249" y="2969031"/>
                        <a:ext cx="365601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/>
          </p:nvPr>
        </p:nvGraphicFramePr>
        <p:xfrm>
          <a:off x="292100" y="3962400"/>
          <a:ext cx="44831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2" name="Equation" r:id="rId7" imgW="1790640" imgH="457200" progId="Equation.DSMT4">
                  <p:embed/>
                </p:oleObj>
              </mc:Choice>
              <mc:Fallback>
                <p:oleObj name="Equation" r:id="rId7" imgW="1790640" imgH="4572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3962400"/>
                        <a:ext cx="44831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/>
          </p:nvPr>
        </p:nvGraphicFramePr>
        <p:xfrm>
          <a:off x="403225" y="5164666"/>
          <a:ext cx="45148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3" name="Equation" r:id="rId9" imgW="1803240" imgH="457200" progId="Equation.DSMT4">
                  <p:embed/>
                </p:oleObj>
              </mc:Choice>
              <mc:Fallback>
                <p:oleObj name="Equation" r:id="rId9" imgW="1803240" imgH="457200" progId="Equation.DSMT4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5164666"/>
                        <a:ext cx="45148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/>
          </p:nvPr>
        </p:nvGraphicFramePr>
        <p:xfrm>
          <a:off x="7446963" y="4146550"/>
          <a:ext cx="34337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4" name="Equation" r:id="rId11" imgW="1371600" imgH="431640" progId="Equation.DSMT4">
                  <p:embed/>
                </p:oleObj>
              </mc:Choice>
              <mc:Fallback>
                <p:oleObj name="Equation" r:id="rId11" imgW="1371600" imgH="43164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6963" y="4146550"/>
                        <a:ext cx="34337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/>
          </p:nvPr>
        </p:nvGraphicFramePr>
        <p:xfrm>
          <a:off x="7558088" y="5272088"/>
          <a:ext cx="34337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5" name="Equation" r:id="rId13" imgW="1371600" imgH="431640" progId="Equation.DSMT4">
                  <p:embed/>
                </p:oleObj>
              </mc:Choice>
              <mc:Fallback>
                <p:oleObj name="Equation" r:id="rId13" imgW="1371600" imgH="431640" progId="Equation.DSMT4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088" y="5272088"/>
                        <a:ext cx="34337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/>
          </p:nvPr>
        </p:nvGraphicFramePr>
        <p:xfrm>
          <a:off x="6807200" y="1611313"/>
          <a:ext cx="43561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6" name="Equation" r:id="rId15" imgW="1739880" imgH="457200" progId="Equation.DSMT4">
                  <p:embed/>
                </p:oleObj>
              </mc:Choice>
              <mc:Fallback>
                <p:oleObj name="Equation" r:id="rId15" imgW="1739880" imgH="457200" progId="Equation.DSMT4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1611313"/>
                        <a:ext cx="43561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/>
          </p:nvPr>
        </p:nvGraphicFramePr>
        <p:xfrm>
          <a:off x="6945313" y="2854325"/>
          <a:ext cx="43243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7" name="Equation" r:id="rId17" imgW="1726920" imgH="457200" progId="Equation.DSMT4">
                  <p:embed/>
                </p:oleObj>
              </mc:Choice>
              <mc:Fallback>
                <p:oleObj name="Equation" r:id="rId17" imgW="1726920" imgH="457200" progId="Equation.DSMT4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5313" y="2854325"/>
                        <a:ext cx="43243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763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xfrm>
            <a:off x="2117558" y="457200"/>
            <a:ext cx="7940842" cy="9144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3.3</a:t>
            </a:r>
            <a:r>
              <a:rPr lang="zh-CN" altLang="en-US" dirty="0" smtClean="0">
                <a:ea typeface="宋体" panose="02010600030101010101" pitchFamily="2" charset="-122"/>
              </a:rPr>
              <a:t>有限长序列</a:t>
            </a:r>
            <a:r>
              <a:rPr lang="zh-CN" altLang="en-US" dirty="0">
                <a:ea typeface="宋体" panose="02010600030101010101" pitchFamily="2" charset="-122"/>
              </a:rPr>
              <a:t>的离散</a:t>
            </a:r>
            <a:r>
              <a:rPr lang="zh-CN" altLang="en-US" dirty="0" smtClean="0">
                <a:ea typeface="宋体" panose="02010600030101010101" pitchFamily="2" charset="-122"/>
              </a:rPr>
              <a:t>傅立叶变换（</a:t>
            </a:r>
            <a:r>
              <a:rPr lang="en-US" altLang="zh-CN" dirty="0" smtClean="0">
                <a:ea typeface="宋体" panose="02010600030101010101" pitchFamily="2" charset="-122"/>
              </a:rPr>
              <a:t>DFT</a:t>
            </a:r>
            <a:r>
              <a:rPr lang="zh-CN" altLang="en-US" dirty="0" smtClean="0">
                <a:ea typeface="宋体" panose="02010600030101010101" pitchFamily="2" charset="-122"/>
              </a:rPr>
              <a:t>）性质</a:t>
            </a:r>
          </a:p>
        </p:txBody>
      </p:sp>
      <p:sp>
        <p:nvSpPr>
          <p:cNvPr id="6041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E1954B-0633-4A2A-9DA3-6C1CC01230A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1074400" cy="4419600"/>
          </a:xfrm>
        </p:spPr>
        <p:txBody>
          <a:bodyPr/>
          <a:lstStyle/>
          <a:p>
            <a:r>
              <a:rPr lang="zh-CN" altLang="en-US" sz="4800" dirty="0" smtClean="0"/>
              <a:t>线性、循环移位</a:t>
            </a:r>
            <a:endParaRPr lang="en-US" altLang="zh-CN" sz="4800" dirty="0" smtClean="0"/>
          </a:p>
          <a:p>
            <a:r>
              <a:rPr lang="zh-CN" altLang="en-US" sz="4800" dirty="0"/>
              <a:t>共轭</a:t>
            </a:r>
            <a:r>
              <a:rPr lang="zh-CN" altLang="en-US" sz="4800" dirty="0" smtClean="0"/>
              <a:t>对称性质</a:t>
            </a:r>
            <a:endParaRPr lang="en-US" altLang="zh-CN" sz="4800" dirty="0" smtClean="0"/>
          </a:p>
          <a:p>
            <a:r>
              <a:rPr lang="zh-CN" altLang="en-US" sz="4800" b="1" dirty="0" smtClean="0"/>
              <a:t>圆周卷积</a:t>
            </a:r>
            <a:r>
              <a:rPr lang="zh-CN" altLang="en-US" sz="4800" dirty="0" smtClean="0"/>
              <a:t>（循环卷积）与线性卷积</a:t>
            </a:r>
            <a:endParaRPr lang="en-US" altLang="zh-CN" sz="4800" dirty="0" smtClean="0"/>
          </a:p>
          <a:p>
            <a:r>
              <a:rPr lang="zh-CN" altLang="en-US" sz="4800" dirty="0"/>
              <a:t>线性相关与圆周相关</a:t>
            </a:r>
            <a:endParaRPr lang="en-US" altLang="zh-CN" sz="4800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99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1793876" y="1257301"/>
            <a:ext cx="8361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线性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117001"/>
              </p:ext>
            </p:extLst>
          </p:nvPr>
        </p:nvGraphicFramePr>
        <p:xfrm>
          <a:off x="2019300" y="1855788"/>
          <a:ext cx="806767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2" name="Equation" r:id="rId3" imgW="3225600" imgH="253800" progId="Equation.DSMT4">
                  <p:embed/>
                </p:oleObj>
              </mc:Choice>
              <mc:Fallback>
                <p:oleObj name="Equation" r:id="rId3" imgW="3225600" imgH="253800" progId="Equation.DSMT4">
                  <p:embed/>
                  <p:pic>
                    <p:nvPicPr>
                      <p:cNvPr id="3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1855788"/>
                        <a:ext cx="8067675" cy="6334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1987550" y="2743201"/>
            <a:ext cx="8129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需将较短序列补零后，再按长序列的点数做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DFT</a:t>
            </a:r>
            <a:endParaRPr kumimoji="1"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1892300" y="3759201"/>
            <a:ext cx="8224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2.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循环位移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(Circular shift of a sequence)</a:t>
            </a:r>
          </a:p>
        </p:txBody>
      </p:sp>
      <p:graphicFrame>
        <p:nvGraphicFramePr>
          <p:cNvPr id="3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430109"/>
              </p:ext>
            </p:extLst>
          </p:nvPr>
        </p:nvGraphicFramePr>
        <p:xfrm>
          <a:off x="3976688" y="5300663"/>
          <a:ext cx="41941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3" name="Equation" r:id="rId5" imgW="1676160" imgH="228600" progId="Equation.DSMT4">
                  <p:embed/>
                </p:oleObj>
              </mc:Choice>
              <mc:Fallback>
                <p:oleObj name="Equation" r:id="rId5" imgW="1676160" imgH="228600" progId="Equation.DSMT4">
                  <p:embed/>
                  <p:pic>
                    <p:nvPicPr>
                      <p:cNvPr id="30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5300663"/>
                        <a:ext cx="419417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2209800" y="4533901"/>
            <a:ext cx="3371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循环位移定义为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1676400" y="925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0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7" grpId="0" autoUpdateAnimBg="0"/>
      <p:bldP spid="307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521497"/>
              </p:ext>
            </p:extLst>
          </p:nvPr>
        </p:nvGraphicFramePr>
        <p:xfrm>
          <a:off x="1562100" y="1073150"/>
          <a:ext cx="3157538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0" name="Picture" r:id="rId3" imgW="2114640" imgH="923760" progId="Word.Picture.8">
                  <p:embed/>
                </p:oleObj>
              </mc:Choice>
              <mc:Fallback>
                <p:oleObj name="Picture" r:id="rId3" imgW="2114640" imgH="923760" progId="Word.Picture.8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r="25536"/>
                      <a:stretch>
                        <a:fillRect/>
                      </a:stretch>
                    </p:blipFill>
                    <p:spPr bwMode="auto">
                      <a:xfrm>
                        <a:off x="1562100" y="1073150"/>
                        <a:ext cx="3157538" cy="185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978520"/>
              </p:ext>
            </p:extLst>
          </p:nvPr>
        </p:nvGraphicFramePr>
        <p:xfrm>
          <a:off x="4905375" y="1041400"/>
          <a:ext cx="5759450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1" name="Picture" r:id="rId5" imgW="2882880" imgH="894240" progId="Word.Picture.8">
                  <p:embed/>
                </p:oleObj>
              </mc:Choice>
              <mc:Fallback>
                <p:oleObj name="Picture" r:id="rId5" imgW="2882880" imgH="894240" progId="Word.Picture.8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1041400"/>
                        <a:ext cx="5759450" cy="178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425264"/>
              </p:ext>
            </p:extLst>
          </p:nvPr>
        </p:nvGraphicFramePr>
        <p:xfrm>
          <a:off x="4905375" y="2865438"/>
          <a:ext cx="5759450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2" name="Picture" r:id="rId7" imgW="2882880" imgH="894240" progId="Word.Picture.8">
                  <p:embed/>
                </p:oleObj>
              </mc:Choice>
              <mc:Fallback>
                <p:oleObj name="Picture" r:id="rId7" imgW="2882880" imgH="894240" progId="Word.Picture.8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2865438"/>
                        <a:ext cx="5759450" cy="178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652645"/>
              </p:ext>
            </p:extLst>
          </p:nvPr>
        </p:nvGraphicFramePr>
        <p:xfrm>
          <a:off x="4905375" y="4762500"/>
          <a:ext cx="5759450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3" name="Picture" r:id="rId9" imgW="2882880" imgH="894240" progId="Word.Picture.8">
                  <p:embed/>
                </p:oleObj>
              </mc:Choice>
              <mc:Fallback>
                <p:oleObj name="Picture" r:id="rId9" imgW="2882880" imgH="894240" progId="Word.Picture.8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4762500"/>
                        <a:ext cx="5759450" cy="178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1676400" y="925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4295776" y="188913"/>
            <a:ext cx="3744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</a:rPr>
              <a:t>序列的循环位移过程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2777" y="3303967"/>
            <a:ext cx="3371045" cy="291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0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470952"/>
              </p:ext>
            </p:extLst>
          </p:nvPr>
        </p:nvGraphicFramePr>
        <p:xfrm>
          <a:off x="3600450" y="1600200"/>
          <a:ext cx="4541838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0" name="Equation" r:id="rId3" imgW="1815840" imgH="241200" progId="Equation.DSMT4">
                  <p:embed/>
                </p:oleObj>
              </mc:Choice>
              <mc:Fallback>
                <p:oleObj name="Equation" r:id="rId3" imgW="1815840" imgH="241200" progId="Equation.DSMT4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1600200"/>
                        <a:ext cx="4541838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140379"/>
              </p:ext>
            </p:extLst>
          </p:nvPr>
        </p:nvGraphicFramePr>
        <p:xfrm>
          <a:off x="3095625" y="2901950"/>
          <a:ext cx="58070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1" name="Equation" r:id="rId5" imgW="2323800" imgH="253800" progId="Equation.DSMT4">
                  <p:embed/>
                </p:oleObj>
              </mc:Choice>
              <mc:Fallback>
                <p:oleObj name="Equation" r:id="rId5" imgW="2323800" imgH="253800" progId="Equation.DSMT4">
                  <p:embed/>
                  <p:pic>
                    <p:nvPicPr>
                      <p:cNvPr id="51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2901950"/>
                        <a:ext cx="5807075" cy="6302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5562600" y="2192338"/>
            <a:ext cx="228600" cy="68580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3819525" y="214313"/>
            <a:ext cx="4787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DFT</a:t>
            </a:r>
            <a:r>
              <a:rPr kumimoji="1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时域循环位移特性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1676400" y="925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3143250" y="4724401"/>
            <a:ext cx="547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时域的循环位移对应频域的相移</a:t>
            </a:r>
          </a:p>
        </p:txBody>
      </p:sp>
    </p:spTree>
    <p:extLst>
      <p:ext uri="{BB962C8B-B14F-4D97-AF65-F5344CB8AC3E}">
        <p14:creationId xmlns:p14="http://schemas.microsoft.com/office/powerpoint/2010/main" val="142493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518981"/>
              </p:ext>
            </p:extLst>
          </p:nvPr>
        </p:nvGraphicFramePr>
        <p:xfrm>
          <a:off x="2039938" y="1681163"/>
          <a:ext cx="67976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6" name="Equation" r:id="rId3" imgW="2298600" imgH="279360" progId="Equation.DSMT4">
                  <p:embed/>
                </p:oleObj>
              </mc:Choice>
              <mc:Fallback>
                <p:oleObj name="Equation" r:id="rId3" imgW="2298600" imgH="279360" progId="Equation.DSMT4">
                  <p:embed/>
                  <p:pic>
                    <p:nvPicPr>
                      <p:cNvPr id="12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1681163"/>
                        <a:ext cx="6797675" cy="8239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819525" y="214313"/>
            <a:ext cx="4787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DFT</a:t>
            </a:r>
            <a:r>
              <a:rPr kumimoji="1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循环位移特性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1676400" y="925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2711450" y="4724401"/>
            <a:ext cx="554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chemeClr val="accent2"/>
                </a:solidFill>
              </a:rPr>
              <a:t>时域的循环位移对应频域的相移</a:t>
            </a:r>
          </a:p>
        </p:txBody>
      </p:sp>
      <p:graphicFrame>
        <p:nvGraphicFramePr>
          <p:cNvPr id="123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026738"/>
              </p:ext>
            </p:extLst>
          </p:nvPr>
        </p:nvGraphicFramePr>
        <p:xfrm>
          <a:off x="1944688" y="3119438"/>
          <a:ext cx="70072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7" name="Equation" r:id="rId5" imgW="2336760" imgH="279360" progId="Equation.DSMT4">
                  <p:embed/>
                </p:oleObj>
              </mc:Choice>
              <mc:Fallback>
                <p:oleObj name="Equation" r:id="rId5" imgW="2336760" imgH="279360" progId="Equation.DSMT4">
                  <p:embed/>
                  <p:pic>
                    <p:nvPicPr>
                      <p:cNvPr id="123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3119438"/>
                        <a:ext cx="7007225" cy="8318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2711450" y="5516563"/>
            <a:ext cx="5545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chemeClr val="accent2"/>
                </a:solidFill>
              </a:rPr>
              <a:t>时域的相移对应频域的循环位移</a:t>
            </a:r>
          </a:p>
        </p:txBody>
      </p:sp>
    </p:spTree>
    <p:extLst>
      <p:ext uri="{BB962C8B-B14F-4D97-AF65-F5344CB8AC3E}">
        <p14:creationId xmlns:p14="http://schemas.microsoft.com/office/powerpoint/2010/main" val="7658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92276" y="1219201"/>
            <a:ext cx="848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</a:rPr>
              <a:t>周期共轭对称</a:t>
            </a:r>
            <a:r>
              <a:rPr kumimoji="1" lang="en-US" altLang="zh-CN" sz="2800">
                <a:latin typeface="Times New Roman" panose="02020603050405020304" pitchFamily="18" charset="0"/>
              </a:rPr>
              <a:t>(Periodic conjugate symmetry)</a:t>
            </a:r>
            <a:r>
              <a:rPr kumimoji="1" lang="zh-CN" altLang="en-US" sz="2800">
                <a:latin typeface="Times New Roman" panose="02020603050405020304" pitchFamily="18" charset="0"/>
              </a:rPr>
              <a:t>定义为 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657350" y="2724151"/>
            <a:ext cx="8896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</a:rPr>
              <a:t>周期共轭反对称</a:t>
            </a:r>
            <a:r>
              <a:rPr kumimoji="1" lang="en-US" altLang="zh-CN" sz="2800">
                <a:latin typeface="Times New Roman" panose="02020603050405020304" pitchFamily="18" charset="0"/>
              </a:rPr>
              <a:t>(Periodic conjugate antisymmetry)</a:t>
            </a:r>
            <a:r>
              <a:rPr kumimoji="1" lang="zh-CN" altLang="en-US" sz="2800">
                <a:latin typeface="Times New Roman" panose="02020603050405020304" pitchFamily="18" charset="0"/>
              </a:rPr>
              <a:t>定义为</a:t>
            </a:r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945511"/>
              </p:ext>
            </p:extLst>
          </p:nvPr>
        </p:nvGraphicFramePr>
        <p:xfrm>
          <a:off x="3432175" y="1987550"/>
          <a:ext cx="48307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8" name="Equation" r:id="rId3" imgW="2197080" imgH="228600" progId="Equation.DSMT4">
                  <p:embed/>
                </p:oleObj>
              </mc:Choice>
              <mc:Fallback>
                <p:oleObj name="Equation" r:id="rId3" imgW="2197080" imgH="228600" progId="Equation.DSMT4">
                  <p:embed/>
                  <p:pic>
                    <p:nvPicPr>
                      <p:cNvPr id="6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987550"/>
                        <a:ext cx="4830763" cy="5080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980932"/>
              </p:ext>
            </p:extLst>
          </p:nvPr>
        </p:nvGraphicFramePr>
        <p:xfrm>
          <a:off x="3432175" y="3498850"/>
          <a:ext cx="52212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9" name="Equation" r:id="rId5" imgW="2374560" imgH="228600" progId="Equation.DSMT4">
                  <p:embed/>
                </p:oleObj>
              </mc:Choice>
              <mc:Fallback>
                <p:oleObj name="Equation" r:id="rId5" imgW="2374560" imgH="228600" progId="Equation.DSMT4">
                  <p:embed/>
                  <p:pic>
                    <p:nvPicPr>
                      <p:cNvPr id="6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3498850"/>
                        <a:ext cx="5221288" cy="5080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076450" y="4210051"/>
            <a:ext cx="7905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当序列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x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]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为实序列时，周期偶对称序列满足</a:t>
            </a:r>
          </a:p>
        </p:txBody>
      </p:sp>
      <p:graphicFrame>
        <p:nvGraphicFramePr>
          <p:cNvPr id="61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147459"/>
              </p:ext>
            </p:extLst>
          </p:nvPr>
        </p:nvGraphicFramePr>
        <p:xfrm>
          <a:off x="4999038" y="4873625"/>
          <a:ext cx="209391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60" name="Equation" r:id="rId7" imgW="952200" imgH="203040" progId="Equation.DSMT4">
                  <p:embed/>
                </p:oleObj>
              </mc:Choice>
              <mc:Fallback>
                <p:oleObj name="Equation" r:id="rId7" imgW="952200" imgH="203040" progId="Equation.DSMT4">
                  <p:embed/>
                  <p:pic>
                    <p:nvPicPr>
                      <p:cNvPr id="61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38" y="4873625"/>
                        <a:ext cx="2093912" cy="4460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2114550" y="5357813"/>
            <a:ext cx="7905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当序列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x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]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为实序列时，周期奇对称序列满足</a:t>
            </a:r>
          </a:p>
        </p:txBody>
      </p:sp>
      <p:graphicFrame>
        <p:nvGraphicFramePr>
          <p:cNvPr id="61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037980"/>
              </p:ext>
            </p:extLst>
          </p:nvPr>
        </p:nvGraphicFramePr>
        <p:xfrm>
          <a:off x="4984751" y="5991225"/>
          <a:ext cx="22891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61" name="Equation" r:id="rId9" imgW="1041120" imgH="203040" progId="Equation.DSMT4">
                  <p:embed/>
                </p:oleObj>
              </mc:Choice>
              <mc:Fallback>
                <p:oleObj name="Equation" r:id="rId9" imgW="1041120" imgH="203040" progId="Equation.DSMT4">
                  <p:embed/>
                  <p:pic>
                    <p:nvPicPr>
                      <p:cNvPr id="61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1" y="5991225"/>
                        <a:ext cx="2289175" cy="4460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1676400" y="925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79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  <p:bldP spid="6148" grpId="0" autoUpdateAnimBg="0"/>
      <p:bldP spid="6151" grpId="0" autoUpdateAnimBg="0"/>
      <p:bldP spid="615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4948238" y="1905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对称特性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455820"/>
              </p:ext>
            </p:extLst>
          </p:nvPr>
        </p:nvGraphicFramePr>
        <p:xfrm>
          <a:off x="128059" y="2924309"/>
          <a:ext cx="1185703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3" name="Equation" r:id="rId3" imgW="4343400" imgH="279360" progId="Equation.DSMT4">
                  <p:embed/>
                </p:oleObj>
              </mc:Choice>
              <mc:Fallback>
                <p:oleObj name="Equation" r:id="rId3" imgW="4343400" imgH="279360" progId="Equation.DSMT4">
                  <p:embed/>
                  <p:pic>
                    <p:nvPicPr>
                      <p:cNvPr id="7174" name="Object 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59" y="2924309"/>
                        <a:ext cx="11857038" cy="7604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253764"/>
              </p:ext>
            </p:extLst>
          </p:nvPr>
        </p:nvGraphicFramePr>
        <p:xfrm>
          <a:off x="273050" y="1806575"/>
          <a:ext cx="98996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4" name="Equation" r:id="rId5" imgW="3962160" imgH="355320" progId="Equation.DSMT4">
                  <p:embed/>
                </p:oleObj>
              </mc:Choice>
              <mc:Fallback>
                <p:oleObj name="Equation" r:id="rId5" imgW="3962160" imgH="355320" progId="Equation.DSMT4">
                  <p:embed/>
                  <p:pic>
                    <p:nvPicPr>
                      <p:cNvPr id="7175" name="Object 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1806575"/>
                        <a:ext cx="9899650" cy="8842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1447800" y="3906045"/>
            <a:ext cx="3676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当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x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]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是实序列时</a:t>
            </a:r>
          </a:p>
        </p:txBody>
      </p:sp>
      <p:graphicFrame>
        <p:nvGraphicFramePr>
          <p:cNvPr id="71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813118"/>
              </p:ext>
            </p:extLst>
          </p:nvPr>
        </p:nvGraphicFramePr>
        <p:xfrm>
          <a:off x="3930650" y="4905375"/>
          <a:ext cx="440213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5" name="Equation" r:id="rId7" imgW="1498320" imgH="241200" progId="Equation.DSMT4">
                  <p:embed/>
                </p:oleObj>
              </mc:Choice>
              <mc:Fallback>
                <p:oleObj name="Equation" r:id="rId7" imgW="1498320" imgH="241200" progId="Equation.DSMT4">
                  <p:embed/>
                  <p:pic>
                    <p:nvPicPr>
                      <p:cNvPr id="7178" name="Object 1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4905375"/>
                        <a:ext cx="4402138" cy="7080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1676400" y="925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958773"/>
              </p:ext>
            </p:extLst>
          </p:nvPr>
        </p:nvGraphicFramePr>
        <p:xfrm>
          <a:off x="2396074" y="1217612"/>
          <a:ext cx="2286039" cy="529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6" name="Equation" r:id="rId9" imgW="1041120" imgH="241200" progId="Equation.DSMT4">
                  <p:embed/>
                </p:oleObj>
              </mc:Choice>
              <mc:Fallback>
                <p:oleObj name="Equation" r:id="rId9" imgW="10411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96074" y="1217612"/>
                        <a:ext cx="2286039" cy="5296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544902" y="1192610"/>
            <a:ext cx="3676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 smtClean="0">
                <a:latin typeface="Times New Roman" panose="02020603050405020304" pitchFamily="18" charset="0"/>
              </a:rPr>
              <a:t>假设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30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 autoUpdateAnimBg="0"/>
      <p:bldP spid="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1981200" y="685801"/>
            <a:ext cx="132873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  <a:ea typeface="黑体" panose="02010609060101010101" pitchFamily="49" charset="-122"/>
              </a:rPr>
              <a:t>定义：</a:t>
            </a:r>
          </a:p>
        </p:txBody>
      </p:sp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3429000" y="5943600"/>
          <a:ext cx="37020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3" name="Equation" r:id="rId3" imgW="3022560" imgH="469800" progId="Equation.DSMT4">
                  <p:embed/>
                </p:oleObj>
              </mc:Choice>
              <mc:Fallback>
                <p:oleObj name="Equation" r:id="rId3" imgW="3022560" imgH="469800" progId="Equation.DSMT4">
                  <p:embed/>
                  <p:pic>
                    <p:nvPicPr>
                      <p:cNvPr id="1853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943600"/>
                        <a:ext cx="37020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2597150" y="5314950"/>
            <a:ext cx="40322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800" b="1"/>
              <a:t>则任意有限长序列：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graphicFrame>
        <p:nvGraphicFramePr>
          <p:cNvPr id="185351" name="Object 7"/>
          <p:cNvGraphicFramePr>
            <a:graphicFrameLocks noChangeAspect="1"/>
          </p:cNvGraphicFramePr>
          <p:nvPr/>
        </p:nvGraphicFramePr>
        <p:xfrm>
          <a:off x="3435350" y="3948113"/>
          <a:ext cx="31178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4" name="Equation" r:id="rId5" imgW="2908080" imgH="469800" progId="Equation.DSMT4">
                  <p:embed/>
                </p:oleObj>
              </mc:Choice>
              <mc:Fallback>
                <p:oleObj name="Equation" r:id="rId5" imgW="2908080" imgH="469800" progId="Equation.DSMT4">
                  <p:embed/>
                  <p:pic>
                    <p:nvPicPr>
                      <p:cNvPr id="1853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3948113"/>
                        <a:ext cx="31178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4394200" y="4635500"/>
          <a:ext cx="574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5" name="Equation" r:id="rId7" imgW="5054400" imgH="469800" progId="Equation.DSMT4">
                  <p:embed/>
                </p:oleObj>
              </mc:Choice>
              <mc:Fallback>
                <p:oleObj name="Equation" r:id="rId7" imgW="5054400" imgH="469800" progId="Equation.DSMT4">
                  <p:embed/>
                  <p:pic>
                    <p:nvPicPr>
                      <p:cNvPr id="1853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4635500"/>
                        <a:ext cx="574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3" name="Text Box 9"/>
          <p:cNvSpPr txBox="1">
            <a:spLocks noChangeArrowheads="1"/>
          </p:cNvSpPr>
          <p:nvPr/>
        </p:nvSpPr>
        <p:spPr bwMode="auto">
          <a:xfrm>
            <a:off x="2559050" y="3276600"/>
            <a:ext cx="4248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800" b="1"/>
              <a:t>圆周共轭反对称序列：</a:t>
            </a:r>
          </a:p>
        </p:txBody>
      </p:sp>
      <p:graphicFrame>
        <p:nvGraphicFramePr>
          <p:cNvPr id="185355" name="Object 11"/>
          <p:cNvGraphicFramePr>
            <a:graphicFrameLocks noChangeAspect="1"/>
          </p:cNvGraphicFramePr>
          <p:nvPr/>
        </p:nvGraphicFramePr>
        <p:xfrm>
          <a:off x="3327400" y="1936750"/>
          <a:ext cx="33782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6" name="Equation" r:id="rId9" imgW="2895480" imgH="469800" progId="Equation.DSMT4">
                  <p:embed/>
                </p:oleObj>
              </mc:Choice>
              <mc:Fallback>
                <p:oleObj name="Equation" r:id="rId9" imgW="2895480" imgH="469800" progId="Equation.DSMT4">
                  <p:embed/>
                  <p:pic>
                    <p:nvPicPr>
                      <p:cNvPr id="1853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1936750"/>
                        <a:ext cx="33782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6" name="Object 12"/>
          <p:cNvGraphicFramePr>
            <a:graphicFrameLocks noChangeAspect="1"/>
          </p:cNvGraphicFramePr>
          <p:nvPr/>
        </p:nvGraphicFramePr>
        <p:xfrm>
          <a:off x="4394200" y="2573338"/>
          <a:ext cx="55880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7" name="Equation" r:id="rId11" imgW="5054400" imgH="469800" progId="Equation.DSMT4">
                  <p:embed/>
                </p:oleObj>
              </mc:Choice>
              <mc:Fallback>
                <p:oleObj name="Equation" r:id="rId11" imgW="5054400" imgH="469800" progId="Equation.DSMT4">
                  <p:embed/>
                  <p:pic>
                    <p:nvPicPr>
                      <p:cNvPr id="1853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2573338"/>
                        <a:ext cx="55880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7" name="Text Box 13"/>
          <p:cNvSpPr txBox="1">
            <a:spLocks noChangeArrowheads="1"/>
          </p:cNvSpPr>
          <p:nvPr/>
        </p:nvSpPr>
        <p:spPr bwMode="auto">
          <a:xfrm>
            <a:off x="2559050" y="1292225"/>
            <a:ext cx="4248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800" b="1"/>
              <a:t>圆周共轭对称序列：</a:t>
            </a:r>
          </a:p>
        </p:txBody>
      </p:sp>
    </p:spTree>
    <p:extLst>
      <p:ext uri="{BB962C8B-B14F-4D97-AF65-F5344CB8AC3E}">
        <p14:creationId xmlns:p14="http://schemas.microsoft.com/office/powerpoint/2010/main" val="137058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autoUpdateAnimBg="0"/>
      <p:bldP spid="185349" grpId="0" autoUpdateAnimBg="0"/>
      <p:bldP spid="185353" grpId="0" autoUpdateAnimBg="0"/>
      <p:bldP spid="18535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9" name="Rectangle 7"/>
          <p:cNvSpPr>
            <a:spLocks noChangeArrowheads="1"/>
          </p:cNvSpPr>
          <p:nvPr/>
        </p:nvSpPr>
        <p:spPr bwMode="auto">
          <a:xfrm>
            <a:off x="1524001" y="29061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7401" name="Rectangle 9"/>
          <p:cNvSpPr>
            <a:spLocks noChangeArrowheads="1"/>
          </p:cNvSpPr>
          <p:nvPr/>
        </p:nvSpPr>
        <p:spPr bwMode="auto">
          <a:xfrm>
            <a:off x="1524001" y="29061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7406" name="Text Box 14"/>
          <p:cNvSpPr txBox="1">
            <a:spLocks noChangeArrowheads="1"/>
          </p:cNvSpPr>
          <p:nvPr/>
        </p:nvSpPr>
        <p:spPr bwMode="auto">
          <a:xfrm>
            <a:off x="2438400" y="1600200"/>
            <a:ext cx="5791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3200" b="1">
                <a:latin typeface="Tahoma" panose="020B0604030504040204" pitchFamily="34" charset="0"/>
              </a:rPr>
              <a:t>序列           </a:t>
            </a:r>
            <a:r>
              <a:rPr lang="en-US" altLang="zh-CN" sz="3200" b="1">
                <a:latin typeface="Tahoma" panose="020B0604030504040204" pitchFamily="34" charset="0"/>
              </a:rPr>
              <a:t>DFT</a:t>
            </a:r>
          </a:p>
        </p:txBody>
      </p:sp>
      <p:sp>
        <p:nvSpPr>
          <p:cNvPr id="187407" name="Rectangle 15"/>
          <p:cNvSpPr>
            <a:spLocks noChangeArrowheads="1"/>
          </p:cNvSpPr>
          <p:nvPr/>
        </p:nvSpPr>
        <p:spPr bwMode="auto">
          <a:xfrm>
            <a:off x="1981200" y="838200"/>
            <a:ext cx="3200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 smtClean="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对偶性质</a:t>
            </a:r>
            <a:endParaRPr lang="zh-CN" altLang="en-US" sz="3600" b="1" dirty="0">
              <a:solidFill>
                <a:schemeClr val="tx2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87421" name="Group 29"/>
          <p:cNvGrpSpPr>
            <a:grpSpLocks/>
          </p:cNvGrpSpPr>
          <p:nvPr/>
        </p:nvGrpSpPr>
        <p:grpSpPr bwMode="auto">
          <a:xfrm>
            <a:off x="3962400" y="2438400"/>
            <a:ext cx="2971800" cy="484188"/>
            <a:chOff x="1536" y="1536"/>
            <a:chExt cx="1872" cy="305"/>
          </a:xfrm>
        </p:grpSpPr>
        <p:graphicFrame>
          <p:nvGraphicFramePr>
            <p:cNvPr id="187409" name="Object 17"/>
            <p:cNvGraphicFramePr>
              <a:graphicFrameLocks noChangeAspect="1"/>
            </p:cNvGraphicFramePr>
            <p:nvPr/>
          </p:nvGraphicFramePr>
          <p:xfrm>
            <a:off x="1536" y="1536"/>
            <a:ext cx="1872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447" name="Equation" r:id="rId3" imgW="3225600" imgH="419040" progId="Equation.DSMT4">
                    <p:embed/>
                  </p:oleObj>
                </mc:Choice>
                <mc:Fallback>
                  <p:oleObj name="Equation" r:id="rId3" imgW="3225600" imgH="419040" progId="Equation.DSMT4">
                    <p:embed/>
                    <p:pic>
                      <p:nvPicPr>
                        <p:cNvPr id="18740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536"/>
                          <a:ext cx="1872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10" name="AutoShape 18"/>
            <p:cNvSpPr>
              <a:spLocks noChangeArrowheads="1"/>
            </p:cNvSpPr>
            <p:nvPr/>
          </p:nvSpPr>
          <p:spPr bwMode="auto">
            <a:xfrm>
              <a:off x="2256" y="1632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7422" name="Group 30"/>
          <p:cNvGrpSpPr>
            <a:grpSpLocks/>
          </p:cNvGrpSpPr>
          <p:nvPr/>
        </p:nvGrpSpPr>
        <p:grpSpPr bwMode="auto">
          <a:xfrm>
            <a:off x="3365500" y="3200400"/>
            <a:ext cx="3949700" cy="515938"/>
            <a:chOff x="1160" y="2171"/>
            <a:chExt cx="2488" cy="325"/>
          </a:xfrm>
        </p:grpSpPr>
        <p:graphicFrame>
          <p:nvGraphicFramePr>
            <p:cNvPr id="187412" name="Object 20"/>
            <p:cNvGraphicFramePr>
              <a:graphicFrameLocks noChangeAspect="1"/>
            </p:cNvGraphicFramePr>
            <p:nvPr/>
          </p:nvGraphicFramePr>
          <p:xfrm>
            <a:off x="1160" y="2171"/>
            <a:ext cx="2488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448" name="Equation" r:id="rId5" imgW="3593880" imgH="469800" progId="Equation.DSMT4">
                    <p:embed/>
                  </p:oleObj>
                </mc:Choice>
                <mc:Fallback>
                  <p:oleObj name="Equation" r:id="rId5" imgW="3593880" imgH="469800" progId="Equation.DSMT4">
                    <p:embed/>
                    <p:pic>
                      <p:nvPicPr>
                        <p:cNvPr id="18741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2171"/>
                          <a:ext cx="2488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14" name="AutoShape 22"/>
            <p:cNvSpPr>
              <a:spLocks noChangeArrowheads="1"/>
            </p:cNvSpPr>
            <p:nvPr/>
          </p:nvSpPr>
          <p:spPr bwMode="auto">
            <a:xfrm>
              <a:off x="2256" y="2296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7423" name="Group 31"/>
          <p:cNvGrpSpPr>
            <a:grpSpLocks/>
          </p:cNvGrpSpPr>
          <p:nvPr/>
        </p:nvGrpSpPr>
        <p:grpSpPr bwMode="auto">
          <a:xfrm>
            <a:off x="3124200" y="3962400"/>
            <a:ext cx="4267200" cy="528638"/>
            <a:chOff x="1008" y="2602"/>
            <a:chExt cx="2688" cy="333"/>
          </a:xfrm>
        </p:grpSpPr>
        <p:graphicFrame>
          <p:nvGraphicFramePr>
            <p:cNvPr id="187413" name="Object 21"/>
            <p:cNvGraphicFramePr>
              <a:graphicFrameLocks noChangeAspect="1"/>
            </p:cNvGraphicFramePr>
            <p:nvPr/>
          </p:nvGraphicFramePr>
          <p:xfrm>
            <a:off x="1008" y="2602"/>
            <a:ext cx="268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449" name="Equation" r:id="rId7" imgW="3797280" imgH="469800" progId="Equation.DSMT4">
                    <p:embed/>
                  </p:oleObj>
                </mc:Choice>
                <mc:Fallback>
                  <p:oleObj name="Equation" r:id="rId7" imgW="3797280" imgH="469800" progId="Equation.DSMT4">
                    <p:embed/>
                    <p:pic>
                      <p:nvPicPr>
                        <p:cNvPr id="18741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602"/>
                          <a:ext cx="268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15" name="AutoShape 23"/>
            <p:cNvSpPr>
              <a:spLocks noChangeArrowheads="1"/>
            </p:cNvSpPr>
            <p:nvPr/>
          </p:nvSpPr>
          <p:spPr bwMode="auto">
            <a:xfrm>
              <a:off x="2256" y="2680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7424" name="Group 32"/>
          <p:cNvGrpSpPr>
            <a:grpSpLocks/>
          </p:cNvGrpSpPr>
          <p:nvPr/>
        </p:nvGrpSpPr>
        <p:grpSpPr bwMode="auto">
          <a:xfrm>
            <a:off x="3805238" y="4724401"/>
            <a:ext cx="4119562" cy="536575"/>
            <a:chOff x="1437" y="3166"/>
            <a:chExt cx="2595" cy="338"/>
          </a:xfrm>
        </p:grpSpPr>
        <p:graphicFrame>
          <p:nvGraphicFramePr>
            <p:cNvPr id="187417" name="Object 25"/>
            <p:cNvGraphicFramePr>
              <a:graphicFrameLocks noChangeAspect="1"/>
            </p:cNvGraphicFramePr>
            <p:nvPr/>
          </p:nvGraphicFramePr>
          <p:xfrm>
            <a:off x="1437" y="3166"/>
            <a:ext cx="259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450" name="Equation" r:id="rId9" imgW="3606480" imgH="469800" progId="Equation.DSMT4">
                    <p:embed/>
                  </p:oleObj>
                </mc:Choice>
                <mc:Fallback>
                  <p:oleObj name="Equation" r:id="rId9" imgW="3606480" imgH="469800" progId="Equation.DSMT4">
                    <p:embed/>
                    <p:pic>
                      <p:nvPicPr>
                        <p:cNvPr id="18741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7" y="3166"/>
                          <a:ext cx="259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19" name="AutoShape 27"/>
            <p:cNvSpPr>
              <a:spLocks noChangeArrowheads="1"/>
            </p:cNvSpPr>
            <p:nvPr/>
          </p:nvSpPr>
          <p:spPr bwMode="auto">
            <a:xfrm>
              <a:off x="2256" y="3304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7425" name="Group 33"/>
          <p:cNvGrpSpPr>
            <a:grpSpLocks/>
          </p:cNvGrpSpPr>
          <p:nvPr/>
        </p:nvGrpSpPr>
        <p:grpSpPr bwMode="auto">
          <a:xfrm>
            <a:off x="3865564" y="5486400"/>
            <a:ext cx="4059237" cy="509588"/>
            <a:chOff x="1475" y="3592"/>
            <a:chExt cx="2557" cy="321"/>
          </a:xfrm>
        </p:grpSpPr>
        <p:graphicFrame>
          <p:nvGraphicFramePr>
            <p:cNvPr id="187418" name="Object 26"/>
            <p:cNvGraphicFramePr>
              <a:graphicFrameLocks noChangeAspect="1"/>
            </p:cNvGraphicFramePr>
            <p:nvPr/>
          </p:nvGraphicFramePr>
          <p:xfrm>
            <a:off x="1475" y="3592"/>
            <a:ext cx="2557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451" name="Equation" r:id="rId11" imgW="3809880" imgH="469800" progId="Equation.DSMT4">
                    <p:embed/>
                  </p:oleObj>
                </mc:Choice>
                <mc:Fallback>
                  <p:oleObj name="Equation" r:id="rId11" imgW="3809880" imgH="469800" progId="Equation.DSMT4">
                    <p:embed/>
                    <p:pic>
                      <p:nvPicPr>
                        <p:cNvPr id="187418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" y="3592"/>
                          <a:ext cx="2557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20" name="AutoShape 28"/>
            <p:cNvSpPr>
              <a:spLocks noChangeArrowheads="1"/>
            </p:cNvSpPr>
            <p:nvPr/>
          </p:nvSpPr>
          <p:spPr bwMode="auto">
            <a:xfrm>
              <a:off x="2256" y="3688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232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6" grpId="0" autoUpdateAnimBg="0"/>
      <p:bldP spid="18740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0" y="457201"/>
            <a:ext cx="8001000" cy="1154113"/>
          </a:xfrm>
        </p:spPr>
        <p:txBody>
          <a:bodyPr/>
          <a:lstStyle/>
          <a:p>
            <a:pPr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r>
              <a:rPr lang="zh-CN" altLang="en-US"/>
              <a:t>例：设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(n)</a:t>
            </a:r>
            <a:r>
              <a:rPr lang="zh-CN" altLang="en-US"/>
              <a:t>和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(n)</a:t>
            </a:r>
            <a:r>
              <a:rPr lang="zh-CN" altLang="en-US"/>
              <a:t>都是</a:t>
            </a:r>
            <a:r>
              <a:rPr lang="en-US" altLang="zh-CN"/>
              <a:t>N</a:t>
            </a:r>
            <a:r>
              <a:rPr lang="zh-CN" altLang="en-US"/>
              <a:t>点的实数序列，试用一次</a:t>
            </a:r>
            <a:r>
              <a:rPr lang="en-US" altLang="zh-CN"/>
              <a:t>N</a:t>
            </a:r>
            <a:r>
              <a:rPr lang="zh-CN" altLang="en-US"/>
              <a:t>点</a:t>
            </a:r>
            <a:r>
              <a:rPr lang="en-US" altLang="zh-CN"/>
              <a:t>DFT</a:t>
            </a:r>
            <a:r>
              <a:rPr lang="zh-CN" altLang="en-US"/>
              <a:t>运算来计算它们各自的</a:t>
            </a:r>
            <a:r>
              <a:rPr lang="en-US" altLang="zh-CN"/>
              <a:t>DFT:  </a:t>
            </a:r>
          </a:p>
        </p:txBody>
      </p:sp>
      <p:graphicFrame>
        <p:nvGraphicFramePr>
          <p:cNvPr id="192516" name="Object 4"/>
          <p:cNvGraphicFramePr>
            <a:graphicFrameLocks noChangeAspect="1"/>
          </p:cNvGraphicFramePr>
          <p:nvPr/>
        </p:nvGraphicFramePr>
        <p:xfrm>
          <a:off x="3200400" y="1709738"/>
          <a:ext cx="30480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2" name="Equation" r:id="rId3" imgW="2857320" imgH="431640" progId="Equation.DSMT4">
                  <p:embed/>
                </p:oleObj>
              </mc:Choice>
              <mc:Fallback>
                <p:oleObj name="Equation" r:id="rId3" imgW="2857320" imgH="431640" progId="Equation.DSMT4">
                  <p:embed/>
                  <p:pic>
                    <p:nvPicPr>
                      <p:cNvPr id="192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709738"/>
                        <a:ext cx="30480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7" name="Object 5"/>
          <p:cNvGraphicFramePr>
            <a:graphicFrameLocks noChangeAspect="1"/>
          </p:cNvGraphicFramePr>
          <p:nvPr/>
        </p:nvGraphicFramePr>
        <p:xfrm>
          <a:off x="6400800" y="1709738"/>
          <a:ext cx="30480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3" name="Equation" r:id="rId5" imgW="2933640" imgH="431640" progId="Equation.DSMT4">
                  <p:embed/>
                </p:oleObj>
              </mc:Choice>
              <mc:Fallback>
                <p:oleObj name="Equation" r:id="rId5" imgW="2933640" imgH="431640" progId="Equation.DSMT4">
                  <p:embed/>
                  <p:pic>
                    <p:nvPicPr>
                      <p:cNvPr id="1925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709738"/>
                        <a:ext cx="30480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/>
          <p:cNvGraphicFramePr>
            <a:graphicFrameLocks noChangeAspect="1"/>
          </p:cNvGraphicFramePr>
          <p:nvPr/>
        </p:nvGraphicFramePr>
        <p:xfrm>
          <a:off x="2362200" y="2395538"/>
          <a:ext cx="579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4" name="Equation" r:id="rId7" imgW="4991040" imgH="393480" progId="Equation.DSMT4">
                  <p:embed/>
                </p:oleObj>
              </mc:Choice>
              <mc:Fallback>
                <p:oleObj name="Equation" r:id="rId7" imgW="4991040" imgH="393480" progId="Equation.DSMT4">
                  <p:embed/>
                  <p:pic>
                    <p:nvPicPr>
                      <p:cNvPr id="1925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95538"/>
                        <a:ext cx="5791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/>
          <p:cNvGraphicFramePr>
            <a:graphicFrameLocks noChangeAspect="1"/>
          </p:cNvGraphicFramePr>
          <p:nvPr/>
        </p:nvGraphicFramePr>
        <p:xfrm>
          <a:off x="4267200" y="3157539"/>
          <a:ext cx="3581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5" name="Equation" r:id="rId9" imgW="3047760" imgH="419040" progId="Equation.DSMT4">
                  <p:embed/>
                </p:oleObj>
              </mc:Choice>
              <mc:Fallback>
                <p:oleObj name="Equation" r:id="rId9" imgW="3047760" imgH="419040" progId="Equation.DSMT4">
                  <p:embed/>
                  <p:pic>
                    <p:nvPicPr>
                      <p:cNvPr id="1925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157539"/>
                        <a:ext cx="35814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2" name="Object 10"/>
          <p:cNvGraphicFramePr>
            <a:graphicFrameLocks noChangeAspect="1"/>
          </p:cNvGraphicFramePr>
          <p:nvPr/>
        </p:nvGraphicFramePr>
        <p:xfrm>
          <a:off x="3276600" y="4278314"/>
          <a:ext cx="64008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6" name="Equation" r:id="rId11" imgW="6070320" imgH="419040" progId="Equation.DSMT4">
                  <p:embed/>
                </p:oleObj>
              </mc:Choice>
              <mc:Fallback>
                <p:oleObj name="Equation" r:id="rId11" imgW="6070320" imgH="419040" progId="Equation.DSMT4">
                  <p:embed/>
                  <p:pic>
                    <p:nvPicPr>
                      <p:cNvPr id="1925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278314"/>
                        <a:ext cx="64008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3" name="Object 11"/>
          <p:cNvGraphicFramePr>
            <a:graphicFrameLocks noChangeAspect="1"/>
          </p:cNvGraphicFramePr>
          <p:nvPr/>
        </p:nvGraphicFramePr>
        <p:xfrm>
          <a:off x="2667001" y="3767138"/>
          <a:ext cx="4429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7" name="Equation" r:id="rId13" imgW="368280" imgH="380880" progId="Equation.DSMT4">
                  <p:embed/>
                </p:oleObj>
              </mc:Choice>
              <mc:Fallback>
                <p:oleObj name="Equation" r:id="rId13" imgW="368280" imgH="380880" progId="Equation.DSMT4">
                  <p:embed/>
                  <p:pic>
                    <p:nvPicPr>
                      <p:cNvPr id="1925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3767138"/>
                        <a:ext cx="4429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4" name="Object 12"/>
          <p:cNvGraphicFramePr>
            <a:graphicFrameLocks noChangeAspect="1"/>
          </p:cNvGraphicFramePr>
          <p:nvPr/>
        </p:nvGraphicFramePr>
        <p:xfrm>
          <a:off x="4114800" y="4986338"/>
          <a:ext cx="4572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8" name="Equation" r:id="rId15" imgW="4190760" imgH="419040" progId="Equation.DSMT4">
                  <p:embed/>
                </p:oleObj>
              </mc:Choice>
              <mc:Fallback>
                <p:oleObj name="Equation" r:id="rId15" imgW="4190760" imgH="419040" progId="Equation.DSMT4">
                  <p:embed/>
                  <p:pic>
                    <p:nvPicPr>
                      <p:cNvPr id="1925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986338"/>
                        <a:ext cx="4572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5" name="Object 13"/>
          <p:cNvGraphicFramePr>
            <a:graphicFrameLocks noChangeAspect="1"/>
          </p:cNvGraphicFramePr>
          <p:nvPr/>
        </p:nvGraphicFramePr>
        <p:xfrm>
          <a:off x="4114800" y="5672138"/>
          <a:ext cx="29718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9" name="Equation" r:id="rId17" imgW="2489040" imgH="419040" progId="Equation.DSMT4">
                  <p:embed/>
                </p:oleObj>
              </mc:Choice>
              <mc:Fallback>
                <p:oleObj name="Equation" r:id="rId17" imgW="2489040" imgH="419040" progId="Equation.DSMT4">
                  <p:embed/>
                  <p:pic>
                    <p:nvPicPr>
                      <p:cNvPr id="1925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672138"/>
                        <a:ext cx="29718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39238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4" grpId="0" build="p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4286</TotalTime>
  <Words>442</Words>
  <Application>Microsoft Office PowerPoint</Application>
  <PresentationFormat>宽屏</PresentationFormat>
  <Paragraphs>78</Paragraphs>
  <Slides>18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40" baseType="lpstr">
      <vt:lpstr>等线</vt:lpstr>
      <vt:lpstr>微软雅黑</vt:lpstr>
      <vt:lpstr>黑体</vt:lpstr>
      <vt:lpstr>宋体</vt:lpstr>
      <vt:lpstr>华文仿宋</vt:lpstr>
      <vt:lpstr>华文中宋</vt:lpstr>
      <vt:lpstr>Arial</vt:lpstr>
      <vt:lpstr>Calibri</vt:lpstr>
      <vt:lpstr>Cambria Math</vt:lpstr>
      <vt:lpstr>Comic Sans MS</vt:lpstr>
      <vt:lpstr>Symbol</vt:lpstr>
      <vt:lpstr>Tahoma</vt:lpstr>
      <vt:lpstr>Times New Roman</vt:lpstr>
      <vt:lpstr>Wingdings</vt:lpstr>
      <vt:lpstr>icfp99</vt:lpstr>
      <vt:lpstr>DSP</vt:lpstr>
      <vt:lpstr>1_DSP</vt:lpstr>
      <vt:lpstr>Equation</vt:lpstr>
      <vt:lpstr>Visio</vt:lpstr>
      <vt:lpstr>公式</vt:lpstr>
      <vt:lpstr>Picture</vt:lpstr>
      <vt:lpstr>MathType 7.0 Equation</vt:lpstr>
      <vt:lpstr>DFT</vt:lpstr>
      <vt:lpstr>复习</vt:lpstr>
      <vt:lpstr>PowerPoint 演示文稿</vt:lpstr>
      <vt:lpstr>PowerPoint 演示文稿</vt:lpstr>
      <vt:lpstr>PowerPoint 演示文稿</vt:lpstr>
      <vt:lpstr>DFT的定义</vt:lpstr>
      <vt:lpstr>DFT与序列傅里叶变换、Z变换的关系</vt:lpstr>
      <vt:lpstr>PowerPoint 演示文稿</vt:lpstr>
      <vt:lpstr>3.3有限长序列的离散傅立叶变换（DFT）性质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49</cp:revision>
  <dcterms:created xsi:type="dcterms:W3CDTF">2020-08-06T07:31:11Z</dcterms:created>
  <dcterms:modified xsi:type="dcterms:W3CDTF">2023-11-15T14:56:55Z</dcterms:modified>
</cp:coreProperties>
</file>