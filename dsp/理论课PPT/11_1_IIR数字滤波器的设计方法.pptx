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63" r:id="rId2"/>
    <p:sldId id="264" r:id="rId3"/>
    <p:sldId id="265" r:id="rId4"/>
    <p:sldId id="266" r:id="rId5"/>
    <p:sldId id="267" r:id="rId6"/>
    <p:sldId id="268" r:id="rId7"/>
    <p:sldId id="293" r:id="rId8"/>
    <p:sldId id="271" r:id="rId9"/>
    <p:sldId id="272" r:id="rId10"/>
    <p:sldId id="292" r:id="rId11"/>
    <p:sldId id="273" r:id="rId12"/>
    <p:sldId id="274" r:id="rId13"/>
    <p:sldId id="294" r:id="rId14"/>
    <p:sldId id="295" r:id="rId15"/>
    <p:sldId id="299" r:id="rId16"/>
    <p:sldId id="296" r:id="rId17"/>
    <p:sldId id="29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E8779-9A25-448F-8182-1AE0765117B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A2067-EBAE-4796-A48D-2E12FA4BE8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30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21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2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130A70-3736-45E0-BEB2-607AD73D51A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155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68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8623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402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576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399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125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537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815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169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52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0953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012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2023/12/7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70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4.wmf"/><Relationship Id="rId3" Type="http://schemas.openxmlformats.org/officeDocument/2006/relationships/image" Target="../media/image26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2.bin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6.3.2 </a:t>
            </a:r>
            <a:r>
              <a:rPr lang="zh-CN" altLang="en-US">
                <a:ea typeface="宋体" panose="02010600030101010101" pitchFamily="2" charset="-122"/>
              </a:rPr>
              <a:t>巴特沃思低通逼近</a:t>
            </a:r>
          </a:p>
        </p:txBody>
      </p:sp>
      <p:sp>
        <p:nvSpPr>
          <p:cNvPr id="1280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7D30312-095F-498B-AF1C-1ECD723D8E81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1752600" y="1766889"/>
            <a:ext cx="8212138" cy="94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巴特沃思逼近又称最平幅度逼近。巴特沃思低通滤波器幅度平方函数定义为 </a:t>
            </a:r>
          </a:p>
        </p:txBody>
      </p:sp>
      <p:graphicFrame>
        <p:nvGraphicFramePr>
          <p:cNvPr id="128005" name="Object 5"/>
          <p:cNvGraphicFramePr>
            <a:graphicFrameLocks noChangeAspect="1"/>
          </p:cNvGraphicFramePr>
          <p:nvPr/>
        </p:nvGraphicFramePr>
        <p:xfrm>
          <a:off x="2133600" y="3479800"/>
          <a:ext cx="3352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400" imgH="431800" progId="Equation.3">
                  <p:embed/>
                </p:oleObj>
              </mc:Choice>
              <mc:Fallback>
                <p:oleObj name="Equation" r:id="rId2" imgW="1676400" imgH="431800" progId="Equation.3">
                  <p:embed/>
                  <p:pic>
                    <p:nvPicPr>
                      <p:cNvPr id="1280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479800"/>
                        <a:ext cx="3352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8006" name="Picture 5" descr="5-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2667001"/>
            <a:ext cx="3848100" cy="323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9507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6.3.2 </a:t>
            </a:r>
            <a:r>
              <a:rPr lang="zh-CN" altLang="en-US">
                <a:ea typeface="宋体" panose="02010600030101010101" pitchFamily="2" charset="-122"/>
              </a:rPr>
              <a:t>巴特沃思低通逼近</a:t>
            </a:r>
          </a:p>
        </p:txBody>
      </p:sp>
      <p:sp>
        <p:nvSpPr>
          <p:cNvPr id="12902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BAC5AE0-7D43-426E-9BB7-1745CD0BCC9C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9028" name="Object 5"/>
          <p:cNvGraphicFramePr>
            <a:graphicFrameLocks noChangeAspect="1"/>
          </p:cNvGraphicFramePr>
          <p:nvPr/>
        </p:nvGraphicFramePr>
        <p:xfrm>
          <a:off x="2362200" y="1600200"/>
          <a:ext cx="3352800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6100" imgH="698500" progId="Equation.3">
                  <p:embed/>
                </p:oleObj>
              </mc:Choice>
              <mc:Fallback>
                <p:oleObj name="Equation" r:id="rId2" imgW="1816100" imgH="698500" progId="Equation.3">
                  <p:embed/>
                  <p:pic>
                    <p:nvPicPr>
                      <p:cNvPr id="1290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00200"/>
                        <a:ext cx="3352800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9" name="Object 7"/>
          <p:cNvGraphicFramePr>
            <a:graphicFrameLocks noChangeAspect="1"/>
          </p:cNvGraphicFramePr>
          <p:nvPr/>
        </p:nvGraphicFramePr>
        <p:xfrm>
          <a:off x="2209800" y="2971801"/>
          <a:ext cx="39624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06600" imgH="368300" progId="Equation.3">
                  <p:embed/>
                </p:oleObj>
              </mc:Choice>
              <mc:Fallback>
                <p:oleObj name="Equation" r:id="rId4" imgW="2006600" imgH="368300" progId="Equation.3">
                  <p:embed/>
                  <p:pic>
                    <p:nvPicPr>
                      <p:cNvPr id="12902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971801"/>
                        <a:ext cx="39624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0" name="Text Box 8"/>
          <p:cNvSpPr txBox="1">
            <a:spLocks noChangeArrowheads="1"/>
          </p:cNvSpPr>
          <p:nvPr/>
        </p:nvSpPr>
        <p:spPr bwMode="auto">
          <a:xfrm>
            <a:off x="6629401" y="3200401"/>
            <a:ext cx="20441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=1, 2, …, 2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129031" name="Picture 7" descr="5-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962400"/>
            <a:ext cx="57150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139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6.3.2 </a:t>
            </a:r>
            <a:r>
              <a:rPr lang="zh-CN" altLang="en-US">
                <a:ea typeface="宋体" panose="02010600030101010101" pitchFamily="2" charset="-122"/>
              </a:rPr>
              <a:t>巴特沃思低通逼近</a:t>
            </a:r>
          </a:p>
        </p:txBody>
      </p:sp>
      <p:sp>
        <p:nvSpPr>
          <p:cNvPr id="13005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A9B72FB-4BD3-4A3F-BD21-B514FAE3C660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1676400" y="1295400"/>
            <a:ext cx="8763000" cy="3778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可见，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为奇数时，实轴上有极点；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为偶数时，实轴上没有极点。但极点决不会落在虚轴上，这样滤波器才有可能是稳定的。 </a:t>
            </a:r>
          </a:p>
          <a:p>
            <a:pPr algn="just" fontAlgn="base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为形成稳定的滤波器，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(-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2N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个极点中只取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左半平面的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个极点为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的极点，而右半平面的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个极点构成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(-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的极点。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的表示式为 </a:t>
            </a:r>
          </a:p>
        </p:txBody>
      </p:sp>
      <p:graphicFrame>
        <p:nvGraphicFramePr>
          <p:cNvPr id="130053" name="Object 5"/>
          <p:cNvGraphicFramePr>
            <a:graphicFrameLocks noChangeAspect="1"/>
          </p:cNvGraphicFramePr>
          <p:nvPr/>
        </p:nvGraphicFramePr>
        <p:xfrm>
          <a:off x="4343400" y="5180014"/>
          <a:ext cx="2895600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600" imgH="647700" progId="Equation.3">
                  <p:embed/>
                </p:oleObj>
              </mc:Choice>
              <mc:Fallback>
                <p:oleObj name="Equation" r:id="rId2" imgW="1244600" imgH="647700" progId="Equation.3">
                  <p:embed/>
                  <p:pic>
                    <p:nvPicPr>
                      <p:cNvPr id="1300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180014"/>
                        <a:ext cx="2895600" cy="150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4" name="Text Box 6"/>
          <p:cNvSpPr txBox="1">
            <a:spLocks noChangeArrowheads="1"/>
          </p:cNvSpPr>
          <p:nvPr/>
        </p:nvSpPr>
        <p:spPr bwMode="auto">
          <a:xfrm>
            <a:off x="8534400" y="5484813"/>
            <a:ext cx="1428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5-11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</a:p>
        </p:txBody>
      </p:sp>
    </p:spTree>
    <p:extLst>
      <p:ext uri="{BB962C8B-B14F-4D97-AF65-F5344CB8AC3E}">
        <p14:creationId xmlns:p14="http://schemas.microsoft.com/office/powerpoint/2010/main" val="388464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58200" y="6484938"/>
            <a:ext cx="1295400" cy="3111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A197527-8D07-4BD0-AC12-990F27C14CD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075" name="Text Box 4"/>
          <p:cNvSpPr txBox="1">
            <a:spLocks noChangeArrowheads="1"/>
          </p:cNvSpPr>
          <p:nvPr/>
        </p:nvSpPr>
        <p:spPr bwMode="auto">
          <a:xfrm>
            <a:off x="1676400" y="1392239"/>
            <a:ext cx="8839200" cy="111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这里分子系数为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i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，可由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的低频特性决定，（代入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(0)=1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，可求得分子系数为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 i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），而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为 </a:t>
            </a:r>
          </a:p>
        </p:txBody>
      </p:sp>
      <p:graphicFrame>
        <p:nvGraphicFramePr>
          <p:cNvPr id="131076" name="Object 5"/>
          <p:cNvGraphicFramePr>
            <a:graphicFrameLocks noChangeAspect="1"/>
          </p:cNvGraphicFramePr>
          <p:nvPr/>
        </p:nvGraphicFramePr>
        <p:xfrm>
          <a:off x="4357689" y="2660650"/>
          <a:ext cx="20288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500" imgH="368300" progId="Equation.3">
                  <p:embed/>
                </p:oleObj>
              </mc:Choice>
              <mc:Fallback>
                <p:oleObj name="Equation" r:id="rId3" imgW="1079500" imgH="368300" progId="Equation.3">
                  <p:embed/>
                  <p:pic>
                    <p:nvPicPr>
                      <p:cNvPr id="13107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9" y="2660650"/>
                        <a:ext cx="202882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7" name="Text Box 6"/>
          <p:cNvSpPr txBox="1">
            <a:spLocks noChangeArrowheads="1"/>
          </p:cNvSpPr>
          <p:nvPr/>
        </p:nvSpPr>
        <p:spPr bwMode="auto">
          <a:xfrm>
            <a:off x="7391401" y="2890839"/>
            <a:ext cx="18902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=1, 2, …, 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 </a:t>
            </a:r>
          </a:p>
        </p:txBody>
      </p:sp>
      <p:sp>
        <p:nvSpPr>
          <p:cNvPr id="131078" name="Text Box 8"/>
          <p:cNvSpPr txBox="1">
            <a:spLocks noChangeArrowheads="1"/>
          </p:cNvSpPr>
          <p:nvPr/>
        </p:nvSpPr>
        <p:spPr bwMode="auto">
          <a:xfrm>
            <a:off x="1676400" y="3619501"/>
            <a:ext cx="8839200" cy="219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一般模拟低通滤波器的设计指标由参数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给出， 因此对于巴特沃思滤波器情况下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设计的实质就是为了求得由这些参数所决定的滤波器阶次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和截止频率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。 我们要求： </a:t>
            </a:r>
          </a:p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 （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 在 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, -10lg|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(j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)|</a:t>
            </a:r>
            <a:r>
              <a:rPr kumimoji="1"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</a:p>
        </p:txBody>
      </p:sp>
      <p:sp>
        <p:nvSpPr>
          <p:cNvPr id="131079" name="Text Box 9"/>
          <p:cNvSpPr txBox="1">
            <a:spLocks noChangeArrowheads="1"/>
          </p:cNvSpPr>
          <p:nvPr/>
        </p:nvSpPr>
        <p:spPr bwMode="auto">
          <a:xfrm>
            <a:off x="1676400" y="5938839"/>
            <a:ext cx="570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或 </a:t>
            </a:r>
          </a:p>
        </p:txBody>
      </p:sp>
      <p:graphicFrame>
        <p:nvGraphicFramePr>
          <p:cNvPr id="131080" name="Object 10"/>
          <p:cNvGraphicFramePr>
            <a:graphicFrameLocks noChangeAspect="1"/>
          </p:cNvGraphicFramePr>
          <p:nvPr/>
        </p:nvGraphicFramePr>
        <p:xfrm>
          <a:off x="4803775" y="5832476"/>
          <a:ext cx="29654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700" imgH="508000" progId="Equation.3">
                  <p:embed/>
                </p:oleObj>
              </mc:Choice>
              <mc:Fallback>
                <p:oleObj name="Equation" r:id="rId5" imgW="1790700" imgH="508000" progId="Equation.3">
                  <p:embed/>
                  <p:pic>
                    <p:nvPicPr>
                      <p:cNvPr id="13108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5832476"/>
                        <a:ext cx="296545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1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6.3.2 </a:t>
            </a:r>
            <a:r>
              <a:rPr lang="zh-CN" altLang="en-US">
                <a:ea typeface="宋体" panose="02010600030101010101" pitchFamily="2" charset="-122"/>
              </a:rPr>
              <a:t>巴特沃思低通逼近</a:t>
            </a:r>
          </a:p>
        </p:txBody>
      </p:sp>
    </p:spTree>
    <p:extLst>
      <p:ext uri="{BB962C8B-B14F-4D97-AF65-F5344CB8AC3E}">
        <p14:creationId xmlns:p14="http://schemas.microsoft.com/office/powerpoint/2010/main" val="219250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12A3E5-6498-4638-85D3-FEB79E2B89C7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099" name="Text Box 4"/>
          <p:cNvSpPr txBox="1">
            <a:spLocks noChangeArrowheads="1"/>
          </p:cNvSpPr>
          <p:nvPr/>
        </p:nvSpPr>
        <p:spPr bwMode="auto">
          <a:xfrm>
            <a:off x="2117725" y="1752600"/>
            <a:ext cx="4560888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 在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-10lg|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(j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)|</a:t>
            </a:r>
            <a:r>
              <a:rPr kumimoji="1"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</a:t>
            </a:r>
          </a:p>
          <a:p>
            <a:pPr fontAlgn="base">
              <a:lnSpc>
                <a:spcPct val="13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或 </a:t>
            </a:r>
          </a:p>
        </p:txBody>
      </p:sp>
      <p:graphicFrame>
        <p:nvGraphicFramePr>
          <p:cNvPr id="132100" name="Object 5"/>
          <p:cNvGraphicFramePr>
            <a:graphicFrameLocks noChangeAspect="1"/>
          </p:cNvGraphicFramePr>
          <p:nvPr/>
        </p:nvGraphicFramePr>
        <p:xfrm>
          <a:off x="4545013" y="2320926"/>
          <a:ext cx="26590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300" imgH="482600" progId="Equation.3">
                  <p:embed/>
                </p:oleObj>
              </mc:Choice>
              <mc:Fallback>
                <p:oleObj name="Equation" r:id="rId2" imgW="1765300" imgH="482600" progId="Equation.3">
                  <p:embed/>
                  <p:pic>
                    <p:nvPicPr>
                      <p:cNvPr id="13210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5013" y="2320926"/>
                        <a:ext cx="265906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1" name="Text Box 7"/>
          <p:cNvSpPr txBox="1">
            <a:spLocks noChangeArrowheads="1"/>
          </p:cNvSpPr>
          <p:nvPr/>
        </p:nvSpPr>
        <p:spPr bwMode="auto">
          <a:xfrm>
            <a:off x="2057401" y="3181350"/>
            <a:ext cx="3281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由上述两式解出</a:t>
            </a: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，有 </a:t>
            </a:r>
          </a:p>
        </p:txBody>
      </p:sp>
      <p:graphicFrame>
        <p:nvGraphicFramePr>
          <p:cNvPr id="132102" name="Object 8"/>
          <p:cNvGraphicFramePr>
            <a:graphicFrameLocks noChangeAspect="1"/>
          </p:cNvGraphicFramePr>
          <p:nvPr/>
        </p:nvGraphicFramePr>
        <p:xfrm>
          <a:off x="4397375" y="3719514"/>
          <a:ext cx="32258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06600" imgH="482600" progId="Equation.3">
                  <p:embed/>
                </p:oleObj>
              </mc:Choice>
              <mc:Fallback>
                <p:oleObj name="Equation" r:id="rId4" imgW="2006600" imgH="482600" progId="Equation.3">
                  <p:embed/>
                  <p:pic>
                    <p:nvPicPr>
                      <p:cNvPr id="13210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75" y="3719514"/>
                        <a:ext cx="322580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3" name="Text Box 10"/>
          <p:cNvSpPr txBox="1">
            <a:spLocks noChangeArrowheads="1"/>
          </p:cNvSpPr>
          <p:nvPr/>
        </p:nvSpPr>
        <p:spPr bwMode="auto">
          <a:xfrm>
            <a:off x="1752600" y="4638676"/>
            <a:ext cx="86868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一般来说，上面求出的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不会是一个整数，要求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是一个整数且满足指标要求，就必须选 </a:t>
            </a:r>
          </a:p>
        </p:txBody>
      </p:sp>
      <p:graphicFrame>
        <p:nvGraphicFramePr>
          <p:cNvPr id="132104" name="Object 11"/>
          <p:cNvGraphicFramePr>
            <a:graphicFrameLocks noChangeAspect="1"/>
          </p:cNvGraphicFramePr>
          <p:nvPr/>
        </p:nvGraphicFramePr>
        <p:xfrm>
          <a:off x="4321175" y="5568951"/>
          <a:ext cx="354965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508000" progId="Equation.3">
                  <p:embed/>
                </p:oleObj>
              </mc:Choice>
              <mc:Fallback>
                <p:oleObj name="Equation" r:id="rId6" imgW="2095500" imgH="508000" progId="Equation.3">
                  <p:embed/>
                  <p:pic>
                    <p:nvPicPr>
                      <p:cNvPr id="13210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5" y="5568951"/>
                        <a:ext cx="354965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5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6.3.2 </a:t>
            </a:r>
            <a:r>
              <a:rPr lang="zh-CN" altLang="en-US">
                <a:ea typeface="宋体" panose="02010600030101010101" pitchFamily="2" charset="-122"/>
              </a:rPr>
              <a:t>巴特沃思低通逼近</a:t>
            </a:r>
          </a:p>
        </p:txBody>
      </p:sp>
    </p:spTree>
    <p:extLst>
      <p:ext uri="{BB962C8B-B14F-4D97-AF65-F5344CB8AC3E}">
        <p14:creationId xmlns:p14="http://schemas.microsoft.com/office/powerpoint/2010/main" val="125364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84E0A2-983A-4C51-888F-534046450398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23" name="Text Box 4"/>
          <p:cNvSpPr txBox="1">
            <a:spLocks noChangeArrowheads="1"/>
          </p:cNvSpPr>
          <p:nvPr/>
        </p:nvSpPr>
        <p:spPr bwMode="auto">
          <a:xfrm>
            <a:off x="1752600" y="1295400"/>
            <a:ext cx="8763000" cy="2131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这里运算符［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］的意思是</a:t>
            </a:r>
            <a:r>
              <a:rPr kumimoji="1" lang="zh-CN" altLang="en-US" sz="2400">
                <a:solidFill>
                  <a:srgbClr val="000000"/>
                </a:solidFill>
                <a:latin typeface="Courier New" panose="02070309020205020404" pitchFamily="49" charset="0"/>
              </a:rPr>
              <a:t>“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选大于等于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的最小整数</a:t>
            </a:r>
            <a:r>
              <a:rPr kumimoji="1" lang="zh-CN" altLang="en-US" sz="2400">
                <a:solidFill>
                  <a:srgbClr val="000000"/>
                </a:solidFill>
                <a:latin typeface="Courier New" panose="02070309020205020404" pitchFamily="49" charset="0"/>
              </a:rPr>
              <a:t>”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，例如［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4.5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］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=5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。因为，实际上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选的都比要求的大，因此技术指标上在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或在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上都能满足或超过一些。为了在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精确地满足指标要求， 可得 </a:t>
            </a:r>
          </a:p>
        </p:txBody>
      </p:sp>
      <p:graphicFrame>
        <p:nvGraphicFramePr>
          <p:cNvPr id="133124" name="Object 5"/>
          <p:cNvGraphicFramePr>
            <a:graphicFrameLocks noChangeAspect="1"/>
          </p:cNvGraphicFramePr>
          <p:nvPr/>
        </p:nvGraphicFramePr>
        <p:xfrm>
          <a:off x="4267200" y="3324225"/>
          <a:ext cx="3048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457200" progId="Equation.3">
                  <p:embed/>
                </p:oleObj>
              </mc:Choice>
              <mc:Fallback>
                <p:oleObj name="Equation" r:id="rId2" imgW="1155700" imgH="457200" progId="Equation.3">
                  <p:embed/>
                  <p:pic>
                    <p:nvPicPr>
                      <p:cNvPr id="1331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324225"/>
                        <a:ext cx="30480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5" name="Text Box 7"/>
          <p:cNvSpPr txBox="1">
            <a:spLocks noChangeArrowheads="1"/>
          </p:cNvSpPr>
          <p:nvPr/>
        </p:nvSpPr>
        <p:spPr bwMode="auto">
          <a:xfrm>
            <a:off x="1736726" y="4772026"/>
            <a:ext cx="51339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或者在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精确地满足指标要求，可得</a:t>
            </a:r>
          </a:p>
        </p:txBody>
      </p:sp>
      <p:graphicFrame>
        <p:nvGraphicFramePr>
          <p:cNvPr id="133126" name="Object 8"/>
          <p:cNvGraphicFramePr>
            <a:graphicFrameLocks noChangeAspect="1"/>
          </p:cNvGraphicFramePr>
          <p:nvPr/>
        </p:nvGraphicFramePr>
        <p:xfrm>
          <a:off x="4283076" y="5414964"/>
          <a:ext cx="3014663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431800" progId="Equation.3">
                  <p:embed/>
                </p:oleObj>
              </mc:Choice>
              <mc:Fallback>
                <p:oleObj name="Equation" r:id="rId4" imgW="1143000" imgH="431800" progId="Equation.3">
                  <p:embed/>
                  <p:pic>
                    <p:nvPicPr>
                      <p:cNvPr id="1331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6" y="5414964"/>
                        <a:ext cx="3014663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7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6.3.2 </a:t>
            </a:r>
            <a:r>
              <a:rPr lang="zh-CN" altLang="en-US">
                <a:ea typeface="宋体" panose="02010600030101010101" pitchFamily="2" charset="-122"/>
              </a:rPr>
              <a:t>巴特沃思低通逼近</a:t>
            </a:r>
          </a:p>
        </p:txBody>
      </p:sp>
    </p:spTree>
    <p:extLst>
      <p:ext uri="{BB962C8B-B14F-4D97-AF65-F5344CB8AC3E}">
        <p14:creationId xmlns:p14="http://schemas.microsoft.com/office/powerpoint/2010/main" val="2671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361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DD1A8BB-4637-4BFC-B1F7-8ACB69F8F7B0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196" name="Text Box 4"/>
          <p:cNvSpPr txBox="1">
            <a:spLocks noChangeArrowheads="1"/>
          </p:cNvSpPr>
          <p:nvPr/>
        </p:nvSpPr>
        <p:spPr bwMode="auto">
          <a:xfrm>
            <a:off x="2057400" y="1524000"/>
            <a:ext cx="815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5-1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导出三阶巴特沃思模拟低通滤波器的系统函数，</a:t>
            </a: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设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2 rad/s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。 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177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361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DD1A8BB-4637-4BFC-B1F7-8ACB69F8F7B0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196" name="Text Box 4"/>
          <p:cNvSpPr txBox="1">
            <a:spLocks noChangeArrowheads="1"/>
          </p:cNvSpPr>
          <p:nvPr/>
        </p:nvSpPr>
        <p:spPr bwMode="auto">
          <a:xfrm>
            <a:off x="2057400" y="1524000"/>
            <a:ext cx="815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5-1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导出三阶巴特沃思模拟低通滤波器的系统函数，</a:t>
            </a: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设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2 rad/s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。 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解   幅度平方函数是 </a:t>
            </a:r>
          </a:p>
        </p:txBody>
      </p:sp>
      <p:graphicFrame>
        <p:nvGraphicFramePr>
          <p:cNvPr id="136197" name="Object 5"/>
          <p:cNvGraphicFramePr>
            <a:graphicFrameLocks noChangeAspect="1"/>
          </p:cNvGraphicFramePr>
          <p:nvPr/>
        </p:nvGraphicFramePr>
        <p:xfrm>
          <a:off x="4610100" y="2971800"/>
          <a:ext cx="25463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419100" progId="Equation.3">
                  <p:embed/>
                </p:oleObj>
              </mc:Choice>
              <mc:Fallback>
                <p:oleObj name="Equation" r:id="rId2" imgW="1435100" imgH="419100" progId="Equation.3">
                  <p:embed/>
                  <p:pic>
                    <p:nvPicPr>
                      <p:cNvPr id="136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2971800"/>
                        <a:ext cx="254635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2097088" y="3810000"/>
            <a:ext cx="3363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令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=-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即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=jΩ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，则有 </a:t>
            </a:r>
          </a:p>
        </p:txBody>
      </p:sp>
      <p:graphicFrame>
        <p:nvGraphicFramePr>
          <p:cNvPr id="136199" name="Object 7"/>
          <p:cNvGraphicFramePr>
            <a:graphicFrameLocks noChangeAspect="1"/>
          </p:cNvGraphicFramePr>
          <p:nvPr/>
        </p:nvGraphicFramePr>
        <p:xfrm>
          <a:off x="4375150" y="4206875"/>
          <a:ext cx="3017838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800" imgH="419100" progId="Equation.3">
                  <p:embed/>
                </p:oleObj>
              </mc:Choice>
              <mc:Fallback>
                <p:oleObj name="Equation" r:id="rId4" imgW="1701800" imgH="419100" progId="Equation.3">
                  <p:embed/>
                  <p:pic>
                    <p:nvPicPr>
                      <p:cNvPr id="1361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4206875"/>
                        <a:ext cx="3017838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00" name="Text Box 8"/>
          <p:cNvSpPr txBox="1">
            <a:spLocks noChangeArrowheads="1"/>
          </p:cNvSpPr>
          <p:nvPr/>
        </p:nvSpPr>
        <p:spPr bwMode="auto">
          <a:xfrm>
            <a:off x="2057401" y="5634038"/>
            <a:ext cx="2117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各极点满足式 </a:t>
            </a:r>
          </a:p>
        </p:txBody>
      </p:sp>
      <p:graphicFrame>
        <p:nvGraphicFramePr>
          <p:cNvPr id="136201" name="Object 9"/>
          <p:cNvGraphicFramePr>
            <a:graphicFrameLocks noChangeAspect="1"/>
          </p:cNvGraphicFramePr>
          <p:nvPr/>
        </p:nvGraphicFramePr>
        <p:xfrm>
          <a:off x="4541839" y="5334000"/>
          <a:ext cx="21177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600" imgH="368300" progId="Equation.3">
                  <p:embed/>
                </p:oleObj>
              </mc:Choice>
              <mc:Fallback>
                <p:oleObj name="Equation" r:id="rId6" imgW="990600" imgH="368300" progId="Equation.3">
                  <p:embed/>
                  <p:pic>
                    <p:nvPicPr>
                      <p:cNvPr id="136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9" y="5334000"/>
                        <a:ext cx="21177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02" name="Text Box 10"/>
          <p:cNvSpPr txBox="1">
            <a:spLocks noChangeArrowheads="1"/>
          </p:cNvSpPr>
          <p:nvPr/>
        </p:nvSpPr>
        <p:spPr bwMode="auto">
          <a:xfrm>
            <a:off x="7696200" y="5562601"/>
            <a:ext cx="182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=1, 2, …, 6 </a:t>
            </a:r>
          </a:p>
        </p:txBody>
      </p:sp>
    </p:spTree>
    <p:extLst>
      <p:ext uri="{BB962C8B-B14F-4D97-AF65-F5344CB8AC3E}">
        <p14:creationId xmlns:p14="http://schemas.microsoft.com/office/powerpoint/2010/main" val="381221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标题 1"/>
          <p:cNvSpPr>
            <a:spLocks noGrp="1"/>
          </p:cNvSpPr>
          <p:nvPr>
            <p:ph type="title"/>
          </p:nvPr>
        </p:nvSpPr>
        <p:spPr>
          <a:xfrm>
            <a:off x="2971800" y="457200"/>
            <a:ext cx="70866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3721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F22E4E8-15ED-4EA4-AB4E-0905874BA11F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1703388" y="1828801"/>
            <a:ext cx="8763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前面三个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=1, 2, 3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）就是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的极点。 所给出的六个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</a:p>
        </p:txBody>
      </p:sp>
      <p:graphicFrame>
        <p:nvGraphicFramePr>
          <p:cNvPr id="137221" name="Object 5"/>
          <p:cNvGraphicFramePr>
            <a:graphicFrameLocks noChangeAspect="1"/>
          </p:cNvGraphicFramePr>
          <p:nvPr/>
        </p:nvGraphicFramePr>
        <p:xfrm>
          <a:off x="2579688" y="2698750"/>
          <a:ext cx="2246312" cy="377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2286000" progId="Equation.3">
                  <p:embed/>
                </p:oleObj>
              </mc:Choice>
              <mc:Fallback>
                <p:oleObj name="Equation" r:id="rId2" imgW="1358900" imgH="2286000" progId="Equation.3">
                  <p:embed/>
                  <p:pic>
                    <p:nvPicPr>
                      <p:cNvPr id="137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2698750"/>
                        <a:ext cx="2246312" cy="377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6096001" y="2841626"/>
            <a:ext cx="3140075" cy="111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8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由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三个极点构成的系统函数为 </a:t>
            </a:r>
          </a:p>
        </p:txBody>
      </p:sp>
      <p:graphicFrame>
        <p:nvGraphicFramePr>
          <p:cNvPr id="137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981359"/>
              </p:ext>
            </p:extLst>
          </p:nvPr>
        </p:nvGraphicFramePr>
        <p:xfrm>
          <a:off x="5978525" y="4362450"/>
          <a:ext cx="3978275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54000" imgH="863280" progId="Equation.3">
                  <p:embed/>
                </p:oleObj>
              </mc:Choice>
              <mc:Fallback>
                <p:oleObj name="公式" r:id="rId4" imgW="1854000" imgH="863280" progId="Equation.3">
                  <p:embed/>
                  <p:pic>
                    <p:nvPicPr>
                      <p:cNvPr id="1372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525" y="4362450"/>
                        <a:ext cx="3978275" cy="185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7070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382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DA06879-D4F6-4905-9D74-CD0B660EDBF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1600200" y="1676401"/>
            <a:ext cx="8763000" cy="190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5-2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设计一个满足下面要求的模拟低通巴特沃思滤波器： </a:t>
            </a: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通带截止频率：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=0.2π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；通带最大衰减：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=7 dB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阻带截止频率：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=0.3π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；阻带最小衰减：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=16dB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922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382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DA06879-D4F6-4905-9D74-CD0B660EDBF4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1600200" y="1676401"/>
            <a:ext cx="8763000" cy="2566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例 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5-2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设计一个满足下面要求的模拟低通巴特沃思滤波器： </a:t>
            </a: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通带截止频率：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=0.2π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；通带最大衰减：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=7 dB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阻带截止频率：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=0.3π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；阻带最小衰减：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=16dB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  <a:p>
            <a:pPr algn="just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  解：</a:t>
            </a:r>
          </a:p>
        </p:txBody>
      </p:sp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3505200" y="3886200"/>
          <a:ext cx="59436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600" imgH="482600" progId="Equation.3">
                  <p:embed/>
                </p:oleObj>
              </mc:Choice>
              <mc:Fallback>
                <p:oleObj name="Equation" r:id="rId2" imgW="2641600" imgH="482600" progId="Equation.3">
                  <p:embed/>
                  <p:pic>
                    <p:nvPicPr>
                      <p:cNvPr id="138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886200"/>
                        <a:ext cx="59436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1736725" y="5105400"/>
            <a:ext cx="640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为了准确在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满足指标要求，由式（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5-16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）得 </a:t>
            </a:r>
          </a:p>
        </p:txBody>
      </p:sp>
      <p:graphicFrame>
        <p:nvGraphicFramePr>
          <p:cNvPr id="138247" name="Object 7"/>
          <p:cNvGraphicFramePr>
            <a:graphicFrameLocks noChangeAspect="1"/>
          </p:cNvGraphicFramePr>
          <p:nvPr/>
        </p:nvGraphicFramePr>
        <p:xfrm>
          <a:off x="4367213" y="5648326"/>
          <a:ext cx="37338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431800" progId="Equation.3">
                  <p:embed/>
                </p:oleObj>
              </mc:Choice>
              <mc:Fallback>
                <p:oleObj name="Equation" r:id="rId4" imgW="1524000" imgH="431800" progId="Equation.3">
                  <p:embed/>
                  <p:pic>
                    <p:nvPicPr>
                      <p:cNvPr id="1382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5648326"/>
                        <a:ext cx="37338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0933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例题</a:t>
            </a:r>
          </a:p>
        </p:txBody>
      </p:sp>
      <p:sp>
        <p:nvSpPr>
          <p:cNvPr id="1392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E33FDE-838B-4993-93F1-21280FFE160B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1905001" y="1595438"/>
            <a:ext cx="45497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为了准确在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满足指标要求，得</a:t>
            </a:r>
          </a:p>
        </p:txBody>
      </p:sp>
      <p:graphicFrame>
        <p:nvGraphicFramePr>
          <p:cNvPr id="139269" name="Object 5"/>
          <p:cNvGraphicFramePr>
            <a:graphicFrameLocks noChangeAspect="1"/>
          </p:cNvGraphicFramePr>
          <p:nvPr/>
        </p:nvGraphicFramePr>
        <p:xfrm>
          <a:off x="4267200" y="2295526"/>
          <a:ext cx="37338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431800" progId="Equation.3">
                  <p:embed/>
                </p:oleObj>
              </mc:Choice>
              <mc:Fallback>
                <p:oleObj name="Equation" r:id="rId2" imgW="1524000" imgH="431800" progId="Equation.3">
                  <p:embed/>
                  <p:pic>
                    <p:nvPicPr>
                      <p:cNvPr id="139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295526"/>
                        <a:ext cx="37338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0" name="Text Box 6"/>
          <p:cNvSpPr txBox="1">
            <a:spLocks noChangeArrowheads="1"/>
          </p:cNvSpPr>
          <p:nvPr/>
        </p:nvSpPr>
        <p:spPr bwMode="auto">
          <a:xfrm>
            <a:off x="1752600" y="3567113"/>
            <a:ext cx="8686800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现在在上面两个数之间可任选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值。现选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=0.5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，这样就必须设计一个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=3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Ω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=0.5 </a:t>
            </a:r>
            <a:r>
              <a:rPr kumimoji="1" lang="zh-CN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的巴特沃思滤波器，最后可得 </a:t>
            </a:r>
          </a:p>
        </p:txBody>
      </p:sp>
      <p:graphicFrame>
        <p:nvGraphicFramePr>
          <p:cNvPr id="139271" name="Object 7"/>
          <p:cNvGraphicFramePr>
            <a:graphicFrameLocks noChangeAspect="1"/>
          </p:cNvGraphicFramePr>
          <p:nvPr/>
        </p:nvGraphicFramePr>
        <p:xfrm>
          <a:off x="3671889" y="4953000"/>
          <a:ext cx="5075237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900" imgH="419100" progId="Equation.3">
                  <p:embed/>
                </p:oleObj>
              </mc:Choice>
              <mc:Fallback>
                <p:oleObj name="Equation" r:id="rId4" imgW="2120900" imgH="419100" progId="Equation.3">
                  <p:embed/>
                  <p:pic>
                    <p:nvPicPr>
                      <p:cNvPr id="1392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9" y="4953000"/>
                        <a:ext cx="5075237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2378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zh-CN" altLang="en-US" sz="32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3200" dirty="0">
                <a:ea typeface="黑体" panose="02010609060101010101" pitchFamily="49" charset="-122"/>
              </a:rPr>
              <a:t>Butterworth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模拟低通滤波器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</a:p>
        </p:txBody>
      </p:sp>
      <p:sp>
        <p:nvSpPr>
          <p:cNvPr id="116739" name="Rectangle 3"/>
          <p:cNvSpPr>
            <a:spLocks noChangeArrowheads="1"/>
          </p:cNvSpPr>
          <p:nvPr/>
        </p:nvSpPr>
        <p:spPr bwMode="auto">
          <a:xfrm>
            <a:off x="1752600" y="1184275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2089150" y="1379538"/>
            <a:ext cx="6034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</a:rPr>
              <a:t>BW LP</a:t>
            </a:r>
            <a:r>
              <a:rPr lang="zh-CN" altLang="en-US" sz="2800" b="1" dirty="0">
                <a:solidFill>
                  <a:schemeClr val="accent2"/>
                </a:solidFill>
              </a:rPr>
              <a:t>滤波器的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的设计步骤</a:t>
            </a:r>
            <a:r>
              <a:rPr lang="zh-CN" altLang="en-US" sz="2800" b="1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16741" name="Text Box 5"/>
          <p:cNvSpPr txBox="1">
            <a:spLocks noChangeArrowheads="1"/>
          </p:cNvSpPr>
          <p:nvPr/>
        </p:nvSpPr>
        <p:spPr bwMode="auto">
          <a:xfrm>
            <a:off x="2457450" y="2324101"/>
            <a:ext cx="5448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(1) </a:t>
            </a:r>
            <a:r>
              <a:rPr lang="zh-CN" altLang="en-US" sz="2800">
                <a:latin typeface="宋体" panose="02010600030101010101" pitchFamily="2" charset="-122"/>
              </a:rPr>
              <a:t>确定滤波器的阶数</a:t>
            </a:r>
            <a:r>
              <a:rPr lang="en-US" altLang="zh-CN" sz="2800" i="1"/>
              <a:t>N</a:t>
            </a:r>
            <a:r>
              <a:rPr lang="en-US" altLang="zh-CN" sz="2800"/>
              <a:t> </a:t>
            </a:r>
          </a:p>
        </p:txBody>
      </p:sp>
      <p:graphicFrame>
        <p:nvGraphicFramePr>
          <p:cNvPr id="1167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312098"/>
              </p:ext>
            </p:extLst>
          </p:nvPr>
        </p:nvGraphicFramePr>
        <p:xfrm>
          <a:off x="5110163" y="2740025"/>
          <a:ext cx="274161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660240" progId="Equation.DSMT4">
                  <p:embed/>
                </p:oleObj>
              </mc:Choice>
              <mc:Fallback>
                <p:oleObj name="Equation" r:id="rId2" imgW="1143000" imgH="660240" progId="Equation.DSMT4">
                  <p:embed/>
                  <p:pic>
                    <p:nvPicPr>
                      <p:cNvPr id="1167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2740025"/>
                        <a:ext cx="2741612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4" name="Text Box 8"/>
          <p:cNvSpPr txBox="1">
            <a:spLocks noChangeArrowheads="1"/>
          </p:cNvSpPr>
          <p:nvPr/>
        </p:nvSpPr>
        <p:spPr bwMode="auto">
          <a:xfrm>
            <a:off x="2514600" y="4305301"/>
            <a:ext cx="56086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(2) </a:t>
            </a:r>
            <a:r>
              <a:rPr lang="zh-CN" altLang="en-US" sz="2800" dirty="0">
                <a:latin typeface="宋体" panose="02010600030101010101" pitchFamily="2" charset="-122"/>
              </a:rPr>
              <a:t>确定滤波器的</a:t>
            </a:r>
            <a:r>
              <a:rPr lang="en-US" altLang="zh-CN" sz="2800" dirty="0"/>
              <a:t>3dB</a:t>
            </a:r>
            <a:r>
              <a:rPr lang="zh-CN" altLang="en-US" sz="2800" dirty="0">
                <a:latin typeface="宋体" panose="02010600030101010101" pitchFamily="2" charset="-122"/>
              </a:rPr>
              <a:t>截频</a:t>
            </a:r>
            <a:r>
              <a:rPr lang="zh-CN" altLang="en-US" sz="2800" i="1" dirty="0">
                <a:latin typeface="Symbol" panose="05050102010706020507" pitchFamily="18" charset="2"/>
              </a:rPr>
              <a:t> </a:t>
            </a:r>
            <a:r>
              <a:rPr lang="el-GR" altLang="zh-CN" dirty="0"/>
              <a:t>Ω</a:t>
            </a:r>
            <a:r>
              <a:rPr lang="en-US" altLang="zh-CN" sz="2800" baseline="-30000" dirty="0"/>
              <a:t>c</a:t>
            </a:r>
            <a:r>
              <a:rPr lang="en-US" altLang="zh-CN" sz="2800" dirty="0"/>
              <a:t> </a:t>
            </a:r>
          </a:p>
        </p:txBody>
      </p:sp>
      <p:graphicFrame>
        <p:nvGraphicFramePr>
          <p:cNvPr id="1167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293553"/>
              </p:ext>
            </p:extLst>
          </p:nvPr>
        </p:nvGraphicFramePr>
        <p:xfrm>
          <a:off x="3503613" y="4946650"/>
          <a:ext cx="545623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040" imgH="457200" progId="Equation.DSMT4">
                  <p:embed/>
                </p:oleObj>
              </mc:Choice>
              <mc:Fallback>
                <p:oleObj name="Equation" r:id="rId4" imgW="2273040" imgH="457200" progId="Equation.DSMT4">
                  <p:embed/>
                  <p:pic>
                    <p:nvPicPr>
                      <p:cNvPr id="1167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3" y="4946650"/>
                        <a:ext cx="5456237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884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1" grpId="0" autoUpdateAnimBg="0"/>
      <p:bldP spid="11674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altLang="zh-CN" sz="3200" dirty="0">
                <a:ea typeface="黑体" panose="02010609060101010101" pitchFamily="49" charset="-122"/>
              </a:rPr>
              <a:t>Butterworth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模拟低通滤波器</a:t>
            </a:r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</a:p>
        </p:txBody>
      </p:sp>
      <p:sp>
        <p:nvSpPr>
          <p:cNvPr id="119811" name="Rectangle 3"/>
          <p:cNvSpPr>
            <a:spLocks noChangeArrowheads="1"/>
          </p:cNvSpPr>
          <p:nvPr/>
        </p:nvSpPr>
        <p:spPr bwMode="auto">
          <a:xfrm>
            <a:off x="1752600" y="1185863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1916113" y="1431926"/>
            <a:ext cx="449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/>
              <a:t>BW LP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latin typeface="宋体" panose="02010600030101010101" pitchFamily="2" charset="-122"/>
              </a:rPr>
              <a:t>的设计步骤</a:t>
            </a:r>
            <a:r>
              <a:rPr lang="zh-CN" altLang="en-US" sz="2800" b="1" dirty="0"/>
              <a:t> </a:t>
            </a:r>
          </a:p>
        </p:txBody>
      </p: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2457450" y="2324101"/>
            <a:ext cx="5448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(3) </a:t>
            </a:r>
            <a:r>
              <a:rPr lang="zh-CN" altLang="en-US" sz="2800">
                <a:latin typeface="宋体" panose="02010600030101010101" pitchFamily="2" charset="-122"/>
              </a:rPr>
              <a:t>确定滤波器的极点</a:t>
            </a:r>
            <a:r>
              <a:rPr lang="zh-CN" altLang="en-US" sz="2800"/>
              <a:t> </a:t>
            </a:r>
          </a:p>
        </p:txBody>
      </p:sp>
      <p:sp>
        <p:nvSpPr>
          <p:cNvPr id="119816" name="Text Box 8"/>
          <p:cNvSpPr txBox="1">
            <a:spLocks noChangeArrowheads="1"/>
          </p:cNvSpPr>
          <p:nvPr/>
        </p:nvSpPr>
        <p:spPr bwMode="auto">
          <a:xfrm>
            <a:off x="2514601" y="4305300"/>
            <a:ext cx="6945313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5000"/>
              </a:lnSpc>
              <a:spcBef>
                <a:spcPct val="50000"/>
              </a:spcBef>
            </a:pPr>
            <a:r>
              <a:rPr lang="en-US" altLang="zh-CN" sz="2800"/>
              <a:t>(4) </a:t>
            </a:r>
            <a:r>
              <a:rPr lang="zh-CN" altLang="en-US" sz="2800">
                <a:latin typeface="宋体" panose="02010600030101010101" pitchFamily="2" charset="-122"/>
              </a:rPr>
              <a:t>确定模拟低通滤波器的系统函数</a:t>
            </a:r>
            <a:r>
              <a:rPr lang="en-US" altLang="zh-CN" sz="2800" i="1"/>
              <a:t>H</a:t>
            </a:r>
            <a:r>
              <a:rPr lang="en-US" altLang="zh-CN" sz="2800" baseline="-30000"/>
              <a:t>L</a:t>
            </a:r>
            <a:r>
              <a:rPr lang="en-US" altLang="zh-CN" sz="2800"/>
              <a:t> (</a:t>
            </a:r>
            <a:r>
              <a:rPr lang="en-US" altLang="zh-CN" sz="2800" i="1"/>
              <a:t>s</a:t>
            </a:r>
            <a:r>
              <a:rPr lang="en-US" altLang="zh-CN" sz="2800"/>
              <a:t>) </a:t>
            </a:r>
          </a:p>
        </p:txBody>
      </p:sp>
      <p:graphicFrame>
        <p:nvGraphicFramePr>
          <p:cNvPr id="119819" name="Object 11"/>
          <p:cNvGraphicFramePr>
            <a:graphicFrameLocks noChangeAspect="1"/>
          </p:cNvGraphicFramePr>
          <p:nvPr/>
        </p:nvGraphicFramePr>
        <p:xfrm>
          <a:off x="3890964" y="3055939"/>
          <a:ext cx="51657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330120" progId="Equation.3">
                  <p:embed/>
                </p:oleObj>
              </mc:Choice>
              <mc:Fallback>
                <p:oleObj name="Equation" r:id="rId2" imgW="1803240" imgH="330120" progId="Equation.3">
                  <p:embed/>
                  <p:pic>
                    <p:nvPicPr>
                      <p:cNvPr id="1198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4" y="3055939"/>
                        <a:ext cx="5165725" cy="94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894208"/>
              </p:ext>
            </p:extLst>
          </p:nvPr>
        </p:nvGraphicFramePr>
        <p:xfrm>
          <a:off x="4594225" y="5141913"/>
          <a:ext cx="29384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960" imgH="444240" progId="Equation.DSMT4">
                  <p:embed/>
                </p:oleObj>
              </mc:Choice>
              <mc:Fallback>
                <p:oleObj name="Equation" r:id="rId4" imgW="1218960" imgH="444240" progId="Equation.DSMT4">
                  <p:embed/>
                  <p:pic>
                    <p:nvPicPr>
                      <p:cNvPr id="1198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5141913"/>
                        <a:ext cx="2938463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480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 autoUpdateAnimBg="0"/>
      <p:bldP spid="1198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9600" y="1639320"/>
            <a:ext cx="103015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/>
              <a:t>例：设计一个满足下列指标</a:t>
            </a:r>
            <a:r>
              <a:rPr lang="en-US" altLang="zh-CN" sz="3600" dirty="0"/>
              <a:t>BW</a:t>
            </a:r>
            <a:r>
              <a:rPr lang="zh-CN" altLang="en-US" sz="3600" dirty="0"/>
              <a:t>型模拟低通滤波器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665225" y="2439989"/>
            <a:ext cx="7461251" cy="561975"/>
            <a:chOff x="368" y="575"/>
            <a:chExt cx="4700" cy="354"/>
          </a:xfrm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368" y="575"/>
              <a:ext cx="989" cy="351"/>
              <a:chOff x="368" y="575"/>
              <a:chExt cx="989" cy="351"/>
            </a:xfrm>
          </p:grpSpPr>
          <p:sp>
            <p:nvSpPr>
              <p:cNvPr id="30" name="Rectangle 5"/>
              <p:cNvSpPr>
                <a:spLocks noChangeArrowheads="1"/>
              </p:cNvSpPr>
              <p:nvPr/>
            </p:nvSpPr>
            <p:spPr bwMode="auto">
              <a:xfrm>
                <a:off x="1225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p</a:t>
                </a:r>
                <a:endParaRPr lang="en-US" altLang="zh-CN"/>
              </a:p>
            </p:txBody>
          </p:sp>
          <p:sp>
            <p:nvSpPr>
              <p:cNvPr id="31" name="Rectangle 6"/>
              <p:cNvSpPr>
                <a:spLocks noChangeArrowheads="1"/>
              </p:cNvSpPr>
              <p:nvPr/>
            </p:nvSpPr>
            <p:spPr bwMode="auto">
              <a:xfrm>
                <a:off x="1139" y="602"/>
                <a:ext cx="1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32" name="Rectangle 7"/>
              <p:cNvSpPr>
                <a:spLocks noChangeArrowheads="1"/>
              </p:cNvSpPr>
              <p:nvPr/>
            </p:nvSpPr>
            <p:spPr bwMode="auto">
              <a:xfrm>
                <a:off x="1080" y="602"/>
                <a:ext cx="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.</a:t>
                </a:r>
                <a:endParaRPr lang="en-US" altLang="zh-CN"/>
              </a:p>
            </p:txBody>
          </p:sp>
          <p:sp>
            <p:nvSpPr>
              <p:cNvPr id="33" name="Rectangle 8"/>
              <p:cNvSpPr>
                <a:spLocks noChangeArrowheads="1"/>
              </p:cNvSpPr>
              <p:nvPr/>
            </p:nvSpPr>
            <p:spPr bwMode="auto">
              <a:xfrm>
                <a:off x="960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34" name="Rectangle 9"/>
              <p:cNvSpPr>
                <a:spLocks noChangeArrowheads="1"/>
              </p:cNvSpPr>
              <p:nvPr/>
            </p:nvSpPr>
            <p:spPr bwMode="auto">
              <a:xfrm>
                <a:off x="76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/>
              </a:p>
            </p:txBody>
          </p:sp>
          <p:sp>
            <p:nvSpPr>
              <p:cNvPr id="35" name="Rectangle 10"/>
              <p:cNvSpPr>
                <a:spLocks noChangeArrowheads="1"/>
              </p:cNvSpPr>
              <p:nvPr/>
            </p:nvSpPr>
            <p:spPr bwMode="auto">
              <a:xfrm>
                <a:off x="368" y="575"/>
                <a:ext cx="19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l-GR" altLang="zh-CN" sz="320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Ω</a:t>
                </a:r>
                <a:endParaRPr lang="en-US" altLang="zh-CN" dirty="0"/>
              </a:p>
            </p:txBody>
          </p:sp>
          <p:sp>
            <p:nvSpPr>
              <p:cNvPr id="36" name="Rectangle 11"/>
              <p:cNvSpPr>
                <a:spLocks noChangeArrowheads="1"/>
              </p:cNvSpPr>
              <p:nvPr/>
            </p:nvSpPr>
            <p:spPr bwMode="auto">
              <a:xfrm>
                <a:off x="591" y="732"/>
                <a:ext cx="8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</a:rPr>
                  <a:t>p</a:t>
                </a:r>
                <a:endParaRPr lang="en-US" altLang="zh-CN" dirty="0"/>
              </a:p>
            </p:txBody>
          </p:sp>
        </p:grpSp>
        <p:sp>
          <p:nvSpPr>
            <p:cNvPr id="7" name="Rectangle 12"/>
            <p:cNvSpPr>
              <a:spLocks noChangeArrowheads="1"/>
            </p:cNvSpPr>
            <p:nvPr/>
          </p:nvSpPr>
          <p:spPr bwMode="auto">
            <a:xfrm>
              <a:off x="1432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8" name="Group 13"/>
            <p:cNvGrpSpPr>
              <a:grpSpLocks/>
            </p:cNvGrpSpPr>
            <p:nvPr/>
          </p:nvGrpSpPr>
          <p:grpSpPr bwMode="auto">
            <a:xfrm>
              <a:off x="1645" y="575"/>
              <a:ext cx="976" cy="354"/>
              <a:chOff x="1645" y="575"/>
              <a:chExt cx="976" cy="354"/>
            </a:xfrm>
          </p:grpSpPr>
          <p:sp>
            <p:nvSpPr>
              <p:cNvPr id="23" name="Rectangle 14"/>
              <p:cNvSpPr>
                <a:spLocks noChangeArrowheads="1"/>
              </p:cNvSpPr>
              <p:nvPr/>
            </p:nvSpPr>
            <p:spPr bwMode="auto">
              <a:xfrm>
                <a:off x="248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p</a:t>
                </a:r>
                <a:endParaRPr lang="en-US" altLang="zh-CN"/>
              </a:p>
            </p:txBody>
          </p:sp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2384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4</a:t>
                </a:r>
                <a:endParaRPr lang="en-US" altLang="zh-CN"/>
              </a:p>
            </p:txBody>
          </p:sp>
          <p:sp>
            <p:nvSpPr>
              <p:cNvPr id="25" name="Rectangle 16"/>
              <p:cNvSpPr>
                <a:spLocks noChangeArrowheads="1"/>
              </p:cNvSpPr>
              <p:nvPr/>
            </p:nvSpPr>
            <p:spPr bwMode="auto">
              <a:xfrm>
                <a:off x="2324" y="602"/>
                <a:ext cx="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.</a:t>
                </a:r>
                <a:endParaRPr lang="en-US" altLang="zh-CN"/>
              </a:p>
            </p:txBody>
          </p:sp>
          <p:sp>
            <p:nvSpPr>
              <p:cNvPr id="26" name="Rectangle 17"/>
              <p:cNvSpPr>
                <a:spLocks noChangeArrowheads="1"/>
              </p:cNvSpPr>
              <p:nvPr/>
            </p:nvSpPr>
            <p:spPr bwMode="auto">
              <a:xfrm>
                <a:off x="2204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27" name="Rectangle 18"/>
              <p:cNvSpPr>
                <a:spLocks noChangeArrowheads="1"/>
              </p:cNvSpPr>
              <p:nvPr/>
            </p:nvSpPr>
            <p:spPr bwMode="auto">
              <a:xfrm>
                <a:off x="2013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/>
              </a:p>
            </p:txBody>
          </p:sp>
          <p:sp>
            <p:nvSpPr>
              <p:cNvPr id="28" name="Rectangle 19"/>
              <p:cNvSpPr>
                <a:spLocks noChangeArrowheads="1"/>
              </p:cNvSpPr>
              <p:nvPr/>
            </p:nvSpPr>
            <p:spPr bwMode="auto">
              <a:xfrm>
                <a:off x="1645" y="575"/>
                <a:ext cx="19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l-GR" altLang="zh-CN" sz="320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Ω</a:t>
                </a:r>
                <a:endParaRPr lang="en-US" altLang="zh-CN" dirty="0"/>
              </a:p>
            </p:txBody>
          </p:sp>
          <p:sp>
            <p:nvSpPr>
              <p:cNvPr id="29" name="Rectangle 20"/>
              <p:cNvSpPr>
                <a:spLocks noChangeArrowheads="1"/>
              </p:cNvSpPr>
              <p:nvPr/>
            </p:nvSpPr>
            <p:spPr bwMode="auto">
              <a:xfrm>
                <a:off x="1851" y="735"/>
                <a:ext cx="7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s</a:t>
                </a:r>
                <a:endParaRPr lang="en-US" altLang="zh-CN"/>
              </a:p>
            </p:txBody>
          </p:sp>
        </p:grpSp>
        <p:sp>
          <p:nvSpPr>
            <p:cNvPr id="9" name="Rectangle 21"/>
            <p:cNvSpPr>
              <a:spLocks noChangeArrowheads="1"/>
            </p:cNvSpPr>
            <p:nvPr/>
          </p:nvSpPr>
          <p:spPr bwMode="auto">
            <a:xfrm>
              <a:off x="2694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10" name="Group 22"/>
            <p:cNvGrpSpPr>
              <a:grpSpLocks/>
            </p:cNvGrpSpPr>
            <p:nvPr/>
          </p:nvGrpSpPr>
          <p:grpSpPr bwMode="auto">
            <a:xfrm>
              <a:off x="2929" y="575"/>
              <a:ext cx="910" cy="351"/>
              <a:chOff x="2929" y="575"/>
              <a:chExt cx="910" cy="351"/>
            </a:xfrm>
          </p:grpSpPr>
          <p:sp>
            <p:nvSpPr>
              <p:cNvPr id="18" name="Rectangle 23"/>
              <p:cNvSpPr>
                <a:spLocks noChangeArrowheads="1"/>
              </p:cNvSpPr>
              <p:nvPr/>
            </p:nvSpPr>
            <p:spPr bwMode="auto">
              <a:xfrm>
                <a:off x="3544" y="602"/>
                <a:ext cx="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dB</a:t>
                </a:r>
                <a:endParaRPr lang="en-US" altLang="zh-CN"/>
              </a:p>
            </p:txBody>
          </p:sp>
          <p:sp>
            <p:nvSpPr>
              <p:cNvPr id="19" name="Rectangle 24"/>
              <p:cNvSpPr>
                <a:spLocks noChangeArrowheads="1"/>
              </p:cNvSpPr>
              <p:nvPr/>
            </p:nvSpPr>
            <p:spPr bwMode="auto">
              <a:xfrm>
                <a:off x="2929" y="602"/>
                <a:ext cx="17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i="1">
                    <a:solidFill>
                      <a:srgbClr val="000000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20" name="Rectangle 25"/>
              <p:cNvSpPr>
                <a:spLocks noChangeArrowheads="1"/>
              </p:cNvSpPr>
              <p:nvPr/>
            </p:nvSpPr>
            <p:spPr bwMode="auto">
              <a:xfrm>
                <a:off x="3088" y="732"/>
                <a:ext cx="8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p</a:t>
                </a:r>
                <a:endParaRPr lang="en-US" altLang="zh-CN"/>
              </a:p>
            </p:txBody>
          </p:sp>
          <p:sp>
            <p:nvSpPr>
              <p:cNvPr id="21" name="Rectangle 26"/>
              <p:cNvSpPr>
                <a:spLocks noChangeArrowheads="1"/>
              </p:cNvSpPr>
              <p:nvPr/>
            </p:nvSpPr>
            <p:spPr bwMode="auto">
              <a:xfrm>
                <a:off x="3438" y="602"/>
                <a:ext cx="1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22" name="Rectangle 27"/>
              <p:cNvSpPr>
                <a:spLocks noChangeArrowheads="1"/>
              </p:cNvSpPr>
              <p:nvPr/>
            </p:nvSpPr>
            <p:spPr bwMode="auto">
              <a:xfrm>
                <a:off x="3268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</a:t>
                </a:r>
                <a:endParaRPr lang="en-US" altLang="zh-CN"/>
              </a:p>
            </p:txBody>
          </p:sp>
        </p:grpSp>
        <p:sp>
          <p:nvSpPr>
            <p:cNvPr id="11" name="Rectangle 28"/>
            <p:cNvSpPr>
              <a:spLocks noChangeArrowheads="1"/>
            </p:cNvSpPr>
            <p:nvPr/>
          </p:nvSpPr>
          <p:spPr bwMode="auto">
            <a:xfrm>
              <a:off x="3820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12" name="Group 29"/>
            <p:cNvGrpSpPr>
              <a:grpSpLocks/>
            </p:cNvGrpSpPr>
            <p:nvPr/>
          </p:nvGrpSpPr>
          <p:grpSpPr bwMode="auto">
            <a:xfrm>
              <a:off x="4055" y="575"/>
              <a:ext cx="1013" cy="354"/>
              <a:chOff x="4055" y="575"/>
              <a:chExt cx="1013" cy="354"/>
            </a:xfrm>
          </p:grpSpPr>
          <p:sp>
            <p:nvSpPr>
              <p:cNvPr id="13" name="Rectangle 30"/>
              <p:cNvSpPr>
                <a:spLocks noChangeArrowheads="1"/>
              </p:cNvSpPr>
              <p:nvPr/>
            </p:nvSpPr>
            <p:spPr bwMode="auto">
              <a:xfrm>
                <a:off x="4773" y="602"/>
                <a:ext cx="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dB</a:t>
                </a:r>
                <a:endParaRPr lang="en-US" altLang="zh-CN"/>
              </a:p>
            </p:txBody>
          </p:sp>
          <p:sp>
            <p:nvSpPr>
              <p:cNvPr id="14" name="Rectangle 31"/>
              <p:cNvSpPr>
                <a:spLocks noChangeArrowheads="1"/>
              </p:cNvSpPr>
              <p:nvPr/>
            </p:nvSpPr>
            <p:spPr bwMode="auto">
              <a:xfrm>
                <a:off x="4055" y="602"/>
                <a:ext cx="17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i="1">
                    <a:solidFill>
                      <a:srgbClr val="000000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15" name="Rectangle 32"/>
              <p:cNvSpPr>
                <a:spLocks noChangeArrowheads="1"/>
              </p:cNvSpPr>
              <p:nvPr/>
            </p:nvSpPr>
            <p:spPr bwMode="auto">
              <a:xfrm>
                <a:off x="4196" y="735"/>
                <a:ext cx="7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s</a:t>
                </a:r>
                <a:endParaRPr lang="en-US" altLang="zh-CN"/>
              </a:p>
            </p:txBody>
          </p:sp>
          <p:sp>
            <p:nvSpPr>
              <p:cNvPr id="16" name="Rectangle 33"/>
              <p:cNvSpPr>
                <a:spLocks noChangeArrowheads="1"/>
              </p:cNvSpPr>
              <p:nvPr/>
            </p:nvSpPr>
            <p:spPr bwMode="auto">
              <a:xfrm>
                <a:off x="4528" y="602"/>
                <a:ext cx="25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10</a:t>
                </a:r>
                <a:endParaRPr lang="en-US" altLang="zh-CN"/>
              </a:p>
            </p:txBody>
          </p:sp>
          <p:sp>
            <p:nvSpPr>
              <p:cNvPr id="17" name="Rectangle 34"/>
              <p:cNvSpPr>
                <a:spLocks noChangeArrowheads="1"/>
              </p:cNvSpPr>
              <p:nvPr/>
            </p:nvSpPr>
            <p:spPr bwMode="auto">
              <a:xfrm>
                <a:off x="435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</a:t>
                </a:r>
                <a:endParaRPr lang="en-US" altLang="zh-C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0377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1752600" y="266700"/>
            <a:ext cx="7353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：设计一个满足下列指标</a:t>
            </a:r>
            <a:r>
              <a:rPr lang="en-US" altLang="zh-CN"/>
              <a:t>BW</a:t>
            </a:r>
            <a:r>
              <a:rPr lang="zh-CN" altLang="en-US"/>
              <a:t>型模拟低通滤波器</a:t>
            </a:r>
          </a:p>
        </p:txBody>
      </p:sp>
      <p:grpSp>
        <p:nvGrpSpPr>
          <p:cNvPr id="90115" name="Group 3"/>
          <p:cNvGrpSpPr>
            <a:grpSpLocks/>
          </p:cNvGrpSpPr>
          <p:nvPr/>
        </p:nvGrpSpPr>
        <p:grpSpPr bwMode="auto">
          <a:xfrm>
            <a:off x="2108201" y="712789"/>
            <a:ext cx="7461251" cy="561975"/>
            <a:chOff x="368" y="575"/>
            <a:chExt cx="4700" cy="354"/>
          </a:xfrm>
        </p:grpSpPr>
        <p:grpSp>
          <p:nvGrpSpPr>
            <p:cNvPr id="90116" name="Group 4"/>
            <p:cNvGrpSpPr>
              <a:grpSpLocks/>
            </p:cNvGrpSpPr>
            <p:nvPr/>
          </p:nvGrpSpPr>
          <p:grpSpPr bwMode="auto">
            <a:xfrm>
              <a:off x="368" y="575"/>
              <a:ext cx="989" cy="351"/>
              <a:chOff x="368" y="575"/>
              <a:chExt cx="989" cy="351"/>
            </a:xfrm>
          </p:grpSpPr>
          <p:sp>
            <p:nvSpPr>
              <p:cNvPr id="90117" name="Rectangle 5"/>
              <p:cNvSpPr>
                <a:spLocks noChangeArrowheads="1"/>
              </p:cNvSpPr>
              <p:nvPr/>
            </p:nvSpPr>
            <p:spPr bwMode="auto">
              <a:xfrm>
                <a:off x="1225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p</a:t>
                </a:r>
                <a:endParaRPr lang="en-US" altLang="zh-CN"/>
              </a:p>
            </p:txBody>
          </p:sp>
          <p:sp>
            <p:nvSpPr>
              <p:cNvPr id="90118" name="Rectangle 6"/>
              <p:cNvSpPr>
                <a:spLocks noChangeArrowheads="1"/>
              </p:cNvSpPr>
              <p:nvPr/>
            </p:nvSpPr>
            <p:spPr bwMode="auto">
              <a:xfrm>
                <a:off x="1139" y="602"/>
                <a:ext cx="1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90119" name="Rectangle 7"/>
              <p:cNvSpPr>
                <a:spLocks noChangeArrowheads="1"/>
              </p:cNvSpPr>
              <p:nvPr/>
            </p:nvSpPr>
            <p:spPr bwMode="auto">
              <a:xfrm>
                <a:off x="1080" y="602"/>
                <a:ext cx="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.</a:t>
                </a:r>
                <a:endParaRPr lang="en-US" altLang="zh-CN"/>
              </a:p>
            </p:txBody>
          </p:sp>
          <p:sp>
            <p:nvSpPr>
              <p:cNvPr id="90120" name="Rectangle 8"/>
              <p:cNvSpPr>
                <a:spLocks noChangeArrowheads="1"/>
              </p:cNvSpPr>
              <p:nvPr/>
            </p:nvSpPr>
            <p:spPr bwMode="auto">
              <a:xfrm>
                <a:off x="960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90121" name="Rectangle 9"/>
              <p:cNvSpPr>
                <a:spLocks noChangeArrowheads="1"/>
              </p:cNvSpPr>
              <p:nvPr/>
            </p:nvSpPr>
            <p:spPr bwMode="auto">
              <a:xfrm>
                <a:off x="76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/>
              </a:p>
            </p:txBody>
          </p:sp>
          <p:sp>
            <p:nvSpPr>
              <p:cNvPr id="90122" name="Rectangle 10"/>
              <p:cNvSpPr>
                <a:spLocks noChangeArrowheads="1"/>
              </p:cNvSpPr>
              <p:nvPr/>
            </p:nvSpPr>
            <p:spPr bwMode="auto">
              <a:xfrm>
                <a:off x="368" y="575"/>
                <a:ext cx="19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l-GR" altLang="zh-CN" sz="320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Ω</a:t>
                </a:r>
                <a:endParaRPr lang="en-US" altLang="zh-CN" dirty="0"/>
              </a:p>
            </p:txBody>
          </p:sp>
          <p:sp>
            <p:nvSpPr>
              <p:cNvPr id="90123" name="Rectangle 11"/>
              <p:cNvSpPr>
                <a:spLocks noChangeArrowheads="1"/>
              </p:cNvSpPr>
              <p:nvPr/>
            </p:nvSpPr>
            <p:spPr bwMode="auto">
              <a:xfrm>
                <a:off x="591" y="732"/>
                <a:ext cx="8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p</a:t>
                </a:r>
                <a:endParaRPr lang="en-US" altLang="zh-CN"/>
              </a:p>
            </p:txBody>
          </p:sp>
        </p:grpSp>
        <p:sp>
          <p:nvSpPr>
            <p:cNvPr id="90124" name="Rectangle 12"/>
            <p:cNvSpPr>
              <a:spLocks noChangeArrowheads="1"/>
            </p:cNvSpPr>
            <p:nvPr/>
          </p:nvSpPr>
          <p:spPr bwMode="auto">
            <a:xfrm>
              <a:off x="1432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90125" name="Group 13"/>
            <p:cNvGrpSpPr>
              <a:grpSpLocks/>
            </p:cNvGrpSpPr>
            <p:nvPr/>
          </p:nvGrpSpPr>
          <p:grpSpPr bwMode="auto">
            <a:xfrm>
              <a:off x="1645" y="575"/>
              <a:ext cx="976" cy="354"/>
              <a:chOff x="1645" y="575"/>
              <a:chExt cx="976" cy="354"/>
            </a:xfrm>
          </p:grpSpPr>
          <p:sp>
            <p:nvSpPr>
              <p:cNvPr id="90126" name="Rectangle 14"/>
              <p:cNvSpPr>
                <a:spLocks noChangeArrowheads="1"/>
              </p:cNvSpPr>
              <p:nvPr/>
            </p:nvSpPr>
            <p:spPr bwMode="auto">
              <a:xfrm>
                <a:off x="248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p</a:t>
                </a:r>
                <a:endParaRPr lang="en-US" altLang="zh-CN"/>
              </a:p>
            </p:txBody>
          </p:sp>
          <p:sp>
            <p:nvSpPr>
              <p:cNvPr id="90127" name="Rectangle 15"/>
              <p:cNvSpPr>
                <a:spLocks noChangeArrowheads="1"/>
              </p:cNvSpPr>
              <p:nvPr/>
            </p:nvSpPr>
            <p:spPr bwMode="auto">
              <a:xfrm>
                <a:off x="2384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4</a:t>
                </a:r>
                <a:endParaRPr lang="en-US" altLang="zh-CN"/>
              </a:p>
            </p:txBody>
          </p:sp>
          <p:sp>
            <p:nvSpPr>
              <p:cNvPr id="90128" name="Rectangle 16"/>
              <p:cNvSpPr>
                <a:spLocks noChangeArrowheads="1"/>
              </p:cNvSpPr>
              <p:nvPr/>
            </p:nvSpPr>
            <p:spPr bwMode="auto">
              <a:xfrm>
                <a:off x="2324" y="602"/>
                <a:ext cx="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.</a:t>
                </a:r>
                <a:endParaRPr lang="en-US" altLang="zh-CN"/>
              </a:p>
            </p:txBody>
          </p:sp>
          <p:sp>
            <p:nvSpPr>
              <p:cNvPr id="90129" name="Rectangle 17"/>
              <p:cNvSpPr>
                <a:spLocks noChangeArrowheads="1"/>
              </p:cNvSpPr>
              <p:nvPr/>
            </p:nvSpPr>
            <p:spPr bwMode="auto">
              <a:xfrm>
                <a:off x="2204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90130" name="Rectangle 18"/>
              <p:cNvSpPr>
                <a:spLocks noChangeArrowheads="1"/>
              </p:cNvSpPr>
              <p:nvPr/>
            </p:nvSpPr>
            <p:spPr bwMode="auto">
              <a:xfrm>
                <a:off x="2013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/>
              </a:p>
            </p:txBody>
          </p:sp>
          <p:sp>
            <p:nvSpPr>
              <p:cNvPr id="90131" name="Rectangle 19"/>
              <p:cNvSpPr>
                <a:spLocks noChangeArrowheads="1"/>
              </p:cNvSpPr>
              <p:nvPr/>
            </p:nvSpPr>
            <p:spPr bwMode="auto">
              <a:xfrm>
                <a:off x="1645" y="575"/>
                <a:ext cx="19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l-GR" altLang="zh-CN" sz="320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Ω</a:t>
                </a:r>
                <a:endParaRPr lang="en-US" altLang="zh-CN" dirty="0"/>
              </a:p>
            </p:txBody>
          </p:sp>
          <p:sp>
            <p:nvSpPr>
              <p:cNvPr id="90132" name="Rectangle 20"/>
              <p:cNvSpPr>
                <a:spLocks noChangeArrowheads="1"/>
              </p:cNvSpPr>
              <p:nvPr/>
            </p:nvSpPr>
            <p:spPr bwMode="auto">
              <a:xfrm>
                <a:off x="1851" y="735"/>
                <a:ext cx="7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s</a:t>
                </a:r>
                <a:endParaRPr lang="en-US" altLang="zh-CN"/>
              </a:p>
            </p:txBody>
          </p:sp>
        </p:grpSp>
        <p:sp>
          <p:nvSpPr>
            <p:cNvPr id="90133" name="Rectangle 21"/>
            <p:cNvSpPr>
              <a:spLocks noChangeArrowheads="1"/>
            </p:cNvSpPr>
            <p:nvPr/>
          </p:nvSpPr>
          <p:spPr bwMode="auto">
            <a:xfrm>
              <a:off x="2694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90134" name="Group 22"/>
            <p:cNvGrpSpPr>
              <a:grpSpLocks/>
            </p:cNvGrpSpPr>
            <p:nvPr/>
          </p:nvGrpSpPr>
          <p:grpSpPr bwMode="auto">
            <a:xfrm>
              <a:off x="2929" y="575"/>
              <a:ext cx="910" cy="351"/>
              <a:chOff x="2929" y="575"/>
              <a:chExt cx="910" cy="351"/>
            </a:xfrm>
          </p:grpSpPr>
          <p:sp>
            <p:nvSpPr>
              <p:cNvPr id="90135" name="Rectangle 23"/>
              <p:cNvSpPr>
                <a:spLocks noChangeArrowheads="1"/>
              </p:cNvSpPr>
              <p:nvPr/>
            </p:nvSpPr>
            <p:spPr bwMode="auto">
              <a:xfrm>
                <a:off x="3544" y="602"/>
                <a:ext cx="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dB</a:t>
                </a:r>
                <a:endParaRPr lang="en-US" altLang="zh-CN"/>
              </a:p>
            </p:txBody>
          </p:sp>
          <p:sp>
            <p:nvSpPr>
              <p:cNvPr id="90136" name="Rectangle 24"/>
              <p:cNvSpPr>
                <a:spLocks noChangeArrowheads="1"/>
              </p:cNvSpPr>
              <p:nvPr/>
            </p:nvSpPr>
            <p:spPr bwMode="auto">
              <a:xfrm>
                <a:off x="2929" y="602"/>
                <a:ext cx="17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i="1">
                    <a:solidFill>
                      <a:srgbClr val="000000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90137" name="Rectangle 25"/>
              <p:cNvSpPr>
                <a:spLocks noChangeArrowheads="1"/>
              </p:cNvSpPr>
              <p:nvPr/>
            </p:nvSpPr>
            <p:spPr bwMode="auto">
              <a:xfrm>
                <a:off x="3088" y="732"/>
                <a:ext cx="8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p</a:t>
                </a:r>
                <a:endParaRPr lang="en-US" altLang="zh-CN"/>
              </a:p>
            </p:txBody>
          </p:sp>
          <p:sp>
            <p:nvSpPr>
              <p:cNvPr id="90138" name="Rectangle 26"/>
              <p:cNvSpPr>
                <a:spLocks noChangeArrowheads="1"/>
              </p:cNvSpPr>
              <p:nvPr/>
            </p:nvSpPr>
            <p:spPr bwMode="auto">
              <a:xfrm>
                <a:off x="3438" y="602"/>
                <a:ext cx="1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90139" name="Rectangle 27"/>
              <p:cNvSpPr>
                <a:spLocks noChangeArrowheads="1"/>
              </p:cNvSpPr>
              <p:nvPr/>
            </p:nvSpPr>
            <p:spPr bwMode="auto">
              <a:xfrm>
                <a:off x="3268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</a:t>
                </a:r>
                <a:endParaRPr lang="en-US" altLang="zh-CN"/>
              </a:p>
            </p:txBody>
          </p:sp>
        </p:grpSp>
        <p:sp>
          <p:nvSpPr>
            <p:cNvPr id="90140" name="Rectangle 28"/>
            <p:cNvSpPr>
              <a:spLocks noChangeArrowheads="1"/>
            </p:cNvSpPr>
            <p:nvPr/>
          </p:nvSpPr>
          <p:spPr bwMode="auto">
            <a:xfrm>
              <a:off x="3820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90141" name="Group 29"/>
            <p:cNvGrpSpPr>
              <a:grpSpLocks/>
            </p:cNvGrpSpPr>
            <p:nvPr/>
          </p:nvGrpSpPr>
          <p:grpSpPr bwMode="auto">
            <a:xfrm>
              <a:off x="4055" y="575"/>
              <a:ext cx="1013" cy="354"/>
              <a:chOff x="4055" y="575"/>
              <a:chExt cx="1013" cy="354"/>
            </a:xfrm>
          </p:grpSpPr>
          <p:sp>
            <p:nvSpPr>
              <p:cNvPr id="90142" name="Rectangle 30"/>
              <p:cNvSpPr>
                <a:spLocks noChangeArrowheads="1"/>
              </p:cNvSpPr>
              <p:nvPr/>
            </p:nvSpPr>
            <p:spPr bwMode="auto">
              <a:xfrm>
                <a:off x="4773" y="602"/>
                <a:ext cx="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dB</a:t>
                </a:r>
                <a:endParaRPr lang="en-US" altLang="zh-CN"/>
              </a:p>
            </p:txBody>
          </p:sp>
          <p:sp>
            <p:nvSpPr>
              <p:cNvPr id="90143" name="Rectangle 31"/>
              <p:cNvSpPr>
                <a:spLocks noChangeArrowheads="1"/>
              </p:cNvSpPr>
              <p:nvPr/>
            </p:nvSpPr>
            <p:spPr bwMode="auto">
              <a:xfrm>
                <a:off x="4055" y="602"/>
                <a:ext cx="17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i="1">
                    <a:solidFill>
                      <a:srgbClr val="000000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90144" name="Rectangle 32"/>
              <p:cNvSpPr>
                <a:spLocks noChangeArrowheads="1"/>
              </p:cNvSpPr>
              <p:nvPr/>
            </p:nvSpPr>
            <p:spPr bwMode="auto">
              <a:xfrm>
                <a:off x="4196" y="735"/>
                <a:ext cx="7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s</a:t>
                </a:r>
                <a:endParaRPr lang="en-US" altLang="zh-CN"/>
              </a:p>
            </p:txBody>
          </p:sp>
          <p:sp>
            <p:nvSpPr>
              <p:cNvPr id="90145" name="Rectangle 33"/>
              <p:cNvSpPr>
                <a:spLocks noChangeArrowheads="1"/>
              </p:cNvSpPr>
              <p:nvPr/>
            </p:nvSpPr>
            <p:spPr bwMode="auto">
              <a:xfrm>
                <a:off x="4528" y="602"/>
                <a:ext cx="25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10</a:t>
                </a:r>
                <a:endParaRPr lang="en-US" altLang="zh-CN"/>
              </a:p>
            </p:txBody>
          </p:sp>
          <p:sp>
            <p:nvSpPr>
              <p:cNvPr id="90146" name="Rectangle 34"/>
              <p:cNvSpPr>
                <a:spLocks noChangeArrowheads="1"/>
              </p:cNvSpPr>
              <p:nvPr/>
            </p:nvSpPr>
            <p:spPr bwMode="auto">
              <a:xfrm>
                <a:off x="435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</a:t>
                </a:r>
                <a:endParaRPr lang="en-US" altLang="zh-CN"/>
              </a:p>
            </p:txBody>
          </p:sp>
        </p:grpSp>
      </p:grpSp>
      <p:graphicFrame>
        <p:nvGraphicFramePr>
          <p:cNvPr id="9015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46987"/>
              </p:ext>
            </p:extLst>
          </p:nvPr>
        </p:nvGraphicFramePr>
        <p:xfrm>
          <a:off x="3435350" y="2597150"/>
          <a:ext cx="4322763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660240" progId="Equation.DSMT4">
                  <p:embed/>
                </p:oleObj>
              </mc:Choice>
              <mc:Fallback>
                <p:oleObj name="Equation" r:id="rId2" imgW="1726920" imgH="660240" progId="Equation.DSMT4">
                  <p:embed/>
                  <p:pic>
                    <p:nvPicPr>
                      <p:cNvPr id="90152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2597150"/>
                        <a:ext cx="4322763" cy="165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53" name="Text Box 41"/>
          <p:cNvSpPr txBox="1">
            <a:spLocks noChangeArrowheads="1"/>
          </p:cNvSpPr>
          <p:nvPr/>
        </p:nvSpPr>
        <p:spPr bwMode="auto">
          <a:xfrm>
            <a:off x="2457450" y="4381501"/>
            <a:ext cx="57531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取</a:t>
            </a:r>
            <a:r>
              <a:rPr lang="en-US" altLang="zh-CN" sz="2800" i="1"/>
              <a:t>N</a:t>
            </a:r>
            <a:r>
              <a:rPr lang="en-US" altLang="zh-CN" sz="2800"/>
              <a:t>=2</a:t>
            </a:r>
            <a:r>
              <a:rPr lang="zh-CN" altLang="en-US" sz="2800"/>
              <a:t>，将</a:t>
            </a:r>
            <a:r>
              <a:rPr lang="en-US" altLang="zh-CN" sz="2800" i="1"/>
              <a:t>N</a:t>
            </a:r>
            <a:r>
              <a:rPr lang="en-US" altLang="zh-CN" sz="2800"/>
              <a:t>=2</a:t>
            </a:r>
            <a:r>
              <a:rPr lang="zh-CN" altLang="en-US" sz="2800"/>
              <a:t>带入满足通带的方程</a:t>
            </a:r>
          </a:p>
        </p:txBody>
      </p:sp>
      <p:graphicFrame>
        <p:nvGraphicFramePr>
          <p:cNvPr id="9015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323479"/>
              </p:ext>
            </p:extLst>
          </p:nvPr>
        </p:nvGraphicFramePr>
        <p:xfrm>
          <a:off x="3997325" y="5064125"/>
          <a:ext cx="41259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444240" progId="Equation.DSMT4">
                  <p:embed/>
                </p:oleObj>
              </mc:Choice>
              <mc:Fallback>
                <p:oleObj name="Equation" r:id="rId4" imgW="1650960" imgH="444240" progId="Equation.DSMT4">
                  <p:embed/>
                  <p:pic>
                    <p:nvPicPr>
                      <p:cNvPr id="9015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5064125"/>
                        <a:ext cx="4125913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55" name="Text Box 43"/>
          <p:cNvSpPr txBox="1">
            <a:spLocks noChangeArrowheads="1"/>
          </p:cNvSpPr>
          <p:nvPr/>
        </p:nvSpPr>
        <p:spPr bwMode="auto">
          <a:xfrm>
            <a:off x="1905000" y="1581151"/>
            <a:ext cx="531495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解：</a:t>
            </a:r>
          </a:p>
          <a:p>
            <a:pPr>
              <a:spcBef>
                <a:spcPct val="50000"/>
              </a:spcBef>
            </a:pPr>
            <a:r>
              <a:rPr lang="zh-CN" altLang="en-US" sz="2800" dirty="0"/>
              <a:t>    </a:t>
            </a:r>
            <a:r>
              <a:rPr lang="en-US" altLang="zh-CN" sz="2800" dirty="0"/>
              <a:t>(1)</a:t>
            </a:r>
            <a:r>
              <a:rPr lang="zh-CN" altLang="en-US" sz="2800" dirty="0"/>
              <a:t>计算</a:t>
            </a:r>
            <a:r>
              <a:rPr lang="en-US" altLang="zh-CN" sz="2800" i="1" dirty="0"/>
              <a:t>N</a:t>
            </a:r>
            <a:r>
              <a:rPr lang="zh-CN" altLang="en-US" sz="2800" dirty="0"/>
              <a:t>和</a:t>
            </a:r>
            <a:r>
              <a:rPr lang="el-GR" altLang="zh-CN" sz="2800" dirty="0">
                <a:solidFill>
                  <a:srgbClr val="333333"/>
                </a:solidFill>
                <a:latin typeface="Arial" panose="020B0604020202020204" pitchFamily="34" charset="0"/>
              </a:rPr>
              <a:t>Ω</a:t>
            </a:r>
            <a:r>
              <a:rPr lang="zh-CN" altLang="zh-CN" sz="2800" i="1" baseline="-25000" dirty="0">
                <a:sym typeface="Symbol" panose="05050102010706020507" pitchFamily="18" charset="2"/>
              </a:rPr>
              <a:t>c</a:t>
            </a:r>
            <a:endParaRPr lang="en-US" altLang="zh-CN" sz="2800" dirty="0"/>
          </a:p>
        </p:txBody>
      </p:sp>
      <p:sp>
        <p:nvSpPr>
          <p:cNvPr id="90156" name="Rectangle 44"/>
          <p:cNvSpPr>
            <a:spLocks noChangeArrowheads="1"/>
          </p:cNvSpPr>
          <p:nvPr/>
        </p:nvSpPr>
        <p:spPr bwMode="auto">
          <a:xfrm>
            <a:off x="1676400" y="14287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8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5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1752600" y="266700"/>
            <a:ext cx="6972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：设计一个满足下列指标</a:t>
            </a:r>
            <a:r>
              <a:rPr lang="en-US" altLang="zh-CN" dirty="0"/>
              <a:t>BW</a:t>
            </a:r>
            <a:r>
              <a:rPr lang="zh-CN" altLang="en-US" dirty="0"/>
              <a:t>型模拟低通滤波器</a:t>
            </a:r>
          </a:p>
        </p:txBody>
      </p:sp>
      <p:grpSp>
        <p:nvGrpSpPr>
          <p:cNvPr id="120835" name="Group 3"/>
          <p:cNvGrpSpPr>
            <a:grpSpLocks/>
          </p:cNvGrpSpPr>
          <p:nvPr/>
        </p:nvGrpSpPr>
        <p:grpSpPr bwMode="auto">
          <a:xfrm>
            <a:off x="2108201" y="712789"/>
            <a:ext cx="7461251" cy="561975"/>
            <a:chOff x="368" y="575"/>
            <a:chExt cx="4700" cy="354"/>
          </a:xfrm>
        </p:grpSpPr>
        <p:grpSp>
          <p:nvGrpSpPr>
            <p:cNvPr id="120836" name="Group 4"/>
            <p:cNvGrpSpPr>
              <a:grpSpLocks/>
            </p:cNvGrpSpPr>
            <p:nvPr/>
          </p:nvGrpSpPr>
          <p:grpSpPr bwMode="auto">
            <a:xfrm>
              <a:off x="368" y="575"/>
              <a:ext cx="989" cy="351"/>
              <a:chOff x="368" y="575"/>
              <a:chExt cx="989" cy="351"/>
            </a:xfrm>
          </p:grpSpPr>
          <p:sp>
            <p:nvSpPr>
              <p:cNvPr id="120837" name="Rectangle 5"/>
              <p:cNvSpPr>
                <a:spLocks noChangeArrowheads="1"/>
              </p:cNvSpPr>
              <p:nvPr/>
            </p:nvSpPr>
            <p:spPr bwMode="auto">
              <a:xfrm>
                <a:off x="1225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p</a:t>
                </a:r>
                <a:endParaRPr lang="en-US" altLang="zh-CN"/>
              </a:p>
            </p:txBody>
          </p:sp>
          <p:sp>
            <p:nvSpPr>
              <p:cNvPr id="120838" name="Rectangle 6"/>
              <p:cNvSpPr>
                <a:spLocks noChangeArrowheads="1"/>
              </p:cNvSpPr>
              <p:nvPr/>
            </p:nvSpPr>
            <p:spPr bwMode="auto">
              <a:xfrm>
                <a:off x="1139" y="602"/>
                <a:ext cx="1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120839" name="Rectangle 7"/>
              <p:cNvSpPr>
                <a:spLocks noChangeArrowheads="1"/>
              </p:cNvSpPr>
              <p:nvPr/>
            </p:nvSpPr>
            <p:spPr bwMode="auto">
              <a:xfrm>
                <a:off x="1080" y="602"/>
                <a:ext cx="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.</a:t>
                </a:r>
                <a:endParaRPr lang="en-US" altLang="zh-CN"/>
              </a:p>
            </p:txBody>
          </p:sp>
          <p:sp>
            <p:nvSpPr>
              <p:cNvPr id="120840" name="Rectangle 8"/>
              <p:cNvSpPr>
                <a:spLocks noChangeArrowheads="1"/>
              </p:cNvSpPr>
              <p:nvPr/>
            </p:nvSpPr>
            <p:spPr bwMode="auto">
              <a:xfrm>
                <a:off x="960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120841" name="Rectangle 9"/>
              <p:cNvSpPr>
                <a:spLocks noChangeArrowheads="1"/>
              </p:cNvSpPr>
              <p:nvPr/>
            </p:nvSpPr>
            <p:spPr bwMode="auto">
              <a:xfrm>
                <a:off x="76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/>
              </a:p>
            </p:txBody>
          </p:sp>
          <p:sp>
            <p:nvSpPr>
              <p:cNvPr id="120842" name="Rectangle 10"/>
              <p:cNvSpPr>
                <a:spLocks noChangeArrowheads="1"/>
              </p:cNvSpPr>
              <p:nvPr/>
            </p:nvSpPr>
            <p:spPr bwMode="auto">
              <a:xfrm>
                <a:off x="368" y="575"/>
                <a:ext cx="19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l-GR" altLang="zh-CN" sz="320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Ω</a:t>
                </a:r>
                <a:endParaRPr lang="en-US" altLang="zh-CN" dirty="0"/>
              </a:p>
            </p:txBody>
          </p:sp>
          <p:sp>
            <p:nvSpPr>
              <p:cNvPr id="120843" name="Rectangle 11"/>
              <p:cNvSpPr>
                <a:spLocks noChangeArrowheads="1"/>
              </p:cNvSpPr>
              <p:nvPr/>
            </p:nvSpPr>
            <p:spPr bwMode="auto">
              <a:xfrm>
                <a:off x="591" y="732"/>
                <a:ext cx="8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p</a:t>
                </a:r>
                <a:endParaRPr lang="en-US" altLang="zh-CN"/>
              </a:p>
            </p:txBody>
          </p:sp>
        </p:grpSp>
        <p:sp>
          <p:nvSpPr>
            <p:cNvPr id="120844" name="Rectangle 12"/>
            <p:cNvSpPr>
              <a:spLocks noChangeArrowheads="1"/>
            </p:cNvSpPr>
            <p:nvPr/>
          </p:nvSpPr>
          <p:spPr bwMode="auto">
            <a:xfrm>
              <a:off x="1432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120845" name="Group 13"/>
            <p:cNvGrpSpPr>
              <a:grpSpLocks/>
            </p:cNvGrpSpPr>
            <p:nvPr/>
          </p:nvGrpSpPr>
          <p:grpSpPr bwMode="auto">
            <a:xfrm>
              <a:off x="1645" y="575"/>
              <a:ext cx="976" cy="354"/>
              <a:chOff x="1645" y="575"/>
              <a:chExt cx="976" cy="354"/>
            </a:xfrm>
          </p:grpSpPr>
          <p:sp>
            <p:nvSpPr>
              <p:cNvPr id="120846" name="Rectangle 14"/>
              <p:cNvSpPr>
                <a:spLocks noChangeArrowheads="1"/>
              </p:cNvSpPr>
              <p:nvPr/>
            </p:nvSpPr>
            <p:spPr bwMode="auto">
              <a:xfrm>
                <a:off x="248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p</a:t>
                </a:r>
                <a:endParaRPr lang="en-US" altLang="zh-CN"/>
              </a:p>
            </p:txBody>
          </p:sp>
          <p:sp>
            <p:nvSpPr>
              <p:cNvPr id="120847" name="Rectangle 15"/>
              <p:cNvSpPr>
                <a:spLocks noChangeArrowheads="1"/>
              </p:cNvSpPr>
              <p:nvPr/>
            </p:nvSpPr>
            <p:spPr bwMode="auto">
              <a:xfrm>
                <a:off x="2384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4</a:t>
                </a:r>
                <a:endParaRPr lang="en-US" altLang="zh-CN"/>
              </a:p>
            </p:txBody>
          </p:sp>
          <p:sp>
            <p:nvSpPr>
              <p:cNvPr id="120848" name="Rectangle 16"/>
              <p:cNvSpPr>
                <a:spLocks noChangeArrowheads="1"/>
              </p:cNvSpPr>
              <p:nvPr/>
            </p:nvSpPr>
            <p:spPr bwMode="auto">
              <a:xfrm>
                <a:off x="2324" y="602"/>
                <a:ext cx="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.</a:t>
                </a:r>
                <a:endParaRPr lang="en-US" altLang="zh-CN"/>
              </a:p>
            </p:txBody>
          </p:sp>
          <p:sp>
            <p:nvSpPr>
              <p:cNvPr id="120849" name="Rectangle 17"/>
              <p:cNvSpPr>
                <a:spLocks noChangeArrowheads="1"/>
              </p:cNvSpPr>
              <p:nvPr/>
            </p:nvSpPr>
            <p:spPr bwMode="auto">
              <a:xfrm>
                <a:off x="2204" y="602"/>
                <a:ext cx="14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0</a:t>
                </a:r>
                <a:endParaRPr lang="en-US" altLang="zh-CN"/>
              </a:p>
            </p:txBody>
          </p:sp>
          <p:sp>
            <p:nvSpPr>
              <p:cNvPr id="120850" name="Rectangle 18"/>
              <p:cNvSpPr>
                <a:spLocks noChangeArrowheads="1"/>
              </p:cNvSpPr>
              <p:nvPr/>
            </p:nvSpPr>
            <p:spPr bwMode="auto">
              <a:xfrm>
                <a:off x="2013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</a:rPr>
                  <a:t>=</a:t>
                </a:r>
                <a:endParaRPr lang="en-US" altLang="zh-CN"/>
              </a:p>
            </p:txBody>
          </p:sp>
          <p:sp>
            <p:nvSpPr>
              <p:cNvPr id="120851" name="Rectangle 19"/>
              <p:cNvSpPr>
                <a:spLocks noChangeArrowheads="1"/>
              </p:cNvSpPr>
              <p:nvPr/>
            </p:nvSpPr>
            <p:spPr bwMode="auto">
              <a:xfrm>
                <a:off x="1645" y="575"/>
                <a:ext cx="19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l-GR" altLang="zh-CN" sz="3200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Ω</a:t>
                </a:r>
                <a:endParaRPr lang="en-US" altLang="zh-CN" dirty="0"/>
              </a:p>
            </p:txBody>
          </p:sp>
          <p:sp>
            <p:nvSpPr>
              <p:cNvPr id="120852" name="Rectangle 20"/>
              <p:cNvSpPr>
                <a:spLocks noChangeArrowheads="1"/>
              </p:cNvSpPr>
              <p:nvPr/>
            </p:nvSpPr>
            <p:spPr bwMode="auto">
              <a:xfrm>
                <a:off x="1851" y="735"/>
                <a:ext cx="7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s</a:t>
                </a:r>
                <a:endParaRPr lang="en-US" altLang="zh-CN"/>
              </a:p>
            </p:txBody>
          </p:sp>
        </p:grpSp>
        <p:sp>
          <p:nvSpPr>
            <p:cNvPr id="120853" name="Rectangle 21"/>
            <p:cNvSpPr>
              <a:spLocks noChangeArrowheads="1"/>
            </p:cNvSpPr>
            <p:nvPr/>
          </p:nvSpPr>
          <p:spPr bwMode="auto">
            <a:xfrm>
              <a:off x="2694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120854" name="Group 22"/>
            <p:cNvGrpSpPr>
              <a:grpSpLocks/>
            </p:cNvGrpSpPr>
            <p:nvPr/>
          </p:nvGrpSpPr>
          <p:grpSpPr bwMode="auto">
            <a:xfrm>
              <a:off x="2929" y="575"/>
              <a:ext cx="910" cy="351"/>
              <a:chOff x="2929" y="575"/>
              <a:chExt cx="910" cy="351"/>
            </a:xfrm>
          </p:grpSpPr>
          <p:sp>
            <p:nvSpPr>
              <p:cNvPr id="120855" name="Rectangle 23"/>
              <p:cNvSpPr>
                <a:spLocks noChangeArrowheads="1"/>
              </p:cNvSpPr>
              <p:nvPr/>
            </p:nvSpPr>
            <p:spPr bwMode="auto">
              <a:xfrm>
                <a:off x="3544" y="602"/>
                <a:ext cx="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dB</a:t>
                </a:r>
                <a:endParaRPr lang="en-US" altLang="zh-CN"/>
              </a:p>
            </p:txBody>
          </p:sp>
          <p:sp>
            <p:nvSpPr>
              <p:cNvPr id="120856" name="Rectangle 24"/>
              <p:cNvSpPr>
                <a:spLocks noChangeArrowheads="1"/>
              </p:cNvSpPr>
              <p:nvPr/>
            </p:nvSpPr>
            <p:spPr bwMode="auto">
              <a:xfrm>
                <a:off x="2929" y="602"/>
                <a:ext cx="17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i="1">
                    <a:solidFill>
                      <a:srgbClr val="000000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120857" name="Rectangle 25"/>
              <p:cNvSpPr>
                <a:spLocks noChangeArrowheads="1"/>
              </p:cNvSpPr>
              <p:nvPr/>
            </p:nvSpPr>
            <p:spPr bwMode="auto">
              <a:xfrm>
                <a:off x="3088" y="732"/>
                <a:ext cx="87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p</a:t>
                </a:r>
                <a:endParaRPr lang="en-US" altLang="zh-CN"/>
              </a:p>
            </p:txBody>
          </p:sp>
          <p:sp>
            <p:nvSpPr>
              <p:cNvPr id="120858" name="Rectangle 26"/>
              <p:cNvSpPr>
                <a:spLocks noChangeArrowheads="1"/>
              </p:cNvSpPr>
              <p:nvPr/>
            </p:nvSpPr>
            <p:spPr bwMode="auto">
              <a:xfrm>
                <a:off x="3438" y="602"/>
                <a:ext cx="10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120859" name="Rectangle 27"/>
              <p:cNvSpPr>
                <a:spLocks noChangeArrowheads="1"/>
              </p:cNvSpPr>
              <p:nvPr/>
            </p:nvSpPr>
            <p:spPr bwMode="auto">
              <a:xfrm>
                <a:off x="3268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</a:t>
                </a:r>
                <a:endParaRPr lang="en-US" altLang="zh-CN"/>
              </a:p>
            </p:txBody>
          </p:sp>
        </p:grpSp>
        <p:sp>
          <p:nvSpPr>
            <p:cNvPr id="120860" name="Rectangle 28"/>
            <p:cNvSpPr>
              <a:spLocks noChangeArrowheads="1"/>
            </p:cNvSpPr>
            <p:nvPr/>
          </p:nvSpPr>
          <p:spPr bwMode="auto">
            <a:xfrm>
              <a:off x="3820" y="667"/>
              <a:ext cx="184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30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endParaRPr lang="zh-CN" altLang="en-US"/>
            </a:p>
          </p:txBody>
        </p:sp>
        <p:grpSp>
          <p:nvGrpSpPr>
            <p:cNvPr id="120861" name="Group 29"/>
            <p:cNvGrpSpPr>
              <a:grpSpLocks/>
            </p:cNvGrpSpPr>
            <p:nvPr/>
          </p:nvGrpSpPr>
          <p:grpSpPr bwMode="auto">
            <a:xfrm>
              <a:off x="4055" y="575"/>
              <a:ext cx="1013" cy="354"/>
              <a:chOff x="4055" y="575"/>
              <a:chExt cx="1013" cy="354"/>
            </a:xfrm>
          </p:grpSpPr>
          <p:sp>
            <p:nvSpPr>
              <p:cNvPr id="120862" name="Rectangle 30"/>
              <p:cNvSpPr>
                <a:spLocks noChangeArrowheads="1"/>
              </p:cNvSpPr>
              <p:nvPr/>
            </p:nvSpPr>
            <p:spPr bwMode="auto">
              <a:xfrm>
                <a:off x="4773" y="602"/>
                <a:ext cx="29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dB</a:t>
                </a:r>
                <a:endParaRPr lang="en-US" altLang="zh-CN"/>
              </a:p>
            </p:txBody>
          </p:sp>
          <p:sp>
            <p:nvSpPr>
              <p:cNvPr id="120863" name="Rectangle 31"/>
              <p:cNvSpPr>
                <a:spLocks noChangeArrowheads="1"/>
              </p:cNvSpPr>
              <p:nvPr/>
            </p:nvSpPr>
            <p:spPr bwMode="auto">
              <a:xfrm>
                <a:off x="4055" y="602"/>
                <a:ext cx="17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i="1">
                    <a:solidFill>
                      <a:srgbClr val="000000"/>
                    </a:solidFill>
                  </a:rPr>
                  <a:t>A</a:t>
                </a:r>
                <a:endParaRPr lang="en-US" altLang="zh-CN"/>
              </a:p>
            </p:txBody>
          </p:sp>
          <p:sp>
            <p:nvSpPr>
              <p:cNvPr id="120864" name="Rectangle 32"/>
              <p:cNvSpPr>
                <a:spLocks noChangeArrowheads="1"/>
              </p:cNvSpPr>
              <p:nvPr/>
            </p:nvSpPr>
            <p:spPr bwMode="auto">
              <a:xfrm>
                <a:off x="4196" y="735"/>
                <a:ext cx="79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s</a:t>
                </a:r>
                <a:endParaRPr lang="en-US" altLang="zh-CN"/>
              </a:p>
            </p:txBody>
          </p:sp>
          <p:sp>
            <p:nvSpPr>
              <p:cNvPr id="120865" name="Rectangle 33"/>
              <p:cNvSpPr>
                <a:spLocks noChangeArrowheads="1"/>
              </p:cNvSpPr>
              <p:nvPr/>
            </p:nvSpPr>
            <p:spPr bwMode="auto">
              <a:xfrm>
                <a:off x="4528" y="602"/>
                <a:ext cx="25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</a:rPr>
                  <a:t>10</a:t>
                </a:r>
                <a:endParaRPr lang="en-US" altLang="zh-CN"/>
              </a:p>
            </p:txBody>
          </p:sp>
          <p:sp>
            <p:nvSpPr>
              <p:cNvPr id="120866" name="Rectangle 34"/>
              <p:cNvSpPr>
                <a:spLocks noChangeArrowheads="1"/>
              </p:cNvSpPr>
              <p:nvPr/>
            </p:nvSpPr>
            <p:spPr bwMode="auto">
              <a:xfrm>
                <a:off x="4359" y="575"/>
                <a:ext cx="1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solidFill>
                      <a:srgbClr val="000000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</a:t>
                </a:r>
                <a:endParaRPr lang="en-US" altLang="zh-CN"/>
              </a:p>
            </p:txBody>
          </p:sp>
        </p:grpSp>
      </p:grpSp>
      <p:sp>
        <p:nvSpPr>
          <p:cNvPr id="120870" name="Text Box 38"/>
          <p:cNvSpPr txBox="1">
            <a:spLocks noChangeArrowheads="1"/>
          </p:cNvSpPr>
          <p:nvPr/>
        </p:nvSpPr>
        <p:spPr bwMode="auto">
          <a:xfrm>
            <a:off x="1905000" y="1581151"/>
            <a:ext cx="5314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(2)</a:t>
            </a:r>
            <a:r>
              <a:rPr lang="zh-CN" altLang="en-US" sz="2800">
                <a:latin typeface="宋体" panose="02010600030101010101" pitchFamily="2" charset="-122"/>
              </a:rPr>
              <a:t>确定滤波器的极点</a:t>
            </a:r>
            <a:r>
              <a:rPr lang="zh-CN" altLang="en-US" sz="2800"/>
              <a:t> </a:t>
            </a:r>
          </a:p>
        </p:txBody>
      </p:sp>
      <p:sp>
        <p:nvSpPr>
          <p:cNvPr id="120871" name="Rectangle 39"/>
          <p:cNvSpPr>
            <a:spLocks noChangeArrowheads="1"/>
          </p:cNvSpPr>
          <p:nvPr/>
        </p:nvSpPr>
        <p:spPr bwMode="auto">
          <a:xfrm>
            <a:off x="1676400" y="14287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0874" name="Object 42"/>
          <p:cNvGraphicFramePr>
            <a:graphicFrameLocks noChangeAspect="1"/>
          </p:cNvGraphicFramePr>
          <p:nvPr/>
        </p:nvGraphicFramePr>
        <p:xfrm>
          <a:off x="4351338" y="2027239"/>
          <a:ext cx="43307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330120" progId="Equation.3">
                  <p:embed/>
                </p:oleObj>
              </mc:Choice>
              <mc:Fallback>
                <p:oleObj name="Equation" r:id="rId2" imgW="1803240" imgH="330120" progId="Equation.3">
                  <p:embed/>
                  <p:pic>
                    <p:nvPicPr>
                      <p:cNvPr id="12087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2027239"/>
                        <a:ext cx="43307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5" name="Object 43"/>
          <p:cNvGraphicFramePr>
            <a:graphicFrameLocks noChangeAspect="1"/>
          </p:cNvGraphicFramePr>
          <p:nvPr/>
        </p:nvGraphicFramePr>
        <p:xfrm>
          <a:off x="2076450" y="2984501"/>
          <a:ext cx="395128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406080" progId="Equation.3">
                  <p:embed/>
                </p:oleObj>
              </mc:Choice>
              <mc:Fallback>
                <p:oleObj name="Equation" r:id="rId4" imgW="1790640" imgH="406080" progId="Equation.3">
                  <p:embed/>
                  <p:pic>
                    <p:nvPicPr>
                      <p:cNvPr id="120875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2984501"/>
                        <a:ext cx="3951288" cy="893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33355"/>
              </p:ext>
            </p:extLst>
          </p:nvPr>
        </p:nvGraphicFramePr>
        <p:xfrm>
          <a:off x="6226175" y="2957513"/>
          <a:ext cx="42005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431640" progId="Equation.DSMT4">
                  <p:embed/>
                </p:oleObj>
              </mc:Choice>
              <mc:Fallback>
                <p:oleObj name="Equation" r:id="rId6" imgW="1904760" imgH="431640" progId="Equation.DSMT4">
                  <p:embed/>
                  <p:pic>
                    <p:nvPicPr>
                      <p:cNvPr id="12087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175" y="2957513"/>
                        <a:ext cx="4200525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77" name="Text Box 45"/>
          <p:cNvSpPr txBox="1">
            <a:spLocks noChangeArrowheads="1"/>
          </p:cNvSpPr>
          <p:nvPr/>
        </p:nvSpPr>
        <p:spPr bwMode="auto">
          <a:xfrm>
            <a:off x="1885950" y="4057651"/>
            <a:ext cx="7296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/>
              <a:t>(3) </a:t>
            </a:r>
            <a:r>
              <a:rPr lang="zh-CN" altLang="en-US" sz="2800">
                <a:latin typeface="宋体" panose="02010600030101010101" pitchFamily="2" charset="-122"/>
              </a:rPr>
              <a:t>确定模拟低通滤波器的系统函数</a:t>
            </a:r>
            <a:r>
              <a:rPr lang="en-US" altLang="zh-CN" sz="2800" i="1"/>
              <a:t>H</a:t>
            </a:r>
            <a:r>
              <a:rPr lang="en-US" altLang="zh-CN" sz="2800" baseline="-30000"/>
              <a:t>L</a:t>
            </a:r>
            <a:r>
              <a:rPr lang="en-US" altLang="zh-CN" sz="2800"/>
              <a:t> (</a:t>
            </a:r>
            <a:r>
              <a:rPr lang="en-US" altLang="zh-CN" sz="2800" i="1"/>
              <a:t>s</a:t>
            </a:r>
            <a:r>
              <a:rPr lang="en-US" altLang="zh-CN" sz="2800"/>
              <a:t>) </a:t>
            </a:r>
          </a:p>
        </p:txBody>
      </p:sp>
      <p:graphicFrame>
        <p:nvGraphicFramePr>
          <p:cNvPr id="120878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366120"/>
              </p:ext>
            </p:extLst>
          </p:nvPr>
        </p:nvGraphicFramePr>
        <p:xfrm>
          <a:off x="1679575" y="4743450"/>
          <a:ext cx="272415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444240" progId="Equation.DSMT4">
                  <p:embed/>
                </p:oleObj>
              </mc:Choice>
              <mc:Fallback>
                <p:oleObj name="Equation" r:id="rId8" imgW="1130040" imgH="444240" progId="Equation.DSMT4">
                  <p:embed/>
                  <p:pic>
                    <p:nvPicPr>
                      <p:cNvPr id="120878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4743450"/>
                        <a:ext cx="2724150" cy="106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9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788005"/>
              </p:ext>
            </p:extLst>
          </p:nvPr>
        </p:nvGraphicFramePr>
        <p:xfrm>
          <a:off x="4244975" y="4659313"/>
          <a:ext cx="2889250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600" imgH="469800" progId="Equation.DSMT4">
                  <p:embed/>
                </p:oleObj>
              </mc:Choice>
              <mc:Fallback>
                <p:oleObj name="Equation" r:id="rId10" imgW="1155600" imgH="469800" progId="Equation.DSMT4">
                  <p:embed/>
                  <p:pic>
                    <p:nvPicPr>
                      <p:cNvPr id="120879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975" y="4659313"/>
                        <a:ext cx="2889250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80" name="Object 48"/>
          <p:cNvGraphicFramePr>
            <a:graphicFrameLocks noChangeAspect="1"/>
          </p:cNvGraphicFramePr>
          <p:nvPr/>
        </p:nvGraphicFramePr>
        <p:xfrm>
          <a:off x="7005638" y="4722814"/>
          <a:ext cx="36814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73120" imgH="406080" progId="Equation.3">
                  <p:embed/>
                </p:oleObj>
              </mc:Choice>
              <mc:Fallback>
                <p:oleObj name="公式" r:id="rId12" imgW="1473120" imgH="406080" progId="Equation.3">
                  <p:embed/>
                  <p:pic>
                    <p:nvPicPr>
                      <p:cNvPr id="12088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5638" y="4722814"/>
                        <a:ext cx="36814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82" name="Text Box 50"/>
          <p:cNvSpPr txBox="1">
            <a:spLocks noChangeArrowheads="1"/>
          </p:cNvSpPr>
          <p:nvPr/>
        </p:nvSpPr>
        <p:spPr bwMode="auto">
          <a:xfrm>
            <a:off x="1600200" y="5924551"/>
            <a:ext cx="9144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990033"/>
                </a:solidFill>
              </a:rPr>
              <a:t>验证：</a:t>
            </a:r>
            <a:r>
              <a:rPr lang="en-US" altLang="zh-CN" sz="2800" b="1">
                <a:solidFill>
                  <a:srgbClr val="990033"/>
                </a:solidFill>
              </a:rPr>
              <a:t>Ap=0.9999db,</a:t>
            </a:r>
            <a:r>
              <a:rPr lang="zh-CN" altLang="en-US" sz="2800" b="1">
                <a:solidFill>
                  <a:srgbClr val="990033"/>
                </a:solidFill>
              </a:rPr>
              <a:t>满足指标；</a:t>
            </a:r>
            <a:r>
              <a:rPr lang="en-US" altLang="zh-CN" sz="2800" b="1">
                <a:solidFill>
                  <a:srgbClr val="990033"/>
                </a:solidFill>
              </a:rPr>
              <a:t>As= 18.2795 db</a:t>
            </a:r>
            <a:r>
              <a:rPr lang="zh-CN" altLang="en-US" sz="2800" b="1">
                <a:solidFill>
                  <a:srgbClr val="990033"/>
                </a:solidFill>
              </a:rPr>
              <a:t>超过指标</a:t>
            </a:r>
          </a:p>
        </p:txBody>
      </p:sp>
    </p:spTree>
    <p:extLst>
      <p:ext uri="{BB962C8B-B14F-4D97-AF65-F5344CB8AC3E}">
        <p14:creationId xmlns:p14="http://schemas.microsoft.com/office/powerpoint/2010/main" val="93106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2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20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20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20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2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20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2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77" grpId="0" autoUpdateAnimBg="0"/>
      <p:bldP spid="120882" grpId="0" autoUpdateAnimBg="0"/>
    </p:bld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956</Words>
  <Application>Microsoft Office PowerPoint</Application>
  <PresentationFormat>宽屏</PresentationFormat>
  <Paragraphs>161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等线</vt:lpstr>
      <vt:lpstr>黑体</vt:lpstr>
      <vt:lpstr>宋体</vt:lpstr>
      <vt:lpstr>Arial</vt:lpstr>
      <vt:lpstr>Comic Sans MS</vt:lpstr>
      <vt:lpstr>Courier New</vt:lpstr>
      <vt:lpstr>Symbol</vt:lpstr>
      <vt:lpstr>Times New Roman</vt:lpstr>
      <vt:lpstr>icfp99</vt:lpstr>
      <vt:lpstr>Equation</vt:lpstr>
      <vt:lpstr>公式</vt:lpstr>
      <vt:lpstr>6.3.2 巴特沃思低通逼近</vt:lpstr>
      <vt:lpstr>6.3.2 巴特沃思低通逼近</vt:lpstr>
      <vt:lpstr>6.3.2 巴特沃思低通逼近</vt:lpstr>
      <vt:lpstr>6.3.2 巴特沃思低通逼近</vt:lpstr>
      <vt:lpstr>6.3.2 巴特沃思低通逼近</vt:lpstr>
      <vt:lpstr>6.3.2 巴特沃思低通逼近</vt:lpstr>
      <vt:lpstr>例题</vt:lpstr>
      <vt:lpstr>例题</vt:lpstr>
      <vt:lpstr>例题</vt:lpstr>
      <vt:lpstr>例题</vt:lpstr>
      <vt:lpstr>例题</vt:lpstr>
      <vt:lpstr>例题</vt:lpstr>
      <vt:lpstr> Butterworth模拟低通滤波器设计</vt:lpstr>
      <vt:lpstr>Butterworth模拟低通滤波器设计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IIR数字滤波器的设计方法 </dc:title>
  <dc:creator>Administrator</dc:creator>
  <cp:lastModifiedBy>CHAO WU</cp:lastModifiedBy>
  <cp:revision>22</cp:revision>
  <dcterms:created xsi:type="dcterms:W3CDTF">2020-08-06T07:37:53Z</dcterms:created>
  <dcterms:modified xsi:type="dcterms:W3CDTF">2023-12-07T06:41:39Z</dcterms:modified>
</cp:coreProperties>
</file>