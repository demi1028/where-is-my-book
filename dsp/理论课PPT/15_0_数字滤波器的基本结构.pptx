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320" r:id="rId3"/>
    <p:sldId id="321" r:id="rId4"/>
    <p:sldId id="313" r:id="rId5"/>
    <p:sldId id="314" r:id="rId6"/>
    <p:sldId id="315" r:id="rId7"/>
    <p:sldId id="316" r:id="rId8"/>
    <p:sldId id="318" r:id="rId9"/>
    <p:sldId id="319" r:id="rId10"/>
    <p:sldId id="291" r:id="rId11"/>
    <p:sldId id="292" r:id="rId12"/>
    <p:sldId id="295" r:id="rId13"/>
    <p:sldId id="296" r:id="rId14"/>
    <p:sldId id="285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5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0C483-3BE6-488D-A407-E3A5D2246CF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BF8DE-8FDB-4484-AB27-2A7899343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422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99D9AA-3580-411E-BAF4-C34818F8FEA3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6936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b="1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D2E08E4-B8BF-4D3A-9C4F-54A4CEC7D2F3}" type="slidenum">
              <a:rPr kumimoji="0" lang="zh-CN" altLang="en-US" sz="1200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kumimoji="0" lang="zh-CN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400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112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Times New Roman" panose="02020603050405020304" pitchFamily="18" charset="0"/>
            </a:endParaRPr>
          </a:p>
        </p:txBody>
      </p:sp>
      <p:sp>
        <p:nvSpPr>
          <p:cNvPr id="2611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29D688-82EF-422A-98A4-72B2BAB64F7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6401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742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005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144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714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326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816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808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902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260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684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802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1154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8345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2453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8536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6014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4820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29428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0053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14129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4750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794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650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296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473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4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9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13.jpe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5.jpeg"/><Relationship Id="rId4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7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3476" y="2413000"/>
            <a:ext cx="4754563" cy="1390650"/>
          </a:xfrm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en-US" altLang="zh-CN" sz="3000" dirty="0" smtClean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Filter</a:t>
            </a:r>
            <a:r>
              <a:rPr lang="zh-CN" altLang="en-US" sz="3000" dirty="0" smtClean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基本结构</a:t>
            </a:r>
            <a:endParaRPr lang="zh-CN" altLang="en-US" sz="3000" dirty="0">
              <a:solidFill>
                <a:srgbClr val="234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5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88" y="666222"/>
            <a:ext cx="2347912" cy="568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6" name="组合 9"/>
          <p:cNvGrpSpPr>
            <a:grpSpLocks noChangeAspect="1"/>
          </p:cNvGrpSpPr>
          <p:nvPr/>
        </p:nvGrpSpPr>
        <p:grpSpPr bwMode="auto">
          <a:xfrm>
            <a:off x="2114550" y="2501900"/>
            <a:ext cx="2147888" cy="1212850"/>
            <a:chOff x="3367821" y="2336603"/>
            <a:chExt cx="3846124" cy="2172237"/>
          </a:xfrm>
        </p:grpSpPr>
        <p:pic>
          <p:nvPicPr>
            <p:cNvPr id="3081" name="图片 1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001"/>
            <a:stretch>
              <a:fillRect/>
            </a:stretch>
          </p:blipFill>
          <p:spPr bwMode="auto">
            <a:xfrm>
              <a:off x="3367821" y="2337641"/>
              <a:ext cx="3846124" cy="2171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2" name="图片 1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587" t="-273" r="15178" b="91664"/>
            <a:stretch>
              <a:fillRect/>
            </a:stretch>
          </p:blipFill>
          <p:spPr bwMode="auto">
            <a:xfrm>
              <a:off x="4279348" y="2336603"/>
              <a:ext cx="712760" cy="176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77" name="组合 5"/>
          <p:cNvGrpSpPr>
            <a:grpSpLocks/>
          </p:cNvGrpSpPr>
          <p:nvPr/>
        </p:nvGrpSpPr>
        <p:grpSpPr bwMode="auto">
          <a:xfrm>
            <a:off x="3776663" y="3184525"/>
            <a:ext cx="735012" cy="679450"/>
            <a:chOff x="4480943" y="4021832"/>
            <a:chExt cx="1035157" cy="10386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202CC45-2CC5-4C2F-A9D1-3ED274598467}"/>
                </a:ext>
              </a:extLst>
            </p:cNvPr>
            <p:cNvSpPr/>
            <p:nvPr/>
          </p:nvSpPr>
          <p:spPr>
            <a:xfrm>
              <a:off x="4480943" y="4021832"/>
              <a:ext cx="981499" cy="1038683"/>
            </a:xfrm>
            <a:prstGeom prst="rect">
              <a:avLst/>
            </a:prstGeom>
            <a:solidFill>
              <a:srgbClr val="2347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80" name="文本框 1"/>
            <p:cNvSpPr txBox="1">
              <a:spLocks noChangeArrowheads="1"/>
            </p:cNvSpPr>
            <p:nvPr/>
          </p:nvSpPr>
          <p:spPr bwMode="auto">
            <a:xfrm>
              <a:off x="4511091" y="4218009"/>
              <a:ext cx="1005009" cy="635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1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15</a:t>
              </a:r>
              <a:r>
                <a:rPr kumimoji="1" lang="en-US" altLang="zh-CN" sz="2100" b="1" i="0" u="none" strike="noStrike" kern="1200" cap="none" spc="0" normalizeH="0" baseline="-2500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th</a:t>
              </a:r>
              <a:endParaRPr kumimoji="1" lang="en-US" altLang="zh-CN" sz="27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2" name="副标题 2"/>
          <p:cNvSpPr txBox="1">
            <a:spLocks/>
          </p:cNvSpPr>
          <p:nvPr/>
        </p:nvSpPr>
        <p:spPr>
          <a:xfrm>
            <a:off x="6321426" y="3968750"/>
            <a:ext cx="2206625" cy="7429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吴超</a:t>
            </a:r>
            <a:endParaRPr kumimoji="0" lang="en-US" altLang="zh-CN" sz="2100" b="0" i="0" u="none" strike="noStrike" kern="1200" cap="none" spc="0" normalizeH="0" baseline="0" noProof="0">
              <a:ln>
                <a:noFill/>
              </a:ln>
              <a:solidFill>
                <a:srgbClr val="808080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 工 程 学 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59638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867834" y="1443567"/>
            <a:ext cx="10426700" cy="541443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1842030" y="656698"/>
            <a:ext cx="1311275" cy="439737"/>
          </a:xfrm>
        </p:spPr>
        <p:txBody>
          <a:bodyPr/>
          <a:lstStyle/>
          <a:p>
            <a:r>
              <a:rPr lang="zh-CN" altLang="en-US" sz="4000" dirty="0"/>
              <a:t>复习</a:t>
            </a:r>
          </a:p>
        </p:txBody>
      </p:sp>
      <p:sp>
        <p:nvSpPr>
          <p:cNvPr id="5124" name="Oval 1"/>
          <p:cNvSpPr txBox="1">
            <a:spLocks noChangeArrowheads="1"/>
          </p:cNvSpPr>
          <p:nvPr/>
        </p:nvSpPr>
        <p:spPr bwMode="auto">
          <a:xfrm>
            <a:off x="1389592" y="1096435"/>
            <a:ext cx="8761942" cy="5868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57175" indent="-257175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p"/>
            </a:pP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窗函数法设计</a:t>
            </a:r>
            <a:r>
              <a:rPr lang="en-US" altLang="zh-CN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</a:t>
            </a: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</a:t>
            </a:r>
            <a:endParaRPr lang="en-US" altLang="zh-CN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什么叫吉布斯（</a:t>
            </a:r>
            <a:r>
              <a:rPr lang="en-US" altLang="zh-CN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Gibbs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）现象</a:t>
            </a:r>
            <a:endParaRPr lang="en-US" altLang="zh-CN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旁瓣峰值</a:t>
            </a:r>
            <a:r>
              <a:rPr lang="en-US" altLang="zh-CN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最小阻带衰减；主瓣宽度</a:t>
            </a:r>
            <a:r>
              <a:rPr lang="en-US" altLang="zh-CN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过渡带宽</a:t>
            </a:r>
            <a:endParaRPr lang="en-US" altLang="zh-CN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en-US" altLang="zh-CN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     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，根据</a:t>
            </a:r>
            <a:r>
              <a:rPr lang="en-US" altLang="zh-CN" dirty="0" err="1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选择合适窗函数                                                               </a:t>
            </a:r>
            <a:endParaRPr lang="en-US" altLang="zh-CN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p"/>
            </a:pP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采样法设计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</a:t>
            </a: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</a:t>
            </a:r>
            <a:endParaRPr lang="en-US" altLang="zh-CN" sz="28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第二类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偶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偶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el-GR" altLang="zh-CN" sz="2000" dirty="0"/>
              <a:t> </a:t>
            </a:r>
            <a:r>
              <a:rPr lang="el-GR" altLang="zh-CN" sz="2000" dirty="0" smtClean="0"/>
              <a:t>π</a:t>
            </a:r>
            <a:r>
              <a:rPr lang="zh-CN" altLang="en-US" sz="2000" dirty="0" smtClean="0"/>
              <a:t>奇对称，不能高通和带阻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el-GR" altLang="zh-CN" sz="2000" dirty="0" smtClean="0"/>
              <a:t>π</a:t>
            </a:r>
            <a:r>
              <a:rPr lang="en-US" altLang="zh-CN" sz="2000" dirty="0" smtClean="0"/>
              <a:t>/2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-w(N-1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)/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</a:t>
            </a:r>
            <a:r>
              <a:rPr lang="el-GR" altLang="zh-CN" sz="2000" dirty="0" smtClean="0"/>
              <a:t> </a:t>
            </a:r>
            <a:r>
              <a:rPr lang="el-GR" altLang="zh-CN" sz="2000" dirty="0"/>
              <a:t>π</a:t>
            </a:r>
            <a:r>
              <a:rPr lang="en-US" altLang="zh-CN" sz="2000" dirty="0"/>
              <a:t>-2</a:t>
            </a:r>
            <a:r>
              <a:rPr lang="el-GR" altLang="zh-CN" sz="2000" dirty="0"/>
              <a:t> </a:t>
            </a:r>
            <a:r>
              <a:rPr lang="el-GR" altLang="zh-CN" sz="2000" dirty="0" smtClean="0"/>
              <a:t>π</a:t>
            </a:r>
            <a:r>
              <a:rPr lang="zh-CN" altLang="en-US" sz="2000" dirty="0" smtClean="0"/>
              <a:t>奇对称，只能带通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偶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el-GR" altLang="zh-CN" sz="2000" dirty="0"/>
              <a:t> </a:t>
            </a:r>
            <a:r>
              <a:rPr lang="el-GR" altLang="zh-CN" sz="2000" dirty="0" smtClean="0"/>
              <a:t>π</a:t>
            </a:r>
            <a:r>
              <a:rPr lang="zh-CN" altLang="en-US" sz="2000" dirty="0"/>
              <a:t>偶</a:t>
            </a:r>
            <a:r>
              <a:rPr lang="zh-CN" altLang="en-US" sz="2000" dirty="0" smtClean="0"/>
              <a:t>对称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 smtClean="0"/>
              <a:t>-2</a:t>
            </a:r>
            <a:r>
              <a:rPr lang="el-GR" altLang="zh-CN" sz="2000" dirty="0" smtClean="0"/>
              <a:t> π</a:t>
            </a:r>
            <a:r>
              <a:rPr lang="zh-CN" altLang="en-US" sz="2000" dirty="0" smtClean="0"/>
              <a:t>奇对称，不能低通和带阻</a:t>
            </a:r>
            <a:endParaRPr lang="en-US" altLang="zh-CN" sz="2000" dirty="0" smtClean="0"/>
          </a:p>
        </p:txBody>
      </p:sp>
      <p:graphicFrame>
        <p:nvGraphicFramePr>
          <p:cNvPr id="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365787"/>
              </p:ext>
            </p:extLst>
          </p:nvPr>
        </p:nvGraphicFramePr>
        <p:xfrm>
          <a:off x="2114021" y="3046899"/>
          <a:ext cx="1684867" cy="617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3" name="Equation" r:id="rId4" imgW="1091880" imgH="482400" progId="Equation.DSMT4">
                  <p:embed/>
                </p:oleObj>
              </mc:Choice>
              <mc:Fallback>
                <p:oleObj name="Equation" r:id="rId4" imgW="1091880" imgH="482400" progId="Equation.DSMT4">
                  <p:embed/>
                  <p:pic>
                    <p:nvPicPr>
                      <p:cNvPr id="17920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021" y="3046899"/>
                        <a:ext cx="1684867" cy="6173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061644"/>
              </p:ext>
            </p:extLst>
          </p:nvPr>
        </p:nvGraphicFramePr>
        <p:xfrm>
          <a:off x="3976687" y="2963596"/>
          <a:ext cx="2740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4" name="Equation" r:id="rId6" imgW="1371600" imgH="419040" progId="Equation.DSMT4">
                  <p:embed/>
                </p:oleObj>
              </mc:Choice>
              <mc:Fallback>
                <p:oleObj name="Equation" r:id="rId6" imgW="1371600" imgH="419040" progId="Equation.DSMT4">
                  <p:embed/>
                  <p:pic>
                    <p:nvPicPr>
                      <p:cNvPr id="179206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6687" y="2963596"/>
                        <a:ext cx="2740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013183"/>
              </p:ext>
            </p:extLst>
          </p:nvPr>
        </p:nvGraphicFramePr>
        <p:xfrm>
          <a:off x="3010165" y="3768266"/>
          <a:ext cx="14716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5" name="Equation" r:id="rId8" imgW="850680" imgH="241200" progId="Equation.DSMT4">
                  <p:embed/>
                </p:oleObj>
              </mc:Choice>
              <mc:Fallback>
                <p:oleObj name="Equation" r:id="rId8" imgW="850680" imgH="241200" progId="Equation.DSMT4">
                  <p:embed/>
                  <p:pic>
                    <p:nvPicPr>
                      <p:cNvPr id="1863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0165" y="3768266"/>
                        <a:ext cx="1471613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184888"/>
              </p:ext>
            </p:extLst>
          </p:nvPr>
        </p:nvGraphicFramePr>
        <p:xfrm>
          <a:off x="4875478" y="3762283"/>
          <a:ext cx="21685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6" name="Equation" r:id="rId10" imgW="1130040" imgH="279360" progId="Equation.DSMT4">
                  <p:embed/>
                </p:oleObj>
              </mc:Choice>
              <mc:Fallback>
                <p:oleObj name="Equation" r:id="rId10" imgW="1130040" imgH="279360" progId="Equation.DSMT4">
                  <p:embed/>
                  <p:pic>
                    <p:nvPicPr>
                      <p:cNvPr id="187397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478" y="3762283"/>
                        <a:ext cx="21685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3368879"/>
              </p:ext>
            </p:extLst>
          </p:nvPr>
        </p:nvGraphicFramePr>
        <p:xfrm>
          <a:off x="7188466" y="3655126"/>
          <a:ext cx="2409825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7" name="Equation" r:id="rId12" imgW="1384300" imgH="431800" progId="Equation.DSMT4">
                  <p:embed/>
                </p:oleObj>
              </mc:Choice>
              <mc:Fallback>
                <p:oleObj name="Equation" r:id="rId12" imgW="1384300" imgH="431800" progId="Equation.DSMT4">
                  <p:embed/>
                  <p:pic>
                    <p:nvPicPr>
                      <p:cNvPr id="18740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8466" y="3655126"/>
                        <a:ext cx="2409825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909111"/>
              </p:ext>
            </p:extLst>
          </p:nvPr>
        </p:nvGraphicFramePr>
        <p:xfrm>
          <a:off x="1748896" y="4776255"/>
          <a:ext cx="7593480" cy="771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8" name="Equation" r:id="rId14" imgW="4749480" imgH="482400" progId="Equation.DSMT4">
                  <p:embed/>
                </p:oleObj>
              </mc:Choice>
              <mc:Fallback>
                <p:oleObj name="Equation" r:id="rId14" imgW="47494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748896" y="4776255"/>
                        <a:ext cx="7593480" cy="771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71469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4.3 FIR</a:t>
            </a:r>
            <a:r>
              <a:rPr lang="zh-CN" altLang="en-US" smtClean="0">
                <a:ea typeface="宋体" panose="02010600030101010101" pitchFamily="2" charset="-122"/>
              </a:rPr>
              <a:t>滤波器的结构 </a:t>
            </a:r>
          </a:p>
        </p:txBody>
      </p:sp>
      <p:sp>
        <p:nvSpPr>
          <p:cNvPr id="11673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C60E4736-0469-450C-8C6B-C4AB86C5CE92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740" name="矩形 4"/>
          <p:cNvSpPr>
            <a:spLocks noChangeArrowheads="1"/>
          </p:cNvSpPr>
          <p:nvPr/>
        </p:nvSpPr>
        <p:spPr bwMode="auto">
          <a:xfrm>
            <a:off x="2057400" y="1524000"/>
            <a:ext cx="1227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</a:rPr>
              <a:t>1 </a:t>
            </a:r>
            <a:r>
              <a:rPr lang="zh-CN" altLang="en-US">
                <a:solidFill>
                  <a:srgbClr val="000000"/>
                </a:solidFill>
              </a:rPr>
              <a:t>直接型</a:t>
            </a:r>
          </a:p>
        </p:txBody>
      </p:sp>
      <p:graphicFrame>
        <p:nvGraphicFramePr>
          <p:cNvPr id="116741" name="对象 5"/>
          <p:cNvGraphicFramePr>
            <a:graphicFrameLocks noChangeAspect="1"/>
          </p:cNvGraphicFramePr>
          <p:nvPr/>
        </p:nvGraphicFramePr>
        <p:xfrm>
          <a:off x="3736976" y="1936750"/>
          <a:ext cx="197802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0" name="Equation" r:id="rId3" imgW="1167893" imgH="431613" progId="Equation.3">
                  <p:embed/>
                </p:oleObj>
              </mc:Choice>
              <mc:Fallback>
                <p:oleObj name="Equation" r:id="rId3" imgW="1167893" imgH="431613" progId="Equation.3">
                  <p:embed/>
                  <p:pic>
                    <p:nvPicPr>
                      <p:cNvPr id="116741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6976" y="1936750"/>
                        <a:ext cx="197802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2" name="对象 6"/>
          <p:cNvGraphicFramePr>
            <a:graphicFrameLocks noChangeAspect="1"/>
          </p:cNvGraphicFramePr>
          <p:nvPr/>
        </p:nvGraphicFramePr>
        <p:xfrm>
          <a:off x="3733801" y="2895600"/>
          <a:ext cx="253682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1" name="Equation" r:id="rId5" imgW="1497950" imgH="431613" progId="Equation.3">
                  <p:embed/>
                </p:oleObj>
              </mc:Choice>
              <mc:Fallback>
                <p:oleObj name="Equation" r:id="rId5" imgW="1497950" imgH="431613" progId="Equation.3">
                  <p:embed/>
                  <p:pic>
                    <p:nvPicPr>
                      <p:cNvPr id="116742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2895600"/>
                        <a:ext cx="253682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6743" name="Picture 8" descr="4-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933826"/>
            <a:ext cx="571500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44" name="矩形 8"/>
          <p:cNvSpPr>
            <a:spLocks noChangeArrowheads="1"/>
          </p:cNvSpPr>
          <p:nvPr/>
        </p:nvSpPr>
        <p:spPr bwMode="auto">
          <a:xfrm>
            <a:off x="3883026" y="5695950"/>
            <a:ext cx="3540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也称卷积型结构、横截型结构</a:t>
            </a:r>
          </a:p>
        </p:txBody>
      </p:sp>
    </p:spTree>
    <p:extLst>
      <p:ext uri="{BB962C8B-B14F-4D97-AF65-F5344CB8AC3E}">
        <p14:creationId xmlns:p14="http://schemas.microsoft.com/office/powerpoint/2010/main" val="414122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4.3 FIR</a:t>
            </a:r>
            <a:r>
              <a:rPr lang="zh-CN" altLang="en-US" smtClean="0">
                <a:ea typeface="宋体" panose="02010600030101010101" pitchFamily="2" charset="-122"/>
              </a:rPr>
              <a:t>滤波器的结构 </a:t>
            </a:r>
          </a:p>
        </p:txBody>
      </p:sp>
      <p:sp>
        <p:nvSpPr>
          <p:cNvPr id="11776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B509EA8-64AA-4000-BCFF-E873298A1D75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7764" name="矩形 4"/>
          <p:cNvSpPr>
            <a:spLocks noChangeArrowheads="1"/>
          </p:cNvSpPr>
          <p:nvPr/>
        </p:nvSpPr>
        <p:spPr bwMode="auto">
          <a:xfrm>
            <a:off x="2133601" y="1524001"/>
            <a:ext cx="148431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eaLnBrk="0" fontAlgn="base" hangingPunct="0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zh-CN" altLang="en-US">
                <a:solidFill>
                  <a:srgbClr val="000000"/>
                </a:solidFill>
              </a:rPr>
              <a:t>、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</a:rPr>
              <a:t>级联型</a:t>
            </a:r>
          </a:p>
        </p:txBody>
      </p:sp>
      <p:graphicFrame>
        <p:nvGraphicFramePr>
          <p:cNvPr id="117765" name="对象 5"/>
          <p:cNvGraphicFramePr>
            <a:graphicFrameLocks noChangeAspect="1"/>
          </p:cNvGraphicFramePr>
          <p:nvPr/>
        </p:nvGraphicFramePr>
        <p:xfrm>
          <a:off x="3573464" y="2178050"/>
          <a:ext cx="4579937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4" name="Equation" r:id="rId3" imgW="2755900" imgH="431800" progId="Equation.3">
                  <p:embed/>
                </p:oleObj>
              </mc:Choice>
              <mc:Fallback>
                <p:oleObj name="Equation" r:id="rId3" imgW="2755900" imgH="431800" progId="Equation.3">
                  <p:embed/>
                  <p:pic>
                    <p:nvPicPr>
                      <p:cNvPr id="117765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3464" y="2178050"/>
                        <a:ext cx="4579937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7766" name="Picture 6" descr="4-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3429000"/>
            <a:ext cx="5715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121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200400" y="381001"/>
            <a:ext cx="647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/>
              <a:t>一、 </a:t>
            </a:r>
            <a:r>
              <a:rPr lang="en-US" altLang="zh-CN" sz="2800" b="1"/>
              <a:t>FIR  </a:t>
            </a:r>
            <a:r>
              <a:rPr lang="zh-CN" altLang="en-US" sz="2800" b="1"/>
              <a:t>数字滤波器的直接型结构</a:t>
            </a:r>
          </a:p>
        </p:txBody>
      </p:sp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3746500" y="2573338"/>
          <a:ext cx="425450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8" name="公式" r:id="rId3" imgW="1930320" imgH="457200" progId="Equation.3">
                  <p:embed/>
                </p:oleObj>
              </mc:Choice>
              <mc:Fallback>
                <p:oleObj name="公式" r:id="rId3" imgW="1930320" imgH="457200" progId="Equation.3">
                  <p:embed/>
                  <p:pic>
                    <p:nvPicPr>
                      <p:cNvPr id="71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0" y="2573338"/>
                        <a:ext cx="4254500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32" name="Text Box 64"/>
          <p:cNvSpPr txBox="1">
            <a:spLocks noChangeArrowheads="1"/>
          </p:cNvSpPr>
          <p:nvPr/>
        </p:nvSpPr>
        <p:spPr bwMode="auto">
          <a:xfrm>
            <a:off x="2514600" y="5638801"/>
            <a:ext cx="670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/>
              <a:t>M</a:t>
            </a:r>
            <a:r>
              <a:rPr lang="en-US" altLang="zh-CN" sz="2800" b="1"/>
              <a:t>+1</a:t>
            </a:r>
            <a:r>
              <a:rPr lang="zh-CN" altLang="en-US" sz="2800" b="1"/>
              <a:t>个乘法器，</a:t>
            </a:r>
            <a:r>
              <a:rPr lang="en-US" altLang="zh-CN" sz="2800" b="1" i="1"/>
              <a:t>M</a:t>
            </a:r>
            <a:r>
              <a:rPr lang="zh-CN" altLang="en-US" sz="2800" b="1"/>
              <a:t>个延迟器，</a:t>
            </a:r>
            <a:r>
              <a:rPr lang="en-US" altLang="zh-CN" sz="2800" b="1" i="1"/>
              <a:t>M</a:t>
            </a:r>
            <a:r>
              <a:rPr lang="zh-CN" altLang="en-US" sz="2800" b="1"/>
              <a:t>个加法器</a:t>
            </a:r>
          </a:p>
        </p:txBody>
      </p:sp>
      <p:graphicFrame>
        <p:nvGraphicFramePr>
          <p:cNvPr id="7234" name="Object 66"/>
          <p:cNvGraphicFramePr>
            <a:graphicFrameLocks noChangeAspect="1"/>
          </p:cNvGraphicFramePr>
          <p:nvPr/>
        </p:nvGraphicFramePr>
        <p:xfrm>
          <a:off x="1524001" y="3659188"/>
          <a:ext cx="9129713" cy="167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9" name="Visio" r:id="rId5" imgW="4154729" imgH="762305" progId="Visio.Drawing.6">
                  <p:embed/>
                </p:oleObj>
              </mc:Choice>
              <mc:Fallback>
                <p:oleObj name="Visio" r:id="rId5" imgW="4154729" imgH="762305" progId="Visio.Drawing.6">
                  <p:embed/>
                  <p:pic>
                    <p:nvPicPr>
                      <p:cNvPr id="7234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3659188"/>
                        <a:ext cx="9129713" cy="167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36" name="Text Box 68"/>
          <p:cNvSpPr txBox="1">
            <a:spLocks noChangeArrowheads="1"/>
          </p:cNvSpPr>
          <p:nvPr/>
        </p:nvSpPr>
        <p:spPr bwMode="auto">
          <a:xfrm>
            <a:off x="1981200" y="1752601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i="1"/>
              <a:t>M</a:t>
            </a:r>
            <a:r>
              <a:rPr lang="zh-CN" altLang="en-US" sz="2800"/>
              <a:t>阶</a:t>
            </a:r>
            <a:r>
              <a:rPr lang="en-US" altLang="zh-CN" sz="2800"/>
              <a:t>FIR </a:t>
            </a:r>
            <a:r>
              <a:rPr lang="zh-CN" altLang="en-US" sz="2800"/>
              <a:t>数字滤波器</a:t>
            </a:r>
          </a:p>
        </p:txBody>
      </p:sp>
    </p:spTree>
    <p:extLst>
      <p:ext uri="{BB962C8B-B14F-4D97-AF65-F5344CB8AC3E}">
        <p14:creationId xmlns:p14="http://schemas.microsoft.com/office/powerpoint/2010/main" val="76760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2" grpId="0" autoUpdateAnimBg="0"/>
      <p:bldP spid="723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381000"/>
            <a:ext cx="7772400" cy="685800"/>
          </a:xfrm>
        </p:spPr>
        <p:txBody>
          <a:bodyPr/>
          <a:lstStyle/>
          <a:p>
            <a:r>
              <a:rPr lang="zh-CN" altLang="en-US"/>
              <a:t>三、 </a:t>
            </a:r>
            <a:r>
              <a:rPr lang="en-US" altLang="zh-CN"/>
              <a:t>FIR  </a:t>
            </a:r>
            <a:r>
              <a:rPr lang="zh-CN" altLang="en-US"/>
              <a:t>数字滤波器的级联型结构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2362200" y="1371601"/>
            <a:ext cx="72390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将</a:t>
            </a:r>
            <a:r>
              <a:rPr lang="en-US" altLang="zh-CN" sz="2800" i="1"/>
              <a:t>H</a:t>
            </a:r>
            <a:r>
              <a:rPr lang="en-US" altLang="zh-CN" sz="2800"/>
              <a:t>(</a:t>
            </a:r>
            <a:r>
              <a:rPr lang="en-US" altLang="zh-CN" sz="2800" i="1"/>
              <a:t>z</a:t>
            </a:r>
            <a:r>
              <a:rPr lang="en-US" altLang="zh-CN" sz="2800"/>
              <a:t>)</a:t>
            </a:r>
            <a:r>
              <a:rPr lang="zh-CN" altLang="en-US" sz="2800"/>
              <a:t>分解为若干个实系数一阶二阶因子相乘</a:t>
            </a:r>
          </a:p>
        </p:txBody>
      </p:sp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3429001" y="1981200"/>
          <a:ext cx="508317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1" name="公式" r:id="rId3" imgW="2311200" imgH="457200" progId="Equation.3">
                  <p:embed/>
                </p:oleObj>
              </mc:Choice>
              <mc:Fallback>
                <p:oleObj name="公式" r:id="rId3" imgW="2311200" imgH="457200" progId="Equation.3">
                  <p:embed/>
                  <p:pic>
                    <p:nvPicPr>
                      <p:cNvPr id="419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1981200"/>
                        <a:ext cx="5083175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1752600" y="5029201"/>
            <a:ext cx="883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dirty="0" smtClean="0"/>
              <a:t>2</a:t>
            </a:r>
            <a:r>
              <a:rPr lang="en-US" altLang="zh-CN" sz="2800" i="1" dirty="0" smtClean="0"/>
              <a:t>L</a:t>
            </a:r>
            <a:r>
              <a:rPr lang="zh-CN" altLang="en-US" sz="2800" dirty="0" smtClean="0"/>
              <a:t>个</a:t>
            </a:r>
            <a:r>
              <a:rPr lang="zh-CN" altLang="en-US" sz="2800" dirty="0"/>
              <a:t>延迟器，</a:t>
            </a:r>
            <a:r>
              <a:rPr lang="en-US" altLang="zh-CN" sz="2800" dirty="0" smtClean="0"/>
              <a:t>2</a:t>
            </a:r>
            <a:r>
              <a:rPr lang="en-US" altLang="zh-CN" sz="2800" i="1" dirty="0" smtClean="0"/>
              <a:t>L</a:t>
            </a:r>
            <a:r>
              <a:rPr lang="en-US" altLang="zh-CN" sz="2800" dirty="0" smtClean="0"/>
              <a:t>+1</a:t>
            </a:r>
            <a:r>
              <a:rPr lang="zh-CN" altLang="en-US" sz="2800" dirty="0" smtClean="0"/>
              <a:t>个</a:t>
            </a:r>
            <a:r>
              <a:rPr lang="zh-CN" altLang="en-US" sz="2800" dirty="0"/>
              <a:t>乘法器，</a:t>
            </a:r>
            <a:r>
              <a:rPr lang="en-US" altLang="zh-CN" sz="2800" dirty="0" smtClean="0"/>
              <a:t>2</a:t>
            </a:r>
            <a:r>
              <a:rPr lang="en-US" altLang="zh-CN" sz="2800" i="1" dirty="0" smtClean="0"/>
              <a:t>L</a:t>
            </a:r>
            <a:r>
              <a:rPr lang="zh-CN" altLang="en-US" sz="2800" dirty="0" smtClean="0"/>
              <a:t>个</a:t>
            </a:r>
            <a:r>
              <a:rPr lang="zh-CN" altLang="en-US" sz="2800" dirty="0"/>
              <a:t>加法器</a:t>
            </a:r>
          </a:p>
        </p:txBody>
      </p:sp>
      <p:sp>
        <p:nvSpPr>
          <p:cNvPr id="41991" name="Text Box 7"/>
          <p:cNvSpPr txBox="1">
            <a:spLocks noChangeArrowheads="1"/>
          </p:cNvSpPr>
          <p:nvPr/>
        </p:nvSpPr>
        <p:spPr bwMode="auto">
          <a:xfrm>
            <a:off x="1981200" y="5715001"/>
            <a:ext cx="8077200" cy="51911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/>
              <a:t>特点：可以分别控制每个子系统的零点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9281" y="3055661"/>
            <a:ext cx="7911919" cy="190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1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autoUpdateAnimBg="0"/>
      <p:bldP spid="41990" grpId="0" autoUpdateAnimBg="0"/>
      <p:bldP spid="41991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17" y="1594395"/>
            <a:ext cx="10738684" cy="195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23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1878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9198541-9CFA-4A12-8C62-8B5DEC53981F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18788" name="对象 23"/>
          <p:cNvGraphicFramePr>
            <a:graphicFrameLocks noChangeAspect="1"/>
          </p:cNvGraphicFramePr>
          <p:nvPr>
            <p:extLst/>
          </p:nvPr>
        </p:nvGraphicFramePr>
        <p:xfrm>
          <a:off x="1905001" y="1350964"/>
          <a:ext cx="5478463" cy="299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6" name="Document" r:id="rId3" imgW="3249655" imgH="1782031" progId="Word.Document.8">
                  <p:embed/>
                </p:oleObj>
              </mc:Choice>
              <mc:Fallback>
                <p:oleObj name="Document" r:id="rId3" imgW="3249655" imgH="1782031" progId="Word.Document.8">
                  <p:embed/>
                  <p:pic>
                    <p:nvPicPr>
                      <p:cNvPr id="118788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1350964"/>
                        <a:ext cx="5478463" cy="299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8789" name="Picture 6" descr="4-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314" y="3657601"/>
            <a:ext cx="5195887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790" name="Picture 6" descr="4-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5029200"/>
            <a:ext cx="4294188" cy="153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91" name="TextBox 35"/>
          <p:cNvSpPr txBox="1">
            <a:spLocks noChangeArrowheads="1"/>
          </p:cNvSpPr>
          <p:nvPr/>
        </p:nvSpPr>
        <p:spPr bwMode="auto">
          <a:xfrm>
            <a:off x="9448800" y="3352800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直接型</a:t>
            </a:r>
          </a:p>
        </p:txBody>
      </p:sp>
      <p:sp>
        <p:nvSpPr>
          <p:cNvPr id="118792" name="TextBox 36"/>
          <p:cNvSpPr txBox="1">
            <a:spLocks noChangeArrowheads="1"/>
          </p:cNvSpPr>
          <p:nvPr/>
        </p:nvSpPr>
        <p:spPr bwMode="auto">
          <a:xfrm>
            <a:off x="2057400" y="5715000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级联型</a:t>
            </a:r>
          </a:p>
        </p:txBody>
      </p:sp>
    </p:spTree>
    <p:extLst>
      <p:ext uri="{BB962C8B-B14F-4D97-AF65-F5344CB8AC3E}">
        <p14:creationId xmlns:p14="http://schemas.microsoft.com/office/powerpoint/2010/main" val="250016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7772400" cy="45720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二、线性相位</a:t>
            </a:r>
            <a:r>
              <a:rPr lang="en-US" altLang="zh-CN">
                <a:solidFill>
                  <a:schemeClr val="tx1"/>
                </a:solidFill>
              </a:rPr>
              <a:t>FIR DF</a:t>
            </a:r>
            <a:r>
              <a:rPr lang="zh-CN" altLang="en-US">
                <a:solidFill>
                  <a:schemeClr val="tx1"/>
                </a:solidFill>
              </a:rPr>
              <a:t>结构</a:t>
            </a:r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2209800" y="1919288"/>
            <a:ext cx="7467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dirty="0"/>
              <a:t>利用</a:t>
            </a:r>
            <a:r>
              <a:rPr lang="en-US" altLang="zh-CN" sz="2800" i="1" dirty="0" smtClean="0"/>
              <a:t>h</a:t>
            </a:r>
            <a:r>
              <a:rPr lang="en-US" altLang="zh-CN" sz="2800" dirty="0" smtClean="0"/>
              <a:t>[n]</a:t>
            </a:r>
            <a:r>
              <a:rPr lang="zh-CN" altLang="en-US" sz="2800" dirty="0"/>
              <a:t>的对称特性： </a:t>
            </a:r>
            <a:r>
              <a:rPr lang="en-US" altLang="zh-CN" sz="2800" i="1" dirty="0"/>
              <a:t>h[n]= </a:t>
            </a:r>
            <a:r>
              <a:rPr lang="en-US" altLang="zh-CN" sz="2800" i="1" dirty="0"/>
              <a:t>±</a:t>
            </a:r>
            <a:r>
              <a:rPr lang="en-US" altLang="zh-CN" sz="2800" dirty="0" smtClean="0"/>
              <a:t>h[N-1-n</a:t>
            </a:r>
            <a:r>
              <a:rPr lang="en-US" altLang="zh-CN" sz="2800" dirty="0"/>
              <a:t>]</a:t>
            </a:r>
            <a:endParaRPr lang="en-US" altLang="zh-CN" sz="2800" dirty="0"/>
          </a:p>
        </p:txBody>
      </p:sp>
      <p:sp>
        <p:nvSpPr>
          <p:cNvPr id="39945" name="Rectangle 9"/>
          <p:cNvSpPr>
            <a:spLocks noChangeArrowheads="1"/>
          </p:cNvSpPr>
          <p:nvPr/>
        </p:nvSpPr>
        <p:spPr bwMode="auto">
          <a:xfrm>
            <a:off x="1676400" y="11430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6" name="Text Box 10"/>
          <p:cNvSpPr txBox="1">
            <a:spLocks noChangeArrowheads="1"/>
          </p:cNvSpPr>
          <p:nvPr/>
        </p:nvSpPr>
        <p:spPr bwMode="auto">
          <a:xfrm>
            <a:off x="2209800" y="2819400"/>
            <a:ext cx="7848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dirty="0"/>
              <a:t>在实现</a:t>
            </a:r>
            <a:r>
              <a:rPr lang="en-US" altLang="zh-CN" sz="2800" dirty="0"/>
              <a:t>FIR  DF</a:t>
            </a:r>
            <a:r>
              <a:rPr lang="zh-CN" altLang="en-US" sz="2800" dirty="0"/>
              <a:t>直接型结构时共用乘法器即得线性相位</a:t>
            </a:r>
            <a:r>
              <a:rPr lang="en-US" altLang="zh-CN" sz="2800" dirty="0"/>
              <a:t>FIR DF</a:t>
            </a:r>
            <a:r>
              <a:rPr lang="zh-CN" altLang="en-US" sz="2800" dirty="0"/>
              <a:t>结构。</a:t>
            </a:r>
          </a:p>
        </p:txBody>
      </p:sp>
    </p:spTree>
    <p:extLst>
      <p:ext uri="{BB962C8B-B14F-4D97-AF65-F5344CB8AC3E}">
        <p14:creationId xmlns:p14="http://schemas.microsoft.com/office/powerpoint/2010/main" val="194580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609600"/>
            <a:ext cx="7772400" cy="45720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四阶线性相位</a:t>
            </a:r>
            <a:r>
              <a:rPr lang="en-US" altLang="zh-CN">
                <a:solidFill>
                  <a:schemeClr val="tx1"/>
                </a:solidFill>
              </a:rPr>
              <a:t>FIR  DF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结构</a:t>
            </a:r>
          </a:p>
        </p:txBody>
      </p:sp>
      <p:graphicFrame>
        <p:nvGraphicFramePr>
          <p:cNvPr id="114693" name="Object 5"/>
          <p:cNvGraphicFramePr>
            <a:graphicFrameLocks noChangeAspect="1"/>
          </p:cNvGraphicFramePr>
          <p:nvPr/>
        </p:nvGraphicFramePr>
        <p:xfrm>
          <a:off x="3557588" y="2514600"/>
          <a:ext cx="5053012" cy="316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1" name="Visio" r:id="rId3" imgW="2525760" imgH="1580760" progId="Visio.Drawing.6">
                  <p:embed/>
                </p:oleObj>
              </mc:Choice>
              <mc:Fallback>
                <p:oleObj name="Visio" r:id="rId3" imgW="2525760" imgH="1580760" progId="Visio.Drawing.6">
                  <p:embed/>
                  <p:pic>
                    <p:nvPicPr>
                      <p:cNvPr id="1146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7588" y="2514600"/>
                        <a:ext cx="5053012" cy="316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987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7772400" cy="609600"/>
          </a:xfrm>
        </p:spPr>
        <p:txBody>
          <a:bodyPr/>
          <a:lstStyle/>
          <a:p>
            <a:r>
              <a:rPr lang="zh-CN" altLang="en-US"/>
              <a:t>四、 </a:t>
            </a:r>
            <a:r>
              <a:rPr lang="en-US" altLang="zh-CN"/>
              <a:t>FIR  </a:t>
            </a:r>
            <a:r>
              <a:rPr lang="zh-CN" altLang="en-US"/>
              <a:t>数字滤波器的频率取样型结构</a:t>
            </a:r>
          </a:p>
        </p:txBody>
      </p:sp>
      <p:graphicFrame>
        <p:nvGraphicFramePr>
          <p:cNvPr id="430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90580"/>
              </p:ext>
            </p:extLst>
          </p:nvPr>
        </p:nvGraphicFramePr>
        <p:xfrm>
          <a:off x="4011613" y="1400175"/>
          <a:ext cx="398303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0" name="公式" r:id="rId3" imgW="1803240" imgH="457200" progId="Equation.3">
                  <p:embed/>
                </p:oleObj>
              </mc:Choice>
              <mc:Fallback>
                <p:oleObj name="公式" r:id="rId3" imgW="1803240" imgH="457200" progId="Equation.3">
                  <p:embed/>
                  <p:pic>
                    <p:nvPicPr>
                      <p:cNvPr id="430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613" y="1400175"/>
                        <a:ext cx="3983037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1905000" y="2514601"/>
          <a:ext cx="7575550" cy="412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1" name="Visio" r:id="rId5" imgW="3788969" imgH="2063191" progId="Visio.Drawing.6">
                  <p:embed/>
                </p:oleObj>
              </mc:Choice>
              <mc:Fallback>
                <p:oleObj name="Visio" r:id="rId5" imgW="3788969" imgH="2063191" progId="Visio.Drawing.6">
                  <p:embed/>
                  <p:pic>
                    <p:nvPicPr>
                      <p:cNvPr id="430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514601"/>
                        <a:ext cx="7575550" cy="412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3921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AutoShape 5"/>
          <p:cNvSpPr>
            <a:spLocks noChangeArrowheads="1"/>
          </p:cNvSpPr>
          <p:nvPr/>
        </p:nvSpPr>
        <p:spPr bwMode="auto">
          <a:xfrm>
            <a:off x="6400800" y="2006600"/>
            <a:ext cx="1600200" cy="1066800"/>
          </a:xfrm>
          <a:prstGeom prst="wedgeRectCallout">
            <a:avLst>
              <a:gd name="adj1" fmla="val 53870"/>
              <a:gd name="adj2" fmla="val 75296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44036" name="AutoShape 4"/>
          <p:cNvSpPr>
            <a:spLocks noChangeArrowheads="1"/>
          </p:cNvSpPr>
          <p:nvPr/>
        </p:nvSpPr>
        <p:spPr bwMode="auto">
          <a:xfrm>
            <a:off x="4876800" y="1930400"/>
            <a:ext cx="1066800" cy="1143000"/>
          </a:xfrm>
          <a:prstGeom prst="wedgeRectCallout">
            <a:avLst>
              <a:gd name="adj1" fmla="val -83037"/>
              <a:gd name="adj2" fmla="val 85000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381000"/>
            <a:ext cx="7772400" cy="838200"/>
          </a:xfrm>
        </p:spPr>
        <p:txBody>
          <a:bodyPr/>
          <a:lstStyle/>
          <a:p>
            <a:r>
              <a:rPr lang="zh-CN" altLang="en-US">
                <a:ea typeface="楷体_GB2312" pitchFamily="49" charset="-122"/>
              </a:rPr>
              <a:t>频率取样型结构分析</a:t>
            </a:r>
          </a:p>
        </p:txBody>
      </p:sp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3810000" y="2006601"/>
          <a:ext cx="423545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9" name="公式" r:id="rId3" imgW="1917360" imgH="482400" progId="Equation.3">
                  <p:embed/>
                </p:oleObj>
              </mc:Choice>
              <mc:Fallback>
                <p:oleObj name="公式" r:id="rId3" imgW="1917360" imgH="482400" progId="Equation.3">
                  <p:embed/>
                  <p:pic>
                    <p:nvPicPr>
                      <p:cNvPr id="440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006601"/>
                        <a:ext cx="423545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1752600" y="3454401"/>
            <a:ext cx="464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FIR</a:t>
            </a:r>
            <a:r>
              <a:rPr lang="zh-CN" altLang="en-US" sz="2800"/>
              <a:t>子系统</a:t>
            </a:r>
            <a:r>
              <a:rPr lang="en-US" altLang="zh-CN" sz="2800"/>
              <a:t>—</a:t>
            </a:r>
            <a:r>
              <a:rPr lang="zh-CN" altLang="en-US" sz="2800">
                <a:solidFill>
                  <a:srgbClr val="FF3300"/>
                </a:solidFill>
              </a:rPr>
              <a:t>梳状滤波器</a:t>
            </a:r>
            <a:endParaRPr lang="zh-CN" altLang="en-US" sz="2800"/>
          </a:p>
        </p:txBody>
      </p:sp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6858000" y="3454401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一阶</a:t>
            </a:r>
            <a:r>
              <a:rPr lang="en-US" altLang="zh-CN" sz="2800"/>
              <a:t>IIR</a:t>
            </a:r>
            <a:r>
              <a:rPr lang="zh-CN" altLang="en-US" sz="2800"/>
              <a:t>子系统</a:t>
            </a:r>
          </a:p>
        </p:txBody>
      </p:sp>
      <p:graphicFrame>
        <p:nvGraphicFramePr>
          <p:cNvPr id="44041" name="Object 9"/>
          <p:cNvGraphicFramePr>
            <a:graphicFrameLocks noChangeAspect="1"/>
          </p:cNvGraphicFramePr>
          <p:nvPr/>
        </p:nvGraphicFramePr>
        <p:xfrm>
          <a:off x="1982788" y="4140200"/>
          <a:ext cx="38338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0" name="公式" r:id="rId5" imgW="1917360" imgH="253800" progId="Equation.3">
                  <p:embed/>
                </p:oleObj>
              </mc:Choice>
              <mc:Fallback>
                <p:oleObj name="公式" r:id="rId5" imgW="1917360" imgH="253800" progId="Equation.3">
                  <p:embed/>
                  <p:pic>
                    <p:nvPicPr>
                      <p:cNvPr id="440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788" y="4140200"/>
                        <a:ext cx="38338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2" name="Object 10"/>
          <p:cNvGraphicFramePr>
            <a:graphicFrameLocks noChangeAspect="1"/>
          </p:cNvGraphicFramePr>
          <p:nvPr/>
        </p:nvGraphicFramePr>
        <p:xfrm>
          <a:off x="6554788" y="4140200"/>
          <a:ext cx="38846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1" name="公式" r:id="rId7" imgW="1942920" imgH="253800" progId="Equation.3">
                  <p:embed/>
                </p:oleObj>
              </mc:Choice>
              <mc:Fallback>
                <p:oleObj name="公式" r:id="rId7" imgW="1942920" imgH="253800" progId="Equation.3">
                  <p:embed/>
                  <p:pic>
                    <p:nvPicPr>
                      <p:cNvPr id="440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4788" y="4140200"/>
                        <a:ext cx="38846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3" name="Text Box 11"/>
          <p:cNvSpPr txBox="1">
            <a:spLocks noChangeArrowheads="1"/>
          </p:cNvSpPr>
          <p:nvPr/>
        </p:nvSpPr>
        <p:spPr bwMode="auto">
          <a:xfrm>
            <a:off x="2057400" y="5272088"/>
            <a:ext cx="838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零点与</a:t>
            </a:r>
            <a:r>
              <a:rPr lang="en-US" altLang="zh-CN" sz="2800"/>
              <a:t>IIR</a:t>
            </a:r>
            <a:r>
              <a:rPr lang="zh-CN" altLang="en-US" sz="2800"/>
              <a:t>子系统极点相消，使系统具有</a:t>
            </a:r>
            <a:r>
              <a:rPr lang="en-US" altLang="zh-CN" sz="2800"/>
              <a:t>FIR</a:t>
            </a:r>
            <a:r>
              <a:rPr lang="zh-CN" altLang="en-US" sz="2800"/>
              <a:t>特性</a:t>
            </a:r>
          </a:p>
        </p:txBody>
      </p:sp>
      <p:sp>
        <p:nvSpPr>
          <p:cNvPr id="44044" name="Rectangle 12"/>
          <p:cNvSpPr>
            <a:spLocks noChangeArrowheads="1"/>
          </p:cNvSpPr>
          <p:nvPr/>
        </p:nvSpPr>
        <p:spPr bwMode="auto">
          <a:xfrm>
            <a:off x="1676400" y="11430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21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7" grpId="0" animBg="1" autoUpdateAnimBg="0"/>
      <p:bldP spid="44036" grpId="0" animBg="1" autoUpdateAnimBg="0"/>
      <p:bldP spid="44038" grpId="0" autoUpdateAnimBg="0"/>
      <p:bldP spid="44039" grpId="0" autoUpdateAnimBg="0"/>
      <p:bldP spid="44043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7772400" cy="685800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直接</a:t>
            </a:r>
            <a:r>
              <a:rPr lang="zh-CN" altLang="en-US" dirty="0">
                <a:solidFill>
                  <a:schemeClr val="tx1"/>
                </a:solidFill>
              </a:rPr>
              <a:t>型结构</a:t>
            </a:r>
          </a:p>
        </p:txBody>
      </p:sp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2209800" y="1981200"/>
            <a:ext cx="7848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dirty="0"/>
              <a:t>       IIR</a:t>
            </a:r>
            <a:r>
              <a:rPr lang="zh-CN" altLang="en-US" sz="2800" dirty="0">
                <a:solidFill>
                  <a:srgbClr val="FF3300"/>
                </a:solidFill>
              </a:rPr>
              <a:t>由两个行矢量</a:t>
            </a:r>
            <a:r>
              <a:rPr lang="en-US" altLang="zh-CN" sz="2800" dirty="0">
                <a:solidFill>
                  <a:srgbClr val="FF3300"/>
                </a:solidFill>
              </a:rPr>
              <a:t>b</a:t>
            </a:r>
            <a:r>
              <a:rPr lang="zh-CN" altLang="en-US" sz="2800" dirty="0">
                <a:solidFill>
                  <a:srgbClr val="FF3300"/>
                </a:solidFill>
              </a:rPr>
              <a:t>和</a:t>
            </a:r>
            <a:r>
              <a:rPr lang="en-US" altLang="zh-CN" sz="2800" dirty="0">
                <a:solidFill>
                  <a:srgbClr val="FF3300"/>
                </a:solidFill>
              </a:rPr>
              <a:t>a</a:t>
            </a:r>
            <a:r>
              <a:rPr lang="zh-CN" altLang="en-US" sz="2800" dirty="0"/>
              <a:t>描述，</a:t>
            </a:r>
            <a:r>
              <a:rPr lang="en-US" altLang="zh-CN" sz="2800" dirty="0"/>
              <a:t>b</a:t>
            </a:r>
            <a:r>
              <a:rPr lang="zh-CN" altLang="en-US" sz="2800" dirty="0"/>
              <a:t>包含</a:t>
            </a:r>
            <a:r>
              <a:rPr lang="en-US" altLang="zh-CN" sz="2800" dirty="0"/>
              <a:t>{</a:t>
            </a:r>
            <a:r>
              <a:rPr lang="en-US" altLang="zh-CN" sz="2800" i="1" dirty="0" err="1"/>
              <a:t>b</a:t>
            </a:r>
            <a:r>
              <a:rPr lang="en-US" altLang="zh-CN" sz="2800" i="1" baseline="-25000" dirty="0" err="1"/>
              <a:t>n</a:t>
            </a:r>
            <a:r>
              <a:rPr lang="en-US" altLang="zh-CN" sz="2800" dirty="0"/>
              <a:t>}</a:t>
            </a:r>
            <a:r>
              <a:rPr lang="zh-CN" altLang="en-US" sz="2800" dirty="0"/>
              <a:t>系数，</a:t>
            </a:r>
            <a:r>
              <a:rPr lang="en-US" altLang="zh-CN" sz="2800" dirty="0"/>
              <a:t>a</a:t>
            </a:r>
            <a:r>
              <a:rPr lang="zh-CN" altLang="en-US" sz="2800" dirty="0"/>
              <a:t>包含</a:t>
            </a:r>
            <a:r>
              <a:rPr lang="en-US" altLang="zh-CN" sz="2800" dirty="0"/>
              <a:t>{</a:t>
            </a:r>
            <a:r>
              <a:rPr lang="en-US" altLang="zh-CN" sz="2800" i="1" dirty="0"/>
              <a:t>a</a:t>
            </a:r>
            <a:r>
              <a:rPr lang="en-US" altLang="zh-CN" sz="2800" i="1" baseline="-25000" dirty="0"/>
              <a:t>n</a:t>
            </a:r>
            <a:r>
              <a:rPr lang="en-US" altLang="zh-CN" sz="2800" dirty="0"/>
              <a:t>}</a:t>
            </a:r>
            <a:r>
              <a:rPr lang="zh-CN" altLang="en-US" sz="2800" dirty="0"/>
              <a:t>系数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4953000" y="405288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利用</a:t>
            </a:r>
            <a:r>
              <a:rPr lang="en-US" altLang="zh-CN" sz="2800">
                <a:solidFill>
                  <a:srgbClr val="FF3300"/>
                </a:solidFill>
              </a:rPr>
              <a:t>filter</a:t>
            </a:r>
            <a:r>
              <a:rPr lang="zh-CN" altLang="en-US" sz="2800"/>
              <a:t>函数</a:t>
            </a:r>
          </a:p>
        </p:txBody>
      </p:sp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2209800" y="3214688"/>
            <a:ext cx="754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/>
              <a:t>FIR</a:t>
            </a:r>
            <a:r>
              <a:rPr lang="zh-CN" altLang="en-US" sz="2800"/>
              <a:t>由包含</a:t>
            </a:r>
            <a:r>
              <a:rPr lang="en-US" altLang="zh-CN" sz="2800"/>
              <a:t>{</a:t>
            </a:r>
            <a:r>
              <a:rPr lang="en-US" altLang="zh-CN" sz="2800" i="1"/>
              <a:t>b</a:t>
            </a:r>
            <a:r>
              <a:rPr lang="en-US" altLang="zh-CN" sz="2800" i="1" baseline="-25000"/>
              <a:t>n</a:t>
            </a:r>
            <a:r>
              <a:rPr lang="en-US" altLang="zh-CN" sz="2800"/>
              <a:t>}</a:t>
            </a:r>
            <a:r>
              <a:rPr lang="zh-CN" altLang="en-US" sz="2800"/>
              <a:t>系数的行矢量</a:t>
            </a:r>
            <a:r>
              <a:rPr lang="en-US" altLang="zh-CN" sz="2800"/>
              <a:t>b</a:t>
            </a:r>
            <a:r>
              <a:rPr lang="zh-CN" altLang="en-US" sz="2800"/>
              <a:t>描述</a:t>
            </a:r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3200400" y="5562601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/>
              <a:t>FIR</a:t>
            </a:r>
            <a:r>
              <a:rPr lang="zh-CN" altLang="en-US" sz="2800"/>
              <a:t>：              </a:t>
            </a:r>
            <a:r>
              <a:rPr lang="en-US" altLang="zh-CN" sz="2800"/>
              <a:t>filter(b,</a:t>
            </a:r>
            <a:r>
              <a:rPr lang="en-US" altLang="zh-CN" sz="2800">
                <a:solidFill>
                  <a:srgbClr val="FF3300"/>
                </a:solidFill>
              </a:rPr>
              <a:t>1</a:t>
            </a:r>
            <a:r>
              <a:rPr lang="en-US" altLang="zh-CN" sz="2800"/>
              <a:t>,x)</a:t>
            </a:r>
          </a:p>
        </p:txBody>
      </p:sp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1981200" y="1447801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</a:rPr>
              <a:t>MATLAB</a:t>
            </a:r>
            <a:r>
              <a:rPr lang="zh-CN" altLang="en-US" sz="2800" b="1">
                <a:solidFill>
                  <a:schemeClr val="accent2"/>
                </a:solidFill>
              </a:rPr>
              <a:t>描述：</a:t>
            </a:r>
          </a:p>
        </p:txBody>
      </p:sp>
      <p:sp>
        <p:nvSpPr>
          <p:cNvPr id="54280" name="Text Box 8"/>
          <p:cNvSpPr txBox="1">
            <a:spLocks noChangeArrowheads="1"/>
          </p:cNvSpPr>
          <p:nvPr/>
        </p:nvSpPr>
        <p:spPr bwMode="auto">
          <a:xfrm>
            <a:off x="1981200" y="4052888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</a:rPr>
              <a:t>MATLAB</a:t>
            </a:r>
            <a:r>
              <a:rPr lang="zh-CN" altLang="en-US" sz="2800" b="1">
                <a:solidFill>
                  <a:schemeClr val="accent2"/>
                </a:solidFill>
              </a:rPr>
              <a:t>实现：</a:t>
            </a:r>
          </a:p>
        </p:txBody>
      </p:sp>
      <p:sp>
        <p:nvSpPr>
          <p:cNvPr id="54281" name="Text Box 9"/>
          <p:cNvSpPr txBox="1">
            <a:spLocks noChangeArrowheads="1"/>
          </p:cNvSpPr>
          <p:nvPr/>
        </p:nvSpPr>
        <p:spPr bwMode="auto">
          <a:xfrm>
            <a:off x="3200400" y="4876801"/>
            <a:ext cx="563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/>
              <a:t>IIR</a:t>
            </a:r>
            <a:r>
              <a:rPr lang="zh-CN" altLang="en-US" sz="2800"/>
              <a:t>：               </a:t>
            </a:r>
            <a:r>
              <a:rPr lang="en-US" altLang="zh-CN" sz="2800"/>
              <a:t>filter(b,a,x)</a:t>
            </a:r>
          </a:p>
        </p:txBody>
      </p:sp>
      <p:sp>
        <p:nvSpPr>
          <p:cNvPr id="54282" name="Rectangle 10"/>
          <p:cNvSpPr>
            <a:spLocks noChangeArrowheads="1"/>
          </p:cNvSpPr>
          <p:nvPr/>
        </p:nvSpPr>
        <p:spPr bwMode="auto">
          <a:xfrm>
            <a:off x="1676400" y="12954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82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autoUpdateAnimBg="0"/>
      <p:bldP spid="54276" grpId="0" autoUpdateAnimBg="0"/>
      <p:bldP spid="54277" grpId="0" autoUpdateAnimBg="0"/>
      <p:bldP spid="54278" grpId="0" autoUpdateAnimBg="0"/>
      <p:bldP spid="54279" grpId="0" autoUpdateAnimBg="0"/>
      <p:bldP spid="54280" grpId="0" autoUpdateAnimBg="0"/>
      <p:bldP spid="5428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第</a:t>
            </a:r>
            <a:r>
              <a:rPr lang="en-US" altLang="zh-CN" smtClean="0">
                <a:ea typeface="宋体" panose="02010600030101010101" pitchFamily="2" charset="-122"/>
              </a:rPr>
              <a:t>4</a:t>
            </a:r>
            <a:r>
              <a:rPr lang="zh-CN" altLang="en-US" smtClean="0">
                <a:ea typeface="宋体" panose="02010600030101010101" pitchFamily="2" charset="-122"/>
              </a:rPr>
              <a:t>章 作业 </a:t>
            </a:r>
          </a:p>
        </p:txBody>
      </p:sp>
      <p:sp>
        <p:nvSpPr>
          <p:cNvPr id="1198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1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7</a:t>
            </a:r>
            <a:r>
              <a:rPr lang="zh-CN" altLang="en-US" smtClean="0">
                <a:ea typeface="宋体" panose="02010600030101010101" pitchFamily="2" charset="-122"/>
              </a:rPr>
              <a:t>（</a:t>
            </a:r>
            <a:r>
              <a:rPr lang="en-US" altLang="zh-CN" smtClean="0">
                <a:ea typeface="宋体" panose="02010600030101010101" pitchFamily="2" charset="-122"/>
              </a:rPr>
              <a:t>b</a:t>
            </a:r>
            <a:r>
              <a:rPr lang="zh-CN" altLang="en-US" smtClean="0">
                <a:ea typeface="宋体" panose="02010600030101010101" pitchFamily="2" charset="-122"/>
              </a:rPr>
              <a:t>）（</a:t>
            </a:r>
            <a:r>
              <a:rPr lang="en-US" altLang="zh-CN" smtClean="0">
                <a:ea typeface="宋体" panose="02010600030101010101" pitchFamily="2" charset="-122"/>
              </a:rPr>
              <a:t>c</a:t>
            </a:r>
            <a:r>
              <a:rPr lang="zh-CN" altLang="en-US" smtClean="0">
                <a:ea typeface="宋体" panose="02010600030101010101" pitchFamily="2" charset="-122"/>
              </a:rPr>
              <a:t>）（</a:t>
            </a:r>
            <a:r>
              <a:rPr lang="en-US" altLang="zh-CN" smtClean="0">
                <a:ea typeface="宋体" panose="02010600030101010101" pitchFamily="2" charset="-122"/>
              </a:rPr>
              <a:t>g</a:t>
            </a:r>
            <a:r>
              <a:rPr lang="zh-CN" altLang="en-US" smtClean="0">
                <a:ea typeface="宋体" panose="02010600030101010101" pitchFamily="2" charset="-122"/>
              </a:rPr>
              <a:t>）（</a:t>
            </a:r>
            <a:r>
              <a:rPr lang="en-US" altLang="zh-CN" smtClean="0">
                <a:ea typeface="宋体" panose="02010600030101010101" pitchFamily="2" charset="-122"/>
              </a:rPr>
              <a:t>h</a:t>
            </a:r>
            <a:r>
              <a:rPr lang="zh-CN" altLang="en-US" smtClean="0">
                <a:ea typeface="宋体" panose="02010600030101010101" pitchFamily="2" charset="-122"/>
              </a:rPr>
              <a:t>）</a:t>
            </a: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8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12</a:t>
            </a:r>
            <a:r>
              <a:rPr lang="zh-CN" altLang="en-US" smtClean="0">
                <a:ea typeface="宋体" panose="02010600030101010101" pitchFamily="2" charset="-122"/>
              </a:rPr>
              <a:t>（横截型和级联型）</a:t>
            </a:r>
            <a:endParaRPr lang="en-US" altLang="zh-CN" smtClean="0">
              <a:ea typeface="宋体" panose="02010600030101010101" pitchFamily="2" charset="-122"/>
            </a:endParaRPr>
          </a:p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1981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7D15BA3-4C35-4B81-AC1F-8A0C76209E3D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18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TAG_VERSION" val="1.0"/>
  <p:tag name="KSO_WM_SLIDE_ID" val="custom20182766_12"/>
  <p:tag name="KSO_WM_SLIDE_INDEX" val="12"/>
  <p:tag name="KSO_WM_SLIDE_ITEM_CNT" val="2"/>
  <p:tag name="KSO_WM_SLIDE_LAYOUT" val="a_b"/>
  <p:tag name="KSO_WM_SLIDE_LAYOUT_CNT" val="1_1"/>
  <p:tag name="KSO_WM_SLIDE_TYPE" val="sectionTitle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UNIT_TYPE" val="a"/>
  <p:tag name="KSO_WM_UNIT_INDEX" val="1"/>
  <p:tag name="KSO_WM_UNIT_ID" val="custom20182766_12*a*1"/>
  <p:tag name="KSO_WM_UNIT_LAYERLEVEL" val="1"/>
  <p:tag name="KSO_WM_UNIT_VALUE" val="9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SECTION 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392</Words>
  <Application>Microsoft Office PowerPoint</Application>
  <PresentationFormat>宽屏</PresentationFormat>
  <Paragraphs>59</Paragraphs>
  <Slides>14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等线</vt:lpstr>
      <vt:lpstr>等线 Light</vt:lpstr>
      <vt:lpstr>楷体_GB2312</vt:lpstr>
      <vt:lpstr>宋体</vt:lpstr>
      <vt:lpstr>微软雅黑</vt:lpstr>
      <vt:lpstr>Arial</vt:lpstr>
      <vt:lpstr>Calibri</vt:lpstr>
      <vt:lpstr>Comic Sans MS</vt:lpstr>
      <vt:lpstr>Tahoma</vt:lpstr>
      <vt:lpstr>Times New Roman</vt:lpstr>
      <vt:lpstr>Wingdings</vt:lpstr>
      <vt:lpstr>Office 主题​​</vt:lpstr>
      <vt:lpstr>icfp99</vt:lpstr>
      <vt:lpstr>Equation</vt:lpstr>
      <vt:lpstr>公式</vt:lpstr>
      <vt:lpstr>Visio</vt:lpstr>
      <vt:lpstr>Document</vt:lpstr>
      <vt:lpstr>Filter基本结构</vt:lpstr>
      <vt:lpstr>复习</vt:lpstr>
      <vt:lpstr>4.3 FIR滤波器的结构 </vt:lpstr>
      <vt:lpstr>4.3 FIR滤波器的结构 </vt:lpstr>
      <vt:lpstr>PowerPoint 演示文稿</vt:lpstr>
      <vt:lpstr>三、 FIR  数字滤波器的级联型结构</vt:lpstr>
      <vt:lpstr>PowerPoint 演示文稿</vt:lpstr>
      <vt:lpstr>例题</vt:lpstr>
      <vt:lpstr>二、线性相位FIR DF结构</vt:lpstr>
      <vt:lpstr>四阶线性相位FIR  DF结构</vt:lpstr>
      <vt:lpstr>四、 FIR  数字滤波器的频率取样型结构</vt:lpstr>
      <vt:lpstr>频率取样型结构分析</vt:lpstr>
      <vt:lpstr>直接型结构</vt:lpstr>
      <vt:lpstr>第4章 作业 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数字滤波器的基本结构</dc:title>
  <dc:creator>Administrator</dc:creator>
  <cp:lastModifiedBy>Administrator</cp:lastModifiedBy>
  <cp:revision>49</cp:revision>
  <dcterms:created xsi:type="dcterms:W3CDTF">2020-08-06T07:36:31Z</dcterms:created>
  <dcterms:modified xsi:type="dcterms:W3CDTF">2022-12-03T11:14:55Z</dcterms:modified>
</cp:coreProperties>
</file>