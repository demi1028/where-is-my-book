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43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66BD-A5B0-496B-94FC-CB3C101F2C21}" type="datetimeFigureOut">
              <a:rPr lang="zh-CN" altLang="en-US" smtClean="0"/>
              <a:t>2023/9/21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ED852-2A16-4DE8-8237-7F151C998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09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0064FE-1526-497C-9A70-1A8F6907EF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75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709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83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30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409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64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271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234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83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784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77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72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79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69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e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emf"/><Relationship Id="rId15" Type="http://schemas.openxmlformats.org/officeDocument/2006/relationships/image" Target="../media/image12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emf"/><Relationship Id="rId1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章 绪论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DSP</a:t>
            </a:r>
            <a:r>
              <a:rPr lang="zh-CN" altLang="en-US" dirty="0">
                <a:ea typeface="宋体" panose="02010600030101010101" pitchFamily="2" charset="-122"/>
              </a:rPr>
              <a:t>概念；</a:t>
            </a:r>
            <a:r>
              <a:rPr lang="en-US" altLang="zh-CN" dirty="0">
                <a:ea typeface="宋体" panose="02010600030101010101" pitchFamily="2" charset="-122"/>
              </a:rPr>
              <a:t>DSP</a:t>
            </a:r>
            <a:r>
              <a:rPr lang="zh-CN" altLang="en-US" dirty="0">
                <a:ea typeface="宋体" panose="02010600030101010101" pitchFamily="2" charset="-122"/>
              </a:rPr>
              <a:t>主要内容；</a:t>
            </a:r>
            <a:r>
              <a:rPr lang="en-US" altLang="zh-CN" dirty="0">
                <a:ea typeface="宋体" panose="02010600030101010101" pitchFamily="2" charset="-122"/>
              </a:rPr>
              <a:t>DSP</a:t>
            </a:r>
            <a:r>
              <a:rPr lang="zh-CN" altLang="en-US" dirty="0">
                <a:ea typeface="宋体" panose="02010600030101010101" pitchFamily="2" charset="-122"/>
              </a:rPr>
              <a:t>特点；</a:t>
            </a:r>
            <a:r>
              <a:rPr lang="en-US" altLang="zh-CN" dirty="0">
                <a:ea typeface="宋体" panose="02010600030101010101" pitchFamily="2" charset="-122"/>
              </a:rPr>
              <a:t>DSP</a:t>
            </a:r>
            <a:r>
              <a:rPr lang="zh-CN" altLang="en-US" dirty="0">
                <a:ea typeface="宋体" panose="02010600030101010101" pitchFamily="2" charset="-122"/>
              </a:rPr>
              <a:t>简单处理流程；</a:t>
            </a:r>
            <a:r>
              <a:rPr lang="en-US" altLang="zh-CN" dirty="0">
                <a:ea typeface="宋体" panose="02010600030101010101" pitchFamily="2" charset="-122"/>
              </a:rPr>
              <a:t>DSP</a:t>
            </a:r>
            <a:r>
              <a:rPr lang="zh-CN" altLang="en-US" dirty="0">
                <a:ea typeface="宋体" panose="02010600030101010101" pitchFamily="2" charset="-122"/>
              </a:rPr>
              <a:t>基础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章 离散时间信号与系统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离散时间信号表示方式；基本序列函数；序列运算；离散时间系统描述方式（差分方程、</a:t>
            </a:r>
            <a:r>
              <a:rPr lang="en-US" altLang="zh-CN" dirty="0">
                <a:ea typeface="宋体" panose="02010600030101010101" pitchFamily="2" charset="-122"/>
              </a:rPr>
              <a:t>h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k</a:t>
            </a:r>
            <a:r>
              <a:rPr lang="zh-CN" altLang="en-US" dirty="0">
                <a:ea typeface="宋体" panose="02010600030101010101" pitchFamily="2" charset="-122"/>
              </a:rPr>
              <a:t>））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数字域频率与模拟域频率间关系？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已知</a:t>
            </a:r>
            <a:r>
              <a:rPr lang="en-US" altLang="zh-CN">
                <a:ea typeface="宋体" panose="02010600030101010101" pitchFamily="2" charset="-122"/>
              </a:rPr>
              <a:t>LTI</a:t>
            </a:r>
            <a:r>
              <a:rPr lang="zh-CN" altLang="en-US">
                <a:ea typeface="宋体" panose="02010600030101010101" pitchFamily="2" charset="-122"/>
              </a:rPr>
              <a:t>系统的差分方程，怎么求系统单位脉冲响应函数？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37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676400" y="1371601"/>
            <a:ext cx="4267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(Linearity)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2711451" y="2276476"/>
          <a:ext cx="66024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41600" imgH="215900" progId="Equation.3">
                  <p:embed/>
                </p:oleObj>
              </mc:Choice>
              <mc:Fallback>
                <p:oleObj name="公式" r:id="rId2" imgW="2641600" imgH="215900" progId="Equation.3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276476"/>
                        <a:ext cx="66024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4038600" y="76200"/>
            <a:ext cx="42672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离散系统分类</a:t>
            </a:r>
          </a:p>
        </p:txBody>
      </p:sp>
      <p:sp>
        <p:nvSpPr>
          <p:cNvPr id="22534" name="Rectangle 10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5" name="Text Box 11"/>
          <p:cNvSpPr txBox="1">
            <a:spLocks noChangeArrowheads="1"/>
          </p:cNvSpPr>
          <p:nvPr/>
        </p:nvSpPr>
        <p:spPr bwMode="auto">
          <a:xfrm>
            <a:off x="1752600" y="3592513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时不变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(Time-Invatiance)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2279650" y="4292601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]}=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，则有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]}=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2208213" y="5445126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线性时不变系统简称为：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LTI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</a:p>
        </p:txBody>
      </p:sp>
    </p:spTree>
    <p:extLst>
      <p:ext uri="{BB962C8B-B14F-4D97-AF65-F5344CB8AC3E}">
        <p14:creationId xmlns:p14="http://schemas.microsoft.com/office/powerpoint/2010/main" val="8933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0" grpId="0" autoUpdateAnimBg="0"/>
      <p:bldP spid="2766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284549-B916-4E93-855B-4061DDB7CA3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81000"/>
            <a:ext cx="80772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线性时不变系统的性质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0"/>
            <a:ext cx="8534400" cy="49530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ea typeface="宋体" charset="-122"/>
              </a:rPr>
              <a:t>交换律</a:t>
            </a:r>
            <a:endParaRPr lang="en-US" altLang="zh-CN" sz="2400" dirty="0">
              <a:ea typeface="宋体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zh-CN" sz="2400" dirty="0">
              <a:ea typeface="宋体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zh-CN" sz="2400" dirty="0">
              <a:ea typeface="宋体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ea typeface="宋体" charset="-122"/>
              </a:rPr>
              <a:t>结合律</a:t>
            </a:r>
            <a:r>
              <a:rPr lang="en-US" altLang="zh-CN" sz="2400" dirty="0">
                <a:ea typeface="宋体" charset="-122"/>
              </a:rPr>
              <a:t> </a:t>
            </a:r>
          </a:p>
          <a:p>
            <a:pPr marL="914400" lvl="2" indent="0">
              <a:lnSpc>
                <a:spcPct val="120000"/>
              </a:lnSpc>
              <a:buNone/>
              <a:defRPr/>
            </a:pPr>
            <a:endParaRPr lang="en-US" altLang="zh-CN" dirty="0">
              <a:ea typeface="宋体" charset="-122"/>
            </a:endParaRPr>
          </a:p>
          <a:p>
            <a:pPr marL="914400" lvl="2" indent="0">
              <a:lnSpc>
                <a:spcPct val="120000"/>
              </a:lnSpc>
              <a:buNone/>
              <a:defRPr/>
            </a:pPr>
            <a:endParaRPr lang="en-US" altLang="zh-CN" dirty="0">
              <a:ea typeface="宋体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宋体" charset="-122"/>
              </a:rPr>
              <a:t>分配律</a:t>
            </a:r>
            <a:endParaRPr lang="en-US" altLang="zh-CN" sz="2000" dirty="0">
              <a:ea typeface="宋体" charset="-122"/>
            </a:endParaRPr>
          </a:p>
          <a:p>
            <a:pPr lvl="1">
              <a:lnSpc>
                <a:spcPct val="110000"/>
              </a:lnSpc>
              <a:defRPr/>
            </a:pPr>
            <a:endParaRPr lang="en-US" altLang="zh-CN" sz="2000" dirty="0">
              <a:ea typeface="宋体" charset="-122"/>
            </a:endParaRPr>
          </a:p>
          <a:p>
            <a:pPr lvl="1">
              <a:lnSpc>
                <a:spcPct val="110000"/>
              </a:lnSpc>
              <a:buFontTx/>
              <a:buNone/>
              <a:defRPr/>
            </a:pPr>
            <a:endParaRPr lang="zh-CN" altLang="en-US" sz="2000" dirty="0">
              <a:ea typeface="宋体" charset="-122"/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238376"/>
            <a:ext cx="4476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3752850"/>
            <a:ext cx="7334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4" y="5019676"/>
            <a:ext cx="66198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23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8" name="Text Box 1026"/>
          <p:cNvSpPr txBox="1">
            <a:spLocks noChangeArrowheads="1"/>
          </p:cNvSpPr>
          <p:nvPr/>
        </p:nvSpPr>
        <p:spPr bwMode="auto">
          <a:xfrm>
            <a:off x="1992313" y="2276475"/>
            <a:ext cx="83058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输入序列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产生的输出序列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]}=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输入序列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产生的输出序列为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]}=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由于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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故该离散系统是时变系统。</a:t>
            </a:r>
          </a:p>
        </p:txBody>
      </p:sp>
      <p:sp>
        <p:nvSpPr>
          <p:cNvPr id="23556" name="Text Box 1027"/>
          <p:cNvSpPr txBox="1">
            <a:spLocks noChangeArrowheads="1"/>
          </p:cNvSpPr>
          <p:nvPr/>
        </p:nvSpPr>
        <p:spPr bwMode="auto">
          <a:xfrm>
            <a:off x="1919288" y="333375"/>
            <a:ext cx="8305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已知抽取器的输入和输出关系为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试判断该离散系统是否为时不变系统？</a:t>
            </a:r>
          </a:p>
        </p:txBody>
      </p:sp>
    </p:spTree>
    <p:extLst>
      <p:ext uri="{BB962C8B-B14F-4D97-AF65-F5344CB8AC3E}">
        <p14:creationId xmlns:p14="http://schemas.microsoft.com/office/powerpoint/2010/main" val="348858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8616951" y="1412876"/>
          <a:ext cx="17494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5920" imgH="215806" progId="Equation.3">
                  <p:embed/>
                </p:oleObj>
              </mc:Choice>
              <mc:Fallback>
                <p:oleObj name="公式" r:id="rId2" imgW="875920" imgH="215806" progId="Equation.3">
                  <p:embed/>
                  <p:pic>
                    <p:nvPicPr>
                      <p:cNvPr id="296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1" y="1412876"/>
                        <a:ext cx="17494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6743700" y="1557339"/>
          <a:ext cx="3627438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813632" imgH="941166" progId="Visio.Drawing.5">
                  <p:embed/>
                </p:oleObj>
              </mc:Choice>
              <mc:Fallback>
                <p:oleObj name="VISIO" r:id="rId4" imgW="1813632" imgH="941166" progId="Visio.Drawing.5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1557339"/>
                        <a:ext cx="3627438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992313" y="3789364"/>
          <a:ext cx="19542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77476" imgH="215806" progId="Equation.3">
                  <p:embed/>
                </p:oleObj>
              </mc:Choice>
              <mc:Fallback>
                <p:oleObj name="公式" r:id="rId6" imgW="977476" imgH="215806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789364"/>
                        <a:ext cx="19542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1774826" y="4076700"/>
          <a:ext cx="38068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631290" imgH="924154" progId="Visio.Drawing.6">
                  <p:embed/>
                </p:oleObj>
              </mc:Choice>
              <mc:Fallback>
                <p:oleObj name="Visio" r:id="rId8" imgW="1631290" imgH="924154" progId="Visio.Drawing.6">
                  <p:embed/>
                  <p:pic>
                    <p:nvPicPr>
                      <p:cNvPr id="297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4076700"/>
                        <a:ext cx="380682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8439150" y="3776663"/>
          <a:ext cx="2159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228600" progId="Equation.DSMT4">
                  <p:embed/>
                </p:oleObj>
              </mc:Choice>
              <mc:Fallback>
                <p:oleObj name="Equation" r:id="rId10" imgW="1079280" imgH="228600" progId="Equation.DSMT4">
                  <p:embed/>
                  <p:pic>
                    <p:nvPicPr>
                      <p:cNvPr id="29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9150" y="3776663"/>
                        <a:ext cx="21590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6527801" y="4149725"/>
          <a:ext cx="3806825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903917" imgH="1031594" progId="Visio.Drawing.6">
                  <p:embed/>
                </p:oleObj>
              </mc:Choice>
              <mc:Fallback>
                <p:oleObj name="Visio" r:id="rId12" imgW="1903917" imgH="1031594" progId="Visio.Drawing.6">
                  <p:embed/>
                  <p:pic>
                    <p:nvPicPr>
                      <p:cNvPr id="297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4149725"/>
                        <a:ext cx="3806825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15"/>
          <p:cNvGraphicFramePr>
            <a:graphicFrameLocks noChangeAspect="1"/>
          </p:cNvGraphicFramePr>
          <p:nvPr/>
        </p:nvGraphicFramePr>
        <p:xfrm>
          <a:off x="1524001" y="1341438"/>
          <a:ext cx="4073525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1770888" imgH="878129" progId="Visio.Drawing.6">
                  <p:embed/>
                </p:oleObj>
              </mc:Choice>
              <mc:Fallback>
                <p:oleObj name="Visio" r:id="rId14" imgW="1770888" imgH="878129" progId="Visio.Drawing.6">
                  <p:embed/>
                  <p:pic>
                    <p:nvPicPr>
                      <p:cNvPr id="2458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341438"/>
                        <a:ext cx="4073525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Text Box 18"/>
          <p:cNvSpPr txBox="1">
            <a:spLocks noChangeArrowheads="1"/>
          </p:cNvSpPr>
          <p:nvPr/>
        </p:nvSpPr>
        <p:spPr bwMode="auto">
          <a:xfrm>
            <a:off x="2209800" y="188913"/>
            <a:ext cx="716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抽取器时变特性的图示说明</a:t>
            </a:r>
          </a:p>
        </p:txBody>
      </p:sp>
    </p:spTree>
    <p:extLst>
      <p:ext uri="{BB962C8B-B14F-4D97-AF65-F5344CB8AC3E}">
        <p14:creationId xmlns:p14="http://schemas.microsoft.com/office/powerpoint/2010/main" val="357133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606883"/>
            <a:ext cx="5792201" cy="58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537158"/>
            <a:ext cx="7574435" cy="56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381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1774825" y="1628776"/>
            <a:ext cx="4648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因果性（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Causality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2063751" y="2708275"/>
            <a:ext cx="7993063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离散系统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时刻的输出只与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时刻及以前的输入有关。即系统的输出不超前于系统的输入。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279651" y="4149726"/>
            <a:ext cx="756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定理：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LTI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系统为因果系统的充要条件为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3863975" y="4868863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]=0;  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&lt;0.</a:t>
            </a:r>
          </a:p>
        </p:txBody>
      </p:sp>
      <p:sp>
        <p:nvSpPr>
          <p:cNvPr id="25607" name="Text Box 12"/>
          <p:cNvSpPr txBox="1">
            <a:spLocks noChangeArrowheads="1"/>
          </p:cNvSpPr>
          <p:nvPr/>
        </p:nvSpPr>
        <p:spPr bwMode="auto">
          <a:xfrm>
            <a:off x="4038600" y="195263"/>
            <a:ext cx="42672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离散系统分类</a:t>
            </a:r>
          </a:p>
        </p:txBody>
      </p:sp>
    </p:spTree>
    <p:extLst>
      <p:ext uri="{BB962C8B-B14F-4D97-AF65-F5344CB8AC3E}">
        <p14:creationId xmlns:p14="http://schemas.microsoft.com/office/powerpoint/2010/main" val="28421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utoUpdateAnimBg="0"/>
      <p:bldP spid="3175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2711450" y="4724401"/>
            <a:ext cx="61214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=&lt;0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时，系统是因果的。</a:t>
            </a:r>
          </a:p>
        </p:txBody>
      </p:sp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3648076" y="3500438"/>
          <a:ext cx="54594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74900" imgH="431800" progId="Equation.3">
                  <p:embed/>
                </p:oleObj>
              </mc:Choice>
              <mc:Fallback>
                <p:oleObj name="公式" r:id="rId2" imgW="2374900" imgH="431800" progId="Equation.3">
                  <p:embed/>
                  <p:pic>
                    <p:nvPicPr>
                      <p:cNvPr id="491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3500438"/>
                        <a:ext cx="5459413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8"/>
          <p:cNvSpPr>
            <a:spLocks noChangeArrowheads="1"/>
          </p:cNvSpPr>
          <p:nvPr/>
        </p:nvSpPr>
        <p:spPr bwMode="auto">
          <a:xfrm>
            <a:off x="1752600" y="83185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2063750" y="76200"/>
            <a:ext cx="81470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判断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点滑动平均系统的因果性	</a:t>
            </a:r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2859088" y="11255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点滑动平均系统的输入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输出关系</a:t>
            </a:r>
          </a:p>
        </p:txBody>
      </p:sp>
      <p:graphicFrame>
        <p:nvGraphicFramePr>
          <p:cNvPr id="26632" name="Object 5"/>
          <p:cNvGraphicFramePr>
            <a:graphicFrameLocks noChangeAspect="1"/>
          </p:cNvGraphicFramePr>
          <p:nvPr/>
        </p:nvGraphicFramePr>
        <p:xfrm>
          <a:off x="4535488" y="1630364"/>
          <a:ext cx="39862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93900" imgH="469900" progId="Equation.3">
                  <p:embed/>
                </p:oleObj>
              </mc:Choice>
              <mc:Fallback>
                <p:oleObj name="公式" r:id="rId4" imgW="1993900" imgH="469900" progId="Equation.3">
                  <p:embed/>
                  <p:pic>
                    <p:nvPicPr>
                      <p:cNvPr id="2663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1630364"/>
                        <a:ext cx="3986212" cy="10382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10"/>
          <p:cNvSpPr txBox="1">
            <a:spLocks noChangeArrowheads="1"/>
          </p:cNvSpPr>
          <p:nvPr/>
        </p:nvSpPr>
        <p:spPr bwMode="auto">
          <a:xfrm>
            <a:off x="2782888" y="2555876"/>
            <a:ext cx="62484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可得该系统的的单位脉冲响应</a:t>
            </a:r>
            <a:r>
              <a:rPr kumimoji="1" lang="zh-CN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zh-CN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	</a:t>
            </a:r>
          </a:p>
        </p:txBody>
      </p:sp>
      <p:sp>
        <p:nvSpPr>
          <p:cNvPr id="26634" name="Text Box 12"/>
          <p:cNvSpPr txBox="1">
            <a:spLocks noChangeArrowheads="1"/>
          </p:cNvSpPr>
          <p:nvPr/>
        </p:nvSpPr>
        <p:spPr bwMode="auto">
          <a:xfrm>
            <a:off x="1774825" y="112553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345484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1703388" y="1557338"/>
            <a:ext cx="22098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．稳定性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774825" y="2349501"/>
            <a:ext cx="8534400" cy="1150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当输入|</a:t>
            </a:r>
            <a:r>
              <a:rPr kumimoji="1" lang="zh-CN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zh-CN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]|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</a:t>
            </a:r>
            <a:r>
              <a:rPr kumimoji="1" lang="en-US" altLang="zh-CN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 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有界，若输出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</a:t>
            </a:r>
            <a:r>
              <a:rPr kumimoji="1" lang="zh-CN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zh-CN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]|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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y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 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也有界，则称系统是稳定。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1847851" y="4221164"/>
            <a:ext cx="82089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定理：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LTI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系统稳定的充分必要条件是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2777" name="Object 9"/>
          <p:cNvGraphicFramePr>
            <a:graphicFrameLocks noChangeAspect="1"/>
          </p:cNvGraphicFramePr>
          <p:nvPr/>
        </p:nvGraphicFramePr>
        <p:xfrm>
          <a:off x="4440238" y="5084763"/>
          <a:ext cx="2997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7635" imgH="425588" progId="Equation.3">
                  <p:embed/>
                </p:oleObj>
              </mc:Choice>
              <mc:Fallback>
                <p:oleObj name="公式" r:id="rId2" imgW="1187635" imgH="425588" progId="Equation.3">
                  <p:embed/>
                  <p:pic>
                    <p:nvPicPr>
                      <p:cNvPr id="327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5084763"/>
                        <a:ext cx="29972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16"/>
          <p:cNvSpPr txBox="1">
            <a:spLocks noChangeArrowheads="1"/>
          </p:cNvSpPr>
          <p:nvPr/>
        </p:nvSpPr>
        <p:spPr bwMode="auto">
          <a:xfrm>
            <a:off x="4038600" y="195263"/>
            <a:ext cx="42672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离散系统分类</a:t>
            </a:r>
          </a:p>
        </p:txBody>
      </p:sp>
    </p:spTree>
    <p:extLst>
      <p:ext uri="{BB962C8B-B14F-4D97-AF65-F5344CB8AC3E}">
        <p14:creationId xmlns:p14="http://schemas.microsoft.com/office/powerpoint/2010/main" val="361202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离散时间信号与系统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1919288" y="1530350"/>
            <a:ext cx="676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点滑动平均系统的单位脉冲响应为</a:t>
            </a:r>
          </a:p>
        </p:txBody>
      </p:sp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4440239" y="4051300"/>
          <a:ext cx="16986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4364" imgH="431613" progId="Equation.3">
                  <p:embed/>
                </p:oleObj>
              </mc:Choice>
              <mc:Fallback>
                <p:oleObj name="公式" r:id="rId2" imgW="774364" imgH="431613" progId="Equation.3">
                  <p:embed/>
                  <p:pic>
                    <p:nvPicPr>
                      <p:cNvPr id="338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9" y="4051300"/>
                        <a:ext cx="169862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3760788" y="2198688"/>
          <a:ext cx="545941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74900" imgH="431800" progId="Equation.3">
                  <p:embed/>
                </p:oleObj>
              </mc:Choice>
              <mc:Fallback>
                <p:oleObj name="公式" r:id="rId4" imgW="2374900" imgH="431800" progId="Equation.3">
                  <p:embed/>
                  <p:pic>
                    <p:nvPicPr>
                      <p:cNvPr id="33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2198688"/>
                        <a:ext cx="545941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2279650" y="5059364"/>
            <a:ext cx="76200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因此该系统稳定。	</a:t>
            </a:r>
          </a:p>
        </p:txBody>
      </p:sp>
      <p:sp>
        <p:nvSpPr>
          <p:cNvPr id="28680" name="Text Box 19"/>
          <p:cNvSpPr txBox="1">
            <a:spLocks noChangeArrowheads="1"/>
          </p:cNvSpPr>
          <p:nvPr/>
        </p:nvSpPr>
        <p:spPr bwMode="auto">
          <a:xfrm>
            <a:off x="2063750" y="76200"/>
            <a:ext cx="81470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判断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点滑动平均系统的稳定性	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2135188" y="3259139"/>
            <a:ext cx="73453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由于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点滑动平均系统为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LTI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系统，且</a:t>
            </a:r>
          </a:p>
        </p:txBody>
      </p:sp>
    </p:spTree>
    <p:extLst>
      <p:ext uri="{BB962C8B-B14F-4D97-AF65-F5344CB8AC3E}">
        <p14:creationId xmlns:p14="http://schemas.microsoft.com/office/powerpoint/2010/main" val="94237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" grpId="0"/>
      <p:bldP spid="33805" grpId="0" autoUpdateAnimBg="0"/>
      <p:bldP spid="33812" grpId="0" autoUpdateAnimBg="0"/>
    </p:bld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477</Words>
  <Application>Microsoft Office PowerPoint</Application>
  <PresentationFormat>宽屏</PresentationFormat>
  <Paragraphs>59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Comic Sans MS</vt:lpstr>
      <vt:lpstr>Symbol</vt:lpstr>
      <vt:lpstr>Times New Roman</vt:lpstr>
      <vt:lpstr>icfp99</vt:lpstr>
      <vt:lpstr>公式</vt:lpstr>
      <vt:lpstr>VISIO</vt:lpstr>
      <vt:lpstr>Visio</vt:lpstr>
      <vt:lpstr>Equation</vt:lpstr>
      <vt:lpstr>PowerPoint 演示文稿</vt:lpstr>
      <vt:lpstr>PowerPoint 演示文稿</vt:lpstr>
      <vt:lpstr>线性时不变系统的性质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离散时间信号与系统</dc:title>
  <dc:creator>Administrator</dc:creator>
  <cp:lastModifiedBy>CHAO WU</cp:lastModifiedBy>
  <cp:revision>47</cp:revision>
  <dcterms:created xsi:type="dcterms:W3CDTF">2020-08-06T07:23:58Z</dcterms:created>
  <dcterms:modified xsi:type="dcterms:W3CDTF">2023-09-21T03:55:43Z</dcterms:modified>
</cp:coreProperties>
</file>