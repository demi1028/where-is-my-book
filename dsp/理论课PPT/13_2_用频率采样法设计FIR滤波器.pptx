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89" r:id="rId2"/>
    <p:sldId id="290" r:id="rId3"/>
    <p:sldId id="291" r:id="rId4"/>
    <p:sldId id="292" r:id="rId5"/>
    <p:sldId id="293" r:id="rId6"/>
    <p:sldId id="294" r:id="rId7"/>
    <p:sldId id="295" r:id="rId8"/>
    <p:sldId id="296" r:id="rId9"/>
    <p:sldId id="297" r:id="rId10"/>
    <p:sldId id="302" r:id="rId11"/>
    <p:sldId id="298" r:id="rId12"/>
    <p:sldId id="299" r:id="rId13"/>
    <p:sldId id="300" r:id="rId14"/>
    <p:sldId id="301"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30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4"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6.wmf"/><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4"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5" Type="http://schemas.openxmlformats.org/officeDocument/2006/relationships/image" Target="../media/image28.wmf"/><Relationship Id="rId4"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86B00B-54CB-4FD4-AD3F-796709BABE15}" type="datetimeFigureOut">
              <a:rPr lang="zh-CN" altLang="en-US" smtClean="0"/>
              <a:t>2022/12/3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92C5B2-54EB-4804-8D08-12B7DE2D612E}" type="slidenum">
              <a:rPr lang="zh-CN" altLang="en-US" smtClean="0"/>
              <a:t>‹#›</a:t>
            </a:fld>
            <a:endParaRPr lang="zh-CN" altLang="en-US"/>
          </a:p>
        </p:txBody>
      </p:sp>
    </p:spTree>
    <p:extLst>
      <p:ext uri="{BB962C8B-B14F-4D97-AF65-F5344CB8AC3E}">
        <p14:creationId xmlns:p14="http://schemas.microsoft.com/office/powerpoint/2010/main" val="3945073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幻灯片图像占位符 1"/>
          <p:cNvSpPr>
            <a:spLocks noGrp="1" noRot="1" noChangeAspect="1" noTextEdit="1"/>
          </p:cNvSpPr>
          <p:nvPr>
            <p:ph type="sldImg"/>
          </p:nvPr>
        </p:nvSpPr>
        <p:spPr>
          <a:ln/>
        </p:spPr>
      </p:sp>
      <p:sp>
        <p:nvSpPr>
          <p:cNvPr id="265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New Roman" panose="02020603050405020304" pitchFamily="18" charset="0"/>
            </a:endParaRPr>
          </a:p>
        </p:txBody>
      </p:sp>
      <p:sp>
        <p:nvSpPr>
          <p:cNvPr id="265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8CF56E7-B511-4F92-97DF-2112787412C4}"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858574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098" name="Rectangle 1026"/>
          <p:cNvSpPr>
            <a:spLocks noGrp="1" noChangeArrowheads="1"/>
          </p:cNvSpPr>
          <p:nvPr>
            <p:ph type="ctrTitle"/>
          </p:nvPr>
        </p:nvSpPr>
        <p:spPr>
          <a:xfrm>
            <a:off x="914400" y="2286000"/>
            <a:ext cx="10363200" cy="1143000"/>
          </a:xfrm>
        </p:spPr>
        <p:txBody>
          <a:bodyPr/>
          <a:lstStyle>
            <a:lvl1pPr algn="ctr">
              <a:defRPr/>
            </a:lvl1pPr>
          </a:lstStyle>
          <a:p>
            <a:r>
              <a:rPr lang="en-US" altLang="zh-CN"/>
              <a:t>Click to edit Master title style</a:t>
            </a:r>
          </a:p>
        </p:txBody>
      </p:sp>
      <p:sp>
        <p:nvSpPr>
          <p:cNvPr id="4099" name="Rectangle 1027"/>
          <p:cNvSpPr>
            <a:spLocks noGrp="1" noChangeArrowheads="1"/>
          </p:cNvSpPr>
          <p:nvPr>
            <p:ph type="subTitle" idx="1"/>
          </p:nvPr>
        </p:nvSpPr>
        <p:spPr>
          <a:xfrm>
            <a:off x="1828800" y="3886200"/>
            <a:ext cx="8534400" cy="1752600"/>
          </a:xfrm>
        </p:spPr>
        <p:txBody>
          <a:bodyPr/>
          <a:lstStyle>
            <a:lvl1pPr marL="0" indent="0" algn="ctr">
              <a:buFontTx/>
              <a:buNone/>
              <a:defRPr/>
            </a:lvl1pPr>
          </a:lstStyle>
          <a:p>
            <a:r>
              <a:rPr lang="en-US" altLang="zh-CN"/>
              <a:t>Click to edit Master subtitle style</a:t>
            </a:r>
          </a:p>
        </p:txBody>
      </p:sp>
      <p:sp>
        <p:nvSpPr>
          <p:cNvPr id="4" name="Rectangle 1028"/>
          <p:cNvSpPr>
            <a:spLocks noGrp="1" noChangeArrowheads="1"/>
          </p:cNvSpPr>
          <p:nvPr>
            <p:ph type="dt" sz="half" idx="10"/>
          </p:nvPr>
        </p:nvSpPr>
        <p:spPr>
          <a:xfrm>
            <a:off x="711200" y="6248400"/>
            <a:ext cx="2540000" cy="457200"/>
          </a:xfrm>
        </p:spPr>
        <p:txBody>
          <a:bodyPr/>
          <a:lstStyle>
            <a:lvl1pPr>
              <a:defRPr/>
            </a:lvl1pPr>
          </a:lstStyle>
          <a:p>
            <a:pPr eaLnBrk="0" fontAlgn="base" hangingPunct="0">
              <a:spcBef>
                <a:spcPct val="0"/>
              </a:spcBef>
              <a:spcAft>
                <a:spcPct val="0"/>
              </a:spcAft>
              <a:defRPr/>
            </a:pPr>
            <a:fld id="{9EB89419-C344-40C6-B4AF-B64360F5EC64}"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5" name="Rectangle 1029"/>
          <p:cNvSpPr>
            <a:spLocks noGrp="1" noChangeArrowheads="1"/>
          </p:cNvSpPr>
          <p:nvPr>
            <p:ph type="ftr" sz="quarter" idx="11"/>
          </p:nvPr>
        </p:nvSpPr>
        <p:spPr>
          <a:xfrm>
            <a:off x="3352800" y="6248400"/>
            <a:ext cx="5486400" cy="457200"/>
          </a:xfrm>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6" name="Rectangle 1030"/>
          <p:cNvSpPr>
            <a:spLocks noGrp="1" noChangeArrowheads="1"/>
          </p:cNvSpPr>
          <p:nvPr>
            <p:ph type="sldNum" sz="quarter" idx="12"/>
          </p:nvPr>
        </p:nvSpPr>
        <p:spPr>
          <a:xfrm>
            <a:off x="8940800" y="6248400"/>
            <a:ext cx="2540000" cy="457200"/>
          </a:xfrm>
        </p:spPr>
        <p:txBody>
          <a:bodyPr/>
          <a:lstStyle>
            <a:lvl1pPr>
              <a:defRPr/>
            </a:lvl1pPr>
          </a:lstStyle>
          <a:p>
            <a:pPr eaLnBrk="0" fontAlgn="base" hangingPunct="0">
              <a:spcBef>
                <a:spcPct val="0"/>
              </a:spcBef>
              <a:spcAft>
                <a:spcPct val="0"/>
              </a:spcAft>
            </a:pPr>
            <a:fld id="{AD0EC15D-9C77-4188-80FD-534CB4D62597}"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3136342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图片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5167" y="165100"/>
            <a:ext cx="1405467"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eaLnBrk="0" fontAlgn="base" hangingPunct="0">
              <a:spcBef>
                <a:spcPct val="0"/>
              </a:spcBef>
              <a:spcAft>
                <a:spcPct val="0"/>
              </a:spcAft>
              <a:defRPr/>
            </a:pPr>
            <a:fld id="{61009DD4-B744-4A5A-9BCF-2BE1219C8786}"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eaLnBrk="0" fontAlgn="base" hangingPunct="0">
              <a:spcBef>
                <a:spcPct val="0"/>
              </a:spcBef>
              <a:spcAft>
                <a:spcPct val="0"/>
              </a:spcAft>
            </a:pPr>
            <a:fld id="{8E25163F-56F0-4728-A241-57C30AA276FE}"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908011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ADB5375B-8E09-4DD8-A950-D279B55D1AF6}"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684607E7-4DB9-45E5-BF73-16A5A03CEE1A}"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719176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4356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48400" y="1600200"/>
            <a:ext cx="54356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FEA3D01B-CED5-4F8A-B6C8-7E3E79320ED9}"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BD40AEE6-7319-4B5B-93D0-3548900E185A}"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1013187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ED440ECF-C06C-4365-A82F-7FCF58AB175D}"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E1916CC5-3ED3-4E00-85B5-005DC67C0A92}"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137987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D1AF378D-529B-499C-888D-96616A7FD7B3}"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247B3999-57F6-416E-A1A2-5253D300C464}"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2073723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09C2F7E0-74B7-4DF6-835D-211E54381D8A}"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8E688483-54E8-444F-A583-0A553B1CE948}"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4293660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1221B5CF-6445-489A-A45C-4EC7F4623F90}"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D1114EFF-8E6F-4E42-8213-F37E8D3AB8CE}"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1978407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34BE24FC-2A45-4A55-B139-5F9494B1CB54}"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D8908285-CA4E-423B-8642-8726C1B3382C}"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3892690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61BEAA45-778A-4741-845A-F018261E7A96}"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413AA134-3FB7-4864-BDD9-113D7FC3B5CA}"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579184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15400" y="457200"/>
            <a:ext cx="2768600" cy="5562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457200"/>
            <a:ext cx="8102600" cy="55626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0BDC5DBC-5A12-4956-B0A7-3CBFEBC2F06C}"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FF6064C9-616C-418B-B0ED-83E8E1DAAE91}"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1039749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769600" cy="914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600200"/>
            <a:ext cx="5435600" cy="4419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48400" y="1600200"/>
            <a:ext cx="5435600" cy="4419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F603FB61-C213-45FB-A763-B77CDEFEA231}"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BCD01B68-6309-4BDA-8324-A2F95C8B9363}"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4152864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457200"/>
            <a:ext cx="1076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
        <p:nvSpPr>
          <p:cNvPr id="1027" name="Rectangle 3"/>
          <p:cNvSpPr>
            <a:spLocks noGrp="1" noChangeArrowheads="1"/>
          </p:cNvSpPr>
          <p:nvPr>
            <p:ph type="body" idx="1"/>
          </p:nvPr>
        </p:nvSpPr>
        <p:spPr bwMode="auto">
          <a:xfrm>
            <a:off x="609600" y="1600200"/>
            <a:ext cx="11074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3076" name="Rectangle 4"/>
          <p:cNvSpPr>
            <a:spLocks noGrp="1" noChangeArrowheads="1"/>
          </p:cNvSpPr>
          <p:nvPr>
            <p:ph type="dt" sz="half" idx="2"/>
          </p:nvPr>
        </p:nvSpPr>
        <p:spPr bwMode="auto">
          <a:xfrm>
            <a:off x="1117600" y="6172200"/>
            <a:ext cx="2032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Times New Roman" charset="0"/>
                <a:ea typeface="宋体" panose="02010600030101010101" pitchFamily="2" charset="-122"/>
              </a:defRPr>
            </a:lvl1pPr>
          </a:lstStyle>
          <a:p>
            <a:pPr eaLnBrk="0" fontAlgn="base" hangingPunct="0">
              <a:spcBef>
                <a:spcPct val="0"/>
              </a:spcBef>
              <a:spcAft>
                <a:spcPct val="0"/>
              </a:spcAft>
              <a:defRPr/>
            </a:pPr>
            <a:fld id="{05F930D0-305E-4488-9A18-18976C29D3CE}" type="datetime1">
              <a:rPr lang="zh-CN" altLang="en-US" smtClean="0">
                <a:solidFill>
                  <a:srgbClr val="000000"/>
                </a:solidFill>
              </a:rPr>
              <a:pPr eaLnBrk="0" fontAlgn="base" hangingPunct="0">
                <a:spcBef>
                  <a:spcPct val="0"/>
                </a:spcBef>
                <a:spcAft>
                  <a:spcPct val="0"/>
                </a:spcAft>
                <a:defRPr/>
              </a:pPr>
              <a:t>2022/12/3</a:t>
            </a:fld>
            <a:endParaRPr lang="en-US" altLang="zh-CN">
              <a:solidFill>
                <a:srgbClr val="000000"/>
              </a:solidFill>
            </a:endParaRPr>
          </a:p>
        </p:txBody>
      </p:sp>
      <p:sp>
        <p:nvSpPr>
          <p:cNvPr id="3077" name="Rectangle 5"/>
          <p:cNvSpPr>
            <a:spLocks noGrp="1" noChangeArrowheads="1"/>
          </p:cNvSpPr>
          <p:nvPr>
            <p:ph type="ftr" sz="quarter" idx="3"/>
          </p:nvPr>
        </p:nvSpPr>
        <p:spPr bwMode="auto">
          <a:xfrm>
            <a:off x="3454400" y="61722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Times New Roman" charset="0"/>
                <a:ea typeface="宋体" panose="02010600030101010101" pitchFamily="2" charset="-122"/>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3078" name="Rectangle 6"/>
          <p:cNvSpPr>
            <a:spLocks noGrp="1" noChangeArrowheads="1"/>
          </p:cNvSpPr>
          <p:nvPr>
            <p:ph type="sldNum" sz="quarter" idx="4"/>
          </p:nvPr>
        </p:nvSpPr>
        <p:spPr bwMode="auto">
          <a:xfrm>
            <a:off x="9245600" y="6172200"/>
            <a:ext cx="1727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pPr eaLnBrk="0" fontAlgn="base" hangingPunct="0">
              <a:spcBef>
                <a:spcPct val="0"/>
              </a:spcBef>
              <a:spcAft>
                <a:spcPct val="0"/>
              </a:spcAft>
            </a:pPr>
            <a:fld id="{84FF258E-67CD-4D95-B960-4634DDA92658}"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
        <p:nvSpPr>
          <p:cNvPr id="1031" name="Line 7"/>
          <p:cNvSpPr>
            <a:spLocks noChangeShapeType="1"/>
          </p:cNvSpPr>
          <p:nvPr/>
        </p:nvSpPr>
        <p:spPr bwMode="auto">
          <a:xfrm>
            <a:off x="609600" y="1371600"/>
            <a:ext cx="107696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smtClean="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spTree>
    <p:extLst>
      <p:ext uri="{BB962C8B-B14F-4D97-AF65-F5344CB8AC3E}">
        <p14:creationId xmlns:p14="http://schemas.microsoft.com/office/powerpoint/2010/main" val="14561913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hf hdr="0" ftr="0" dt="0"/>
  <p:txStyles>
    <p:title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Comic Sans MS" pitchFamily="66" charset="0"/>
        </a:defRPr>
      </a:lvl2pPr>
      <a:lvl3pPr algn="l" rtl="0" eaLnBrk="0" fontAlgn="base" hangingPunct="0">
        <a:spcBef>
          <a:spcPct val="0"/>
        </a:spcBef>
        <a:spcAft>
          <a:spcPct val="0"/>
        </a:spcAft>
        <a:defRPr sz="2800" b="1">
          <a:solidFill>
            <a:schemeClr val="tx2"/>
          </a:solidFill>
          <a:latin typeface="Comic Sans MS" pitchFamily="66" charset="0"/>
        </a:defRPr>
      </a:lvl3pPr>
      <a:lvl4pPr algn="l" rtl="0" eaLnBrk="0" fontAlgn="base" hangingPunct="0">
        <a:spcBef>
          <a:spcPct val="0"/>
        </a:spcBef>
        <a:spcAft>
          <a:spcPct val="0"/>
        </a:spcAft>
        <a:defRPr sz="2800" b="1">
          <a:solidFill>
            <a:schemeClr val="tx2"/>
          </a:solidFill>
          <a:latin typeface="Comic Sans MS" pitchFamily="66" charset="0"/>
        </a:defRPr>
      </a:lvl4pPr>
      <a:lvl5pPr algn="l" rtl="0" eaLnBrk="0" fontAlgn="base" hangingPunct="0">
        <a:spcBef>
          <a:spcPct val="0"/>
        </a:spcBef>
        <a:spcAft>
          <a:spcPct val="0"/>
        </a:spcAft>
        <a:defRPr sz="2800" b="1">
          <a:solidFill>
            <a:schemeClr val="tx2"/>
          </a:solidFill>
          <a:latin typeface="Comic Sans MS" pitchFamily="66" charset="0"/>
        </a:defRPr>
      </a:lvl5pPr>
      <a:lvl6pPr marL="457200" algn="l" rtl="0" eaLnBrk="0" fontAlgn="base" hangingPunct="0">
        <a:spcBef>
          <a:spcPct val="0"/>
        </a:spcBef>
        <a:spcAft>
          <a:spcPct val="0"/>
        </a:spcAft>
        <a:defRPr sz="2800" b="1">
          <a:solidFill>
            <a:schemeClr val="tx2"/>
          </a:solidFill>
          <a:latin typeface="Comic Sans MS" pitchFamily="66" charset="0"/>
        </a:defRPr>
      </a:lvl6pPr>
      <a:lvl7pPr marL="914400" algn="l" rtl="0" eaLnBrk="0" fontAlgn="base" hangingPunct="0">
        <a:spcBef>
          <a:spcPct val="0"/>
        </a:spcBef>
        <a:spcAft>
          <a:spcPct val="0"/>
        </a:spcAft>
        <a:defRPr sz="2800" b="1">
          <a:solidFill>
            <a:schemeClr val="tx2"/>
          </a:solidFill>
          <a:latin typeface="Comic Sans MS" pitchFamily="66" charset="0"/>
        </a:defRPr>
      </a:lvl7pPr>
      <a:lvl8pPr marL="1371600" algn="l" rtl="0" eaLnBrk="0" fontAlgn="base" hangingPunct="0">
        <a:spcBef>
          <a:spcPct val="0"/>
        </a:spcBef>
        <a:spcAft>
          <a:spcPct val="0"/>
        </a:spcAft>
        <a:defRPr sz="2800" b="1">
          <a:solidFill>
            <a:schemeClr val="tx2"/>
          </a:solidFill>
          <a:latin typeface="Comic Sans MS" pitchFamily="66" charset="0"/>
        </a:defRPr>
      </a:lvl8pPr>
      <a:lvl9pPr marL="1828800" algn="l" rtl="0" eaLnBrk="0" fontAlgn="base" hangingPunct="0">
        <a:spcBef>
          <a:spcPct val="0"/>
        </a:spcBef>
        <a:spcAft>
          <a:spcPct val="0"/>
        </a:spcAft>
        <a:defRPr sz="2800" b="1">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5.wmf"/></Relationships>
</file>

<file path=ppt/slides/_rels/slide3.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7.bin"/><Relationship Id="rId4" Type="http://schemas.openxmlformats.org/officeDocument/2006/relationships/image" Target="../media/image7.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0.wmf"/></Relationships>
</file>

<file path=ppt/slides/_rels/slide5.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2.wmf"/><Relationship Id="rId5" Type="http://schemas.openxmlformats.org/officeDocument/2006/relationships/oleObject" Target="../embeddings/oleObject11.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3.bin"/></Relationships>
</file>

<file path=ppt/slides/_rels/slide6.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6.wmf"/><Relationship Id="rId5" Type="http://schemas.openxmlformats.org/officeDocument/2006/relationships/oleObject" Target="../embeddings/oleObject15.bin"/><Relationship Id="rId4" Type="http://schemas.openxmlformats.org/officeDocument/2006/relationships/image" Target="../media/image15.wmf"/></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0.wmf"/><Relationship Id="rId5" Type="http://schemas.openxmlformats.org/officeDocument/2006/relationships/oleObject" Target="../embeddings/oleObject18.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20.bin"/></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28.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5.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24.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标题 1"/>
          <p:cNvSpPr>
            <a:spLocks noGrp="1"/>
          </p:cNvSpPr>
          <p:nvPr>
            <p:ph type="title"/>
          </p:nvPr>
        </p:nvSpPr>
        <p:spPr>
          <a:xfrm>
            <a:off x="2819400" y="457200"/>
            <a:ext cx="7239000" cy="914400"/>
          </a:xfrm>
        </p:spPr>
        <p:txBody>
          <a:bodyPr/>
          <a:lstStyle/>
          <a:p>
            <a:r>
              <a:rPr lang="en-US" altLang="zh-CN" smtClean="0">
                <a:ea typeface="宋体" panose="02010600030101010101" pitchFamily="2" charset="-122"/>
              </a:rPr>
              <a:t>7.3 </a:t>
            </a:r>
            <a:r>
              <a:rPr lang="zh-CN" altLang="en-US" smtClean="0">
                <a:ea typeface="宋体" panose="02010600030101010101" pitchFamily="2" charset="-122"/>
              </a:rPr>
              <a:t>用频率采样法设计</a:t>
            </a:r>
            <a:r>
              <a:rPr lang="en-US" altLang="zh-CN" smtClean="0">
                <a:ea typeface="宋体" panose="02010600030101010101" pitchFamily="2" charset="-122"/>
              </a:rPr>
              <a:t>FIR</a:t>
            </a:r>
            <a:r>
              <a:rPr lang="zh-CN" altLang="en-US" smtClean="0">
                <a:ea typeface="宋体" panose="02010600030101010101" pitchFamily="2" charset="-122"/>
              </a:rPr>
              <a:t>滤波器 </a:t>
            </a:r>
          </a:p>
        </p:txBody>
      </p:sp>
      <p:sp>
        <p:nvSpPr>
          <p:cNvPr id="19046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DB253D06-59E9-4C72-A889-9B61D1BA2714}"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a:t>
            </a:fld>
            <a:endParaRPr lang="en-US" altLang="zh-CN" sz="1400" b="0">
              <a:solidFill>
                <a:srgbClr val="000000"/>
              </a:solidFill>
              <a:latin typeface="Times New Roman" panose="02020603050405020304" pitchFamily="18" charset="0"/>
            </a:endParaRPr>
          </a:p>
        </p:txBody>
      </p:sp>
      <p:sp>
        <p:nvSpPr>
          <p:cNvPr id="190468" name="Text Box 1029"/>
          <p:cNvSpPr txBox="1">
            <a:spLocks noChangeArrowheads="1"/>
          </p:cNvSpPr>
          <p:nvPr/>
        </p:nvSpPr>
        <p:spPr bwMode="auto">
          <a:xfrm>
            <a:off x="1676401" y="1676400"/>
            <a:ext cx="8797925"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5000"/>
              </a:lnSpc>
              <a:spcBef>
                <a:spcPct val="50000"/>
              </a:spcBef>
              <a:spcAft>
                <a:spcPct val="0"/>
              </a:spcAft>
            </a:pP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频率采样法是从频域出发，把给定的理想频率响应</a:t>
            </a:r>
            <a:r>
              <a:rPr kumimoji="1" lang="en-US" altLang="zh-CN" i="1">
                <a:solidFill>
                  <a:srgbClr val="000000"/>
                </a:solidFill>
                <a:latin typeface="Times New Roman" panose="02020603050405020304" pitchFamily="18" charset="0"/>
              </a:rPr>
              <a:t>H</a:t>
            </a:r>
            <a:r>
              <a:rPr kumimoji="1" lang="en-US" altLang="zh-CN" baseline="-25000">
                <a:solidFill>
                  <a:srgbClr val="000000"/>
                </a:solidFill>
                <a:latin typeface="Times New Roman" panose="02020603050405020304" pitchFamily="18" charset="0"/>
              </a:rPr>
              <a:t>d</a:t>
            </a:r>
            <a:r>
              <a:rPr kumimoji="1" lang="en-US" altLang="zh-CN">
                <a:solidFill>
                  <a:srgbClr val="000000"/>
                </a:solidFill>
                <a:latin typeface="Times New Roman" panose="02020603050405020304" pitchFamily="18" charset="0"/>
              </a:rPr>
              <a:t>(e</a:t>
            </a:r>
            <a:r>
              <a:rPr kumimoji="1" lang="en-US" altLang="zh-CN" baseline="30000">
                <a:solidFill>
                  <a:srgbClr val="000000"/>
                </a:solidFill>
                <a:latin typeface="Times New Roman" panose="02020603050405020304" pitchFamily="18" charset="0"/>
              </a:rPr>
              <a:t>jω</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以等间隔采样 </a:t>
            </a:r>
          </a:p>
        </p:txBody>
      </p:sp>
      <p:graphicFrame>
        <p:nvGraphicFramePr>
          <p:cNvPr id="190469" name="Object 1030"/>
          <p:cNvGraphicFramePr>
            <a:graphicFrameLocks noChangeAspect="1"/>
          </p:cNvGraphicFramePr>
          <p:nvPr/>
        </p:nvGraphicFramePr>
        <p:xfrm>
          <a:off x="4041775" y="2301876"/>
          <a:ext cx="3956050" cy="822325"/>
        </p:xfrm>
        <a:graphic>
          <a:graphicData uri="http://schemas.openxmlformats.org/presentationml/2006/ole">
            <mc:AlternateContent xmlns:mc="http://schemas.openxmlformats.org/markup-compatibility/2006">
              <mc:Choice xmlns:v="urn:schemas-microsoft-com:vml" Requires="v">
                <p:oleObj spid="_x0000_s24665" name="Equation" r:id="rId3" imgW="2324100" imgH="482600" progId="Equation.3">
                  <p:embed/>
                </p:oleObj>
              </mc:Choice>
              <mc:Fallback>
                <p:oleObj name="Equation" r:id="rId3" imgW="2324100" imgH="482600" progId="Equation.3">
                  <p:embed/>
                  <p:pic>
                    <p:nvPicPr>
                      <p:cNvPr id="190469" name="Object 10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1775" y="2301876"/>
                        <a:ext cx="395605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0470" name="Text Box 1032"/>
          <p:cNvSpPr txBox="1">
            <a:spLocks noChangeArrowheads="1"/>
          </p:cNvSpPr>
          <p:nvPr/>
        </p:nvSpPr>
        <p:spPr bwMode="auto">
          <a:xfrm>
            <a:off x="1981200" y="3257550"/>
            <a:ext cx="8077200"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0000"/>
              </a:lnSpc>
              <a:spcBef>
                <a:spcPct val="50000"/>
              </a:spcBef>
              <a:spcAft>
                <a:spcPct val="0"/>
              </a:spcAft>
            </a:pPr>
            <a:r>
              <a:rPr kumimoji="1" lang="zh-CN" altLang="en-US">
                <a:solidFill>
                  <a:srgbClr val="000000"/>
                </a:solidFill>
                <a:latin typeface="Times New Roman" panose="02020603050405020304" pitchFamily="18" charset="0"/>
              </a:rPr>
              <a:t>以此</a:t>
            </a:r>
            <a:r>
              <a:rPr kumimoji="1" lang="en-US" altLang="zh-CN" i="1">
                <a:solidFill>
                  <a:srgbClr val="000000"/>
                </a:solidFill>
                <a:latin typeface="Times New Roman" panose="02020603050405020304" pitchFamily="18" charset="0"/>
              </a:rPr>
              <a:t>H</a:t>
            </a:r>
            <a:r>
              <a:rPr kumimoji="1" lang="en-US" altLang="zh-CN" baseline="-25000">
                <a:solidFill>
                  <a:srgbClr val="000000"/>
                </a:solidFill>
                <a:latin typeface="Times New Roman" panose="02020603050405020304" pitchFamily="18" charset="0"/>
              </a:rPr>
              <a:t>d</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k</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作为实际</a:t>
            </a:r>
            <a:r>
              <a:rPr kumimoji="1" lang="en-US" altLang="zh-CN">
                <a:solidFill>
                  <a:srgbClr val="000000"/>
                </a:solidFill>
                <a:latin typeface="Times New Roman" panose="02020603050405020304" pitchFamily="18" charset="0"/>
              </a:rPr>
              <a:t>FIR</a:t>
            </a:r>
            <a:r>
              <a:rPr kumimoji="1" lang="zh-CN" altLang="en-US">
                <a:solidFill>
                  <a:srgbClr val="000000"/>
                </a:solidFill>
                <a:latin typeface="Times New Roman" panose="02020603050405020304" pitchFamily="18" charset="0"/>
              </a:rPr>
              <a:t>数字滤波器的频率响应的采样值</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k</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，即令</a:t>
            </a:r>
          </a:p>
          <a:p>
            <a:pPr algn="just" fontAlgn="base">
              <a:lnSpc>
                <a:spcPct val="130000"/>
              </a:lnSpc>
              <a:spcBef>
                <a:spcPct val="50000"/>
              </a:spcBef>
              <a:spcAft>
                <a:spcPct val="0"/>
              </a:spcAft>
            </a:pPr>
            <a:r>
              <a:rPr kumimoji="1" lang="zh-CN" altLang="en-US" i="1">
                <a:solidFill>
                  <a:srgbClr val="000000"/>
                </a:solidFill>
                <a:latin typeface="Times New Roman" panose="02020603050405020304" pitchFamily="18" charset="0"/>
              </a:rPr>
              <a:t>                </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k</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H</a:t>
            </a:r>
            <a:r>
              <a:rPr kumimoji="1" lang="en-US" altLang="zh-CN" baseline="-25000">
                <a:solidFill>
                  <a:srgbClr val="000000"/>
                </a:solidFill>
                <a:latin typeface="Times New Roman" panose="02020603050405020304" pitchFamily="18" charset="0"/>
              </a:rPr>
              <a:t>d</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k</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H</a:t>
            </a:r>
            <a:r>
              <a:rPr kumimoji="1" lang="en-US" altLang="zh-CN" baseline="-25000">
                <a:solidFill>
                  <a:srgbClr val="000000"/>
                </a:solidFill>
                <a:latin typeface="Times New Roman" panose="02020603050405020304" pitchFamily="18" charset="0"/>
              </a:rPr>
              <a:t>d</a:t>
            </a:r>
            <a:r>
              <a:rPr kumimoji="1" lang="en-US" altLang="zh-CN">
                <a:solidFill>
                  <a:srgbClr val="000000"/>
                </a:solidFill>
                <a:latin typeface="Times New Roman" panose="02020603050405020304" pitchFamily="18" charset="0"/>
              </a:rPr>
              <a:t>(e</a:t>
            </a:r>
            <a:r>
              <a:rPr kumimoji="1" lang="en-US" altLang="zh-CN" baseline="30000">
                <a:solidFill>
                  <a:srgbClr val="000000"/>
                </a:solidFill>
                <a:latin typeface="Times New Roman" panose="02020603050405020304" pitchFamily="18" charset="0"/>
              </a:rPr>
              <a:t>j</a:t>
            </a:r>
            <a:r>
              <a:rPr kumimoji="1" lang="en-US" altLang="zh-CN" i="1" baseline="30000">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a:t>
            </a:r>
            <a:r>
              <a:rPr kumimoji="1" lang="en-US" altLang="zh-CN" i="1" baseline="-25000">
                <a:solidFill>
                  <a:srgbClr val="000000"/>
                </a:solidFill>
                <a:latin typeface="Times New Roman" panose="02020603050405020304" pitchFamily="18" charset="0"/>
              </a:rPr>
              <a:t>ω</a:t>
            </a:r>
            <a:r>
              <a:rPr kumimoji="1" lang="en-US" altLang="zh-CN" baseline="-25000">
                <a:solidFill>
                  <a:srgbClr val="000000"/>
                </a:solidFill>
                <a:latin typeface="Times New Roman" panose="02020603050405020304" pitchFamily="18" charset="0"/>
              </a:rPr>
              <a:t>=2π</a:t>
            </a:r>
            <a:r>
              <a:rPr kumimoji="1" lang="en-US" altLang="zh-CN" i="1" baseline="-25000">
                <a:solidFill>
                  <a:srgbClr val="000000"/>
                </a:solidFill>
                <a:latin typeface="Times New Roman" panose="02020603050405020304" pitchFamily="18" charset="0"/>
              </a:rPr>
              <a:t>k</a:t>
            </a:r>
            <a:r>
              <a:rPr kumimoji="1" lang="en-US" altLang="zh-CN" baseline="-25000">
                <a:solidFill>
                  <a:srgbClr val="000000"/>
                </a:solidFill>
                <a:latin typeface="Times New Roman" panose="02020603050405020304" pitchFamily="18" charset="0"/>
              </a:rPr>
              <a:t>/</a:t>
            </a:r>
            <a:r>
              <a:rPr kumimoji="1" lang="en-US" altLang="zh-CN" i="1" baseline="-25000">
                <a:solidFill>
                  <a:srgbClr val="000000"/>
                </a:solidFill>
                <a:latin typeface="Times New Roman" panose="02020603050405020304" pitchFamily="18" charset="0"/>
              </a:rPr>
              <a:t>N</a:t>
            </a:r>
            <a:r>
              <a:rPr kumimoji="1" lang="en-US" altLang="zh-CN">
                <a:solidFill>
                  <a:srgbClr val="000000"/>
                </a:solidFill>
                <a:latin typeface="Times New Roman" panose="02020603050405020304" pitchFamily="18" charset="0"/>
              </a:rPr>
              <a:t>  </a:t>
            </a:r>
            <a:r>
              <a:rPr kumimoji="1" lang="en-US" altLang="zh-CN" i="1">
                <a:solidFill>
                  <a:srgbClr val="000000"/>
                </a:solidFill>
                <a:latin typeface="Times New Roman" panose="02020603050405020304" pitchFamily="18" charset="0"/>
              </a:rPr>
              <a:t>k</a:t>
            </a:r>
            <a:r>
              <a:rPr kumimoji="1" lang="en-US" altLang="zh-CN">
                <a:solidFill>
                  <a:srgbClr val="000000"/>
                </a:solidFill>
                <a:latin typeface="Times New Roman" panose="02020603050405020304" pitchFamily="18" charset="0"/>
              </a:rPr>
              <a:t>=0, 1, 2, </a:t>
            </a:r>
            <a:r>
              <a:rPr kumimoji="1" lang="en-US" altLang="zh-CN">
                <a:solidFill>
                  <a:srgbClr val="000000"/>
                </a:solidFill>
                <a:latin typeface="Courier New" panose="02070309020205020404" pitchFamily="49" charset="0"/>
              </a:rPr>
              <a:t>…</a:t>
            </a:r>
            <a:r>
              <a:rPr kumimoji="1" lang="en-US" altLang="zh-CN">
                <a:solidFill>
                  <a:srgbClr val="000000"/>
                </a:solidFill>
                <a:latin typeface="Times New Roman" panose="02020603050405020304" pitchFamily="18" charset="0"/>
              </a:rPr>
              <a:t>, </a:t>
            </a:r>
            <a:r>
              <a:rPr kumimoji="1" lang="en-US" altLang="zh-CN" i="1">
                <a:solidFill>
                  <a:srgbClr val="000000"/>
                </a:solidFill>
                <a:latin typeface="Times New Roman" panose="02020603050405020304" pitchFamily="18" charset="0"/>
              </a:rPr>
              <a:t>N</a:t>
            </a:r>
            <a:r>
              <a:rPr kumimoji="1" lang="en-US" altLang="zh-CN">
                <a:solidFill>
                  <a:srgbClr val="000000"/>
                </a:solidFill>
                <a:latin typeface="Times New Roman" panose="02020603050405020304" pitchFamily="18" charset="0"/>
              </a:rPr>
              <a:t>-1      </a:t>
            </a:r>
            <a:endParaRPr kumimoji="1" lang="zh-CN" altLang="en-US">
              <a:solidFill>
                <a:srgbClr val="000000"/>
              </a:solidFill>
              <a:latin typeface="Times New Roman" panose="02020603050405020304" pitchFamily="18" charset="0"/>
            </a:endParaRPr>
          </a:p>
          <a:p>
            <a:pPr algn="just" fontAlgn="base">
              <a:lnSpc>
                <a:spcPct val="130000"/>
              </a:lnSpc>
              <a:spcBef>
                <a:spcPct val="50000"/>
              </a:spcBef>
              <a:spcAft>
                <a:spcPct val="0"/>
              </a:spcAft>
            </a:pPr>
            <a:r>
              <a:rPr kumimoji="1" lang="zh-CN" altLang="en-US">
                <a:solidFill>
                  <a:srgbClr val="000000"/>
                </a:solidFill>
                <a:latin typeface="Times New Roman" panose="02020603050405020304" pitchFamily="18" charset="0"/>
              </a:rPr>
              <a:t>知道</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k</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后</a:t>
            </a: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由</a:t>
            </a:r>
            <a:r>
              <a:rPr kumimoji="1" lang="en-US" altLang="zh-CN">
                <a:solidFill>
                  <a:srgbClr val="000000"/>
                </a:solidFill>
                <a:latin typeface="Times New Roman" panose="02020603050405020304" pitchFamily="18" charset="0"/>
              </a:rPr>
              <a:t>IDFT</a:t>
            </a:r>
            <a:r>
              <a:rPr kumimoji="1" lang="zh-CN" altLang="en-US">
                <a:solidFill>
                  <a:srgbClr val="000000"/>
                </a:solidFill>
                <a:latin typeface="Times New Roman" panose="02020603050405020304" pitchFamily="18" charset="0"/>
              </a:rPr>
              <a:t>定义</a:t>
            </a: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可以用这</a:t>
            </a:r>
            <a:r>
              <a:rPr kumimoji="1" lang="en-US" altLang="zh-CN" i="1">
                <a:solidFill>
                  <a:srgbClr val="000000"/>
                </a:solidFill>
                <a:latin typeface="Times New Roman" panose="02020603050405020304" pitchFamily="18" charset="0"/>
              </a:rPr>
              <a:t>N</a:t>
            </a:r>
            <a:r>
              <a:rPr kumimoji="1" lang="zh-CN" altLang="en-US">
                <a:solidFill>
                  <a:srgbClr val="000000"/>
                </a:solidFill>
                <a:latin typeface="Times New Roman" panose="02020603050405020304" pitchFamily="18" charset="0"/>
              </a:rPr>
              <a:t>个采样值</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k</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来惟一确定有限长序列</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n</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，即 </a:t>
            </a:r>
          </a:p>
        </p:txBody>
      </p:sp>
      <p:graphicFrame>
        <p:nvGraphicFramePr>
          <p:cNvPr id="190471" name="Object 1033"/>
          <p:cNvGraphicFramePr>
            <a:graphicFrameLocks noChangeAspect="1"/>
          </p:cNvGraphicFramePr>
          <p:nvPr/>
        </p:nvGraphicFramePr>
        <p:xfrm>
          <a:off x="3617914" y="5105401"/>
          <a:ext cx="2517775" cy="752475"/>
        </p:xfrm>
        <a:graphic>
          <a:graphicData uri="http://schemas.openxmlformats.org/presentationml/2006/ole">
            <mc:AlternateContent xmlns:mc="http://schemas.openxmlformats.org/markup-compatibility/2006">
              <mc:Choice xmlns:v="urn:schemas-microsoft-com:vml" Requires="v">
                <p:oleObj spid="_x0000_s24666" name="Equation" r:id="rId5" imgW="1447800" imgH="431800" progId="Equation.3">
                  <p:embed/>
                </p:oleObj>
              </mc:Choice>
              <mc:Fallback>
                <p:oleObj name="Equation" r:id="rId5" imgW="1447800" imgH="431800" progId="Equation.3">
                  <p:embed/>
                  <p:pic>
                    <p:nvPicPr>
                      <p:cNvPr id="190471" name="Object 10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7914" y="5105401"/>
                        <a:ext cx="2517775"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0472" name="Text Box 1034"/>
          <p:cNvSpPr txBox="1">
            <a:spLocks noChangeArrowheads="1"/>
          </p:cNvSpPr>
          <p:nvPr/>
        </p:nvSpPr>
        <p:spPr bwMode="auto">
          <a:xfrm>
            <a:off x="7086600" y="5257800"/>
            <a:ext cx="209073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en-US" altLang="zh-CN">
                <a:solidFill>
                  <a:srgbClr val="000000"/>
                </a:solidFill>
                <a:latin typeface="Times New Roman" panose="02020603050405020304" pitchFamily="18" charset="0"/>
              </a:rPr>
              <a:t>n=0, 1, 2, …, </a:t>
            </a:r>
            <a:r>
              <a:rPr kumimoji="1" lang="en-US" altLang="zh-CN" i="1">
                <a:solidFill>
                  <a:srgbClr val="000000"/>
                </a:solidFill>
                <a:latin typeface="Times New Roman" panose="02020603050405020304" pitchFamily="18" charset="0"/>
              </a:rPr>
              <a:t>N</a:t>
            </a:r>
            <a:r>
              <a:rPr kumimoji="1" lang="en-US" altLang="zh-CN">
                <a:solidFill>
                  <a:srgbClr val="000000"/>
                </a:solidFill>
                <a:latin typeface="Times New Roman" panose="02020603050405020304" pitchFamily="18" charset="0"/>
              </a:rPr>
              <a:t>-1 </a:t>
            </a:r>
          </a:p>
        </p:txBody>
      </p:sp>
      <p:sp>
        <p:nvSpPr>
          <p:cNvPr id="190473" name="Text Box 1028"/>
          <p:cNvSpPr txBox="1">
            <a:spLocks noChangeArrowheads="1"/>
          </p:cNvSpPr>
          <p:nvPr/>
        </p:nvSpPr>
        <p:spPr bwMode="auto">
          <a:xfrm>
            <a:off x="2057401" y="6076950"/>
            <a:ext cx="22653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其系统函数</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z</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为 </a:t>
            </a:r>
          </a:p>
        </p:txBody>
      </p:sp>
      <p:graphicFrame>
        <p:nvGraphicFramePr>
          <p:cNvPr id="190474" name="对象 14"/>
          <p:cNvGraphicFramePr>
            <a:graphicFrameLocks noChangeAspect="1"/>
          </p:cNvGraphicFramePr>
          <p:nvPr/>
        </p:nvGraphicFramePr>
        <p:xfrm>
          <a:off x="4419601" y="5943600"/>
          <a:ext cx="2060575" cy="762000"/>
        </p:xfrm>
        <a:graphic>
          <a:graphicData uri="http://schemas.openxmlformats.org/presentationml/2006/ole">
            <mc:AlternateContent xmlns:mc="http://schemas.openxmlformats.org/markup-compatibility/2006">
              <mc:Choice xmlns:v="urn:schemas-microsoft-com:vml" Requires="v">
                <p:oleObj spid="_x0000_s24667" name="Equation" r:id="rId7" imgW="1167893" imgH="431613" progId="Equation.3">
                  <p:embed/>
                </p:oleObj>
              </mc:Choice>
              <mc:Fallback>
                <p:oleObj name="Equation" r:id="rId7" imgW="1167893" imgH="431613" progId="Equation.3">
                  <p:embed/>
                  <p:pic>
                    <p:nvPicPr>
                      <p:cNvPr id="190474" name="对象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9601" y="5943600"/>
                        <a:ext cx="206057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3978007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标题 1"/>
          <p:cNvSpPr>
            <a:spLocks noGrp="1"/>
          </p:cNvSpPr>
          <p:nvPr>
            <p:ph type="title"/>
          </p:nvPr>
        </p:nvSpPr>
        <p:spPr>
          <a:xfrm>
            <a:off x="2819400" y="457200"/>
            <a:ext cx="7239000" cy="914400"/>
          </a:xfrm>
        </p:spPr>
        <p:txBody>
          <a:bodyPr/>
          <a:lstStyle/>
          <a:p>
            <a:r>
              <a:rPr lang="en-US" altLang="zh-CN" smtClean="0">
                <a:ea typeface="宋体" panose="02010600030101010101" pitchFamily="2" charset="-122"/>
              </a:rPr>
              <a:t>7.3 </a:t>
            </a:r>
            <a:r>
              <a:rPr lang="zh-CN" altLang="en-US" smtClean="0">
                <a:ea typeface="宋体" panose="02010600030101010101" pitchFamily="2" charset="-122"/>
              </a:rPr>
              <a:t>用频率采样法设计</a:t>
            </a:r>
            <a:r>
              <a:rPr lang="en-US" altLang="zh-CN" smtClean="0">
                <a:ea typeface="宋体" panose="02010600030101010101" pitchFamily="2" charset="-122"/>
              </a:rPr>
              <a:t>FIR</a:t>
            </a:r>
            <a:r>
              <a:rPr lang="zh-CN" altLang="en-US" smtClean="0">
                <a:ea typeface="宋体" panose="02010600030101010101" pitchFamily="2" charset="-122"/>
              </a:rPr>
              <a:t>滤波器 </a:t>
            </a:r>
          </a:p>
        </p:txBody>
      </p:sp>
      <p:sp>
        <p:nvSpPr>
          <p:cNvPr id="19149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99333248-2B18-48E6-9556-611BAA914956}"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2</a:t>
            </a:fld>
            <a:endParaRPr lang="en-US" altLang="zh-CN" sz="1400" b="0">
              <a:solidFill>
                <a:srgbClr val="000000"/>
              </a:solidFill>
              <a:latin typeface="Times New Roman" panose="02020603050405020304" pitchFamily="18" charset="0"/>
            </a:endParaRPr>
          </a:p>
        </p:txBody>
      </p:sp>
      <p:sp>
        <p:nvSpPr>
          <p:cNvPr id="191492" name="Text Box 4"/>
          <p:cNvSpPr txBox="1">
            <a:spLocks noChangeArrowheads="1"/>
          </p:cNvSpPr>
          <p:nvPr/>
        </p:nvSpPr>
        <p:spPr bwMode="auto">
          <a:xfrm>
            <a:off x="1971676" y="1511300"/>
            <a:ext cx="8086725" cy="277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spcBef>
                <a:spcPct val="50000"/>
              </a:spcBef>
              <a:spcAft>
                <a:spcPct val="0"/>
              </a:spcAft>
            </a:pPr>
            <a:r>
              <a:rPr kumimoji="1" lang="en-US" altLang="zh-CN">
                <a:solidFill>
                  <a:srgbClr val="000000"/>
                </a:solidFill>
                <a:latin typeface="Times New Roman" panose="02020603050405020304" pitchFamily="18" charset="0"/>
              </a:rPr>
              <a:t>1</a:t>
            </a:r>
            <a:r>
              <a:rPr kumimoji="1" lang="zh-CN" altLang="en-US">
                <a:solidFill>
                  <a:srgbClr val="000000"/>
                </a:solidFill>
                <a:latin typeface="Times New Roman" panose="02020603050405020304" pitchFamily="18" charset="0"/>
              </a:rPr>
              <a:t>、</a:t>
            </a: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线性相位的约束</a:t>
            </a:r>
          </a:p>
          <a:p>
            <a:pPr algn="just" fontAlgn="base">
              <a:lnSpc>
                <a:spcPct val="130000"/>
              </a:lnSpc>
              <a:spcBef>
                <a:spcPct val="50000"/>
              </a:spcBef>
              <a:spcAft>
                <a:spcPct val="0"/>
              </a:spcAft>
            </a:pPr>
            <a:r>
              <a:rPr kumimoji="1" lang="zh-CN" altLang="en-US">
                <a:solidFill>
                  <a:srgbClr val="000000"/>
                </a:solidFill>
                <a:latin typeface="Times New Roman" panose="02020603050405020304" pitchFamily="18" charset="0"/>
              </a:rPr>
              <a:t>        如果我们设计的是线性相位的</a:t>
            </a:r>
            <a:r>
              <a:rPr kumimoji="1" lang="en-US" altLang="zh-CN">
                <a:solidFill>
                  <a:srgbClr val="000000"/>
                </a:solidFill>
                <a:latin typeface="Times New Roman" panose="02020603050405020304" pitchFamily="18" charset="0"/>
              </a:rPr>
              <a:t>FIR</a:t>
            </a:r>
            <a:r>
              <a:rPr kumimoji="1" lang="zh-CN" altLang="en-US">
                <a:solidFill>
                  <a:srgbClr val="000000"/>
                </a:solidFill>
                <a:latin typeface="Times New Roman" panose="02020603050405020304" pitchFamily="18" charset="0"/>
              </a:rPr>
              <a:t>滤波器，则其采样值</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k</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的幅度和相位一定要满足前面所讨论的四类线性相位滤波器的约束条件。 </a:t>
            </a:r>
          </a:p>
          <a:p>
            <a:pPr algn="just" fontAlgn="base">
              <a:lnSpc>
                <a:spcPct val="130000"/>
              </a:lnSpc>
              <a:spcBef>
                <a:spcPct val="50000"/>
              </a:spcBef>
              <a:spcAft>
                <a:spcPct val="0"/>
              </a:spcAft>
            </a:pPr>
            <a:r>
              <a:rPr kumimoji="1" lang="zh-CN" altLang="en-US">
                <a:solidFill>
                  <a:srgbClr val="000000"/>
                </a:solidFill>
                <a:latin typeface="Times New Roman" panose="02020603050405020304" pitchFamily="18" charset="0"/>
              </a:rPr>
              <a:t>     （</a:t>
            </a:r>
            <a:r>
              <a:rPr kumimoji="1" lang="en-US" altLang="zh-CN">
                <a:solidFill>
                  <a:srgbClr val="000000"/>
                </a:solidFill>
                <a:latin typeface="Times New Roman" panose="02020603050405020304" pitchFamily="18" charset="0"/>
              </a:rPr>
              <a:t>1</a:t>
            </a:r>
            <a:r>
              <a:rPr kumimoji="1" lang="zh-CN" altLang="en-US">
                <a:solidFill>
                  <a:srgbClr val="000000"/>
                </a:solidFill>
                <a:latin typeface="Times New Roman" panose="02020603050405020304" pitchFamily="18" charset="0"/>
              </a:rPr>
              <a:t>）对于第一类线性相位滤波器，即</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n</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偶对称，长度</a:t>
            </a:r>
            <a:r>
              <a:rPr kumimoji="1" lang="en-US" altLang="zh-CN">
                <a:solidFill>
                  <a:srgbClr val="000000"/>
                </a:solidFill>
                <a:latin typeface="Times New Roman" panose="02020603050405020304" pitchFamily="18" charset="0"/>
              </a:rPr>
              <a:t>N</a:t>
            </a:r>
            <a:r>
              <a:rPr kumimoji="1" lang="zh-CN" altLang="en-US">
                <a:solidFill>
                  <a:srgbClr val="000000"/>
                </a:solidFill>
                <a:latin typeface="Times New Roman" panose="02020603050405020304" pitchFamily="18" charset="0"/>
              </a:rPr>
              <a:t>为奇数时，             </a:t>
            </a:r>
            <a:r>
              <a:rPr kumimoji="1" lang="zh-CN" altLang="en-US" i="1">
                <a:solidFill>
                  <a:srgbClr val="000000"/>
                </a:solidFill>
                <a:latin typeface="Times New Roman" panose="02020603050405020304" pitchFamily="18" charset="0"/>
              </a:rPr>
              <a:t> </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(e</a:t>
            </a:r>
            <a:r>
              <a:rPr kumimoji="1" lang="en-US" altLang="zh-CN" baseline="30000">
                <a:solidFill>
                  <a:srgbClr val="000000"/>
                </a:solidFill>
                <a:latin typeface="Times New Roman" panose="02020603050405020304" pitchFamily="18" charset="0"/>
              </a:rPr>
              <a:t>jω</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)e</a:t>
            </a:r>
            <a:r>
              <a:rPr kumimoji="1" lang="en-US" altLang="zh-CN" baseline="30000">
                <a:solidFill>
                  <a:srgbClr val="000000"/>
                </a:solidFill>
                <a:latin typeface="Times New Roman" panose="02020603050405020304" pitchFamily="18" charset="0"/>
              </a:rPr>
              <a:t>jθ(ω)           </a:t>
            </a:r>
            <a:r>
              <a:rPr kumimoji="1" lang="en-US" altLang="zh-CN">
                <a:solidFill>
                  <a:srgbClr val="000000"/>
                </a:solidFill>
                <a:latin typeface="Times New Roman" panose="02020603050405020304" pitchFamily="18" charset="0"/>
              </a:rPr>
              <a:t>                         </a:t>
            </a:r>
            <a:endParaRPr kumimoji="1" lang="zh-CN" altLang="en-US">
              <a:solidFill>
                <a:srgbClr val="000000"/>
              </a:solidFill>
              <a:latin typeface="Times New Roman" panose="02020603050405020304" pitchFamily="18" charset="0"/>
            </a:endParaRPr>
          </a:p>
          <a:p>
            <a:pPr algn="just" fontAlgn="base">
              <a:spcBef>
                <a:spcPct val="50000"/>
              </a:spcBef>
              <a:spcAft>
                <a:spcPct val="0"/>
              </a:spcAft>
            </a:pPr>
            <a:r>
              <a:rPr kumimoji="1" lang="zh-CN" altLang="en-US">
                <a:solidFill>
                  <a:srgbClr val="000000"/>
                </a:solidFill>
                <a:latin typeface="Times New Roman" panose="02020603050405020304" pitchFamily="18" charset="0"/>
              </a:rPr>
              <a:t>式中： </a:t>
            </a:r>
          </a:p>
        </p:txBody>
      </p:sp>
      <p:graphicFrame>
        <p:nvGraphicFramePr>
          <p:cNvPr id="191493" name="Object 5"/>
          <p:cNvGraphicFramePr>
            <a:graphicFrameLocks noChangeAspect="1"/>
          </p:cNvGraphicFramePr>
          <p:nvPr/>
        </p:nvGraphicFramePr>
        <p:xfrm>
          <a:off x="3162300" y="3851275"/>
          <a:ext cx="2203450" cy="788988"/>
        </p:xfrm>
        <a:graphic>
          <a:graphicData uri="http://schemas.openxmlformats.org/presentationml/2006/ole">
            <mc:AlternateContent xmlns:mc="http://schemas.openxmlformats.org/markup-compatibility/2006">
              <mc:Choice xmlns:v="urn:schemas-microsoft-com:vml" Requires="v">
                <p:oleObj spid="_x0000_s25660" name="Equation" r:id="rId3" imgW="1206500" imgH="431800" progId="Equation.3">
                  <p:embed/>
                </p:oleObj>
              </mc:Choice>
              <mc:Fallback>
                <p:oleObj name="Equation" r:id="rId3" imgW="1206500" imgH="431800" progId="Equation.3">
                  <p:embed/>
                  <p:pic>
                    <p:nvPicPr>
                      <p:cNvPr id="19149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2300" y="3851275"/>
                        <a:ext cx="2203450"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1494" name="Text Box 1028"/>
          <p:cNvSpPr txBox="1">
            <a:spLocks noChangeArrowheads="1"/>
          </p:cNvSpPr>
          <p:nvPr/>
        </p:nvSpPr>
        <p:spPr bwMode="auto">
          <a:xfrm>
            <a:off x="1676400" y="4816476"/>
            <a:ext cx="86868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lnSpc>
                <a:spcPct val="138000"/>
              </a:lnSpc>
              <a:spcBef>
                <a:spcPct val="0"/>
              </a:spcBef>
              <a:spcAft>
                <a:spcPct val="0"/>
              </a:spcAft>
            </a:pP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第一类线性相位滤波器幅度函数</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关于</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=0, π, 2π</a:t>
            </a:r>
            <a:r>
              <a:rPr kumimoji="1" lang="zh-CN" altLang="en-US">
                <a:solidFill>
                  <a:srgbClr val="000000"/>
                </a:solidFill>
                <a:latin typeface="Times New Roman" panose="02020603050405020304" pitchFamily="18" charset="0"/>
              </a:rPr>
              <a:t>为偶对称，即 </a:t>
            </a:r>
          </a:p>
        </p:txBody>
      </p:sp>
      <p:graphicFrame>
        <p:nvGraphicFramePr>
          <p:cNvPr id="191495" name="对象 8"/>
          <p:cNvGraphicFramePr>
            <a:graphicFrameLocks noChangeAspect="1"/>
          </p:cNvGraphicFramePr>
          <p:nvPr/>
        </p:nvGraphicFramePr>
        <p:xfrm>
          <a:off x="3124201" y="5486400"/>
          <a:ext cx="2392363" cy="395288"/>
        </p:xfrm>
        <a:graphic>
          <a:graphicData uri="http://schemas.openxmlformats.org/presentationml/2006/ole">
            <mc:AlternateContent xmlns:mc="http://schemas.openxmlformats.org/markup-compatibility/2006">
              <mc:Choice xmlns:v="urn:schemas-microsoft-com:vml" Requires="v">
                <p:oleObj spid="_x0000_s25661" name="Equation" r:id="rId5" imgW="1231366" imgH="203112" progId="Equation.3">
                  <p:embed/>
                </p:oleObj>
              </mc:Choice>
              <mc:Fallback>
                <p:oleObj name="Equation" r:id="rId5" imgW="1231366" imgH="203112" progId="Equation.3">
                  <p:embed/>
                  <p:pic>
                    <p:nvPicPr>
                      <p:cNvPr id="191495"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4201" y="5486400"/>
                        <a:ext cx="2392363"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767130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标题 1"/>
          <p:cNvSpPr>
            <a:spLocks noGrp="1"/>
          </p:cNvSpPr>
          <p:nvPr>
            <p:ph type="title"/>
          </p:nvPr>
        </p:nvSpPr>
        <p:spPr>
          <a:xfrm>
            <a:off x="2743200" y="457200"/>
            <a:ext cx="7315200" cy="914400"/>
          </a:xfrm>
        </p:spPr>
        <p:txBody>
          <a:bodyPr/>
          <a:lstStyle/>
          <a:p>
            <a:r>
              <a:rPr lang="en-US" altLang="zh-CN" dirty="0" smtClean="0">
                <a:ea typeface="宋体" panose="02010600030101010101" pitchFamily="2" charset="-122"/>
              </a:rPr>
              <a:t>7.3 </a:t>
            </a:r>
            <a:r>
              <a:rPr lang="zh-CN" altLang="en-US" dirty="0" smtClean="0">
                <a:ea typeface="宋体" panose="02010600030101010101" pitchFamily="2" charset="-122"/>
              </a:rPr>
              <a:t>用频率采样法设计</a:t>
            </a:r>
            <a:r>
              <a:rPr lang="en-US" altLang="zh-CN" dirty="0" smtClean="0">
                <a:ea typeface="宋体" panose="02010600030101010101" pitchFamily="2" charset="-122"/>
              </a:rPr>
              <a:t>FIR</a:t>
            </a:r>
            <a:r>
              <a:rPr lang="zh-CN" altLang="en-US" dirty="0" smtClean="0">
                <a:ea typeface="宋体" panose="02010600030101010101" pitchFamily="2" charset="-122"/>
              </a:rPr>
              <a:t>滤波器 </a:t>
            </a:r>
          </a:p>
        </p:txBody>
      </p:sp>
      <p:sp>
        <p:nvSpPr>
          <p:cNvPr id="19251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36176437-2374-43FC-B0EF-C9937B129557}"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3</a:t>
            </a:fld>
            <a:endParaRPr lang="en-US" altLang="zh-CN" sz="1400" b="0">
              <a:solidFill>
                <a:srgbClr val="000000"/>
              </a:solidFill>
              <a:latin typeface="Times New Roman" panose="02020603050405020304" pitchFamily="18" charset="0"/>
            </a:endParaRPr>
          </a:p>
        </p:txBody>
      </p:sp>
      <p:sp>
        <p:nvSpPr>
          <p:cNvPr id="192516" name="Text Box 1031"/>
          <p:cNvSpPr txBox="1">
            <a:spLocks noChangeArrowheads="1"/>
          </p:cNvSpPr>
          <p:nvPr/>
        </p:nvSpPr>
        <p:spPr bwMode="auto">
          <a:xfrm>
            <a:off x="2047876" y="1625601"/>
            <a:ext cx="8239125"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0000"/>
              </a:lnSpc>
              <a:spcBef>
                <a:spcPct val="50000"/>
              </a:spcBef>
              <a:spcAft>
                <a:spcPct val="0"/>
              </a:spcAft>
            </a:pPr>
            <a:r>
              <a:rPr kumimoji="1" lang="zh-CN" altLang="en-US">
                <a:solidFill>
                  <a:srgbClr val="000000"/>
                </a:solidFill>
                <a:latin typeface="Times New Roman" panose="02020603050405020304" pitchFamily="18" charset="0"/>
              </a:rPr>
              <a:t>如果采样值</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k</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(e</a:t>
            </a:r>
            <a:r>
              <a:rPr kumimoji="1" lang="en-US" altLang="zh-CN" baseline="30000">
                <a:solidFill>
                  <a:srgbClr val="000000"/>
                </a:solidFill>
                <a:latin typeface="Times New Roman" panose="02020603050405020304" pitchFamily="18" charset="0"/>
              </a:rPr>
              <a:t>j2π</a:t>
            </a:r>
            <a:r>
              <a:rPr kumimoji="1" lang="en-US" altLang="zh-CN" i="1" baseline="30000">
                <a:solidFill>
                  <a:srgbClr val="000000"/>
                </a:solidFill>
                <a:latin typeface="Times New Roman" panose="02020603050405020304" pitchFamily="18" charset="0"/>
              </a:rPr>
              <a:t>k</a:t>
            </a:r>
            <a:r>
              <a:rPr kumimoji="1" lang="en-US" altLang="zh-CN" baseline="30000">
                <a:solidFill>
                  <a:srgbClr val="000000"/>
                </a:solidFill>
                <a:latin typeface="Times New Roman" panose="02020603050405020304" pitchFamily="18" charset="0"/>
              </a:rPr>
              <a:t>/</a:t>
            </a:r>
            <a:r>
              <a:rPr kumimoji="1" lang="en-US" altLang="zh-CN" i="1" baseline="30000">
                <a:solidFill>
                  <a:srgbClr val="000000"/>
                </a:solidFill>
                <a:latin typeface="Times New Roman" panose="02020603050405020304" pitchFamily="18" charset="0"/>
              </a:rPr>
              <a:t>N</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也用幅值</a:t>
            </a:r>
            <a:r>
              <a:rPr kumimoji="1" lang="en-US" altLang="zh-CN" i="1">
                <a:solidFill>
                  <a:srgbClr val="000000"/>
                </a:solidFill>
                <a:latin typeface="Times New Roman" panose="02020603050405020304" pitchFamily="18" charset="0"/>
              </a:rPr>
              <a:t>H</a:t>
            </a:r>
            <a:r>
              <a:rPr kumimoji="1" lang="en-US" altLang="zh-CN" i="1" baseline="-25000">
                <a:solidFill>
                  <a:srgbClr val="000000"/>
                </a:solidFill>
                <a:latin typeface="Times New Roman" panose="02020603050405020304" pitchFamily="18" charset="0"/>
              </a:rPr>
              <a:t>k</a:t>
            </a:r>
            <a:r>
              <a:rPr kumimoji="1" lang="zh-CN" altLang="en-US">
                <a:solidFill>
                  <a:srgbClr val="000000"/>
                </a:solidFill>
                <a:latin typeface="Times New Roman" panose="02020603050405020304" pitchFamily="18" charset="0"/>
              </a:rPr>
              <a:t>（纯标量）与相角</a:t>
            </a:r>
            <a:r>
              <a:rPr kumimoji="1" lang="en-US" altLang="zh-CN" i="1">
                <a:solidFill>
                  <a:srgbClr val="000000"/>
                </a:solidFill>
                <a:latin typeface="Times New Roman" panose="02020603050405020304" pitchFamily="18" charset="0"/>
              </a:rPr>
              <a:t>θ</a:t>
            </a:r>
            <a:r>
              <a:rPr kumimoji="1" lang="en-US" altLang="zh-CN" i="1" baseline="-25000">
                <a:solidFill>
                  <a:srgbClr val="000000"/>
                </a:solidFill>
                <a:latin typeface="Times New Roman" panose="02020603050405020304" pitchFamily="18" charset="0"/>
              </a:rPr>
              <a:t>k</a:t>
            </a:r>
            <a:r>
              <a:rPr kumimoji="1" lang="zh-CN" altLang="en-US">
                <a:solidFill>
                  <a:srgbClr val="000000"/>
                </a:solidFill>
                <a:latin typeface="Times New Roman" panose="02020603050405020304" pitchFamily="18" charset="0"/>
              </a:rPr>
              <a:t>表示， 即 </a:t>
            </a:r>
          </a:p>
        </p:txBody>
      </p:sp>
      <p:graphicFrame>
        <p:nvGraphicFramePr>
          <p:cNvPr id="192517" name="Object 1032"/>
          <p:cNvGraphicFramePr>
            <a:graphicFrameLocks noChangeAspect="1"/>
          </p:cNvGraphicFramePr>
          <p:nvPr/>
        </p:nvGraphicFramePr>
        <p:xfrm>
          <a:off x="4610100" y="2209800"/>
          <a:ext cx="3454400" cy="482600"/>
        </p:xfrm>
        <a:graphic>
          <a:graphicData uri="http://schemas.openxmlformats.org/presentationml/2006/ole">
            <mc:AlternateContent xmlns:mc="http://schemas.openxmlformats.org/markup-compatibility/2006">
              <mc:Choice xmlns:v="urn:schemas-microsoft-com:vml" Requires="v">
                <p:oleObj spid="_x0000_s26713" name="Equation" r:id="rId3" imgW="1727200" imgH="241300" progId="Equation.3">
                  <p:embed/>
                </p:oleObj>
              </mc:Choice>
              <mc:Fallback>
                <p:oleObj name="Equation" r:id="rId3" imgW="1727200" imgH="241300" progId="Equation.3">
                  <p:embed/>
                  <p:pic>
                    <p:nvPicPr>
                      <p:cNvPr id="192517" name="Object 10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0100" y="2209800"/>
                        <a:ext cx="34544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2518" name="Text Box 1034"/>
          <p:cNvSpPr txBox="1">
            <a:spLocks noChangeArrowheads="1"/>
          </p:cNvSpPr>
          <p:nvPr/>
        </p:nvSpPr>
        <p:spPr bwMode="auto">
          <a:xfrm>
            <a:off x="2133601" y="2819400"/>
            <a:ext cx="40036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并在</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=0</a:t>
            </a:r>
            <a:r>
              <a:rPr kumimoji="1" lang="zh-CN" altLang="en-US">
                <a:solidFill>
                  <a:srgbClr val="000000"/>
                </a:solidFill>
                <a:latin typeface="Times New Roman" panose="02020603050405020304" pitchFamily="18" charset="0"/>
              </a:rPr>
              <a:t>～</a:t>
            </a:r>
            <a:r>
              <a:rPr kumimoji="1" lang="en-US" altLang="zh-CN">
                <a:solidFill>
                  <a:srgbClr val="000000"/>
                </a:solidFill>
                <a:latin typeface="Times New Roman" panose="02020603050405020304" pitchFamily="18" charset="0"/>
              </a:rPr>
              <a:t>2π</a:t>
            </a:r>
            <a:r>
              <a:rPr kumimoji="1" lang="zh-CN" altLang="en-US">
                <a:solidFill>
                  <a:srgbClr val="000000"/>
                </a:solidFill>
                <a:latin typeface="Times New Roman" panose="02020603050405020304" pitchFamily="18" charset="0"/>
              </a:rPr>
              <a:t>之间等间隔采样</a:t>
            </a:r>
            <a:r>
              <a:rPr kumimoji="1" lang="en-US" altLang="zh-CN" i="1">
                <a:solidFill>
                  <a:srgbClr val="000000"/>
                </a:solidFill>
                <a:latin typeface="Times New Roman" panose="02020603050405020304" pitchFamily="18" charset="0"/>
              </a:rPr>
              <a:t>N</a:t>
            </a:r>
            <a:r>
              <a:rPr kumimoji="1" lang="zh-CN" altLang="en-US">
                <a:solidFill>
                  <a:srgbClr val="000000"/>
                </a:solidFill>
                <a:latin typeface="Times New Roman" panose="02020603050405020304" pitchFamily="18" charset="0"/>
              </a:rPr>
              <a:t>点 </a:t>
            </a:r>
          </a:p>
        </p:txBody>
      </p:sp>
      <p:graphicFrame>
        <p:nvGraphicFramePr>
          <p:cNvPr id="192519" name="Object 1035"/>
          <p:cNvGraphicFramePr>
            <a:graphicFrameLocks noChangeAspect="1"/>
          </p:cNvGraphicFramePr>
          <p:nvPr/>
        </p:nvGraphicFramePr>
        <p:xfrm>
          <a:off x="3657600" y="3276601"/>
          <a:ext cx="1316038" cy="784225"/>
        </p:xfrm>
        <a:graphic>
          <a:graphicData uri="http://schemas.openxmlformats.org/presentationml/2006/ole">
            <mc:AlternateContent xmlns:mc="http://schemas.openxmlformats.org/markup-compatibility/2006">
              <mc:Choice xmlns:v="urn:schemas-microsoft-com:vml" Requires="v">
                <p:oleObj spid="_x0000_s26714" name="Equation" r:id="rId5" imgW="660113" imgH="393529" progId="Equation.3">
                  <p:embed/>
                </p:oleObj>
              </mc:Choice>
              <mc:Fallback>
                <p:oleObj name="Equation" r:id="rId5" imgW="660113" imgH="393529" progId="Equation.3">
                  <p:embed/>
                  <p:pic>
                    <p:nvPicPr>
                      <p:cNvPr id="192519" name="Object 10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3276601"/>
                        <a:ext cx="1316038"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2520" name="Text Box 1036"/>
          <p:cNvSpPr txBox="1">
            <a:spLocks noChangeArrowheads="1"/>
          </p:cNvSpPr>
          <p:nvPr/>
        </p:nvSpPr>
        <p:spPr bwMode="auto">
          <a:xfrm>
            <a:off x="5410200" y="3429001"/>
            <a:ext cx="24545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en-US" altLang="zh-CN" sz="2400" i="1">
                <a:solidFill>
                  <a:srgbClr val="000000"/>
                </a:solidFill>
                <a:latin typeface="Times New Roman" panose="02020603050405020304" pitchFamily="18" charset="0"/>
              </a:rPr>
              <a:t>k</a:t>
            </a:r>
            <a:r>
              <a:rPr kumimoji="1" lang="en-US" altLang="zh-CN" sz="2400">
                <a:solidFill>
                  <a:srgbClr val="000000"/>
                </a:solidFill>
                <a:latin typeface="Times New Roman" panose="02020603050405020304" pitchFamily="18" charset="0"/>
              </a:rPr>
              <a:t>=0, 1, 2, …, </a:t>
            </a:r>
            <a:r>
              <a:rPr kumimoji="1" lang="en-US" altLang="zh-CN" sz="2400" i="1">
                <a:solidFill>
                  <a:srgbClr val="000000"/>
                </a:solidFill>
                <a:latin typeface="Times New Roman" panose="02020603050405020304" pitchFamily="18" charset="0"/>
              </a:rPr>
              <a:t>N</a:t>
            </a:r>
            <a:r>
              <a:rPr kumimoji="1" lang="en-US" altLang="zh-CN" sz="2400">
                <a:solidFill>
                  <a:srgbClr val="000000"/>
                </a:solidFill>
                <a:latin typeface="Times New Roman" panose="02020603050405020304" pitchFamily="18" charset="0"/>
              </a:rPr>
              <a:t>-1 </a:t>
            </a:r>
          </a:p>
        </p:txBody>
      </p:sp>
      <p:sp>
        <p:nvSpPr>
          <p:cNvPr id="192521" name="Text Box 1028"/>
          <p:cNvSpPr txBox="1">
            <a:spLocks noChangeArrowheads="1"/>
          </p:cNvSpPr>
          <p:nvPr/>
        </p:nvSpPr>
        <p:spPr bwMode="auto">
          <a:xfrm>
            <a:off x="2133600" y="4191000"/>
            <a:ext cx="42052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将</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ω</a:t>
            </a:r>
            <a:r>
              <a:rPr kumimoji="1" lang="en-US" altLang="zh-CN" i="1" baseline="-25000">
                <a:solidFill>
                  <a:srgbClr val="000000"/>
                </a:solidFill>
                <a:latin typeface="Times New Roman" panose="02020603050405020304" pitchFamily="18" charset="0"/>
              </a:rPr>
              <a:t>k</a:t>
            </a:r>
            <a:r>
              <a:rPr kumimoji="1" lang="zh-CN" altLang="en-US">
                <a:solidFill>
                  <a:srgbClr val="000000"/>
                </a:solidFill>
                <a:latin typeface="Times New Roman" panose="02020603050405020304" pitchFamily="18" charset="0"/>
              </a:rPr>
              <a:t>代入，并写成</a:t>
            </a:r>
            <a:r>
              <a:rPr kumimoji="1" lang="en-US" altLang="zh-CN" i="1">
                <a:solidFill>
                  <a:srgbClr val="000000"/>
                </a:solidFill>
                <a:latin typeface="Times New Roman" panose="02020603050405020304" pitchFamily="18" charset="0"/>
              </a:rPr>
              <a:t>k</a:t>
            </a:r>
            <a:r>
              <a:rPr kumimoji="1" lang="zh-CN" altLang="en-US">
                <a:solidFill>
                  <a:srgbClr val="000000"/>
                </a:solidFill>
                <a:latin typeface="Times New Roman" panose="02020603050405020304" pitchFamily="18" charset="0"/>
              </a:rPr>
              <a:t>的函数</a:t>
            </a: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有： </a:t>
            </a:r>
          </a:p>
        </p:txBody>
      </p:sp>
      <p:graphicFrame>
        <p:nvGraphicFramePr>
          <p:cNvPr id="192522" name="Object 1029"/>
          <p:cNvGraphicFramePr>
            <a:graphicFrameLocks noChangeAspect="1"/>
          </p:cNvGraphicFramePr>
          <p:nvPr/>
        </p:nvGraphicFramePr>
        <p:xfrm>
          <a:off x="3646489" y="4648201"/>
          <a:ext cx="3527425" cy="1217613"/>
        </p:xfrm>
        <a:graphic>
          <a:graphicData uri="http://schemas.openxmlformats.org/presentationml/2006/ole">
            <mc:AlternateContent xmlns:mc="http://schemas.openxmlformats.org/markup-compatibility/2006">
              <mc:Choice xmlns:v="urn:schemas-microsoft-com:vml" Requires="v">
                <p:oleObj spid="_x0000_s26715" name="Equation" r:id="rId7" imgW="2133600" imgH="736600" progId="Equation.3">
                  <p:embed/>
                </p:oleObj>
              </mc:Choice>
              <mc:Fallback>
                <p:oleObj name="Equation" r:id="rId7" imgW="2133600" imgH="736600" progId="Equation.3">
                  <p:embed/>
                  <p:pic>
                    <p:nvPicPr>
                      <p:cNvPr id="192522" name="Object 10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46489" y="4648201"/>
                        <a:ext cx="3527425" cy="1217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2523" name="Text Box 1032"/>
          <p:cNvSpPr txBox="1">
            <a:spLocks noChangeArrowheads="1"/>
          </p:cNvSpPr>
          <p:nvPr/>
        </p:nvSpPr>
        <p:spPr bwMode="auto">
          <a:xfrm>
            <a:off x="2203450" y="6019800"/>
            <a:ext cx="25971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en-US" altLang="zh-CN" i="1">
                <a:solidFill>
                  <a:srgbClr val="000000"/>
                </a:solidFill>
                <a:latin typeface="Times New Roman" panose="02020603050405020304" pitchFamily="18" charset="0"/>
              </a:rPr>
              <a:t>H</a:t>
            </a:r>
            <a:r>
              <a:rPr kumimoji="1" lang="en-US" altLang="zh-CN" i="1" baseline="-25000">
                <a:solidFill>
                  <a:srgbClr val="000000"/>
                </a:solidFill>
                <a:latin typeface="Times New Roman" panose="02020603050405020304" pitchFamily="18" charset="0"/>
              </a:rPr>
              <a:t>k</a:t>
            </a:r>
            <a:r>
              <a:rPr kumimoji="1" lang="zh-CN" altLang="en-US">
                <a:solidFill>
                  <a:srgbClr val="000000"/>
                </a:solidFill>
                <a:latin typeface="Times New Roman" panose="02020603050405020304" pitchFamily="18" charset="0"/>
              </a:rPr>
              <a:t>满足偶对称要求。 </a:t>
            </a:r>
          </a:p>
        </p:txBody>
      </p:sp>
    </p:spTree>
    <p:extLst>
      <p:ext uri="{BB962C8B-B14F-4D97-AF65-F5344CB8AC3E}">
        <p14:creationId xmlns:p14="http://schemas.microsoft.com/office/powerpoint/2010/main" val="645376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标题 1"/>
          <p:cNvSpPr>
            <a:spLocks noGrp="1"/>
          </p:cNvSpPr>
          <p:nvPr>
            <p:ph type="title"/>
          </p:nvPr>
        </p:nvSpPr>
        <p:spPr>
          <a:xfrm>
            <a:off x="2743200" y="457200"/>
            <a:ext cx="7315200" cy="914400"/>
          </a:xfrm>
        </p:spPr>
        <p:txBody>
          <a:bodyPr/>
          <a:lstStyle/>
          <a:p>
            <a:r>
              <a:rPr lang="en-US" altLang="zh-CN" smtClean="0">
                <a:ea typeface="宋体" panose="02010600030101010101" pitchFamily="2" charset="-122"/>
              </a:rPr>
              <a:t>7.3 </a:t>
            </a:r>
            <a:r>
              <a:rPr lang="zh-CN" altLang="en-US" smtClean="0">
                <a:ea typeface="宋体" panose="02010600030101010101" pitchFamily="2" charset="-122"/>
              </a:rPr>
              <a:t>用频率采样法设计</a:t>
            </a:r>
            <a:r>
              <a:rPr lang="en-US" altLang="zh-CN" smtClean="0">
                <a:ea typeface="宋体" panose="02010600030101010101" pitchFamily="2" charset="-122"/>
              </a:rPr>
              <a:t>FIR</a:t>
            </a:r>
            <a:r>
              <a:rPr lang="zh-CN" altLang="en-US" smtClean="0">
                <a:ea typeface="宋体" panose="02010600030101010101" pitchFamily="2" charset="-122"/>
              </a:rPr>
              <a:t>滤波器 </a:t>
            </a:r>
          </a:p>
        </p:txBody>
      </p:sp>
      <p:sp>
        <p:nvSpPr>
          <p:cNvPr id="19353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4D98DB9B-45F9-4961-B325-D252F5294296}"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4</a:t>
            </a:fld>
            <a:endParaRPr lang="en-US" altLang="zh-CN" sz="1400" b="0">
              <a:solidFill>
                <a:srgbClr val="000000"/>
              </a:solidFill>
              <a:latin typeface="Times New Roman" panose="02020603050405020304" pitchFamily="18" charset="0"/>
            </a:endParaRPr>
          </a:p>
        </p:txBody>
      </p:sp>
      <p:sp>
        <p:nvSpPr>
          <p:cNvPr id="193540" name="Text Box 4"/>
          <p:cNvSpPr txBox="1">
            <a:spLocks noChangeArrowheads="1"/>
          </p:cNvSpPr>
          <p:nvPr/>
        </p:nvSpPr>
        <p:spPr bwMode="auto">
          <a:xfrm>
            <a:off x="1752600" y="1504950"/>
            <a:ext cx="8610600"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8000"/>
              </a:lnSpc>
              <a:spcBef>
                <a:spcPct val="50000"/>
              </a:spcBef>
              <a:spcAft>
                <a:spcPct val="0"/>
              </a:spcAft>
            </a:pP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a:t>
            </a:r>
            <a:r>
              <a:rPr kumimoji="1" lang="en-US" altLang="zh-CN">
                <a:solidFill>
                  <a:srgbClr val="000000"/>
                </a:solidFill>
                <a:latin typeface="Times New Roman" panose="02020603050405020304" pitchFamily="18" charset="0"/>
              </a:rPr>
              <a:t>2</a:t>
            </a:r>
            <a:r>
              <a:rPr kumimoji="1" lang="zh-CN" altLang="en-US">
                <a:solidFill>
                  <a:srgbClr val="000000"/>
                </a:solidFill>
                <a:latin typeface="Times New Roman" panose="02020603050405020304" pitchFamily="18" charset="0"/>
              </a:rPr>
              <a:t>） 对于第二类线性相位</a:t>
            </a:r>
            <a:r>
              <a:rPr kumimoji="1" lang="en-US" altLang="zh-CN">
                <a:solidFill>
                  <a:srgbClr val="000000"/>
                </a:solidFill>
                <a:latin typeface="Times New Roman" panose="02020603050405020304" pitchFamily="18" charset="0"/>
              </a:rPr>
              <a:t>FIR</a:t>
            </a:r>
            <a:r>
              <a:rPr kumimoji="1" lang="zh-CN" altLang="en-US">
                <a:solidFill>
                  <a:srgbClr val="000000"/>
                </a:solidFill>
                <a:latin typeface="Times New Roman" panose="02020603050405020304" pitchFamily="18" charset="0"/>
              </a:rPr>
              <a:t>滤波器，即</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n</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偶对称，</a:t>
            </a:r>
            <a:r>
              <a:rPr kumimoji="1" lang="en-US" altLang="zh-CN" i="1">
                <a:solidFill>
                  <a:srgbClr val="000000"/>
                </a:solidFill>
                <a:latin typeface="Times New Roman" panose="02020603050405020304" pitchFamily="18" charset="0"/>
              </a:rPr>
              <a:t>N</a:t>
            </a:r>
            <a:r>
              <a:rPr kumimoji="1" lang="zh-CN" altLang="en-US">
                <a:solidFill>
                  <a:srgbClr val="000000"/>
                </a:solidFill>
                <a:latin typeface="Times New Roman" panose="02020603050405020304" pitchFamily="18" charset="0"/>
              </a:rPr>
              <a:t>为偶数，则其</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(e</a:t>
            </a:r>
            <a:r>
              <a:rPr kumimoji="1" lang="en-US" altLang="zh-CN" baseline="30000">
                <a:solidFill>
                  <a:srgbClr val="000000"/>
                </a:solidFill>
                <a:latin typeface="Times New Roman" panose="02020603050405020304" pitchFamily="18" charset="0"/>
              </a:rPr>
              <a:t>jω</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的表达式仍为 </a:t>
            </a:r>
          </a:p>
        </p:txBody>
      </p:sp>
      <p:graphicFrame>
        <p:nvGraphicFramePr>
          <p:cNvPr id="193541" name="Object 5"/>
          <p:cNvGraphicFramePr>
            <a:graphicFrameLocks noChangeAspect="1"/>
          </p:cNvGraphicFramePr>
          <p:nvPr/>
        </p:nvGraphicFramePr>
        <p:xfrm>
          <a:off x="5043489" y="2514601"/>
          <a:ext cx="2028825" cy="1171575"/>
        </p:xfrm>
        <a:graphic>
          <a:graphicData uri="http://schemas.openxmlformats.org/presentationml/2006/ole">
            <mc:AlternateContent xmlns:mc="http://schemas.openxmlformats.org/markup-compatibility/2006">
              <mc:Choice xmlns:v="urn:schemas-microsoft-com:vml" Requires="v">
                <p:oleObj spid="_x0000_s27679" name="Equation" r:id="rId3" imgW="1320227" imgH="761669" progId="Equation.3">
                  <p:embed/>
                </p:oleObj>
              </mc:Choice>
              <mc:Fallback>
                <p:oleObj name="Equation" r:id="rId3" imgW="1320227" imgH="761669" progId="Equation.3">
                  <p:embed/>
                  <p:pic>
                    <p:nvPicPr>
                      <p:cNvPr id="19354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3489" y="2514601"/>
                        <a:ext cx="2028825" cy="1171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3542" name="Text Box 6"/>
          <p:cNvSpPr txBox="1">
            <a:spLocks noChangeArrowheads="1"/>
          </p:cNvSpPr>
          <p:nvPr/>
        </p:nvSpPr>
        <p:spPr bwMode="auto">
          <a:xfrm>
            <a:off x="1752600" y="3810001"/>
            <a:ext cx="8763000" cy="86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spcBef>
                <a:spcPct val="50000"/>
              </a:spcBef>
              <a:spcAft>
                <a:spcPct val="0"/>
              </a:spcAft>
            </a:pPr>
            <a:r>
              <a:rPr kumimoji="1" lang="zh-CN" altLang="en-US">
                <a:solidFill>
                  <a:srgbClr val="000000"/>
                </a:solidFill>
                <a:latin typeface="Times New Roman" panose="02020603050405020304" pitchFamily="18" charset="0"/>
              </a:rPr>
              <a:t>但是，其幅度函数</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关于</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=π</a:t>
            </a:r>
            <a:r>
              <a:rPr kumimoji="1" lang="zh-CN" altLang="en-US">
                <a:solidFill>
                  <a:srgbClr val="000000"/>
                </a:solidFill>
                <a:latin typeface="Times New Roman" panose="02020603050405020304" pitchFamily="18" charset="0"/>
              </a:rPr>
              <a:t>是奇对称的，关于</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=0, 2π</a:t>
            </a:r>
            <a:r>
              <a:rPr kumimoji="1" lang="zh-CN" altLang="en-US">
                <a:solidFill>
                  <a:srgbClr val="000000"/>
                </a:solidFill>
                <a:latin typeface="Times New Roman" panose="02020603050405020304" pitchFamily="18" charset="0"/>
              </a:rPr>
              <a:t>为偶对称， </a:t>
            </a:r>
          </a:p>
          <a:p>
            <a:pPr algn="ctr" fontAlgn="base">
              <a:spcBef>
                <a:spcPct val="50000"/>
              </a:spcBef>
              <a:spcAft>
                <a:spcPct val="0"/>
              </a:spcAft>
            </a:pP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(2π-ω) </a:t>
            </a:r>
          </a:p>
        </p:txBody>
      </p:sp>
      <p:sp>
        <p:nvSpPr>
          <p:cNvPr id="193543" name="Text Box 8"/>
          <p:cNvSpPr txBox="1">
            <a:spLocks noChangeArrowheads="1"/>
          </p:cNvSpPr>
          <p:nvPr/>
        </p:nvSpPr>
        <p:spPr bwMode="auto">
          <a:xfrm>
            <a:off x="1768476" y="4953000"/>
            <a:ext cx="44037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所以，这时的</a:t>
            </a:r>
            <a:r>
              <a:rPr kumimoji="1" lang="en-US" altLang="zh-CN" i="1">
                <a:solidFill>
                  <a:srgbClr val="000000"/>
                </a:solidFill>
                <a:latin typeface="Times New Roman" panose="02020603050405020304" pitchFamily="18" charset="0"/>
              </a:rPr>
              <a:t>H</a:t>
            </a:r>
            <a:r>
              <a:rPr kumimoji="1" lang="en-US" altLang="zh-CN" i="1" baseline="-25000">
                <a:solidFill>
                  <a:srgbClr val="000000"/>
                </a:solidFill>
                <a:latin typeface="Times New Roman" panose="02020603050405020304" pitchFamily="18" charset="0"/>
              </a:rPr>
              <a:t>k</a:t>
            </a:r>
            <a:r>
              <a:rPr kumimoji="1" lang="zh-CN" altLang="en-US">
                <a:solidFill>
                  <a:srgbClr val="000000"/>
                </a:solidFill>
                <a:latin typeface="Times New Roman" panose="02020603050405020304" pitchFamily="18" charset="0"/>
              </a:rPr>
              <a:t>也应满足奇对称要求 </a:t>
            </a:r>
          </a:p>
        </p:txBody>
      </p:sp>
      <p:sp>
        <p:nvSpPr>
          <p:cNvPr id="193544" name="Text Box 9"/>
          <p:cNvSpPr txBox="1">
            <a:spLocks noChangeArrowheads="1"/>
          </p:cNvSpPr>
          <p:nvPr/>
        </p:nvSpPr>
        <p:spPr bwMode="auto">
          <a:xfrm>
            <a:off x="5486401" y="5486400"/>
            <a:ext cx="12287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en-US" altLang="zh-CN" i="1">
                <a:solidFill>
                  <a:srgbClr val="000000"/>
                </a:solidFill>
                <a:latin typeface="Times New Roman" panose="02020603050405020304" pitchFamily="18" charset="0"/>
              </a:rPr>
              <a:t>H</a:t>
            </a:r>
            <a:r>
              <a:rPr kumimoji="1" lang="en-US" altLang="zh-CN" i="1" baseline="-25000">
                <a:solidFill>
                  <a:srgbClr val="000000"/>
                </a:solidFill>
                <a:latin typeface="Times New Roman" panose="02020603050405020304" pitchFamily="18" charset="0"/>
              </a:rPr>
              <a:t>k</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H</a:t>
            </a:r>
            <a:r>
              <a:rPr kumimoji="1" lang="en-US" altLang="zh-CN" i="1" baseline="-25000">
                <a:solidFill>
                  <a:srgbClr val="000000"/>
                </a:solidFill>
                <a:latin typeface="Times New Roman" panose="02020603050405020304" pitchFamily="18" charset="0"/>
              </a:rPr>
              <a:t>N-k</a:t>
            </a:r>
            <a:r>
              <a:rPr kumimoji="1" lang="en-US" altLang="zh-CN">
                <a:solidFill>
                  <a:srgbClr val="000000"/>
                </a:solidFill>
                <a:latin typeface="Times New Roman" panose="02020603050405020304" pitchFamily="18" charset="0"/>
              </a:rPr>
              <a:t> </a:t>
            </a:r>
          </a:p>
        </p:txBody>
      </p:sp>
    </p:spTree>
    <p:extLst>
      <p:ext uri="{BB962C8B-B14F-4D97-AF65-F5344CB8AC3E}">
        <p14:creationId xmlns:p14="http://schemas.microsoft.com/office/powerpoint/2010/main" val="22318934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标题 1"/>
          <p:cNvSpPr>
            <a:spLocks noGrp="1"/>
          </p:cNvSpPr>
          <p:nvPr>
            <p:ph type="title"/>
          </p:nvPr>
        </p:nvSpPr>
        <p:spPr>
          <a:xfrm>
            <a:off x="2743200" y="457200"/>
            <a:ext cx="7315200" cy="914400"/>
          </a:xfrm>
        </p:spPr>
        <p:txBody>
          <a:bodyPr/>
          <a:lstStyle/>
          <a:p>
            <a:r>
              <a:rPr lang="en-US" altLang="zh-CN" smtClean="0">
                <a:ea typeface="宋体" panose="02010600030101010101" pitchFamily="2" charset="-122"/>
              </a:rPr>
              <a:t>7.3 </a:t>
            </a:r>
            <a:r>
              <a:rPr lang="zh-CN" altLang="en-US" smtClean="0">
                <a:ea typeface="宋体" panose="02010600030101010101" pitchFamily="2" charset="-122"/>
              </a:rPr>
              <a:t>用频率采样法设计</a:t>
            </a:r>
            <a:r>
              <a:rPr lang="en-US" altLang="zh-CN" smtClean="0">
                <a:ea typeface="宋体" panose="02010600030101010101" pitchFamily="2" charset="-122"/>
              </a:rPr>
              <a:t>FIR</a:t>
            </a:r>
            <a:r>
              <a:rPr lang="zh-CN" altLang="en-US" smtClean="0">
                <a:ea typeface="宋体" panose="02010600030101010101" pitchFamily="2" charset="-122"/>
              </a:rPr>
              <a:t>滤波器</a:t>
            </a:r>
          </a:p>
        </p:txBody>
      </p:sp>
      <p:sp>
        <p:nvSpPr>
          <p:cNvPr id="19456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79ACA68D-5F92-4A5A-BBBB-94DC1D94957B}"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5</a:t>
            </a:fld>
            <a:endParaRPr lang="en-US" altLang="zh-CN" sz="1400" b="0">
              <a:solidFill>
                <a:srgbClr val="000000"/>
              </a:solidFill>
              <a:latin typeface="Times New Roman" panose="02020603050405020304" pitchFamily="18" charset="0"/>
            </a:endParaRPr>
          </a:p>
        </p:txBody>
      </p:sp>
      <p:sp>
        <p:nvSpPr>
          <p:cNvPr id="194564" name="Text Box 1028"/>
          <p:cNvSpPr txBox="1">
            <a:spLocks noChangeArrowheads="1"/>
          </p:cNvSpPr>
          <p:nvPr/>
        </p:nvSpPr>
        <p:spPr bwMode="auto">
          <a:xfrm>
            <a:off x="1752600" y="1374776"/>
            <a:ext cx="8686800" cy="147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50000"/>
              </a:lnSpc>
              <a:spcBef>
                <a:spcPct val="50000"/>
              </a:spcBef>
              <a:spcAft>
                <a:spcPct val="0"/>
              </a:spcAft>
            </a:pP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a:t>
            </a:r>
            <a:r>
              <a:rPr kumimoji="1" lang="en-US" altLang="zh-CN">
                <a:solidFill>
                  <a:srgbClr val="000000"/>
                </a:solidFill>
                <a:latin typeface="Times New Roman" panose="02020603050405020304" pitchFamily="18" charset="0"/>
              </a:rPr>
              <a:t>3</a:t>
            </a:r>
            <a:r>
              <a:rPr kumimoji="1" lang="zh-CN" altLang="en-US">
                <a:solidFill>
                  <a:srgbClr val="000000"/>
                </a:solidFill>
                <a:latin typeface="Times New Roman" panose="02020603050405020304" pitchFamily="18" charset="0"/>
              </a:rPr>
              <a:t>） 对于第三类线性相位</a:t>
            </a:r>
            <a:r>
              <a:rPr kumimoji="1" lang="en-US" altLang="zh-CN">
                <a:solidFill>
                  <a:srgbClr val="000000"/>
                </a:solidFill>
                <a:latin typeface="Times New Roman" panose="02020603050405020304" pitchFamily="18" charset="0"/>
              </a:rPr>
              <a:t>FIR</a:t>
            </a:r>
            <a:r>
              <a:rPr kumimoji="1" lang="zh-CN" altLang="en-US">
                <a:solidFill>
                  <a:srgbClr val="000000"/>
                </a:solidFill>
                <a:latin typeface="Times New Roman" panose="02020603050405020304" pitchFamily="18" charset="0"/>
              </a:rPr>
              <a:t>滤波器，即</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n</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奇对称，</a:t>
            </a:r>
            <a:r>
              <a:rPr kumimoji="1" lang="en-US" altLang="zh-CN" i="1">
                <a:solidFill>
                  <a:srgbClr val="000000"/>
                </a:solidFill>
                <a:latin typeface="Times New Roman" panose="02020603050405020304" pitchFamily="18" charset="0"/>
              </a:rPr>
              <a:t>N</a:t>
            </a:r>
            <a:r>
              <a:rPr kumimoji="1" lang="zh-CN" altLang="en-US">
                <a:solidFill>
                  <a:srgbClr val="000000"/>
                </a:solidFill>
                <a:latin typeface="Times New Roman" panose="02020603050405020304" pitchFamily="18" charset="0"/>
              </a:rPr>
              <a:t>为奇数，时，                </a:t>
            </a:r>
            <a:r>
              <a:rPr kumimoji="1" lang="zh-CN" altLang="en-US" i="1">
                <a:solidFill>
                  <a:srgbClr val="000000"/>
                </a:solidFill>
                <a:latin typeface="Times New Roman" panose="02020603050405020304" pitchFamily="18" charset="0"/>
              </a:rPr>
              <a:t>        </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(e</a:t>
            </a:r>
            <a:r>
              <a:rPr kumimoji="1" lang="en-US" altLang="zh-CN" baseline="30000">
                <a:solidFill>
                  <a:srgbClr val="000000"/>
                </a:solidFill>
                <a:latin typeface="Times New Roman" panose="02020603050405020304" pitchFamily="18" charset="0"/>
              </a:rPr>
              <a:t>jω</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)e</a:t>
            </a:r>
            <a:r>
              <a:rPr kumimoji="1" lang="en-US" altLang="zh-CN" baseline="30000">
                <a:solidFill>
                  <a:srgbClr val="000000"/>
                </a:solidFill>
                <a:latin typeface="Times New Roman" panose="02020603050405020304" pitchFamily="18" charset="0"/>
              </a:rPr>
              <a:t>jθ(ω)</a:t>
            </a:r>
            <a:r>
              <a:rPr kumimoji="1" lang="en-US" altLang="zh-CN">
                <a:solidFill>
                  <a:srgbClr val="000000"/>
                </a:solidFill>
                <a:latin typeface="Times New Roman" panose="02020603050405020304" pitchFamily="18" charset="0"/>
              </a:rPr>
              <a:t></a:t>
            </a:r>
          </a:p>
          <a:p>
            <a:pPr fontAlgn="base">
              <a:spcBef>
                <a:spcPct val="50000"/>
              </a:spcBef>
              <a:spcAft>
                <a:spcPct val="0"/>
              </a:spcAft>
            </a:pPr>
            <a:r>
              <a:rPr kumimoji="1" lang="zh-CN" altLang="en-US">
                <a:solidFill>
                  <a:srgbClr val="000000"/>
                </a:solidFill>
                <a:latin typeface="Times New Roman" panose="02020603050405020304" pitchFamily="18" charset="0"/>
              </a:rPr>
              <a:t>       式中： </a:t>
            </a:r>
          </a:p>
        </p:txBody>
      </p:sp>
      <p:graphicFrame>
        <p:nvGraphicFramePr>
          <p:cNvPr id="194565" name="Object 1029"/>
          <p:cNvGraphicFramePr>
            <a:graphicFrameLocks noChangeAspect="1"/>
          </p:cNvGraphicFramePr>
          <p:nvPr/>
        </p:nvGraphicFramePr>
        <p:xfrm>
          <a:off x="3106738" y="2519364"/>
          <a:ext cx="2303462" cy="681037"/>
        </p:xfrm>
        <a:graphic>
          <a:graphicData uri="http://schemas.openxmlformats.org/presentationml/2006/ole">
            <mc:AlternateContent xmlns:mc="http://schemas.openxmlformats.org/markup-compatibility/2006">
              <mc:Choice xmlns:v="urn:schemas-microsoft-com:vml" Requires="v">
                <p:oleObj spid="_x0000_s28790" name="Equation" r:id="rId3" imgW="1459866" imgH="431613" progId="Equation.3">
                  <p:embed/>
                </p:oleObj>
              </mc:Choice>
              <mc:Fallback>
                <p:oleObj name="Equation" r:id="rId3" imgW="1459866" imgH="431613" progId="Equation.3">
                  <p:embed/>
                  <p:pic>
                    <p:nvPicPr>
                      <p:cNvPr id="194565" name="Object 10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6738" y="2519364"/>
                        <a:ext cx="2303462" cy="68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566" name="Text Box 1031"/>
          <p:cNvSpPr txBox="1">
            <a:spLocks noChangeArrowheads="1"/>
          </p:cNvSpPr>
          <p:nvPr/>
        </p:nvSpPr>
        <p:spPr bwMode="auto">
          <a:xfrm>
            <a:off x="1752600" y="3276600"/>
            <a:ext cx="876300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lnSpc>
                <a:spcPct val="150000"/>
              </a:lnSpc>
              <a:spcBef>
                <a:spcPct val="50000"/>
              </a:spcBef>
              <a:spcAft>
                <a:spcPct val="0"/>
              </a:spcAft>
            </a:pP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第三类线性相位滤波器幅度函数</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关于</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=0, π, 2π</a:t>
            </a:r>
            <a:r>
              <a:rPr kumimoji="1" lang="zh-CN" altLang="en-US">
                <a:solidFill>
                  <a:srgbClr val="000000"/>
                </a:solidFill>
                <a:latin typeface="Times New Roman" panose="02020603050405020304" pitchFamily="18" charset="0"/>
              </a:rPr>
              <a:t>为奇对称，即 </a:t>
            </a:r>
          </a:p>
        </p:txBody>
      </p:sp>
      <p:graphicFrame>
        <p:nvGraphicFramePr>
          <p:cNvPr id="194567" name="Object 1032"/>
          <p:cNvGraphicFramePr>
            <a:graphicFrameLocks noChangeAspect="1"/>
          </p:cNvGraphicFramePr>
          <p:nvPr/>
        </p:nvGraphicFramePr>
        <p:xfrm>
          <a:off x="5167314" y="3886201"/>
          <a:ext cx="2212975" cy="341313"/>
        </p:xfrm>
        <a:graphic>
          <a:graphicData uri="http://schemas.openxmlformats.org/presentationml/2006/ole">
            <mc:AlternateContent xmlns:mc="http://schemas.openxmlformats.org/markup-compatibility/2006">
              <mc:Choice xmlns:v="urn:schemas-microsoft-com:vml" Requires="v">
                <p:oleObj spid="_x0000_s28791" name="Equation" r:id="rId5" imgW="1320227" imgH="203112" progId="Equation.3">
                  <p:embed/>
                </p:oleObj>
              </mc:Choice>
              <mc:Fallback>
                <p:oleObj name="Equation" r:id="rId5" imgW="1320227" imgH="203112" progId="Equation.3">
                  <p:embed/>
                  <p:pic>
                    <p:nvPicPr>
                      <p:cNvPr id="194567" name="Object 10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67314" y="3886201"/>
                        <a:ext cx="2212975"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568" name="Text Box 1028"/>
          <p:cNvSpPr txBox="1">
            <a:spLocks noChangeArrowheads="1"/>
          </p:cNvSpPr>
          <p:nvPr/>
        </p:nvSpPr>
        <p:spPr bwMode="auto">
          <a:xfrm>
            <a:off x="2209800" y="4191001"/>
            <a:ext cx="5638800"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lnSpc>
                <a:spcPct val="180000"/>
              </a:lnSpc>
              <a:spcBef>
                <a:spcPct val="0"/>
              </a:spcBef>
              <a:spcAft>
                <a:spcPct val="0"/>
              </a:spcAft>
            </a:pPr>
            <a:r>
              <a:rPr kumimoji="1" lang="zh-CN" altLang="en-US">
                <a:solidFill>
                  <a:srgbClr val="000000"/>
                </a:solidFill>
                <a:latin typeface="Times New Roman" panose="02020603050405020304" pitchFamily="18" charset="0"/>
              </a:rPr>
              <a:t>将</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ω</a:t>
            </a:r>
            <a:r>
              <a:rPr kumimoji="1" lang="en-US" altLang="zh-CN" i="1" baseline="-25000">
                <a:solidFill>
                  <a:srgbClr val="000000"/>
                </a:solidFill>
                <a:latin typeface="Times New Roman" panose="02020603050405020304" pitchFamily="18" charset="0"/>
              </a:rPr>
              <a:t>k</a:t>
            </a:r>
            <a:r>
              <a:rPr kumimoji="1" lang="en-US" altLang="zh-CN">
                <a:solidFill>
                  <a:srgbClr val="000000"/>
                </a:solidFill>
                <a:latin typeface="Times New Roman" panose="02020603050405020304" pitchFamily="18" charset="0"/>
              </a:rPr>
              <a:t>=2π</a:t>
            </a:r>
            <a:r>
              <a:rPr kumimoji="1" lang="en-US" altLang="zh-CN" i="1">
                <a:solidFill>
                  <a:srgbClr val="000000"/>
                </a:solidFill>
                <a:latin typeface="Times New Roman" panose="02020603050405020304" pitchFamily="18" charset="0"/>
              </a:rPr>
              <a:t>k</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N</a:t>
            </a:r>
            <a:r>
              <a:rPr kumimoji="1" lang="zh-CN" altLang="en-US">
                <a:solidFill>
                  <a:srgbClr val="000000"/>
                </a:solidFill>
                <a:latin typeface="Times New Roman" panose="02020603050405020304" pitchFamily="18" charset="0"/>
              </a:rPr>
              <a:t>代入并写成</a:t>
            </a:r>
            <a:r>
              <a:rPr kumimoji="1" lang="en-US" altLang="zh-CN" i="1">
                <a:solidFill>
                  <a:srgbClr val="000000"/>
                </a:solidFill>
                <a:latin typeface="Times New Roman" panose="02020603050405020304" pitchFamily="18" charset="0"/>
              </a:rPr>
              <a:t>k</a:t>
            </a:r>
            <a:r>
              <a:rPr kumimoji="1" lang="zh-CN" altLang="en-US">
                <a:solidFill>
                  <a:srgbClr val="000000"/>
                </a:solidFill>
                <a:latin typeface="Times New Roman" panose="02020603050405020304" pitchFamily="18" charset="0"/>
              </a:rPr>
              <a:t>的函数，得</a:t>
            </a:r>
            <a:r>
              <a:rPr kumimoji="1" lang="en-US" altLang="zh-CN">
                <a:solidFill>
                  <a:srgbClr val="000000"/>
                </a:solidFill>
                <a:latin typeface="Times New Roman" panose="02020603050405020304" pitchFamily="18" charset="0"/>
              </a:rPr>
              <a:t>: </a:t>
            </a:r>
          </a:p>
        </p:txBody>
      </p:sp>
      <p:graphicFrame>
        <p:nvGraphicFramePr>
          <p:cNvPr id="194569" name="Object 1029"/>
          <p:cNvGraphicFramePr>
            <a:graphicFrameLocks noChangeAspect="1"/>
          </p:cNvGraphicFramePr>
          <p:nvPr/>
        </p:nvGraphicFramePr>
        <p:xfrm>
          <a:off x="4359275" y="4876801"/>
          <a:ext cx="4006850" cy="650875"/>
        </p:xfrm>
        <a:graphic>
          <a:graphicData uri="http://schemas.openxmlformats.org/presentationml/2006/ole">
            <mc:AlternateContent xmlns:mc="http://schemas.openxmlformats.org/markup-compatibility/2006">
              <mc:Choice xmlns:v="urn:schemas-microsoft-com:vml" Requires="v">
                <p:oleObj spid="_x0000_s28792" name="Equation" r:id="rId7" imgW="2654300" imgH="431800" progId="Equation.DSMT4">
                  <p:embed/>
                </p:oleObj>
              </mc:Choice>
              <mc:Fallback>
                <p:oleObj name="Equation" r:id="rId7" imgW="2654300" imgH="431800" progId="Equation.DSMT4">
                  <p:embed/>
                  <p:pic>
                    <p:nvPicPr>
                      <p:cNvPr id="194569" name="Object 10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59275" y="4876801"/>
                        <a:ext cx="4006850" cy="65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570" name="Object 1030"/>
          <p:cNvGraphicFramePr>
            <a:graphicFrameLocks noChangeAspect="1"/>
          </p:cNvGraphicFramePr>
          <p:nvPr/>
        </p:nvGraphicFramePr>
        <p:xfrm>
          <a:off x="5853114" y="5715001"/>
          <a:ext cx="1323975" cy="384175"/>
        </p:xfrm>
        <a:graphic>
          <a:graphicData uri="http://schemas.openxmlformats.org/presentationml/2006/ole">
            <mc:AlternateContent xmlns:mc="http://schemas.openxmlformats.org/markup-compatibility/2006">
              <mc:Choice xmlns:v="urn:schemas-microsoft-com:vml" Requires="v">
                <p:oleObj spid="_x0000_s28793" name="Equation" r:id="rId9" imgW="787400" imgH="228600" progId="Equation.3">
                  <p:embed/>
                </p:oleObj>
              </mc:Choice>
              <mc:Fallback>
                <p:oleObj name="Equation" r:id="rId9" imgW="787400" imgH="228600" progId="Equation.3">
                  <p:embed/>
                  <p:pic>
                    <p:nvPicPr>
                      <p:cNvPr id="194570" name="Object 10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53114" y="5715001"/>
                        <a:ext cx="1323975"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571" name="Text Box 1033"/>
          <p:cNvSpPr txBox="1">
            <a:spLocks noChangeArrowheads="1"/>
          </p:cNvSpPr>
          <p:nvPr/>
        </p:nvSpPr>
        <p:spPr bwMode="auto">
          <a:xfrm>
            <a:off x="2438401" y="6096000"/>
            <a:ext cx="28559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即</a:t>
            </a:r>
            <a:r>
              <a:rPr kumimoji="1" lang="en-US" altLang="zh-CN" i="1">
                <a:solidFill>
                  <a:srgbClr val="000000"/>
                </a:solidFill>
                <a:latin typeface="Times New Roman" panose="02020603050405020304" pitchFamily="18" charset="0"/>
              </a:rPr>
              <a:t>H</a:t>
            </a:r>
            <a:r>
              <a:rPr kumimoji="1" lang="en-US" altLang="zh-CN" i="1" baseline="-25000">
                <a:solidFill>
                  <a:srgbClr val="000000"/>
                </a:solidFill>
                <a:latin typeface="Times New Roman" panose="02020603050405020304" pitchFamily="18" charset="0"/>
              </a:rPr>
              <a:t>k</a:t>
            </a:r>
            <a:r>
              <a:rPr kumimoji="1" lang="zh-CN" altLang="en-US">
                <a:solidFill>
                  <a:srgbClr val="000000"/>
                </a:solidFill>
                <a:latin typeface="Times New Roman" panose="02020603050405020304" pitchFamily="18" charset="0"/>
              </a:rPr>
              <a:t>满足奇对称要求。 </a:t>
            </a:r>
          </a:p>
        </p:txBody>
      </p:sp>
    </p:spTree>
    <p:extLst>
      <p:ext uri="{BB962C8B-B14F-4D97-AF65-F5344CB8AC3E}">
        <p14:creationId xmlns:p14="http://schemas.microsoft.com/office/powerpoint/2010/main" val="39501600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标题 1"/>
          <p:cNvSpPr>
            <a:spLocks noGrp="1"/>
          </p:cNvSpPr>
          <p:nvPr>
            <p:ph type="title"/>
          </p:nvPr>
        </p:nvSpPr>
        <p:spPr>
          <a:xfrm>
            <a:off x="2743200" y="457200"/>
            <a:ext cx="7315200" cy="914400"/>
          </a:xfrm>
        </p:spPr>
        <p:txBody>
          <a:bodyPr/>
          <a:lstStyle/>
          <a:p>
            <a:r>
              <a:rPr lang="en-US" altLang="zh-CN" smtClean="0">
                <a:ea typeface="宋体" panose="02010600030101010101" pitchFamily="2" charset="-122"/>
              </a:rPr>
              <a:t>7.3 </a:t>
            </a:r>
            <a:r>
              <a:rPr lang="zh-CN" altLang="en-US" smtClean="0">
                <a:ea typeface="宋体" panose="02010600030101010101" pitchFamily="2" charset="-122"/>
              </a:rPr>
              <a:t>用频率采样法设计</a:t>
            </a:r>
            <a:r>
              <a:rPr lang="en-US" altLang="zh-CN" smtClean="0">
                <a:ea typeface="宋体" panose="02010600030101010101" pitchFamily="2" charset="-122"/>
              </a:rPr>
              <a:t>FIR</a:t>
            </a:r>
            <a:r>
              <a:rPr lang="zh-CN" altLang="en-US" smtClean="0">
                <a:ea typeface="宋体" panose="02010600030101010101" pitchFamily="2" charset="-122"/>
              </a:rPr>
              <a:t>滤波器</a:t>
            </a:r>
          </a:p>
        </p:txBody>
      </p:sp>
      <p:sp>
        <p:nvSpPr>
          <p:cNvPr id="19558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B22E1148-76A4-4F49-A7C3-C6EE5992B717}"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6</a:t>
            </a:fld>
            <a:endParaRPr lang="en-US" altLang="zh-CN" sz="1400" b="0">
              <a:solidFill>
                <a:srgbClr val="000000"/>
              </a:solidFill>
              <a:latin typeface="Times New Roman" panose="02020603050405020304" pitchFamily="18" charset="0"/>
            </a:endParaRPr>
          </a:p>
        </p:txBody>
      </p:sp>
      <p:sp>
        <p:nvSpPr>
          <p:cNvPr id="195588" name="Text Box 4"/>
          <p:cNvSpPr txBox="1">
            <a:spLocks noChangeArrowheads="1"/>
          </p:cNvSpPr>
          <p:nvPr/>
        </p:nvSpPr>
        <p:spPr bwMode="auto">
          <a:xfrm>
            <a:off x="1752600" y="1447801"/>
            <a:ext cx="8763000"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0000"/>
              </a:lnSpc>
              <a:spcBef>
                <a:spcPct val="50000"/>
              </a:spcBef>
              <a:spcAft>
                <a:spcPct val="0"/>
              </a:spcAft>
            </a:pP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a:t>
            </a:r>
            <a:r>
              <a:rPr kumimoji="1" lang="en-US" altLang="zh-CN">
                <a:solidFill>
                  <a:srgbClr val="000000"/>
                </a:solidFill>
                <a:latin typeface="Times New Roman" panose="02020603050405020304" pitchFamily="18" charset="0"/>
              </a:rPr>
              <a:t>4</a:t>
            </a:r>
            <a:r>
              <a:rPr kumimoji="1" lang="zh-CN" altLang="en-US">
                <a:solidFill>
                  <a:srgbClr val="000000"/>
                </a:solidFill>
                <a:latin typeface="Times New Roman" panose="02020603050405020304" pitchFamily="18" charset="0"/>
              </a:rPr>
              <a:t>）对于第四类线性相位</a:t>
            </a:r>
            <a:r>
              <a:rPr kumimoji="1" lang="en-US" altLang="zh-CN">
                <a:solidFill>
                  <a:srgbClr val="000000"/>
                </a:solidFill>
                <a:latin typeface="Times New Roman" panose="02020603050405020304" pitchFamily="18" charset="0"/>
              </a:rPr>
              <a:t>FIR</a:t>
            </a:r>
            <a:r>
              <a:rPr kumimoji="1" lang="zh-CN" altLang="en-US">
                <a:solidFill>
                  <a:srgbClr val="000000"/>
                </a:solidFill>
                <a:latin typeface="Times New Roman" panose="02020603050405020304" pitchFamily="18" charset="0"/>
              </a:rPr>
              <a:t>滤波器，即</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n</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奇对称，</a:t>
            </a:r>
            <a:r>
              <a:rPr kumimoji="1" lang="en-US" altLang="zh-CN" i="1">
                <a:solidFill>
                  <a:srgbClr val="000000"/>
                </a:solidFill>
                <a:latin typeface="Times New Roman" panose="02020603050405020304" pitchFamily="18" charset="0"/>
              </a:rPr>
              <a:t>N</a:t>
            </a:r>
            <a:r>
              <a:rPr kumimoji="1" lang="zh-CN" altLang="en-US">
                <a:solidFill>
                  <a:srgbClr val="000000"/>
                </a:solidFill>
                <a:latin typeface="Times New Roman" panose="02020603050405020304" pitchFamily="18" charset="0"/>
              </a:rPr>
              <a:t>为偶数，则其</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(e</a:t>
            </a:r>
            <a:r>
              <a:rPr kumimoji="1" lang="en-US" altLang="zh-CN" baseline="30000">
                <a:solidFill>
                  <a:srgbClr val="000000"/>
                </a:solidFill>
                <a:latin typeface="Times New Roman" panose="02020603050405020304" pitchFamily="18" charset="0"/>
              </a:rPr>
              <a:t>jω</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的表达式仍为 </a:t>
            </a:r>
          </a:p>
        </p:txBody>
      </p:sp>
      <p:graphicFrame>
        <p:nvGraphicFramePr>
          <p:cNvPr id="195589" name="Object 5"/>
          <p:cNvGraphicFramePr>
            <a:graphicFrameLocks noChangeAspect="1"/>
          </p:cNvGraphicFramePr>
          <p:nvPr/>
        </p:nvGraphicFramePr>
        <p:xfrm>
          <a:off x="4810125" y="2170114"/>
          <a:ext cx="2266950" cy="1182687"/>
        </p:xfrm>
        <a:graphic>
          <a:graphicData uri="http://schemas.openxmlformats.org/presentationml/2006/ole">
            <mc:AlternateContent xmlns:mc="http://schemas.openxmlformats.org/markup-compatibility/2006">
              <mc:Choice xmlns:v="urn:schemas-microsoft-com:vml" Requires="v">
                <p:oleObj spid="_x0000_s29785" name="Equation" r:id="rId3" imgW="1459866" imgH="761669" progId="Equation.3">
                  <p:embed/>
                </p:oleObj>
              </mc:Choice>
              <mc:Fallback>
                <p:oleObj name="Equation" r:id="rId3" imgW="1459866" imgH="761669" progId="Equation.3">
                  <p:embed/>
                  <p:pic>
                    <p:nvPicPr>
                      <p:cNvPr id="19558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125" y="2170114"/>
                        <a:ext cx="2266950" cy="1182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590" name="Text Box 6"/>
          <p:cNvSpPr txBox="1">
            <a:spLocks noChangeArrowheads="1"/>
          </p:cNvSpPr>
          <p:nvPr/>
        </p:nvSpPr>
        <p:spPr bwMode="auto">
          <a:xfrm>
            <a:off x="1736726" y="3444876"/>
            <a:ext cx="89312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lnSpc>
                <a:spcPct val="138000"/>
              </a:lnSpc>
              <a:spcBef>
                <a:spcPct val="0"/>
              </a:spcBef>
              <a:spcAft>
                <a:spcPct val="0"/>
              </a:spcAft>
            </a:pPr>
            <a:r>
              <a:rPr kumimoji="1" lang="zh-CN" altLang="en-US">
                <a:solidFill>
                  <a:srgbClr val="000000"/>
                </a:solidFill>
                <a:latin typeface="Times New Roman" panose="02020603050405020304" pitchFamily="18" charset="0"/>
              </a:rPr>
              <a:t>但是，其幅度函数</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关于</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=π</a:t>
            </a:r>
            <a:r>
              <a:rPr kumimoji="1" lang="zh-CN" altLang="en-US">
                <a:solidFill>
                  <a:srgbClr val="000000"/>
                </a:solidFill>
                <a:latin typeface="Times New Roman" panose="02020603050405020304" pitchFamily="18" charset="0"/>
              </a:rPr>
              <a:t>是偶对称的，关于</a:t>
            </a:r>
            <a:r>
              <a:rPr kumimoji="1" lang="en-US" altLang="zh-CN" i="1">
                <a:solidFill>
                  <a:srgbClr val="000000"/>
                </a:solidFill>
                <a:latin typeface="Times New Roman" panose="02020603050405020304" pitchFamily="18" charset="0"/>
              </a:rPr>
              <a:t>ω</a:t>
            </a:r>
            <a:r>
              <a:rPr kumimoji="1" lang="en-US" altLang="zh-CN">
                <a:solidFill>
                  <a:srgbClr val="000000"/>
                </a:solidFill>
                <a:latin typeface="Times New Roman" panose="02020603050405020304" pitchFamily="18" charset="0"/>
              </a:rPr>
              <a:t>=0, 2π</a:t>
            </a:r>
            <a:r>
              <a:rPr kumimoji="1" lang="zh-CN" altLang="en-US">
                <a:solidFill>
                  <a:srgbClr val="000000"/>
                </a:solidFill>
                <a:latin typeface="Times New Roman" panose="02020603050405020304" pitchFamily="18" charset="0"/>
              </a:rPr>
              <a:t>为奇对称， 即 </a:t>
            </a:r>
          </a:p>
        </p:txBody>
      </p:sp>
      <p:graphicFrame>
        <p:nvGraphicFramePr>
          <p:cNvPr id="195591" name="Object 7"/>
          <p:cNvGraphicFramePr>
            <a:graphicFrameLocks noChangeAspect="1"/>
          </p:cNvGraphicFramePr>
          <p:nvPr/>
        </p:nvGraphicFramePr>
        <p:xfrm>
          <a:off x="5018089" y="4038600"/>
          <a:ext cx="2232025" cy="368300"/>
        </p:xfrm>
        <a:graphic>
          <a:graphicData uri="http://schemas.openxmlformats.org/presentationml/2006/ole">
            <mc:AlternateContent xmlns:mc="http://schemas.openxmlformats.org/markup-compatibility/2006">
              <mc:Choice xmlns:v="urn:schemas-microsoft-com:vml" Requires="v">
                <p:oleObj spid="_x0000_s29786" name="Equation" r:id="rId5" imgW="1231366" imgH="203112" progId="Equation.3">
                  <p:embed/>
                </p:oleObj>
              </mc:Choice>
              <mc:Fallback>
                <p:oleObj name="Equation" r:id="rId5" imgW="1231366" imgH="203112" progId="Equation.3">
                  <p:embed/>
                  <p:pic>
                    <p:nvPicPr>
                      <p:cNvPr id="19559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8089" y="4038600"/>
                        <a:ext cx="223202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592" name="Text Box 9"/>
          <p:cNvSpPr txBox="1">
            <a:spLocks noChangeArrowheads="1"/>
          </p:cNvSpPr>
          <p:nvPr/>
        </p:nvSpPr>
        <p:spPr bwMode="auto">
          <a:xfrm>
            <a:off x="1752601" y="4572000"/>
            <a:ext cx="44037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所以，这时的</a:t>
            </a:r>
            <a:r>
              <a:rPr kumimoji="1" lang="en-US" altLang="zh-CN" i="1">
                <a:solidFill>
                  <a:srgbClr val="000000"/>
                </a:solidFill>
                <a:latin typeface="Times New Roman" panose="02020603050405020304" pitchFamily="18" charset="0"/>
              </a:rPr>
              <a:t>H</a:t>
            </a:r>
            <a:r>
              <a:rPr kumimoji="1" lang="en-US" altLang="zh-CN" i="1" baseline="-25000">
                <a:solidFill>
                  <a:srgbClr val="000000"/>
                </a:solidFill>
                <a:latin typeface="Times New Roman" panose="02020603050405020304" pitchFamily="18" charset="0"/>
              </a:rPr>
              <a:t>k</a:t>
            </a:r>
            <a:r>
              <a:rPr kumimoji="1" lang="zh-CN" altLang="en-US">
                <a:solidFill>
                  <a:srgbClr val="000000"/>
                </a:solidFill>
                <a:latin typeface="Times New Roman" panose="02020603050405020304" pitchFamily="18" charset="0"/>
              </a:rPr>
              <a:t>也应满足偶对称要求 </a:t>
            </a:r>
          </a:p>
        </p:txBody>
      </p:sp>
      <p:graphicFrame>
        <p:nvGraphicFramePr>
          <p:cNvPr id="195593" name="Object 10"/>
          <p:cNvGraphicFramePr>
            <a:graphicFrameLocks noChangeAspect="1"/>
          </p:cNvGraphicFramePr>
          <p:nvPr/>
        </p:nvGraphicFramePr>
        <p:xfrm>
          <a:off x="5405439" y="5197476"/>
          <a:ext cx="1349375" cy="441325"/>
        </p:xfrm>
        <a:graphic>
          <a:graphicData uri="http://schemas.openxmlformats.org/presentationml/2006/ole">
            <mc:AlternateContent xmlns:mc="http://schemas.openxmlformats.org/markup-compatibility/2006">
              <mc:Choice xmlns:v="urn:schemas-microsoft-com:vml" Requires="v">
                <p:oleObj spid="_x0000_s29787" name="Equation" r:id="rId7" imgW="698500" imgH="228600" progId="Equation.3">
                  <p:embed/>
                </p:oleObj>
              </mc:Choice>
              <mc:Fallback>
                <p:oleObj name="Equation" r:id="rId7" imgW="698500" imgH="228600" progId="Equation.3">
                  <p:embed/>
                  <p:pic>
                    <p:nvPicPr>
                      <p:cNvPr id="195593"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05439" y="5197476"/>
                        <a:ext cx="1349375"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594" name="Text Box 11"/>
          <p:cNvSpPr txBox="1">
            <a:spLocks noChangeArrowheads="1"/>
          </p:cNvSpPr>
          <p:nvPr/>
        </p:nvSpPr>
        <p:spPr bwMode="auto">
          <a:xfrm>
            <a:off x="1981200" y="5791200"/>
            <a:ext cx="3048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而</a:t>
            </a:r>
            <a:r>
              <a:rPr kumimoji="1" lang="en-US" altLang="zh-CN" i="1">
                <a:solidFill>
                  <a:srgbClr val="000000"/>
                </a:solidFill>
                <a:latin typeface="Times New Roman" panose="02020603050405020304" pitchFamily="18" charset="0"/>
              </a:rPr>
              <a:t>θ</a:t>
            </a:r>
            <a:r>
              <a:rPr kumimoji="1" lang="en-US" altLang="zh-CN" i="1" baseline="-25000">
                <a:solidFill>
                  <a:srgbClr val="000000"/>
                </a:solidFill>
                <a:latin typeface="Times New Roman" panose="02020603050405020304" pitchFamily="18" charset="0"/>
              </a:rPr>
              <a:t>k</a:t>
            </a:r>
            <a:r>
              <a:rPr kumimoji="1" lang="zh-CN" altLang="en-US">
                <a:solidFill>
                  <a:srgbClr val="000000"/>
                </a:solidFill>
                <a:latin typeface="Times New Roman" panose="02020603050405020304" pitchFamily="18" charset="0"/>
              </a:rPr>
              <a:t>则与前面公式相同。 </a:t>
            </a:r>
          </a:p>
        </p:txBody>
      </p:sp>
    </p:spTree>
    <p:extLst>
      <p:ext uri="{BB962C8B-B14F-4D97-AF65-F5344CB8AC3E}">
        <p14:creationId xmlns:p14="http://schemas.microsoft.com/office/powerpoint/2010/main" val="1688192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标题 1"/>
          <p:cNvSpPr>
            <a:spLocks noGrp="1"/>
          </p:cNvSpPr>
          <p:nvPr>
            <p:ph type="title"/>
          </p:nvPr>
        </p:nvSpPr>
        <p:spPr>
          <a:xfrm>
            <a:off x="2743200" y="457200"/>
            <a:ext cx="7315200" cy="914400"/>
          </a:xfrm>
        </p:spPr>
        <p:txBody>
          <a:bodyPr/>
          <a:lstStyle/>
          <a:p>
            <a:r>
              <a:rPr lang="en-US" altLang="zh-CN" smtClean="0">
                <a:ea typeface="宋体" panose="02010600030101010101" pitchFamily="2" charset="-122"/>
              </a:rPr>
              <a:t>7.3 </a:t>
            </a:r>
            <a:r>
              <a:rPr lang="zh-CN" altLang="en-US" smtClean="0">
                <a:ea typeface="宋体" panose="02010600030101010101" pitchFamily="2" charset="-122"/>
              </a:rPr>
              <a:t>用频率采样法设计</a:t>
            </a:r>
            <a:r>
              <a:rPr lang="en-US" altLang="zh-CN" smtClean="0">
                <a:ea typeface="宋体" panose="02010600030101010101" pitchFamily="2" charset="-122"/>
              </a:rPr>
              <a:t>FIR</a:t>
            </a:r>
            <a:r>
              <a:rPr lang="zh-CN" altLang="en-US" smtClean="0">
                <a:ea typeface="宋体" panose="02010600030101010101" pitchFamily="2" charset="-122"/>
              </a:rPr>
              <a:t>滤波器</a:t>
            </a:r>
          </a:p>
        </p:txBody>
      </p:sp>
      <p:sp>
        <p:nvSpPr>
          <p:cNvPr id="19661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C09DBBAE-44EF-49E9-BF84-1716B761F750}"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7</a:t>
            </a:fld>
            <a:endParaRPr lang="en-US" altLang="zh-CN" sz="1400" b="0">
              <a:solidFill>
                <a:srgbClr val="000000"/>
              </a:solidFill>
              <a:latin typeface="Times New Roman" panose="02020603050405020304" pitchFamily="18" charset="0"/>
            </a:endParaRPr>
          </a:p>
        </p:txBody>
      </p:sp>
      <p:sp>
        <p:nvSpPr>
          <p:cNvPr id="196612" name="Text Box 1028"/>
          <p:cNvSpPr txBox="1">
            <a:spLocks noChangeArrowheads="1"/>
          </p:cNvSpPr>
          <p:nvPr/>
        </p:nvSpPr>
        <p:spPr bwMode="auto">
          <a:xfrm>
            <a:off x="1905000" y="1528764"/>
            <a:ext cx="4343400" cy="479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8000"/>
              </a:lnSpc>
              <a:spcBef>
                <a:spcPct val="50000"/>
              </a:spcBef>
              <a:spcAft>
                <a:spcPct val="0"/>
              </a:spcAft>
            </a:pPr>
            <a:r>
              <a:rPr kumimoji="1" lang="zh-CN" altLang="en-US" sz="2400">
                <a:solidFill>
                  <a:srgbClr val="000000"/>
                </a:solidFill>
                <a:latin typeface="Times New Roman" panose="02020603050405020304" pitchFamily="18" charset="0"/>
              </a:rPr>
              <a:t>逼近误差及其改进措施</a:t>
            </a:r>
          </a:p>
          <a:p>
            <a:pPr algn="just" fontAlgn="base">
              <a:lnSpc>
                <a:spcPct val="125000"/>
              </a:lnSpc>
              <a:spcBef>
                <a:spcPct val="0"/>
              </a:spcBef>
              <a:spcAft>
                <a:spcPct val="0"/>
              </a:spcAft>
            </a:pPr>
            <a:r>
              <a:rPr kumimoji="1" lang="zh-CN" altLang="en-US">
                <a:solidFill>
                  <a:srgbClr val="000000"/>
                </a:solidFill>
                <a:latin typeface="Times New Roman" panose="02020603050405020304" pitchFamily="18" charset="0"/>
              </a:rPr>
              <a:t>        </a:t>
            </a:r>
            <a:r>
              <a:rPr kumimoji="1" lang="zh-CN" altLang="en-US" sz="1800">
                <a:solidFill>
                  <a:srgbClr val="000000"/>
                </a:solidFill>
                <a:latin typeface="Times New Roman" panose="02020603050405020304" pitchFamily="18" charset="0"/>
              </a:rPr>
              <a:t>频率采样法是比较简单的，但是我们还应该进一步考察， 用这种频率采样所得到的系统函数究竟逼近效果如何？</a:t>
            </a:r>
            <a:endParaRPr kumimoji="1" lang="en-US" altLang="zh-CN" sz="1800">
              <a:solidFill>
                <a:srgbClr val="000000"/>
              </a:solidFill>
              <a:latin typeface="Times New Roman" panose="02020603050405020304" pitchFamily="18" charset="0"/>
            </a:endParaRPr>
          </a:p>
          <a:p>
            <a:pPr algn="just" fontAlgn="base">
              <a:lnSpc>
                <a:spcPct val="125000"/>
              </a:lnSpc>
              <a:spcBef>
                <a:spcPct val="0"/>
              </a:spcBef>
              <a:spcAft>
                <a:spcPct val="0"/>
              </a:spcAft>
            </a:pPr>
            <a:r>
              <a:rPr kumimoji="1" lang="zh-CN" altLang="en-US" sz="1800">
                <a:solidFill>
                  <a:srgbClr val="000000"/>
                </a:solidFill>
                <a:latin typeface="Times New Roman" panose="02020603050405020304" pitchFamily="18" charset="0"/>
              </a:rPr>
              <a:t>       采样点上滤波器的实际频率响应是严格地和理想频率响应数值相等的。但是在采样点之间的频响有一定的逼近误差，误差大小取决于理想频率响应曲线形状。理想频率响应特性变化越平缓，逼近误差越小。反之，如果采样点之间的理想频率特性变化越陡，误差就越大，因而在理想频率特性的不连续点附近，就会产生肩峰和起伏。</a:t>
            </a:r>
          </a:p>
        </p:txBody>
      </p:sp>
      <p:pic>
        <p:nvPicPr>
          <p:cNvPr id="196613" name="Picture 2056" descr="6-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2576514"/>
            <a:ext cx="3924300" cy="290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40549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标题 1"/>
          <p:cNvSpPr>
            <a:spLocks noGrp="1"/>
          </p:cNvSpPr>
          <p:nvPr>
            <p:ph type="title"/>
          </p:nvPr>
        </p:nvSpPr>
        <p:spPr>
          <a:xfrm>
            <a:off x="2819400" y="457200"/>
            <a:ext cx="7239000" cy="914400"/>
          </a:xfrm>
        </p:spPr>
        <p:txBody>
          <a:bodyPr/>
          <a:lstStyle/>
          <a:p>
            <a:r>
              <a:rPr lang="en-US" altLang="zh-CN" smtClean="0">
                <a:ea typeface="宋体" panose="02010600030101010101" pitchFamily="2" charset="-122"/>
              </a:rPr>
              <a:t>7.3 </a:t>
            </a:r>
            <a:r>
              <a:rPr lang="zh-CN" altLang="en-US" smtClean="0">
                <a:ea typeface="宋体" panose="02010600030101010101" pitchFamily="2" charset="-122"/>
              </a:rPr>
              <a:t>用频率采样法设计</a:t>
            </a:r>
            <a:r>
              <a:rPr lang="en-US" altLang="zh-CN" smtClean="0">
                <a:ea typeface="宋体" panose="02010600030101010101" pitchFamily="2" charset="-122"/>
              </a:rPr>
              <a:t>FIR</a:t>
            </a:r>
            <a:r>
              <a:rPr lang="zh-CN" altLang="en-US" smtClean="0">
                <a:ea typeface="宋体" panose="02010600030101010101" pitchFamily="2" charset="-122"/>
              </a:rPr>
              <a:t>滤波器</a:t>
            </a:r>
          </a:p>
        </p:txBody>
      </p:sp>
      <p:sp>
        <p:nvSpPr>
          <p:cNvPr id="19763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D97FE2EA-676B-401E-A149-B6B84BC01871}"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8</a:t>
            </a:fld>
            <a:endParaRPr lang="en-US" altLang="zh-CN" sz="1400" b="0">
              <a:solidFill>
                <a:srgbClr val="000000"/>
              </a:solidFill>
              <a:latin typeface="Times New Roman" panose="02020603050405020304" pitchFamily="18" charset="0"/>
            </a:endParaRPr>
          </a:p>
        </p:txBody>
      </p:sp>
      <p:sp>
        <p:nvSpPr>
          <p:cNvPr id="197636" name="Text Box 4"/>
          <p:cNvSpPr txBox="1">
            <a:spLocks noChangeArrowheads="1"/>
          </p:cNvSpPr>
          <p:nvPr/>
        </p:nvSpPr>
        <p:spPr bwMode="auto">
          <a:xfrm>
            <a:off x="3282951" y="5943601"/>
            <a:ext cx="597852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ctr" fontAlgn="base">
              <a:spcBef>
                <a:spcPct val="0"/>
              </a:spcBef>
              <a:spcAft>
                <a:spcPct val="0"/>
              </a:spcAft>
            </a:pPr>
            <a:r>
              <a:rPr kumimoji="1" lang="zh-CN" altLang="en-US">
                <a:solidFill>
                  <a:srgbClr val="000000"/>
                </a:solidFill>
                <a:latin typeface="Times New Roman" panose="02020603050405020304" pitchFamily="18" charset="0"/>
              </a:rPr>
              <a:t>加过渡带</a:t>
            </a:r>
          </a:p>
          <a:p>
            <a:pPr algn="ctr" fontAlgn="base">
              <a:spcBef>
                <a:spcPct val="0"/>
              </a:spcBef>
              <a:spcAft>
                <a:spcPct val="0"/>
              </a:spcAft>
            </a:pPr>
            <a:r>
              <a:rPr kumimoji="1" lang="zh-CN" altLang="en-US">
                <a:solidFill>
                  <a:srgbClr val="000000"/>
                </a:solidFill>
                <a:latin typeface="Times New Roman" panose="02020603050405020304" pitchFamily="18" charset="0"/>
              </a:rPr>
              <a:t>（</a:t>
            </a:r>
            <a:r>
              <a:rPr kumimoji="1" lang="en-US" altLang="zh-CN">
                <a:solidFill>
                  <a:srgbClr val="000000"/>
                </a:solidFill>
                <a:latin typeface="Times New Roman" panose="02020603050405020304" pitchFamily="18" charset="0"/>
              </a:rPr>
              <a:t>a</a:t>
            </a:r>
            <a:r>
              <a:rPr kumimoji="1" lang="zh-CN" altLang="en-US">
                <a:solidFill>
                  <a:srgbClr val="000000"/>
                </a:solidFill>
                <a:latin typeface="Times New Roman" panose="02020603050405020304" pitchFamily="18" charset="0"/>
              </a:rPr>
              <a:t>） 一点过渡带</a:t>
            </a:r>
            <a:r>
              <a:rPr kumimoji="1" lang="en-US" altLang="zh-CN">
                <a:solidFill>
                  <a:srgbClr val="000000"/>
                </a:solidFill>
                <a:latin typeface="Times New Roman" panose="02020603050405020304" pitchFamily="18" charset="0"/>
              </a:rPr>
              <a:t>;  (b) </a:t>
            </a:r>
            <a:r>
              <a:rPr kumimoji="1" lang="zh-CN" altLang="en-US">
                <a:solidFill>
                  <a:srgbClr val="000000"/>
                </a:solidFill>
                <a:latin typeface="Times New Roman" panose="02020603050405020304" pitchFamily="18" charset="0"/>
              </a:rPr>
              <a:t>二点过渡带</a:t>
            </a:r>
            <a:r>
              <a:rPr kumimoji="1" lang="en-US" altLang="zh-CN">
                <a:solidFill>
                  <a:srgbClr val="000000"/>
                </a:solidFill>
                <a:latin typeface="Times New Roman" panose="02020603050405020304" pitchFamily="18" charset="0"/>
              </a:rPr>
              <a:t>;  (c) </a:t>
            </a:r>
            <a:r>
              <a:rPr kumimoji="1" lang="zh-CN" altLang="en-US">
                <a:solidFill>
                  <a:srgbClr val="000000"/>
                </a:solidFill>
                <a:latin typeface="Times New Roman" panose="02020603050405020304" pitchFamily="18" charset="0"/>
              </a:rPr>
              <a:t>三点过渡带 </a:t>
            </a:r>
          </a:p>
        </p:txBody>
      </p:sp>
      <p:pic>
        <p:nvPicPr>
          <p:cNvPr id="197637" name="Picture 7" descr="6-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5725" y="1581150"/>
            <a:ext cx="440055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55889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标题 1"/>
          <p:cNvSpPr>
            <a:spLocks noGrp="1"/>
          </p:cNvSpPr>
          <p:nvPr>
            <p:ph type="title"/>
          </p:nvPr>
        </p:nvSpPr>
        <p:spPr>
          <a:xfrm>
            <a:off x="2819400" y="457200"/>
            <a:ext cx="7239000" cy="914400"/>
          </a:xfrm>
        </p:spPr>
        <p:txBody>
          <a:bodyPr/>
          <a:lstStyle/>
          <a:p>
            <a:r>
              <a:rPr lang="en-US" altLang="zh-CN" smtClean="0">
                <a:ea typeface="宋体" panose="02010600030101010101" pitchFamily="2" charset="-122"/>
              </a:rPr>
              <a:t>7.3 </a:t>
            </a:r>
            <a:r>
              <a:rPr lang="zh-CN" altLang="en-US" smtClean="0">
                <a:ea typeface="宋体" panose="02010600030101010101" pitchFamily="2" charset="-122"/>
              </a:rPr>
              <a:t>用频率采样法设计</a:t>
            </a:r>
            <a:r>
              <a:rPr lang="en-US" altLang="zh-CN" smtClean="0">
                <a:ea typeface="宋体" panose="02010600030101010101" pitchFamily="2" charset="-122"/>
              </a:rPr>
              <a:t>FIR</a:t>
            </a:r>
            <a:r>
              <a:rPr lang="zh-CN" altLang="en-US" smtClean="0">
                <a:ea typeface="宋体" panose="02010600030101010101" pitchFamily="2" charset="-122"/>
              </a:rPr>
              <a:t>滤波器</a:t>
            </a:r>
          </a:p>
        </p:txBody>
      </p:sp>
      <p:sp>
        <p:nvSpPr>
          <p:cNvPr id="19865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C2753B73-2888-40D8-93E4-070C6CFB9F6B}"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9</a:t>
            </a:fld>
            <a:endParaRPr lang="en-US" altLang="zh-CN" sz="1400" b="0">
              <a:solidFill>
                <a:srgbClr val="000000"/>
              </a:solidFill>
              <a:latin typeface="Times New Roman" panose="02020603050405020304" pitchFamily="18" charset="0"/>
            </a:endParaRPr>
          </a:p>
        </p:txBody>
      </p:sp>
      <p:sp>
        <p:nvSpPr>
          <p:cNvPr id="198660" name="Text Box 1028"/>
          <p:cNvSpPr txBox="1">
            <a:spLocks noChangeArrowheads="1"/>
          </p:cNvSpPr>
          <p:nvPr/>
        </p:nvSpPr>
        <p:spPr bwMode="auto">
          <a:xfrm>
            <a:off x="1828800" y="1344613"/>
            <a:ext cx="8534400"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50000"/>
              </a:lnSpc>
              <a:spcBef>
                <a:spcPct val="50000"/>
              </a:spcBef>
              <a:spcAft>
                <a:spcPct val="0"/>
              </a:spcAft>
            </a:pPr>
            <a:r>
              <a:rPr kumimoji="1" lang="en-US" altLang="zh-CN" sz="2400">
                <a:solidFill>
                  <a:srgbClr val="000000"/>
                </a:solidFill>
                <a:latin typeface="Times New Roman" panose="02020603050405020304" pitchFamily="18" charset="0"/>
              </a:rPr>
              <a:t> </a:t>
            </a:r>
            <a:r>
              <a:rPr kumimoji="1" lang="en-US" altLang="zh-CN" sz="1800">
                <a:solidFill>
                  <a:srgbClr val="000000"/>
                </a:solidFill>
                <a:latin typeface="Times New Roman" panose="02020603050405020304" pitchFamily="18" charset="0"/>
              </a:rPr>
              <a:t>【</a:t>
            </a:r>
            <a:r>
              <a:rPr kumimoji="1" lang="zh-CN" altLang="en-US" sz="1800">
                <a:solidFill>
                  <a:srgbClr val="000000"/>
                </a:solidFill>
                <a:latin typeface="Times New Roman" panose="02020603050405020304" pitchFamily="18" charset="0"/>
              </a:rPr>
              <a:t>例</a:t>
            </a:r>
            <a:r>
              <a:rPr kumimoji="1" lang="en-US" altLang="zh-CN" sz="1800">
                <a:solidFill>
                  <a:srgbClr val="000000"/>
                </a:solidFill>
                <a:latin typeface="Times New Roman" panose="02020603050405020304" pitchFamily="18" charset="0"/>
              </a:rPr>
              <a:t>1】</a:t>
            </a:r>
            <a:r>
              <a:rPr kumimoji="1" lang="zh-CN" altLang="en-US" sz="1800">
                <a:solidFill>
                  <a:srgbClr val="000000"/>
                </a:solidFill>
                <a:latin typeface="Times New Roman" panose="02020603050405020304" pitchFamily="18" charset="0"/>
              </a:rPr>
              <a:t>用频率采样法设计一线性相位滤波器，</a:t>
            </a:r>
            <a:r>
              <a:rPr kumimoji="1" lang="en-US" altLang="zh-CN" sz="1800">
                <a:solidFill>
                  <a:srgbClr val="000000"/>
                </a:solidFill>
                <a:latin typeface="Times New Roman" panose="02020603050405020304" pitchFamily="18" charset="0"/>
              </a:rPr>
              <a:t>N=15</a:t>
            </a:r>
            <a:r>
              <a:rPr kumimoji="1" lang="zh-CN" altLang="en-US" sz="1800">
                <a:solidFill>
                  <a:srgbClr val="000000"/>
                </a:solidFill>
                <a:latin typeface="Times New Roman" panose="02020603050405020304" pitchFamily="18" charset="0"/>
              </a:rPr>
              <a:t>，幅度采样值为 </a:t>
            </a:r>
          </a:p>
        </p:txBody>
      </p:sp>
      <p:graphicFrame>
        <p:nvGraphicFramePr>
          <p:cNvPr id="198661" name="Object 1029"/>
          <p:cNvGraphicFramePr>
            <a:graphicFrameLocks noChangeAspect="1"/>
          </p:cNvGraphicFramePr>
          <p:nvPr/>
        </p:nvGraphicFramePr>
        <p:xfrm>
          <a:off x="5065714" y="2057400"/>
          <a:ext cx="2365375" cy="1341438"/>
        </p:xfrm>
        <a:graphic>
          <a:graphicData uri="http://schemas.openxmlformats.org/presentationml/2006/ole">
            <mc:AlternateContent xmlns:mc="http://schemas.openxmlformats.org/markup-compatibility/2006">
              <mc:Choice xmlns:v="urn:schemas-microsoft-com:vml" Requires="v">
                <p:oleObj spid="_x0000_s30838" name="Equation" r:id="rId3" imgW="1701800" imgH="965200" progId="Equation.3">
                  <p:embed/>
                </p:oleObj>
              </mc:Choice>
              <mc:Fallback>
                <p:oleObj name="Equation" r:id="rId3" imgW="1701800" imgH="965200" progId="Equation.3">
                  <p:embed/>
                  <p:pic>
                    <p:nvPicPr>
                      <p:cNvPr id="198661" name="Object 10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5714" y="2057400"/>
                        <a:ext cx="2365375" cy="1341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8662" name="Group 1032"/>
          <p:cNvGrpSpPr>
            <a:grpSpLocks/>
          </p:cNvGrpSpPr>
          <p:nvPr/>
        </p:nvGrpSpPr>
        <p:grpSpPr bwMode="auto">
          <a:xfrm>
            <a:off x="1752600" y="3352801"/>
            <a:ext cx="8686800" cy="1477963"/>
            <a:chOff x="144" y="1601"/>
            <a:chExt cx="5472" cy="931"/>
          </a:xfrm>
        </p:grpSpPr>
        <p:sp>
          <p:nvSpPr>
            <p:cNvPr id="198667" name="Text Box 1030"/>
            <p:cNvSpPr txBox="1">
              <a:spLocks noChangeArrowheads="1"/>
            </p:cNvSpPr>
            <p:nvPr/>
          </p:nvSpPr>
          <p:spPr bwMode="auto">
            <a:xfrm>
              <a:off x="144" y="1601"/>
              <a:ext cx="5472" cy="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50000"/>
                </a:lnSpc>
                <a:spcBef>
                  <a:spcPct val="50000"/>
                </a:spcBef>
                <a:spcAft>
                  <a:spcPct val="0"/>
                </a:spcAft>
              </a:pPr>
              <a:r>
                <a:rPr kumimoji="1" lang="zh-CN" altLang="en-US" sz="1800">
                  <a:solidFill>
                    <a:srgbClr val="000000"/>
                  </a:solidFill>
                  <a:latin typeface="Times New Roman" panose="02020603050405020304" pitchFamily="18" charset="0"/>
                </a:rPr>
                <a:t>试设计采样值的相位</a:t>
              </a:r>
              <a:r>
                <a:rPr kumimoji="1" lang="en-US" altLang="zh-CN" sz="1800" i="1">
                  <a:solidFill>
                    <a:srgbClr val="000000"/>
                  </a:solidFill>
                  <a:latin typeface="Times New Roman" panose="02020603050405020304" pitchFamily="18" charset="0"/>
                </a:rPr>
                <a:t>θ</a:t>
              </a:r>
              <a:r>
                <a:rPr kumimoji="1" lang="en-US" altLang="zh-CN" sz="1800" i="1" baseline="-25000">
                  <a:solidFill>
                    <a:srgbClr val="000000"/>
                  </a:solidFill>
                  <a:latin typeface="Times New Roman" panose="02020603050405020304" pitchFamily="18" charset="0"/>
                </a:rPr>
                <a:t>k</a:t>
              </a:r>
              <a:r>
                <a:rPr kumimoji="1" lang="zh-CN" altLang="en-US" sz="1800">
                  <a:solidFill>
                    <a:srgbClr val="000000"/>
                  </a:solidFill>
                  <a:latin typeface="Times New Roman" panose="02020603050405020304" pitchFamily="18" charset="0"/>
                </a:rPr>
                <a:t>，并求</a:t>
              </a:r>
              <a:r>
                <a:rPr kumimoji="1" lang="en-US" altLang="zh-CN" sz="1800" i="1">
                  <a:solidFill>
                    <a:srgbClr val="000000"/>
                  </a:solidFill>
                  <a:latin typeface="Times New Roman" panose="02020603050405020304" pitchFamily="18" charset="0"/>
                </a:rPr>
                <a:t>h</a:t>
              </a:r>
              <a:r>
                <a:rPr kumimoji="1" lang="en-US" altLang="zh-CN" sz="1800">
                  <a:solidFill>
                    <a:srgbClr val="000000"/>
                  </a:solidFill>
                  <a:latin typeface="Times New Roman" panose="02020603050405020304" pitchFamily="18" charset="0"/>
                </a:rPr>
                <a:t>(</a:t>
              </a:r>
              <a:r>
                <a:rPr kumimoji="1" lang="en-US" altLang="zh-CN" sz="1800" i="1">
                  <a:solidFill>
                    <a:srgbClr val="000000"/>
                  </a:solidFill>
                  <a:latin typeface="Times New Roman" panose="02020603050405020304" pitchFamily="18" charset="0"/>
                </a:rPr>
                <a:t>n</a:t>
              </a:r>
              <a:r>
                <a:rPr kumimoji="1" lang="en-US" altLang="zh-CN" sz="1800">
                  <a:solidFill>
                    <a:srgbClr val="000000"/>
                  </a:solidFill>
                  <a:latin typeface="Times New Roman" panose="02020603050405020304" pitchFamily="18" charset="0"/>
                </a:rPr>
                <a:t>)</a:t>
              </a:r>
              <a:r>
                <a:rPr kumimoji="1" lang="zh-CN" altLang="en-US" sz="1800">
                  <a:solidFill>
                    <a:srgbClr val="000000"/>
                  </a:solidFill>
                  <a:latin typeface="Times New Roman" panose="02020603050405020304" pitchFamily="18" charset="0"/>
                </a:rPr>
                <a:t>及</a:t>
              </a:r>
              <a:r>
                <a:rPr kumimoji="1" lang="en-US" altLang="zh-CN" sz="1800" i="1">
                  <a:solidFill>
                    <a:srgbClr val="000000"/>
                  </a:solidFill>
                  <a:latin typeface="Times New Roman" panose="02020603050405020304" pitchFamily="18" charset="0"/>
                </a:rPr>
                <a:t>H</a:t>
              </a:r>
              <a:r>
                <a:rPr kumimoji="1" lang="en-US" altLang="zh-CN" sz="1800">
                  <a:solidFill>
                    <a:srgbClr val="000000"/>
                  </a:solidFill>
                  <a:latin typeface="Times New Roman" panose="02020603050405020304" pitchFamily="18" charset="0"/>
                </a:rPr>
                <a:t>(e</a:t>
              </a:r>
              <a:r>
                <a:rPr kumimoji="1" lang="en-US" altLang="zh-CN" sz="1800" baseline="30000">
                  <a:solidFill>
                    <a:srgbClr val="000000"/>
                  </a:solidFill>
                  <a:latin typeface="Times New Roman" panose="02020603050405020304" pitchFamily="18" charset="0"/>
                </a:rPr>
                <a:t>jω</a:t>
              </a:r>
              <a:r>
                <a:rPr kumimoji="1" lang="en-US" altLang="zh-CN" sz="1800">
                  <a:solidFill>
                    <a:srgbClr val="000000"/>
                  </a:solidFill>
                  <a:latin typeface="Times New Roman" panose="02020603050405020304" pitchFamily="18" charset="0"/>
                </a:rPr>
                <a:t>)</a:t>
              </a:r>
              <a:r>
                <a:rPr kumimoji="1" lang="zh-CN" altLang="en-US" sz="1800">
                  <a:solidFill>
                    <a:srgbClr val="000000"/>
                  </a:solidFill>
                  <a:latin typeface="Times New Roman" panose="02020603050405020304" pitchFamily="18" charset="0"/>
                </a:rPr>
                <a:t>的表达式。 </a:t>
              </a:r>
            </a:p>
            <a:p>
              <a:pPr algn="just" fontAlgn="base">
                <a:lnSpc>
                  <a:spcPct val="150000"/>
                </a:lnSpc>
                <a:spcBef>
                  <a:spcPct val="50000"/>
                </a:spcBef>
                <a:spcAft>
                  <a:spcPct val="0"/>
                </a:spcAft>
              </a:pPr>
              <a:r>
                <a:rPr kumimoji="1" lang="zh-CN" altLang="en-US" sz="1800">
                  <a:solidFill>
                    <a:srgbClr val="000000"/>
                  </a:solidFill>
                  <a:latin typeface="Times New Roman" panose="02020603050405020304" pitchFamily="18" charset="0"/>
                </a:rPr>
                <a:t>        解：因本题所给</a:t>
              </a:r>
              <a:r>
                <a:rPr kumimoji="1" lang="en-US" altLang="zh-CN" sz="1800" i="1">
                  <a:solidFill>
                    <a:srgbClr val="000000"/>
                  </a:solidFill>
                  <a:latin typeface="Times New Roman" panose="02020603050405020304" pitchFamily="18" charset="0"/>
                </a:rPr>
                <a:t>N</a:t>
              </a:r>
              <a:r>
                <a:rPr kumimoji="1" lang="en-US" altLang="zh-CN" sz="1800">
                  <a:solidFill>
                    <a:srgbClr val="000000"/>
                  </a:solidFill>
                  <a:latin typeface="Times New Roman" panose="02020603050405020304" pitchFamily="18" charset="0"/>
                </a:rPr>
                <a:t>=15</a:t>
              </a:r>
              <a:r>
                <a:rPr kumimoji="1" lang="zh-CN" altLang="en-US" sz="1800">
                  <a:solidFill>
                    <a:srgbClr val="000000"/>
                  </a:solidFill>
                  <a:latin typeface="Times New Roman" panose="02020603050405020304" pitchFamily="18" charset="0"/>
                </a:rPr>
                <a:t>，且</a:t>
              </a:r>
              <a:r>
                <a:rPr kumimoji="1" lang="zh-CN" altLang="en-US" sz="1800" i="1">
                  <a:solidFill>
                    <a:srgbClr val="000000"/>
                  </a:solidFill>
                  <a:latin typeface="Times New Roman" panose="02020603050405020304" pitchFamily="18" charset="0"/>
                </a:rPr>
                <a:t>Ｈ</a:t>
              </a:r>
              <a:r>
                <a:rPr kumimoji="1" lang="en-US" altLang="zh-CN" sz="1800" i="1" baseline="-25000">
                  <a:solidFill>
                    <a:srgbClr val="000000"/>
                  </a:solidFill>
                  <a:latin typeface="Times New Roman" panose="02020603050405020304" pitchFamily="18" charset="0"/>
                </a:rPr>
                <a:t>k</a:t>
              </a:r>
              <a:r>
                <a:rPr kumimoji="1" lang="en-US" altLang="zh-CN" sz="1800">
                  <a:solidFill>
                    <a:srgbClr val="000000"/>
                  </a:solidFill>
                  <a:latin typeface="Times New Roman" panose="02020603050405020304" pitchFamily="18" charset="0"/>
                </a:rPr>
                <a:t>=</a:t>
              </a:r>
              <a:r>
                <a:rPr kumimoji="1" lang="en-US" altLang="zh-CN" sz="1800" i="1">
                  <a:solidFill>
                    <a:srgbClr val="000000"/>
                  </a:solidFill>
                  <a:latin typeface="Times New Roman" panose="02020603050405020304" pitchFamily="18" charset="0"/>
                </a:rPr>
                <a:t>H</a:t>
              </a:r>
              <a:r>
                <a:rPr kumimoji="1" lang="en-US" altLang="zh-CN" sz="1800" i="1" baseline="-25000">
                  <a:solidFill>
                    <a:srgbClr val="000000"/>
                  </a:solidFill>
                  <a:latin typeface="Times New Roman" panose="02020603050405020304" pitchFamily="18" charset="0"/>
                </a:rPr>
                <a:t>N-k</a:t>
              </a:r>
              <a:r>
                <a:rPr kumimoji="1" lang="zh-CN" altLang="en-US" sz="1800">
                  <a:solidFill>
                    <a:srgbClr val="000000"/>
                  </a:solidFill>
                  <a:latin typeface="Times New Roman" panose="02020603050405020304" pitchFamily="18" charset="0"/>
                </a:rPr>
                <a:t>满足偶对称条件，</a:t>
              </a:r>
              <a:r>
                <a:rPr kumimoji="1" lang="en-US" altLang="zh-CN" sz="1800" i="1">
                  <a:solidFill>
                    <a:srgbClr val="000000"/>
                  </a:solidFill>
                  <a:latin typeface="Times New Roman" panose="02020603050405020304" pitchFamily="18" charset="0"/>
                </a:rPr>
                <a:t>H</a:t>
              </a:r>
              <a:r>
                <a:rPr kumimoji="1" lang="en-US" altLang="zh-CN" sz="1800" baseline="-25000">
                  <a:solidFill>
                    <a:srgbClr val="000000"/>
                  </a:solidFill>
                  <a:latin typeface="Times New Roman" panose="02020603050405020304" pitchFamily="18" charset="0"/>
                </a:rPr>
                <a:t>0</a:t>
              </a:r>
              <a:r>
                <a:rPr kumimoji="1" lang="en-US" altLang="zh-CN" sz="1800">
                  <a:solidFill>
                    <a:srgbClr val="000000"/>
                  </a:solidFill>
                  <a:latin typeface="Times New Roman" panose="02020603050405020304" pitchFamily="18" charset="0"/>
                </a:rPr>
                <a:t>=1</a:t>
              </a:r>
              <a:r>
                <a:rPr kumimoji="1" lang="zh-CN" altLang="en-US" sz="1800">
                  <a:solidFill>
                    <a:srgbClr val="000000"/>
                  </a:solidFill>
                  <a:latin typeface="Times New Roman" panose="02020603050405020304" pitchFamily="18" charset="0"/>
                </a:rPr>
                <a:t>， 这是第一类线性相位滤波器。相位 	                  ，因此有： </a:t>
              </a:r>
            </a:p>
          </p:txBody>
        </p:sp>
        <p:graphicFrame>
          <p:nvGraphicFramePr>
            <p:cNvPr id="198668" name="Object 1031"/>
            <p:cNvGraphicFramePr>
              <a:graphicFrameLocks noChangeAspect="1"/>
            </p:cNvGraphicFramePr>
            <p:nvPr/>
          </p:nvGraphicFramePr>
          <p:xfrm>
            <a:off x="1248" y="2262"/>
            <a:ext cx="686" cy="252"/>
          </p:xfrm>
          <a:graphic>
            <a:graphicData uri="http://schemas.openxmlformats.org/presentationml/2006/ole">
              <mc:AlternateContent xmlns:mc="http://schemas.openxmlformats.org/markup-compatibility/2006">
                <mc:Choice xmlns:v="urn:schemas-microsoft-com:vml" Requires="v">
                  <p:oleObj spid="_x0000_s30839" name="Equation" r:id="rId5" imgW="1066337" imgH="393529" progId="Equation.3">
                    <p:embed/>
                  </p:oleObj>
                </mc:Choice>
                <mc:Fallback>
                  <p:oleObj name="Equation" r:id="rId5" imgW="1066337" imgH="393529" progId="Equation.3">
                    <p:embed/>
                    <p:pic>
                      <p:nvPicPr>
                        <p:cNvPr id="198668" name="Object 10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8" y="2262"/>
                          <a:ext cx="686"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98663" name="Object 4"/>
          <p:cNvGraphicFramePr>
            <a:graphicFrameLocks noChangeAspect="1"/>
          </p:cNvGraphicFramePr>
          <p:nvPr/>
        </p:nvGraphicFramePr>
        <p:xfrm>
          <a:off x="5859464" y="4383089"/>
          <a:ext cx="2065337" cy="460375"/>
        </p:xfrm>
        <a:graphic>
          <a:graphicData uri="http://schemas.openxmlformats.org/presentationml/2006/ole">
            <mc:AlternateContent xmlns:mc="http://schemas.openxmlformats.org/markup-compatibility/2006">
              <mc:Choice xmlns:v="urn:schemas-microsoft-com:vml" Requires="v">
                <p:oleObj spid="_x0000_s30840" name="Equation" r:id="rId7" imgW="1765300" imgH="393700" progId="Equation.DSMT4">
                  <p:embed/>
                </p:oleObj>
              </mc:Choice>
              <mc:Fallback>
                <p:oleObj name="Equation" r:id="rId7" imgW="1765300" imgH="393700" progId="Equation.DSMT4">
                  <p:embed/>
                  <p:pic>
                    <p:nvPicPr>
                      <p:cNvPr id="198663"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59464" y="4383089"/>
                        <a:ext cx="2065337"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8664" name="Text Box 5"/>
          <p:cNvSpPr txBox="1">
            <a:spLocks noChangeArrowheads="1"/>
          </p:cNvSpPr>
          <p:nvPr/>
        </p:nvSpPr>
        <p:spPr bwMode="auto">
          <a:xfrm>
            <a:off x="8153401" y="4419600"/>
            <a:ext cx="10144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en-US" altLang="zh-CN" sz="1800">
                <a:solidFill>
                  <a:srgbClr val="000000"/>
                </a:solidFill>
                <a:latin typeface="Times New Roman" panose="02020603050405020304" pitchFamily="18" charset="0"/>
              </a:rPr>
              <a:t> 0≤</a:t>
            </a:r>
            <a:r>
              <a:rPr kumimoji="1" lang="en-US" altLang="zh-CN" sz="1800" i="1">
                <a:solidFill>
                  <a:srgbClr val="000000"/>
                </a:solidFill>
                <a:latin typeface="Times New Roman" panose="02020603050405020304" pitchFamily="18" charset="0"/>
              </a:rPr>
              <a:t>k</a:t>
            </a:r>
            <a:r>
              <a:rPr kumimoji="1" lang="en-US" altLang="zh-CN" sz="1800">
                <a:solidFill>
                  <a:srgbClr val="000000"/>
                </a:solidFill>
                <a:latin typeface="Times New Roman" panose="02020603050405020304" pitchFamily="18" charset="0"/>
              </a:rPr>
              <a:t>≤14 </a:t>
            </a:r>
          </a:p>
        </p:txBody>
      </p:sp>
      <p:graphicFrame>
        <p:nvGraphicFramePr>
          <p:cNvPr id="198665" name="Object 6"/>
          <p:cNvGraphicFramePr>
            <a:graphicFrameLocks noChangeAspect="1"/>
          </p:cNvGraphicFramePr>
          <p:nvPr/>
        </p:nvGraphicFramePr>
        <p:xfrm>
          <a:off x="4324350" y="5010150"/>
          <a:ext cx="3784600" cy="1296988"/>
        </p:xfrm>
        <a:graphic>
          <a:graphicData uri="http://schemas.openxmlformats.org/presentationml/2006/ole">
            <mc:AlternateContent xmlns:mc="http://schemas.openxmlformats.org/markup-compatibility/2006">
              <mc:Choice xmlns:v="urn:schemas-microsoft-com:vml" Requires="v">
                <p:oleObj spid="_x0000_s30841" name="Equation" r:id="rId9" imgW="2260600" imgH="774700" progId="Equation.DSMT4">
                  <p:embed/>
                </p:oleObj>
              </mc:Choice>
              <mc:Fallback>
                <p:oleObj name="Equation" r:id="rId9" imgW="2260600" imgH="774700" progId="Equation.DSMT4">
                  <p:embed/>
                  <p:pic>
                    <p:nvPicPr>
                      <p:cNvPr id="198665"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24350" y="5010150"/>
                        <a:ext cx="3784600" cy="12969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8666" name="Text Box 7"/>
          <p:cNvSpPr txBox="1">
            <a:spLocks noChangeArrowheads="1"/>
          </p:cNvSpPr>
          <p:nvPr/>
        </p:nvSpPr>
        <p:spPr bwMode="auto">
          <a:xfrm>
            <a:off x="7793038" y="5802314"/>
            <a:ext cx="969962"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en-US" altLang="zh-CN" sz="1800">
                <a:solidFill>
                  <a:srgbClr val="000000"/>
                </a:solidFill>
                <a:latin typeface="Times New Roman" panose="02020603050405020304" pitchFamily="18" charset="0"/>
              </a:rPr>
              <a:t>0≤</a:t>
            </a:r>
            <a:r>
              <a:rPr kumimoji="1" lang="en-US" altLang="zh-CN" sz="1800" i="1">
                <a:solidFill>
                  <a:srgbClr val="000000"/>
                </a:solidFill>
                <a:latin typeface="Times New Roman" panose="02020603050405020304" pitchFamily="18" charset="0"/>
              </a:rPr>
              <a:t>n</a:t>
            </a:r>
            <a:r>
              <a:rPr kumimoji="1" lang="en-US" altLang="zh-CN" sz="1800">
                <a:solidFill>
                  <a:srgbClr val="000000"/>
                </a:solidFill>
                <a:latin typeface="Times New Roman" panose="02020603050405020304" pitchFamily="18" charset="0"/>
              </a:rPr>
              <a:t>≤14 </a:t>
            </a:r>
          </a:p>
        </p:txBody>
      </p:sp>
    </p:spTree>
    <p:extLst>
      <p:ext uri="{BB962C8B-B14F-4D97-AF65-F5344CB8AC3E}">
        <p14:creationId xmlns:p14="http://schemas.microsoft.com/office/powerpoint/2010/main" val="37442865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2"/>
          </p:nvPr>
        </p:nvSpPr>
        <p:spPr/>
        <p:txBody>
          <a:bodyPr/>
          <a:lstStyle/>
          <a:p>
            <a:pPr eaLnBrk="0" fontAlgn="base" hangingPunct="0">
              <a:spcBef>
                <a:spcPct val="0"/>
              </a:spcBef>
              <a:spcAft>
                <a:spcPct val="0"/>
              </a:spcAft>
            </a:pPr>
            <a:fld id="{8E25163F-56F0-4728-A241-57C30AA276FE}" type="slidenum">
              <a:rPr lang="zh-CN" altLang="en-US" smtClean="0">
                <a:solidFill>
                  <a:srgbClr val="000000"/>
                </a:solidFill>
                <a:ea typeface="宋体" panose="02010600030101010101" pitchFamily="2" charset="-122"/>
              </a:rPr>
              <a:pPr eaLnBrk="0" fontAlgn="base" hangingPunct="0">
                <a:spcBef>
                  <a:spcPct val="0"/>
                </a:spcBef>
                <a:spcAft>
                  <a:spcPct val="0"/>
                </a:spcAft>
              </a:pPr>
              <a:t>10</a:t>
            </a:fld>
            <a:endParaRPr lang="en-US" altLang="zh-CN">
              <a:solidFill>
                <a:srgbClr val="000000"/>
              </a:solidFill>
              <a:ea typeface="宋体" panose="02010600030101010101" pitchFamily="2" charset="-122"/>
            </a:endParaRPr>
          </a:p>
        </p:txBody>
      </p:sp>
      <p:pic>
        <p:nvPicPr>
          <p:cNvPr id="5" name="图片 4"/>
          <p:cNvPicPr>
            <a:picLocks noChangeAspect="1"/>
          </p:cNvPicPr>
          <p:nvPr/>
        </p:nvPicPr>
        <p:blipFill>
          <a:blip r:embed="rId2"/>
          <a:stretch>
            <a:fillRect/>
          </a:stretch>
        </p:blipFill>
        <p:spPr>
          <a:xfrm>
            <a:off x="541456" y="1707123"/>
            <a:ext cx="10941439" cy="2924143"/>
          </a:xfrm>
          <a:prstGeom prst="rect">
            <a:avLst/>
          </a:prstGeom>
        </p:spPr>
      </p:pic>
    </p:spTree>
    <p:extLst>
      <p:ext uri="{BB962C8B-B14F-4D97-AF65-F5344CB8AC3E}">
        <p14:creationId xmlns:p14="http://schemas.microsoft.com/office/powerpoint/2010/main" val="2291534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标题 1"/>
          <p:cNvSpPr>
            <a:spLocks noGrp="1"/>
          </p:cNvSpPr>
          <p:nvPr>
            <p:ph type="title"/>
          </p:nvPr>
        </p:nvSpPr>
        <p:spPr>
          <a:xfrm>
            <a:off x="2743200" y="457200"/>
            <a:ext cx="7315200" cy="914400"/>
          </a:xfrm>
        </p:spPr>
        <p:txBody>
          <a:bodyPr/>
          <a:lstStyle/>
          <a:p>
            <a:r>
              <a:rPr lang="en-US" altLang="zh-CN" smtClean="0">
                <a:ea typeface="宋体" panose="02010600030101010101" pitchFamily="2" charset="-122"/>
              </a:rPr>
              <a:t>7.3 </a:t>
            </a:r>
            <a:r>
              <a:rPr lang="zh-CN" altLang="en-US" smtClean="0">
                <a:ea typeface="宋体" panose="02010600030101010101" pitchFamily="2" charset="-122"/>
              </a:rPr>
              <a:t>用频率采样法设计</a:t>
            </a:r>
            <a:r>
              <a:rPr lang="en-US" altLang="zh-CN" smtClean="0">
                <a:ea typeface="宋体" panose="02010600030101010101" pitchFamily="2" charset="-122"/>
              </a:rPr>
              <a:t>FIR</a:t>
            </a:r>
            <a:r>
              <a:rPr lang="zh-CN" altLang="en-US" smtClean="0">
                <a:ea typeface="宋体" panose="02010600030101010101" pitchFamily="2" charset="-122"/>
              </a:rPr>
              <a:t>滤波器</a:t>
            </a:r>
          </a:p>
        </p:txBody>
      </p:sp>
      <p:sp>
        <p:nvSpPr>
          <p:cNvPr id="19968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9765BC82-D219-4967-AE85-7DC7241F8D98}"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11</a:t>
            </a:fld>
            <a:endParaRPr lang="en-US" altLang="zh-CN" sz="1400" b="0">
              <a:solidFill>
                <a:srgbClr val="000000"/>
              </a:solidFill>
              <a:latin typeface="Times New Roman" panose="02020603050405020304" pitchFamily="18" charset="0"/>
            </a:endParaRPr>
          </a:p>
        </p:txBody>
      </p:sp>
      <p:sp>
        <p:nvSpPr>
          <p:cNvPr id="199684" name="Text Box 4"/>
          <p:cNvSpPr txBox="1">
            <a:spLocks noChangeArrowheads="1"/>
          </p:cNvSpPr>
          <p:nvPr/>
        </p:nvSpPr>
        <p:spPr bwMode="auto">
          <a:xfrm>
            <a:off x="1828800" y="1371600"/>
            <a:ext cx="8229600"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8000"/>
              </a:lnSpc>
              <a:spcBef>
                <a:spcPct val="50000"/>
              </a:spcBef>
              <a:spcAft>
                <a:spcPct val="0"/>
              </a:spcAft>
            </a:pPr>
            <a:r>
              <a:rPr kumimoji="1" lang="en-US" altLang="zh-CN" sz="2400" dirty="0">
                <a:solidFill>
                  <a:srgbClr val="000000"/>
                </a:solidFill>
                <a:latin typeface="Times New Roman" panose="02020603050405020304" pitchFamily="18" charset="0"/>
              </a:rPr>
              <a:t> </a:t>
            </a:r>
            <a:r>
              <a:rPr kumimoji="1" lang="en-US" altLang="zh-CN" sz="1800" dirty="0">
                <a:solidFill>
                  <a:srgbClr val="000000"/>
                </a:solidFill>
                <a:latin typeface="Times New Roman" panose="02020603050405020304" pitchFamily="18" charset="0"/>
              </a:rPr>
              <a:t>【</a:t>
            </a:r>
            <a:r>
              <a:rPr kumimoji="1" lang="zh-CN" altLang="en-US" sz="1800" dirty="0">
                <a:solidFill>
                  <a:srgbClr val="000000"/>
                </a:solidFill>
                <a:latin typeface="Times New Roman" panose="02020603050405020304" pitchFamily="18" charset="0"/>
              </a:rPr>
              <a:t>例</a:t>
            </a:r>
            <a:r>
              <a:rPr kumimoji="1" lang="en-US" altLang="zh-CN" sz="1800" dirty="0">
                <a:solidFill>
                  <a:srgbClr val="000000"/>
                </a:solidFill>
                <a:latin typeface="Times New Roman" panose="02020603050405020304" pitchFamily="18" charset="0"/>
              </a:rPr>
              <a:t>2】</a:t>
            </a:r>
            <a:r>
              <a:rPr kumimoji="1" lang="zh-CN" altLang="en-US" sz="1800" dirty="0">
                <a:solidFill>
                  <a:srgbClr val="000000"/>
                </a:solidFill>
                <a:latin typeface="Times New Roman" panose="02020603050405020304" pitchFamily="18" charset="0"/>
              </a:rPr>
              <a:t>利用频率采样法，设计一个线性相位低通</a:t>
            </a:r>
            <a:r>
              <a:rPr kumimoji="1" lang="en-US" altLang="zh-CN" sz="1800" dirty="0">
                <a:solidFill>
                  <a:srgbClr val="000000"/>
                </a:solidFill>
                <a:latin typeface="Times New Roman" panose="02020603050405020304" pitchFamily="18" charset="0"/>
              </a:rPr>
              <a:t>FIR</a:t>
            </a:r>
            <a:r>
              <a:rPr kumimoji="1" lang="zh-CN" altLang="en-US" sz="1800" dirty="0">
                <a:solidFill>
                  <a:srgbClr val="000000"/>
                </a:solidFill>
                <a:latin typeface="Times New Roman" panose="02020603050405020304" pitchFamily="18" charset="0"/>
              </a:rPr>
              <a:t>数字滤波器，其理想频率特性是矩形的 </a:t>
            </a:r>
          </a:p>
        </p:txBody>
      </p:sp>
      <p:graphicFrame>
        <p:nvGraphicFramePr>
          <p:cNvPr id="199685" name="Object 5"/>
          <p:cNvGraphicFramePr>
            <a:graphicFrameLocks noChangeAspect="1"/>
          </p:cNvGraphicFramePr>
          <p:nvPr/>
        </p:nvGraphicFramePr>
        <p:xfrm>
          <a:off x="3733801" y="2049464"/>
          <a:ext cx="1603375" cy="922337"/>
        </p:xfrm>
        <a:graphic>
          <a:graphicData uri="http://schemas.openxmlformats.org/presentationml/2006/ole">
            <mc:AlternateContent xmlns:mc="http://schemas.openxmlformats.org/markup-compatibility/2006">
              <mc:Choice xmlns:v="urn:schemas-microsoft-com:vml" Requires="v">
                <p:oleObj spid="_x0000_s31891" name="Equation" r:id="rId3" imgW="926698" imgH="533169" progId="Equation.3">
                  <p:embed/>
                </p:oleObj>
              </mc:Choice>
              <mc:Fallback>
                <p:oleObj name="Equation" r:id="rId3" imgW="926698" imgH="533169" progId="Equation.3">
                  <p:embed/>
                  <p:pic>
                    <p:nvPicPr>
                      <p:cNvPr id="19968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1" y="2049464"/>
                        <a:ext cx="1603375" cy="922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9686" name="Text Box 6"/>
          <p:cNvSpPr txBox="1">
            <a:spLocks noChangeArrowheads="1"/>
          </p:cNvSpPr>
          <p:nvPr/>
        </p:nvSpPr>
        <p:spPr bwMode="auto">
          <a:xfrm>
            <a:off x="5748338" y="2027238"/>
            <a:ext cx="10144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en-US" altLang="zh-CN" sz="1800">
                <a:solidFill>
                  <a:srgbClr val="000000"/>
                </a:solidFill>
                <a:latin typeface="Times New Roman" panose="02020603050405020304" pitchFamily="18" charset="0"/>
              </a:rPr>
              <a:t>0≤</a:t>
            </a:r>
            <a:r>
              <a:rPr kumimoji="1" lang="en-US" altLang="zh-CN" sz="1800" i="1">
                <a:solidFill>
                  <a:srgbClr val="000000"/>
                </a:solidFill>
                <a:latin typeface="Times New Roman" panose="02020603050405020304" pitchFamily="18" charset="0"/>
              </a:rPr>
              <a:t>ω</a:t>
            </a:r>
            <a:r>
              <a:rPr kumimoji="1" lang="en-US" altLang="zh-CN" sz="1800">
                <a:solidFill>
                  <a:srgbClr val="000000"/>
                </a:solidFill>
                <a:latin typeface="Times New Roman" panose="02020603050405020304" pitchFamily="18" charset="0"/>
              </a:rPr>
              <a:t>≤</a:t>
            </a:r>
            <a:r>
              <a:rPr kumimoji="1" lang="en-US" altLang="zh-CN" sz="1800" i="1">
                <a:solidFill>
                  <a:srgbClr val="000000"/>
                </a:solidFill>
                <a:latin typeface="Times New Roman" panose="02020603050405020304" pitchFamily="18" charset="0"/>
              </a:rPr>
              <a:t>ω</a:t>
            </a:r>
            <a:r>
              <a:rPr kumimoji="1" lang="en-US" altLang="zh-CN" sz="1800" baseline="-25000">
                <a:solidFill>
                  <a:srgbClr val="000000"/>
                </a:solidFill>
                <a:latin typeface="Times New Roman" panose="02020603050405020304" pitchFamily="18" charset="0"/>
              </a:rPr>
              <a:t>c</a:t>
            </a:r>
            <a:r>
              <a:rPr kumimoji="1" lang="en-US" altLang="zh-CN" sz="1800">
                <a:solidFill>
                  <a:srgbClr val="000000"/>
                </a:solidFill>
                <a:latin typeface="Times New Roman" panose="02020603050405020304" pitchFamily="18" charset="0"/>
              </a:rPr>
              <a:t> </a:t>
            </a:r>
          </a:p>
        </p:txBody>
      </p:sp>
      <p:sp>
        <p:nvSpPr>
          <p:cNvPr id="199687" name="Text Box 7"/>
          <p:cNvSpPr txBox="1">
            <a:spLocks noChangeArrowheads="1"/>
          </p:cNvSpPr>
          <p:nvPr/>
        </p:nvSpPr>
        <p:spPr bwMode="auto">
          <a:xfrm>
            <a:off x="5683251" y="2568575"/>
            <a:ext cx="7080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sz="1800">
                <a:solidFill>
                  <a:srgbClr val="000000"/>
                </a:solidFill>
                <a:latin typeface="Times New Roman" panose="02020603050405020304" pitchFamily="18" charset="0"/>
              </a:rPr>
              <a:t>其他 </a:t>
            </a:r>
          </a:p>
        </p:txBody>
      </p:sp>
      <p:sp>
        <p:nvSpPr>
          <p:cNvPr id="199688" name="Text Box 8"/>
          <p:cNvSpPr txBox="1">
            <a:spLocks noChangeArrowheads="1"/>
          </p:cNvSpPr>
          <p:nvPr/>
        </p:nvSpPr>
        <p:spPr bwMode="auto">
          <a:xfrm>
            <a:off x="1905000" y="2895601"/>
            <a:ext cx="8229600" cy="1843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58000"/>
              </a:lnSpc>
              <a:spcBef>
                <a:spcPct val="0"/>
              </a:spcBef>
              <a:spcAft>
                <a:spcPct val="0"/>
              </a:spcAft>
            </a:pPr>
            <a:r>
              <a:rPr kumimoji="1" lang="zh-CN" altLang="en-US" sz="1800">
                <a:solidFill>
                  <a:srgbClr val="000000"/>
                </a:solidFill>
                <a:latin typeface="Times New Roman" panose="02020603050405020304" pitchFamily="18" charset="0"/>
              </a:rPr>
              <a:t>已知</a:t>
            </a:r>
            <a:r>
              <a:rPr kumimoji="1" lang="en-US" altLang="zh-CN" sz="1800" i="1">
                <a:solidFill>
                  <a:srgbClr val="000000"/>
                </a:solidFill>
                <a:latin typeface="Times New Roman" panose="02020603050405020304" pitchFamily="18" charset="0"/>
              </a:rPr>
              <a:t>ω</a:t>
            </a:r>
            <a:r>
              <a:rPr kumimoji="1" lang="en-US" altLang="zh-CN" sz="1800" baseline="-25000">
                <a:solidFill>
                  <a:srgbClr val="000000"/>
                </a:solidFill>
                <a:latin typeface="Times New Roman" panose="02020603050405020304" pitchFamily="18" charset="0"/>
              </a:rPr>
              <a:t>c</a:t>
            </a:r>
            <a:r>
              <a:rPr kumimoji="1" lang="en-US" altLang="zh-CN" sz="1800">
                <a:solidFill>
                  <a:srgbClr val="000000"/>
                </a:solidFill>
                <a:latin typeface="Times New Roman" panose="02020603050405020304" pitchFamily="18" charset="0"/>
              </a:rPr>
              <a:t>=0.5π</a:t>
            </a:r>
            <a:r>
              <a:rPr kumimoji="1" lang="zh-CN" altLang="en-US" sz="1800">
                <a:solidFill>
                  <a:srgbClr val="000000"/>
                </a:solidFill>
                <a:latin typeface="Times New Roman" panose="02020603050405020304" pitchFamily="18" charset="0"/>
              </a:rPr>
              <a:t>，采样点数为奇数</a:t>
            </a:r>
            <a:r>
              <a:rPr kumimoji="1" lang="en-US" altLang="zh-CN" sz="1800" i="1">
                <a:solidFill>
                  <a:srgbClr val="000000"/>
                </a:solidFill>
                <a:latin typeface="Times New Roman" panose="02020603050405020304" pitchFamily="18" charset="0"/>
              </a:rPr>
              <a:t>N</a:t>
            </a:r>
            <a:r>
              <a:rPr kumimoji="1" lang="en-US" altLang="zh-CN" sz="1800">
                <a:solidFill>
                  <a:srgbClr val="000000"/>
                </a:solidFill>
                <a:latin typeface="Times New Roman" panose="02020603050405020304" pitchFamily="18" charset="0"/>
              </a:rPr>
              <a:t>=33</a:t>
            </a:r>
            <a:r>
              <a:rPr kumimoji="1" lang="zh-CN" altLang="en-US" sz="1800">
                <a:solidFill>
                  <a:srgbClr val="000000"/>
                </a:solidFill>
                <a:latin typeface="Times New Roman" panose="02020603050405020304" pitchFamily="18" charset="0"/>
              </a:rPr>
              <a:t>。试求各采样点的幅值</a:t>
            </a:r>
            <a:r>
              <a:rPr kumimoji="1" lang="en-US" altLang="zh-CN" sz="1800" i="1">
                <a:solidFill>
                  <a:srgbClr val="000000"/>
                </a:solidFill>
                <a:latin typeface="Times New Roman" panose="02020603050405020304" pitchFamily="18" charset="0"/>
              </a:rPr>
              <a:t>H</a:t>
            </a:r>
            <a:r>
              <a:rPr kumimoji="1" lang="en-US" altLang="zh-CN" sz="1800" i="1" baseline="-25000">
                <a:solidFill>
                  <a:srgbClr val="000000"/>
                </a:solidFill>
                <a:latin typeface="Times New Roman" panose="02020603050405020304" pitchFamily="18" charset="0"/>
              </a:rPr>
              <a:t>k</a:t>
            </a:r>
            <a:r>
              <a:rPr kumimoji="1" lang="zh-CN" altLang="en-US" sz="1800">
                <a:solidFill>
                  <a:srgbClr val="000000"/>
                </a:solidFill>
                <a:latin typeface="Times New Roman" panose="02020603050405020304" pitchFamily="18" charset="0"/>
              </a:rPr>
              <a:t>及相位</a:t>
            </a:r>
            <a:r>
              <a:rPr kumimoji="1" lang="en-US" altLang="zh-CN" sz="1800" i="1">
                <a:solidFill>
                  <a:srgbClr val="000000"/>
                </a:solidFill>
                <a:latin typeface="Times New Roman" panose="02020603050405020304" pitchFamily="18" charset="0"/>
              </a:rPr>
              <a:t>θ</a:t>
            </a:r>
            <a:r>
              <a:rPr kumimoji="1" lang="en-US" altLang="zh-CN" sz="1800" i="1" baseline="-25000">
                <a:solidFill>
                  <a:srgbClr val="000000"/>
                </a:solidFill>
                <a:latin typeface="Times New Roman" panose="02020603050405020304" pitchFamily="18" charset="0"/>
              </a:rPr>
              <a:t>k</a:t>
            </a:r>
            <a:r>
              <a:rPr kumimoji="1" lang="zh-CN" altLang="en-US" sz="1800">
                <a:solidFill>
                  <a:srgbClr val="000000"/>
                </a:solidFill>
                <a:latin typeface="Times New Roman" panose="02020603050405020304" pitchFamily="18" charset="0"/>
              </a:rPr>
              <a:t>，也即求采样值</a:t>
            </a:r>
            <a:r>
              <a:rPr kumimoji="1" lang="en-US" altLang="zh-CN" sz="1800" i="1">
                <a:solidFill>
                  <a:srgbClr val="000000"/>
                </a:solidFill>
                <a:latin typeface="Times New Roman" panose="02020603050405020304" pitchFamily="18" charset="0"/>
              </a:rPr>
              <a:t>H</a:t>
            </a:r>
            <a:r>
              <a:rPr kumimoji="1" lang="en-US" altLang="zh-CN" sz="1800">
                <a:solidFill>
                  <a:srgbClr val="000000"/>
                </a:solidFill>
                <a:latin typeface="Times New Roman" panose="02020603050405020304" pitchFamily="18" charset="0"/>
              </a:rPr>
              <a:t>(</a:t>
            </a:r>
            <a:r>
              <a:rPr kumimoji="1" lang="en-US" altLang="zh-CN" sz="1800" i="1">
                <a:solidFill>
                  <a:srgbClr val="000000"/>
                </a:solidFill>
                <a:latin typeface="Times New Roman" panose="02020603050405020304" pitchFamily="18" charset="0"/>
              </a:rPr>
              <a:t>k</a:t>
            </a:r>
            <a:r>
              <a:rPr kumimoji="1" lang="en-US" altLang="zh-CN" sz="1800">
                <a:solidFill>
                  <a:srgbClr val="000000"/>
                </a:solidFill>
                <a:latin typeface="Times New Roman" panose="02020603050405020304" pitchFamily="18" charset="0"/>
              </a:rPr>
              <a:t>)</a:t>
            </a:r>
            <a:r>
              <a:rPr kumimoji="1" lang="zh-CN" altLang="en-US" sz="1800">
                <a:solidFill>
                  <a:srgbClr val="000000"/>
                </a:solidFill>
                <a:latin typeface="Times New Roman" panose="02020603050405020304" pitchFamily="18" charset="0"/>
              </a:rPr>
              <a:t>。 </a:t>
            </a:r>
          </a:p>
          <a:p>
            <a:pPr algn="just" fontAlgn="base">
              <a:lnSpc>
                <a:spcPct val="158000"/>
              </a:lnSpc>
              <a:spcBef>
                <a:spcPct val="0"/>
              </a:spcBef>
              <a:spcAft>
                <a:spcPct val="0"/>
              </a:spcAft>
            </a:pPr>
            <a:r>
              <a:rPr kumimoji="1" lang="zh-CN" altLang="en-US" sz="1800">
                <a:solidFill>
                  <a:srgbClr val="000000"/>
                </a:solidFill>
                <a:latin typeface="Times New Roman" panose="02020603050405020304" pitchFamily="18" charset="0"/>
              </a:rPr>
              <a:t>        解 </a:t>
            </a:r>
            <a:r>
              <a:rPr kumimoji="1" lang="en-US" altLang="zh-CN" sz="1800" i="1">
                <a:solidFill>
                  <a:srgbClr val="000000"/>
                </a:solidFill>
                <a:latin typeface="Times New Roman" panose="02020603050405020304" pitchFamily="18" charset="0"/>
              </a:rPr>
              <a:t>N</a:t>
            </a:r>
            <a:r>
              <a:rPr kumimoji="1" lang="en-US" altLang="zh-CN" sz="1800">
                <a:solidFill>
                  <a:srgbClr val="000000"/>
                </a:solidFill>
                <a:latin typeface="Times New Roman" panose="02020603050405020304" pitchFamily="18" charset="0"/>
              </a:rPr>
              <a:t>=33, </a:t>
            </a:r>
            <a:r>
              <a:rPr kumimoji="1" lang="zh-CN" altLang="en-US" sz="1800">
                <a:solidFill>
                  <a:srgbClr val="000000"/>
                </a:solidFill>
                <a:latin typeface="Times New Roman" panose="02020603050405020304" pitchFamily="18" charset="0"/>
              </a:rPr>
              <a:t>且低通滤波器幅度特性</a:t>
            </a:r>
            <a:r>
              <a:rPr kumimoji="1" lang="en-US" altLang="zh-CN" sz="1800" i="1">
                <a:solidFill>
                  <a:srgbClr val="000000"/>
                </a:solidFill>
                <a:latin typeface="Times New Roman" panose="02020603050405020304" pitchFamily="18" charset="0"/>
              </a:rPr>
              <a:t>H</a:t>
            </a:r>
            <a:r>
              <a:rPr kumimoji="1" lang="en-US" altLang="zh-CN" sz="1800">
                <a:solidFill>
                  <a:srgbClr val="000000"/>
                </a:solidFill>
                <a:latin typeface="Times New Roman" panose="02020603050405020304" pitchFamily="18" charset="0"/>
              </a:rPr>
              <a:t>(0)=1</a:t>
            </a:r>
            <a:r>
              <a:rPr kumimoji="1" lang="zh-CN" altLang="en-US" sz="1800">
                <a:solidFill>
                  <a:srgbClr val="000000"/>
                </a:solidFill>
                <a:latin typeface="Times New Roman" panose="02020603050405020304" pitchFamily="18" charset="0"/>
              </a:rPr>
              <a:t>。这属于第一类线性相位滤波器。第一类线性相位滤波器的幅度特性</a:t>
            </a:r>
            <a:r>
              <a:rPr kumimoji="1" lang="en-US" altLang="zh-CN" sz="1800" i="1">
                <a:solidFill>
                  <a:srgbClr val="000000"/>
                </a:solidFill>
                <a:latin typeface="Times New Roman" panose="02020603050405020304" pitchFamily="18" charset="0"/>
              </a:rPr>
              <a:t>H</a:t>
            </a:r>
            <a:r>
              <a:rPr kumimoji="1" lang="en-US" altLang="zh-CN" sz="1800">
                <a:solidFill>
                  <a:srgbClr val="000000"/>
                </a:solidFill>
                <a:latin typeface="Times New Roman" panose="02020603050405020304" pitchFamily="18" charset="0"/>
              </a:rPr>
              <a:t>(</a:t>
            </a:r>
            <a:r>
              <a:rPr kumimoji="1" lang="en-US" altLang="zh-CN" sz="1800" i="1">
                <a:solidFill>
                  <a:srgbClr val="000000"/>
                </a:solidFill>
                <a:latin typeface="Times New Roman" panose="02020603050405020304" pitchFamily="18" charset="0"/>
              </a:rPr>
              <a:t>ω</a:t>
            </a:r>
            <a:r>
              <a:rPr kumimoji="1" lang="en-US" altLang="zh-CN" sz="1800">
                <a:solidFill>
                  <a:srgbClr val="000000"/>
                </a:solidFill>
                <a:latin typeface="Times New Roman" panose="02020603050405020304" pitchFamily="18" charset="0"/>
              </a:rPr>
              <a:t>)</a:t>
            </a:r>
            <a:r>
              <a:rPr kumimoji="1" lang="zh-CN" altLang="en-US" sz="1800">
                <a:solidFill>
                  <a:srgbClr val="000000"/>
                </a:solidFill>
                <a:latin typeface="Times New Roman" panose="02020603050405020304" pitchFamily="18" charset="0"/>
              </a:rPr>
              <a:t>关于</a:t>
            </a:r>
            <a:r>
              <a:rPr kumimoji="1" lang="en-US" altLang="zh-CN" sz="1800" i="1">
                <a:solidFill>
                  <a:srgbClr val="000000"/>
                </a:solidFill>
                <a:latin typeface="Times New Roman" panose="02020603050405020304" pitchFamily="18" charset="0"/>
              </a:rPr>
              <a:t>ω</a:t>
            </a:r>
            <a:r>
              <a:rPr kumimoji="1" lang="en-US" altLang="zh-CN" sz="1800">
                <a:solidFill>
                  <a:srgbClr val="000000"/>
                </a:solidFill>
                <a:latin typeface="Times New Roman" panose="02020603050405020304" pitchFamily="18" charset="0"/>
              </a:rPr>
              <a:t>=π</a:t>
            </a:r>
            <a:r>
              <a:rPr kumimoji="1" lang="zh-CN" altLang="en-US" sz="1800">
                <a:solidFill>
                  <a:srgbClr val="000000"/>
                </a:solidFill>
                <a:latin typeface="Times New Roman" panose="02020603050405020304" pitchFamily="18" charset="0"/>
              </a:rPr>
              <a:t>为偶对称， 即 </a:t>
            </a:r>
          </a:p>
        </p:txBody>
      </p:sp>
      <p:graphicFrame>
        <p:nvGraphicFramePr>
          <p:cNvPr id="199689" name="对象 9"/>
          <p:cNvGraphicFramePr>
            <a:graphicFrameLocks noChangeAspect="1"/>
          </p:cNvGraphicFramePr>
          <p:nvPr/>
        </p:nvGraphicFramePr>
        <p:xfrm>
          <a:off x="2587626" y="4622800"/>
          <a:ext cx="2517775" cy="939800"/>
        </p:xfrm>
        <a:graphic>
          <a:graphicData uri="http://schemas.openxmlformats.org/presentationml/2006/ole">
            <mc:AlternateContent xmlns:mc="http://schemas.openxmlformats.org/markup-compatibility/2006">
              <mc:Choice xmlns:v="urn:schemas-microsoft-com:vml" Requires="v">
                <p:oleObj spid="_x0000_s31892" name="Equation" r:id="rId5" imgW="1701800" imgH="635000" progId="Equation.DSMT4">
                  <p:embed/>
                </p:oleObj>
              </mc:Choice>
              <mc:Fallback>
                <p:oleObj name="Equation" r:id="rId5" imgW="1701800" imgH="635000" progId="Equation.DSMT4">
                  <p:embed/>
                  <p:pic>
                    <p:nvPicPr>
                      <p:cNvPr id="199689"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87626" y="4622800"/>
                        <a:ext cx="2517775"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9690" name="Text Box 1033"/>
          <p:cNvSpPr txBox="1">
            <a:spLocks noChangeArrowheads="1"/>
          </p:cNvSpPr>
          <p:nvPr/>
        </p:nvSpPr>
        <p:spPr bwMode="auto">
          <a:xfrm>
            <a:off x="5367338" y="5105400"/>
            <a:ext cx="957262"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en-US" altLang="zh-CN" sz="1800">
                <a:solidFill>
                  <a:srgbClr val="000000"/>
                </a:solidFill>
                <a:latin typeface="Times New Roman" panose="02020603050405020304" pitchFamily="18" charset="0"/>
              </a:rPr>
              <a:t>0≤</a:t>
            </a:r>
            <a:r>
              <a:rPr kumimoji="1" lang="en-US" altLang="zh-CN" sz="1800" i="1">
                <a:solidFill>
                  <a:srgbClr val="000000"/>
                </a:solidFill>
                <a:latin typeface="Times New Roman" panose="02020603050405020304" pitchFamily="18" charset="0"/>
              </a:rPr>
              <a:t>k</a:t>
            </a:r>
            <a:r>
              <a:rPr kumimoji="1" lang="en-US" altLang="zh-CN" sz="1800">
                <a:solidFill>
                  <a:srgbClr val="000000"/>
                </a:solidFill>
                <a:latin typeface="Times New Roman" panose="02020603050405020304" pitchFamily="18" charset="0"/>
              </a:rPr>
              <a:t>≤32 </a:t>
            </a:r>
          </a:p>
        </p:txBody>
      </p:sp>
      <p:graphicFrame>
        <p:nvGraphicFramePr>
          <p:cNvPr id="199691" name="对象 11"/>
          <p:cNvGraphicFramePr>
            <a:graphicFrameLocks noChangeAspect="1"/>
          </p:cNvGraphicFramePr>
          <p:nvPr/>
        </p:nvGraphicFramePr>
        <p:xfrm>
          <a:off x="2728914" y="5715001"/>
          <a:ext cx="2224087" cy="955675"/>
        </p:xfrm>
        <a:graphic>
          <a:graphicData uri="http://schemas.openxmlformats.org/presentationml/2006/ole">
            <mc:AlternateContent xmlns:mc="http://schemas.openxmlformats.org/markup-compatibility/2006">
              <mc:Choice xmlns:v="urn:schemas-microsoft-com:vml" Requires="v">
                <p:oleObj spid="_x0000_s31893" name="Equation" r:id="rId7" imgW="1714500" imgH="736600" progId="Equation.3">
                  <p:embed/>
                </p:oleObj>
              </mc:Choice>
              <mc:Fallback>
                <p:oleObj name="Equation" r:id="rId7" imgW="1714500" imgH="736600" progId="Equation.3">
                  <p:embed/>
                  <p:pic>
                    <p:nvPicPr>
                      <p:cNvPr id="199691" name="对象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28914" y="5715001"/>
                        <a:ext cx="2224087"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9692" name="Group 11"/>
          <p:cNvGrpSpPr>
            <a:grpSpLocks/>
          </p:cNvGrpSpPr>
          <p:nvPr/>
        </p:nvGrpSpPr>
        <p:grpSpPr bwMode="auto">
          <a:xfrm>
            <a:off x="6721475" y="4800600"/>
            <a:ext cx="2990850" cy="990600"/>
            <a:chOff x="1664" y="1987"/>
            <a:chExt cx="1884" cy="624"/>
          </a:xfrm>
        </p:grpSpPr>
        <p:graphicFrame>
          <p:nvGraphicFramePr>
            <p:cNvPr id="199694" name="Object 7"/>
            <p:cNvGraphicFramePr>
              <a:graphicFrameLocks noChangeAspect="1"/>
            </p:cNvGraphicFramePr>
            <p:nvPr/>
          </p:nvGraphicFramePr>
          <p:xfrm>
            <a:off x="1664" y="2012"/>
            <a:ext cx="614" cy="599"/>
          </p:xfrm>
          <a:graphic>
            <a:graphicData uri="http://schemas.openxmlformats.org/presentationml/2006/ole">
              <mc:AlternateContent xmlns:mc="http://schemas.openxmlformats.org/markup-compatibility/2006">
                <mc:Choice xmlns:v="urn:schemas-microsoft-com:vml" Requires="v">
                  <p:oleObj spid="_x0000_s31894" name="Equation" r:id="rId9" imgW="545863" imgH="533169" progId="Equation.3">
                    <p:embed/>
                  </p:oleObj>
                </mc:Choice>
                <mc:Fallback>
                  <p:oleObj name="Equation" r:id="rId9" imgW="545863" imgH="533169" progId="Equation.3">
                    <p:embed/>
                    <p:pic>
                      <p:nvPicPr>
                        <p:cNvPr id="199694"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64" y="2012"/>
                          <a:ext cx="614" cy="5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9695" name="Text Box 8"/>
            <p:cNvSpPr txBox="1">
              <a:spLocks noChangeArrowheads="1"/>
            </p:cNvSpPr>
            <p:nvPr/>
          </p:nvSpPr>
          <p:spPr bwMode="auto">
            <a:xfrm>
              <a:off x="2422" y="1987"/>
              <a:ext cx="112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en-US" altLang="zh-CN" sz="1800">
                  <a:solidFill>
                    <a:srgbClr val="000000"/>
                  </a:solidFill>
                  <a:latin typeface="Times New Roman" panose="02020603050405020304" pitchFamily="18" charset="0"/>
                </a:rPr>
                <a:t>0≤</a:t>
              </a:r>
              <a:r>
                <a:rPr kumimoji="1" lang="en-US" altLang="zh-CN" sz="1800" i="1">
                  <a:solidFill>
                    <a:srgbClr val="000000"/>
                  </a:solidFill>
                  <a:latin typeface="Times New Roman" panose="02020603050405020304" pitchFamily="18" charset="0"/>
                </a:rPr>
                <a:t>k</a:t>
              </a:r>
              <a:r>
                <a:rPr kumimoji="1" lang="en-US" altLang="zh-CN" sz="1800">
                  <a:solidFill>
                    <a:srgbClr val="000000"/>
                  </a:solidFill>
                  <a:latin typeface="Times New Roman" panose="02020603050405020304" pitchFamily="18" charset="0"/>
                </a:rPr>
                <a:t>≤8, 25≤</a:t>
              </a:r>
              <a:r>
                <a:rPr kumimoji="1" lang="en-US" altLang="zh-CN" sz="1800" i="1">
                  <a:solidFill>
                    <a:srgbClr val="000000"/>
                  </a:solidFill>
                  <a:latin typeface="Times New Roman" panose="02020603050405020304" pitchFamily="18" charset="0"/>
                </a:rPr>
                <a:t>k</a:t>
              </a:r>
              <a:r>
                <a:rPr kumimoji="1" lang="en-US" altLang="zh-CN" sz="1800">
                  <a:solidFill>
                    <a:srgbClr val="000000"/>
                  </a:solidFill>
                  <a:latin typeface="Times New Roman" panose="02020603050405020304" pitchFamily="18" charset="0"/>
                </a:rPr>
                <a:t>≤32 </a:t>
              </a:r>
            </a:p>
          </p:txBody>
        </p:sp>
        <p:sp>
          <p:nvSpPr>
            <p:cNvPr id="199696" name="Text Box 9"/>
            <p:cNvSpPr txBox="1">
              <a:spLocks noChangeArrowheads="1"/>
            </p:cNvSpPr>
            <p:nvPr/>
          </p:nvSpPr>
          <p:spPr bwMode="auto">
            <a:xfrm>
              <a:off x="2518" y="2330"/>
              <a:ext cx="60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en-US" altLang="zh-CN" sz="1800">
                  <a:solidFill>
                    <a:srgbClr val="000000"/>
                  </a:solidFill>
                  <a:latin typeface="Times New Roman" panose="02020603050405020304" pitchFamily="18" charset="0"/>
                </a:rPr>
                <a:t>9≤</a:t>
              </a:r>
              <a:r>
                <a:rPr kumimoji="1" lang="en-US" altLang="zh-CN" sz="1800" i="1">
                  <a:solidFill>
                    <a:srgbClr val="000000"/>
                  </a:solidFill>
                  <a:latin typeface="Times New Roman" panose="02020603050405020304" pitchFamily="18" charset="0"/>
                </a:rPr>
                <a:t>k</a:t>
              </a:r>
              <a:r>
                <a:rPr kumimoji="1" lang="en-US" altLang="zh-CN" sz="1800">
                  <a:solidFill>
                    <a:srgbClr val="000000"/>
                  </a:solidFill>
                  <a:latin typeface="Times New Roman" panose="02020603050405020304" pitchFamily="18" charset="0"/>
                </a:rPr>
                <a:t>≤24 </a:t>
              </a:r>
            </a:p>
          </p:txBody>
        </p:sp>
      </p:grpSp>
      <p:graphicFrame>
        <p:nvGraphicFramePr>
          <p:cNvPr id="199693" name="Object 10"/>
          <p:cNvGraphicFramePr>
            <a:graphicFrameLocks noChangeAspect="1"/>
          </p:cNvGraphicFramePr>
          <p:nvPr/>
        </p:nvGraphicFramePr>
        <p:xfrm>
          <a:off x="7083426" y="6096000"/>
          <a:ext cx="1831975" cy="482600"/>
        </p:xfrm>
        <a:graphic>
          <a:graphicData uri="http://schemas.openxmlformats.org/presentationml/2006/ole">
            <mc:AlternateContent xmlns:mc="http://schemas.openxmlformats.org/markup-compatibility/2006">
              <mc:Choice xmlns:v="urn:schemas-microsoft-com:vml" Requires="v">
                <p:oleObj spid="_x0000_s31895" name="Equation" r:id="rId11" imgW="914400" imgH="241300" progId="Equation.3">
                  <p:embed/>
                </p:oleObj>
              </mc:Choice>
              <mc:Fallback>
                <p:oleObj name="Equation" r:id="rId11" imgW="914400" imgH="241300" progId="Equation.3">
                  <p:embed/>
                  <p:pic>
                    <p:nvPicPr>
                      <p:cNvPr id="199693"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83426" y="6096000"/>
                        <a:ext cx="183197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551251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标题 1"/>
          <p:cNvSpPr>
            <a:spLocks noGrp="1"/>
          </p:cNvSpPr>
          <p:nvPr>
            <p:ph type="title"/>
          </p:nvPr>
        </p:nvSpPr>
        <p:spPr>
          <a:xfrm>
            <a:off x="2743200" y="457200"/>
            <a:ext cx="6705600" cy="914400"/>
          </a:xfrm>
        </p:spPr>
        <p:txBody>
          <a:bodyPr/>
          <a:lstStyle/>
          <a:p>
            <a:r>
              <a:rPr lang="en-US" altLang="zh-CN" smtClean="0">
                <a:ea typeface="宋体" panose="02010600030101010101" pitchFamily="2" charset="-122"/>
              </a:rPr>
              <a:t>7.3 </a:t>
            </a:r>
            <a:r>
              <a:rPr lang="zh-CN" altLang="en-US" smtClean="0">
                <a:ea typeface="宋体" panose="02010600030101010101" pitchFamily="2" charset="-122"/>
              </a:rPr>
              <a:t>用频率采样法设计</a:t>
            </a:r>
            <a:r>
              <a:rPr lang="en-US" altLang="zh-CN" smtClean="0">
                <a:ea typeface="宋体" panose="02010600030101010101" pitchFamily="2" charset="-122"/>
              </a:rPr>
              <a:t>FIR</a:t>
            </a:r>
            <a:r>
              <a:rPr lang="zh-CN" altLang="en-US" smtClean="0">
                <a:ea typeface="宋体" panose="02010600030101010101" pitchFamily="2" charset="-122"/>
              </a:rPr>
              <a:t>滤波器</a:t>
            </a:r>
          </a:p>
        </p:txBody>
      </p:sp>
      <p:sp>
        <p:nvSpPr>
          <p:cNvPr id="20070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7A03A658-3746-4929-A5CC-858A85803260}"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12</a:t>
            </a:fld>
            <a:endParaRPr lang="en-US" altLang="zh-CN" sz="1400" b="0">
              <a:solidFill>
                <a:srgbClr val="000000"/>
              </a:solidFill>
              <a:latin typeface="Times New Roman" panose="02020603050405020304" pitchFamily="18" charset="0"/>
            </a:endParaRPr>
          </a:p>
        </p:txBody>
      </p:sp>
      <p:sp>
        <p:nvSpPr>
          <p:cNvPr id="200708" name="Text Box 1028"/>
          <p:cNvSpPr txBox="1">
            <a:spLocks noChangeArrowheads="1"/>
          </p:cNvSpPr>
          <p:nvPr/>
        </p:nvSpPr>
        <p:spPr bwMode="auto">
          <a:xfrm>
            <a:off x="2286000" y="1752600"/>
            <a:ext cx="7620000" cy="378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80000"/>
              </a:lnSpc>
              <a:spcBef>
                <a:spcPct val="50000"/>
              </a:spcBef>
              <a:spcAft>
                <a:spcPct val="0"/>
              </a:spcAft>
            </a:pPr>
            <a:r>
              <a:rPr kumimoji="1" lang="zh-CN" altLang="en-US" sz="2400">
                <a:solidFill>
                  <a:srgbClr val="000000"/>
                </a:solidFill>
                <a:latin typeface="Times New Roman" panose="02020603050405020304" pitchFamily="18" charset="0"/>
              </a:rPr>
              <a:t>频率采样法</a:t>
            </a:r>
            <a:endParaRPr kumimoji="1" lang="en-US" altLang="zh-CN" sz="2400">
              <a:solidFill>
                <a:srgbClr val="000000"/>
              </a:solidFill>
              <a:latin typeface="Times New Roman" panose="02020603050405020304" pitchFamily="18" charset="0"/>
            </a:endParaRPr>
          </a:p>
          <a:p>
            <a:pPr algn="just" fontAlgn="base">
              <a:lnSpc>
                <a:spcPct val="180000"/>
              </a:lnSpc>
              <a:spcBef>
                <a:spcPct val="50000"/>
              </a:spcBef>
              <a:spcAft>
                <a:spcPct val="0"/>
              </a:spcAft>
            </a:pPr>
            <a:r>
              <a:rPr kumimoji="1" lang="zh-CN" altLang="en-US" sz="2400">
                <a:solidFill>
                  <a:srgbClr val="000000"/>
                </a:solidFill>
                <a:latin typeface="Times New Roman" panose="02020603050405020304" pitchFamily="18" charset="0"/>
              </a:rPr>
              <a:t>优点：是可以在频域直接设计，并且适合最优化设计</a:t>
            </a:r>
            <a:r>
              <a:rPr kumimoji="1" lang="en-US" altLang="zh-CN" sz="2400">
                <a:solidFill>
                  <a:srgbClr val="000000"/>
                </a:solidFill>
                <a:latin typeface="Times New Roman" panose="02020603050405020304" pitchFamily="18" charset="0"/>
              </a:rPr>
              <a:t>;</a:t>
            </a:r>
          </a:p>
          <a:p>
            <a:pPr algn="just" fontAlgn="base">
              <a:lnSpc>
                <a:spcPct val="180000"/>
              </a:lnSpc>
              <a:spcBef>
                <a:spcPct val="50000"/>
              </a:spcBef>
              <a:spcAft>
                <a:spcPct val="0"/>
              </a:spcAft>
            </a:pPr>
            <a:r>
              <a:rPr kumimoji="1" lang="zh-CN" altLang="en-US" sz="2400">
                <a:solidFill>
                  <a:srgbClr val="000000"/>
                </a:solidFill>
                <a:latin typeface="Times New Roman" panose="02020603050405020304" pitchFamily="18" charset="0"/>
              </a:rPr>
              <a:t>缺点：是采样频率只能等于</a:t>
            </a:r>
            <a:r>
              <a:rPr kumimoji="1" lang="en-US" altLang="zh-CN" sz="2400">
                <a:solidFill>
                  <a:srgbClr val="000000"/>
                </a:solidFill>
                <a:latin typeface="Times New Roman" panose="02020603050405020304" pitchFamily="18" charset="0"/>
              </a:rPr>
              <a:t>2π/</a:t>
            </a:r>
            <a:r>
              <a:rPr kumimoji="1" lang="en-US" altLang="zh-CN" sz="2400" i="1">
                <a:solidFill>
                  <a:srgbClr val="000000"/>
                </a:solidFill>
                <a:latin typeface="Times New Roman" panose="02020603050405020304" pitchFamily="18" charset="0"/>
              </a:rPr>
              <a:t>N</a:t>
            </a:r>
            <a:r>
              <a:rPr kumimoji="1" lang="zh-CN" altLang="en-US" sz="2400">
                <a:solidFill>
                  <a:srgbClr val="000000"/>
                </a:solidFill>
                <a:latin typeface="Times New Roman" panose="02020603050405020304" pitchFamily="18" charset="0"/>
              </a:rPr>
              <a:t>的整数倍，因而不能确保截止频率</a:t>
            </a:r>
            <a:r>
              <a:rPr kumimoji="1" lang="en-US" altLang="zh-CN" sz="2400" i="1">
                <a:solidFill>
                  <a:srgbClr val="000000"/>
                </a:solidFill>
                <a:latin typeface="Times New Roman" panose="02020603050405020304" pitchFamily="18" charset="0"/>
              </a:rPr>
              <a:t>ω</a:t>
            </a:r>
            <a:r>
              <a:rPr kumimoji="1" lang="en-US" altLang="zh-CN" sz="2400" baseline="-25000">
                <a:solidFill>
                  <a:srgbClr val="000000"/>
                </a:solidFill>
                <a:latin typeface="Times New Roman" panose="02020603050405020304" pitchFamily="18" charset="0"/>
              </a:rPr>
              <a:t>c</a:t>
            </a:r>
            <a:r>
              <a:rPr kumimoji="1" lang="zh-CN" altLang="en-US" sz="2400">
                <a:solidFill>
                  <a:srgbClr val="000000"/>
                </a:solidFill>
                <a:latin typeface="Times New Roman" panose="02020603050405020304" pitchFamily="18" charset="0"/>
              </a:rPr>
              <a:t>的自由取值，要想实现自由地选择截止频率，必须增加采样点数</a:t>
            </a:r>
            <a:r>
              <a:rPr kumimoji="1" lang="en-US" altLang="zh-CN" sz="2400" i="1">
                <a:solidFill>
                  <a:srgbClr val="000000"/>
                </a:solidFill>
                <a:latin typeface="Times New Roman" panose="02020603050405020304" pitchFamily="18" charset="0"/>
              </a:rPr>
              <a:t>N</a:t>
            </a:r>
            <a:r>
              <a:rPr kumimoji="1" lang="zh-CN" altLang="en-US" sz="2400">
                <a:solidFill>
                  <a:srgbClr val="000000"/>
                </a:solidFill>
                <a:latin typeface="Times New Roman" panose="02020603050405020304" pitchFamily="18" charset="0"/>
              </a:rPr>
              <a:t>，但这又使计算量加大。 </a:t>
            </a:r>
          </a:p>
        </p:txBody>
      </p:sp>
    </p:spTree>
    <p:extLst>
      <p:ext uri="{BB962C8B-B14F-4D97-AF65-F5344CB8AC3E}">
        <p14:creationId xmlns:p14="http://schemas.microsoft.com/office/powerpoint/2010/main" val="20226342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标题 1"/>
          <p:cNvSpPr>
            <a:spLocks noGrp="1"/>
          </p:cNvSpPr>
          <p:nvPr>
            <p:ph type="title"/>
          </p:nvPr>
        </p:nvSpPr>
        <p:spPr>
          <a:xfrm>
            <a:off x="2819400" y="457200"/>
            <a:ext cx="7239000" cy="914400"/>
          </a:xfrm>
        </p:spPr>
        <p:txBody>
          <a:bodyPr/>
          <a:lstStyle/>
          <a:p>
            <a:r>
              <a:rPr lang="en-US" altLang="zh-CN" dirty="0" smtClean="0">
                <a:ea typeface="宋体" panose="02010600030101010101" pitchFamily="2" charset="-122"/>
              </a:rPr>
              <a:t>7.4  FIR</a:t>
            </a:r>
            <a:r>
              <a:rPr lang="zh-CN" altLang="en-US" dirty="0" smtClean="0">
                <a:ea typeface="宋体" panose="02010600030101010101" pitchFamily="2" charset="-122"/>
              </a:rPr>
              <a:t>滤波器和</a:t>
            </a:r>
            <a:r>
              <a:rPr lang="en-US" altLang="zh-CN" dirty="0" smtClean="0">
                <a:ea typeface="宋体" panose="02010600030101010101" pitchFamily="2" charset="-122"/>
              </a:rPr>
              <a:t>IIR</a:t>
            </a:r>
            <a:r>
              <a:rPr lang="zh-CN" altLang="en-US" dirty="0" smtClean="0">
                <a:ea typeface="宋体" panose="02010600030101010101" pitchFamily="2" charset="-122"/>
              </a:rPr>
              <a:t>滤波器的比较</a:t>
            </a:r>
          </a:p>
        </p:txBody>
      </p:sp>
      <p:sp>
        <p:nvSpPr>
          <p:cNvPr id="20173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25812548-A9BF-4BEC-BF4E-CCDF271A65B4}"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13</a:t>
            </a:fld>
            <a:endParaRPr lang="en-US" altLang="zh-CN" sz="1400" b="0">
              <a:solidFill>
                <a:srgbClr val="000000"/>
              </a:solidFill>
              <a:latin typeface="Times New Roman" panose="02020603050405020304" pitchFamily="18" charset="0"/>
            </a:endParaRPr>
          </a:p>
        </p:txBody>
      </p:sp>
      <p:sp>
        <p:nvSpPr>
          <p:cNvPr id="201732" name="Text Box 3"/>
          <p:cNvSpPr txBox="1">
            <a:spLocks noChangeArrowheads="1"/>
          </p:cNvSpPr>
          <p:nvPr/>
        </p:nvSpPr>
        <p:spPr bwMode="auto">
          <a:xfrm>
            <a:off x="1905000" y="1536700"/>
            <a:ext cx="8229600" cy="189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0000"/>
              </a:lnSpc>
              <a:spcBef>
                <a:spcPct val="50000"/>
              </a:spcBef>
              <a:spcAft>
                <a:spcPct val="0"/>
              </a:spcAft>
            </a:pPr>
            <a:r>
              <a:rPr kumimoji="1" lang="en-US" altLang="zh-CN" sz="1800">
                <a:solidFill>
                  <a:srgbClr val="000000"/>
                </a:solidFill>
                <a:latin typeface="Times New Roman" panose="02020603050405020304" pitchFamily="18" charset="0"/>
              </a:rPr>
              <a:t>1</a:t>
            </a:r>
            <a:r>
              <a:rPr kumimoji="1" lang="zh-CN" altLang="en-US" sz="1800">
                <a:solidFill>
                  <a:srgbClr val="000000"/>
                </a:solidFill>
                <a:latin typeface="Times New Roman" panose="02020603050405020304" pitchFamily="18" charset="0"/>
              </a:rPr>
              <a:t>、</a:t>
            </a:r>
            <a:r>
              <a:rPr kumimoji="1" lang="en-US" altLang="zh-CN" sz="1800">
                <a:solidFill>
                  <a:srgbClr val="000000"/>
                </a:solidFill>
                <a:latin typeface="Times New Roman" panose="02020603050405020304" pitchFamily="18" charset="0"/>
              </a:rPr>
              <a:t>IIR</a:t>
            </a:r>
            <a:r>
              <a:rPr kumimoji="1" lang="zh-CN" altLang="en-US" sz="1800">
                <a:solidFill>
                  <a:srgbClr val="000000"/>
                </a:solidFill>
                <a:latin typeface="Times New Roman" panose="02020603050405020304" pitchFamily="18" charset="0"/>
              </a:rPr>
              <a:t>滤波器可以用较少的阶数获得很高的选择特性，这样一来，所用存储单元少，运算次数少，较为经济而且效率高。但是这个高效率的代价是以相位的非线性得来的。选择性越好，非线性越严重。相反，</a:t>
            </a:r>
            <a:r>
              <a:rPr kumimoji="1" lang="en-US" altLang="zh-CN" sz="1800">
                <a:solidFill>
                  <a:srgbClr val="000000"/>
                </a:solidFill>
                <a:latin typeface="Times New Roman" panose="02020603050405020304" pitchFamily="18" charset="0"/>
              </a:rPr>
              <a:t>FIR</a:t>
            </a:r>
            <a:r>
              <a:rPr kumimoji="1" lang="zh-CN" altLang="en-US" sz="1800">
                <a:solidFill>
                  <a:srgbClr val="000000"/>
                </a:solidFill>
                <a:latin typeface="Times New Roman" panose="02020603050405020304" pitchFamily="18" charset="0"/>
              </a:rPr>
              <a:t>滤波器可以得到严格的线性相位。但是，如果需要获得一定的选择性，则要用较多的存储器和较多的运算， 成本比较高， 信号延时也较大。</a:t>
            </a:r>
          </a:p>
        </p:txBody>
      </p:sp>
      <p:sp>
        <p:nvSpPr>
          <p:cNvPr id="201733" name="Text Box 2"/>
          <p:cNvSpPr txBox="1">
            <a:spLocks noChangeArrowheads="1"/>
          </p:cNvSpPr>
          <p:nvPr/>
        </p:nvSpPr>
        <p:spPr bwMode="auto">
          <a:xfrm>
            <a:off x="1905000" y="3573464"/>
            <a:ext cx="8305800" cy="153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0000"/>
              </a:lnSpc>
              <a:spcBef>
                <a:spcPct val="50000"/>
              </a:spcBef>
              <a:spcAft>
                <a:spcPct val="0"/>
              </a:spcAft>
            </a:pPr>
            <a:r>
              <a:rPr kumimoji="1" lang="en-US" altLang="zh-CN" sz="1800">
                <a:solidFill>
                  <a:srgbClr val="000000"/>
                </a:solidFill>
                <a:latin typeface="Times New Roman" panose="02020603050405020304" pitchFamily="18" charset="0"/>
              </a:rPr>
              <a:t>  2</a:t>
            </a:r>
            <a:r>
              <a:rPr kumimoji="1" lang="zh-CN" altLang="en-US" sz="1800">
                <a:solidFill>
                  <a:srgbClr val="000000"/>
                </a:solidFill>
                <a:latin typeface="Times New Roman" panose="02020603050405020304" pitchFamily="18" charset="0"/>
              </a:rPr>
              <a:t>、从结构上看，</a:t>
            </a:r>
            <a:r>
              <a:rPr kumimoji="1" lang="en-US" altLang="zh-CN" sz="1800">
                <a:solidFill>
                  <a:srgbClr val="000000"/>
                </a:solidFill>
                <a:latin typeface="Times New Roman" panose="02020603050405020304" pitchFamily="18" charset="0"/>
              </a:rPr>
              <a:t>IIR</a:t>
            </a:r>
            <a:r>
              <a:rPr kumimoji="1" lang="zh-CN" altLang="en-US" sz="1800">
                <a:solidFill>
                  <a:srgbClr val="000000"/>
                </a:solidFill>
                <a:latin typeface="Times New Roman" panose="02020603050405020304" pitchFamily="18" charset="0"/>
              </a:rPr>
              <a:t>必须采用递归型结构，极点位置必须在单位圆内</a:t>
            </a:r>
            <a:r>
              <a:rPr kumimoji="1" lang="en-US" altLang="zh-CN" sz="1800">
                <a:solidFill>
                  <a:srgbClr val="000000"/>
                </a:solidFill>
                <a:latin typeface="Times New Roman" panose="02020603050405020304" pitchFamily="18" charset="0"/>
              </a:rPr>
              <a:t>; </a:t>
            </a:r>
            <a:r>
              <a:rPr kumimoji="1" lang="zh-CN" altLang="en-US" sz="1800">
                <a:solidFill>
                  <a:srgbClr val="000000"/>
                </a:solidFill>
                <a:latin typeface="Times New Roman" panose="02020603050405020304" pitchFamily="18" charset="0"/>
              </a:rPr>
              <a:t>否则</a:t>
            </a:r>
            <a:r>
              <a:rPr kumimoji="1" lang="en-US" altLang="zh-CN" sz="1800">
                <a:solidFill>
                  <a:srgbClr val="000000"/>
                </a:solidFill>
                <a:latin typeface="Times New Roman" panose="02020603050405020304" pitchFamily="18" charset="0"/>
              </a:rPr>
              <a:t>, </a:t>
            </a:r>
            <a:r>
              <a:rPr kumimoji="1" lang="zh-CN" altLang="en-US" sz="1800">
                <a:solidFill>
                  <a:srgbClr val="000000"/>
                </a:solidFill>
                <a:latin typeface="Times New Roman" panose="02020603050405020304" pitchFamily="18" charset="0"/>
              </a:rPr>
              <a:t>系统将不稳定。此外，在这种结构中，由于运算过程中对序列的四舍五入处理， 有时会引起微弱的寄生振荡。相反，</a:t>
            </a:r>
            <a:r>
              <a:rPr kumimoji="1" lang="en-US" altLang="zh-CN" sz="1800">
                <a:solidFill>
                  <a:srgbClr val="000000"/>
                </a:solidFill>
                <a:latin typeface="Times New Roman" panose="02020603050405020304" pitchFamily="18" charset="0"/>
              </a:rPr>
              <a:t>FIR</a:t>
            </a:r>
            <a:r>
              <a:rPr kumimoji="1" lang="zh-CN" altLang="en-US" sz="1800">
                <a:solidFill>
                  <a:srgbClr val="000000"/>
                </a:solidFill>
                <a:latin typeface="Times New Roman" panose="02020603050405020304" pitchFamily="18" charset="0"/>
              </a:rPr>
              <a:t>滤波器主要采用非递归结构，不论在理论上还是在实际的有限精度运算中都不存在稳定性问题，运算误差也较小。</a:t>
            </a:r>
          </a:p>
        </p:txBody>
      </p:sp>
    </p:spTree>
    <p:extLst>
      <p:ext uri="{BB962C8B-B14F-4D97-AF65-F5344CB8AC3E}">
        <p14:creationId xmlns:p14="http://schemas.microsoft.com/office/powerpoint/2010/main" val="34416578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标题 1"/>
          <p:cNvSpPr>
            <a:spLocks noGrp="1"/>
          </p:cNvSpPr>
          <p:nvPr>
            <p:ph type="title"/>
          </p:nvPr>
        </p:nvSpPr>
        <p:spPr>
          <a:xfrm>
            <a:off x="2895600" y="457200"/>
            <a:ext cx="7162800" cy="914400"/>
          </a:xfrm>
        </p:spPr>
        <p:txBody>
          <a:bodyPr/>
          <a:lstStyle/>
          <a:p>
            <a:r>
              <a:rPr lang="zh-CN" altLang="en-US" smtClean="0">
                <a:ea typeface="宋体" panose="02010600030101010101" pitchFamily="2" charset="-122"/>
              </a:rPr>
              <a:t>第</a:t>
            </a:r>
            <a:r>
              <a:rPr lang="en-US" altLang="zh-CN" smtClean="0">
                <a:ea typeface="宋体" panose="02010600030101010101" pitchFamily="2" charset="-122"/>
              </a:rPr>
              <a:t>7</a:t>
            </a:r>
            <a:r>
              <a:rPr lang="zh-CN" altLang="en-US" smtClean="0">
                <a:ea typeface="宋体" panose="02010600030101010101" pitchFamily="2" charset="-122"/>
              </a:rPr>
              <a:t>章 作业</a:t>
            </a:r>
          </a:p>
        </p:txBody>
      </p:sp>
      <p:sp>
        <p:nvSpPr>
          <p:cNvPr id="202755" name="内容占位符 2"/>
          <p:cNvSpPr>
            <a:spLocks noGrp="1"/>
          </p:cNvSpPr>
          <p:nvPr>
            <p:ph idx="1"/>
          </p:nvPr>
        </p:nvSpPr>
        <p:spPr/>
        <p:txBody>
          <a:bodyPr/>
          <a:lstStyle/>
          <a:p>
            <a:r>
              <a:rPr lang="en-US" altLang="zh-CN" dirty="0" smtClean="0">
                <a:ea typeface="宋体" panose="02010600030101010101" pitchFamily="2" charset="-122"/>
              </a:rPr>
              <a:t>5</a:t>
            </a:r>
            <a:r>
              <a:rPr lang="zh-CN" altLang="en-US" dirty="0" smtClean="0">
                <a:ea typeface="宋体" panose="02010600030101010101" pitchFamily="2" charset="-122"/>
              </a:rPr>
              <a:t>（窗函数）</a:t>
            </a:r>
            <a:endParaRPr lang="en-US" altLang="zh-CN" dirty="0" smtClean="0">
              <a:ea typeface="宋体" panose="02010600030101010101" pitchFamily="2" charset="-122"/>
            </a:endParaRPr>
          </a:p>
          <a:p>
            <a:r>
              <a:rPr lang="en-US" altLang="zh-CN" dirty="0" smtClean="0">
                <a:ea typeface="宋体" panose="02010600030101010101" pitchFamily="2" charset="-122"/>
              </a:rPr>
              <a:t>7</a:t>
            </a:r>
            <a:r>
              <a:rPr lang="zh-CN" altLang="en-US" dirty="0" smtClean="0">
                <a:ea typeface="宋体" panose="02010600030101010101" pitchFamily="2" charset="-122"/>
              </a:rPr>
              <a:t>（窗函数）</a:t>
            </a:r>
            <a:endParaRPr lang="en-US" altLang="zh-CN" dirty="0" smtClean="0">
              <a:ea typeface="宋体" panose="02010600030101010101" pitchFamily="2" charset="-122"/>
            </a:endParaRPr>
          </a:p>
          <a:p>
            <a:r>
              <a:rPr lang="en-US" altLang="zh-CN" dirty="0" smtClean="0">
                <a:ea typeface="宋体" panose="02010600030101010101" pitchFamily="2" charset="-122"/>
              </a:rPr>
              <a:t>8</a:t>
            </a:r>
            <a:r>
              <a:rPr lang="zh-CN" altLang="en-US" dirty="0" smtClean="0">
                <a:ea typeface="宋体" panose="02010600030101010101" pitchFamily="2" charset="-122"/>
              </a:rPr>
              <a:t>（频采</a:t>
            </a:r>
            <a:r>
              <a:rPr lang="en-US" altLang="zh-CN" dirty="0" smtClean="0">
                <a:ea typeface="宋体" panose="02010600030101010101" pitchFamily="2" charset="-122"/>
              </a:rPr>
              <a:t>+</a:t>
            </a:r>
            <a:r>
              <a:rPr lang="zh-CN" altLang="en-US" smtClean="0">
                <a:ea typeface="宋体" panose="02010600030101010101" pitchFamily="2" charset="-122"/>
              </a:rPr>
              <a:t>一点过渡带，答案有问题）</a:t>
            </a:r>
            <a:endParaRPr lang="zh-CN" altLang="en-US" dirty="0" smtClean="0">
              <a:ea typeface="宋体" panose="02010600030101010101" pitchFamily="2" charset="-122"/>
            </a:endParaRPr>
          </a:p>
        </p:txBody>
      </p:sp>
      <p:sp>
        <p:nvSpPr>
          <p:cNvPr id="20275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30620FB1-5EC4-4A03-8014-8670BC288E97}"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14</a:t>
            </a:fld>
            <a:endParaRPr lang="en-US" altLang="zh-CN" sz="1400" b="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120092595"/>
      </p:ext>
    </p:extLst>
  </p:cSld>
  <p:clrMapOvr>
    <a:masterClrMapping/>
  </p:clrMapOvr>
  <p:timing>
    <p:tnLst>
      <p:par>
        <p:cTn id="1" dur="indefinite" restart="never" nodeType="tmRoot"/>
      </p:par>
    </p:tnLst>
  </p:timing>
</p:sld>
</file>

<file path=ppt/theme/theme1.xml><?xml version="1.0" encoding="utf-8"?>
<a:theme xmlns:a="http://schemas.openxmlformats.org/drawingml/2006/main" name="icfp99">
  <a:themeElements>
    <a:clrScheme name="icfp99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fontScheme name="icfp99">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Comic Sans MS" pitchFamily="66"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Comic Sans MS" pitchFamily="66" charset="0"/>
            <a:ea typeface="宋体" pitchFamily="2" charset="-122"/>
          </a:defRPr>
        </a:defPPr>
      </a:lstStyle>
    </a:lnDef>
  </a:objectDefaults>
  <a:extraClrSchemeLst>
    <a:extraClrScheme>
      <a:clrScheme name="icfp99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cfp99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cfp99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cfp99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cfp9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cfp9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cfp9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icfp99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765</TotalTime>
  <Words>1146</Words>
  <Application>Microsoft Office PowerPoint</Application>
  <PresentationFormat>宽屏</PresentationFormat>
  <Paragraphs>84</Paragraphs>
  <Slides>14</Slides>
  <Notes>1</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14</vt:i4>
      </vt:variant>
    </vt:vector>
  </HeadingPairs>
  <TitlesOfParts>
    <vt:vector size="21" baseType="lpstr">
      <vt:lpstr>等线</vt:lpstr>
      <vt:lpstr>宋体</vt:lpstr>
      <vt:lpstr>Comic Sans MS</vt:lpstr>
      <vt:lpstr>Courier New</vt:lpstr>
      <vt:lpstr>Times New Roman</vt:lpstr>
      <vt:lpstr>icfp99</vt:lpstr>
      <vt:lpstr>Equation</vt:lpstr>
      <vt:lpstr>7.3 用频率采样法设计FIR滤波器 </vt:lpstr>
      <vt:lpstr>7.3 用频率采样法设计FIR滤波器 </vt:lpstr>
      <vt:lpstr>7.3 用频率采样法设计FIR滤波器 </vt:lpstr>
      <vt:lpstr>7.3 用频率采样法设计FIR滤波器 </vt:lpstr>
      <vt:lpstr>7.3 用频率采样法设计FIR滤波器</vt:lpstr>
      <vt:lpstr>7.3 用频率采样法设计FIR滤波器</vt:lpstr>
      <vt:lpstr>7.3 用频率采样法设计FIR滤波器</vt:lpstr>
      <vt:lpstr>7.3 用频率采样法设计FIR滤波器</vt:lpstr>
      <vt:lpstr>7.3 用频率采样法设计FIR滤波器</vt:lpstr>
      <vt:lpstr>PowerPoint 演示文稿</vt:lpstr>
      <vt:lpstr>7.3 用频率采样法设计FIR滤波器</vt:lpstr>
      <vt:lpstr>7.3 用频率采样法设计FIR滤波器</vt:lpstr>
      <vt:lpstr>7.4  FIR滤波器和IIR滤波器的比较</vt:lpstr>
      <vt:lpstr>第7章 作业</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FIR数字滤波器的设计方法</dc:title>
  <dc:creator>Administrator</dc:creator>
  <cp:lastModifiedBy>CHAO WU</cp:lastModifiedBy>
  <cp:revision>32</cp:revision>
  <dcterms:created xsi:type="dcterms:W3CDTF">2020-08-06T07:38:52Z</dcterms:created>
  <dcterms:modified xsi:type="dcterms:W3CDTF">2022-12-03T09:16:43Z</dcterms:modified>
</cp:coreProperties>
</file>