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7" r:id="rId2"/>
  </p:sldMasterIdLst>
  <p:notesMasterIdLst>
    <p:notesMasterId r:id="rId19"/>
  </p:notesMasterIdLst>
  <p:handoutMasterIdLst>
    <p:handoutMasterId r:id="rId20"/>
  </p:handoutMasterIdLst>
  <p:sldIdLst>
    <p:sldId id="391" r:id="rId3"/>
    <p:sldId id="507" r:id="rId4"/>
    <p:sldId id="746" r:id="rId5"/>
    <p:sldId id="760" r:id="rId6"/>
    <p:sldId id="765" r:id="rId7"/>
    <p:sldId id="761" r:id="rId8"/>
    <p:sldId id="764" r:id="rId9"/>
    <p:sldId id="747" r:id="rId10"/>
    <p:sldId id="766" r:id="rId11"/>
    <p:sldId id="767" r:id="rId12"/>
    <p:sldId id="750" r:id="rId13"/>
    <p:sldId id="740" r:id="rId14"/>
    <p:sldId id="537" r:id="rId15"/>
    <p:sldId id="538" r:id="rId16"/>
    <p:sldId id="616" r:id="rId17"/>
    <p:sldId id="493" r:id="rId18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美霖 何" initials="美霖" lastIdx="1" clrIdx="0">
    <p:extLst>
      <p:ext uri="{19B8F6BF-5375-455C-9EA6-DF929625EA0E}">
        <p15:presenceInfo xmlns:p15="http://schemas.microsoft.com/office/powerpoint/2012/main" userId="3dedb6142bad8fe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12E0"/>
    <a:srgbClr val="F50BC8"/>
    <a:srgbClr val="287224"/>
    <a:srgbClr val="FF9900"/>
    <a:srgbClr val="19F808"/>
    <a:srgbClr val="348055"/>
    <a:srgbClr val="7F23DB"/>
    <a:srgbClr val="D27D00"/>
    <a:srgbClr val="0CD1F8"/>
    <a:srgbClr val="25D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テーマ スタイル 1 - アクセント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17" autoAdjust="0"/>
    <p:restoredTop sz="90840" autoAdjust="0"/>
  </p:normalViewPr>
  <p:slideViewPr>
    <p:cSldViewPr>
      <p:cViewPr varScale="1">
        <p:scale>
          <a:sx n="96" d="100"/>
          <a:sy n="96" d="100"/>
        </p:scale>
        <p:origin x="768" y="68"/>
      </p:cViewPr>
      <p:guideLst>
        <p:guide orient="horz" pos="2251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3175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52A692-356B-4EC6-8974-BBBE593845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A573D-0D47-4BFD-9E32-39B2B7964D97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F5070E-8236-48EF-A295-449C9E6598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E504D-DED1-4255-8A4D-970704BCC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4789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F4D14-3395-4AC0-B611-9530F237726A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E4FA2-6B09-4612-80F6-8E0F4B06E2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2063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089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692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5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690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973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106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294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005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16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1337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5541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558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529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E4FA2-6B09-4612-80F6-8E0F4B06E2A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742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C7AE-C765-4C04-85B1-C9DD3B94DF8B}" type="datetime5">
              <a:rPr kumimoji="1" lang="zh-CN" altLang="en-US" smtClean="0"/>
              <a:t>2026/5/13</a:t>
            </a:fld>
            <a:endParaRPr kumimoji="1" lang="ja-JP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宋体" panose="02010600030101010101" pitchFamily="2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6941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457200" y="6354041"/>
            <a:ext cx="2133600" cy="365125"/>
          </a:xfrm>
        </p:spPr>
        <p:txBody>
          <a:bodyPr/>
          <a:lstStyle/>
          <a:p>
            <a:fld id="{943C8E70-5155-4751-B04C-332B3D365641}" type="datetime5">
              <a:rPr kumimoji="1" lang="zh-CN" altLang="en-US" smtClean="0"/>
              <a:t>2026/5/13</a:t>
            </a:fld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244408" y="6354040"/>
            <a:ext cx="504056" cy="365125"/>
          </a:xfrm>
        </p:spPr>
        <p:txBody>
          <a:bodyPr/>
          <a:lstStyle>
            <a:lvl1pPr algn="ctr">
              <a:defRPr/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页脚占位符 7">
            <a:extLst>
              <a:ext uri="{FF2B5EF4-FFF2-40B4-BE49-F238E27FC236}">
                <a16:creationId xmlns:a16="http://schemas.microsoft.com/office/drawing/2014/main" id="{289FBF91-63DC-4D4F-B95B-5624D4B40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96239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9A3FE-4D66-489D-8D4A-FB7F6621FD26}" type="datetime5">
              <a:rPr kumimoji="1" lang="zh-CN" altLang="en-US" smtClean="0"/>
              <a:t>2026/5/13</a:t>
            </a:fld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页脚占位符 7">
            <a:extLst>
              <a:ext uri="{FF2B5EF4-FFF2-40B4-BE49-F238E27FC236}">
                <a16:creationId xmlns:a16="http://schemas.microsoft.com/office/drawing/2014/main" id="{586BFC25-2CA0-4804-83F5-8179E66A8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2165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70C1D-82AD-40C2-B07E-6CF4CECEB943}" type="datetime5">
              <a:rPr kumimoji="1" lang="zh-CN" altLang="en-US" smtClean="0"/>
              <a:t>2026/5/13</a:t>
            </a:fld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FC5E95-7A5F-40B6-A939-F31D5FAB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6556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9AC7B-B21B-440D-A57B-66C124726772}" type="datetime5">
              <a:rPr kumimoji="1" lang="zh-CN" altLang="en-US" smtClean="0"/>
              <a:t>2026/5/13</a:t>
            </a:fld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页脚占位符 7">
            <a:extLst>
              <a:ext uri="{FF2B5EF4-FFF2-40B4-BE49-F238E27FC236}">
                <a16:creationId xmlns:a16="http://schemas.microsoft.com/office/drawing/2014/main" id="{CAF644E7-0380-44FE-84E2-EEB110FFE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65811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1B0BC-3980-4B15-9B44-C31AB6612D7F}" type="datetime5">
              <a:rPr kumimoji="1" lang="zh-CN" altLang="en-US" smtClean="0"/>
              <a:t>2026/5/13</a:t>
            </a:fld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页脚占位符 7">
            <a:extLst>
              <a:ext uri="{FF2B5EF4-FFF2-40B4-BE49-F238E27FC236}">
                <a16:creationId xmlns:a16="http://schemas.microsoft.com/office/drawing/2014/main" id="{B78197B1-7516-455A-B30E-BAD9141EC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53414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12D85-7CB0-4C13-A797-4F4E8A21BB9E}" type="datetime5">
              <a:rPr kumimoji="1" lang="zh-CN" altLang="en-US" smtClean="0"/>
              <a:t>2026/5/13</a:t>
            </a:fld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页脚占位符 7">
            <a:extLst>
              <a:ext uri="{FF2B5EF4-FFF2-40B4-BE49-F238E27FC236}">
                <a16:creationId xmlns:a16="http://schemas.microsoft.com/office/drawing/2014/main" id="{800B6071-F8FD-4DD5-B548-54096246A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18656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EA06A-6DFE-48FE-8C02-EA96D846B7DC}" type="datetime5">
              <a:rPr kumimoji="1" lang="zh-CN" altLang="en-US" smtClean="0"/>
              <a:t>2026/5/13</a:t>
            </a:fld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6AFD85F-3A03-4759-9506-3909D6ABF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14556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48326-2918-4A2E-958B-B4A777E85A7A}" type="datetime5">
              <a:rPr kumimoji="1" lang="zh-CN" altLang="en-US" smtClean="0"/>
              <a:t>2026/5/13</a:t>
            </a:fld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C063F85-8FFE-4F61-9283-AB974FCC2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40901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001C-A148-4129-B747-38EFC40C65E4}" type="datetime5">
              <a:rPr kumimoji="1" lang="zh-CN" altLang="en-US" smtClean="0"/>
              <a:t>2026/5/13</a:t>
            </a:fld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页脚占位符 7">
            <a:extLst>
              <a:ext uri="{FF2B5EF4-FFF2-40B4-BE49-F238E27FC236}">
                <a16:creationId xmlns:a16="http://schemas.microsoft.com/office/drawing/2014/main" id="{085D8229-B496-464A-8BDC-022FEE9A9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37905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7AA15-45CC-42A4-81AE-A62F2D3EE595}" type="datetime5">
              <a:rPr kumimoji="1" lang="zh-CN" altLang="en-US" smtClean="0"/>
              <a:t>2026/5/13</a:t>
            </a:fld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页脚占位符 7">
            <a:extLst>
              <a:ext uri="{FF2B5EF4-FFF2-40B4-BE49-F238E27FC236}">
                <a16:creationId xmlns:a16="http://schemas.microsoft.com/office/drawing/2014/main" id="{48DA35FD-A779-4A0B-8002-68F4A528A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数字信号处理实验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1388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5E466-23D4-4A3A-AB73-625219B84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3A99C80-BA14-4CAD-BC51-01BA3CFC5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B10E57-7E78-4268-B606-694067773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5677C-C733-4FD9-B27B-0F01C6D8F6C0}" type="datetime5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CA7DC0-308A-46A1-8C64-8BC4F1FE4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853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0C6F5-8E90-4A40-BD3E-59EAB2007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BA6686-2CF5-4CD2-B964-B9F08CC39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05AD26-4520-479B-9DEC-890961CDA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37E5-741C-4562-AE5E-A21CA5263F43}" type="datetime5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B22955-421A-464C-8362-6DE9A4B33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88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4ACC4C-FF5A-4905-8BC7-0817A799E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D7448D-81BF-4859-8016-2601C484C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49BEA2-DDA5-4B71-905D-B4544F98C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F8B58-20F1-499B-AA7E-42EF4227225F}" type="datetime5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A656C4-CC76-4E5B-AAE5-9430D845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515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BBAE70-EB83-4790-9CC1-55FBDE088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9210E2-B8AB-4032-98DA-AE205D5359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4BCB5F-9570-4214-93C3-9568D6A91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59CF4C-1FCD-4C17-9992-76D7922CE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CEA6E-A330-4F49-89F5-FEA5181A0A6A}" type="datetime5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33EA27-8797-431F-A8EC-014FE4796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731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1A16CE-20B2-468E-B239-A8BE6C7A4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638639-843D-4A11-AC4D-6D952DBEB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CCA926-C1C2-4944-8A9E-4D2DF67DF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5F1EAA-1F7A-43C8-B13C-94DF45E5D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98B42D-A2A0-4907-B262-0F066B551A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2A5D5E-8155-4522-823B-733067BA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87AD3-15D1-4CD9-8670-0D6D34AEB393}" type="datetime5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F869901-5659-4F59-ABBA-998C553E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832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1703D3-A300-4A12-9BAB-A0A806497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DC8F72-2530-48C8-A9AB-A9715B82F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E6FFD-6E55-4E3A-B40B-C1C9D1F79047}" type="datetime5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616FB7-6147-4141-A5B2-11E36156A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963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7FA16E-FACD-4DDD-9C45-A7EA90A02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AF5C6-C44D-4227-9DE0-A38B15A5B465}" type="datetime5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D44556-82E6-45C7-A9AA-1CAC42F87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3412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C9B25-61E4-4AA0-9225-87165805B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0214C4-0A65-47D0-8DFC-41248129D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F58DE0-5BD0-4537-BE24-024E881AE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2BE918-6831-43C9-9183-B9C216710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4B9E2-9830-4A60-AFC6-7D773FA7D8EC}" type="datetime5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52EA5E-0617-433D-9402-0A6727448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3638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8369C-5B52-4260-8D9F-030015B77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1C4BBB-EEF5-42CD-8B6F-924D0D22E7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9D7323-8048-40C8-A738-5392F0DE1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C23B68-61E8-4EB7-BD41-94A617F9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7E08-71AA-48BA-A705-DF0F37615BFA}" type="datetime5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9206F4-50C5-4F06-A26D-62F683184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436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A3895-B30C-4D3C-A2D3-84C39E920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751D42-B41D-4CCF-9D53-7A07C689E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0C1EB4-D296-494F-ABFB-EB9EA42FA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18E28-1231-4834-8240-1ADBBDB9044D}" type="datetime5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D5F2EA-D522-4DE5-B083-9563B860A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508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D46E1D0-DC65-4343-AB8D-2A91C8895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687FAA-64BE-4901-9D5C-202593D58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F07525-2172-4BDF-8E12-42F578341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A40F-F780-4253-B8F0-F1E547D1CEF8}" type="datetime5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A5A64E-9264-4D2A-919A-2F0B98D5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44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584106"/>
            <a:ext cx="8229600" cy="8335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zh-CN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fld id="{0902B85B-F953-4DA4-938A-C01C004E280C}" type="datetime5">
              <a:rPr lang="zh-CN" altLang="en-US" smtClean="0"/>
              <a:t>2026/5/13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数字信号处理实验</a:t>
            </a:r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grpSp>
        <p:nvGrpSpPr>
          <p:cNvPr id="7" name="グループ化 12">
            <a:extLst>
              <a:ext uri="{FF2B5EF4-FFF2-40B4-BE49-F238E27FC236}">
                <a16:creationId xmlns:a16="http://schemas.microsoft.com/office/drawing/2014/main" id="{0A5C3010-1654-48CD-8E7D-B3D053FFDD1C}"/>
              </a:ext>
            </a:extLst>
          </p:cNvPr>
          <p:cNvGrpSpPr/>
          <p:nvPr userDrawn="1"/>
        </p:nvGrpSpPr>
        <p:grpSpPr>
          <a:xfrm>
            <a:off x="32" y="-24"/>
            <a:ext cx="9144000" cy="428628"/>
            <a:chOff x="0" y="-24"/>
            <a:chExt cx="9144000" cy="428628"/>
          </a:xfrm>
          <a:solidFill>
            <a:schemeClr val="tx2">
              <a:lumMod val="50000"/>
            </a:schemeClr>
          </a:solidFill>
        </p:grpSpPr>
        <p:sp>
          <p:nvSpPr>
            <p:cNvPr id="8" name="テキスト ボックス 21">
              <a:extLst>
                <a:ext uri="{FF2B5EF4-FFF2-40B4-BE49-F238E27FC236}">
                  <a16:creationId xmlns:a16="http://schemas.microsoft.com/office/drawing/2014/main" id="{D7A6DEDD-DC37-4EEE-9C9C-621434E8D6C5}"/>
                </a:ext>
              </a:extLst>
            </p:cNvPr>
            <p:cNvSpPr txBox="1"/>
            <p:nvPr/>
          </p:nvSpPr>
          <p:spPr>
            <a:xfrm>
              <a:off x="0" y="-24"/>
              <a:ext cx="9144000" cy="353943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endParaRPr kumimoji="1" lang="ja-JP" altLang="en-US" sz="1700" b="1" baseline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9" name="正方形/長方形 22">
              <a:extLst>
                <a:ext uri="{FF2B5EF4-FFF2-40B4-BE49-F238E27FC236}">
                  <a16:creationId xmlns:a16="http://schemas.microsoft.com/office/drawing/2014/main" id="{841A9F48-3ECC-414C-B8B3-E4A6252315F9}"/>
                </a:ext>
              </a:extLst>
            </p:cNvPr>
            <p:cNvSpPr/>
            <p:nvPr/>
          </p:nvSpPr>
          <p:spPr>
            <a:xfrm>
              <a:off x="0" y="382885"/>
              <a:ext cx="9144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aseline="0">
                <a:latin typeface="Times New Roman" panose="02020603050405020304" pitchFamily="18" charset="0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40EEE84F-988E-45E0-A8E3-9E239129FE0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-24"/>
            <a:ext cx="1533200" cy="35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40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3600" b="1" kern="1200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6F0D242-CCCE-42D3-831F-CA8928F9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9E44F8-1975-4599-A4B5-125468BFA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6BDE97-C593-4F18-B2D3-DAB7742DBB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29A55-BDD7-47AC-88C6-CDEF2C0C360B}" type="datetime5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4BB6D-BD82-48BF-9F70-5F6910BE4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06814-7F52-445C-847D-EEC184D9366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D6F3C42-071A-4C87-9D45-E021F4F650F3}"/>
              </a:ext>
            </a:extLst>
          </p:cNvPr>
          <p:cNvSpPr txBox="1">
            <a:spLocks/>
          </p:cNvSpPr>
          <p:nvPr userDrawn="1"/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aseline="0" dirty="0">
                <a:ea typeface="微软雅黑" panose="020B0503020204020204" pitchFamily="34" charset="-122"/>
              </a:rPr>
              <a:t>数字信号处理实验</a:t>
            </a:r>
            <a:endParaRPr lang="ja-JP" altLang="en-US" baseline="0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1503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7.e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1007" y="1193392"/>
            <a:ext cx="9001985" cy="1224136"/>
          </a:xfrm>
        </p:spPr>
        <p:txBody>
          <a:bodyPr>
            <a:noAutofit/>
          </a:bodyPr>
          <a:lstStyle/>
          <a:p>
            <a:pPr algn="ctr"/>
            <a:r>
              <a:rPr lang="zh-CN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数字信号处理实验</a:t>
            </a:r>
          </a:p>
        </p:txBody>
      </p:sp>
      <p:graphicFrame>
        <p:nvGraphicFramePr>
          <p:cNvPr id="4" name="オブジェクト 3"/>
          <p:cNvGraphicFramePr>
            <a:graphicFrameLocks noChangeAspect="1"/>
          </p:cNvGraphicFramePr>
          <p:nvPr/>
        </p:nvGraphicFramePr>
        <p:xfrm>
          <a:off x="6146800" y="3479800"/>
          <a:ext cx="914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190080" progId="Equation.DSMT4">
                  <p:embed/>
                </p:oleObj>
              </mc:Choice>
              <mc:Fallback>
                <p:oleObj name="Equation" r:id="rId3" imgW="914400" imgH="190080" progId="Equation.DSMT4">
                  <p:embed/>
                  <p:pic>
                    <p:nvPicPr>
                      <p:cNvPr id="4" name="オブジェクト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46800" y="3479800"/>
                        <a:ext cx="9144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サブタイトル 2"/>
          <p:cNvSpPr txBox="1">
            <a:spLocks/>
          </p:cNvSpPr>
          <p:nvPr/>
        </p:nvSpPr>
        <p:spPr>
          <a:xfrm>
            <a:off x="2397960" y="3575050"/>
            <a:ext cx="4982352" cy="14590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授课老师：朱钰莹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单        位：</a:t>
            </a:r>
            <a:r>
              <a:rPr kumimoji="0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通信工程学院</a:t>
            </a:r>
            <a:endParaRPr kumimoji="0"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l"/>
            <a:r>
              <a:rPr kumimoji="0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邮        箱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yuyingzhu@hdu.edu.cn</a:t>
            </a:r>
            <a:endParaRPr lang="en-US" altLang="ja-JP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kumimoji="0" lang="en-US" altLang="ja-JP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スライド番号プレースホルダー 3">
            <a:extLst>
              <a:ext uri="{FF2B5EF4-FFF2-40B4-BE49-F238E27FC236}">
                <a16:creationId xmlns:a16="http://schemas.microsoft.com/office/drawing/2014/main" id="{06E73011-F359-4876-9D10-309930A2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5468" y="6292552"/>
            <a:ext cx="504056" cy="365125"/>
          </a:xfrm>
        </p:spPr>
        <p:txBody>
          <a:bodyPr/>
          <a:lstStyle/>
          <a:p>
            <a:pPr algn="ctr"/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pPr algn="ctr"/>
              <a:t>1</a:t>
            </a:fld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756F24EC-D80C-444B-AC77-845712E883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476" y="6351833"/>
            <a:ext cx="2133600" cy="365125"/>
          </a:xfrm>
        </p:spPr>
        <p:txBody>
          <a:bodyPr/>
          <a:lstStyle/>
          <a:p>
            <a:fld id="{04883F47-DD51-4563-9602-9E8A05AF2B93}" type="datetime5">
              <a:rPr kumimoji="1" lang="zh-CN" altLang="en-US" smtClean="0">
                <a:ea typeface="微软雅黑" panose="020B0503020204020204" pitchFamily="34" charset="-122"/>
              </a:rPr>
              <a:t>2026/5/13</a:t>
            </a:fld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FA10C6E-783C-4153-B4BF-CABC2E56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050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2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第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7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讲 </a:t>
            </a:r>
            <a:r>
              <a:rPr lang="en-US" altLang="zh-CN" dirty="0">
                <a:latin typeface="+mn-lt"/>
              </a:rPr>
              <a:t>IIR</a:t>
            </a:r>
            <a:r>
              <a:rPr lang="zh-CN" altLang="en-US" dirty="0">
                <a:latin typeface="+mn-lt"/>
              </a:rPr>
              <a:t>数字滤波器设计</a:t>
            </a:r>
            <a:endParaRPr lang="zh-CN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C4B4-A29B-4D79-B5C3-DA2427D85959}" type="datetime5">
              <a:rPr kumimoji="1" lang="zh-CN" altLang="en-US" smtClean="0">
                <a:ea typeface="微软雅黑" panose="020B0503020204020204" pitchFamily="34" charset="-122"/>
              </a:rPr>
              <a:t>2026/5/13</a:t>
            </a:fld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3ABAB5-5B95-4E60-8553-420CEFF2CF41}"/>
              </a:ext>
            </a:extLst>
          </p:cNvPr>
          <p:cNvSpPr/>
          <p:nvPr/>
        </p:nvSpPr>
        <p:spPr>
          <a:xfrm>
            <a:off x="575556" y="1700808"/>
            <a:ext cx="7920880" cy="1873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u"/>
            </a:pPr>
            <a:r>
              <a:rPr lang="en-US" altLang="zh-CN" sz="2800" dirty="0">
                <a:ea typeface="微软雅黑" panose="020B0503020204020204" pitchFamily="34" charset="-122"/>
              </a:rPr>
              <a:t>IIR</a:t>
            </a:r>
            <a:r>
              <a:rPr lang="zh-CN" altLang="en-US" sz="2800" dirty="0">
                <a:ea typeface="微软雅黑" panose="020B0503020204020204" pitchFamily="34" charset="-122"/>
              </a:rPr>
              <a:t>数字滤波器设计原理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u"/>
            </a:pPr>
            <a:r>
              <a:rPr lang="en-US" altLang="zh-CN" sz="2800" dirty="0">
                <a:ea typeface="微软雅黑" panose="020B0503020204020204" pitchFamily="34" charset="-122"/>
              </a:rPr>
              <a:t>IIR</a:t>
            </a:r>
            <a:r>
              <a:rPr lang="zh-CN" altLang="en-US" sz="2800" dirty="0">
                <a:ea typeface="微软雅黑" panose="020B0503020204020204" pitchFamily="34" charset="-122"/>
              </a:rPr>
              <a:t>数字滤波器设计步骤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ea typeface="微软雅黑" panose="020B0503020204020204" pitchFamily="34" charset="-122"/>
              </a:rPr>
              <a:t>冲激响应不变法</a:t>
            </a:r>
            <a:endParaRPr lang="en-US" altLang="zh-CN" sz="2400" dirty="0">
              <a:ea typeface="微软雅黑" panose="020B0503020204020204" pitchFamily="34" charset="-122"/>
            </a:endParaRPr>
          </a:p>
        </p:txBody>
      </p:sp>
      <p:pic>
        <p:nvPicPr>
          <p:cNvPr id="11" name="Picture 5" descr="MATLAB eg1">
            <a:extLst>
              <a:ext uri="{FF2B5EF4-FFF2-40B4-BE49-F238E27FC236}">
                <a16:creationId xmlns:a16="http://schemas.microsoft.com/office/drawing/2014/main" id="{8BD95CEC-03A5-4A4F-A90E-4B8E0D49D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4508500"/>
            <a:ext cx="2520950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750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3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</a:rPr>
              <a:t>设计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原理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051E9-9AAB-471F-AEB0-94239805A857}" type="datetime5">
              <a:rPr kumimoji="1" lang="zh-CN" altLang="en-US" smtClean="0">
                <a:ea typeface="微软雅黑" panose="020B0503020204020204" pitchFamily="34" charset="-122"/>
              </a:rPr>
              <a:t>2026/5/13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8185F7-CD79-4E60-AB90-E32E7C2BED68}"/>
              </a:ext>
            </a:extLst>
          </p:cNvPr>
          <p:cNvSpPr txBox="1"/>
          <p:nvPr/>
        </p:nvSpPr>
        <p:spPr>
          <a:xfrm>
            <a:off x="0" y="2290"/>
            <a:ext cx="514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7.1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IIR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数字滤波器设计原理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57BD9E-F740-774B-DAEC-5C8CF07BF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2401"/>
            <a:ext cx="8075240" cy="194106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IIR</a:t>
            </a:r>
            <a:r>
              <a:rPr lang="zh-CN" altLang="en-US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数字滤波器设计的最终目的是寻找合适的</a:t>
            </a:r>
            <a:r>
              <a:rPr lang="en-US" altLang="zh-CN" i="1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H</a:t>
            </a:r>
            <a:r>
              <a:rPr lang="en-US" altLang="zh-CN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(</a:t>
            </a:r>
            <a:r>
              <a:rPr lang="en-US" altLang="zh-CN" i="1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z</a:t>
            </a:r>
            <a:r>
              <a:rPr lang="en-US" altLang="zh-CN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)</a:t>
            </a:r>
            <a:r>
              <a:rPr lang="zh-CN" altLang="en-US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以满足要求的幅频特性。</a:t>
            </a:r>
            <a:endParaRPr lang="en-US" altLang="zh-CN" baseline="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dirty="0">
                <a:cs typeface="+mn-ea"/>
                <a:sym typeface="+mn-lt"/>
              </a:rPr>
              <a:t>对于</a:t>
            </a:r>
            <a:r>
              <a:rPr lang="en-US" altLang="zh-CN" dirty="0">
                <a:cs typeface="+mn-ea"/>
                <a:sym typeface="+mn-lt"/>
              </a:rPr>
              <a:t>IIR</a:t>
            </a:r>
            <a:r>
              <a:rPr lang="zh-CN" altLang="en-US" dirty="0">
                <a:cs typeface="+mn-ea"/>
                <a:sym typeface="+mn-lt"/>
              </a:rPr>
              <a:t>数字滤波器，通常</a:t>
            </a:r>
            <a:r>
              <a:rPr lang="zh-CN" altLang="en-US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采用模拟滤波器设计技术来实现</a:t>
            </a:r>
            <a:r>
              <a:rPr lang="en-US" altLang="zh-CN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IIR</a:t>
            </a:r>
            <a:r>
              <a:rPr lang="zh-CN" altLang="en-US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数字滤波器的设计，即先得到满足设计目的的模拟滤波器系统函数</a:t>
            </a:r>
            <a:r>
              <a:rPr lang="en-US" altLang="zh-CN" i="1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H</a:t>
            </a:r>
            <a:r>
              <a:rPr lang="en-US" altLang="zh-CN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(</a:t>
            </a:r>
            <a:r>
              <a:rPr lang="en-US" altLang="zh-CN" i="1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s</a:t>
            </a:r>
            <a:r>
              <a:rPr lang="en-US" altLang="zh-CN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)</a:t>
            </a:r>
            <a:r>
              <a:rPr lang="zh-CN" altLang="en-US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，再通过数字化方法得到</a:t>
            </a:r>
            <a:r>
              <a:rPr lang="en-US" altLang="zh-CN" i="1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H</a:t>
            </a:r>
            <a:r>
              <a:rPr lang="en-US" altLang="zh-CN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(</a:t>
            </a:r>
            <a:r>
              <a:rPr lang="en-US" altLang="zh-CN" i="1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z</a:t>
            </a:r>
            <a:r>
              <a:rPr lang="en-US" altLang="zh-CN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)</a:t>
            </a:r>
            <a:r>
              <a:rPr lang="zh-CN" altLang="en-US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</a:p>
          <a:p>
            <a:pPr>
              <a:lnSpc>
                <a:spcPct val="150000"/>
              </a:lnSpc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endParaRPr lang="zh-CN" altLang="en-US" b="1" baseline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4636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4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设计步骤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3C55F-8FB0-4952-B4A6-DEECED33FC43}" type="datetime5">
              <a:rPr kumimoji="1" lang="zh-CN" altLang="en-US" smtClean="0">
                <a:ea typeface="微软雅黑" panose="020B0503020204020204" pitchFamily="34" charset="-122"/>
              </a:rPr>
              <a:t>2026/5/13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8185F7-CD79-4E60-AB90-E32E7C2BED68}"/>
              </a:ext>
            </a:extLst>
          </p:cNvPr>
          <p:cNvSpPr txBox="1"/>
          <p:nvPr/>
        </p:nvSpPr>
        <p:spPr>
          <a:xfrm>
            <a:off x="0" y="2290"/>
            <a:ext cx="514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7.2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IIR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数字滤波器设计步骤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57BD9E-F740-774B-DAEC-5C8CF07BF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2401"/>
            <a:ext cx="8075240" cy="71647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步骤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：确定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IIR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数字滤波器性能指标。</a:t>
            </a:r>
            <a:endParaRPr lang="zh-CN" altLang="en-US" b="1" baseline="0" dirty="0">
              <a:solidFill>
                <a:srgbClr val="FF0000"/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2FB51734-AE48-5DEE-A853-D4239CD38719}"/>
              </a:ext>
            </a:extLst>
          </p:cNvPr>
          <p:cNvSpPr txBox="1">
            <a:spLocks/>
          </p:cNvSpPr>
          <p:nvPr/>
        </p:nvSpPr>
        <p:spPr>
          <a:xfrm>
            <a:off x="457267" y="2404583"/>
            <a:ext cx="8075240" cy="9248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步骤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：根据要求选择适当的数字化方法，确定对应的模拟滤波器性能指标</a:t>
            </a:r>
            <a:r>
              <a:rPr kumimoji="0" lang="zh-CN" altLang="en-US" dirty="0">
                <a:ea typeface="微软雅黑" panose="020B0503020204020204" charset="-122"/>
                <a:sym typeface="+mn-ea"/>
              </a:rPr>
              <a:t>。</a:t>
            </a:r>
            <a:endParaRPr kumimoji="0" lang="zh-CN" altLang="en-US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5D5FF6C1-D3B4-FE98-271B-03580846EEBC}"/>
              </a:ext>
            </a:extLst>
          </p:cNvPr>
          <p:cNvSpPr txBox="1">
            <a:spLocks/>
          </p:cNvSpPr>
          <p:nvPr/>
        </p:nvSpPr>
        <p:spPr>
          <a:xfrm>
            <a:off x="457200" y="3528555"/>
            <a:ext cx="8291264" cy="9248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步骤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：选取合适的模拟原型滤波器，得到满足设计的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H</a:t>
            </a:r>
            <a:r>
              <a:rPr lang="en-US" altLang="zh-CN" sz="2800" i="1" baseline="-250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an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kumimoji="0" lang="zh-CN" altLang="en-US" dirty="0">
                <a:ea typeface="微软雅黑" panose="020B0503020204020204" charset="-122"/>
                <a:sym typeface="+mn-ea"/>
              </a:rPr>
              <a:t>。</a:t>
            </a:r>
            <a:endParaRPr kumimoji="0" lang="zh-CN" altLang="en-US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197E18A3-4B2E-9443-C2CD-73303753FCD6}"/>
              </a:ext>
            </a:extLst>
          </p:cNvPr>
          <p:cNvSpPr txBox="1">
            <a:spLocks/>
          </p:cNvSpPr>
          <p:nvPr/>
        </p:nvSpPr>
        <p:spPr>
          <a:xfrm>
            <a:off x="457200" y="4581128"/>
            <a:ext cx="8075240" cy="5960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步骤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：采用频率转换得到满足设计的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H</a:t>
            </a:r>
            <a:r>
              <a:rPr lang="en-US" altLang="zh-CN" sz="2800" i="1" baseline="-250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kumimoji="0" lang="zh-CN" altLang="en-US" dirty="0">
                <a:ea typeface="微软雅黑" panose="020B0503020204020204" charset="-122"/>
                <a:sym typeface="+mn-ea"/>
              </a:rPr>
              <a:t>。</a:t>
            </a:r>
            <a:endParaRPr kumimoji="0" lang="zh-CN" altLang="en-US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9F59502C-5652-917D-A9A1-25C34829D210}"/>
              </a:ext>
            </a:extLst>
          </p:cNvPr>
          <p:cNvSpPr txBox="1">
            <a:spLocks/>
          </p:cNvSpPr>
          <p:nvPr/>
        </p:nvSpPr>
        <p:spPr>
          <a:xfrm>
            <a:off x="457200" y="5229200"/>
            <a:ext cx="8075240" cy="9248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步骤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：利用步骤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中选好的数字化方法，得到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IIR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数字滤波器</a:t>
            </a:r>
            <a:r>
              <a:rPr kumimoji="0" lang="zh-CN" altLang="en-US" dirty="0">
                <a:ea typeface="微软雅黑" panose="020B0503020204020204" charset="-122"/>
                <a:sym typeface="+mn-ea"/>
              </a:rPr>
              <a:t>。</a:t>
            </a:r>
            <a:endParaRPr kumimoji="0" lang="zh-CN" altLang="en-US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0379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5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atin typeface="+mn-lt"/>
              </a:rPr>
              <a:t>步骤</a:t>
            </a:r>
            <a:r>
              <a:rPr lang="en-US" altLang="zh-CN" dirty="0">
                <a:latin typeface="+mn-lt"/>
              </a:rPr>
              <a:t>2</a:t>
            </a:r>
            <a:endParaRPr lang="zh-CN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856C2-F82A-433C-8A48-CB76A6E6C5C0}" type="datetime5">
              <a:rPr kumimoji="1" lang="zh-CN" altLang="en-US" smtClean="0">
                <a:ea typeface="微软雅黑" panose="020B0503020204020204" pitchFamily="34" charset="-122"/>
              </a:rPr>
              <a:t>2026/5/13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8185F7-CD79-4E60-AB90-E32E7C2BED68}"/>
              </a:ext>
            </a:extLst>
          </p:cNvPr>
          <p:cNvSpPr txBox="1"/>
          <p:nvPr/>
        </p:nvSpPr>
        <p:spPr>
          <a:xfrm>
            <a:off x="0" y="229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7.2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IIR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数字滤波器设计步骤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3A2BBB2D-3E83-2B1C-4FEC-C73E2B910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800"/>
            <a:ext cx="8147248" cy="648072"/>
          </a:xfrm>
        </p:spPr>
        <p:txBody>
          <a:bodyPr>
            <a:noAutofit/>
          </a:bodyPr>
          <a:lstStyle/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冲激响应不变法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中，模拟角频率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Ω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和数字角频率 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ω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的变换关系为： </a:t>
            </a:r>
            <a:endParaRPr lang="en-US" altLang="zh-CN" sz="2800" dirty="0">
              <a:solidFill>
                <a:schemeClr val="tx1"/>
              </a:solidFill>
              <a:ea typeface="微软雅黑" panose="020B0503020204020204" charset="-122"/>
              <a:sym typeface="+mn-ea"/>
            </a:endParaRPr>
          </a:p>
          <a:p>
            <a:pPr marL="0" indent="0" algn="ctr">
              <a:buClr>
                <a:srgbClr val="1F3C6B"/>
              </a:buClr>
              <a:buSzPct val="80000"/>
              <a:buNone/>
            </a:pP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ω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 = Ω T</a:t>
            </a:r>
          </a:p>
          <a:p>
            <a:pPr marL="0" indent="0">
              <a:buClr>
                <a:srgbClr val="1F3C6B"/>
              </a:buClr>
              <a:buSzPct val="80000"/>
              <a:buNone/>
            </a:pP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    可见模拟角频率 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Ω 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和数字角频率 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ω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呈线性关系。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EF00BA-E464-2817-5A89-B6EFFD8DA7E6}"/>
              </a:ext>
            </a:extLst>
          </p:cNvPr>
          <p:cNvSpPr txBox="1"/>
          <p:nvPr/>
        </p:nvSpPr>
        <p:spPr>
          <a:xfrm>
            <a:off x="785393" y="4221088"/>
            <a:ext cx="7848872" cy="1599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因此，在采用冲激响应不变法设计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IIR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数字滤波器时，步骤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中确定模拟滤波器的性能指标时，应根据上式求得对应指标。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92510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6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</a:rPr>
              <a:t>步骤</a:t>
            </a:r>
            <a:r>
              <a:rPr lang="en-US" altLang="zh-CN" dirty="0">
                <a:latin typeface="+mn-lt"/>
              </a:rPr>
              <a:t>3~4</a:t>
            </a:r>
            <a:endParaRPr lang="zh-CN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8685-C0FD-4BE9-AEF4-2290C00FC7B6}" type="datetime5">
              <a:rPr kumimoji="1" lang="zh-CN" altLang="en-US" smtClean="0">
                <a:ea typeface="微软雅黑" panose="020B0503020204020204" pitchFamily="34" charset="-122"/>
              </a:rPr>
              <a:t>2026/5/13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8185F7-CD79-4E60-AB90-E32E7C2BED68}"/>
              </a:ext>
            </a:extLst>
          </p:cNvPr>
          <p:cNvSpPr txBox="1"/>
          <p:nvPr/>
        </p:nvSpPr>
        <p:spPr>
          <a:xfrm>
            <a:off x="0" y="2290"/>
            <a:ext cx="514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7.2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IIR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数字滤波器设计步骤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57BD9E-F740-774B-DAEC-5C8CF07BF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2401"/>
            <a:ext cx="8075240" cy="71647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由性能指标求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H</a:t>
            </a:r>
            <a:r>
              <a:rPr lang="en-US" altLang="zh-CN" sz="2800" i="1" baseline="-250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b="1" baseline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baseline="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</a:p>
        </p:txBody>
      </p:sp>
      <p:graphicFrame>
        <p:nvGraphicFramePr>
          <p:cNvPr id="5" name="对象 2">
            <a:hlinkClick r:id="" action="ppaction://ole?verb=0"/>
            <a:extLst>
              <a:ext uri="{FF2B5EF4-FFF2-40B4-BE49-F238E27FC236}">
                <a16:creationId xmlns:a16="http://schemas.microsoft.com/office/drawing/2014/main" id="{DE3BCAFD-99D7-AE92-6871-DC64AD0F5D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0722237"/>
              </p:ext>
            </p:extLst>
          </p:nvPr>
        </p:nvGraphicFramePr>
        <p:xfrm>
          <a:off x="1732297" y="2436951"/>
          <a:ext cx="2869047" cy="2156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79600" imgH="1511300" progId="Equation.KSEE3">
                  <p:embed/>
                </p:oleObj>
              </mc:Choice>
              <mc:Fallback>
                <p:oleObj r:id="rId3" imgW="1879600" imgH="1511300" progId="Equation.KSEE3">
                  <p:embed/>
                  <p:pic>
                    <p:nvPicPr>
                      <p:cNvPr id="60418" name="对象 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32297" y="2436951"/>
                        <a:ext cx="2869047" cy="215677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3">
            <a:extLst>
              <a:ext uri="{FF2B5EF4-FFF2-40B4-BE49-F238E27FC236}">
                <a16:creationId xmlns:a16="http://schemas.microsoft.com/office/drawing/2014/main" id="{E9C51A3B-5040-1BDA-91FD-A0E1A95966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587932"/>
              </p:ext>
            </p:extLst>
          </p:nvPr>
        </p:nvGraphicFramePr>
        <p:xfrm>
          <a:off x="5198300" y="2419346"/>
          <a:ext cx="2553436" cy="1015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357120" imgH="920750" progId="Equation.DSMT4">
                  <p:embed/>
                </p:oleObj>
              </mc:Choice>
              <mc:Fallback>
                <p:oleObj r:id="rId5" imgW="2357120" imgH="920750" progId="Equation.DSMT4">
                  <p:embed/>
                  <p:pic>
                    <p:nvPicPr>
                      <p:cNvPr id="60421" name="Object 1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FFFFCC"/>
                          </a:clrFrom>
                          <a:clrTo>
                            <a:srgbClr val="FFFFCC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98300" y="2419346"/>
                        <a:ext cx="2553436" cy="10157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6">
            <a:extLst>
              <a:ext uri="{FF2B5EF4-FFF2-40B4-BE49-F238E27FC236}">
                <a16:creationId xmlns:a16="http://schemas.microsoft.com/office/drawing/2014/main" id="{784DBEF9-F6AA-A96D-A3E3-ECCFBE85DD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573831"/>
              </p:ext>
            </p:extLst>
          </p:nvPr>
        </p:nvGraphicFramePr>
        <p:xfrm>
          <a:off x="5204797" y="3460256"/>
          <a:ext cx="2553436" cy="109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292350" imgH="920750" progId="Equation.DSMT4">
                  <p:embed/>
                </p:oleObj>
              </mc:Choice>
              <mc:Fallback>
                <p:oleObj r:id="rId7" imgW="2292350" imgH="920750" progId="Equation.DSMT4">
                  <p:embed/>
                  <p:pic>
                    <p:nvPicPr>
                      <p:cNvPr id="60422" name="Object 1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FFFFCC"/>
                          </a:clrFrom>
                          <a:clrTo>
                            <a:srgbClr val="FFFFCC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04797" y="3460256"/>
                        <a:ext cx="2553436" cy="109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6BC3F613-2BF9-9431-34F7-EC3283976C8D}"/>
              </a:ext>
            </a:extLst>
          </p:cNvPr>
          <p:cNvSpPr txBox="1"/>
          <p:nvPr/>
        </p:nvSpPr>
        <p:spPr>
          <a:xfrm>
            <a:off x="810709" y="4685794"/>
            <a:ext cx="4599214" cy="1384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由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，直接查表得</a:t>
            </a:r>
            <a:r>
              <a:rPr lang="en-US" altLang="zh-CN" sz="2400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H</a:t>
            </a:r>
            <a:r>
              <a:rPr lang="en-US" altLang="zh-CN" sz="2400" i="1" baseline="-250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an</a:t>
            </a:r>
            <a:r>
              <a:rPr lang="en-US" altLang="zh-CN" sz="24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en-US" altLang="zh-CN" sz="24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去归一化，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0AB6CFAC-B135-0585-3550-9A42486F6B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940214"/>
              </p:ext>
            </p:extLst>
          </p:nvPr>
        </p:nvGraphicFramePr>
        <p:xfrm>
          <a:off x="3538690" y="5343002"/>
          <a:ext cx="2553436" cy="101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169795" imgH="830580" progId="Equation.DSMT4">
                  <p:embed/>
                </p:oleObj>
              </mc:Choice>
              <mc:Fallback>
                <p:oleObj r:id="rId9" imgW="2169795" imgH="830580" progId="Equation.DSMT4">
                  <p:embed/>
                  <p:pic>
                    <p:nvPicPr>
                      <p:cNvPr id="62465" name="Object 7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FFFFCC"/>
                          </a:clrFrom>
                          <a:clrTo>
                            <a:srgbClr val="FFFFCC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38690" y="5343002"/>
                        <a:ext cx="2553436" cy="1011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5580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7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步骤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5</a:t>
            </a:r>
            <a:endParaRPr lang="zh-CN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709-370B-48E5-A21E-D5EE434596F6}" type="datetime5">
              <a:rPr kumimoji="1" lang="zh-CN" altLang="en-US" smtClean="0">
                <a:ea typeface="微软雅黑" panose="020B0503020204020204" pitchFamily="34" charset="-122"/>
              </a:rPr>
              <a:t>2026/5/13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8185F7-CD79-4E60-AB90-E32E7C2BED68}"/>
              </a:ext>
            </a:extLst>
          </p:cNvPr>
          <p:cNvSpPr txBox="1"/>
          <p:nvPr/>
        </p:nvSpPr>
        <p:spPr>
          <a:xfrm>
            <a:off x="0" y="2290"/>
            <a:ext cx="514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7.2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IIR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数字滤波器设计步骤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D2E653-FF69-9C47-439C-19EC5ACF2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2401"/>
            <a:ext cx="8291264" cy="360847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FF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冲激响应不变法</a:t>
            </a:r>
            <a:r>
              <a:rPr lang="zh-CN" altLang="en-US" b="1" dirty="0">
                <a:solidFill>
                  <a:srgbClr val="2112E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的基本原理：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从模拟滤波器的单位冲激响应</a:t>
            </a:r>
            <a:r>
              <a:rPr lang="en-US" altLang="zh-CN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h</a:t>
            </a:r>
            <a:r>
              <a:rPr lang="en-US" altLang="zh-CN" i="1" baseline="-250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t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出发，将模拟滤波器的单位冲激响应</a:t>
            </a:r>
            <a:r>
              <a:rPr lang="en-US" altLang="zh-CN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h</a:t>
            </a:r>
            <a:r>
              <a:rPr lang="en-US" altLang="zh-CN" i="1" baseline="-250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t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加以等间隔抽样，使数字滤波器的单位冲激响应</a:t>
            </a:r>
            <a:r>
              <a:rPr lang="en-US" altLang="zh-CN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h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逼近模拟滤波器的单位冲激响应</a:t>
            </a:r>
            <a:r>
              <a:rPr lang="en-US" altLang="zh-CN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h</a:t>
            </a:r>
            <a:r>
              <a:rPr lang="en-US" altLang="zh-CN" i="1" baseline="-250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t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dirty="0"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即</a:t>
            </a:r>
            <a:r>
              <a:rPr lang="en-US" altLang="zh-CN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h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等于</a:t>
            </a:r>
            <a:r>
              <a:rPr lang="en-US" altLang="zh-CN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h</a:t>
            </a:r>
            <a:r>
              <a:rPr lang="en-US" altLang="zh-CN" i="1" baseline="-250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t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的抽样值乘以</a:t>
            </a:r>
            <a:r>
              <a:rPr lang="en-US" altLang="zh-CN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T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，即满足：</a:t>
            </a:r>
          </a:p>
          <a:p>
            <a:pPr marL="0" indent="0" algn="ctr">
              <a:lnSpc>
                <a:spcPct val="150000"/>
              </a:lnSpc>
              <a:buClr>
                <a:srgbClr val="1F3C6B"/>
              </a:buClr>
              <a:buSzPct val="80000"/>
              <a:buNone/>
            </a:pPr>
            <a:r>
              <a:rPr lang="en-US" altLang="zh-CN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h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) = </a:t>
            </a:r>
            <a:r>
              <a:rPr lang="en-US" altLang="zh-CN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T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h</a:t>
            </a:r>
            <a:r>
              <a:rPr lang="en-US" altLang="zh-CN" i="1" baseline="-2500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i="1" dirty="0" err="1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nT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</a:p>
          <a:p>
            <a:pPr marL="0" indent="0">
              <a:lnSpc>
                <a:spcPct val="150000"/>
              </a:lnSpc>
              <a:buClr>
                <a:srgbClr val="1F3C6B"/>
              </a:buClr>
              <a:buSzPct val="80000"/>
              <a:buNone/>
            </a:pP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lang="en-US" altLang="zh-CN" i="1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T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为抽样周期。</a:t>
            </a:r>
            <a:endParaRPr lang="zh-CN" altLang="en-US" b="1" dirty="0">
              <a:solidFill>
                <a:srgbClr val="FF0000"/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23025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8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atin typeface="+mn-lt"/>
              </a:rPr>
              <a:t>步骤</a:t>
            </a:r>
            <a:r>
              <a:rPr lang="en-US" altLang="zh-CN" dirty="0">
                <a:latin typeface="+mn-lt"/>
              </a:rPr>
              <a:t>5</a:t>
            </a:r>
            <a:endParaRPr lang="zh-CN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2E03-449A-46D8-B4BA-EA8F07A62D08}" type="datetime5">
              <a:rPr kumimoji="1" lang="zh-CN" altLang="en-US" smtClean="0">
                <a:ea typeface="微软雅黑" panose="020B0503020204020204" pitchFamily="34" charset="-122"/>
              </a:rPr>
              <a:t>2026/5/13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8185F7-CD79-4E60-AB90-E32E7C2BED68}"/>
              </a:ext>
            </a:extLst>
          </p:cNvPr>
          <p:cNvSpPr txBox="1"/>
          <p:nvPr/>
        </p:nvSpPr>
        <p:spPr>
          <a:xfrm>
            <a:off x="0" y="229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7.2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IIR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数字滤波器设计步骤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3A2BBB2D-3E83-2B1C-4FEC-C73E2B910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800"/>
            <a:ext cx="8147248" cy="648072"/>
          </a:xfrm>
        </p:spPr>
        <p:txBody>
          <a:bodyPr>
            <a:noAutofit/>
          </a:bodyPr>
          <a:lstStyle/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假设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H</a:t>
            </a:r>
            <a:r>
              <a:rPr lang="en-US" altLang="zh-CN" sz="2800" i="1" baseline="-250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a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s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)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是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h</a:t>
            </a:r>
            <a:r>
              <a:rPr lang="en-US" altLang="zh-CN" sz="2800" i="1" baseline="-250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a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t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)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的拉氏变换，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H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z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)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是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h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)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Z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变换，则</a:t>
            </a:r>
            <a:r>
              <a:rPr lang="zh-CN" altLang="en-US" sz="2800" b="1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冲激响应不变法</a:t>
            </a:r>
            <a:r>
              <a:rPr lang="zh-CN" altLang="en-US" sz="2800" b="1" dirty="0">
                <a:solidFill>
                  <a:srgbClr val="2112E0"/>
                </a:solidFill>
                <a:ea typeface="微软雅黑" panose="020B0503020204020204" charset="-122"/>
                <a:sym typeface="+mn-ea"/>
              </a:rPr>
              <a:t>的实现流程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为：</a:t>
            </a:r>
          </a:p>
          <a:p>
            <a:pPr marL="0" indent="0" algn="ctr">
              <a:buClr>
                <a:srgbClr val="1F3C6B"/>
              </a:buClr>
              <a:buSzPct val="80000"/>
              <a:buNone/>
            </a:pP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H</a:t>
            </a:r>
            <a:r>
              <a:rPr lang="en-US" altLang="zh-CN" sz="2800" i="1" baseline="-250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a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s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) 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→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h</a:t>
            </a:r>
            <a:r>
              <a:rPr lang="en-US" altLang="zh-CN" sz="2800" i="1" baseline="-250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a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t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) 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→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h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) 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→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H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z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)</a:t>
            </a:r>
          </a:p>
          <a:p>
            <a:pPr marL="0" indent="0">
              <a:buClr>
                <a:srgbClr val="1F3C6B"/>
              </a:buClr>
              <a:buSzPct val="80000"/>
              <a:buNone/>
            </a:pP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    假设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H</a:t>
            </a:r>
            <a:r>
              <a:rPr lang="en-US" altLang="zh-CN" sz="2800" i="1" baseline="-250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a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s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)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可展开成部分分式：</a:t>
            </a:r>
          </a:p>
          <a:p>
            <a:pPr marL="0" indent="0">
              <a:buClr>
                <a:srgbClr val="1F3C6B"/>
              </a:buClr>
              <a:buSzPct val="80000"/>
              <a:buNone/>
            </a:pPr>
            <a:endParaRPr lang="zh-CN" altLang="en-US" sz="2800" dirty="0">
              <a:solidFill>
                <a:schemeClr val="tx1"/>
              </a:solidFill>
              <a:ea typeface="微软雅黑" panose="020B0503020204020204" charset="-122"/>
              <a:sym typeface="+mn-ea"/>
            </a:endParaRPr>
          </a:p>
          <a:p>
            <a:pPr marL="0" indent="0">
              <a:buClr>
                <a:srgbClr val="1F3C6B"/>
              </a:buClr>
              <a:buSzPct val="80000"/>
              <a:buNone/>
            </a:pPr>
            <a:endParaRPr lang="zh-CN" altLang="en-US" sz="2800" dirty="0">
              <a:solidFill>
                <a:schemeClr val="tx1"/>
              </a:solidFill>
              <a:ea typeface="微软雅黑" panose="020B0503020204020204" charset="-122"/>
              <a:sym typeface="+mn-ea"/>
            </a:endParaRPr>
          </a:p>
          <a:p>
            <a:pPr marL="0" indent="0">
              <a:buClr>
                <a:srgbClr val="1F3C6B"/>
              </a:buClr>
              <a:buSzPct val="80000"/>
              <a:buNone/>
            </a:pP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    根据</a:t>
            </a:r>
            <a:r>
              <a:rPr lang="zh-CN" altLang="en-US" sz="2800" b="1" dirty="0">
                <a:ea typeface="微软雅黑" panose="020B0503020204020204" charset="-122"/>
                <a:sym typeface="+mn-ea"/>
              </a:rPr>
              <a:t>冲激响应不变法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的流程，可得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IIR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数字滤波器</a:t>
            </a:r>
            <a:endParaRPr lang="en-US" altLang="zh-CN" sz="2800" dirty="0">
              <a:solidFill>
                <a:schemeClr val="tx1"/>
              </a:solidFill>
              <a:ea typeface="微软雅黑" panose="020B0503020204020204" charset="-122"/>
              <a:sym typeface="+mn-ea"/>
            </a:endParaRPr>
          </a:p>
          <a:p>
            <a:pPr marL="0" indent="0">
              <a:buClr>
                <a:srgbClr val="1F3C6B"/>
              </a:buClr>
              <a:buSzPct val="80000"/>
              <a:buNone/>
            </a:pPr>
            <a:r>
              <a:rPr lang="en-US" altLang="zh-CN" dirty="0">
                <a:ea typeface="微软雅黑" panose="020B0503020204020204" charset="-122"/>
                <a:sym typeface="+mn-ea"/>
              </a:rPr>
              <a:t>    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的系数函数为：</a:t>
            </a:r>
          </a:p>
        </p:txBody>
      </p:sp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59027950-11BA-7C14-9267-B3387CD3F1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058420"/>
              </p:ext>
            </p:extLst>
          </p:nvPr>
        </p:nvGraphicFramePr>
        <p:xfrm>
          <a:off x="3356383" y="3634498"/>
          <a:ext cx="2448272" cy="946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035175" imgH="753110" progId="Equation.DSMT4">
                  <p:embed/>
                </p:oleObj>
              </mc:Choice>
              <mc:Fallback>
                <p:oleObj r:id="rId3" imgW="2035175" imgH="753110" progId="Equation.DSMT4">
                  <p:embed/>
                  <p:pic>
                    <p:nvPicPr>
                      <p:cNvPr id="18436" name="Object 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FFFFCC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56383" y="3634498"/>
                        <a:ext cx="2448272" cy="9466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53BD9C69-FA8E-7A5D-0238-4270DC3448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039837"/>
              </p:ext>
            </p:extLst>
          </p:nvPr>
        </p:nvGraphicFramePr>
        <p:xfrm>
          <a:off x="3075886" y="5301208"/>
          <a:ext cx="3009265" cy="1002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295400" imgH="431800" progId="Equation.3">
                  <p:embed/>
                </p:oleObj>
              </mc:Choice>
              <mc:Fallback>
                <p:oleObj r:id="rId5" imgW="1295400" imgH="431800" progId="Equation.3">
                  <p:embed/>
                  <p:pic>
                    <p:nvPicPr>
                      <p:cNvPr id="19464" name="Object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75886" y="5301208"/>
                        <a:ext cx="3009265" cy="10026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3268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9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atin typeface="+mn-lt"/>
              </a:rPr>
              <a:t>相关函数</a:t>
            </a:r>
            <a:endParaRPr lang="zh-CN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BDB2E-96F6-4B42-B770-EDD3ACAD952B}" type="datetime5">
              <a:rPr kumimoji="1" lang="zh-CN" altLang="en-US" smtClean="0">
                <a:ea typeface="微软雅黑" panose="020B0503020204020204" pitchFamily="34" charset="-122"/>
              </a:rPr>
              <a:t>2026/5/13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8185F7-CD79-4E60-AB90-E32E7C2BED68}"/>
              </a:ext>
            </a:extLst>
          </p:cNvPr>
          <p:cNvSpPr txBox="1"/>
          <p:nvPr/>
        </p:nvSpPr>
        <p:spPr>
          <a:xfrm>
            <a:off x="0" y="229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7.2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IIR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数字滤波器设计步骤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3A2BBB2D-3E83-2B1C-4FEC-C73E2B910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16832"/>
            <a:ext cx="8147248" cy="648072"/>
          </a:xfrm>
        </p:spPr>
        <p:txBody>
          <a:bodyPr>
            <a:noAutofit/>
          </a:bodyPr>
          <a:lstStyle/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dirty="0">
                <a:ea typeface="微软雅黑" panose="020B0503020204020204" charset="-122"/>
                <a:sym typeface="+mn-ea"/>
              </a:rPr>
              <a:t>步骤</a:t>
            </a:r>
            <a:r>
              <a:rPr lang="en-US" altLang="zh-CN" dirty="0">
                <a:ea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[N, </a:t>
            </a:r>
            <a:r>
              <a:rPr lang="en-US" altLang="zh-CN" sz="2800" dirty="0" err="1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Wn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]=</a:t>
            </a:r>
            <a:r>
              <a:rPr lang="en-US" altLang="zh-CN" sz="2800" dirty="0" err="1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buttord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800" dirty="0" err="1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Wp,Ws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, Rp, Rs</a:t>
            </a:r>
            <a:r>
              <a:rPr lang="en-US" altLang="zh-CN" dirty="0">
                <a:ea typeface="微软雅黑" panose="020B0503020204020204" charset="-122"/>
                <a:sym typeface="+mn-ea"/>
              </a:rPr>
              <a:t>,</a:t>
            </a:r>
            <a:r>
              <a:rPr lang="zh-CN" altLang="en-US" dirty="0">
                <a:ea typeface="微软雅黑" panose="020B0503020204020204" charset="-122"/>
                <a:sym typeface="+mn-ea"/>
              </a:rPr>
              <a:t> </a:t>
            </a:r>
            <a:r>
              <a:rPr lang="en-US" altLang="zh-CN" b="0" i="0" u="none" strike="noStrike" baseline="0" dirty="0">
                <a:solidFill>
                  <a:srgbClr val="A020F0"/>
                </a:solidFill>
                <a:latin typeface="+mj-lt"/>
                <a:ea typeface="Microsoft YaHei UI" panose="020B0503020204020204" pitchFamily="34" charset="-122"/>
              </a:rPr>
              <a:t>'s'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); </a:t>
            </a:r>
          </a:p>
          <a:p>
            <a:pPr lvl="1">
              <a:buClr>
                <a:srgbClr val="1F3C6B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模拟巴特沃斯滤波器阶数选择函数。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Wp</a:t>
            </a:r>
            <a:r>
              <a:rPr lang="en-US" altLang="zh-CN" dirty="0">
                <a:ea typeface="微软雅黑" panose="020B0503020204020204" charset="-122"/>
                <a:sym typeface="+mn-ea"/>
              </a:rPr>
              <a:t>,</a:t>
            </a:r>
            <a:r>
              <a:rPr lang="zh-CN" altLang="en-US" dirty="0">
                <a:ea typeface="微软雅黑" panose="020B0503020204020204" charset="-122"/>
                <a:sym typeface="+mn-ea"/>
              </a:rPr>
              <a:t> </a:t>
            </a:r>
            <a:r>
              <a:rPr lang="en-US" altLang="zh-CN" dirty="0" err="1">
                <a:ea typeface="微软雅黑" panose="020B0503020204020204" charset="-122"/>
                <a:sym typeface="+mn-ea"/>
              </a:rPr>
              <a:t>Ws</a:t>
            </a:r>
            <a:r>
              <a:rPr lang="zh-CN" altLang="en-US" dirty="0">
                <a:ea typeface="微软雅黑" panose="020B0503020204020204" charset="-122"/>
                <a:sym typeface="+mn-ea"/>
              </a:rPr>
              <a:t>分别是模拟滤波器的通带截止频率和阻带截止频率；</a:t>
            </a:r>
            <a:r>
              <a:rPr lang="en-US" altLang="zh-CN" dirty="0">
                <a:ea typeface="微软雅黑" panose="020B0503020204020204" charset="-122"/>
                <a:sym typeface="+mn-ea"/>
              </a:rPr>
              <a:t>Rp, Rs</a:t>
            </a:r>
            <a:r>
              <a:rPr lang="zh-CN" altLang="en-US" dirty="0">
                <a:ea typeface="微软雅黑" panose="020B0503020204020204" charset="-122"/>
                <a:sym typeface="+mn-ea"/>
              </a:rPr>
              <a:t>分别表示通带允许最大衰落和阻带允许最小衰减；</a:t>
            </a:r>
            <a:r>
              <a:rPr lang="en-US" altLang="zh-CN" b="0" i="0" u="none" strike="noStrike" baseline="0" dirty="0">
                <a:solidFill>
                  <a:srgbClr val="A020F0"/>
                </a:solidFill>
                <a:latin typeface="+mj-lt"/>
                <a:ea typeface="Microsoft YaHei UI" panose="020B0503020204020204" pitchFamily="34" charset="-122"/>
              </a:rPr>
              <a:t>'s'</a:t>
            </a:r>
            <a:r>
              <a:rPr lang="zh-CN" altLang="en-US" dirty="0">
                <a:ea typeface="微软雅黑" panose="020B0503020204020204" charset="-122"/>
                <a:sym typeface="+mn-ea"/>
              </a:rPr>
              <a:t>表示此时计算对象是模拟滤波器。输出参数</a:t>
            </a:r>
            <a:r>
              <a:rPr lang="en-US" altLang="zh-CN" dirty="0">
                <a:ea typeface="微软雅黑" panose="020B0503020204020204" charset="-122"/>
                <a:sym typeface="+mn-ea"/>
              </a:rPr>
              <a:t>N</a:t>
            </a:r>
            <a:r>
              <a:rPr lang="zh-CN" altLang="en-US" dirty="0">
                <a:ea typeface="微软雅黑" panose="020B0503020204020204" charset="-122"/>
                <a:sym typeface="+mn-ea"/>
              </a:rPr>
              <a:t>表示巴特沃斯低通原型滤波器阶数；</a:t>
            </a:r>
            <a:r>
              <a:rPr lang="en-US" altLang="zh-CN" dirty="0" err="1">
                <a:ea typeface="微软雅黑" panose="020B0503020204020204" charset="-122"/>
                <a:sym typeface="+mn-ea"/>
              </a:rPr>
              <a:t>Wn</a:t>
            </a:r>
            <a:r>
              <a:rPr lang="zh-CN" altLang="en-US" dirty="0">
                <a:ea typeface="微软雅黑" panose="020B0503020204020204" charset="-122"/>
                <a:sym typeface="+mn-ea"/>
              </a:rPr>
              <a:t>表示</a:t>
            </a:r>
            <a:r>
              <a:rPr lang="en-US" altLang="zh-CN" dirty="0">
                <a:ea typeface="微软雅黑" panose="020B0503020204020204" charset="-122"/>
                <a:sym typeface="+mn-ea"/>
              </a:rPr>
              <a:t>3 dB</a:t>
            </a:r>
            <a:r>
              <a:rPr lang="zh-CN" altLang="en-US" dirty="0">
                <a:ea typeface="微软雅黑" panose="020B0503020204020204" charset="-122"/>
                <a:sym typeface="+mn-ea"/>
              </a:rPr>
              <a:t>截止频率</a:t>
            </a:r>
            <a:r>
              <a:rPr lang="en-US" altLang="zh-CN" dirty="0" err="1">
                <a:ea typeface="微软雅黑" panose="020B0503020204020204" charset="-122"/>
                <a:sym typeface="+mn-ea"/>
              </a:rPr>
              <a:t>Ω</a:t>
            </a:r>
            <a:r>
              <a:rPr lang="en-US" altLang="zh-CN" baseline="-25000" dirty="0" err="1">
                <a:ea typeface="微软雅黑" panose="020B0503020204020204" charset="-122"/>
                <a:sym typeface="+mn-ea"/>
              </a:rPr>
              <a:t>c</a:t>
            </a:r>
            <a:r>
              <a:rPr lang="zh-CN" altLang="en-US" dirty="0">
                <a:ea typeface="微软雅黑" panose="020B0503020204020204" charset="-122"/>
                <a:sym typeface="+mn-ea"/>
              </a:rPr>
              <a:t>。</a:t>
            </a:r>
            <a:endParaRPr lang="en-US" altLang="zh-CN" dirty="0">
              <a:solidFill>
                <a:schemeClr val="tx1"/>
              </a:solidFill>
              <a:ea typeface="微软雅黑" panose="020B0503020204020204" charset="-122"/>
              <a:sym typeface="+mn-ea"/>
            </a:endParaRPr>
          </a:p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步骤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[B, A]=butter(</a:t>
            </a:r>
            <a:r>
              <a:rPr lang="en-US" altLang="zh-CN" sz="2800" dirty="0" err="1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N,Wn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, </a:t>
            </a:r>
            <a:r>
              <a:rPr lang="en-US" altLang="zh-CN" b="0" i="0" u="none" strike="noStrike" baseline="0" dirty="0">
                <a:solidFill>
                  <a:srgbClr val="A020F0"/>
                </a:solidFill>
                <a:latin typeface="+mj-lt"/>
                <a:ea typeface="Microsoft YaHei UI" panose="020B0503020204020204" pitchFamily="34" charset="-122"/>
              </a:rPr>
              <a:t>'s'</a:t>
            </a:r>
            <a:r>
              <a:rPr lang="en-US" altLang="zh-CN" sz="28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);  </a:t>
            </a:r>
          </a:p>
          <a:p>
            <a:pPr lvl="1">
              <a:buClr>
                <a:srgbClr val="1F3C6B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>
                <a:ea typeface="微软雅黑" panose="020B0503020204020204" charset="-122"/>
                <a:sym typeface="+mn-ea"/>
              </a:rPr>
              <a:t>设计</a:t>
            </a:r>
            <a:r>
              <a:rPr lang="en-US" altLang="zh-CN" dirty="0">
                <a:ea typeface="微软雅黑" panose="020B0503020204020204" charset="-122"/>
                <a:sym typeface="+mn-ea"/>
              </a:rPr>
              <a:t>N</a:t>
            </a:r>
            <a:r>
              <a:rPr lang="zh-CN" altLang="en-US" dirty="0">
                <a:ea typeface="微软雅黑" panose="020B0503020204020204" charset="-122"/>
                <a:sym typeface="+mn-ea"/>
              </a:rPr>
              <a:t>阶巴特沃斯低通模拟滤波器函数。</a:t>
            </a:r>
            <a:r>
              <a:rPr lang="en-US" altLang="zh-CN" dirty="0">
                <a:ea typeface="微软雅黑" panose="020B0503020204020204" charset="-122"/>
                <a:sym typeface="+mn-ea"/>
              </a:rPr>
              <a:t>B,</a:t>
            </a:r>
            <a:r>
              <a:rPr lang="zh-CN" altLang="en-US" dirty="0">
                <a:ea typeface="微软雅黑" panose="020B0503020204020204" charset="-122"/>
                <a:sym typeface="+mn-ea"/>
              </a:rPr>
              <a:t> </a:t>
            </a:r>
            <a:r>
              <a:rPr lang="en-US" altLang="zh-CN" dirty="0">
                <a:ea typeface="微软雅黑" panose="020B0503020204020204" charset="-122"/>
                <a:sym typeface="+mn-ea"/>
              </a:rPr>
              <a:t>A</a:t>
            </a:r>
            <a:r>
              <a:rPr lang="zh-CN" altLang="en-US" dirty="0">
                <a:ea typeface="微软雅黑" panose="020B0503020204020204" charset="-122"/>
                <a:sym typeface="+mn-ea"/>
              </a:rPr>
              <a:t>表示设计的滤波器传递函数</a:t>
            </a:r>
            <a:r>
              <a:rPr lang="en-US" altLang="zh-CN" sz="24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H</a:t>
            </a:r>
            <a:r>
              <a:rPr lang="en-US" altLang="zh-CN" sz="2400" i="1" baseline="-250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a</a:t>
            </a:r>
            <a:r>
              <a:rPr lang="en-US" altLang="zh-CN" sz="24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s</a:t>
            </a:r>
            <a:r>
              <a:rPr lang="en-US" altLang="zh-CN" sz="24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)</a:t>
            </a:r>
            <a:r>
              <a:rPr lang="zh-CN" altLang="en-US" dirty="0">
                <a:ea typeface="微软雅黑" panose="020B0503020204020204" charset="-122"/>
                <a:sym typeface="+mn-ea"/>
              </a:rPr>
              <a:t>的分子分母多项式系数向量。</a:t>
            </a:r>
            <a:endParaRPr lang="en-US" altLang="zh-CN" dirty="0">
              <a:solidFill>
                <a:schemeClr val="tx1"/>
              </a:solidFill>
              <a:ea typeface="微软雅黑" panose="020B050302020402020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77197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10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atin typeface="+mn-lt"/>
              </a:rPr>
              <a:t>相关函数</a:t>
            </a:r>
            <a:endParaRPr lang="zh-CN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B0D7E-F8FA-4DD6-BF0E-6B6CCE5C49E5}" type="datetime5">
              <a:rPr kumimoji="1" lang="zh-CN" altLang="en-US" smtClean="0">
                <a:ea typeface="微软雅黑" panose="020B0503020204020204" pitchFamily="34" charset="-122"/>
              </a:rPr>
              <a:t>2026/5/13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8185F7-CD79-4E60-AB90-E32E7C2BED68}"/>
              </a:ext>
            </a:extLst>
          </p:cNvPr>
          <p:cNvSpPr txBox="1"/>
          <p:nvPr/>
        </p:nvSpPr>
        <p:spPr>
          <a:xfrm>
            <a:off x="0" y="229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7.2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IIR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数字滤波器设计步骤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3A2BBB2D-3E83-2B1C-4FEC-C73E2B910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8"/>
            <a:ext cx="8147248" cy="648072"/>
          </a:xfrm>
        </p:spPr>
        <p:txBody>
          <a:bodyPr>
            <a:noAutofit/>
          </a:bodyPr>
          <a:lstStyle/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dirty="0">
                <a:ea typeface="微软雅黑" panose="020B0503020204020204" charset="-122"/>
                <a:sym typeface="+mn-ea"/>
              </a:rPr>
              <a:t>步骤</a:t>
            </a:r>
            <a:r>
              <a:rPr lang="en-US" altLang="zh-CN" dirty="0">
                <a:ea typeface="微软雅黑" panose="020B0503020204020204" charset="-122"/>
                <a:sym typeface="+mn-ea"/>
              </a:rPr>
              <a:t>5</a:t>
            </a:r>
            <a:r>
              <a:rPr lang="zh-CN" altLang="en-US" dirty="0">
                <a:ea typeface="微软雅黑" panose="020B0503020204020204" charset="-122"/>
                <a:sym typeface="+mn-ea"/>
              </a:rPr>
              <a:t>：</a:t>
            </a:r>
            <a:r>
              <a:rPr lang="en-US" altLang="zh-CN" dirty="0">
                <a:ea typeface="微软雅黑" panose="020B0503020204020204" charset="-122"/>
                <a:sym typeface="+mn-ea"/>
              </a:rPr>
              <a:t>[</a:t>
            </a:r>
            <a:r>
              <a:rPr lang="en-US" altLang="zh-CN" dirty="0" err="1">
                <a:ea typeface="微软雅黑" panose="020B0503020204020204" charset="-122"/>
                <a:sym typeface="+mn-ea"/>
              </a:rPr>
              <a:t>Bz</a:t>
            </a:r>
            <a:r>
              <a:rPr lang="en-US" altLang="zh-CN" dirty="0">
                <a:ea typeface="微软雅黑" panose="020B0503020204020204" charset="-122"/>
                <a:sym typeface="+mn-ea"/>
              </a:rPr>
              <a:t>, Az]=</a:t>
            </a:r>
            <a:r>
              <a:rPr lang="en-US" altLang="zh-CN" dirty="0" err="1">
                <a:ea typeface="微软雅黑" panose="020B0503020204020204" charset="-122"/>
                <a:sym typeface="+mn-ea"/>
              </a:rPr>
              <a:t>impinvar</a:t>
            </a:r>
            <a:r>
              <a:rPr lang="en-US" altLang="zh-CN" dirty="0">
                <a:ea typeface="微软雅黑" panose="020B0503020204020204" charset="-122"/>
                <a:sym typeface="+mn-ea"/>
              </a:rPr>
              <a:t>(B, A, Fs);</a:t>
            </a:r>
          </a:p>
          <a:p>
            <a:pPr lvl="1">
              <a:buClr>
                <a:srgbClr val="1F3C6B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>
                <a:ea typeface="微软雅黑" panose="020B0503020204020204" charset="-122"/>
                <a:sym typeface="+mn-ea"/>
              </a:rPr>
              <a:t>冲激响应不变法函数。</a:t>
            </a:r>
            <a:r>
              <a:rPr lang="en-US" altLang="zh-CN" dirty="0" err="1">
                <a:ea typeface="微软雅黑" panose="020B0503020204020204" charset="-122"/>
                <a:sym typeface="+mn-ea"/>
              </a:rPr>
              <a:t>Bz</a:t>
            </a:r>
            <a:r>
              <a:rPr lang="en-US" altLang="zh-CN" dirty="0">
                <a:ea typeface="微软雅黑" panose="020B0503020204020204" charset="-122"/>
                <a:sym typeface="+mn-ea"/>
              </a:rPr>
              <a:t>, Az</a:t>
            </a:r>
            <a:r>
              <a:rPr lang="zh-CN" altLang="en-US" dirty="0">
                <a:ea typeface="微软雅黑" panose="020B0503020204020204" charset="-122"/>
                <a:sym typeface="+mn-ea"/>
              </a:rPr>
              <a:t>表示通过冲激相应不变法得到的数字滤波器系统函数</a:t>
            </a:r>
            <a:r>
              <a:rPr lang="en-US" altLang="zh-CN" sz="24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H</a:t>
            </a:r>
            <a:r>
              <a:rPr lang="en-US" altLang="zh-CN" sz="24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z</a:t>
            </a:r>
            <a:r>
              <a:rPr lang="en-US" altLang="zh-CN" sz="24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)</a:t>
            </a:r>
            <a:r>
              <a:rPr lang="zh-CN" altLang="en-US" dirty="0">
                <a:ea typeface="微软雅黑" panose="020B0503020204020204" charset="-122"/>
                <a:sym typeface="+mn-ea"/>
              </a:rPr>
              <a:t>的分子分母多项式系数向量。</a:t>
            </a:r>
          </a:p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endParaRPr lang="zh-CN" altLang="en-US" sz="2800" dirty="0">
              <a:solidFill>
                <a:schemeClr val="tx1"/>
              </a:solidFill>
              <a:ea typeface="微软雅黑" panose="020B050302020402020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45874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11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</a:rPr>
              <a:t>IIR</a:t>
            </a:r>
            <a:r>
              <a:rPr lang="zh-CN" altLang="en-US" dirty="0">
                <a:latin typeface="+mn-lt"/>
              </a:rPr>
              <a:t>数字滤波器的实现</a:t>
            </a:r>
            <a:endParaRPr lang="zh-CN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9E663-5BAC-49BD-A2CF-DF7C2A9316E6}" type="datetime5">
              <a:rPr kumimoji="1" lang="zh-CN" altLang="en-US" smtClean="0">
                <a:ea typeface="微软雅黑" panose="020B0503020204020204" pitchFamily="34" charset="-122"/>
              </a:rPr>
              <a:t>2026/5/13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8185F7-CD79-4E60-AB90-E32E7C2BED68}"/>
              </a:ext>
            </a:extLst>
          </p:cNvPr>
          <p:cNvSpPr txBox="1"/>
          <p:nvPr/>
        </p:nvSpPr>
        <p:spPr>
          <a:xfrm>
            <a:off x="0" y="229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7.2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IIR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数字滤波器设计步骤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CA8DD6D-66D1-5B73-11E6-F0025A6E7F93}"/>
              </a:ext>
            </a:extLst>
          </p:cNvPr>
          <p:cNvSpPr txBox="1">
            <a:spLocks/>
          </p:cNvSpPr>
          <p:nvPr/>
        </p:nvSpPr>
        <p:spPr>
          <a:xfrm>
            <a:off x="457200" y="1603478"/>
            <a:ext cx="8219256" cy="6013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2400" dirty="0">
                <a:solidFill>
                  <a:srgbClr val="000000"/>
                </a:solidFill>
                <a:ea typeface="微软雅黑" panose="020B0503020204020204" charset="-122"/>
                <a:cs typeface="微软雅黑" panose="020B0503020204020204" charset="-122"/>
              </a:rPr>
              <a:t>用冲激响应不变法，设计一个巴特沃斯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数字低通滤波器，要求通带频率低于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100Hz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时，允许幅度误差在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1 dB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之内；频率大于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150Hz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的阻带内，衰减大于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15dB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。抽样周期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 = 1ms</a:t>
            </a:r>
            <a:r>
              <a:rPr lang="zh-CN" altLang="en-US" sz="2400" dirty="0">
                <a:solidFill>
                  <a:schemeClr val="tx1"/>
                </a:solidFill>
              </a:rPr>
              <a:t>。</a:t>
            </a:r>
            <a:r>
              <a:rPr kumimoji="0" lang="en-US" altLang="zh-CN" sz="2400" dirty="0">
                <a:solidFill>
                  <a:srgbClr val="FF0000"/>
                </a:solidFill>
                <a:cs typeface="+mn-ea"/>
                <a:sym typeface="+mn-lt"/>
              </a:rPr>
              <a:t> </a:t>
            </a:r>
            <a:endParaRPr kumimoji="0" lang="zh-CN" altLang="en-US" sz="24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6513153-BF35-0576-9CDC-783EE3A1B9BF}"/>
              </a:ext>
            </a:extLst>
          </p:cNvPr>
          <p:cNvSpPr txBox="1"/>
          <p:nvPr/>
        </p:nvSpPr>
        <p:spPr>
          <a:xfrm>
            <a:off x="827584" y="3143952"/>
            <a:ext cx="619268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clc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; clear; close 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all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; 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T = 0.001; fc =1/T; 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%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抽样频率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ap=1; as=15; 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fp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 = 100; fs = 150; 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%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数字滤波器的技术指标要求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wp = 2*pi*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fp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/fc; 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%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数字滤波器通带截止频率</a:t>
            </a:r>
          </a:p>
          <a:p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ws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 = 2*pi*fs/fc;  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%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数字滤波器阻带截止频率</a:t>
            </a:r>
          </a:p>
          <a:p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% * * * * *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采用冲激响应不变法* * * * *</a:t>
            </a:r>
          </a:p>
          <a:p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%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要求数字滤波器技术指标转化成模拟滤波器技术指标</a:t>
            </a:r>
          </a:p>
          <a:p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Wanp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 = wp*fc;     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%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通带截止频率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Wans = 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ws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*fc;      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%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阻带截止频率</a:t>
            </a:r>
          </a:p>
          <a:p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%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设计模拟滤波器</a:t>
            </a:r>
            <a:r>
              <a:rPr lang="zh-CN" altLang="en-US" sz="1400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阶数和截止频率</a:t>
            </a:r>
            <a:endParaRPr lang="zh-CN" altLang="en-US" sz="1400" b="0" i="0" u="none" strike="noStrike" dirty="0">
              <a:solidFill>
                <a:srgbClr val="228B22"/>
              </a:solidFill>
              <a:latin typeface="Times New Roman" panose="02020603050405020304" pitchFamily="18" charset="0"/>
              <a:ea typeface="Microsoft YaHei UI" panose="020B0503020204020204" pitchFamily="34" charset="-122"/>
            </a:endParaRP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[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N,Wanc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]=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buttord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(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Wanp,Wans,ap,as,</a:t>
            </a:r>
            <a:r>
              <a:rPr lang="en-US" altLang="zh-CN" sz="1400" b="0" i="0" u="none" strike="noStrike" dirty="0" err="1">
                <a:solidFill>
                  <a:srgbClr val="A020F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's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[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b,a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]=butter(N,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Wanc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's'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);  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%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设计模拟滤波器系统函数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Ha(s)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[B1,A1]=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impinvar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(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b,a,fc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); 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%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用冲激响应不变法设计数字滤波器系统函数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Hz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[H1,w1]=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freqz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(B1,A1,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'whole'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); </a:t>
            </a:r>
            <a:r>
              <a:rPr lang="en-US" altLang="zh-CN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%</a:t>
            </a:r>
            <a:r>
              <a:rPr lang="zh-CN" altLang="en-US" sz="1400" b="0" i="0" u="none" strike="noStrike" dirty="0">
                <a:solidFill>
                  <a:srgbClr val="228B22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求数字滤波器的频率响应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E92D75-E22A-2428-6397-3D68D3C14780}"/>
              </a:ext>
            </a:extLst>
          </p:cNvPr>
          <p:cNvSpPr txBox="1"/>
          <p:nvPr/>
        </p:nvSpPr>
        <p:spPr>
          <a:xfrm>
            <a:off x="5753455" y="3143952"/>
            <a:ext cx="302433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figure(1);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plot(w1*fc/2/pi,20*log10(abs(H1)));</a:t>
            </a:r>
          </a:p>
          <a:p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xlabel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'</a:t>
            </a:r>
            <a:r>
              <a:rPr lang="zh-CN" altLang="en-US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频率</a:t>
            </a:r>
            <a:r>
              <a:rPr lang="en-US" altLang="zh-CN" sz="1400" dirty="0">
                <a:solidFill>
                  <a:srgbClr val="A020F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 Hz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); 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ylabel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'</a:t>
            </a:r>
            <a:r>
              <a:rPr lang="zh-CN" altLang="en-US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幅值 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(dB)'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);</a:t>
            </a:r>
          </a:p>
          <a:p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title(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'</a:t>
            </a:r>
            <a:r>
              <a:rPr lang="zh-CN" altLang="en-US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冲激响应不变法设计的低通数字滤波器</a:t>
            </a:r>
            <a:r>
              <a:rPr lang="en-US" altLang="zh-CN" sz="14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'</a:t>
            </a:r>
            <a:r>
              <a:rPr lang="en-US" altLang="zh-CN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042241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12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</a:rPr>
              <a:t>IIR</a:t>
            </a:r>
            <a:r>
              <a:rPr lang="zh-CN" altLang="en-US" dirty="0">
                <a:latin typeface="+mn-lt"/>
              </a:rPr>
              <a:t>数字滤波器的实现</a:t>
            </a:r>
            <a:endParaRPr lang="zh-CN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16E15-A21C-4B53-8584-08AB9B68423F}" type="datetime5">
              <a:rPr kumimoji="1" lang="zh-CN" altLang="en-US" smtClean="0">
                <a:ea typeface="微软雅黑" panose="020B0503020204020204" pitchFamily="34" charset="-122"/>
              </a:rPr>
              <a:t>2026/5/13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44A4D73-CE7B-48F4-84F5-F3C5F342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DE9126-0BA8-8B53-53DF-542976EC9123}"/>
              </a:ext>
            </a:extLst>
          </p:cNvPr>
          <p:cNvSpPr txBox="1"/>
          <p:nvPr/>
        </p:nvSpPr>
        <p:spPr>
          <a:xfrm>
            <a:off x="0" y="229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7.2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IIR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数字滤波器设计步骤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C228D5E6-C3AB-3EC8-D99C-937D3EB6068E}"/>
              </a:ext>
            </a:extLst>
          </p:cNvPr>
          <p:cNvSpPr txBox="1">
            <a:spLocks/>
          </p:cNvSpPr>
          <p:nvPr/>
        </p:nvSpPr>
        <p:spPr>
          <a:xfrm>
            <a:off x="457200" y="1603478"/>
            <a:ext cx="8291264" cy="6013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F3C6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：</a:t>
            </a:r>
            <a:endParaRPr kumimoji="0" lang="zh-CN" altLang="en-US" sz="24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3846E1F-18DE-D276-C6D0-0D243D1083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572769"/>
            <a:ext cx="6297703" cy="472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11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3">
            <a:extLst>
              <a:ext uri="{FF2B5EF4-FFF2-40B4-BE49-F238E27FC236}">
                <a16:creationId xmlns:a16="http://schemas.microsoft.com/office/drawing/2014/main" id="{F23E3C06-05EA-46BF-901D-A18989B7B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4408" y="6354040"/>
            <a:ext cx="504056" cy="365125"/>
          </a:xfrm>
        </p:spPr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13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0E464E45-1196-41D8-9F24-E9EE42916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634678"/>
            <a:ext cx="8435280" cy="850106"/>
          </a:xfrm>
        </p:spPr>
        <p:txBody>
          <a:bodyPr>
            <a:normAutofit/>
          </a:bodyPr>
          <a:lstStyle/>
          <a:p>
            <a:pPr algn="just"/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4" name="日期占位符 1">
            <a:extLst>
              <a:ext uri="{FF2B5EF4-FFF2-40B4-BE49-F238E27FC236}">
                <a16:creationId xmlns:a16="http://schemas.microsoft.com/office/drawing/2014/main" id="{AC2B0691-6E91-4DC4-87DD-1E0A53D37C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4041"/>
            <a:ext cx="2133600" cy="365125"/>
          </a:xfrm>
        </p:spPr>
        <p:txBody>
          <a:bodyPr/>
          <a:lstStyle/>
          <a:p>
            <a:fld id="{3E32F520-DB63-40E8-A340-312733990C1D}" type="datetime5">
              <a:rPr kumimoji="1" lang="zh-CN" altLang="en-US" smtClean="0">
                <a:ea typeface="微软雅黑" panose="020B0503020204020204" pitchFamily="34" charset="-122"/>
              </a:rPr>
              <a:t>2026/5/13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03AB67B8-4413-4558-A767-D8E382061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B06795-378C-4349-92FB-10C6F8129C71}"/>
              </a:ext>
            </a:extLst>
          </p:cNvPr>
          <p:cNvSpPr/>
          <p:nvPr/>
        </p:nvSpPr>
        <p:spPr>
          <a:xfrm>
            <a:off x="674192" y="1455556"/>
            <a:ext cx="7920880" cy="3093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u"/>
            </a:pPr>
            <a:r>
              <a:rPr lang="en-US" altLang="zh-CN" sz="2800" dirty="0">
                <a:ea typeface="微软雅黑" panose="020B0503020204020204" pitchFamily="34" charset="-122"/>
              </a:rPr>
              <a:t>IIR</a:t>
            </a:r>
            <a:r>
              <a:rPr lang="zh-CN" altLang="en-US" sz="2800" dirty="0">
                <a:ea typeface="微软雅黑" panose="020B0503020204020204" pitchFamily="34" charset="-122"/>
              </a:rPr>
              <a:t>数字滤波器设计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ea typeface="微软雅黑" panose="020B0503020204020204" pitchFamily="34" charset="-122"/>
              </a:rPr>
              <a:t>冲激响应不变法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[N, </a:t>
            </a:r>
            <a:r>
              <a:rPr lang="en-US" altLang="zh-CN" sz="2000" dirty="0" err="1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Wn</a:t>
            </a:r>
            <a:r>
              <a:rPr lang="en-US" altLang="zh-CN" sz="20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]=</a:t>
            </a:r>
            <a:r>
              <a:rPr lang="en-US" altLang="zh-CN" sz="2000" dirty="0" err="1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buttord</a:t>
            </a:r>
            <a:r>
              <a:rPr lang="en-US" altLang="zh-CN" sz="20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000" dirty="0" err="1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Wp,Ws</a:t>
            </a:r>
            <a:r>
              <a:rPr lang="en-US" altLang="zh-CN" sz="20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, Rp, Rs</a:t>
            </a:r>
            <a:r>
              <a:rPr lang="en-US" altLang="zh-CN" sz="2000" dirty="0">
                <a:ea typeface="微软雅黑" panose="020B0503020204020204" charset="-122"/>
                <a:sym typeface="+mn-ea"/>
              </a:rPr>
              <a:t>,</a:t>
            </a:r>
            <a:r>
              <a:rPr lang="zh-CN" altLang="en-US" sz="2000" dirty="0"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b="0" i="0" u="none" strike="noStrike" baseline="0" dirty="0">
                <a:solidFill>
                  <a:srgbClr val="A020F0"/>
                </a:solidFill>
                <a:latin typeface="+mj-lt"/>
                <a:ea typeface="Microsoft YaHei UI" panose="020B0503020204020204" pitchFamily="34" charset="-122"/>
              </a:rPr>
              <a:t>'s'</a:t>
            </a:r>
            <a:r>
              <a:rPr lang="en-US" altLang="zh-CN" sz="20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)</a:t>
            </a:r>
            <a:endParaRPr lang="en-US" altLang="zh-CN" sz="2000" dirty="0"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[B, A]=butter(</a:t>
            </a:r>
            <a:r>
              <a:rPr lang="en-US" altLang="zh-CN" sz="2000" dirty="0" err="1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N,Wn</a:t>
            </a:r>
            <a:r>
              <a:rPr lang="en-US" altLang="zh-CN" sz="20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, </a:t>
            </a:r>
            <a:r>
              <a:rPr lang="en-US" altLang="zh-CN" sz="2000" b="0" i="0" u="none" strike="noStrike" baseline="0" dirty="0">
                <a:solidFill>
                  <a:srgbClr val="A020F0"/>
                </a:solidFill>
                <a:latin typeface="+mj-lt"/>
                <a:ea typeface="Microsoft YaHei UI" panose="020B0503020204020204" pitchFamily="34" charset="-122"/>
              </a:rPr>
              <a:t>'s'</a:t>
            </a:r>
            <a:r>
              <a:rPr lang="en-US" altLang="zh-CN" sz="2000" dirty="0">
                <a:solidFill>
                  <a:schemeClr val="tx1"/>
                </a:solidFill>
                <a:ea typeface="微软雅黑" panose="020B0503020204020204" charset="-122"/>
                <a:sym typeface="+mn-ea"/>
              </a:rPr>
              <a:t>)</a:t>
            </a:r>
            <a:endParaRPr lang="en-US" altLang="zh-CN" sz="2000" dirty="0"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ü"/>
            </a:pPr>
            <a:r>
              <a:rPr lang="en-US" altLang="zh-CN" sz="2000" dirty="0">
                <a:ea typeface="微软雅黑" panose="020B0503020204020204" charset="-122"/>
                <a:sym typeface="+mn-ea"/>
              </a:rPr>
              <a:t>[</a:t>
            </a:r>
            <a:r>
              <a:rPr lang="en-US" altLang="zh-CN" sz="2000" dirty="0" err="1">
                <a:ea typeface="微软雅黑" panose="020B0503020204020204" charset="-122"/>
                <a:sym typeface="+mn-ea"/>
              </a:rPr>
              <a:t>Bz</a:t>
            </a:r>
            <a:r>
              <a:rPr lang="en-US" altLang="zh-CN" sz="2000" dirty="0">
                <a:ea typeface="微软雅黑" panose="020B0503020204020204" charset="-122"/>
                <a:sym typeface="+mn-ea"/>
              </a:rPr>
              <a:t>, Az]=</a:t>
            </a:r>
            <a:r>
              <a:rPr lang="en-US" altLang="zh-CN" sz="2000" dirty="0" err="1">
                <a:ea typeface="微软雅黑" panose="020B0503020204020204" charset="-122"/>
                <a:sym typeface="+mn-ea"/>
              </a:rPr>
              <a:t>impinvar</a:t>
            </a:r>
            <a:r>
              <a:rPr lang="en-US" altLang="zh-CN" sz="2000" dirty="0">
                <a:ea typeface="微软雅黑" panose="020B0503020204020204" charset="-122"/>
                <a:sym typeface="+mn-ea"/>
              </a:rPr>
              <a:t>(B, A, Fs)</a:t>
            </a:r>
          </a:p>
          <a:p>
            <a:pPr marL="1371600" lvl="2" indent="-457200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ü"/>
            </a:pPr>
            <a:r>
              <a:rPr lang="en-US" altLang="zh-CN" sz="20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[H, w]=</a:t>
            </a:r>
            <a:r>
              <a:rPr lang="en-US" altLang="zh-CN" sz="20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freqz</a:t>
            </a:r>
            <a:r>
              <a:rPr lang="en-US" altLang="zh-CN" sz="20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(</a:t>
            </a:r>
            <a:r>
              <a:rPr lang="en-US" altLang="zh-CN" sz="2000" b="0" i="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Bz</a:t>
            </a:r>
            <a:r>
              <a:rPr lang="en-US" altLang="zh-CN" sz="20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, Az, </a:t>
            </a:r>
            <a:r>
              <a:rPr lang="en-US" altLang="zh-CN" sz="2000" b="0" i="0" u="none" strike="noStrike" dirty="0">
                <a:solidFill>
                  <a:srgbClr val="A020F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'whole'</a:t>
            </a:r>
            <a:r>
              <a:rPr lang="en-US" altLang="zh-CN" sz="20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</a:rPr>
              <a:t>)</a:t>
            </a:r>
            <a:endParaRPr lang="en-US" altLang="zh-CN" sz="2000" dirty="0">
              <a:ea typeface="微软雅黑" panose="020B0503020204020204" charset="-122"/>
              <a:sym typeface="+mn-ea"/>
            </a:endParaRPr>
          </a:p>
          <a:p>
            <a:pPr marL="1371600" lvl="2" indent="-457200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ü"/>
            </a:pPr>
            <a:endParaRPr lang="en-US" altLang="zh-CN" sz="2000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106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3">
            <a:extLst>
              <a:ext uri="{FF2B5EF4-FFF2-40B4-BE49-F238E27FC236}">
                <a16:creationId xmlns:a16="http://schemas.microsoft.com/office/drawing/2014/main" id="{E6B707FF-F62D-4F6D-9F90-3C74E7F76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4408" y="6354040"/>
            <a:ext cx="504056" cy="365125"/>
          </a:xfrm>
        </p:spPr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14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052F5C17-FF67-4C65-B478-35ADFB6D5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8877"/>
            <a:ext cx="8638480" cy="850106"/>
          </a:xfrm>
        </p:spPr>
        <p:txBody>
          <a:bodyPr>
            <a:normAutofit/>
          </a:bodyPr>
          <a:lstStyle/>
          <a:p>
            <a:pPr algn="just"/>
            <a:r>
              <a:rPr lang="zh-CN" altLang="en-US">
                <a:latin typeface="微软雅黑" panose="020B0503020204020204" pitchFamily="34" charset="-122"/>
              </a:rPr>
              <a:t>操作</a:t>
            </a:r>
            <a:r>
              <a:rPr lang="zh-CN" altLang="en-US"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验收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习题</a:t>
            </a:r>
          </a:p>
        </p:txBody>
      </p:sp>
      <p:sp>
        <p:nvSpPr>
          <p:cNvPr id="4" name="日期占位符 1">
            <a:extLst>
              <a:ext uri="{FF2B5EF4-FFF2-40B4-BE49-F238E27FC236}">
                <a16:creationId xmlns:a16="http://schemas.microsoft.com/office/drawing/2014/main" id="{6C4CE9AA-2545-4313-8557-97138AFC33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4041"/>
            <a:ext cx="2133600" cy="365125"/>
          </a:xfrm>
        </p:spPr>
        <p:txBody>
          <a:bodyPr/>
          <a:lstStyle/>
          <a:p>
            <a:fld id="{5A43E244-3947-462D-BAA6-F10681636BAA}" type="datetime5">
              <a:rPr kumimoji="1" lang="zh-CN" altLang="en-US" smtClean="0">
                <a:ea typeface="微软雅黑" panose="020B0503020204020204" pitchFamily="34" charset="-122"/>
              </a:rPr>
              <a:t>2026/5/13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C76F358C-6741-4C44-A753-2D8CBD896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FECEAE-B8C8-4E28-BDF5-B27652F763DC}"/>
              </a:ext>
            </a:extLst>
          </p:cNvPr>
          <p:cNvSpPr/>
          <p:nvPr/>
        </p:nvSpPr>
        <p:spPr>
          <a:xfrm>
            <a:off x="473283" y="1597341"/>
            <a:ext cx="8291264" cy="2103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7.1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设计低通数字滤波器，要求通带内频率低于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0.2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 rad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时，允许幅度误差在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1 dB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之内；频率在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0.3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到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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之间的阻带衰减大于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10dB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。试采用巴特沃斯模拟滤波器进行设计，用冲激响应不变法进行转换，采样间隔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 = 1ms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4351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ea typeface="微软雅黑" panose="020B0503020204020204" pitchFamily="34" charset="-122"/>
              </a:rPr>
              <a:t>15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435280" cy="850106"/>
          </a:xfrm>
        </p:spPr>
        <p:txBody>
          <a:bodyPr>
            <a:normAutofit/>
          </a:bodyPr>
          <a:lstStyle/>
          <a:p>
            <a:pPr algn="just"/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实验报告作业题和思考题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F4B8-99A1-425B-A114-DE0D5BD35343}" type="datetime5">
              <a:rPr kumimoji="1" lang="zh-CN" altLang="en-US" smtClean="0">
                <a:ea typeface="微软雅黑" panose="020B0503020204020204" pitchFamily="34" charset="-122"/>
              </a:rPr>
              <a:t>2026/5/13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5E0346-90EC-46F4-839F-1441F774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9D7B10-803E-EC88-E290-A04DF73B57A0}"/>
              </a:ext>
            </a:extLst>
          </p:cNvPr>
          <p:cNvSpPr/>
          <p:nvPr/>
        </p:nvSpPr>
        <p:spPr>
          <a:xfrm>
            <a:off x="457200" y="4581128"/>
            <a:ext cx="8291264" cy="4968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思考题：用冲激响应不变法设计的滤波器的优缺点分析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958FB1-8FDD-B942-8C4C-1D70D4AD0B6F}"/>
              </a:ext>
            </a:extLst>
          </p:cNvPr>
          <p:cNvSpPr/>
          <p:nvPr/>
        </p:nvSpPr>
        <p:spPr>
          <a:xfrm>
            <a:off x="473284" y="1597341"/>
            <a:ext cx="8059156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实验报告作业题：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6B8CE7-B115-DE3F-0D51-3FB5669803AD}"/>
              </a:ext>
            </a:extLst>
          </p:cNvPr>
          <p:cNvSpPr/>
          <p:nvPr/>
        </p:nvSpPr>
        <p:spPr>
          <a:xfrm>
            <a:off x="473283" y="2189635"/>
            <a:ext cx="8291264" cy="2103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7.1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设计低通数字滤波器，要求通带内频率低于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0.2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 rad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时，允许幅度误差在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1 dB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之内；频率在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0.3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到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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之间的阻带衰减大于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10dB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。试采用巴特沃斯模拟滤波器进行设计，用冲激响应不变法进行转换，采样间隔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 = 1ms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817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CD7C83-6035-4DDB-9A82-A52DBC88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>
                <a:ea typeface="微软雅黑" panose="020B0503020204020204" pitchFamily="34" charset="-122"/>
              </a:rPr>
              <a:pPr/>
              <a:t>16</a:t>
            </a:fld>
            <a:endParaRPr lang="ja-JP" altLang="en-US"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C4ECF5-1816-4FBA-9B9F-BAE983CF6C77}"/>
              </a:ext>
            </a:extLst>
          </p:cNvPr>
          <p:cNvSpPr txBox="1"/>
          <p:nvPr/>
        </p:nvSpPr>
        <p:spPr>
          <a:xfrm>
            <a:off x="2812758" y="2836918"/>
            <a:ext cx="42675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感 </a:t>
            </a:r>
            <a:r>
              <a:rPr lang="zh-CN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 聆 听！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FE4C1-2A6E-41DC-9045-827028EA861E}" type="datetime5">
              <a:rPr kumimoji="1" lang="zh-CN" altLang="en-US" smtClean="0">
                <a:ea typeface="微软雅黑" panose="020B0503020204020204" pitchFamily="34" charset="-122"/>
              </a:rPr>
              <a:t>2026/5/13</a:t>
            </a:fld>
            <a:endParaRPr kumimoji="1" lang="ja-JP" altLang="en-US">
              <a:ea typeface="微软雅黑" panose="020B0503020204020204" pitchFamily="34" charset="-122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C1CA41-D6FD-4C68-974F-8A8BE7A00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kumimoji="1" lang="zh-CN" altLang="en-US" dirty="0">
                <a:ea typeface="微软雅黑" panose="020B0503020204020204" pitchFamily="34" charset="-122"/>
              </a:rPr>
              <a:t>数字信号处理实验</a:t>
            </a:r>
            <a:endParaRPr kumimoji="1" lang="ja-JP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257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l roman">
      <a:majorFont>
        <a:latin typeface="Times New Roman"/>
        <a:ea typeface="Malgun Gothic"/>
        <a:cs typeface=""/>
      </a:majorFont>
      <a:minorFont>
        <a:latin typeface="Times New Roman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86965</TotalTime>
  <Words>1264</Words>
  <Application>Microsoft Office PowerPoint</Application>
  <PresentationFormat>全屏显示(4:3)</PresentationFormat>
  <Paragraphs>155</Paragraphs>
  <Slides>16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等线</vt:lpstr>
      <vt:lpstr>等线 Light</vt:lpstr>
      <vt:lpstr>宋体</vt:lpstr>
      <vt:lpstr>微软雅黑</vt:lpstr>
      <vt:lpstr>Arial</vt:lpstr>
      <vt:lpstr>Calibri</vt:lpstr>
      <vt:lpstr>Times New Roman</vt:lpstr>
      <vt:lpstr>Wingdings</vt:lpstr>
      <vt:lpstr>Office ​​テーマ</vt:lpstr>
      <vt:lpstr>自定义设计方案</vt:lpstr>
      <vt:lpstr>Equation</vt:lpstr>
      <vt:lpstr>Equation.KSEE3</vt:lpstr>
      <vt:lpstr>Equation.DSMT4</vt:lpstr>
      <vt:lpstr>Equation.3</vt:lpstr>
      <vt:lpstr>数字信号处理实验</vt:lpstr>
      <vt:lpstr>第7讲 IIR数字滤波器设计</vt:lpstr>
      <vt:lpstr>设计原理</vt:lpstr>
      <vt:lpstr>设计步骤</vt:lpstr>
      <vt:lpstr>步骤2</vt:lpstr>
      <vt:lpstr>步骤3~4</vt:lpstr>
      <vt:lpstr>步骤5</vt:lpstr>
      <vt:lpstr>步骤5</vt:lpstr>
      <vt:lpstr>相关函数</vt:lpstr>
      <vt:lpstr>相关函数</vt:lpstr>
      <vt:lpstr>IIR数字滤波器的实现</vt:lpstr>
      <vt:lpstr>IIR数字滤波器的实现</vt:lpstr>
      <vt:lpstr>总结</vt:lpstr>
      <vt:lpstr>操作验收习题</vt:lpstr>
      <vt:lpstr>实验报告作业题和思考题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Convergence Analysis of Iterative Decoder --Extrinsic Information Transfer(EXIT) Chart</dc:title>
  <dc:creator>lushan</dc:creator>
  <cp:lastModifiedBy>欣萌 魏</cp:lastModifiedBy>
  <cp:revision>4849</cp:revision>
  <cp:lastPrinted>2018-10-29T01:20:35Z</cp:lastPrinted>
  <dcterms:created xsi:type="dcterms:W3CDTF">2011-10-21T06:04:45Z</dcterms:created>
  <dcterms:modified xsi:type="dcterms:W3CDTF">2026-05-13T11:01:52Z</dcterms:modified>
</cp:coreProperties>
</file>