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7" r:id="rId2"/>
  </p:sldMasterIdLst>
  <p:notesMasterIdLst>
    <p:notesMasterId r:id="rId18"/>
  </p:notesMasterIdLst>
  <p:handoutMasterIdLst>
    <p:handoutMasterId r:id="rId19"/>
  </p:handoutMasterIdLst>
  <p:sldIdLst>
    <p:sldId id="391" r:id="rId3"/>
    <p:sldId id="507" r:id="rId4"/>
    <p:sldId id="634" r:id="rId5"/>
    <p:sldId id="635" r:id="rId6"/>
    <p:sldId id="746" r:id="rId7"/>
    <p:sldId id="758" r:id="rId8"/>
    <p:sldId id="759" r:id="rId9"/>
    <p:sldId id="747" r:id="rId10"/>
    <p:sldId id="760" r:id="rId11"/>
    <p:sldId id="750" r:id="rId12"/>
    <p:sldId id="622" r:id="rId13"/>
    <p:sldId id="740" r:id="rId14"/>
    <p:sldId id="537" r:id="rId15"/>
    <p:sldId id="538" r:id="rId16"/>
    <p:sldId id="493" r:id="rId17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美霖 何" initials="美霖" lastIdx="1" clrIdx="0">
    <p:extLst>
      <p:ext uri="{19B8F6BF-5375-455C-9EA6-DF929625EA0E}">
        <p15:presenceInfo xmlns:p15="http://schemas.microsoft.com/office/powerpoint/2012/main" userId="3dedb6142bad8f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2E0"/>
    <a:srgbClr val="F50BC8"/>
    <a:srgbClr val="287224"/>
    <a:srgbClr val="FF9900"/>
    <a:srgbClr val="19F808"/>
    <a:srgbClr val="348055"/>
    <a:srgbClr val="7F23DB"/>
    <a:srgbClr val="D27D00"/>
    <a:srgbClr val="0CD1F8"/>
    <a:srgbClr val="25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17" autoAdjust="0"/>
    <p:restoredTop sz="90840" autoAdjust="0"/>
  </p:normalViewPr>
  <p:slideViewPr>
    <p:cSldViewPr>
      <p:cViewPr varScale="1">
        <p:scale>
          <a:sx n="96" d="100"/>
          <a:sy n="96" d="100"/>
        </p:scale>
        <p:origin x="768" y="68"/>
      </p:cViewPr>
      <p:guideLst>
        <p:guide orient="horz" pos="2251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3175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52A692-356B-4EC6-8974-BBBE593845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A573D-0D47-4BFD-9E32-39B2B7964D97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F5070E-8236-48EF-A295-449C9E6598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E504D-DED1-4255-8A4D-970704BCC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4789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F4D14-3395-4AC0-B611-9530F237726A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E4FA2-6B09-4612-80F6-8E0F4B06E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2063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089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692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476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31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5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093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677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005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26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554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57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558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74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1804-6D4C-43C5-8644-23E1F015D736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宋体" panose="02010600030101010101" pitchFamily="2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6941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54041"/>
            <a:ext cx="2133600" cy="365125"/>
          </a:xfrm>
        </p:spPr>
        <p:txBody>
          <a:bodyPr/>
          <a:lstStyle/>
          <a:p>
            <a:fld id="{5F6E8B49-64F9-484E-98BA-DCC172C48131}" type="datetime1">
              <a:rPr kumimoji="1" lang="zh-CN" altLang="en-US" smtClean="0"/>
              <a:t>2026/5/6</a:t>
            </a:fld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244408" y="6354040"/>
            <a:ext cx="504056" cy="365125"/>
          </a:xfrm>
        </p:spPr>
        <p:txBody>
          <a:bodyPr/>
          <a:lstStyle>
            <a:lvl1pPr algn="ctr">
              <a:defRPr/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页脚占位符 7">
            <a:extLst>
              <a:ext uri="{FF2B5EF4-FFF2-40B4-BE49-F238E27FC236}">
                <a16:creationId xmlns:a16="http://schemas.microsoft.com/office/drawing/2014/main" id="{289FBF91-63DC-4D4F-B95B-5624D4B4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623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8A608-87FD-4B6F-9BE8-9E84D2B47BEE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页脚占位符 7">
            <a:extLst>
              <a:ext uri="{FF2B5EF4-FFF2-40B4-BE49-F238E27FC236}">
                <a16:creationId xmlns:a16="http://schemas.microsoft.com/office/drawing/2014/main" id="{586BFC25-2CA0-4804-83F5-8179E66A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165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DC97E-66A2-4664-85EE-8E80B94BF364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FC5E95-7A5F-40B6-A939-F31D5FAB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6556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164B-82D3-4C43-BC78-FEB4EDC5C6BA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CAF644E7-0380-44FE-84E2-EEB110FF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5811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B3BB2-1CAA-4C4E-97E0-D6534E5589B4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页脚占位符 7">
            <a:extLst>
              <a:ext uri="{FF2B5EF4-FFF2-40B4-BE49-F238E27FC236}">
                <a16:creationId xmlns:a16="http://schemas.microsoft.com/office/drawing/2014/main" id="{B78197B1-7516-455A-B30E-BAD9141E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341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27574-0353-434E-974E-6D5B13395329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页脚占位符 7">
            <a:extLst>
              <a:ext uri="{FF2B5EF4-FFF2-40B4-BE49-F238E27FC236}">
                <a16:creationId xmlns:a16="http://schemas.microsoft.com/office/drawing/2014/main" id="{800B6071-F8FD-4DD5-B548-54096246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1865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3856-02A4-4FE5-AD94-F6329D6EB467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AFD85F-3A03-4759-9506-3909D6AB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4556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B112-CA93-4437-8CD0-D176DBB7DC2B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063F85-8FFE-4F61-9283-AB974FCC2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4090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48B0-EE3B-44FC-A448-CA524D84D192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页脚占位符 7">
            <a:extLst>
              <a:ext uri="{FF2B5EF4-FFF2-40B4-BE49-F238E27FC236}">
                <a16:creationId xmlns:a16="http://schemas.microsoft.com/office/drawing/2014/main" id="{085D8229-B496-464A-8BDC-022FEE9A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37905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EBDA-8450-43E7-B5C4-70785DAA1BFF}" type="datetime1">
              <a:rPr kumimoji="1" lang="zh-CN" altLang="en-US" smtClean="0"/>
              <a:t>2026/5/6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页脚占位符 7">
            <a:extLst>
              <a:ext uri="{FF2B5EF4-FFF2-40B4-BE49-F238E27FC236}">
                <a16:creationId xmlns:a16="http://schemas.microsoft.com/office/drawing/2014/main" id="{48DA35FD-A779-4A0B-8002-68F4A528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1388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5E466-23D4-4A3A-AB73-625219B84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A99C80-BA14-4CAD-BC51-01BA3CFC5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B10E57-7E78-4268-B606-69406777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8581B-12A0-484C-A1E8-6D2ECC817F65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CA7DC0-308A-46A1-8C64-8BC4F1FE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853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0C6F5-8E90-4A40-BD3E-59EAB200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A6686-2CF5-4CD2-B964-B9F08CC39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5AD26-4520-479B-9DEC-890961CD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E071-D6D7-44AF-BED2-92BAC6D03545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B22955-421A-464C-8362-6DE9A4B3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88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ACC4C-FF5A-4905-8BC7-0817A799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D7448D-81BF-4859-8016-2601C484C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49BEA2-DDA5-4B71-905D-B4544F98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1EEC7-9038-4625-A818-2CEC2FAFFF78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656C4-CC76-4E5B-AAE5-9430D845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515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BBAE70-EB83-4790-9CC1-55FBDE08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210E2-B8AB-4032-98DA-AE205D535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4BCB5F-9570-4214-93C3-9568D6A91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59CF4C-1FCD-4C17-9992-76D7922C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9AE2-F73C-48C9-88DC-F979D0438DBD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33EA27-8797-431F-A8EC-014FE479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731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A16CE-20B2-468E-B239-A8BE6C7A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638639-843D-4A11-AC4D-6D952DBEB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CCA926-C1C2-4944-8A9E-4D2DF67DF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5F1EAA-1F7A-43C8-B13C-94DF45E5D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98B42D-A2A0-4907-B262-0F066B551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2A5D5E-8155-4522-823B-733067BA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5FAC6-F918-457D-A7AB-44CFBDA1951D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869901-5659-4F59-ABBA-998C553E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832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1703D3-A300-4A12-9BAB-A0A80649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DC8F72-2530-48C8-A9AB-A9715B82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5C2E6-10AC-46FB-906D-D4DC941C6900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616FB7-6147-4141-A5B2-11E36156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96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7FA16E-FACD-4DDD-9C45-A7EA90A02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08DF-A403-4778-AF86-D9D979031635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D44556-82E6-45C7-A9AA-1CAC42F8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341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C9B25-61E4-4AA0-9225-87165805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214C4-0A65-47D0-8DFC-41248129D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F58DE0-5BD0-4537-BE24-024E881AE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2BE918-6831-43C9-9183-B9C216710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F096-1723-433A-8FA8-30AABE09463B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52EA5E-0617-433D-9402-0A6727448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363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8369C-5B52-4260-8D9F-030015B7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1C4BBB-EEF5-42CD-8B6F-924D0D22E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9D7323-8048-40C8-A738-5392F0DE1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C23B68-61E8-4EB7-BD41-94A617F9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27031-9B8B-42E6-9442-F292FF0C0388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9206F4-50C5-4F06-A26D-62F68318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436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A3895-B30C-4D3C-A2D3-84C39E92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751D42-B41D-4CCF-9D53-7A07C689E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0C1EB4-D296-494F-ABFB-EB9EA42F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5BF9-CD7F-48B2-AD0D-7F41CC892B8B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5F2EA-D522-4DE5-B083-9563B860A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508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46E1D0-DC65-4343-AB8D-2A91C8895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687FAA-64BE-4901-9D5C-202593D58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F07525-2172-4BDF-8E12-42F578341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E443-4602-4392-BC15-3B550C227137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5A64E-9264-4D2A-919A-2F0B98D5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44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584106"/>
            <a:ext cx="8229600" cy="833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zh-CN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fld id="{6F99EB3A-78C8-4E79-9CF3-53C5C5CDFCEE}" type="datetime1">
              <a:rPr lang="zh-CN" altLang="en-US" smtClean="0"/>
              <a:t>2026/5/6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数字信号处理实验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grpSp>
        <p:nvGrpSpPr>
          <p:cNvPr id="7" name="グループ化 12">
            <a:extLst>
              <a:ext uri="{FF2B5EF4-FFF2-40B4-BE49-F238E27FC236}">
                <a16:creationId xmlns:a16="http://schemas.microsoft.com/office/drawing/2014/main" id="{0A5C3010-1654-48CD-8E7D-B3D053FFDD1C}"/>
              </a:ext>
            </a:extLst>
          </p:cNvPr>
          <p:cNvGrpSpPr/>
          <p:nvPr userDrawn="1"/>
        </p:nvGrpSpPr>
        <p:grpSpPr>
          <a:xfrm>
            <a:off x="32" y="-24"/>
            <a:ext cx="9144000" cy="428628"/>
            <a:chOff x="0" y="-24"/>
            <a:chExt cx="9144000" cy="428628"/>
          </a:xfrm>
          <a:solidFill>
            <a:schemeClr val="tx2">
              <a:lumMod val="50000"/>
            </a:schemeClr>
          </a:solidFill>
        </p:grpSpPr>
        <p:sp>
          <p:nvSpPr>
            <p:cNvPr id="8" name="テキスト ボックス 21">
              <a:extLst>
                <a:ext uri="{FF2B5EF4-FFF2-40B4-BE49-F238E27FC236}">
                  <a16:creationId xmlns:a16="http://schemas.microsoft.com/office/drawing/2014/main" id="{D7A6DEDD-DC37-4EEE-9C9C-621434E8D6C5}"/>
                </a:ext>
              </a:extLst>
            </p:cNvPr>
            <p:cNvSpPr txBox="1"/>
            <p:nvPr/>
          </p:nvSpPr>
          <p:spPr>
            <a:xfrm>
              <a:off x="0" y="-24"/>
              <a:ext cx="9144000" cy="353943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endParaRPr kumimoji="1" lang="ja-JP" altLang="en-US" sz="1700" b="1" baseline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9" name="正方形/長方形 22">
              <a:extLst>
                <a:ext uri="{FF2B5EF4-FFF2-40B4-BE49-F238E27FC236}">
                  <a16:creationId xmlns:a16="http://schemas.microsoft.com/office/drawing/2014/main" id="{841A9F48-3ECC-414C-B8B3-E4A6252315F9}"/>
                </a:ext>
              </a:extLst>
            </p:cNvPr>
            <p:cNvSpPr/>
            <p:nvPr/>
          </p:nvSpPr>
          <p:spPr>
            <a:xfrm>
              <a:off x="0" y="382885"/>
              <a:ext cx="9144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aseline="0">
                <a:latin typeface="Times New Roman" panose="02020603050405020304" pitchFamily="18" charset="0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40EEE84F-988E-45E0-A8E3-9E239129FE0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-24"/>
            <a:ext cx="1533200" cy="3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0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b="1" kern="1200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F0D242-CCCE-42D3-831F-CA8928F9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9E44F8-1975-4599-A4B5-125468BFA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BDE97-C593-4F18-B2D3-DAB7742DBB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F2373-1099-4594-9F22-428A05598DC6}" type="datetime1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4BB6D-BD82-48BF-9F70-5F6910BE4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6F3C42-071A-4C87-9D45-E021F4F650F3}"/>
              </a:ext>
            </a:extLst>
          </p:cNvPr>
          <p:cNvSpPr txBox="1">
            <a:spLocks/>
          </p:cNvSpPr>
          <p:nvPr userDrawn="1"/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aseline="0" dirty="0">
                <a:ea typeface="微软雅黑" panose="020B0503020204020204" pitchFamily="34" charset="-122"/>
              </a:rPr>
              <a:t>数字信号处理实验</a:t>
            </a:r>
            <a:endParaRPr lang="ja-JP" altLang="en-US" baseline="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150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1007" y="1193392"/>
            <a:ext cx="9001985" cy="1224136"/>
          </a:xfrm>
        </p:spPr>
        <p:txBody>
          <a:bodyPr>
            <a:noAutofit/>
          </a:bodyPr>
          <a:lstStyle/>
          <a:p>
            <a:pPr algn="ctr"/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数字信号处理实验</a:t>
            </a:r>
          </a:p>
        </p:txBody>
      </p:sp>
      <p:graphicFrame>
        <p:nvGraphicFramePr>
          <p:cNvPr id="4" name="オブジェクト 3"/>
          <p:cNvGraphicFramePr>
            <a:graphicFrameLocks noChangeAspect="1"/>
          </p:cNvGraphicFramePr>
          <p:nvPr/>
        </p:nvGraphicFramePr>
        <p:xfrm>
          <a:off x="6146800" y="3479800"/>
          <a:ext cx="914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190080" progId="Equation.DSMT4">
                  <p:embed/>
                </p:oleObj>
              </mc:Choice>
              <mc:Fallback>
                <p:oleObj name="Equation" r:id="rId3" imgW="914400" imgH="190080" progId="Equation.DSMT4">
                  <p:embed/>
                  <p:pic>
                    <p:nvPicPr>
                      <p:cNvPr id="4" name="オブジェクト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6800" y="3479800"/>
                        <a:ext cx="914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サブタイトル 2"/>
          <p:cNvSpPr txBox="1">
            <a:spLocks/>
          </p:cNvSpPr>
          <p:nvPr/>
        </p:nvSpPr>
        <p:spPr>
          <a:xfrm>
            <a:off x="2397960" y="3575050"/>
            <a:ext cx="5126368" cy="1459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授课老师：朱钰莹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单        位：</a:t>
            </a:r>
            <a:r>
              <a:rPr kumimoji="0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通信工程学院</a:t>
            </a:r>
            <a:endParaRPr kumimoji="0"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/>
            <a:r>
              <a:rPr kumimoji="0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邮        箱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yuyingzhu@hdu.edu.cn</a:t>
            </a:r>
            <a:endParaRPr lang="en-US" altLang="ja-JP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kumimoji="0" lang="en-US" altLang="ja-JP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スライド番号プレースホルダー 3">
            <a:extLst>
              <a:ext uri="{FF2B5EF4-FFF2-40B4-BE49-F238E27FC236}">
                <a16:creationId xmlns:a16="http://schemas.microsoft.com/office/drawing/2014/main" id="{06E73011-F359-4876-9D10-309930A2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5468" y="6292552"/>
            <a:ext cx="504056" cy="365125"/>
          </a:xfrm>
        </p:spPr>
        <p:txBody>
          <a:bodyPr/>
          <a:lstStyle/>
          <a:p>
            <a:pPr algn="ctr"/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pPr algn="ctr"/>
              <a:t>1</a:t>
            </a:fld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756F24EC-D80C-444B-AC77-845712E883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476" y="6351833"/>
            <a:ext cx="2133600" cy="365125"/>
          </a:xfrm>
        </p:spPr>
        <p:txBody>
          <a:bodyPr/>
          <a:lstStyle/>
          <a:p>
            <a:fld id="{B7BA418E-E954-45BD-8BC9-F8C19613FC6A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A10C6E-783C-4153-B4BF-CABC2E56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50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2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5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讲 线性卷积的快速运算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C7BA-FCC4-4583-9F87-ACB80D0635A9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3ABAB5-5B95-4E60-8553-420CEFF2CF41}"/>
              </a:ext>
            </a:extLst>
          </p:cNvPr>
          <p:cNvSpPr/>
          <p:nvPr/>
        </p:nvSpPr>
        <p:spPr>
          <a:xfrm>
            <a:off x="575556" y="1700808"/>
            <a:ext cx="7920880" cy="1308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800" dirty="0">
                <a:ea typeface="微软雅黑" panose="020B0503020204020204" pitchFamily="34" charset="-122"/>
              </a:rPr>
              <a:t>快速卷积法（频域：快速傅里叶变换）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800" dirty="0">
                <a:ea typeface="微软雅黑" panose="020B0503020204020204" pitchFamily="34" charset="-122"/>
              </a:rPr>
              <a:t>重叠相加法</a:t>
            </a:r>
            <a:endParaRPr lang="en-US" altLang="zh-CN" sz="2800" dirty="0">
              <a:ea typeface="微软雅黑" panose="020B0503020204020204" pitchFamily="34" charset="-122"/>
            </a:endParaRPr>
          </a:p>
        </p:txBody>
      </p:sp>
      <p:pic>
        <p:nvPicPr>
          <p:cNvPr id="11" name="Picture 5" descr="MATLAB eg1">
            <a:extLst>
              <a:ext uri="{FF2B5EF4-FFF2-40B4-BE49-F238E27FC236}">
                <a16:creationId xmlns:a16="http://schemas.microsoft.com/office/drawing/2014/main" id="{8BD95CEC-03A5-4A4F-A90E-4B8E0D49D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4508500"/>
            <a:ext cx="252095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75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线性卷积的定义 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BA0-F5F3-4338-A20A-CBC509B4377E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复习：线性卷积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3A2BBB2D-3E83-2B1C-4FEC-C73E2B91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075240" cy="1085255"/>
          </a:xfrm>
        </p:spPr>
        <p:txBody>
          <a:bodyPr>
            <a:noAutofit/>
          </a:bodyPr>
          <a:lstStyle/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设有限长序列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x(n)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h(n)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，长度分别为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800" baseline="-250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800" baseline="-250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，则序列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x(n)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h(n)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的线性卷积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y(n)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为：</a:t>
            </a:r>
            <a:r>
              <a:rPr lang="en-US" altLang="zh-CN" baseline="0" dirty="0">
                <a:cs typeface="+mn-ea"/>
                <a:sym typeface="+mn-lt"/>
              </a:rPr>
              <a:t>		</a:t>
            </a:r>
            <a:r>
              <a:rPr lang="en-US" altLang="zh-CN" baseline="0" dirty="0">
                <a:solidFill>
                  <a:srgbClr val="FF0000"/>
                </a:solidFill>
                <a:cs typeface="+mn-ea"/>
                <a:sym typeface="+mn-lt"/>
              </a:rPr>
              <a:t>                     </a:t>
            </a:r>
            <a:endParaRPr lang="zh-CN" altLang="en-US" b="1" baseline="0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10BC71B3-0A6D-6586-B446-3ACB00FEBB6B}"/>
              </a:ext>
            </a:extLst>
          </p:cNvPr>
          <p:cNvSpPr txBox="1">
            <a:spLocks/>
          </p:cNvSpPr>
          <p:nvPr/>
        </p:nvSpPr>
        <p:spPr>
          <a:xfrm>
            <a:off x="827584" y="4898415"/>
            <a:ext cx="6830516" cy="5175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1F3C6B"/>
              </a:buClr>
              <a:buSzPct val="80000"/>
              <a:buNone/>
            </a:pPr>
            <a:r>
              <a:rPr kumimoji="0" lang="zh-CN" altLang="en-US" b="1" dirty="0">
                <a:solidFill>
                  <a:srgbClr val="2112E0"/>
                </a:solidFill>
                <a:cs typeface="+mn-ea"/>
                <a:sym typeface="+mn-lt"/>
              </a:rPr>
              <a:t>注意：</a:t>
            </a:r>
            <a:r>
              <a:rPr kumimoji="0" lang="en-US" altLang="zh-CN" b="1" dirty="0">
                <a:solidFill>
                  <a:srgbClr val="2112E0"/>
                </a:solidFill>
                <a:cs typeface="+mn-ea"/>
                <a:sym typeface="+mn-lt"/>
              </a:rPr>
              <a:t>y(n)</a:t>
            </a:r>
            <a:r>
              <a:rPr kumimoji="0" lang="zh-CN" altLang="en-US" b="1" dirty="0">
                <a:solidFill>
                  <a:srgbClr val="2112E0"/>
                </a:solidFill>
                <a:cs typeface="+mn-ea"/>
                <a:sym typeface="+mn-lt"/>
              </a:rPr>
              <a:t>的序列长度为</a:t>
            </a:r>
            <a:r>
              <a:rPr lang="en-US" altLang="zh-CN" sz="2800" b="1" dirty="0">
                <a:solidFill>
                  <a:srgbClr val="2112E0"/>
                </a:solidFill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800" b="1" baseline="-25000" dirty="0">
                <a:solidFill>
                  <a:srgbClr val="2112E0"/>
                </a:solidFill>
                <a:cs typeface="微软雅黑" panose="020B0503020204020204" charset="-122"/>
                <a:sym typeface="+mn-ea"/>
              </a:rPr>
              <a:t>1 </a:t>
            </a:r>
            <a:r>
              <a:rPr lang="en-US" altLang="zh-CN" sz="2800" b="1" dirty="0">
                <a:solidFill>
                  <a:srgbClr val="2112E0"/>
                </a:solidFill>
                <a:cs typeface="微软雅黑" panose="020B0503020204020204" charset="-122"/>
                <a:sym typeface="+mn-ea"/>
              </a:rPr>
              <a:t>+ N</a:t>
            </a:r>
            <a:r>
              <a:rPr lang="en-US" altLang="zh-CN" sz="2800" b="1" baseline="-25000" dirty="0">
                <a:solidFill>
                  <a:srgbClr val="2112E0"/>
                </a:solidFill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800" b="1" dirty="0">
                <a:solidFill>
                  <a:srgbClr val="2112E0"/>
                </a:solidFill>
                <a:cs typeface="微软雅黑" panose="020B0503020204020204" charset="-122"/>
                <a:sym typeface="+mn-ea"/>
              </a:rPr>
              <a:t> -1</a:t>
            </a:r>
            <a:r>
              <a:rPr lang="zh-CN" altLang="en-US" sz="2800" b="1" dirty="0">
                <a:solidFill>
                  <a:srgbClr val="2112E0"/>
                </a:solidFill>
                <a:cs typeface="微软雅黑" panose="020B0503020204020204" charset="-122"/>
                <a:sym typeface="+mn-ea"/>
              </a:rPr>
              <a:t> </a:t>
            </a:r>
            <a:r>
              <a:rPr kumimoji="0" lang="en-US" altLang="zh-CN" b="1" dirty="0">
                <a:solidFill>
                  <a:srgbClr val="2112E0"/>
                </a:solidFill>
                <a:cs typeface="+mn-ea"/>
                <a:sym typeface="+mn-lt"/>
              </a:rPr>
              <a:t>	                     </a:t>
            </a:r>
            <a:endParaRPr kumimoji="0" lang="zh-CN" altLang="en-US" b="1" dirty="0">
              <a:solidFill>
                <a:srgbClr val="2112E0"/>
              </a:solidFill>
              <a:cs typeface="+mn-ea"/>
              <a:sym typeface="+mn-lt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954DCDA-7808-B15C-D848-33A24D120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28232"/>
              </p:ext>
            </p:extLst>
          </p:nvPr>
        </p:nvGraphicFramePr>
        <p:xfrm>
          <a:off x="1242386" y="3110243"/>
          <a:ext cx="6659227" cy="122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47840" imgH="431640" progId="Equation.DSMT4">
                  <p:embed/>
                </p:oleObj>
              </mc:Choice>
              <mc:Fallback>
                <p:oleObj name="Equation" r:id="rId3" imgW="2247840" imgH="431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17AFC28-39F7-06AF-1219-6D5AD2ECC0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42386" y="3110243"/>
                        <a:ext cx="6659227" cy="122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0165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4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线性卷积的过程和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conv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BA0-F5F3-4338-A20A-CBC509B4377E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复习：线性卷积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2376ADF3-618F-76BE-33EC-D2B3C3C1F318}"/>
              </a:ext>
            </a:extLst>
          </p:cNvPr>
          <p:cNvSpPr txBox="1">
            <a:spLocks/>
          </p:cNvSpPr>
          <p:nvPr/>
        </p:nvSpPr>
        <p:spPr>
          <a:xfrm>
            <a:off x="457200" y="1733996"/>
            <a:ext cx="8219256" cy="5175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翻转</a:t>
            </a:r>
            <a:r>
              <a:rPr lang="zh-CN" altLang="en-US" sz="2800" dirty="0">
                <a:solidFill>
                  <a:schemeClr val="tx1"/>
                </a:solidFill>
              </a:rPr>
              <a:t>：先在坐标轴</a:t>
            </a:r>
            <a:r>
              <a:rPr lang="en-US" altLang="zh-CN" sz="2800" dirty="0">
                <a:solidFill>
                  <a:schemeClr val="tx1"/>
                </a:solidFill>
              </a:rPr>
              <a:t>k</a:t>
            </a:r>
            <a:r>
              <a:rPr lang="zh-CN" altLang="en-US" sz="2800" dirty="0">
                <a:solidFill>
                  <a:schemeClr val="tx1"/>
                </a:solidFill>
              </a:rPr>
              <a:t>上画出</a:t>
            </a:r>
            <a:r>
              <a:rPr lang="en-US" altLang="zh-CN" sz="2800" dirty="0">
                <a:solidFill>
                  <a:schemeClr val="tx1"/>
                </a:solidFill>
              </a:rPr>
              <a:t>x(k)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h(k)</a:t>
            </a:r>
            <a:r>
              <a:rPr lang="zh-CN" altLang="en-US" sz="2800" dirty="0">
                <a:solidFill>
                  <a:schemeClr val="tx1"/>
                </a:solidFill>
              </a:rPr>
              <a:t>，将</a:t>
            </a:r>
            <a:r>
              <a:rPr lang="en-US" altLang="zh-CN" sz="2800" dirty="0">
                <a:solidFill>
                  <a:schemeClr val="tx1"/>
                </a:solidFill>
              </a:rPr>
              <a:t>h(k)</a:t>
            </a:r>
            <a:r>
              <a:rPr lang="zh-CN" altLang="en-US" sz="2800" dirty="0">
                <a:solidFill>
                  <a:schemeClr val="tx1"/>
                </a:solidFill>
              </a:rPr>
              <a:t>以纵坐标为对称轴折叠成 </a:t>
            </a:r>
            <a:r>
              <a:rPr lang="en-US" altLang="zh-CN" sz="2800" dirty="0">
                <a:solidFill>
                  <a:schemeClr val="tx1"/>
                </a:solidFill>
              </a:rPr>
              <a:t>h(-k)</a:t>
            </a:r>
            <a:r>
              <a:rPr lang="zh-CN" altLang="en-US" sz="2800" dirty="0">
                <a:solidFill>
                  <a:schemeClr val="tx1"/>
                </a:solidFill>
              </a:rPr>
              <a:t>。 </a:t>
            </a:r>
            <a:r>
              <a:rPr kumimoji="0" lang="en-US" altLang="zh-CN" dirty="0">
                <a:cs typeface="+mn-ea"/>
                <a:sym typeface="+mn-lt"/>
              </a:rPr>
              <a:t>		</a:t>
            </a:r>
            <a:r>
              <a:rPr kumimoji="0" lang="en-US" altLang="zh-CN" dirty="0">
                <a:solidFill>
                  <a:srgbClr val="FF0000"/>
                </a:solidFill>
                <a:cs typeface="+mn-ea"/>
                <a:sym typeface="+mn-lt"/>
              </a:rPr>
              <a:t>                     </a:t>
            </a:r>
            <a:endParaRPr kumimoji="0" lang="zh-CN" alt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AC5164A0-6356-2067-0EC1-DBE0B7E0409C}"/>
              </a:ext>
            </a:extLst>
          </p:cNvPr>
          <p:cNvSpPr txBox="1">
            <a:spLocks/>
          </p:cNvSpPr>
          <p:nvPr/>
        </p:nvSpPr>
        <p:spPr>
          <a:xfrm>
            <a:off x="462372" y="2780928"/>
            <a:ext cx="8219256" cy="5175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</a:rPr>
              <a:t>平移：将</a:t>
            </a:r>
            <a:r>
              <a:rPr lang="en-US" altLang="zh-CN" sz="2800" dirty="0">
                <a:solidFill>
                  <a:schemeClr val="tx1"/>
                </a:solidFill>
              </a:rPr>
              <a:t>h(-k)</a:t>
            </a:r>
            <a:r>
              <a:rPr lang="zh-CN" altLang="en-US" sz="2800" dirty="0">
                <a:solidFill>
                  <a:schemeClr val="tx1"/>
                </a:solidFill>
              </a:rPr>
              <a:t>移位</a:t>
            </a:r>
            <a:r>
              <a:rPr lang="en-US" altLang="zh-CN" sz="2800" dirty="0">
                <a:solidFill>
                  <a:schemeClr val="tx1"/>
                </a:solidFill>
              </a:rPr>
              <a:t>n</a:t>
            </a:r>
            <a:r>
              <a:rPr lang="zh-CN" altLang="en-US" sz="2800" dirty="0">
                <a:solidFill>
                  <a:schemeClr val="tx1"/>
                </a:solidFill>
              </a:rPr>
              <a:t>，得</a:t>
            </a:r>
            <a:r>
              <a:rPr lang="en-US" altLang="zh-CN" sz="2800" dirty="0">
                <a:solidFill>
                  <a:schemeClr val="tx1"/>
                </a:solidFill>
              </a:rPr>
              <a:t>h(n-k)</a:t>
            </a:r>
            <a:r>
              <a:rPr lang="zh-CN" altLang="en-US" sz="2800" dirty="0">
                <a:solidFill>
                  <a:schemeClr val="tx1"/>
                </a:solidFill>
              </a:rPr>
              <a:t>。当</a:t>
            </a:r>
            <a:r>
              <a:rPr lang="en-US" altLang="zh-CN" sz="2800" dirty="0">
                <a:solidFill>
                  <a:schemeClr val="tx1"/>
                </a:solidFill>
              </a:rPr>
              <a:t>n</a:t>
            </a:r>
            <a:r>
              <a:rPr lang="zh-CN" altLang="en-US" sz="2800" dirty="0">
                <a:solidFill>
                  <a:schemeClr val="tx1"/>
                </a:solidFill>
              </a:rPr>
              <a:t>为正数时，右移</a:t>
            </a:r>
            <a:r>
              <a:rPr lang="en-US" altLang="zh-CN" sz="2800" dirty="0">
                <a:solidFill>
                  <a:schemeClr val="tx1"/>
                </a:solidFill>
              </a:rPr>
              <a:t>n</a:t>
            </a:r>
            <a:r>
              <a:rPr lang="zh-CN" altLang="en-US" sz="2800" dirty="0">
                <a:solidFill>
                  <a:schemeClr val="tx1"/>
                </a:solidFill>
              </a:rPr>
              <a:t>；当</a:t>
            </a:r>
            <a:r>
              <a:rPr lang="en-US" altLang="zh-CN" sz="2800" dirty="0">
                <a:solidFill>
                  <a:schemeClr val="tx1"/>
                </a:solidFill>
              </a:rPr>
              <a:t>n</a:t>
            </a:r>
            <a:r>
              <a:rPr lang="zh-CN" altLang="en-US" sz="2800" dirty="0">
                <a:solidFill>
                  <a:schemeClr val="tx1"/>
                </a:solidFill>
              </a:rPr>
              <a:t>为负数时，左移</a:t>
            </a:r>
            <a:r>
              <a:rPr lang="en-US" altLang="zh-CN" sz="2800" dirty="0">
                <a:solidFill>
                  <a:schemeClr val="tx1"/>
                </a:solidFill>
              </a:rPr>
              <a:t>n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r>
              <a:rPr kumimoji="0" lang="en-US" altLang="zh-CN" dirty="0">
                <a:cs typeface="+mn-ea"/>
                <a:sym typeface="+mn-lt"/>
              </a:rPr>
              <a:t>		</a:t>
            </a:r>
            <a:r>
              <a:rPr kumimoji="0" lang="en-US" altLang="zh-CN" dirty="0">
                <a:solidFill>
                  <a:srgbClr val="FF0000"/>
                </a:solidFill>
                <a:cs typeface="+mn-ea"/>
                <a:sym typeface="+mn-lt"/>
              </a:rPr>
              <a:t>                     </a:t>
            </a:r>
            <a:endParaRPr kumimoji="0" lang="zh-CN" alt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DD70CA-180C-BC33-6480-6D8928CF370C}"/>
              </a:ext>
            </a:extLst>
          </p:cNvPr>
          <p:cNvSpPr txBox="1">
            <a:spLocks/>
          </p:cNvSpPr>
          <p:nvPr/>
        </p:nvSpPr>
        <p:spPr>
          <a:xfrm>
            <a:off x="455375" y="3861048"/>
            <a:ext cx="8219256" cy="5175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</a:rPr>
              <a:t>加权：将</a:t>
            </a:r>
            <a:r>
              <a:rPr lang="en-US" altLang="zh-CN" sz="2800" dirty="0">
                <a:solidFill>
                  <a:schemeClr val="tx1"/>
                </a:solidFill>
              </a:rPr>
              <a:t>h(n-k)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x(k)</a:t>
            </a:r>
            <a:r>
              <a:rPr lang="zh-CN" altLang="en-US" sz="2800" dirty="0">
                <a:solidFill>
                  <a:schemeClr val="tx1"/>
                </a:solidFill>
              </a:rPr>
              <a:t>的对应取样值相乘。</a:t>
            </a:r>
            <a:r>
              <a:rPr kumimoji="0" lang="en-US" altLang="zh-CN" dirty="0">
                <a:cs typeface="+mn-ea"/>
                <a:sym typeface="+mn-lt"/>
              </a:rPr>
              <a:t>		</a:t>
            </a:r>
            <a:r>
              <a:rPr kumimoji="0" lang="en-US" altLang="zh-CN" dirty="0">
                <a:solidFill>
                  <a:srgbClr val="FF0000"/>
                </a:solidFill>
                <a:cs typeface="+mn-ea"/>
                <a:sym typeface="+mn-lt"/>
              </a:rPr>
              <a:t>                     </a:t>
            </a:r>
            <a:endParaRPr kumimoji="0" lang="zh-CN" alt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3D57123-2961-D21A-EBE4-0F09018C5CEF}"/>
              </a:ext>
            </a:extLst>
          </p:cNvPr>
          <p:cNvSpPr txBox="1">
            <a:spLocks/>
          </p:cNvSpPr>
          <p:nvPr/>
        </p:nvSpPr>
        <p:spPr>
          <a:xfrm>
            <a:off x="462372" y="4509120"/>
            <a:ext cx="8219256" cy="5175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</a:rPr>
              <a:t>叠加：把所有的乘积累加起来，即得</a:t>
            </a:r>
            <a:r>
              <a:rPr lang="en-US" altLang="zh-CN" sz="2800" dirty="0">
                <a:solidFill>
                  <a:schemeClr val="tx1"/>
                </a:solidFill>
              </a:rPr>
              <a:t>y(n)</a:t>
            </a:r>
            <a:r>
              <a:rPr lang="zh-CN" altLang="en-US" sz="2800" dirty="0">
                <a:solidFill>
                  <a:schemeClr val="tx1"/>
                </a:solidFill>
              </a:rPr>
              <a:t>。 </a:t>
            </a:r>
            <a:r>
              <a:rPr kumimoji="0" lang="en-US" altLang="zh-CN" dirty="0">
                <a:cs typeface="+mn-ea"/>
                <a:sym typeface="+mn-lt"/>
              </a:rPr>
              <a:t>		</a:t>
            </a:r>
            <a:r>
              <a:rPr kumimoji="0" lang="en-US" altLang="zh-CN" dirty="0">
                <a:solidFill>
                  <a:srgbClr val="FF0000"/>
                </a:solidFill>
                <a:cs typeface="+mn-ea"/>
                <a:sym typeface="+mn-lt"/>
              </a:rPr>
              <a:t>                     </a:t>
            </a:r>
            <a:endParaRPr kumimoji="0" lang="zh-CN" alt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8C20B42-9D87-920D-0C79-54835F0E2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229200"/>
            <a:ext cx="8075240" cy="517554"/>
          </a:xfrm>
        </p:spPr>
        <p:txBody>
          <a:bodyPr>
            <a:noAutofit/>
          </a:bodyPr>
          <a:lstStyle/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用</a:t>
            </a:r>
            <a:r>
              <a:rPr lang="en-US" altLang="zh-CN" b="1" baseline="0" dirty="0">
                <a:solidFill>
                  <a:srgbClr val="2112E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conv</a:t>
            </a: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函数也可获得两个离散序列的线性卷积：</a:t>
            </a:r>
            <a:endParaRPr lang="en-US" altLang="zh-CN" baseline="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buClr>
                <a:srgbClr val="1F3C6B"/>
              </a:buClr>
              <a:buSzPct val="80000"/>
              <a:buNone/>
            </a:pPr>
            <a:r>
              <a:rPr lang="en-US" altLang="zh-CN" i="1" dirty="0">
                <a:solidFill>
                  <a:srgbClr val="FF0000"/>
                </a:solidFill>
                <a:cs typeface="+mn-ea"/>
                <a:sym typeface="+mn-lt"/>
              </a:rPr>
              <a:t>                               </a:t>
            </a:r>
            <a:r>
              <a:rPr lang="en-US" altLang="zh-CN" b="1" i="1" baseline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y</a:t>
            </a:r>
            <a:r>
              <a:rPr lang="en-US" altLang="zh-CN" b="1" i="1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b="1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= </a:t>
            </a:r>
            <a:r>
              <a:rPr lang="en-US" altLang="zh-CN" b="1" baseline="0" dirty="0">
                <a:solidFill>
                  <a:srgbClr val="2112E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conv</a:t>
            </a:r>
            <a:r>
              <a:rPr lang="en-US" altLang="zh-CN" b="1" dirty="0">
                <a:cs typeface="+mn-ea"/>
                <a:sym typeface="+mn-lt"/>
              </a:rPr>
              <a:t>(</a:t>
            </a:r>
            <a:r>
              <a:rPr lang="en-US" altLang="zh-CN" b="1" i="1" dirty="0">
                <a:cs typeface="+mn-ea"/>
                <a:sym typeface="+mn-lt"/>
              </a:rPr>
              <a:t>x</a:t>
            </a:r>
            <a:r>
              <a:rPr lang="en-US" altLang="zh-CN" b="1" baseline="-25000" dirty="0">
                <a:cs typeface="+mn-ea"/>
                <a:sym typeface="+mn-lt"/>
              </a:rPr>
              <a:t>1</a:t>
            </a:r>
            <a:r>
              <a:rPr lang="en-US" altLang="zh-CN" b="1" dirty="0">
                <a:cs typeface="+mn-ea"/>
                <a:sym typeface="+mn-lt"/>
              </a:rPr>
              <a:t>, </a:t>
            </a:r>
            <a:r>
              <a:rPr lang="en-US" altLang="zh-CN" b="1" i="1" dirty="0">
                <a:cs typeface="+mn-ea"/>
                <a:sym typeface="+mn-lt"/>
              </a:rPr>
              <a:t>x</a:t>
            </a:r>
            <a:r>
              <a:rPr lang="en-US" altLang="zh-CN" b="1" baseline="-25000" dirty="0">
                <a:cs typeface="+mn-ea"/>
                <a:sym typeface="+mn-lt"/>
              </a:rPr>
              <a:t>2</a:t>
            </a:r>
            <a:r>
              <a:rPr lang="en-US" altLang="zh-CN" b="1" dirty="0">
                <a:cs typeface="+mn-ea"/>
                <a:sym typeface="+mn-lt"/>
              </a:rPr>
              <a:t>)</a:t>
            </a:r>
            <a:r>
              <a:rPr lang="en-US" altLang="zh-CN" b="1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		</a:t>
            </a:r>
            <a:r>
              <a:rPr lang="en-US" altLang="zh-CN" b="1" baseline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                     </a:t>
            </a:r>
            <a:endParaRPr lang="zh-CN" altLang="en-US" b="1" baseline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3684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5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快速卷积</a:t>
            </a:r>
            <a:r>
              <a:rPr lang="zh-CN" altLang="en-US" dirty="0">
                <a:latin typeface="+mn-lt"/>
              </a:rPr>
              <a:t>法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BA0-F5F3-4338-A20A-CBC509B4377E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514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快速卷积法（频域：快速傅里叶变换）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7BD9E-F740-774B-DAEC-5C8CF07BF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402"/>
            <a:ext cx="8075240" cy="517554"/>
          </a:xfrm>
        </p:spPr>
        <p:txBody>
          <a:bodyPr>
            <a:noAutofit/>
          </a:bodyPr>
          <a:lstStyle/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快速卷积法：用</a:t>
            </a:r>
            <a:r>
              <a:rPr lang="en-US" altLang="zh-CN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FFT</a:t>
            </a: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快速计算线性卷积</a:t>
            </a:r>
            <a:endParaRPr lang="zh-CN" altLang="en-US" b="1" baseline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" name="Group 82">
            <a:extLst>
              <a:ext uri="{FF2B5EF4-FFF2-40B4-BE49-F238E27FC236}">
                <a16:creationId xmlns:a16="http://schemas.microsoft.com/office/drawing/2014/main" id="{1358D79D-C17B-7ACD-E5B2-C93E48AC66E8}"/>
              </a:ext>
            </a:extLst>
          </p:cNvPr>
          <p:cNvGrpSpPr/>
          <p:nvPr/>
        </p:nvGrpSpPr>
        <p:grpSpPr>
          <a:xfrm>
            <a:off x="899592" y="4658363"/>
            <a:ext cx="7582222" cy="1585913"/>
            <a:chOff x="976" y="3098"/>
            <a:chExt cx="4424" cy="999"/>
          </a:xfrm>
        </p:grpSpPr>
        <p:sp>
          <p:nvSpPr>
            <p:cNvPr id="8" name="Line 83">
              <a:extLst>
                <a:ext uri="{FF2B5EF4-FFF2-40B4-BE49-F238E27FC236}">
                  <a16:creationId xmlns:a16="http://schemas.microsoft.com/office/drawing/2014/main" id="{F55C3718-BBF5-DDFB-ED38-BDF597773191}"/>
                </a:ext>
              </a:extLst>
            </p:cNvPr>
            <p:cNvSpPr/>
            <p:nvPr/>
          </p:nvSpPr>
          <p:spPr>
            <a:xfrm>
              <a:off x="1387" y="3311"/>
              <a:ext cx="23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84">
              <a:extLst>
                <a:ext uri="{FF2B5EF4-FFF2-40B4-BE49-F238E27FC236}">
                  <a16:creationId xmlns:a16="http://schemas.microsoft.com/office/drawing/2014/main" id="{399AA287-A6CE-439B-A2DD-4C016597DAB7}"/>
                </a:ext>
              </a:extLst>
            </p:cNvPr>
            <p:cNvSpPr/>
            <p:nvPr/>
          </p:nvSpPr>
          <p:spPr>
            <a:xfrm>
              <a:off x="1624" y="3098"/>
              <a:ext cx="801" cy="405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补零使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长度为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N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85">
              <a:extLst>
                <a:ext uri="{FF2B5EF4-FFF2-40B4-BE49-F238E27FC236}">
                  <a16:creationId xmlns:a16="http://schemas.microsoft.com/office/drawing/2014/main" id="{388284C5-A906-1804-9945-5C22908DD785}"/>
                </a:ext>
              </a:extLst>
            </p:cNvPr>
            <p:cNvSpPr/>
            <p:nvPr/>
          </p:nvSpPr>
          <p:spPr>
            <a:xfrm>
              <a:off x="979" y="3109"/>
              <a:ext cx="528" cy="38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(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n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11" name="Line 86">
              <a:extLst>
                <a:ext uri="{FF2B5EF4-FFF2-40B4-BE49-F238E27FC236}">
                  <a16:creationId xmlns:a16="http://schemas.microsoft.com/office/drawing/2014/main" id="{DDA62DD6-DB31-C37D-3207-0DCFB85C0375}"/>
                </a:ext>
              </a:extLst>
            </p:cNvPr>
            <p:cNvSpPr/>
            <p:nvPr/>
          </p:nvSpPr>
          <p:spPr>
            <a:xfrm>
              <a:off x="2425" y="3311"/>
              <a:ext cx="23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87">
              <a:extLst>
                <a:ext uri="{FF2B5EF4-FFF2-40B4-BE49-F238E27FC236}">
                  <a16:creationId xmlns:a16="http://schemas.microsoft.com/office/drawing/2014/main" id="{7E37D0A0-3341-E5F1-9FF6-C40A538EF596}"/>
                </a:ext>
              </a:extLst>
            </p:cNvPr>
            <p:cNvSpPr/>
            <p:nvPr/>
          </p:nvSpPr>
          <p:spPr>
            <a:xfrm>
              <a:off x="2664" y="3098"/>
              <a:ext cx="744" cy="405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N</a:t>
              </a: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点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DFT</a:t>
              </a:r>
            </a:p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FFT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实现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Line 88">
              <a:extLst>
                <a:ext uri="{FF2B5EF4-FFF2-40B4-BE49-F238E27FC236}">
                  <a16:creationId xmlns:a16="http://schemas.microsoft.com/office/drawing/2014/main" id="{7983C566-2AC9-1B6D-E9D1-9AAE51509026}"/>
                </a:ext>
              </a:extLst>
            </p:cNvPr>
            <p:cNvSpPr/>
            <p:nvPr/>
          </p:nvSpPr>
          <p:spPr>
            <a:xfrm>
              <a:off x="3408" y="3311"/>
              <a:ext cx="24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89">
              <a:extLst>
                <a:ext uri="{FF2B5EF4-FFF2-40B4-BE49-F238E27FC236}">
                  <a16:creationId xmlns:a16="http://schemas.microsoft.com/office/drawing/2014/main" id="{0B5A29B0-CABB-305D-0014-D7B4ADC00961}"/>
                </a:ext>
              </a:extLst>
            </p:cNvPr>
            <p:cNvSpPr/>
            <p:nvPr/>
          </p:nvSpPr>
          <p:spPr>
            <a:xfrm>
              <a:off x="3648" y="3322"/>
              <a:ext cx="0" cy="181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AutoShape 90">
              <a:extLst>
                <a:ext uri="{FF2B5EF4-FFF2-40B4-BE49-F238E27FC236}">
                  <a16:creationId xmlns:a16="http://schemas.microsoft.com/office/drawing/2014/main" id="{D9772F34-883D-8DEA-EE3C-B533CD9A0403}"/>
                </a:ext>
              </a:extLst>
            </p:cNvPr>
            <p:cNvSpPr/>
            <p:nvPr/>
          </p:nvSpPr>
          <p:spPr>
            <a:xfrm>
              <a:off x="3552" y="3504"/>
              <a:ext cx="192" cy="192"/>
            </a:xfrm>
            <a:prstGeom prst="flowChartSummingJunction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7" name="Line 91">
              <a:extLst>
                <a:ext uri="{FF2B5EF4-FFF2-40B4-BE49-F238E27FC236}">
                  <a16:creationId xmlns:a16="http://schemas.microsoft.com/office/drawing/2014/main" id="{9B8C9C3A-57F1-9F55-F25D-80F307EA35B5}"/>
                </a:ext>
              </a:extLst>
            </p:cNvPr>
            <p:cNvSpPr/>
            <p:nvPr/>
          </p:nvSpPr>
          <p:spPr>
            <a:xfrm>
              <a:off x="1387" y="3905"/>
              <a:ext cx="23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92">
              <a:extLst>
                <a:ext uri="{FF2B5EF4-FFF2-40B4-BE49-F238E27FC236}">
                  <a16:creationId xmlns:a16="http://schemas.microsoft.com/office/drawing/2014/main" id="{FC79C358-80DC-2BAD-8737-4B2844E0E5BB}"/>
                </a:ext>
              </a:extLst>
            </p:cNvPr>
            <p:cNvSpPr/>
            <p:nvPr/>
          </p:nvSpPr>
          <p:spPr>
            <a:xfrm>
              <a:off x="1624" y="3684"/>
              <a:ext cx="801" cy="413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补零使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长度为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N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93">
              <a:extLst>
                <a:ext uri="{FF2B5EF4-FFF2-40B4-BE49-F238E27FC236}">
                  <a16:creationId xmlns:a16="http://schemas.microsoft.com/office/drawing/2014/main" id="{AF4FDB9B-6287-33A7-61DD-91F03C836A44}"/>
                </a:ext>
              </a:extLst>
            </p:cNvPr>
            <p:cNvSpPr/>
            <p:nvPr/>
          </p:nvSpPr>
          <p:spPr>
            <a:xfrm>
              <a:off x="976" y="3698"/>
              <a:ext cx="528" cy="38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h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(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n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20" name="Line 94">
              <a:extLst>
                <a:ext uri="{FF2B5EF4-FFF2-40B4-BE49-F238E27FC236}">
                  <a16:creationId xmlns:a16="http://schemas.microsoft.com/office/drawing/2014/main" id="{142D5536-4D7B-C15F-B993-BC1045997182}"/>
                </a:ext>
              </a:extLst>
            </p:cNvPr>
            <p:cNvSpPr/>
            <p:nvPr/>
          </p:nvSpPr>
          <p:spPr>
            <a:xfrm>
              <a:off x="2425" y="3905"/>
              <a:ext cx="23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95">
              <a:extLst>
                <a:ext uri="{FF2B5EF4-FFF2-40B4-BE49-F238E27FC236}">
                  <a16:creationId xmlns:a16="http://schemas.microsoft.com/office/drawing/2014/main" id="{10B3A822-8FF8-48EF-ADC7-F4F83C8597FF}"/>
                </a:ext>
              </a:extLst>
            </p:cNvPr>
            <p:cNvSpPr/>
            <p:nvPr/>
          </p:nvSpPr>
          <p:spPr>
            <a:xfrm>
              <a:off x="2664" y="3684"/>
              <a:ext cx="744" cy="413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N</a:t>
              </a: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点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DFT</a:t>
              </a:r>
            </a:p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FFT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实现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" name="Line 96">
              <a:extLst>
                <a:ext uri="{FF2B5EF4-FFF2-40B4-BE49-F238E27FC236}">
                  <a16:creationId xmlns:a16="http://schemas.microsoft.com/office/drawing/2014/main" id="{EFFE580B-8981-4606-9215-F1D5D85A7A84}"/>
                </a:ext>
              </a:extLst>
            </p:cNvPr>
            <p:cNvSpPr/>
            <p:nvPr/>
          </p:nvSpPr>
          <p:spPr>
            <a:xfrm>
              <a:off x="3408" y="3905"/>
              <a:ext cx="24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97">
              <a:extLst>
                <a:ext uri="{FF2B5EF4-FFF2-40B4-BE49-F238E27FC236}">
                  <a16:creationId xmlns:a16="http://schemas.microsoft.com/office/drawing/2014/main" id="{6E85D6E3-4626-FBB4-E176-29BDA2C4EF4A}"/>
                </a:ext>
              </a:extLst>
            </p:cNvPr>
            <p:cNvSpPr/>
            <p:nvPr/>
          </p:nvSpPr>
          <p:spPr>
            <a:xfrm flipV="1">
              <a:off x="3648" y="3696"/>
              <a:ext cx="0" cy="204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98">
              <a:extLst>
                <a:ext uri="{FF2B5EF4-FFF2-40B4-BE49-F238E27FC236}">
                  <a16:creationId xmlns:a16="http://schemas.microsoft.com/office/drawing/2014/main" id="{5D1D5C17-19E9-3BC8-C6D4-9BB7D8EAAD31}"/>
                </a:ext>
              </a:extLst>
            </p:cNvPr>
            <p:cNvSpPr/>
            <p:nvPr/>
          </p:nvSpPr>
          <p:spPr>
            <a:xfrm>
              <a:off x="3744" y="3600"/>
              <a:ext cx="189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99">
              <a:extLst>
                <a:ext uri="{FF2B5EF4-FFF2-40B4-BE49-F238E27FC236}">
                  <a16:creationId xmlns:a16="http://schemas.microsoft.com/office/drawing/2014/main" id="{A320DBCD-4ACC-142A-871C-0374D83125C2}"/>
                </a:ext>
              </a:extLst>
            </p:cNvPr>
            <p:cNvSpPr/>
            <p:nvPr/>
          </p:nvSpPr>
          <p:spPr>
            <a:xfrm>
              <a:off x="3941" y="3381"/>
              <a:ext cx="816" cy="437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L</a:t>
              </a: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点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IDFT</a:t>
              </a:r>
            </a:p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IFFT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实现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30" name="Line 100">
              <a:extLst>
                <a:ext uri="{FF2B5EF4-FFF2-40B4-BE49-F238E27FC236}">
                  <a16:creationId xmlns:a16="http://schemas.microsoft.com/office/drawing/2014/main" id="{CEEDED6F-3C85-D43A-0221-F47D696D198B}"/>
                </a:ext>
              </a:extLst>
            </p:cNvPr>
            <p:cNvSpPr/>
            <p:nvPr/>
          </p:nvSpPr>
          <p:spPr>
            <a:xfrm>
              <a:off x="4757" y="3600"/>
              <a:ext cx="23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101">
              <a:extLst>
                <a:ext uri="{FF2B5EF4-FFF2-40B4-BE49-F238E27FC236}">
                  <a16:creationId xmlns:a16="http://schemas.microsoft.com/office/drawing/2014/main" id="{BDA84151-D0D2-DDFD-024C-9B77A579F5B4}"/>
                </a:ext>
              </a:extLst>
            </p:cNvPr>
            <p:cNvSpPr/>
            <p:nvPr/>
          </p:nvSpPr>
          <p:spPr>
            <a:xfrm>
              <a:off x="4872" y="3432"/>
              <a:ext cx="52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y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(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n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)</a:t>
              </a: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27E4EAFB-90D6-FC0B-4FDE-D3BADD1928EA}"/>
              </a:ext>
            </a:extLst>
          </p:cNvPr>
          <p:cNvSpPr txBox="1"/>
          <p:nvPr/>
        </p:nvSpPr>
        <p:spPr>
          <a:xfrm>
            <a:off x="903918" y="2209931"/>
            <a:ext cx="7811457" cy="2271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）序列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x(n)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h(n)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补零，使得长度为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N</a:t>
            </a:r>
          </a:p>
          <a:p>
            <a:pPr>
              <a:spcBef>
                <a:spcPct val="3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）求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X(k)=DFT[x(n)]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H(K)=DFT[h(n)]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，用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FFT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快速算法实现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>
              <a:spcBef>
                <a:spcPct val="3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）计算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Y(K)=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X(k)H(K)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>
              <a:spcBef>
                <a:spcPct val="3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）求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y(n)=IDFT[Y(k)]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，用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IFFT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</a:rPr>
              <a:t>快速算法实现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4636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快速卷积法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BA0-F5F3-4338-A20A-CBC509B4377E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5796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快速卷积法（频域：快速傅里叶变换）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CA8DD6D-66D1-5B73-11E6-F0025A6E7F93}"/>
              </a:ext>
            </a:extLst>
          </p:cNvPr>
          <p:cNvSpPr txBox="1">
            <a:spLocks/>
          </p:cNvSpPr>
          <p:nvPr/>
        </p:nvSpPr>
        <p:spPr>
          <a:xfrm>
            <a:off x="457200" y="1603478"/>
            <a:ext cx="8147248" cy="601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：已知</a:t>
            </a:r>
            <a:r>
              <a:rPr lang="zh-CN" altLang="en-US" sz="2400" dirty="0">
                <a:sym typeface="+mn-ea"/>
              </a:rPr>
              <a:t>序列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x1(n) = sin(0.4*n), 0 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 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14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和序列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x2(n) = 0.9</a:t>
            </a:r>
            <a:r>
              <a:rPr lang="en-US" altLang="zh-CN" sz="2400" baseline="30000" dirty="0"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, 0 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 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19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zh-CN" altLang="en-US" sz="2400" dirty="0"/>
              <a:t>利用快速卷积法计算</a:t>
            </a:r>
            <a:r>
              <a:rPr lang="en-US" altLang="zh-CN" sz="2400" dirty="0"/>
              <a:t>y(n) = x1(n)*x2(n)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r>
              <a:rPr kumimoji="0"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endParaRPr kumimoji="0" lang="zh-CN" alt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513153-BF35-0576-9CDC-783EE3A1B9BF}"/>
              </a:ext>
            </a:extLst>
          </p:cNvPr>
          <p:cNvSpPr txBox="1"/>
          <p:nvPr/>
        </p:nvSpPr>
        <p:spPr>
          <a:xfrm>
            <a:off x="827584" y="2622848"/>
            <a:ext cx="446449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clc; clear; close 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all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; 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nx1 = 0:14; nx2 = 0:19;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x1 = sin(0.4*nx1); x2 = 0.9.^(nx2);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N1 = length(x1); N2 = length(x2);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 = N1+N2-1;</a:t>
            </a:r>
          </a:p>
          <a:p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%% 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直接调用线性卷积函数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conv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计算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 = conv(x1,x2);</a:t>
            </a:r>
          </a:p>
          <a:p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%% 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快速卷积法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xn1 = [x1 zeros(1, N-N1)];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x1(n)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补零使得长度为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xn2 = [x2 zeros(1, N-N2)];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x2(n)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补零使得长度为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Xn1 =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fft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(xn1);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调用快速算法</a:t>
            </a:r>
            <a:r>
              <a:rPr lang="en-US" altLang="zh-CN" sz="1400" b="0" i="0" u="none" strike="noStrike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fft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求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X1(k)=DTF[x1(n)]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Xn2 =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fft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(xn2);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调用快速算法</a:t>
            </a:r>
            <a:r>
              <a:rPr lang="en-US" altLang="zh-CN" sz="1400" b="0" i="0" u="none" strike="noStrike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fft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求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X2(k)=DTF[x2(n)]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Yn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= Xn1.*Xn2;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求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Y(k)=X1(k)X2(k)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yn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=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ifft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Yn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调用快速逆算法</a:t>
            </a:r>
            <a:r>
              <a:rPr lang="en-US" altLang="zh-CN" sz="1400" b="0" i="0" u="none" strike="noStrike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ifft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求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y(n)=IDFT[Y(k)]</a:t>
            </a:r>
          </a:p>
          <a:p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计算误差</a:t>
            </a:r>
            <a:endParaRPr lang="zh-CN" altLang="en-US" sz="1400" b="0" i="0" u="none" strike="noStrike" dirty="0">
              <a:solidFill>
                <a:srgbClr val="228B22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error = y-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yn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; </a:t>
            </a:r>
            <a:endParaRPr lang="zh-CN" altLang="en-US" sz="1400" b="0" i="0" u="none" strike="noStrike" dirty="0">
              <a:solidFill>
                <a:srgbClr val="228B22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22FD1D-3324-EBA8-7E6A-FDCA928CC570}"/>
              </a:ext>
            </a:extLst>
          </p:cNvPr>
          <p:cNvSpPr txBox="1"/>
          <p:nvPr/>
        </p:nvSpPr>
        <p:spPr>
          <a:xfrm>
            <a:off x="5472100" y="2629861"/>
            <a:ext cx="30243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figure(1);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subplot(3,1,1);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stem(0:N-1,y,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'fill'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'b'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'linewidth'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,1.0);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'Amplitude'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axis([0 N-1 -4 4]);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title(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ity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 by conv()'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subplot(3,1,2);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stem(0:N-1,yn,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'fill'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'r'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'linewidth'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,1.0);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'Amplitude'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axis([0 N-1 -4 4]);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title(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ity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 by FFT()'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subplot(3,1,3);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stem(0:N-1,error,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'fill'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'g'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'linewidth'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,1.0);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'Amplitude'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axis([0 N-1 -1 1]);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title(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'Error function'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endParaRPr lang="zh-CN" altLang="en-US" sz="1100" b="0" i="0" u="none" strike="noStrike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2451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DC5DA2-79D7-B6CB-01D0-BE2E67654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323558"/>
            <a:ext cx="4699442" cy="4274450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7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快速卷积法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BA0-F5F3-4338-A20A-CBC509B4377E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5796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快速卷积法（频域：快速傅里叶变换）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CA8DD6D-66D1-5B73-11E6-F0025A6E7F93}"/>
              </a:ext>
            </a:extLst>
          </p:cNvPr>
          <p:cNvSpPr txBox="1">
            <a:spLocks/>
          </p:cNvSpPr>
          <p:nvPr/>
        </p:nvSpPr>
        <p:spPr>
          <a:xfrm>
            <a:off x="457200" y="1603478"/>
            <a:ext cx="8147248" cy="601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：已知</a:t>
            </a:r>
            <a:r>
              <a:rPr lang="zh-CN" altLang="en-US" sz="2400" dirty="0">
                <a:sym typeface="+mn-ea"/>
              </a:rPr>
              <a:t>序列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x1(n) = sin(0.4*n), 0 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 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14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和序列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x2(n) = 0.9</a:t>
            </a:r>
            <a:r>
              <a:rPr lang="en-US" altLang="zh-CN" sz="2400" baseline="30000" dirty="0"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, 0 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 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19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zh-CN" altLang="en-US" sz="2400" dirty="0"/>
              <a:t>利用快速卷积法计算</a:t>
            </a:r>
            <a:r>
              <a:rPr lang="en-US" altLang="zh-CN" sz="2400" dirty="0"/>
              <a:t>y(n) = x1(n)*x2(n)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r>
              <a:rPr kumimoji="0"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endParaRPr kumimoji="0" lang="zh-CN" alt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426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8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atin typeface="+mn-lt"/>
              </a:rPr>
              <a:t>重叠相加法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BA0-F5F3-4338-A20A-CBC509B4377E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5.2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重叠相加法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3A2BBB2D-3E83-2B1C-4FEC-C73E2B91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147248" cy="1085255"/>
          </a:xfrm>
        </p:spPr>
        <p:txBody>
          <a:bodyPr>
            <a:noAutofit/>
          </a:bodyPr>
          <a:lstStyle/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设有限长序列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x(n)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h(n)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，长度分别为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。</a:t>
            </a:r>
            <a:endParaRPr lang="en-US" altLang="zh-CN" sz="2800" dirty="0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endParaRPr lang="en-US" altLang="zh-CN" dirty="0">
              <a:cs typeface="微软雅黑" panose="020B0503020204020204" charset="-122"/>
              <a:sym typeface="+mn-ea"/>
            </a:endParaRPr>
          </a:p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把序列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x(n)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分成长度均为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L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的若干小序列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x</a:t>
            </a:r>
            <a:r>
              <a:rPr lang="en-US" altLang="zh-CN" sz="2800" baseline="-250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 x</a:t>
            </a:r>
            <a:r>
              <a:rPr lang="en-US" altLang="zh-CN" sz="2800" baseline="-250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h(n)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补零，使得长度为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N=L+M-1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，求出卷积序列</a:t>
            </a:r>
            <a:r>
              <a:rPr lang="en-US" altLang="zh-CN" sz="2800" dirty="0" err="1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(n)=x</a:t>
            </a:r>
            <a:r>
              <a:rPr lang="en-US" altLang="zh-CN" sz="2800" baseline="-250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h(n) 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。</a:t>
            </a:r>
            <a:endParaRPr lang="en-US" altLang="zh-CN" sz="2800" dirty="0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endParaRPr lang="en-US" altLang="zh-CN" dirty="0">
              <a:cs typeface="微软雅黑" panose="020B0503020204020204" charset="-122"/>
              <a:sym typeface="+mn-ea"/>
            </a:endParaRPr>
          </a:p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因为相邻的两段</a:t>
            </a:r>
            <a:r>
              <a:rPr lang="en-US" altLang="zh-CN" sz="2800" dirty="0" err="1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y</a:t>
            </a:r>
            <a:r>
              <a:rPr lang="en-US" altLang="zh-CN" sz="2800" baseline="-25000" dirty="0" err="1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(n)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必然有</a:t>
            </a:r>
            <a:r>
              <a:rPr lang="en-US" altLang="zh-CN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M-1</a:t>
            </a:r>
            <a:r>
              <a:rPr lang="zh-CN" altLang="en-US" sz="28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点重叠，所以把重叠部分相加。</a:t>
            </a:r>
            <a:r>
              <a:rPr lang="en-US" altLang="zh-CN" baseline="0" dirty="0">
                <a:solidFill>
                  <a:srgbClr val="FF0000"/>
                </a:solidFill>
                <a:cs typeface="+mn-ea"/>
                <a:sym typeface="+mn-lt"/>
              </a:rPr>
              <a:t>                     </a:t>
            </a:r>
            <a:endParaRPr lang="zh-CN" altLang="en-US" b="1" baseline="0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3268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9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atin typeface="+mn-lt"/>
              </a:rPr>
              <a:t>重叠相加法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BA0-F5F3-4338-A20A-CBC509B4377E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5.2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重叠相加法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1AC72EF-029C-F397-C274-C41F3805B2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55" y="1498960"/>
            <a:ext cx="3918490" cy="23805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ED2E335-BD43-DC7B-84A6-55B64E68E8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24" y="3918258"/>
            <a:ext cx="3797402" cy="22038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3A98CDD-F0B6-309C-79D9-8934B7B805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7" y="3717032"/>
            <a:ext cx="3970784" cy="265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8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10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</a:rPr>
              <a:t>重叠相加法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BA0-F5F3-4338-A20A-CBC509B4377E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5.2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重叠相加法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CA8DD6D-66D1-5B73-11E6-F0025A6E7F93}"/>
              </a:ext>
            </a:extLst>
          </p:cNvPr>
          <p:cNvSpPr txBox="1">
            <a:spLocks/>
          </p:cNvSpPr>
          <p:nvPr/>
        </p:nvSpPr>
        <p:spPr>
          <a:xfrm>
            <a:off x="457200" y="1603478"/>
            <a:ext cx="8291264" cy="601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：已知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x(n) = 2n+3, 0 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 ≤ 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16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h(n) = {1,2,3,4}</a:t>
            </a:r>
            <a:r>
              <a:rPr lang="zh-CN" altLang="en-US" sz="2400" dirty="0">
                <a:solidFill>
                  <a:schemeClr val="tx1"/>
                </a:solidFill>
              </a:rPr>
              <a:t>，按</a:t>
            </a:r>
            <a:r>
              <a:rPr lang="en-US" altLang="zh-CN" sz="2400" dirty="0">
                <a:solidFill>
                  <a:schemeClr val="tx1"/>
                </a:solidFill>
              </a:rPr>
              <a:t>L = 7</a:t>
            </a:r>
            <a:r>
              <a:rPr lang="zh-CN" altLang="en-US" sz="2400" dirty="0">
                <a:solidFill>
                  <a:schemeClr val="tx1"/>
                </a:solidFill>
              </a:rPr>
              <a:t>对</a:t>
            </a:r>
            <a:r>
              <a:rPr lang="en-US" altLang="zh-CN" sz="2400" dirty="0">
                <a:solidFill>
                  <a:schemeClr val="tx1"/>
                </a:solidFill>
              </a:rPr>
              <a:t>x</a:t>
            </a:r>
            <a:r>
              <a:rPr lang="en-US" altLang="zh-CN" sz="2400" dirty="0">
                <a:cs typeface="微软雅黑" panose="020B0503020204020204" charset="-122"/>
                <a:sym typeface="+mn-ea"/>
              </a:rPr>
              <a:t>(n)</a:t>
            </a:r>
            <a:r>
              <a:rPr lang="zh-CN" altLang="en-US" sz="2400" dirty="0">
                <a:cs typeface="微软雅黑" panose="020B0503020204020204" charset="-122"/>
                <a:sym typeface="+mn-ea"/>
              </a:rPr>
              <a:t>分段，用重叠相加法计算线性</a:t>
            </a:r>
            <a:r>
              <a:rPr lang="zh-CN" altLang="en-US" sz="2400" dirty="0">
                <a:solidFill>
                  <a:schemeClr val="tx1"/>
                </a:solidFill>
              </a:rPr>
              <a:t>卷积 。</a:t>
            </a:r>
            <a:r>
              <a:rPr kumimoji="0"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endParaRPr kumimoji="0" lang="zh-CN" alt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513153-BF35-0576-9CDC-783EE3A1B9BF}"/>
              </a:ext>
            </a:extLst>
          </p:cNvPr>
          <p:cNvSpPr txBox="1"/>
          <p:nvPr/>
        </p:nvSpPr>
        <p:spPr>
          <a:xfrm>
            <a:off x="827584" y="2604887"/>
            <a:ext cx="337029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clc; clear; close </a:t>
            </a:r>
            <a:r>
              <a:rPr lang="en-US" altLang="zh-CN" sz="1400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; </a:t>
            </a:r>
          </a:p>
          <a:p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nx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= 0:16;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nh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= 0:3;</a:t>
            </a:r>
          </a:p>
          <a:p>
            <a:r>
              <a:rPr lang="pt-BR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 = 2*nx+3; h = 1:4;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K = length(x); M = length(h);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 = 7; 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 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每一小段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xi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的长度为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 = L+M-1;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每一小段跟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卷积后的长度</a:t>
            </a:r>
          </a:p>
          <a:p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%% 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调用线性卷积函数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conv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计算</a:t>
            </a:r>
          </a:p>
          <a:p>
            <a:r>
              <a:rPr lang="es-E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y_conv = conv(x,h); </a:t>
            </a:r>
          </a:p>
          <a:p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%% 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调用重叠相加法函数</a:t>
            </a:r>
            <a:r>
              <a:rPr lang="en-US" altLang="zh-CN" sz="1400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overaddfft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计算</a:t>
            </a:r>
          </a:p>
          <a:p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y_over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overaddfft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x,h,L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%% 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重叠相加法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by meilinhe</a:t>
            </a:r>
          </a:p>
          <a:p>
            <a:r>
              <a:rPr lang="pt-BR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y_meilinhe = meilinhe(x,h,K,M,L,N);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7B6E85-CB80-8934-7302-8BAE8433C985}"/>
              </a:ext>
            </a:extLst>
          </p:cNvPr>
          <p:cNvSpPr txBox="1"/>
          <p:nvPr/>
        </p:nvSpPr>
        <p:spPr>
          <a:xfrm>
            <a:off x="4104512" y="2604887"/>
            <a:ext cx="48965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figure(1);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subplot(3,1,1);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stem(0:length(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y_conv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)-1,y_conv,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'fill'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'b'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'linewidth'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,1.0);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'Amplitude'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axis([0 length(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y_conv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)-1 0 400]);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title(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ity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 = 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itx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})*{\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ith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 by conv()'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subplot(3,1,2);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stem(0:length(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y_over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)-1,y_over,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'fill'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'g'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'linewidth'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,1.0);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'Amplitude'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axis([0 length(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y_over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)-1 0 400]);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title(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ity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 = 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itx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})*{\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ith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 by 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overaddfft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()'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subplot(3,1,3);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stem(0:length(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y_meilinhe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)-1,y_meilinhe,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'fill'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'r'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'linewidth'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,1.0);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'Amplitude'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axis([0 length(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y_conv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)-1 0 400]);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title(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'{\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ity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 = 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itx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})*{\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ith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}({\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itn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}) by meilinhe()'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  <a:endParaRPr lang="zh-CN" altLang="en-US" sz="1400" b="0" i="0" u="none" strike="noStrike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224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11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</a:rPr>
              <a:t>重叠相加法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FB97-A46E-4848-82A1-71917F75761A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DE9126-0BA8-8B53-53DF-542976EC9123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5.2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重叠相加法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6EAAC9D-215B-226D-8BF1-643A8827D4DE}"/>
              </a:ext>
            </a:extLst>
          </p:cNvPr>
          <p:cNvSpPr txBox="1"/>
          <p:nvPr/>
        </p:nvSpPr>
        <p:spPr>
          <a:xfrm>
            <a:off x="1703025" y="1764099"/>
            <a:ext cx="6757407" cy="440120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pt-BR" altLang="zh-CN" sz="14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function</a:t>
            </a:r>
            <a:r>
              <a:rPr lang="pt-BR" altLang="zh-CN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 y_meilinhe=meilinhe(x,h,K,M,L,N)</a:t>
            </a:r>
            <a:endParaRPr lang="en-US" altLang="zh-CN" sz="1400" dirty="0">
              <a:solidFill>
                <a:srgbClr val="228B22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 = ceil(K/L);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%x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可以划分的段数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x1 = [x, zeros(1,L*T-K)];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补零使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之能够刚好分成整数段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x2 = reshape(x1, L, T)';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变形成矩阵，每一行恰好是分段后每一段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xi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的值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x3 = [x2, zeros(T, N-L)];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补零为</a:t>
            </a:r>
            <a:r>
              <a:rPr lang="en-US" altLang="zh-CN" sz="1400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fft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作准备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h1 = [h zeros(1,N-M)]; 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补零让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与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同等长度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h2 =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repmat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(h1,T,1);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复制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每一行，让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与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变成同等维度的矩阵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 =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fft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(x3,[],2);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的每一行进行傅里叶变换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 =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fft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(h2,[],2);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的每一行进行傅里叶变换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 = X.*H;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时域卷积对应频域乘积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 =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ifft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(Y,[],2);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</a:t>
            </a:r>
            <a:r>
              <a:rPr lang="en-US" altLang="zh-CN" sz="1400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Yn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的每一行进行傅里叶逆变换</a:t>
            </a:r>
          </a:p>
          <a:p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接下来，对重叠部分相加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Ny = (T-1)*L+N;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矩阵补零后的长度</a:t>
            </a:r>
          </a:p>
          <a:p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yy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= zeros(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T,Ny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序列前后补零后，重新存入</a:t>
            </a:r>
            <a:r>
              <a:rPr lang="en-US" altLang="zh-CN" sz="1400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yy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矩阵，初始化</a:t>
            </a:r>
            <a:r>
              <a:rPr lang="en-US" altLang="zh-CN" sz="1400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yy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矩阵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= 1:T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分行计算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ix = (i-1)*L;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在原来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第</a:t>
            </a:r>
            <a:r>
              <a:rPr lang="en-US" altLang="zh-CN" sz="1400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行序列之前补零的个数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yy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 :) =[zeros(1, ix), y(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 1:N), zeros(1, Ny-ix-N)];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</a:t>
            </a:r>
            <a:r>
              <a:rPr lang="en-US" altLang="zh-CN" sz="1400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yn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序列前后补零，存入</a:t>
            </a:r>
            <a:r>
              <a:rPr lang="en-US" altLang="zh-CN" sz="1400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yy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矩阵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end</a:t>
            </a:r>
          </a:p>
          <a:p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y_meilinhe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= sum(</a:t>
            </a:r>
            <a:r>
              <a:rPr lang="en-US" altLang="zh-CN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yy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 </a:t>
            </a:r>
            <a:r>
              <a:rPr lang="en-US" altLang="zh-CN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</a:t>
            </a:r>
            <a:r>
              <a:rPr lang="en-US" altLang="zh-CN" sz="1400" dirty="0" err="1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yy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矩阵的每列叠加求和</a:t>
            </a:r>
            <a:endParaRPr lang="en-US" altLang="zh-CN" sz="1400" dirty="0">
              <a:solidFill>
                <a:srgbClr val="228B22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end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D08C7C0-E24D-1C2A-52BF-2AFB8FC6AF55}"/>
              </a:ext>
            </a:extLst>
          </p:cNvPr>
          <p:cNvSpPr txBox="1">
            <a:spLocks/>
          </p:cNvSpPr>
          <p:nvPr/>
        </p:nvSpPr>
        <p:spPr>
          <a:xfrm>
            <a:off x="457200" y="1603478"/>
            <a:ext cx="8291264" cy="601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：</a:t>
            </a:r>
            <a:endParaRPr kumimoji="0" lang="zh-CN" alt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8961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1FEA832-1451-26CE-43B1-8725DB804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934" y="1628800"/>
            <a:ext cx="6180760" cy="4993875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12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</a:rPr>
              <a:t>重叠相加法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FB97-A46E-4848-82A1-71917F75761A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DE9126-0BA8-8B53-53DF-542976EC9123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5.2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重叠相加法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C228D5E6-C3AB-3EC8-D99C-937D3EB6068E}"/>
              </a:ext>
            </a:extLst>
          </p:cNvPr>
          <p:cNvSpPr txBox="1">
            <a:spLocks/>
          </p:cNvSpPr>
          <p:nvPr/>
        </p:nvSpPr>
        <p:spPr>
          <a:xfrm>
            <a:off x="457200" y="1603478"/>
            <a:ext cx="8291264" cy="601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：</a:t>
            </a:r>
            <a:endParaRPr kumimoji="0" lang="zh-CN" alt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4811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F23E3C06-05EA-46BF-901D-A18989B7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4408" y="6354040"/>
            <a:ext cx="504056" cy="365125"/>
          </a:xfrm>
        </p:spPr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0E464E45-1196-41D8-9F24-E9EE4291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634678"/>
            <a:ext cx="8435280" cy="850106"/>
          </a:xfrm>
        </p:spPr>
        <p:txBody>
          <a:bodyPr>
            <a:normAutofit/>
          </a:bodyPr>
          <a:lstStyle/>
          <a:p>
            <a:pPr algn="just"/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AC2B0691-6E91-4DC4-87DD-1E0A53D3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4041"/>
            <a:ext cx="2133600" cy="365125"/>
          </a:xfrm>
        </p:spPr>
        <p:txBody>
          <a:bodyPr/>
          <a:lstStyle/>
          <a:p>
            <a:fld id="{2995A39F-6BD5-4A15-848E-EE5A09894EE8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03AB67B8-4413-4558-A767-D8E38206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B06795-378C-4349-92FB-10C6F8129C71}"/>
              </a:ext>
            </a:extLst>
          </p:cNvPr>
          <p:cNvSpPr/>
          <p:nvPr/>
        </p:nvSpPr>
        <p:spPr>
          <a:xfrm>
            <a:off x="674192" y="1455556"/>
            <a:ext cx="7920880" cy="3085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800" dirty="0">
                <a:ea typeface="微软雅黑" panose="020B0503020204020204" pitchFamily="34" charset="-122"/>
              </a:rPr>
              <a:t>快速卷积法：频域计算，用</a:t>
            </a:r>
            <a:r>
              <a:rPr lang="en-US" altLang="zh-CN" sz="2800" dirty="0">
                <a:ea typeface="微软雅黑" panose="020B0503020204020204" pitchFamily="34" charset="-122"/>
              </a:rPr>
              <a:t>FFT</a:t>
            </a:r>
            <a:r>
              <a:rPr lang="zh-CN" altLang="en-US" sz="2800" dirty="0">
                <a:ea typeface="微软雅黑" panose="020B0503020204020204" pitchFamily="34" charset="-122"/>
              </a:rPr>
              <a:t>实现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</a:p>
          <a:p>
            <a:pPr marL="914400" lvl="1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l"/>
            </a:pP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fftconv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marL="457200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800" dirty="0">
                <a:ea typeface="微软雅黑" panose="020B0503020204020204" pitchFamily="34" charset="-122"/>
              </a:rPr>
              <a:t>重叠相加法：分段卷积，重叠部分相加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ea typeface="微软雅黑" panose="020B0503020204020204" pitchFamily="34" charset="-122"/>
              </a:rPr>
              <a:t>2</a:t>
            </a:r>
          </a:p>
          <a:p>
            <a:pPr marL="914400" lvl="1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l"/>
            </a:pPr>
            <a:r>
              <a:rPr lang="en-US" altLang="zh-CN" sz="2400" dirty="0" err="1">
                <a:ea typeface="微软雅黑" panose="020B0503020204020204" pitchFamily="34" charset="-122"/>
              </a:rPr>
              <a:t>overaddfft</a:t>
            </a:r>
            <a:endParaRPr lang="en-US" altLang="zh-CN" sz="280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106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E6B707FF-F62D-4F6D-9F90-3C74E7F76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4408" y="6354040"/>
            <a:ext cx="504056" cy="365125"/>
          </a:xfrm>
        </p:spPr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14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052F5C17-FF67-4C65-B478-35ADFB6D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8877"/>
            <a:ext cx="8638480" cy="850106"/>
          </a:xfrm>
        </p:spPr>
        <p:txBody>
          <a:bodyPr>
            <a:normAutofit/>
          </a:bodyPr>
          <a:lstStyle/>
          <a:p>
            <a:pPr algn="just"/>
            <a:r>
              <a:rPr lang="zh-CN" altLang="en-US">
                <a:latin typeface="微软雅黑" panose="020B0503020204020204" pitchFamily="34" charset="-122"/>
              </a:rPr>
              <a:t>操作</a:t>
            </a:r>
            <a:r>
              <a:rPr lang="zh-CN" altLang="en-US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验收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6C4CE9AA-2545-4313-8557-97138AFC33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4041"/>
            <a:ext cx="2133600" cy="365125"/>
          </a:xfrm>
        </p:spPr>
        <p:txBody>
          <a:bodyPr/>
          <a:lstStyle/>
          <a:p>
            <a:fld id="{D7EBB00F-FE41-4E67-B3F6-BA174D0AB349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C76F358C-6741-4C44-A753-2D8CBD89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FECEAE-B8C8-4E28-BDF5-B27652F763DC}"/>
              </a:ext>
            </a:extLst>
          </p:cNvPr>
          <p:cNvSpPr/>
          <p:nvPr/>
        </p:nvSpPr>
        <p:spPr>
          <a:xfrm>
            <a:off x="473283" y="1597341"/>
            <a:ext cx="8291264" cy="55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5.1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用快速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FFT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计算线性卷积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) =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)*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，其中：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对象 6">
            <a:hlinkClick r:id="" action="ppaction://ole?verb=0"/>
            <a:extLst>
              <a:ext uri="{FF2B5EF4-FFF2-40B4-BE49-F238E27FC236}">
                <a16:creationId xmlns:a16="http://schemas.microsoft.com/office/drawing/2014/main" id="{6F6C4495-C6A4-0623-A52B-E09CF34D2A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532031"/>
              </p:ext>
            </p:extLst>
          </p:nvPr>
        </p:nvGraphicFramePr>
        <p:xfrm>
          <a:off x="1026030" y="2322995"/>
          <a:ext cx="3240360" cy="860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67000" imgH="673100" progId="Equation.KSEE3">
                  <p:embed/>
                </p:oleObj>
              </mc:Choice>
              <mc:Fallback>
                <p:oleObj r:id="rId2" imgW="2667000" imgH="673100" progId="Equation.KSEE3">
                  <p:embed/>
                  <p:pic>
                    <p:nvPicPr>
                      <p:cNvPr id="8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6030" y="2322995"/>
                        <a:ext cx="3240360" cy="8606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  <a:extLst>
              <a:ext uri="{FF2B5EF4-FFF2-40B4-BE49-F238E27FC236}">
                <a16:creationId xmlns:a16="http://schemas.microsoft.com/office/drawing/2014/main" id="{03C862F3-7E51-DA71-4466-50CCD079C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865752"/>
              </p:ext>
            </p:extLst>
          </p:nvPr>
        </p:nvGraphicFramePr>
        <p:xfrm>
          <a:off x="4624065" y="2330867"/>
          <a:ext cx="4052391" cy="852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288665" imgH="673100" progId="Equation.KSEE3">
                  <p:embed/>
                </p:oleObj>
              </mc:Choice>
              <mc:Fallback>
                <p:oleObj r:id="rId4" imgW="3288665" imgH="673100" progId="Equation.KSEE3">
                  <p:embed/>
                  <p:pic>
                    <p:nvPicPr>
                      <p:cNvPr id="9" name="对象 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4065" y="2330867"/>
                        <a:ext cx="4052391" cy="8527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0D20533-892E-B900-4C51-E09F9B78D7B4}"/>
              </a:ext>
            </a:extLst>
          </p:cNvPr>
          <p:cNvSpPr/>
          <p:nvPr/>
        </p:nvSpPr>
        <p:spPr>
          <a:xfrm>
            <a:off x="473283" y="3857930"/>
            <a:ext cx="8291264" cy="1587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5.2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用重叠相加法计算序列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</a:p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) = {1,0,3,7}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的线性卷积，按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N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= 5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对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分段。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C3C8773-3167-C1AA-7C9F-8180493F2F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762964"/>
              </p:ext>
            </p:extLst>
          </p:nvPr>
        </p:nvGraphicFramePr>
        <p:xfrm>
          <a:off x="4067944" y="3638045"/>
          <a:ext cx="3195234" cy="108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419040" progId="Equation.DSMT4">
                  <p:embed/>
                </p:oleObj>
              </mc:Choice>
              <mc:Fallback>
                <p:oleObj name="Equation" r:id="rId6" imgW="1231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67944" y="3638045"/>
                        <a:ext cx="3195234" cy="108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4351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CD7C83-6035-4DDB-9A82-A52DBC88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>
                <a:ea typeface="微软雅黑" panose="020B0503020204020204" pitchFamily="34" charset="-122"/>
              </a:rPr>
              <a:pPr/>
              <a:t>15</a:t>
            </a:fld>
            <a:endParaRPr lang="ja-JP" altLang="en-US"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C4ECF5-1816-4FBA-9B9F-BAE983CF6C77}"/>
              </a:ext>
            </a:extLst>
          </p:cNvPr>
          <p:cNvSpPr txBox="1"/>
          <p:nvPr/>
        </p:nvSpPr>
        <p:spPr>
          <a:xfrm>
            <a:off x="2812758" y="2836918"/>
            <a:ext cx="42675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 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 聆 听！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30DF-2E77-4F5A-9E63-607F6CD95AF4}" type="datetime1">
              <a:rPr kumimoji="1" lang="zh-CN" altLang="en-US" smtClean="0">
                <a:ea typeface="微软雅黑" panose="020B0503020204020204" pitchFamily="34" charset="-122"/>
              </a:rPr>
              <a:t>2026/5/6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C1CA41-D6FD-4C68-974F-8A8BE7A00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257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 roman">
      <a:majorFont>
        <a:latin typeface="Times New Roman"/>
        <a:ea typeface="Malgun Gothic"/>
        <a:cs typeface=""/>
      </a:majorFont>
      <a:minorFont>
        <a:latin typeface="Times New Roman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86548</TotalTime>
  <Words>1900</Words>
  <Application>Microsoft Office PowerPoint</Application>
  <PresentationFormat>全屏显示(4:3)</PresentationFormat>
  <Paragraphs>215</Paragraphs>
  <Slides>15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等线</vt:lpstr>
      <vt:lpstr>等线 Light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​​テーマ</vt:lpstr>
      <vt:lpstr>自定义设计方案</vt:lpstr>
      <vt:lpstr>Equation</vt:lpstr>
      <vt:lpstr>Equation.KSEE3</vt:lpstr>
      <vt:lpstr>数字信号处理实验</vt:lpstr>
      <vt:lpstr>第5讲 线性卷积的快速运算</vt:lpstr>
      <vt:lpstr>线性卷积的定义 </vt:lpstr>
      <vt:lpstr>线性卷积的过程和conv函数</vt:lpstr>
      <vt:lpstr>快速卷积法</vt:lpstr>
      <vt:lpstr>快速卷积法</vt:lpstr>
      <vt:lpstr>快速卷积法</vt:lpstr>
      <vt:lpstr>重叠相加法 </vt:lpstr>
      <vt:lpstr>重叠相加法 </vt:lpstr>
      <vt:lpstr>重叠相加法</vt:lpstr>
      <vt:lpstr>重叠相加法</vt:lpstr>
      <vt:lpstr>重叠相加法</vt:lpstr>
      <vt:lpstr>总结</vt:lpstr>
      <vt:lpstr>操作验收习题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Convergence Analysis of Iterative Decoder --Extrinsic Information Transfer(EXIT) Chart</dc:title>
  <dc:creator>lushan</dc:creator>
  <cp:lastModifiedBy>欣萌 魏</cp:lastModifiedBy>
  <cp:revision>4762</cp:revision>
  <cp:lastPrinted>2018-10-29T01:20:35Z</cp:lastPrinted>
  <dcterms:created xsi:type="dcterms:W3CDTF">2011-10-21T06:04:45Z</dcterms:created>
  <dcterms:modified xsi:type="dcterms:W3CDTF">2026-05-06T11:54:07Z</dcterms:modified>
</cp:coreProperties>
</file>